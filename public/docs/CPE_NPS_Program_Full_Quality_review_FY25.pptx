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82"/>
  </p:notesMasterIdLst>
  <p:handoutMasterIdLst>
    <p:handoutMasterId r:id="rId83"/>
  </p:handoutMasterIdLst>
  <p:sldIdLst>
    <p:sldId id="296" r:id="rId5"/>
    <p:sldId id="1359" r:id="rId6"/>
    <p:sldId id="1310" r:id="rId7"/>
    <p:sldId id="1317" r:id="rId8"/>
    <p:sldId id="1318" r:id="rId9"/>
    <p:sldId id="1366" r:id="rId10"/>
    <p:sldId id="1367" r:id="rId11"/>
    <p:sldId id="1320" r:id="rId12"/>
    <p:sldId id="1384" r:id="rId13"/>
    <p:sldId id="1344" r:id="rId14"/>
    <p:sldId id="1368" r:id="rId15"/>
    <p:sldId id="1322" r:id="rId16"/>
    <p:sldId id="1351" r:id="rId17"/>
    <p:sldId id="1385" r:id="rId18"/>
    <p:sldId id="1386" r:id="rId19"/>
    <p:sldId id="1376" r:id="rId20"/>
    <p:sldId id="1377" r:id="rId21"/>
    <p:sldId id="1350" r:id="rId22"/>
    <p:sldId id="1323" r:id="rId23"/>
    <p:sldId id="1324" r:id="rId24"/>
    <p:sldId id="1325" r:id="rId25"/>
    <p:sldId id="1372" r:id="rId26"/>
    <p:sldId id="1387" r:id="rId27"/>
    <p:sldId id="1388" r:id="rId28"/>
    <p:sldId id="1326" r:id="rId29"/>
    <p:sldId id="1346" r:id="rId30"/>
    <p:sldId id="1371" r:id="rId31"/>
    <p:sldId id="1327" r:id="rId32"/>
    <p:sldId id="1349" r:id="rId33"/>
    <p:sldId id="1378" r:id="rId34"/>
    <p:sldId id="1379" r:id="rId35"/>
    <p:sldId id="1348" r:id="rId36"/>
    <p:sldId id="1328" r:id="rId37"/>
    <p:sldId id="1329" r:id="rId38"/>
    <p:sldId id="1330" r:id="rId39"/>
    <p:sldId id="1375" r:id="rId40"/>
    <p:sldId id="1389" r:id="rId41"/>
    <p:sldId id="1333" r:id="rId42"/>
    <p:sldId id="1347" r:id="rId43"/>
    <p:sldId id="1370" r:id="rId44"/>
    <p:sldId id="1334" r:id="rId45"/>
    <p:sldId id="1355" r:id="rId46"/>
    <p:sldId id="1380" r:id="rId47"/>
    <p:sldId id="1381" r:id="rId48"/>
    <p:sldId id="1354" r:id="rId49"/>
    <p:sldId id="1335" r:id="rId50"/>
    <p:sldId id="1336" r:id="rId51"/>
    <p:sldId id="1337" r:id="rId52"/>
    <p:sldId id="1374" r:id="rId53"/>
    <p:sldId id="1390" r:id="rId54"/>
    <p:sldId id="1338" r:id="rId55"/>
    <p:sldId id="1369" r:id="rId56"/>
    <p:sldId id="1343" r:id="rId57"/>
    <p:sldId id="1339" r:id="rId58"/>
    <p:sldId id="1353" r:id="rId59"/>
    <p:sldId id="1382" r:id="rId60"/>
    <p:sldId id="1383" r:id="rId61"/>
    <p:sldId id="1352" r:id="rId62"/>
    <p:sldId id="1340" r:id="rId63"/>
    <p:sldId id="1341" r:id="rId64"/>
    <p:sldId id="1342" r:id="rId65"/>
    <p:sldId id="1373" r:id="rId66"/>
    <p:sldId id="1391" r:id="rId67"/>
    <p:sldId id="1331" r:id="rId68"/>
    <p:sldId id="1345" r:id="rId69"/>
    <p:sldId id="1332" r:id="rId70"/>
    <p:sldId id="1357" r:id="rId71"/>
    <p:sldId id="1356" r:id="rId72"/>
    <p:sldId id="1392" r:id="rId73"/>
    <p:sldId id="1358" r:id="rId74"/>
    <p:sldId id="1365" r:id="rId75"/>
    <p:sldId id="483" r:id="rId76"/>
    <p:sldId id="499" r:id="rId77"/>
    <p:sldId id="1361" r:id="rId78"/>
    <p:sldId id="1362" r:id="rId79"/>
    <p:sldId id="1363" r:id="rId80"/>
    <p:sldId id="1364" r:id="rId81"/>
  </p:sldIdLst>
  <p:sldSz cx="12192000" cy="6858000"/>
  <p:notesSz cx="6858000" cy="9144000"/>
  <p:embeddedFontLst>
    <p:embeddedFont>
      <p:font typeface="Aptos Narrow" panose="020B0004020202020204" pitchFamily="34" charset="0"/>
      <p:regular r:id="rId84"/>
      <p:bold r:id="rId85"/>
      <p:italic r:id="rId86"/>
      <p:boldItalic r:id="rId87"/>
    </p:embeddedFont>
    <p:embeddedFont>
      <p:font typeface="Bagoss Standard" panose="020B0504060102020204" pitchFamily="34" charset="0"/>
      <p:regular r:id="rId88"/>
    </p:embeddedFont>
    <p:embeddedFont>
      <p:font typeface="Bagoss Standard Medium" panose="020B0604060102020204" pitchFamily="34" charset="0"/>
      <p:regular r:id="rId89"/>
    </p:embeddedFont>
    <p:embeddedFont>
      <p:font typeface="Bahnschrift" panose="020B0502040204020203" pitchFamily="34" charset="0"/>
      <p:regular r:id="rId90"/>
      <p:bold r:id="rId91"/>
    </p:embeddedFont>
    <p:embeddedFont>
      <p:font typeface="Tahoma" panose="020B0604030504040204" pitchFamily="34" charset="0"/>
      <p:regular r:id="rId92"/>
      <p:bold r:id="rId9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EDA7"/>
    <a:srgbClr val="FFFFFF"/>
    <a:srgbClr val="FFF2D5"/>
    <a:srgbClr val="7A5125"/>
    <a:srgbClr val="D9E2FB"/>
    <a:srgbClr val="00192E"/>
    <a:srgbClr val="FFD9E6"/>
    <a:srgbClr val="700606"/>
    <a:srgbClr val="FFB0D6"/>
    <a:srgbClr val="FFE2A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42A9C5-CA4B-4A25-96C9-A39059C80E0F}" v="2" dt="2025-11-27T10:39:59.7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Style clair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font" Target="fonts/font1.fntdata"/><Relationship Id="rId89" Type="http://schemas.openxmlformats.org/officeDocument/2006/relationships/font" Target="fonts/font6.fntdata"/><Relationship Id="rId97"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9.fntdata"/><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font" Target="fonts/font4.fntdata"/><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notesMaster" Target="notesMasters/notesMaster1.xml"/><Relationship Id="rId90" Type="http://schemas.openxmlformats.org/officeDocument/2006/relationships/font" Target="fonts/font7.fntdata"/><Relationship Id="rId95"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font" Target="fonts/font2.fntdata"/><Relationship Id="rId93" Type="http://schemas.openxmlformats.org/officeDocument/2006/relationships/font" Target="fonts/font10.fntdata"/><Relationship Id="rId98"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handoutMaster" Target="handoutMasters/handoutMaster1.xml"/><Relationship Id="rId88" Type="http://schemas.openxmlformats.org/officeDocument/2006/relationships/font" Target="fonts/font5.fntdata"/><Relationship Id="rId91" Type="http://schemas.openxmlformats.org/officeDocument/2006/relationships/font" Target="fonts/font8.fntdata"/><Relationship Id="rId9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font" Target="fonts/font3.fntdata"/><Relationship Id="rId94" Type="http://schemas.openxmlformats.org/officeDocument/2006/relationships/presProps" Target="presProps.xml"/><Relationship Id="rId9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fman, Danique" userId="b92b256f-a91c-46c9-aa05-484e0c8e30db" providerId="ADAL" clId="{01D5B1F7-BFA1-4842-BD40-9F905A08C48A}"/>
    <pc:docChg chg="modSld">
      <pc:chgData name="Hofman, Danique" userId="b92b256f-a91c-46c9-aa05-484e0c8e30db" providerId="ADAL" clId="{01D5B1F7-BFA1-4842-BD40-9F905A08C48A}" dt="2025-11-27T10:39:59.731" v="1" actId="571"/>
      <pc:docMkLst>
        <pc:docMk/>
      </pc:docMkLst>
      <pc:sldChg chg="addSp modSp">
        <pc:chgData name="Hofman, Danique" userId="b92b256f-a91c-46c9-aa05-484e0c8e30db" providerId="ADAL" clId="{01D5B1F7-BFA1-4842-BD40-9F905A08C48A}" dt="2025-11-27T10:39:11.345" v="0" actId="571"/>
        <pc:sldMkLst>
          <pc:docMk/>
          <pc:sldMk cId="3765502534" sldId="1378"/>
        </pc:sldMkLst>
        <pc:picChg chg="add mod">
          <ac:chgData name="Hofman, Danique" userId="b92b256f-a91c-46c9-aa05-484e0c8e30db" providerId="ADAL" clId="{01D5B1F7-BFA1-4842-BD40-9F905A08C48A}" dt="2025-11-27T10:39:11.345" v="0" actId="571"/>
          <ac:picMkLst>
            <pc:docMk/>
            <pc:sldMk cId="3765502534" sldId="1378"/>
            <ac:picMk id="4" creationId="{42BA9054-D4ED-D05E-25D6-A99BEE8C8B92}"/>
          </ac:picMkLst>
        </pc:picChg>
        <pc:picChg chg="add mod">
          <ac:chgData name="Hofman, Danique" userId="b92b256f-a91c-46c9-aa05-484e0c8e30db" providerId="ADAL" clId="{01D5B1F7-BFA1-4842-BD40-9F905A08C48A}" dt="2025-11-27T10:39:11.345" v="0" actId="571"/>
          <ac:picMkLst>
            <pc:docMk/>
            <pc:sldMk cId="3765502534" sldId="1378"/>
            <ac:picMk id="9" creationId="{A11ED54D-7276-7B8C-8EF5-22FE7CE6781A}"/>
          </ac:picMkLst>
        </pc:picChg>
        <pc:picChg chg="add mod">
          <ac:chgData name="Hofman, Danique" userId="b92b256f-a91c-46c9-aa05-484e0c8e30db" providerId="ADAL" clId="{01D5B1F7-BFA1-4842-BD40-9F905A08C48A}" dt="2025-11-27T10:39:11.345" v="0" actId="571"/>
          <ac:picMkLst>
            <pc:docMk/>
            <pc:sldMk cId="3765502534" sldId="1378"/>
            <ac:picMk id="10" creationId="{56B778FF-80F0-C48E-FA0A-EA579761EB78}"/>
          </ac:picMkLst>
        </pc:picChg>
      </pc:sldChg>
      <pc:sldChg chg="addSp modSp">
        <pc:chgData name="Hofman, Danique" userId="b92b256f-a91c-46c9-aa05-484e0c8e30db" providerId="ADAL" clId="{01D5B1F7-BFA1-4842-BD40-9F905A08C48A}" dt="2025-11-27T10:39:59.731" v="1" actId="571"/>
        <pc:sldMkLst>
          <pc:docMk/>
          <pc:sldMk cId="1406138598" sldId="1379"/>
        </pc:sldMkLst>
        <pc:picChg chg="add mod">
          <ac:chgData name="Hofman, Danique" userId="b92b256f-a91c-46c9-aa05-484e0c8e30db" providerId="ADAL" clId="{01D5B1F7-BFA1-4842-BD40-9F905A08C48A}" dt="2025-11-27T10:39:59.731" v="1" actId="571"/>
          <ac:picMkLst>
            <pc:docMk/>
            <pc:sldMk cId="1406138598" sldId="1379"/>
            <ac:picMk id="4" creationId="{A062F949-0DEE-6967-004D-D7CB3BC4D355}"/>
          </ac:picMkLst>
        </pc:picChg>
        <pc:picChg chg="add mod">
          <ac:chgData name="Hofman, Danique" userId="b92b256f-a91c-46c9-aa05-484e0c8e30db" providerId="ADAL" clId="{01D5B1F7-BFA1-4842-BD40-9F905A08C48A}" dt="2025-11-27T10:39:59.731" v="1" actId="571"/>
          <ac:picMkLst>
            <pc:docMk/>
            <pc:sldMk cId="1406138598" sldId="1379"/>
            <ac:picMk id="8" creationId="{39D169FE-3B52-BB6A-7A9C-2FAA04D19D9F}"/>
          </ac:picMkLst>
        </pc:picChg>
        <pc:picChg chg="add mod">
          <ac:chgData name="Hofman, Danique" userId="b92b256f-a91c-46c9-aa05-484e0c8e30db" providerId="ADAL" clId="{01D5B1F7-BFA1-4842-BD40-9F905A08C48A}" dt="2025-11-27T10:39:59.731" v="1" actId="571"/>
          <ac:picMkLst>
            <pc:docMk/>
            <pc:sldMk cId="1406138598" sldId="1379"/>
            <ac:picMk id="10" creationId="{5E22DFE4-31A1-9252-2ECB-1E421FC67364}"/>
          </ac:picMkLst>
        </pc:picChg>
      </pc:sldChg>
    </pc:docChg>
  </pc:docChgLst>
  <pc:docChgLst>
    <pc:chgData name="Savigny, Victor" userId="S::victor.savigny@groupepvcp.com::804fbab0-1bfb-40af-b938-6c61da93998c" providerId="AD" clId="Web-{2400225F-D24B-B9C3-7D71-C6092DA2F08E}"/>
    <pc:docChg chg="modSld">
      <pc:chgData name="Savigny, Victor" userId="S::victor.savigny@groupepvcp.com::804fbab0-1bfb-40af-b938-6c61da93998c" providerId="AD" clId="Web-{2400225F-D24B-B9C3-7D71-C6092DA2F08E}" dt="2025-10-27T18:29:38.264" v="172" actId="20577"/>
      <pc:docMkLst>
        <pc:docMk/>
      </pc:docMkLst>
      <pc:sldChg chg="modSp">
        <pc:chgData name="Savigny, Victor" userId="S::victor.savigny@groupepvcp.com::804fbab0-1bfb-40af-b938-6c61da93998c" providerId="AD" clId="Web-{2400225F-D24B-B9C3-7D71-C6092DA2F08E}" dt="2025-10-27T18:29:38.264" v="172" actId="20577"/>
        <pc:sldMkLst>
          <pc:docMk/>
          <pc:sldMk cId="1295617276" sldId="1318"/>
        </pc:sldMkLst>
      </pc:sldChg>
      <pc:sldChg chg="modSp">
        <pc:chgData name="Savigny, Victor" userId="S::victor.savigny@groupepvcp.com::804fbab0-1bfb-40af-b938-6c61da93998c" providerId="AD" clId="Web-{2400225F-D24B-B9C3-7D71-C6092DA2F08E}" dt="2025-10-27T17:11:01.959" v="106" actId="20577"/>
        <pc:sldMkLst>
          <pc:docMk/>
          <pc:sldMk cId="2253118016" sldId="1366"/>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a:t>Return intention FY25 vs FY24</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barChart>
        <c:barDir val="col"/>
        <c:grouping val="clustered"/>
        <c:varyColors val="0"/>
        <c:ser>
          <c:idx val="0"/>
          <c:order val="0"/>
          <c:tx>
            <c:strRef>
              <c:f>Sheet27!$BL$3</c:f>
              <c:strCache>
                <c:ptCount val="1"/>
                <c:pt idx="0">
                  <c:v>FY24</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Sheet27!$BM$2:$BS$2</c:f>
              <c:strCache>
                <c:ptCount val="7"/>
                <c:pt idx="0">
                  <c:v>TOTAL</c:v>
                </c:pt>
                <c:pt idx="1">
                  <c:v>CPBE</c:v>
                </c:pt>
                <c:pt idx="2">
                  <c:v>SPBE</c:v>
                </c:pt>
                <c:pt idx="3">
                  <c:v>CPNL</c:v>
                </c:pt>
                <c:pt idx="4">
                  <c:v>CPGE</c:v>
                </c:pt>
                <c:pt idx="5">
                  <c:v>CPFR</c:v>
                </c:pt>
                <c:pt idx="6">
                  <c:v>CPDK</c:v>
                </c:pt>
              </c:strCache>
            </c:strRef>
          </c:cat>
          <c:val>
            <c:numRef>
              <c:f>Sheet27!$BM$3:$BS$3</c:f>
              <c:numCache>
                <c:formatCode>0.0%</c:formatCode>
                <c:ptCount val="7"/>
                <c:pt idx="0">
                  <c:v>0.84699999999999998</c:v>
                </c:pt>
                <c:pt idx="1">
                  <c:v>0.88900000000000001</c:v>
                </c:pt>
                <c:pt idx="2">
                  <c:v>0.72899999999999998</c:v>
                </c:pt>
                <c:pt idx="3">
                  <c:v>0.85399999999999998</c:v>
                </c:pt>
                <c:pt idx="4">
                  <c:v>0.84099999999999997</c:v>
                </c:pt>
                <c:pt idx="5">
                  <c:v>0.83599999999999997</c:v>
                </c:pt>
              </c:numCache>
            </c:numRef>
          </c:val>
          <c:extLst>
            <c:ext xmlns:c16="http://schemas.microsoft.com/office/drawing/2014/chart" uri="{C3380CC4-5D6E-409C-BE32-E72D297353CC}">
              <c16:uniqueId val="{00000000-0F97-4237-A757-7834D0C9B542}"/>
            </c:ext>
          </c:extLst>
        </c:ser>
        <c:ser>
          <c:idx val="1"/>
          <c:order val="1"/>
          <c:tx>
            <c:strRef>
              <c:f>Sheet27!$BL$4</c:f>
              <c:strCache>
                <c:ptCount val="1"/>
                <c:pt idx="0">
                  <c:v>FY25</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Sheet27!$BM$2:$BS$2</c:f>
              <c:strCache>
                <c:ptCount val="7"/>
                <c:pt idx="0">
                  <c:v>TOTAL</c:v>
                </c:pt>
                <c:pt idx="1">
                  <c:v>CPBE</c:v>
                </c:pt>
                <c:pt idx="2">
                  <c:v>SPBE</c:v>
                </c:pt>
                <c:pt idx="3">
                  <c:v>CPNL</c:v>
                </c:pt>
                <c:pt idx="4">
                  <c:v>CPGE</c:v>
                </c:pt>
                <c:pt idx="5">
                  <c:v>CPFR</c:v>
                </c:pt>
                <c:pt idx="6">
                  <c:v>CPDK</c:v>
                </c:pt>
              </c:strCache>
            </c:strRef>
          </c:cat>
          <c:val>
            <c:numRef>
              <c:f>Sheet27!$BM$4:$BS$4</c:f>
              <c:numCache>
                <c:formatCode>0.0%</c:formatCode>
                <c:ptCount val="7"/>
                <c:pt idx="0">
                  <c:v>0.86</c:v>
                </c:pt>
                <c:pt idx="1">
                  <c:v>0.89900000000000002</c:v>
                </c:pt>
                <c:pt idx="2">
                  <c:v>0.71399999999999997</c:v>
                </c:pt>
                <c:pt idx="3">
                  <c:v>0.872</c:v>
                </c:pt>
                <c:pt idx="4">
                  <c:v>0.85499999999999998</c:v>
                </c:pt>
                <c:pt idx="5">
                  <c:v>0.84899999999999998</c:v>
                </c:pt>
                <c:pt idx="6">
                  <c:v>0.879</c:v>
                </c:pt>
              </c:numCache>
            </c:numRef>
          </c:val>
          <c:extLst>
            <c:ext xmlns:c16="http://schemas.microsoft.com/office/drawing/2014/chart" uri="{C3380CC4-5D6E-409C-BE32-E72D297353CC}">
              <c16:uniqueId val="{00000001-0F97-4237-A757-7834D0C9B542}"/>
            </c:ext>
          </c:extLst>
        </c:ser>
        <c:dLbls>
          <c:showLegendKey val="0"/>
          <c:showVal val="0"/>
          <c:showCatName val="0"/>
          <c:showSerName val="0"/>
          <c:showPercent val="0"/>
          <c:showBubbleSize val="0"/>
        </c:dLbls>
        <c:gapWidth val="219"/>
        <c:overlap val="-27"/>
        <c:axId val="537454880"/>
        <c:axId val="537462440"/>
      </c:barChart>
      <c:catAx>
        <c:axId val="5374548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37462440"/>
        <c:crosses val="autoZero"/>
        <c:auto val="1"/>
        <c:lblAlgn val="ctr"/>
        <c:lblOffset val="100"/>
        <c:noMultiLvlLbl val="0"/>
      </c:catAx>
      <c:valAx>
        <c:axId val="537462440"/>
        <c:scaling>
          <c:orientation val="minMax"/>
          <c:max val="1"/>
          <c:min val="0"/>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374548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E72A0BD4-4755-4B46-864D-E64A94B37E0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1C32EFC9-67E0-446C-85DD-4E627BCD4C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6842B1-8B7F-4122-9EEC-41FD89250B0E}" type="datetimeFigureOut">
              <a:rPr lang="fr-FR" smtClean="0"/>
              <a:t>27/11/2025</a:t>
            </a:fld>
            <a:endParaRPr lang="fr-FR"/>
          </a:p>
        </p:txBody>
      </p:sp>
      <p:sp>
        <p:nvSpPr>
          <p:cNvPr id="4" name="Espace réservé du pied de page 3">
            <a:extLst>
              <a:ext uri="{FF2B5EF4-FFF2-40B4-BE49-F238E27FC236}">
                <a16:creationId xmlns:a16="http://schemas.microsoft.com/office/drawing/2014/main" id="{62622412-96E8-43F7-A3E7-5B53BF33FFF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4B31068A-49F5-4062-9C26-A7C91B2AE91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C8D7E1-D264-416D-820B-40A4C3901518}" type="slidenum">
              <a:rPr lang="fr-FR" smtClean="0"/>
              <a:t>‹nr.›</a:t>
            </a:fld>
            <a:endParaRPr lang="fr-FR"/>
          </a:p>
        </p:txBody>
      </p:sp>
    </p:spTree>
    <p:extLst>
      <p:ext uri="{BB962C8B-B14F-4D97-AF65-F5344CB8AC3E}">
        <p14:creationId xmlns:p14="http://schemas.microsoft.com/office/powerpoint/2010/main" val="12172814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9E2472-9FDD-664F-803B-2B30B0C56C30}" type="datetimeFigureOut">
              <a:rPr lang="en-US" smtClean="0"/>
              <a:t>11/27/2025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9BE64D-290B-9144-B7D5-1020F66D2B17}" type="slidenum">
              <a:rPr lang="en-US" smtClean="0"/>
              <a:t>‹nr.›</a:t>
            </a:fld>
            <a:endParaRPr lang="en-US"/>
          </a:p>
        </p:txBody>
      </p:sp>
    </p:spTree>
    <p:extLst>
      <p:ext uri="{BB962C8B-B14F-4D97-AF65-F5344CB8AC3E}">
        <p14:creationId xmlns:p14="http://schemas.microsoft.com/office/powerpoint/2010/main" val="1830100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fld id="{B09BE64D-290B-9144-B7D5-1020F66D2B17}" type="slidenum">
              <a:rPr lang="en-US" smtClean="0"/>
              <a:t>26</a:t>
            </a:fld>
            <a:endParaRPr lang="en-US"/>
          </a:p>
        </p:txBody>
      </p:sp>
    </p:spTree>
    <p:extLst>
      <p:ext uri="{BB962C8B-B14F-4D97-AF65-F5344CB8AC3E}">
        <p14:creationId xmlns:p14="http://schemas.microsoft.com/office/powerpoint/2010/main" val="34152464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emf"/><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emf"/><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1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6.emf"/><Relationship Id="rId4" Type="http://schemas.openxmlformats.org/officeDocument/2006/relationships/image" Target="../media/image7.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8.emf"/><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15.png"/><Relationship Id="rId4" Type="http://schemas.openxmlformats.org/officeDocument/2006/relationships/image" Target="../media/image7.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emf"/><Relationship Id="rId1" Type="http://schemas.openxmlformats.org/officeDocument/2006/relationships/slideMaster" Target="../slideMasters/slideMaster1.xml"/><Relationship Id="rId5" Type="http://schemas.openxmlformats.org/officeDocument/2006/relationships/image" Target="../media/image28.svg"/><Relationship Id="rId4" Type="http://schemas.openxmlformats.org/officeDocument/2006/relationships/image" Target="../media/image27.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0.png"/><Relationship Id="rId1" Type="http://schemas.openxmlformats.org/officeDocument/2006/relationships/slideMaster" Target="../slideMasters/slideMaster1.xml"/><Relationship Id="rId4" Type="http://schemas.openxmlformats.org/officeDocument/2006/relationships/image" Target="../media/image28.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1.xml"/><Relationship Id="rId5" Type="http://schemas.openxmlformats.org/officeDocument/2006/relationships/image" Target="../media/image34.png"/><Relationship Id="rId4" Type="http://schemas.openxmlformats.org/officeDocument/2006/relationships/image" Target="../media/image33.emf"/></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0.png"/><Relationship Id="rId1" Type="http://schemas.openxmlformats.org/officeDocument/2006/relationships/slideMaster" Target="../slideMasters/slideMaster1.xml"/><Relationship Id="rId5" Type="http://schemas.openxmlformats.org/officeDocument/2006/relationships/image" Target="../media/image35.emf"/><Relationship Id="rId4" Type="http://schemas.openxmlformats.org/officeDocument/2006/relationships/image" Target="../media/image28.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6.emf"/><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emf"/><Relationship Id="rId1" Type="http://schemas.openxmlformats.org/officeDocument/2006/relationships/slideMaster" Target="../slideMasters/slideMaster1.xml"/><Relationship Id="rId5" Type="http://schemas.openxmlformats.org/officeDocument/2006/relationships/image" Target="../media/image42.svg"/><Relationship Id="rId4" Type="http://schemas.openxmlformats.org/officeDocument/2006/relationships/image" Target="../media/image41.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Master" Target="../slideMasters/slideMaster1.xml"/><Relationship Id="rId4" Type="http://schemas.openxmlformats.org/officeDocument/2006/relationships/image" Target="../media/image42.sv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 Id="rId5" Type="http://schemas.openxmlformats.org/officeDocument/2006/relationships/image" Target="../media/image40.png"/><Relationship Id="rId4" Type="http://schemas.openxmlformats.org/officeDocument/2006/relationships/image" Target="../media/image39.emf"/></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Master" Target="../slideMasters/slideMaster1.xml"/><Relationship Id="rId5" Type="http://schemas.openxmlformats.org/officeDocument/2006/relationships/image" Target="../media/image45.emf"/><Relationship Id="rId4" Type="http://schemas.openxmlformats.org/officeDocument/2006/relationships/image" Target="../media/image42.sv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6.emf"/><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Master" Target="../slideMasters/slideMaster1.xml"/><Relationship Id="rId5" Type="http://schemas.openxmlformats.org/officeDocument/2006/relationships/image" Target="../media/image52.emf"/><Relationship Id="rId4" Type="http://schemas.openxmlformats.org/officeDocument/2006/relationships/image" Target="../media/image51.sv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Master" Target="../slideMasters/slideMaster1.xml"/><Relationship Id="rId4" Type="http://schemas.openxmlformats.org/officeDocument/2006/relationships/image" Target="../media/image51.sv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png"/><Relationship Id="rId1" Type="http://schemas.openxmlformats.org/officeDocument/2006/relationships/slideMaster" Target="../slideMasters/slideMaster1.xml"/><Relationship Id="rId6" Type="http://schemas.openxmlformats.org/officeDocument/2006/relationships/image" Target="../media/image49.png"/><Relationship Id="rId5" Type="http://schemas.openxmlformats.org/officeDocument/2006/relationships/image" Target="../media/image56.emf"/><Relationship Id="rId4" Type="http://schemas.openxmlformats.org/officeDocument/2006/relationships/image" Target="../media/image55.emf"/></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Master" Target="../slideMasters/slideMaster1.xml"/><Relationship Id="rId5" Type="http://schemas.openxmlformats.org/officeDocument/2006/relationships/image" Target="../media/image55.emf"/><Relationship Id="rId4" Type="http://schemas.openxmlformats.org/officeDocument/2006/relationships/image" Target="../media/image51.sv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52.emf"/><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title_PI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714D5-049C-A2AB-DE2D-5447BFB76B2B}"/>
              </a:ext>
            </a:extLst>
          </p:cNvPr>
          <p:cNvSpPr>
            <a:spLocks noGrp="1"/>
          </p:cNvSpPr>
          <p:nvPr>
            <p:ph type="title" hasCustomPrompt="1"/>
          </p:nvPr>
        </p:nvSpPr>
        <p:spPr>
          <a:xfrm>
            <a:off x="2879725" y="2512524"/>
            <a:ext cx="6432550" cy="1832952"/>
          </a:xfrm>
          <a:prstGeom prst="rect">
            <a:avLst/>
          </a:prstGeom>
        </p:spPr>
        <p:txBody>
          <a:bodyPr anchor="ctr"/>
          <a:lstStyle>
            <a:lvl1pPr algn="ctr">
              <a:defRPr sz="6500" b="0" i="0">
                <a:solidFill>
                  <a:schemeClr val="accent2"/>
                </a:solidFill>
                <a:latin typeface="Tahoma" panose="020B0604030504040204" pitchFamily="34" charset="0"/>
                <a:ea typeface="Tahoma" panose="020B0604030504040204" pitchFamily="34" charset="0"/>
                <a:cs typeface="Tahoma" panose="020B0604030504040204" pitchFamily="34" charset="0"/>
              </a:defRPr>
            </a:lvl1pPr>
          </a:lstStyle>
          <a:p>
            <a:br>
              <a:rPr lang="en-GB"/>
            </a:br>
            <a:r>
              <a:rPr lang="en-GB"/>
              <a:t>Presentation Title</a:t>
            </a:r>
            <a:br>
              <a:rPr lang="en-GB"/>
            </a:br>
            <a:endParaRPr lang="en-US"/>
          </a:p>
        </p:txBody>
      </p:sp>
      <p:sp>
        <p:nvSpPr>
          <p:cNvPr id="3" name="Date Placeholder 2">
            <a:extLst>
              <a:ext uri="{FF2B5EF4-FFF2-40B4-BE49-F238E27FC236}">
                <a16:creationId xmlns:a16="http://schemas.microsoft.com/office/drawing/2014/main" id="{BA9B395E-C624-B79B-E0DB-6B661D27DDF8}"/>
              </a:ext>
            </a:extLst>
          </p:cNvPr>
          <p:cNvSpPr>
            <a:spLocks noGrp="1"/>
          </p:cNvSpPr>
          <p:nvPr>
            <p:ph type="dt" sz="half" idx="10"/>
          </p:nvPr>
        </p:nvSpPr>
        <p:spPr>
          <a:xfrm>
            <a:off x="5037053" y="5883097"/>
            <a:ext cx="2117895" cy="277991"/>
          </a:xfrm>
          <a:prstGeom prst="rect">
            <a:avLst/>
          </a:prstGeom>
        </p:spPr>
        <p:txBody>
          <a:bodyPr/>
          <a:lstStyle>
            <a:lvl1pPr algn="ctr">
              <a:defRPr>
                <a:solidFill>
                  <a:schemeClr val="accent2"/>
                </a:solidFill>
              </a:defRPr>
            </a:lvl1pPr>
          </a:lstStyle>
          <a:p>
            <a:fld id="{CACEA970-51D5-41D8-BAF3-D0927549698A}" type="datetime1">
              <a:rPr lang="fr-FR" smtClean="0"/>
              <a:t>27/11/2025</a:t>
            </a:fld>
            <a:endParaRPr lang="en-US"/>
          </a:p>
        </p:txBody>
      </p:sp>
      <p:sp>
        <p:nvSpPr>
          <p:cNvPr id="9" name="Text Placeholder 8">
            <a:extLst>
              <a:ext uri="{FF2B5EF4-FFF2-40B4-BE49-F238E27FC236}">
                <a16:creationId xmlns:a16="http://schemas.microsoft.com/office/drawing/2014/main" id="{A36730EE-1422-4E74-B73C-FD4FDCAAC4BF}"/>
              </a:ext>
            </a:extLst>
          </p:cNvPr>
          <p:cNvSpPr>
            <a:spLocks noGrp="1"/>
          </p:cNvSpPr>
          <p:nvPr>
            <p:ph type="body" sz="quarter" idx="11" hasCustomPrompt="1"/>
          </p:nvPr>
        </p:nvSpPr>
        <p:spPr>
          <a:xfrm>
            <a:off x="2879725" y="5300663"/>
            <a:ext cx="6432550" cy="582434"/>
          </a:xfrm>
          <a:prstGeom prst="rect">
            <a:avLst/>
          </a:prstGeom>
        </p:spPr>
        <p:txBody>
          <a:bodyPr/>
          <a:lstStyle>
            <a:lvl1pPr marL="0" indent="0" algn="ctr">
              <a:buNone/>
              <a:defRPr>
                <a:solidFill>
                  <a:schemeClr val="accent2"/>
                </a:solidFill>
              </a:defRPr>
            </a:lvl1pPr>
          </a:lstStyle>
          <a:p>
            <a:pPr lvl="0"/>
            <a:r>
              <a:rPr lang="en-US"/>
              <a:t>Text</a:t>
            </a:r>
            <a:endParaRPr lang="fr-FR"/>
          </a:p>
        </p:txBody>
      </p:sp>
      <p:pic>
        <p:nvPicPr>
          <p:cNvPr id="6" name="Graphique 5">
            <a:extLst>
              <a:ext uri="{FF2B5EF4-FFF2-40B4-BE49-F238E27FC236}">
                <a16:creationId xmlns:a16="http://schemas.microsoft.com/office/drawing/2014/main" id="{1421BE9F-A59E-C4C4-E0E7-0DBC788AE38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437435" y="914892"/>
            <a:ext cx="3312368" cy="425876"/>
          </a:xfrm>
          <a:prstGeom prst="rect">
            <a:avLst/>
          </a:prstGeom>
        </p:spPr>
      </p:pic>
    </p:spTree>
    <p:extLst>
      <p:ext uri="{BB962C8B-B14F-4D97-AF65-F5344CB8AC3E}">
        <p14:creationId xmlns:p14="http://schemas.microsoft.com/office/powerpoint/2010/main" val="2766327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ain-title_VISUAL">
    <p:bg>
      <p:bgPr>
        <a:solidFill>
          <a:schemeClr val="accent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EC937E9-88E3-4F00-A000-9ECAE5FA1B60}"/>
              </a:ext>
            </a:extLst>
          </p:cNvPr>
          <p:cNvSpPr/>
          <p:nvPr userDrawn="1"/>
        </p:nvSpPr>
        <p:spPr>
          <a:xfrm>
            <a:off x="0" y="0"/>
            <a:ext cx="12192000"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a:extLst>
              <a:ext uri="{FF2B5EF4-FFF2-40B4-BE49-F238E27FC236}">
                <a16:creationId xmlns:a16="http://schemas.microsoft.com/office/drawing/2014/main" id="{B73714D5-049C-A2AB-DE2D-5447BFB76B2B}"/>
              </a:ext>
            </a:extLst>
          </p:cNvPr>
          <p:cNvSpPr>
            <a:spLocks noGrp="1"/>
          </p:cNvSpPr>
          <p:nvPr>
            <p:ph type="title" hasCustomPrompt="1"/>
          </p:nvPr>
        </p:nvSpPr>
        <p:spPr>
          <a:xfrm>
            <a:off x="2879725" y="2512524"/>
            <a:ext cx="6432550" cy="1832952"/>
          </a:xfrm>
          <a:prstGeom prst="rect">
            <a:avLst/>
          </a:prstGeom>
        </p:spPr>
        <p:txBody>
          <a:bodyPr anchor="ctr"/>
          <a:lstStyle>
            <a:lvl1pPr algn="ctr">
              <a:defRPr sz="6500" b="0" i="0">
                <a:solidFill>
                  <a:schemeClr val="accent2"/>
                </a:solidFill>
                <a:latin typeface="Tahoma" panose="020B0604030504040204" pitchFamily="34" charset="0"/>
                <a:ea typeface="Tahoma" panose="020B0604030504040204" pitchFamily="34" charset="0"/>
                <a:cs typeface="Tahoma" panose="020B0604030504040204" pitchFamily="34" charset="0"/>
              </a:defRPr>
            </a:lvl1pPr>
          </a:lstStyle>
          <a:p>
            <a:br>
              <a:rPr lang="en-GB"/>
            </a:br>
            <a:r>
              <a:rPr lang="en-GB"/>
              <a:t>Presentation Title</a:t>
            </a:r>
            <a:br>
              <a:rPr lang="en-GB"/>
            </a:br>
            <a:endParaRPr lang="en-US"/>
          </a:p>
        </p:txBody>
      </p:sp>
      <p:sp>
        <p:nvSpPr>
          <p:cNvPr id="3" name="Date Placeholder 2">
            <a:extLst>
              <a:ext uri="{FF2B5EF4-FFF2-40B4-BE49-F238E27FC236}">
                <a16:creationId xmlns:a16="http://schemas.microsoft.com/office/drawing/2014/main" id="{BA9B395E-C624-B79B-E0DB-6B661D27DDF8}"/>
              </a:ext>
            </a:extLst>
          </p:cNvPr>
          <p:cNvSpPr>
            <a:spLocks noGrp="1"/>
          </p:cNvSpPr>
          <p:nvPr>
            <p:ph type="dt" sz="half" idx="10"/>
          </p:nvPr>
        </p:nvSpPr>
        <p:spPr>
          <a:xfrm>
            <a:off x="5037053" y="5883097"/>
            <a:ext cx="2117895" cy="277991"/>
          </a:xfrm>
          <a:prstGeom prst="rect">
            <a:avLst/>
          </a:prstGeom>
        </p:spPr>
        <p:txBody>
          <a:bodyPr/>
          <a:lstStyle>
            <a:lvl1pPr algn="ctr">
              <a:defRPr>
                <a:solidFill>
                  <a:schemeClr val="accent2"/>
                </a:solidFill>
              </a:defRPr>
            </a:lvl1pPr>
          </a:lstStyle>
          <a:p>
            <a:fld id="{CACEA970-51D5-41D8-BAF3-D0927549698A}" type="datetime1">
              <a:rPr lang="fr-FR" smtClean="0"/>
              <a:t>27/11/2025</a:t>
            </a:fld>
            <a:endParaRPr lang="en-US"/>
          </a:p>
        </p:txBody>
      </p:sp>
      <p:pic>
        <p:nvPicPr>
          <p:cNvPr id="14" name="Picture 13">
            <a:extLst>
              <a:ext uri="{FF2B5EF4-FFF2-40B4-BE49-F238E27FC236}">
                <a16:creationId xmlns:a16="http://schemas.microsoft.com/office/drawing/2014/main" id="{C61BA075-17CF-4D1E-B36B-9C327F31D24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4335394" y="815344"/>
            <a:ext cx="3521210" cy="599833"/>
          </a:xfrm>
          <a:prstGeom prst="rect">
            <a:avLst/>
          </a:prstGeom>
        </p:spPr>
      </p:pic>
      <p:sp>
        <p:nvSpPr>
          <p:cNvPr id="9" name="Text Placeholder 8">
            <a:extLst>
              <a:ext uri="{FF2B5EF4-FFF2-40B4-BE49-F238E27FC236}">
                <a16:creationId xmlns:a16="http://schemas.microsoft.com/office/drawing/2014/main" id="{A36730EE-1422-4E74-B73C-FD4FDCAAC4BF}"/>
              </a:ext>
            </a:extLst>
          </p:cNvPr>
          <p:cNvSpPr>
            <a:spLocks noGrp="1"/>
          </p:cNvSpPr>
          <p:nvPr>
            <p:ph type="body" sz="quarter" idx="11" hasCustomPrompt="1"/>
          </p:nvPr>
        </p:nvSpPr>
        <p:spPr>
          <a:xfrm>
            <a:off x="2879725" y="5300663"/>
            <a:ext cx="6432550" cy="582434"/>
          </a:xfrm>
          <a:prstGeom prst="rect">
            <a:avLst/>
          </a:prstGeom>
        </p:spPr>
        <p:txBody>
          <a:bodyPr/>
          <a:lstStyle>
            <a:lvl1pPr marL="0" indent="0" algn="ctr">
              <a:buNone/>
              <a:defRPr>
                <a:solidFill>
                  <a:schemeClr val="accent2"/>
                </a:solidFill>
              </a:defRPr>
            </a:lvl1pPr>
          </a:lstStyle>
          <a:p>
            <a:pPr lvl="0"/>
            <a:r>
              <a:rPr lang="en-US"/>
              <a:t>Text</a:t>
            </a:r>
            <a:endParaRPr lang="fr-FR"/>
          </a:p>
        </p:txBody>
      </p:sp>
    </p:spTree>
    <p:extLst>
      <p:ext uri="{BB962C8B-B14F-4D97-AF65-F5344CB8AC3E}">
        <p14:creationId xmlns:p14="http://schemas.microsoft.com/office/powerpoint/2010/main" val="1686844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dex-3">
    <p:bg>
      <p:bgPr>
        <a:solidFill>
          <a:srgbClr val="FFFFFF"/>
        </a:solidFill>
        <a:effectLst/>
      </p:bgPr>
    </p:bg>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9B21353B-B845-C17B-7440-856A6FF524EC}"/>
              </a:ext>
            </a:extLst>
          </p:cNvPr>
          <p:cNvPicPr>
            <a:picLocks noChangeAspect="1"/>
          </p:cNvPicPr>
          <p:nvPr userDrawn="1"/>
        </p:nvPicPr>
        <p:blipFill>
          <a:blip r:embed="rId2">
            <a:alphaModFix amt="15000"/>
          </a:blip>
          <a:stretch>
            <a:fillRect/>
          </a:stretch>
        </p:blipFill>
        <p:spPr>
          <a:xfrm>
            <a:off x="8485303" y="3165020"/>
            <a:ext cx="3706697" cy="3706697"/>
          </a:xfrm>
          <a:prstGeom prst="rect">
            <a:avLst/>
          </a:prstGeom>
        </p:spPr>
      </p:pic>
      <p:sp>
        <p:nvSpPr>
          <p:cNvPr id="17" name="Title 1">
            <a:extLst>
              <a:ext uri="{FF2B5EF4-FFF2-40B4-BE49-F238E27FC236}">
                <a16:creationId xmlns:a16="http://schemas.microsoft.com/office/drawing/2014/main" id="{707EE6DF-5551-22FA-E06B-48F0D8E6BC87}"/>
              </a:ext>
            </a:extLst>
          </p:cNvPr>
          <p:cNvSpPr txBox="1">
            <a:spLocks/>
          </p:cNvSpPr>
          <p:nvPr userDrawn="1"/>
        </p:nvSpPr>
        <p:spPr>
          <a:xfrm>
            <a:off x="2874591" y="2255546"/>
            <a:ext cx="469040" cy="360362"/>
          </a:xfrm>
          <a:prstGeom prst="rect">
            <a:avLst/>
          </a:prstGeom>
        </p:spPr>
        <p:txBody>
          <a:bodyPr anchor="ctr"/>
          <a:lstStyle>
            <a:lvl1pPr algn="ctr" defTabSz="914400" rtl="0" eaLnBrk="1" latinLnBrk="0" hangingPunct="1">
              <a:lnSpc>
                <a:spcPct val="90000"/>
              </a:lnSpc>
              <a:spcBef>
                <a:spcPct val="0"/>
              </a:spcBef>
              <a:buNone/>
              <a:defRPr sz="3400" b="1" i="0" kern="1200">
                <a:solidFill>
                  <a:srgbClr val="BDEFB5"/>
                </a:solidFill>
                <a:latin typeface="Tahoma" panose="020B0604030504040204" pitchFamily="34" charset="0"/>
                <a:ea typeface="Tahoma" panose="020B0604030504040204" pitchFamily="34" charset="0"/>
                <a:cs typeface="Tahoma" panose="020B0604030504040204" pitchFamily="34" charset="0"/>
              </a:defRPr>
            </a:lvl1pPr>
          </a:lstStyle>
          <a:p>
            <a:pPr algn="l"/>
            <a:endParaRPr lang="en-US" sz="1200" b="1" i="0">
              <a:solidFill>
                <a:srgbClr val="BDEFB5"/>
              </a:solidFill>
              <a:latin typeface="Tahoma" panose="020B0604030504040204" pitchFamily="34" charset="0"/>
              <a:ea typeface="Tahoma" panose="020B0604030504040204" pitchFamily="34" charset="0"/>
              <a:cs typeface="Tahoma" panose="020B0604030504040204" pitchFamily="34" charset="0"/>
            </a:endParaRPr>
          </a:p>
        </p:txBody>
      </p:sp>
      <p:sp>
        <p:nvSpPr>
          <p:cNvPr id="18" name="Title 1">
            <a:extLst>
              <a:ext uri="{FF2B5EF4-FFF2-40B4-BE49-F238E27FC236}">
                <a16:creationId xmlns:a16="http://schemas.microsoft.com/office/drawing/2014/main" id="{4C093771-F21C-0635-646A-493E2E39285B}"/>
              </a:ext>
            </a:extLst>
          </p:cNvPr>
          <p:cNvSpPr txBox="1">
            <a:spLocks/>
          </p:cNvSpPr>
          <p:nvPr userDrawn="1"/>
        </p:nvSpPr>
        <p:spPr>
          <a:xfrm>
            <a:off x="2874591" y="3080189"/>
            <a:ext cx="469040" cy="360362"/>
          </a:xfrm>
          <a:prstGeom prst="rect">
            <a:avLst/>
          </a:prstGeom>
        </p:spPr>
        <p:txBody>
          <a:bodyPr anchor="ctr"/>
          <a:lstStyle>
            <a:lvl1pPr algn="ctr" defTabSz="914400" rtl="0" eaLnBrk="1" latinLnBrk="0" hangingPunct="1">
              <a:lnSpc>
                <a:spcPct val="90000"/>
              </a:lnSpc>
              <a:spcBef>
                <a:spcPct val="0"/>
              </a:spcBef>
              <a:buNone/>
              <a:defRPr sz="3400" b="1" i="0" kern="1200">
                <a:solidFill>
                  <a:srgbClr val="BDEFB5"/>
                </a:solidFill>
                <a:latin typeface="Tahoma" panose="020B0604030504040204" pitchFamily="34" charset="0"/>
                <a:ea typeface="Tahoma" panose="020B0604030504040204" pitchFamily="34" charset="0"/>
                <a:cs typeface="Tahoma" panose="020B0604030504040204" pitchFamily="34" charset="0"/>
              </a:defRPr>
            </a:lvl1pPr>
          </a:lstStyle>
          <a:p>
            <a:pPr algn="l"/>
            <a:endParaRPr lang="en-US" sz="1200" b="1" i="0">
              <a:solidFill>
                <a:srgbClr val="BDEFB5"/>
              </a:solidFill>
              <a:latin typeface="Tahoma" panose="020B0604030504040204" pitchFamily="34" charset="0"/>
              <a:ea typeface="Tahoma" panose="020B0604030504040204" pitchFamily="34" charset="0"/>
              <a:cs typeface="Tahoma" panose="020B0604030504040204" pitchFamily="34" charset="0"/>
            </a:endParaRPr>
          </a:p>
        </p:txBody>
      </p:sp>
      <p:sp>
        <p:nvSpPr>
          <p:cNvPr id="19" name="Title 1">
            <a:extLst>
              <a:ext uri="{FF2B5EF4-FFF2-40B4-BE49-F238E27FC236}">
                <a16:creationId xmlns:a16="http://schemas.microsoft.com/office/drawing/2014/main" id="{5A7F67E0-3C76-C7E0-35B5-A13D630C3C7B}"/>
              </a:ext>
            </a:extLst>
          </p:cNvPr>
          <p:cNvSpPr txBox="1">
            <a:spLocks/>
          </p:cNvSpPr>
          <p:nvPr userDrawn="1"/>
        </p:nvSpPr>
        <p:spPr>
          <a:xfrm>
            <a:off x="2874591" y="3918858"/>
            <a:ext cx="469040" cy="360362"/>
          </a:xfrm>
          <a:prstGeom prst="rect">
            <a:avLst/>
          </a:prstGeom>
        </p:spPr>
        <p:txBody>
          <a:bodyPr anchor="ctr"/>
          <a:lstStyle>
            <a:lvl1pPr algn="ctr" defTabSz="914400" rtl="0" eaLnBrk="1" latinLnBrk="0" hangingPunct="1">
              <a:lnSpc>
                <a:spcPct val="90000"/>
              </a:lnSpc>
              <a:spcBef>
                <a:spcPct val="0"/>
              </a:spcBef>
              <a:buNone/>
              <a:defRPr sz="3400" b="1" i="0" kern="1200">
                <a:solidFill>
                  <a:srgbClr val="BDEFB5"/>
                </a:solidFill>
                <a:latin typeface="Tahoma" panose="020B0604030504040204" pitchFamily="34" charset="0"/>
                <a:ea typeface="Tahoma" panose="020B0604030504040204" pitchFamily="34" charset="0"/>
                <a:cs typeface="Tahoma" panose="020B0604030504040204" pitchFamily="34" charset="0"/>
              </a:defRPr>
            </a:lvl1pPr>
          </a:lstStyle>
          <a:p>
            <a:pPr algn="l"/>
            <a:endParaRPr lang="en-US" sz="1200" b="1" i="0">
              <a:solidFill>
                <a:srgbClr val="BDEFB5"/>
              </a:solidFill>
              <a:latin typeface="Tahoma" panose="020B0604030504040204" pitchFamily="34" charset="0"/>
              <a:ea typeface="Tahoma" panose="020B0604030504040204" pitchFamily="34" charset="0"/>
              <a:cs typeface="Tahoma" panose="020B0604030504040204" pitchFamily="34" charset="0"/>
            </a:endParaRPr>
          </a:p>
        </p:txBody>
      </p:sp>
      <p:sp>
        <p:nvSpPr>
          <p:cNvPr id="21" name="Title 1">
            <a:extLst>
              <a:ext uri="{FF2B5EF4-FFF2-40B4-BE49-F238E27FC236}">
                <a16:creationId xmlns:a16="http://schemas.microsoft.com/office/drawing/2014/main" id="{C978AAD6-E55D-DCAA-DCAE-FBE3AD8ED966}"/>
              </a:ext>
            </a:extLst>
          </p:cNvPr>
          <p:cNvSpPr txBox="1">
            <a:spLocks/>
          </p:cNvSpPr>
          <p:nvPr userDrawn="1"/>
        </p:nvSpPr>
        <p:spPr>
          <a:xfrm>
            <a:off x="2874591" y="5538313"/>
            <a:ext cx="469040" cy="360362"/>
          </a:xfrm>
          <a:prstGeom prst="rect">
            <a:avLst/>
          </a:prstGeom>
        </p:spPr>
        <p:txBody>
          <a:bodyPr anchor="ctr"/>
          <a:lstStyle>
            <a:lvl1pPr algn="ctr" defTabSz="914400" rtl="0" eaLnBrk="1" latinLnBrk="0" hangingPunct="1">
              <a:lnSpc>
                <a:spcPct val="90000"/>
              </a:lnSpc>
              <a:spcBef>
                <a:spcPct val="0"/>
              </a:spcBef>
              <a:buNone/>
              <a:defRPr sz="3400" b="1" i="0" kern="1200">
                <a:solidFill>
                  <a:srgbClr val="BDEFB5"/>
                </a:solidFill>
                <a:latin typeface="Tahoma" panose="020B0604030504040204" pitchFamily="34" charset="0"/>
                <a:ea typeface="Tahoma" panose="020B0604030504040204" pitchFamily="34" charset="0"/>
                <a:cs typeface="Tahoma" panose="020B0604030504040204" pitchFamily="34" charset="0"/>
              </a:defRPr>
            </a:lvl1pPr>
          </a:lstStyle>
          <a:p>
            <a:pPr algn="l"/>
            <a:endParaRPr lang="en-US" sz="1200" b="1" i="0">
              <a:solidFill>
                <a:srgbClr val="BDEFB5"/>
              </a:solidFill>
              <a:latin typeface="Tahoma" panose="020B0604030504040204" pitchFamily="34" charset="0"/>
              <a:ea typeface="Tahoma" panose="020B0604030504040204" pitchFamily="34" charset="0"/>
              <a:cs typeface="Tahoma" panose="020B0604030504040204" pitchFamily="34" charset="0"/>
            </a:endParaRPr>
          </a:p>
        </p:txBody>
      </p:sp>
      <p:sp>
        <p:nvSpPr>
          <p:cNvPr id="49" name="Text Placeholder 46">
            <a:extLst>
              <a:ext uri="{FF2B5EF4-FFF2-40B4-BE49-F238E27FC236}">
                <a16:creationId xmlns:a16="http://schemas.microsoft.com/office/drawing/2014/main" id="{0014CC3C-62CA-8015-D31B-2FFC8F4357AE}"/>
              </a:ext>
            </a:extLst>
          </p:cNvPr>
          <p:cNvSpPr>
            <a:spLocks noGrp="1"/>
          </p:cNvSpPr>
          <p:nvPr>
            <p:ph type="body" sz="quarter" idx="14" hasCustomPrompt="1"/>
          </p:nvPr>
        </p:nvSpPr>
        <p:spPr>
          <a:xfrm>
            <a:off x="2874591" y="1435589"/>
            <a:ext cx="649246" cy="360363"/>
          </a:xfrm>
          <a:prstGeom prst="rect">
            <a:avLst/>
          </a:prstGeom>
        </p:spPr>
        <p:txBody>
          <a:bodyPr lIns="90000" anchor="ctr"/>
          <a:lstStyle>
            <a:lvl1pPr marL="0" indent="0" algn="r">
              <a:buNone/>
              <a:defRPr sz="1200" b="1">
                <a:solidFill>
                  <a:srgbClr val="B2EDA7"/>
                </a:solidFill>
              </a:defRPr>
            </a:lvl1pPr>
          </a:lstStyle>
          <a:p>
            <a:pPr lvl="0"/>
            <a:r>
              <a:rPr lang="en-US"/>
              <a:t>1</a:t>
            </a:r>
          </a:p>
        </p:txBody>
      </p:sp>
      <p:sp>
        <p:nvSpPr>
          <p:cNvPr id="50" name="Text Placeholder 46">
            <a:extLst>
              <a:ext uri="{FF2B5EF4-FFF2-40B4-BE49-F238E27FC236}">
                <a16:creationId xmlns:a16="http://schemas.microsoft.com/office/drawing/2014/main" id="{4EEC492E-CC88-7FD5-7D3C-FAE7729EBFD3}"/>
              </a:ext>
            </a:extLst>
          </p:cNvPr>
          <p:cNvSpPr>
            <a:spLocks noGrp="1"/>
          </p:cNvSpPr>
          <p:nvPr>
            <p:ph type="body" sz="quarter" idx="15" hasCustomPrompt="1"/>
          </p:nvPr>
        </p:nvSpPr>
        <p:spPr>
          <a:xfrm>
            <a:off x="2874591" y="2257766"/>
            <a:ext cx="649246" cy="360363"/>
          </a:xfrm>
          <a:prstGeom prst="rect">
            <a:avLst/>
          </a:prstGeom>
        </p:spPr>
        <p:txBody>
          <a:bodyPr lIns="90000" anchor="ctr"/>
          <a:lstStyle>
            <a:lvl1pPr marL="0" indent="0" algn="r">
              <a:buNone/>
              <a:defRPr sz="1200" b="1">
                <a:solidFill>
                  <a:srgbClr val="B2EDA7"/>
                </a:solidFill>
              </a:defRPr>
            </a:lvl1pPr>
          </a:lstStyle>
          <a:p>
            <a:pPr lvl="0"/>
            <a:r>
              <a:rPr lang="en-US"/>
              <a:t>2</a:t>
            </a:r>
          </a:p>
        </p:txBody>
      </p:sp>
      <p:sp>
        <p:nvSpPr>
          <p:cNvPr id="51" name="Text Placeholder 46">
            <a:extLst>
              <a:ext uri="{FF2B5EF4-FFF2-40B4-BE49-F238E27FC236}">
                <a16:creationId xmlns:a16="http://schemas.microsoft.com/office/drawing/2014/main" id="{715154DB-B8C5-8D7D-CF1F-31F2901738FC}"/>
              </a:ext>
            </a:extLst>
          </p:cNvPr>
          <p:cNvSpPr>
            <a:spLocks noGrp="1"/>
          </p:cNvSpPr>
          <p:nvPr>
            <p:ph type="body" sz="quarter" idx="16" hasCustomPrompt="1"/>
          </p:nvPr>
        </p:nvSpPr>
        <p:spPr>
          <a:xfrm>
            <a:off x="2874591" y="3084273"/>
            <a:ext cx="649246" cy="360363"/>
          </a:xfrm>
          <a:prstGeom prst="rect">
            <a:avLst/>
          </a:prstGeom>
        </p:spPr>
        <p:txBody>
          <a:bodyPr lIns="90000" anchor="ctr"/>
          <a:lstStyle>
            <a:lvl1pPr marL="0" indent="0" algn="r">
              <a:buNone/>
              <a:defRPr sz="1200" b="1">
                <a:solidFill>
                  <a:srgbClr val="B2EDA7"/>
                </a:solidFill>
              </a:defRPr>
            </a:lvl1pPr>
          </a:lstStyle>
          <a:p>
            <a:pPr lvl="0"/>
            <a:r>
              <a:rPr lang="en-US"/>
              <a:t>3</a:t>
            </a:r>
          </a:p>
        </p:txBody>
      </p:sp>
      <p:sp>
        <p:nvSpPr>
          <p:cNvPr id="52" name="Text Placeholder 46">
            <a:extLst>
              <a:ext uri="{FF2B5EF4-FFF2-40B4-BE49-F238E27FC236}">
                <a16:creationId xmlns:a16="http://schemas.microsoft.com/office/drawing/2014/main" id="{49DD72FB-0DAE-77A1-1E8A-669C4C1CEBAC}"/>
              </a:ext>
            </a:extLst>
          </p:cNvPr>
          <p:cNvSpPr>
            <a:spLocks noGrp="1"/>
          </p:cNvSpPr>
          <p:nvPr>
            <p:ph type="body" sz="quarter" idx="17" hasCustomPrompt="1"/>
          </p:nvPr>
        </p:nvSpPr>
        <p:spPr>
          <a:xfrm>
            <a:off x="2874591" y="3914829"/>
            <a:ext cx="649246" cy="360363"/>
          </a:xfrm>
          <a:prstGeom prst="rect">
            <a:avLst/>
          </a:prstGeom>
        </p:spPr>
        <p:txBody>
          <a:bodyPr lIns="90000" anchor="ctr"/>
          <a:lstStyle>
            <a:lvl1pPr marL="0" indent="0" algn="r">
              <a:buNone/>
              <a:defRPr sz="1200" b="1">
                <a:solidFill>
                  <a:srgbClr val="B2EDA7"/>
                </a:solidFill>
              </a:defRPr>
            </a:lvl1pPr>
          </a:lstStyle>
          <a:p>
            <a:pPr lvl="0"/>
            <a:r>
              <a:rPr lang="en-US"/>
              <a:t>4</a:t>
            </a:r>
          </a:p>
        </p:txBody>
      </p:sp>
      <p:sp>
        <p:nvSpPr>
          <p:cNvPr id="53" name="Text Placeholder 46">
            <a:extLst>
              <a:ext uri="{FF2B5EF4-FFF2-40B4-BE49-F238E27FC236}">
                <a16:creationId xmlns:a16="http://schemas.microsoft.com/office/drawing/2014/main" id="{80FFA765-D20F-F1A2-121F-521EB955ABC1}"/>
              </a:ext>
            </a:extLst>
          </p:cNvPr>
          <p:cNvSpPr>
            <a:spLocks noGrp="1"/>
          </p:cNvSpPr>
          <p:nvPr>
            <p:ph type="body" sz="quarter" idx="18" hasCustomPrompt="1"/>
          </p:nvPr>
        </p:nvSpPr>
        <p:spPr>
          <a:xfrm>
            <a:off x="2874591" y="4735674"/>
            <a:ext cx="649246" cy="360363"/>
          </a:xfrm>
          <a:prstGeom prst="rect">
            <a:avLst/>
          </a:prstGeom>
        </p:spPr>
        <p:txBody>
          <a:bodyPr lIns="90000" anchor="ctr"/>
          <a:lstStyle>
            <a:lvl1pPr marL="0" indent="0" algn="r">
              <a:buNone/>
              <a:defRPr sz="1200" b="1">
                <a:solidFill>
                  <a:srgbClr val="B2EDA7"/>
                </a:solidFill>
              </a:defRPr>
            </a:lvl1pPr>
          </a:lstStyle>
          <a:p>
            <a:pPr lvl="0"/>
            <a:r>
              <a:rPr lang="en-US"/>
              <a:t>5</a:t>
            </a:r>
          </a:p>
        </p:txBody>
      </p:sp>
      <p:sp>
        <p:nvSpPr>
          <p:cNvPr id="54" name="Text Placeholder 46">
            <a:extLst>
              <a:ext uri="{FF2B5EF4-FFF2-40B4-BE49-F238E27FC236}">
                <a16:creationId xmlns:a16="http://schemas.microsoft.com/office/drawing/2014/main" id="{DCEA67BE-EF34-4DFB-A22A-3E65577EFF7C}"/>
              </a:ext>
            </a:extLst>
          </p:cNvPr>
          <p:cNvSpPr>
            <a:spLocks noGrp="1"/>
          </p:cNvSpPr>
          <p:nvPr>
            <p:ph type="body" sz="quarter" idx="19" hasCustomPrompt="1"/>
          </p:nvPr>
        </p:nvSpPr>
        <p:spPr>
          <a:xfrm>
            <a:off x="2874591" y="5532455"/>
            <a:ext cx="649246" cy="360363"/>
          </a:xfrm>
          <a:prstGeom prst="rect">
            <a:avLst/>
          </a:prstGeom>
        </p:spPr>
        <p:txBody>
          <a:bodyPr lIns="90000" anchor="ctr"/>
          <a:lstStyle>
            <a:lvl1pPr marL="0" indent="0" algn="r">
              <a:buNone/>
              <a:defRPr sz="1200" b="1">
                <a:solidFill>
                  <a:srgbClr val="B2EDA7"/>
                </a:solidFill>
              </a:defRPr>
            </a:lvl1pPr>
          </a:lstStyle>
          <a:p>
            <a:pPr lvl="0"/>
            <a:r>
              <a:rPr lang="en-US"/>
              <a:t>6</a:t>
            </a:r>
          </a:p>
        </p:txBody>
      </p:sp>
      <p:sp>
        <p:nvSpPr>
          <p:cNvPr id="55" name="Text Placeholder 46">
            <a:extLst>
              <a:ext uri="{FF2B5EF4-FFF2-40B4-BE49-F238E27FC236}">
                <a16:creationId xmlns:a16="http://schemas.microsoft.com/office/drawing/2014/main" id="{C20C5F54-9F9A-0F54-AF7C-374DDF9B72F1}"/>
              </a:ext>
            </a:extLst>
          </p:cNvPr>
          <p:cNvSpPr>
            <a:spLocks noGrp="1"/>
          </p:cNvSpPr>
          <p:nvPr>
            <p:ph type="body" sz="quarter" idx="20" hasCustomPrompt="1"/>
          </p:nvPr>
        </p:nvSpPr>
        <p:spPr>
          <a:xfrm>
            <a:off x="3738687" y="2165851"/>
            <a:ext cx="7036826" cy="525897"/>
          </a:xfrm>
          <a:prstGeom prst="rect">
            <a:avLst/>
          </a:prstGeom>
        </p:spPr>
        <p:txBody>
          <a:bodyPr lIns="90000" anchor="ctr"/>
          <a:lstStyle>
            <a:lvl1pPr marL="0" indent="0">
              <a:buNone/>
              <a:defRPr sz="2000" b="0">
                <a:solidFill>
                  <a:srgbClr val="025D52"/>
                </a:solidFill>
              </a:defRPr>
            </a:lvl1pPr>
          </a:lstStyle>
          <a:p>
            <a:pPr lvl="0"/>
            <a:r>
              <a:rPr lang="en-US"/>
              <a:t>Presentation Section Title</a:t>
            </a:r>
          </a:p>
        </p:txBody>
      </p:sp>
      <p:sp>
        <p:nvSpPr>
          <p:cNvPr id="58" name="Text Placeholder 46">
            <a:extLst>
              <a:ext uri="{FF2B5EF4-FFF2-40B4-BE49-F238E27FC236}">
                <a16:creationId xmlns:a16="http://schemas.microsoft.com/office/drawing/2014/main" id="{24A90D0E-4498-34B0-A941-281BC6999AAA}"/>
              </a:ext>
            </a:extLst>
          </p:cNvPr>
          <p:cNvSpPr>
            <a:spLocks noGrp="1"/>
          </p:cNvSpPr>
          <p:nvPr>
            <p:ph type="body" sz="quarter" idx="21" hasCustomPrompt="1"/>
          </p:nvPr>
        </p:nvSpPr>
        <p:spPr>
          <a:xfrm>
            <a:off x="3738687" y="1340768"/>
            <a:ext cx="7036826" cy="525897"/>
          </a:xfrm>
          <a:prstGeom prst="rect">
            <a:avLst/>
          </a:prstGeom>
        </p:spPr>
        <p:txBody>
          <a:bodyPr lIns="90000" anchor="ctr"/>
          <a:lstStyle>
            <a:lvl1pPr marL="0" indent="0">
              <a:buNone/>
              <a:defRPr sz="2000" b="0">
                <a:solidFill>
                  <a:srgbClr val="025D52"/>
                </a:solidFill>
              </a:defRPr>
            </a:lvl1pPr>
          </a:lstStyle>
          <a:p>
            <a:pPr lvl="0"/>
            <a:r>
              <a:rPr lang="en-US"/>
              <a:t>Presentation Section Title</a:t>
            </a:r>
          </a:p>
        </p:txBody>
      </p:sp>
      <p:sp>
        <p:nvSpPr>
          <p:cNvPr id="59" name="Text Placeholder 46">
            <a:extLst>
              <a:ext uri="{FF2B5EF4-FFF2-40B4-BE49-F238E27FC236}">
                <a16:creationId xmlns:a16="http://schemas.microsoft.com/office/drawing/2014/main" id="{A5F84582-5A7D-8DF0-F880-50059DF29E52}"/>
              </a:ext>
            </a:extLst>
          </p:cNvPr>
          <p:cNvSpPr>
            <a:spLocks noGrp="1"/>
          </p:cNvSpPr>
          <p:nvPr>
            <p:ph type="body" sz="quarter" idx="22" hasCustomPrompt="1"/>
          </p:nvPr>
        </p:nvSpPr>
        <p:spPr>
          <a:xfrm>
            <a:off x="3738687" y="3816017"/>
            <a:ext cx="7036826" cy="525897"/>
          </a:xfrm>
          <a:prstGeom prst="rect">
            <a:avLst/>
          </a:prstGeom>
        </p:spPr>
        <p:txBody>
          <a:bodyPr lIns="90000" anchor="ctr"/>
          <a:lstStyle>
            <a:lvl1pPr marL="0" indent="0">
              <a:buNone/>
              <a:defRPr sz="2000" b="0">
                <a:solidFill>
                  <a:srgbClr val="025D52"/>
                </a:solidFill>
              </a:defRPr>
            </a:lvl1pPr>
          </a:lstStyle>
          <a:p>
            <a:pPr lvl="0"/>
            <a:r>
              <a:rPr lang="en-US"/>
              <a:t>Presentation Section Title</a:t>
            </a:r>
          </a:p>
        </p:txBody>
      </p:sp>
      <p:sp>
        <p:nvSpPr>
          <p:cNvPr id="60" name="Text Placeholder 46">
            <a:extLst>
              <a:ext uri="{FF2B5EF4-FFF2-40B4-BE49-F238E27FC236}">
                <a16:creationId xmlns:a16="http://schemas.microsoft.com/office/drawing/2014/main" id="{54C8DD71-A1A1-BB64-B9AF-7BFEE8B71C9E}"/>
              </a:ext>
            </a:extLst>
          </p:cNvPr>
          <p:cNvSpPr>
            <a:spLocks noGrp="1"/>
          </p:cNvSpPr>
          <p:nvPr>
            <p:ph type="body" sz="quarter" idx="23" hasCustomPrompt="1"/>
          </p:nvPr>
        </p:nvSpPr>
        <p:spPr>
          <a:xfrm>
            <a:off x="3738687" y="2990934"/>
            <a:ext cx="7036826" cy="525897"/>
          </a:xfrm>
          <a:prstGeom prst="rect">
            <a:avLst/>
          </a:prstGeom>
        </p:spPr>
        <p:txBody>
          <a:bodyPr lIns="90000" anchor="ctr"/>
          <a:lstStyle>
            <a:lvl1pPr marL="0" indent="0">
              <a:buNone/>
              <a:defRPr sz="2000" b="0">
                <a:solidFill>
                  <a:srgbClr val="025D52"/>
                </a:solidFill>
              </a:defRPr>
            </a:lvl1pPr>
          </a:lstStyle>
          <a:p>
            <a:pPr lvl="0"/>
            <a:r>
              <a:rPr lang="en-US"/>
              <a:t>Presentation Section Title</a:t>
            </a:r>
          </a:p>
        </p:txBody>
      </p:sp>
      <p:sp>
        <p:nvSpPr>
          <p:cNvPr id="61" name="Text Placeholder 46">
            <a:extLst>
              <a:ext uri="{FF2B5EF4-FFF2-40B4-BE49-F238E27FC236}">
                <a16:creationId xmlns:a16="http://schemas.microsoft.com/office/drawing/2014/main" id="{2C19F942-A0FF-3C75-BE93-515E6DBC4014}"/>
              </a:ext>
            </a:extLst>
          </p:cNvPr>
          <p:cNvSpPr>
            <a:spLocks noGrp="1"/>
          </p:cNvSpPr>
          <p:nvPr>
            <p:ph type="body" sz="quarter" idx="24" hasCustomPrompt="1"/>
          </p:nvPr>
        </p:nvSpPr>
        <p:spPr>
          <a:xfrm>
            <a:off x="3738687" y="4641100"/>
            <a:ext cx="7036826" cy="525897"/>
          </a:xfrm>
          <a:prstGeom prst="rect">
            <a:avLst/>
          </a:prstGeom>
        </p:spPr>
        <p:txBody>
          <a:bodyPr lIns="90000" anchor="ctr"/>
          <a:lstStyle>
            <a:lvl1pPr marL="0" indent="0">
              <a:buNone/>
              <a:defRPr sz="2000" b="0">
                <a:solidFill>
                  <a:srgbClr val="025D52"/>
                </a:solidFill>
              </a:defRPr>
            </a:lvl1pPr>
          </a:lstStyle>
          <a:p>
            <a:pPr lvl="0"/>
            <a:r>
              <a:rPr lang="en-US"/>
              <a:t>Presentation Section Title</a:t>
            </a:r>
          </a:p>
        </p:txBody>
      </p:sp>
      <p:sp>
        <p:nvSpPr>
          <p:cNvPr id="62" name="Text Placeholder 46">
            <a:extLst>
              <a:ext uri="{FF2B5EF4-FFF2-40B4-BE49-F238E27FC236}">
                <a16:creationId xmlns:a16="http://schemas.microsoft.com/office/drawing/2014/main" id="{2516E790-A792-4943-1468-1E42B5AC7761}"/>
              </a:ext>
            </a:extLst>
          </p:cNvPr>
          <p:cNvSpPr>
            <a:spLocks noGrp="1"/>
          </p:cNvSpPr>
          <p:nvPr>
            <p:ph type="body" sz="quarter" idx="25" hasCustomPrompt="1"/>
          </p:nvPr>
        </p:nvSpPr>
        <p:spPr>
          <a:xfrm>
            <a:off x="3738687" y="5466183"/>
            <a:ext cx="7036826" cy="525897"/>
          </a:xfrm>
          <a:prstGeom prst="rect">
            <a:avLst/>
          </a:prstGeom>
        </p:spPr>
        <p:txBody>
          <a:bodyPr lIns="90000" anchor="ctr"/>
          <a:lstStyle>
            <a:lvl1pPr marL="0" indent="0">
              <a:buNone/>
              <a:defRPr sz="2000" b="0">
                <a:solidFill>
                  <a:srgbClr val="025D52"/>
                </a:solidFill>
              </a:defRPr>
            </a:lvl1pPr>
          </a:lstStyle>
          <a:p>
            <a:pPr lvl="0"/>
            <a:r>
              <a:rPr lang="en-US"/>
              <a:t>Presentation Section Title</a:t>
            </a:r>
          </a:p>
        </p:txBody>
      </p:sp>
      <p:sp>
        <p:nvSpPr>
          <p:cNvPr id="33" name="Slide Number Placeholder 4">
            <a:extLst>
              <a:ext uri="{FF2B5EF4-FFF2-40B4-BE49-F238E27FC236}">
                <a16:creationId xmlns:a16="http://schemas.microsoft.com/office/drawing/2014/main" id="{65286830-2589-4769-AEAA-19F474014692}"/>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32" name="Titel 14">
            <a:extLst>
              <a:ext uri="{FF2B5EF4-FFF2-40B4-BE49-F238E27FC236}">
                <a16:creationId xmlns:a16="http://schemas.microsoft.com/office/drawing/2014/main" id="{FEB6CE61-6CEB-4B00-B178-D1AAB387BF1E}"/>
              </a:ext>
            </a:extLst>
          </p:cNvPr>
          <p:cNvSpPr>
            <a:spLocks noGrp="1"/>
          </p:cNvSpPr>
          <p:nvPr>
            <p:ph type="title" hasCustomPrompt="1"/>
          </p:nvPr>
        </p:nvSpPr>
        <p:spPr>
          <a:xfrm>
            <a:off x="3215680" y="303238"/>
            <a:ext cx="7396865" cy="487938"/>
          </a:xfrm>
          <a:prstGeom prst="rect">
            <a:avLst/>
          </a:prstGeom>
        </p:spPr>
        <p:txBody>
          <a:bodyPr lIns="0" tIns="0" rIns="0" bIns="0" anchor="ctr" anchorCtr="0"/>
          <a:lstStyle>
            <a:lvl1pPr>
              <a:defRPr sz="2400"/>
            </a:lvl1pPr>
          </a:lstStyle>
          <a:p>
            <a:r>
              <a:rPr lang="nl-NL" err="1"/>
              <a:t>Title</a:t>
            </a:r>
            <a:endParaRPr lang="en-US"/>
          </a:p>
        </p:txBody>
      </p:sp>
      <p:cxnSp>
        <p:nvCxnSpPr>
          <p:cNvPr id="34" name="Straight Connector 33">
            <a:extLst>
              <a:ext uri="{FF2B5EF4-FFF2-40B4-BE49-F238E27FC236}">
                <a16:creationId xmlns:a16="http://schemas.microsoft.com/office/drawing/2014/main" id="{8F83E64F-00CD-436E-9E0F-9E9555EBDEA7}"/>
              </a:ext>
            </a:extLst>
          </p:cNvPr>
          <p:cNvCxnSpPr>
            <a:cxnSpLocks/>
          </p:cNvCxnSpPr>
          <p:nvPr userDrawn="1"/>
        </p:nvCxnSpPr>
        <p:spPr>
          <a:xfrm flipH="1">
            <a:off x="3215680" y="836712"/>
            <a:ext cx="8638902"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8" name="Graphic 37">
            <a:extLst>
              <a:ext uri="{FF2B5EF4-FFF2-40B4-BE49-F238E27FC236}">
                <a16:creationId xmlns:a16="http://schemas.microsoft.com/office/drawing/2014/main" id="{0E1FD6F5-8AEC-465B-AA2D-5F3257D8C8F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
        <p:nvSpPr>
          <p:cNvPr id="6" name="Espace réservé pour une image  5">
            <a:extLst>
              <a:ext uri="{FF2B5EF4-FFF2-40B4-BE49-F238E27FC236}">
                <a16:creationId xmlns:a16="http://schemas.microsoft.com/office/drawing/2014/main" id="{085A8B9E-7DC3-0ACE-914B-09A47B364027}"/>
              </a:ext>
            </a:extLst>
          </p:cNvPr>
          <p:cNvSpPr>
            <a:spLocks noGrp="1"/>
          </p:cNvSpPr>
          <p:nvPr>
            <p:ph type="pic" sz="quarter" idx="26"/>
          </p:nvPr>
        </p:nvSpPr>
        <p:spPr>
          <a:xfrm>
            <a:off x="0" y="0"/>
            <a:ext cx="2855913" cy="6871717"/>
          </a:xfrm>
          <a:prstGeom prst="rect">
            <a:avLst/>
          </a:prstGeom>
        </p:spPr>
        <p:txBody>
          <a:bodyPr/>
          <a:lstStyle/>
          <a:p>
            <a:endParaRPr lang="fr-FR"/>
          </a:p>
        </p:txBody>
      </p:sp>
    </p:spTree>
    <p:extLst>
      <p:ext uri="{BB962C8B-B14F-4D97-AF65-F5344CB8AC3E}">
        <p14:creationId xmlns:p14="http://schemas.microsoft.com/office/powerpoint/2010/main" val="2896813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dex-2">
    <p:bg>
      <p:bgPr>
        <a:solidFill>
          <a:srgbClr val="FFFFFF"/>
        </a:solidFill>
        <a:effectLst/>
      </p:bgPr>
    </p:bg>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9B21353B-B845-C17B-7440-856A6FF524EC}"/>
              </a:ext>
            </a:extLst>
          </p:cNvPr>
          <p:cNvPicPr>
            <a:picLocks noChangeAspect="1"/>
          </p:cNvPicPr>
          <p:nvPr userDrawn="1"/>
        </p:nvPicPr>
        <p:blipFill>
          <a:blip r:embed="rId2">
            <a:alphaModFix amt="15000"/>
          </a:blip>
          <a:stretch>
            <a:fillRect/>
          </a:stretch>
        </p:blipFill>
        <p:spPr>
          <a:xfrm>
            <a:off x="8485303" y="3165020"/>
            <a:ext cx="3706697" cy="3706697"/>
          </a:xfrm>
          <a:prstGeom prst="rect">
            <a:avLst/>
          </a:prstGeom>
        </p:spPr>
      </p:pic>
      <p:sp>
        <p:nvSpPr>
          <p:cNvPr id="17" name="Title 1">
            <a:extLst>
              <a:ext uri="{FF2B5EF4-FFF2-40B4-BE49-F238E27FC236}">
                <a16:creationId xmlns:a16="http://schemas.microsoft.com/office/drawing/2014/main" id="{707EE6DF-5551-22FA-E06B-48F0D8E6BC87}"/>
              </a:ext>
            </a:extLst>
          </p:cNvPr>
          <p:cNvSpPr txBox="1">
            <a:spLocks/>
          </p:cNvSpPr>
          <p:nvPr userDrawn="1"/>
        </p:nvSpPr>
        <p:spPr>
          <a:xfrm>
            <a:off x="378225" y="2255546"/>
            <a:ext cx="469040" cy="360362"/>
          </a:xfrm>
          <a:prstGeom prst="rect">
            <a:avLst/>
          </a:prstGeom>
        </p:spPr>
        <p:txBody>
          <a:bodyPr anchor="ctr"/>
          <a:lstStyle>
            <a:lvl1pPr algn="ctr" defTabSz="914400" rtl="0" eaLnBrk="1" latinLnBrk="0" hangingPunct="1">
              <a:lnSpc>
                <a:spcPct val="90000"/>
              </a:lnSpc>
              <a:spcBef>
                <a:spcPct val="0"/>
              </a:spcBef>
              <a:buNone/>
              <a:defRPr sz="3400" b="1" i="0" kern="1200">
                <a:solidFill>
                  <a:srgbClr val="BDEFB5"/>
                </a:solidFill>
                <a:latin typeface="Tahoma" panose="020B0604030504040204" pitchFamily="34" charset="0"/>
                <a:ea typeface="Tahoma" panose="020B0604030504040204" pitchFamily="34" charset="0"/>
                <a:cs typeface="Tahoma" panose="020B0604030504040204" pitchFamily="34" charset="0"/>
              </a:defRPr>
            </a:lvl1pPr>
          </a:lstStyle>
          <a:p>
            <a:pPr algn="l"/>
            <a:endParaRPr lang="en-US" sz="1200" b="1" i="0">
              <a:solidFill>
                <a:srgbClr val="BDEFB5"/>
              </a:solidFill>
              <a:latin typeface="Tahoma" panose="020B0604030504040204" pitchFamily="34" charset="0"/>
              <a:ea typeface="Tahoma" panose="020B0604030504040204" pitchFamily="34" charset="0"/>
              <a:cs typeface="Tahoma" panose="020B0604030504040204" pitchFamily="34" charset="0"/>
            </a:endParaRPr>
          </a:p>
        </p:txBody>
      </p:sp>
      <p:sp>
        <p:nvSpPr>
          <p:cNvPr id="18" name="Title 1">
            <a:extLst>
              <a:ext uri="{FF2B5EF4-FFF2-40B4-BE49-F238E27FC236}">
                <a16:creationId xmlns:a16="http://schemas.microsoft.com/office/drawing/2014/main" id="{4C093771-F21C-0635-646A-493E2E39285B}"/>
              </a:ext>
            </a:extLst>
          </p:cNvPr>
          <p:cNvSpPr txBox="1">
            <a:spLocks/>
          </p:cNvSpPr>
          <p:nvPr userDrawn="1"/>
        </p:nvSpPr>
        <p:spPr>
          <a:xfrm>
            <a:off x="378225" y="3080189"/>
            <a:ext cx="469040" cy="360362"/>
          </a:xfrm>
          <a:prstGeom prst="rect">
            <a:avLst/>
          </a:prstGeom>
        </p:spPr>
        <p:txBody>
          <a:bodyPr anchor="ctr"/>
          <a:lstStyle>
            <a:lvl1pPr algn="ctr" defTabSz="914400" rtl="0" eaLnBrk="1" latinLnBrk="0" hangingPunct="1">
              <a:lnSpc>
                <a:spcPct val="90000"/>
              </a:lnSpc>
              <a:spcBef>
                <a:spcPct val="0"/>
              </a:spcBef>
              <a:buNone/>
              <a:defRPr sz="3400" b="1" i="0" kern="1200">
                <a:solidFill>
                  <a:srgbClr val="BDEFB5"/>
                </a:solidFill>
                <a:latin typeface="Tahoma" panose="020B0604030504040204" pitchFamily="34" charset="0"/>
                <a:ea typeface="Tahoma" panose="020B0604030504040204" pitchFamily="34" charset="0"/>
                <a:cs typeface="Tahoma" panose="020B0604030504040204" pitchFamily="34" charset="0"/>
              </a:defRPr>
            </a:lvl1pPr>
          </a:lstStyle>
          <a:p>
            <a:pPr algn="l"/>
            <a:endParaRPr lang="en-US" sz="1200" b="1" i="0">
              <a:solidFill>
                <a:srgbClr val="BDEFB5"/>
              </a:solidFill>
              <a:latin typeface="Tahoma" panose="020B0604030504040204" pitchFamily="34" charset="0"/>
              <a:ea typeface="Tahoma" panose="020B0604030504040204" pitchFamily="34" charset="0"/>
              <a:cs typeface="Tahoma" panose="020B0604030504040204" pitchFamily="34" charset="0"/>
            </a:endParaRPr>
          </a:p>
        </p:txBody>
      </p:sp>
      <p:sp>
        <p:nvSpPr>
          <p:cNvPr id="19" name="Title 1">
            <a:extLst>
              <a:ext uri="{FF2B5EF4-FFF2-40B4-BE49-F238E27FC236}">
                <a16:creationId xmlns:a16="http://schemas.microsoft.com/office/drawing/2014/main" id="{5A7F67E0-3C76-C7E0-35B5-A13D630C3C7B}"/>
              </a:ext>
            </a:extLst>
          </p:cNvPr>
          <p:cNvSpPr txBox="1">
            <a:spLocks/>
          </p:cNvSpPr>
          <p:nvPr userDrawn="1"/>
        </p:nvSpPr>
        <p:spPr>
          <a:xfrm>
            <a:off x="378225" y="3918858"/>
            <a:ext cx="469040" cy="360362"/>
          </a:xfrm>
          <a:prstGeom prst="rect">
            <a:avLst/>
          </a:prstGeom>
        </p:spPr>
        <p:txBody>
          <a:bodyPr anchor="ctr"/>
          <a:lstStyle>
            <a:lvl1pPr algn="ctr" defTabSz="914400" rtl="0" eaLnBrk="1" latinLnBrk="0" hangingPunct="1">
              <a:lnSpc>
                <a:spcPct val="90000"/>
              </a:lnSpc>
              <a:spcBef>
                <a:spcPct val="0"/>
              </a:spcBef>
              <a:buNone/>
              <a:defRPr sz="3400" b="1" i="0" kern="1200">
                <a:solidFill>
                  <a:srgbClr val="BDEFB5"/>
                </a:solidFill>
                <a:latin typeface="Tahoma" panose="020B0604030504040204" pitchFamily="34" charset="0"/>
                <a:ea typeface="Tahoma" panose="020B0604030504040204" pitchFamily="34" charset="0"/>
                <a:cs typeface="Tahoma" panose="020B0604030504040204" pitchFamily="34" charset="0"/>
              </a:defRPr>
            </a:lvl1pPr>
          </a:lstStyle>
          <a:p>
            <a:pPr algn="l"/>
            <a:endParaRPr lang="en-US" sz="1200" b="1" i="0">
              <a:solidFill>
                <a:srgbClr val="BDEFB5"/>
              </a:solidFill>
              <a:latin typeface="Tahoma" panose="020B0604030504040204" pitchFamily="34" charset="0"/>
              <a:ea typeface="Tahoma" panose="020B0604030504040204" pitchFamily="34" charset="0"/>
              <a:cs typeface="Tahoma" panose="020B0604030504040204" pitchFamily="34" charset="0"/>
            </a:endParaRPr>
          </a:p>
        </p:txBody>
      </p:sp>
      <p:sp>
        <p:nvSpPr>
          <p:cNvPr id="21" name="Title 1">
            <a:extLst>
              <a:ext uri="{FF2B5EF4-FFF2-40B4-BE49-F238E27FC236}">
                <a16:creationId xmlns:a16="http://schemas.microsoft.com/office/drawing/2014/main" id="{C978AAD6-E55D-DCAA-DCAE-FBE3AD8ED966}"/>
              </a:ext>
            </a:extLst>
          </p:cNvPr>
          <p:cNvSpPr txBox="1">
            <a:spLocks/>
          </p:cNvSpPr>
          <p:nvPr userDrawn="1"/>
        </p:nvSpPr>
        <p:spPr>
          <a:xfrm>
            <a:off x="378225" y="5538313"/>
            <a:ext cx="469040" cy="360362"/>
          </a:xfrm>
          <a:prstGeom prst="rect">
            <a:avLst/>
          </a:prstGeom>
        </p:spPr>
        <p:txBody>
          <a:bodyPr anchor="ctr"/>
          <a:lstStyle>
            <a:lvl1pPr algn="ctr" defTabSz="914400" rtl="0" eaLnBrk="1" latinLnBrk="0" hangingPunct="1">
              <a:lnSpc>
                <a:spcPct val="90000"/>
              </a:lnSpc>
              <a:spcBef>
                <a:spcPct val="0"/>
              </a:spcBef>
              <a:buNone/>
              <a:defRPr sz="3400" b="1" i="0" kern="1200">
                <a:solidFill>
                  <a:srgbClr val="BDEFB5"/>
                </a:solidFill>
                <a:latin typeface="Tahoma" panose="020B0604030504040204" pitchFamily="34" charset="0"/>
                <a:ea typeface="Tahoma" panose="020B0604030504040204" pitchFamily="34" charset="0"/>
                <a:cs typeface="Tahoma" panose="020B0604030504040204" pitchFamily="34" charset="0"/>
              </a:defRPr>
            </a:lvl1pPr>
          </a:lstStyle>
          <a:p>
            <a:pPr algn="l"/>
            <a:endParaRPr lang="en-US" sz="1200" b="1" i="0">
              <a:solidFill>
                <a:srgbClr val="BDEFB5"/>
              </a:solidFill>
              <a:latin typeface="Tahoma" panose="020B0604030504040204" pitchFamily="34" charset="0"/>
              <a:ea typeface="Tahoma" panose="020B0604030504040204" pitchFamily="34" charset="0"/>
              <a:cs typeface="Tahoma" panose="020B0604030504040204" pitchFamily="34" charset="0"/>
            </a:endParaRPr>
          </a:p>
        </p:txBody>
      </p:sp>
      <p:sp>
        <p:nvSpPr>
          <p:cNvPr id="49" name="Text Placeholder 46">
            <a:extLst>
              <a:ext uri="{FF2B5EF4-FFF2-40B4-BE49-F238E27FC236}">
                <a16:creationId xmlns:a16="http://schemas.microsoft.com/office/drawing/2014/main" id="{0014CC3C-62CA-8015-D31B-2FFC8F4357AE}"/>
              </a:ext>
            </a:extLst>
          </p:cNvPr>
          <p:cNvSpPr>
            <a:spLocks noGrp="1"/>
          </p:cNvSpPr>
          <p:nvPr>
            <p:ph type="body" sz="quarter" idx="14" hasCustomPrompt="1"/>
          </p:nvPr>
        </p:nvSpPr>
        <p:spPr>
          <a:xfrm>
            <a:off x="378225" y="1435589"/>
            <a:ext cx="649246" cy="360363"/>
          </a:xfrm>
          <a:prstGeom prst="rect">
            <a:avLst/>
          </a:prstGeom>
        </p:spPr>
        <p:txBody>
          <a:bodyPr lIns="90000" anchor="ctr"/>
          <a:lstStyle>
            <a:lvl1pPr marL="0" indent="0">
              <a:buNone/>
              <a:defRPr sz="1200" b="1">
                <a:solidFill>
                  <a:srgbClr val="B2EDA7"/>
                </a:solidFill>
              </a:defRPr>
            </a:lvl1pPr>
          </a:lstStyle>
          <a:p>
            <a:pPr lvl="0"/>
            <a:r>
              <a:rPr lang="en-US"/>
              <a:t>1</a:t>
            </a:r>
          </a:p>
        </p:txBody>
      </p:sp>
      <p:sp>
        <p:nvSpPr>
          <p:cNvPr id="50" name="Text Placeholder 46">
            <a:extLst>
              <a:ext uri="{FF2B5EF4-FFF2-40B4-BE49-F238E27FC236}">
                <a16:creationId xmlns:a16="http://schemas.microsoft.com/office/drawing/2014/main" id="{4EEC492E-CC88-7FD5-7D3C-FAE7729EBFD3}"/>
              </a:ext>
            </a:extLst>
          </p:cNvPr>
          <p:cNvSpPr>
            <a:spLocks noGrp="1"/>
          </p:cNvSpPr>
          <p:nvPr>
            <p:ph type="body" sz="quarter" idx="15" hasCustomPrompt="1"/>
          </p:nvPr>
        </p:nvSpPr>
        <p:spPr>
          <a:xfrm>
            <a:off x="378225" y="2257766"/>
            <a:ext cx="649246" cy="360363"/>
          </a:xfrm>
          <a:prstGeom prst="rect">
            <a:avLst/>
          </a:prstGeom>
        </p:spPr>
        <p:txBody>
          <a:bodyPr lIns="90000" anchor="ctr"/>
          <a:lstStyle>
            <a:lvl1pPr marL="0" indent="0">
              <a:buNone/>
              <a:defRPr sz="1200" b="1">
                <a:solidFill>
                  <a:srgbClr val="B2EDA7"/>
                </a:solidFill>
              </a:defRPr>
            </a:lvl1pPr>
          </a:lstStyle>
          <a:p>
            <a:pPr lvl="0"/>
            <a:r>
              <a:rPr lang="en-US"/>
              <a:t>2</a:t>
            </a:r>
          </a:p>
        </p:txBody>
      </p:sp>
      <p:sp>
        <p:nvSpPr>
          <p:cNvPr id="51" name="Text Placeholder 46">
            <a:extLst>
              <a:ext uri="{FF2B5EF4-FFF2-40B4-BE49-F238E27FC236}">
                <a16:creationId xmlns:a16="http://schemas.microsoft.com/office/drawing/2014/main" id="{715154DB-B8C5-8D7D-CF1F-31F2901738FC}"/>
              </a:ext>
            </a:extLst>
          </p:cNvPr>
          <p:cNvSpPr>
            <a:spLocks noGrp="1"/>
          </p:cNvSpPr>
          <p:nvPr>
            <p:ph type="body" sz="quarter" idx="16" hasCustomPrompt="1"/>
          </p:nvPr>
        </p:nvSpPr>
        <p:spPr>
          <a:xfrm>
            <a:off x="378225" y="3084273"/>
            <a:ext cx="649246" cy="360363"/>
          </a:xfrm>
          <a:prstGeom prst="rect">
            <a:avLst/>
          </a:prstGeom>
        </p:spPr>
        <p:txBody>
          <a:bodyPr lIns="90000" anchor="ctr"/>
          <a:lstStyle>
            <a:lvl1pPr marL="0" indent="0">
              <a:buNone/>
              <a:defRPr sz="1200" b="1">
                <a:solidFill>
                  <a:srgbClr val="B2EDA7"/>
                </a:solidFill>
              </a:defRPr>
            </a:lvl1pPr>
          </a:lstStyle>
          <a:p>
            <a:pPr lvl="0"/>
            <a:r>
              <a:rPr lang="en-US"/>
              <a:t>3</a:t>
            </a:r>
          </a:p>
        </p:txBody>
      </p:sp>
      <p:sp>
        <p:nvSpPr>
          <p:cNvPr id="52" name="Text Placeholder 46">
            <a:extLst>
              <a:ext uri="{FF2B5EF4-FFF2-40B4-BE49-F238E27FC236}">
                <a16:creationId xmlns:a16="http://schemas.microsoft.com/office/drawing/2014/main" id="{49DD72FB-0DAE-77A1-1E8A-669C4C1CEBAC}"/>
              </a:ext>
            </a:extLst>
          </p:cNvPr>
          <p:cNvSpPr>
            <a:spLocks noGrp="1"/>
          </p:cNvSpPr>
          <p:nvPr>
            <p:ph type="body" sz="quarter" idx="17" hasCustomPrompt="1"/>
          </p:nvPr>
        </p:nvSpPr>
        <p:spPr>
          <a:xfrm>
            <a:off x="378225" y="3914829"/>
            <a:ext cx="649246" cy="360363"/>
          </a:xfrm>
          <a:prstGeom prst="rect">
            <a:avLst/>
          </a:prstGeom>
        </p:spPr>
        <p:txBody>
          <a:bodyPr lIns="90000" anchor="ctr"/>
          <a:lstStyle>
            <a:lvl1pPr marL="0" indent="0">
              <a:buNone/>
              <a:defRPr sz="1200" b="1">
                <a:solidFill>
                  <a:srgbClr val="B2EDA7"/>
                </a:solidFill>
              </a:defRPr>
            </a:lvl1pPr>
          </a:lstStyle>
          <a:p>
            <a:pPr lvl="0"/>
            <a:r>
              <a:rPr lang="en-US"/>
              <a:t>4</a:t>
            </a:r>
          </a:p>
        </p:txBody>
      </p:sp>
      <p:sp>
        <p:nvSpPr>
          <p:cNvPr id="53" name="Text Placeholder 46">
            <a:extLst>
              <a:ext uri="{FF2B5EF4-FFF2-40B4-BE49-F238E27FC236}">
                <a16:creationId xmlns:a16="http://schemas.microsoft.com/office/drawing/2014/main" id="{80FFA765-D20F-F1A2-121F-521EB955ABC1}"/>
              </a:ext>
            </a:extLst>
          </p:cNvPr>
          <p:cNvSpPr>
            <a:spLocks noGrp="1"/>
          </p:cNvSpPr>
          <p:nvPr>
            <p:ph type="body" sz="quarter" idx="18" hasCustomPrompt="1"/>
          </p:nvPr>
        </p:nvSpPr>
        <p:spPr>
          <a:xfrm>
            <a:off x="378225" y="4735674"/>
            <a:ext cx="649246" cy="360363"/>
          </a:xfrm>
          <a:prstGeom prst="rect">
            <a:avLst/>
          </a:prstGeom>
        </p:spPr>
        <p:txBody>
          <a:bodyPr lIns="90000" anchor="ctr"/>
          <a:lstStyle>
            <a:lvl1pPr marL="0" indent="0">
              <a:buNone/>
              <a:defRPr sz="1200" b="1">
                <a:solidFill>
                  <a:srgbClr val="B2EDA7"/>
                </a:solidFill>
              </a:defRPr>
            </a:lvl1pPr>
          </a:lstStyle>
          <a:p>
            <a:pPr lvl="0"/>
            <a:r>
              <a:rPr lang="en-US"/>
              <a:t>5</a:t>
            </a:r>
          </a:p>
        </p:txBody>
      </p:sp>
      <p:sp>
        <p:nvSpPr>
          <p:cNvPr id="54" name="Text Placeholder 46">
            <a:extLst>
              <a:ext uri="{FF2B5EF4-FFF2-40B4-BE49-F238E27FC236}">
                <a16:creationId xmlns:a16="http://schemas.microsoft.com/office/drawing/2014/main" id="{DCEA67BE-EF34-4DFB-A22A-3E65577EFF7C}"/>
              </a:ext>
            </a:extLst>
          </p:cNvPr>
          <p:cNvSpPr>
            <a:spLocks noGrp="1"/>
          </p:cNvSpPr>
          <p:nvPr>
            <p:ph type="body" sz="quarter" idx="19" hasCustomPrompt="1"/>
          </p:nvPr>
        </p:nvSpPr>
        <p:spPr>
          <a:xfrm>
            <a:off x="378225" y="5532455"/>
            <a:ext cx="649246" cy="360363"/>
          </a:xfrm>
          <a:prstGeom prst="rect">
            <a:avLst/>
          </a:prstGeom>
        </p:spPr>
        <p:txBody>
          <a:bodyPr lIns="90000" anchor="ctr"/>
          <a:lstStyle>
            <a:lvl1pPr marL="0" indent="0">
              <a:buNone/>
              <a:defRPr sz="1200" b="1">
                <a:solidFill>
                  <a:srgbClr val="B2EDA7"/>
                </a:solidFill>
              </a:defRPr>
            </a:lvl1pPr>
          </a:lstStyle>
          <a:p>
            <a:pPr lvl="0"/>
            <a:r>
              <a:rPr lang="en-US"/>
              <a:t>6</a:t>
            </a:r>
          </a:p>
        </p:txBody>
      </p:sp>
      <p:sp>
        <p:nvSpPr>
          <p:cNvPr id="55" name="Text Placeholder 46">
            <a:extLst>
              <a:ext uri="{FF2B5EF4-FFF2-40B4-BE49-F238E27FC236}">
                <a16:creationId xmlns:a16="http://schemas.microsoft.com/office/drawing/2014/main" id="{C20C5F54-9F9A-0F54-AF7C-374DDF9B72F1}"/>
              </a:ext>
            </a:extLst>
          </p:cNvPr>
          <p:cNvSpPr>
            <a:spLocks noGrp="1"/>
          </p:cNvSpPr>
          <p:nvPr>
            <p:ph type="body" sz="quarter" idx="20" hasCustomPrompt="1"/>
          </p:nvPr>
        </p:nvSpPr>
        <p:spPr>
          <a:xfrm>
            <a:off x="1343025" y="2165851"/>
            <a:ext cx="9269521" cy="525897"/>
          </a:xfrm>
          <a:prstGeom prst="rect">
            <a:avLst/>
          </a:prstGeom>
        </p:spPr>
        <p:txBody>
          <a:bodyPr lIns="90000" anchor="ctr"/>
          <a:lstStyle>
            <a:lvl1pPr marL="0" indent="0">
              <a:buNone/>
              <a:defRPr sz="2000" b="0">
                <a:solidFill>
                  <a:srgbClr val="025D52"/>
                </a:solidFill>
              </a:defRPr>
            </a:lvl1pPr>
          </a:lstStyle>
          <a:p>
            <a:pPr lvl="0"/>
            <a:r>
              <a:rPr lang="en-US"/>
              <a:t>Presentation Section Title</a:t>
            </a:r>
          </a:p>
        </p:txBody>
      </p:sp>
      <p:sp>
        <p:nvSpPr>
          <p:cNvPr id="58" name="Text Placeholder 46">
            <a:extLst>
              <a:ext uri="{FF2B5EF4-FFF2-40B4-BE49-F238E27FC236}">
                <a16:creationId xmlns:a16="http://schemas.microsoft.com/office/drawing/2014/main" id="{24A90D0E-4498-34B0-A941-281BC6999AAA}"/>
              </a:ext>
            </a:extLst>
          </p:cNvPr>
          <p:cNvSpPr>
            <a:spLocks noGrp="1"/>
          </p:cNvSpPr>
          <p:nvPr>
            <p:ph type="body" sz="quarter" idx="21" hasCustomPrompt="1"/>
          </p:nvPr>
        </p:nvSpPr>
        <p:spPr>
          <a:xfrm>
            <a:off x="1343025" y="1340768"/>
            <a:ext cx="9269521" cy="525897"/>
          </a:xfrm>
          <a:prstGeom prst="rect">
            <a:avLst/>
          </a:prstGeom>
        </p:spPr>
        <p:txBody>
          <a:bodyPr lIns="90000" anchor="ctr"/>
          <a:lstStyle>
            <a:lvl1pPr marL="0" indent="0">
              <a:buNone/>
              <a:defRPr sz="2000" b="0">
                <a:solidFill>
                  <a:srgbClr val="025D52"/>
                </a:solidFill>
              </a:defRPr>
            </a:lvl1pPr>
          </a:lstStyle>
          <a:p>
            <a:pPr lvl="0"/>
            <a:r>
              <a:rPr lang="en-US"/>
              <a:t>Presentation Section Title</a:t>
            </a:r>
          </a:p>
        </p:txBody>
      </p:sp>
      <p:sp>
        <p:nvSpPr>
          <p:cNvPr id="59" name="Text Placeholder 46">
            <a:extLst>
              <a:ext uri="{FF2B5EF4-FFF2-40B4-BE49-F238E27FC236}">
                <a16:creationId xmlns:a16="http://schemas.microsoft.com/office/drawing/2014/main" id="{A5F84582-5A7D-8DF0-F880-50059DF29E52}"/>
              </a:ext>
            </a:extLst>
          </p:cNvPr>
          <p:cNvSpPr>
            <a:spLocks noGrp="1"/>
          </p:cNvSpPr>
          <p:nvPr>
            <p:ph type="body" sz="quarter" idx="22" hasCustomPrompt="1"/>
          </p:nvPr>
        </p:nvSpPr>
        <p:spPr>
          <a:xfrm>
            <a:off x="1343025" y="3816017"/>
            <a:ext cx="9269521" cy="525897"/>
          </a:xfrm>
          <a:prstGeom prst="rect">
            <a:avLst/>
          </a:prstGeom>
        </p:spPr>
        <p:txBody>
          <a:bodyPr lIns="90000" anchor="ctr"/>
          <a:lstStyle>
            <a:lvl1pPr marL="0" indent="0">
              <a:buNone/>
              <a:defRPr sz="2000" b="0">
                <a:solidFill>
                  <a:srgbClr val="025D52"/>
                </a:solidFill>
              </a:defRPr>
            </a:lvl1pPr>
          </a:lstStyle>
          <a:p>
            <a:pPr lvl="0"/>
            <a:r>
              <a:rPr lang="en-US"/>
              <a:t>Presentation Section Title</a:t>
            </a:r>
          </a:p>
        </p:txBody>
      </p:sp>
      <p:sp>
        <p:nvSpPr>
          <p:cNvPr id="60" name="Text Placeholder 46">
            <a:extLst>
              <a:ext uri="{FF2B5EF4-FFF2-40B4-BE49-F238E27FC236}">
                <a16:creationId xmlns:a16="http://schemas.microsoft.com/office/drawing/2014/main" id="{54C8DD71-A1A1-BB64-B9AF-7BFEE8B71C9E}"/>
              </a:ext>
            </a:extLst>
          </p:cNvPr>
          <p:cNvSpPr>
            <a:spLocks noGrp="1"/>
          </p:cNvSpPr>
          <p:nvPr>
            <p:ph type="body" sz="quarter" idx="23" hasCustomPrompt="1"/>
          </p:nvPr>
        </p:nvSpPr>
        <p:spPr>
          <a:xfrm>
            <a:off x="1343025" y="2990934"/>
            <a:ext cx="9269521" cy="525897"/>
          </a:xfrm>
          <a:prstGeom prst="rect">
            <a:avLst/>
          </a:prstGeom>
        </p:spPr>
        <p:txBody>
          <a:bodyPr lIns="90000" anchor="ctr"/>
          <a:lstStyle>
            <a:lvl1pPr marL="0" indent="0">
              <a:buNone/>
              <a:defRPr sz="2000" b="0">
                <a:solidFill>
                  <a:srgbClr val="025D52"/>
                </a:solidFill>
              </a:defRPr>
            </a:lvl1pPr>
          </a:lstStyle>
          <a:p>
            <a:pPr lvl="0"/>
            <a:r>
              <a:rPr lang="en-US"/>
              <a:t>Presentation Section Title</a:t>
            </a:r>
          </a:p>
        </p:txBody>
      </p:sp>
      <p:sp>
        <p:nvSpPr>
          <p:cNvPr id="61" name="Text Placeholder 46">
            <a:extLst>
              <a:ext uri="{FF2B5EF4-FFF2-40B4-BE49-F238E27FC236}">
                <a16:creationId xmlns:a16="http://schemas.microsoft.com/office/drawing/2014/main" id="{2C19F942-A0FF-3C75-BE93-515E6DBC4014}"/>
              </a:ext>
            </a:extLst>
          </p:cNvPr>
          <p:cNvSpPr>
            <a:spLocks noGrp="1"/>
          </p:cNvSpPr>
          <p:nvPr>
            <p:ph type="body" sz="quarter" idx="24" hasCustomPrompt="1"/>
          </p:nvPr>
        </p:nvSpPr>
        <p:spPr>
          <a:xfrm>
            <a:off x="1343025" y="4641100"/>
            <a:ext cx="9269521" cy="525897"/>
          </a:xfrm>
          <a:prstGeom prst="rect">
            <a:avLst/>
          </a:prstGeom>
        </p:spPr>
        <p:txBody>
          <a:bodyPr lIns="90000" anchor="ctr"/>
          <a:lstStyle>
            <a:lvl1pPr marL="0" indent="0">
              <a:buNone/>
              <a:defRPr sz="2000" b="0">
                <a:solidFill>
                  <a:srgbClr val="025D52"/>
                </a:solidFill>
              </a:defRPr>
            </a:lvl1pPr>
          </a:lstStyle>
          <a:p>
            <a:pPr lvl="0"/>
            <a:r>
              <a:rPr lang="en-US"/>
              <a:t>Presentation Section Title</a:t>
            </a:r>
          </a:p>
        </p:txBody>
      </p:sp>
      <p:sp>
        <p:nvSpPr>
          <p:cNvPr id="62" name="Text Placeholder 46">
            <a:extLst>
              <a:ext uri="{FF2B5EF4-FFF2-40B4-BE49-F238E27FC236}">
                <a16:creationId xmlns:a16="http://schemas.microsoft.com/office/drawing/2014/main" id="{2516E790-A792-4943-1468-1E42B5AC7761}"/>
              </a:ext>
            </a:extLst>
          </p:cNvPr>
          <p:cNvSpPr>
            <a:spLocks noGrp="1"/>
          </p:cNvSpPr>
          <p:nvPr>
            <p:ph type="body" sz="quarter" idx="25" hasCustomPrompt="1"/>
          </p:nvPr>
        </p:nvSpPr>
        <p:spPr>
          <a:xfrm>
            <a:off x="1343025" y="5466183"/>
            <a:ext cx="9269521" cy="525897"/>
          </a:xfrm>
          <a:prstGeom prst="rect">
            <a:avLst/>
          </a:prstGeom>
        </p:spPr>
        <p:txBody>
          <a:bodyPr lIns="90000" anchor="ctr"/>
          <a:lstStyle>
            <a:lvl1pPr marL="0" indent="0">
              <a:buNone/>
              <a:defRPr sz="2000" b="0">
                <a:solidFill>
                  <a:srgbClr val="025D52"/>
                </a:solidFill>
              </a:defRPr>
            </a:lvl1pPr>
          </a:lstStyle>
          <a:p>
            <a:pPr lvl="0"/>
            <a:r>
              <a:rPr lang="en-US"/>
              <a:t>Presentation Section Title</a:t>
            </a:r>
          </a:p>
        </p:txBody>
      </p:sp>
      <p:sp>
        <p:nvSpPr>
          <p:cNvPr id="33" name="Slide Number Placeholder 4">
            <a:extLst>
              <a:ext uri="{FF2B5EF4-FFF2-40B4-BE49-F238E27FC236}">
                <a16:creationId xmlns:a16="http://schemas.microsoft.com/office/drawing/2014/main" id="{65286830-2589-4769-AEAA-19F474014692}"/>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35" name="Date Placeholder 2">
            <a:extLst>
              <a:ext uri="{FF2B5EF4-FFF2-40B4-BE49-F238E27FC236}">
                <a16:creationId xmlns:a16="http://schemas.microsoft.com/office/drawing/2014/main" id="{CAE33E2C-B9EE-4F4A-8A99-76EDB4451B0D}"/>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F69427A9-63F3-43D4-9776-5CEABDC55610}" type="datetime1">
              <a:rPr lang="fr-FR" smtClean="0"/>
              <a:t>27/11/2025</a:t>
            </a:fld>
            <a:endParaRPr lang="en-US"/>
          </a:p>
        </p:txBody>
      </p:sp>
      <p:sp>
        <p:nvSpPr>
          <p:cNvPr id="32" name="Titel 14">
            <a:extLst>
              <a:ext uri="{FF2B5EF4-FFF2-40B4-BE49-F238E27FC236}">
                <a16:creationId xmlns:a16="http://schemas.microsoft.com/office/drawing/2014/main" id="{FEB6CE61-6CEB-4B00-B178-D1AAB387BF1E}"/>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34" name="Straight Connector 33">
            <a:extLst>
              <a:ext uri="{FF2B5EF4-FFF2-40B4-BE49-F238E27FC236}">
                <a16:creationId xmlns:a16="http://schemas.microsoft.com/office/drawing/2014/main" id="{8F83E64F-00CD-436E-9E0F-9E9555EBDEA7}"/>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8" name="Graphic 37">
            <a:extLst>
              <a:ext uri="{FF2B5EF4-FFF2-40B4-BE49-F238E27FC236}">
                <a16:creationId xmlns:a16="http://schemas.microsoft.com/office/drawing/2014/main" id="{0E1FD6F5-8AEC-465B-AA2D-5F3257D8C8F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859042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dex-4">
    <p:bg>
      <p:bgPr>
        <a:solidFill>
          <a:srgbClr val="FFFFFF"/>
        </a:solidFill>
        <a:effectLst/>
      </p:bgPr>
    </p:bg>
    <p:spTree>
      <p:nvGrpSpPr>
        <p:cNvPr id="1" name=""/>
        <p:cNvGrpSpPr/>
        <p:nvPr/>
      </p:nvGrpSpPr>
      <p:grpSpPr>
        <a:xfrm>
          <a:off x="0" y="0"/>
          <a:ext cx="0" cy="0"/>
          <a:chOff x="0" y="0"/>
          <a:chExt cx="0" cy="0"/>
        </a:xfrm>
      </p:grpSpPr>
      <p:sp>
        <p:nvSpPr>
          <p:cNvPr id="58" name="Text Placeholder 46">
            <a:extLst>
              <a:ext uri="{FF2B5EF4-FFF2-40B4-BE49-F238E27FC236}">
                <a16:creationId xmlns:a16="http://schemas.microsoft.com/office/drawing/2014/main" id="{24A90D0E-4498-34B0-A941-281BC6999AAA}"/>
              </a:ext>
            </a:extLst>
          </p:cNvPr>
          <p:cNvSpPr>
            <a:spLocks noGrp="1"/>
          </p:cNvSpPr>
          <p:nvPr>
            <p:ph type="body" sz="quarter" idx="21"/>
          </p:nvPr>
        </p:nvSpPr>
        <p:spPr>
          <a:xfrm>
            <a:off x="355864" y="7345110"/>
            <a:ext cx="11493031" cy="684211"/>
          </a:xfrm>
          <a:prstGeom prst="rect">
            <a:avLst/>
          </a:prstGeom>
        </p:spPr>
        <p:txBody>
          <a:bodyPr lIns="0" tIns="0" rIns="0" bIns="0" anchor="t" anchorCtr="0"/>
          <a:lstStyle>
            <a:lvl1pPr marL="0" indent="0">
              <a:buNone/>
              <a:defRPr sz="1400" b="0">
                <a:solidFill>
                  <a:srgbClr val="025D52"/>
                </a:solidFill>
              </a:defRPr>
            </a:lvl1pPr>
          </a:lstStyle>
          <a:p>
            <a:pPr lvl="0"/>
            <a:endParaRPr lang="en-US"/>
          </a:p>
        </p:txBody>
      </p:sp>
      <p:sp>
        <p:nvSpPr>
          <p:cNvPr id="33" name="Tijdelijke aanduiding voor tekst 6">
            <a:extLst>
              <a:ext uri="{FF2B5EF4-FFF2-40B4-BE49-F238E27FC236}">
                <a16:creationId xmlns:a16="http://schemas.microsoft.com/office/drawing/2014/main" id="{B1E221A1-C7F7-4B33-A7AA-DE096F4B1016}"/>
              </a:ext>
            </a:extLst>
          </p:cNvPr>
          <p:cNvSpPr>
            <a:spLocks noGrp="1"/>
          </p:cNvSpPr>
          <p:nvPr>
            <p:ph type="body" sz="quarter" idx="38" hasCustomPrompt="1"/>
          </p:nvPr>
        </p:nvSpPr>
        <p:spPr>
          <a:xfrm>
            <a:off x="2823644" y="2066208"/>
            <a:ext cx="2742278" cy="549833"/>
          </a:xfrm>
          <a:prstGeom prst="rect">
            <a:avLst/>
          </a:prstGeom>
        </p:spPr>
        <p:txBody>
          <a:bodyPr/>
          <a:lstStyle>
            <a:lvl1pPr marL="0" indent="0" algn="l">
              <a:spcBef>
                <a:spcPts val="0"/>
              </a:spcBef>
              <a:buFont typeface="Arial" panose="020B0604020202020204" pitchFamily="34" charset="0"/>
              <a:buNone/>
              <a:defRPr sz="2200"/>
            </a:lvl1pPr>
          </a:lstStyle>
          <a:p>
            <a:r>
              <a:rPr lang="nl-NL" err="1"/>
              <a:t>Text</a:t>
            </a:r>
            <a:endParaRPr lang="nl-NL"/>
          </a:p>
          <a:p>
            <a:r>
              <a:rPr lang="nl-NL"/>
              <a:t>On 2 </a:t>
            </a:r>
            <a:r>
              <a:rPr lang="nl-NL" err="1"/>
              <a:t>lines</a:t>
            </a:r>
            <a:endParaRPr lang="nl-NL"/>
          </a:p>
        </p:txBody>
      </p:sp>
      <p:sp>
        <p:nvSpPr>
          <p:cNvPr id="34" name="Text Placeholder 5">
            <a:extLst>
              <a:ext uri="{FF2B5EF4-FFF2-40B4-BE49-F238E27FC236}">
                <a16:creationId xmlns:a16="http://schemas.microsoft.com/office/drawing/2014/main" id="{F3FFDCC1-E9A8-42FA-9A2C-9343CD2C1AD1}"/>
              </a:ext>
            </a:extLst>
          </p:cNvPr>
          <p:cNvSpPr>
            <a:spLocks noGrp="1"/>
          </p:cNvSpPr>
          <p:nvPr>
            <p:ph type="body" sz="quarter" idx="39" hasCustomPrompt="1"/>
          </p:nvPr>
        </p:nvSpPr>
        <p:spPr>
          <a:xfrm>
            <a:off x="2817285" y="2857133"/>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22" name="Text Placeholder 5">
            <a:extLst>
              <a:ext uri="{FF2B5EF4-FFF2-40B4-BE49-F238E27FC236}">
                <a16:creationId xmlns:a16="http://schemas.microsoft.com/office/drawing/2014/main" id="{99BD2BA5-73B4-48B4-8117-F68DAD6B81F7}"/>
              </a:ext>
            </a:extLst>
          </p:cNvPr>
          <p:cNvSpPr>
            <a:spLocks noGrp="1"/>
          </p:cNvSpPr>
          <p:nvPr>
            <p:ph type="body" sz="quarter" idx="64" hasCustomPrompt="1"/>
          </p:nvPr>
        </p:nvSpPr>
        <p:spPr>
          <a:xfrm>
            <a:off x="2817285" y="3026005"/>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24" name="Text Placeholder 5">
            <a:extLst>
              <a:ext uri="{FF2B5EF4-FFF2-40B4-BE49-F238E27FC236}">
                <a16:creationId xmlns:a16="http://schemas.microsoft.com/office/drawing/2014/main" id="{8EAAF473-B065-429E-A087-0702DBFDE923}"/>
              </a:ext>
            </a:extLst>
          </p:cNvPr>
          <p:cNvSpPr>
            <a:spLocks noGrp="1"/>
          </p:cNvSpPr>
          <p:nvPr>
            <p:ph type="body" sz="quarter" idx="66" hasCustomPrompt="1"/>
          </p:nvPr>
        </p:nvSpPr>
        <p:spPr>
          <a:xfrm>
            <a:off x="2817285" y="3194876"/>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26" name="Text Placeholder 5">
            <a:extLst>
              <a:ext uri="{FF2B5EF4-FFF2-40B4-BE49-F238E27FC236}">
                <a16:creationId xmlns:a16="http://schemas.microsoft.com/office/drawing/2014/main" id="{F011F3CE-B920-410E-8BD2-48403A4BA400}"/>
              </a:ext>
            </a:extLst>
          </p:cNvPr>
          <p:cNvSpPr>
            <a:spLocks noGrp="1"/>
          </p:cNvSpPr>
          <p:nvPr>
            <p:ph type="body" sz="quarter" idx="68" hasCustomPrompt="1"/>
          </p:nvPr>
        </p:nvSpPr>
        <p:spPr>
          <a:xfrm>
            <a:off x="2817285" y="3363748"/>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28" name="Tijdelijke aanduiding voor tekst 6">
            <a:extLst>
              <a:ext uri="{FF2B5EF4-FFF2-40B4-BE49-F238E27FC236}">
                <a16:creationId xmlns:a16="http://schemas.microsoft.com/office/drawing/2014/main" id="{2C1C4193-4B9F-4DCF-B62C-C5EB18BEE471}"/>
              </a:ext>
            </a:extLst>
          </p:cNvPr>
          <p:cNvSpPr>
            <a:spLocks noGrp="1"/>
          </p:cNvSpPr>
          <p:nvPr>
            <p:ph type="body" sz="quarter" idx="70" hasCustomPrompt="1"/>
          </p:nvPr>
        </p:nvSpPr>
        <p:spPr>
          <a:xfrm>
            <a:off x="7868713" y="2066208"/>
            <a:ext cx="2742278" cy="549833"/>
          </a:xfrm>
          <a:prstGeom prst="rect">
            <a:avLst/>
          </a:prstGeom>
        </p:spPr>
        <p:txBody>
          <a:bodyPr/>
          <a:lstStyle>
            <a:lvl1pPr marL="0" indent="0" algn="l">
              <a:spcBef>
                <a:spcPts val="0"/>
              </a:spcBef>
              <a:buFont typeface="Arial" panose="020B0604020202020204" pitchFamily="34" charset="0"/>
              <a:buNone/>
              <a:defRPr sz="2200"/>
            </a:lvl1pPr>
          </a:lstStyle>
          <a:p>
            <a:r>
              <a:rPr lang="nl-NL" err="1"/>
              <a:t>Text</a:t>
            </a:r>
            <a:endParaRPr lang="nl-NL"/>
          </a:p>
        </p:txBody>
      </p:sp>
      <p:sp>
        <p:nvSpPr>
          <p:cNvPr id="129" name="Text Placeholder 5">
            <a:extLst>
              <a:ext uri="{FF2B5EF4-FFF2-40B4-BE49-F238E27FC236}">
                <a16:creationId xmlns:a16="http://schemas.microsoft.com/office/drawing/2014/main" id="{A70153CA-9C0A-40C6-A69E-6B03F0995DFC}"/>
              </a:ext>
            </a:extLst>
          </p:cNvPr>
          <p:cNvSpPr>
            <a:spLocks noGrp="1"/>
          </p:cNvSpPr>
          <p:nvPr>
            <p:ph type="body" sz="quarter" idx="71" hasCustomPrompt="1"/>
          </p:nvPr>
        </p:nvSpPr>
        <p:spPr>
          <a:xfrm>
            <a:off x="7862354" y="2857133"/>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31" name="Text Placeholder 5">
            <a:extLst>
              <a:ext uri="{FF2B5EF4-FFF2-40B4-BE49-F238E27FC236}">
                <a16:creationId xmlns:a16="http://schemas.microsoft.com/office/drawing/2014/main" id="{D97B4A2C-E7D0-4317-80B7-98FED2D887A0}"/>
              </a:ext>
            </a:extLst>
          </p:cNvPr>
          <p:cNvSpPr>
            <a:spLocks noGrp="1"/>
          </p:cNvSpPr>
          <p:nvPr>
            <p:ph type="body" sz="quarter" idx="73" hasCustomPrompt="1"/>
          </p:nvPr>
        </p:nvSpPr>
        <p:spPr>
          <a:xfrm>
            <a:off x="7862354" y="3026005"/>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33" name="Text Placeholder 5">
            <a:extLst>
              <a:ext uri="{FF2B5EF4-FFF2-40B4-BE49-F238E27FC236}">
                <a16:creationId xmlns:a16="http://schemas.microsoft.com/office/drawing/2014/main" id="{01BF98C3-9891-4227-B2A4-F777DE1AA797}"/>
              </a:ext>
            </a:extLst>
          </p:cNvPr>
          <p:cNvSpPr>
            <a:spLocks noGrp="1"/>
          </p:cNvSpPr>
          <p:nvPr>
            <p:ph type="body" sz="quarter" idx="75" hasCustomPrompt="1"/>
          </p:nvPr>
        </p:nvSpPr>
        <p:spPr>
          <a:xfrm>
            <a:off x="7862354" y="3194876"/>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35" name="Text Placeholder 5">
            <a:extLst>
              <a:ext uri="{FF2B5EF4-FFF2-40B4-BE49-F238E27FC236}">
                <a16:creationId xmlns:a16="http://schemas.microsoft.com/office/drawing/2014/main" id="{BF059DDD-79AE-4A25-85CE-C136EB94AABC}"/>
              </a:ext>
            </a:extLst>
          </p:cNvPr>
          <p:cNvSpPr>
            <a:spLocks noGrp="1"/>
          </p:cNvSpPr>
          <p:nvPr>
            <p:ph type="body" sz="quarter" idx="77" hasCustomPrompt="1"/>
          </p:nvPr>
        </p:nvSpPr>
        <p:spPr>
          <a:xfrm>
            <a:off x="7862354" y="3363748"/>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37" name="Tijdelijke aanduiding voor tekst 6">
            <a:extLst>
              <a:ext uri="{FF2B5EF4-FFF2-40B4-BE49-F238E27FC236}">
                <a16:creationId xmlns:a16="http://schemas.microsoft.com/office/drawing/2014/main" id="{CD553364-D38D-4E1D-9C9A-9D379394CAC6}"/>
              </a:ext>
            </a:extLst>
          </p:cNvPr>
          <p:cNvSpPr>
            <a:spLocks noGrp="1"/>
          </p:cNvSpPr>
          <p:nvPr>
            <p:ph type="body" sz="quarter" idx="79" hasCustomPrompt="1"/>
          </p:nvPr>
        </p:nvSpPr>
        <p:spPr>
          <a:xfrm>
            <a:off x="2823644" y="4043218"/>
            <a:ext cx="2742278" cy="549833"/>
          </a:xfrm>
          <a:prstGeom prst="rect">
            <a:avLst/>
          </a:prstGeom>
        </p:spPr>
        <p:txBody>
          <a:bodyPr/>
          <a:lstStyle>
            <a:lvl1pPr marL="0" indent="0" algn="l">
              <a:spcBef>
                <a:spcPts val="0"/>
              </a:spcBef>
              <a:buFont typeface="Arial" panose="020B0604020202020204" pitchFamily="34" charset="0"/>
              <a:buNone/>
              <a:defRPr sz="2200"/>
            </a:lvl1pPr>
          </a:lstStyle>
          <a:p>
            <a:r>
              <a:rPr lang="nl-NL" err="1"/>
              <a:t>Text</a:t>
            </a:r>
            <a:endParaRPr lang="nl-NL"/>
          </a:p>
        </p:txBody>
      </p:sp>
      <p:sp>
        <p:nvSpPr>
          <p:cNvPr id="138" name="Text Placeholder 5">
            <a:extLst>
              <a:ext uri="{FF2B5EF4-FFF2-40B4-BE49-F238E27FC236}">
                <a16:creationId xmlns:a16="http://schemas.microsoft.com/office/drawing/2014/main" id="{E32327F4-8256-4336-B934-ADDC264F537B}"/>
              </a:ext>
            </a:extLst>
          </p:cNvPr>
          <p:cNvSpPr>
            <a:spLocks noGrp="1"/>
          </p:cNvSpPr>
          <p:nvPr>
            <p:ph type="body" sz="quarter" idx="80" hasCustomPrompt="1"/>
          </p:nvPr>
        </p:nvSpPr>
        <p:spPr>
          <a:xfrm>
            <a:off x="2817285" y="4834143"/>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40" name="Text Placeholder 5">
            <a:extLst>
              <a:ext uri="{FF2B5EF4-FFF2-40B4-BE49-F238E27FC236}">
                <a16:creationId xmlns:a16="http://schemas.microsoft.com/office/drawing/2014/main" id="{0F1203A7-2812-4969-AF48-DC8A6F3191E2}"/>
              </a:ext>
            </a:extLst>
          </p:cNvPr>
          <p:cNvSpPr>
            <a:spLocks noGrp="1"/>
          </p:cNvSpPr>
          <p:nvPr>
            <p:ph type="body" sz="quarter" idx="82" hasCustomPrompt="1"/>
          </p:nvPr>
        </p:nvSpPr>
        <p:spPr>
          <a:xfrm>
            <a:off x="2817285" y="5003015"/>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42" name="Text Placeholder 5">
            <a:extLst>
              <a:ext uri="{FF2B5EF4-FFF2-40B4-BE49-F238E27FC236}">
                <a16:creationId xmlns:a16="http://schemas.microsoft.com/office/drawing/2014/main" id="{8DBFDAE0-08DB-47F3-8FCB-5C1078FAC363}"/>
              </a:ext>
            </a:extLst>
          </p:cNvPr>
          <p:cNvSpPr>
            <a:spLocks noGrp="1"/>
          </p:cNvSpPr>
          <p:nvPr>
            <p:ph type="body" sz="quarter" idx="84" hasCustomPrompt="1"/>
          </p:nvPr>
        </p:nvSpPr>
        <p:spPr>
          <a:xfrm>
            <a:off x="2817285" y="5171886"/>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44" name="Text Placeholder 5">
            <a:extLst>
              <a:ext uri="{FF2B5EF4-FFF2-40B4-BE49-F238E27FC236}">
                <a16:creationId xmlns:a16="http://schemas.microsoft.com/office/drawing/2014/main" id="{F1A8E4F5-5958-4E47-8E08-EC4900ABC86B}"/>
              </a:ext>
            </a:extLst>
          </p:cNvPr>
          <p:cNvSpPr>
            <a:spLocks noGrp="1"/>
          </p:cNvSpPr>
          <p:nvPr>
            <p:ph type="body" sz="quarter" idx="86" hasCustomPrompt="1"/>
          </p:nvPr>
        </p:nvSpPr>
        <p:spPr>
          <a:xfrm>
            <a:off x="2817285" y="5340758"/>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46" name="Tijdelijke aanduiding voor tekst 6">
            <a:extLst>
              <a:ext uri="{FF2B5EF4-FFF2-40B4-BE49-F238E27FC236}">
                <a16:creationId xmlns:a16="http://schemas.microsoft.com/office/drawing/2014/main" id="{EA8862AD-0937-4728-BB78-0584AF19B6D8}"/>
              </a:ext>
            </a:extLst>
          </p:cNvPr>
          <p:cNvSpPr>
            <a:spLocks noGrp="1"/>
          </p:cNvSpPr>
          <p:nvPr>
            <p:ph type="body" sz="quarter" idx="88" hasCustomPrompt="1"/>
          </p:nvPr>
        </p:nvSpPr>
        <p:spPr>
          <a:xfrm>
            <a:off x="7868713" y="4043218"/>
            <a:ext cx="2742278" cy="549833"/>
          </a:xfrm>
          <a:prstGeom prst="rect">
            <a:avLst/>
          </a:prstGeom>
        </p:spPr>
        <p:txBody>
          <a:bodyPr/>
          <a:lstStyle>
            <a:lvl1pPr marL="0" indent="0" algn="l">
              <a:spcBef>
                <a:spcPts val="0"/>
              </a:spcBef>
              <a:buFont typeface="Arial" panose="020B0604020202020204" pitchFamily="34" charset="0"/>
              <a:buNone/>
              <a:defRPr sz="2200"/>
            </a:lvl1pPr>
          </a:lstStyle>
          <a:p>
            <a:r>
              <a:rPr lang="nl-NL" err="1"/>
              <a:t>Text</a:t>
            </a:r>
            <a:endParaRPr lang="nl-NL"/>
          </a:p>
          <a:p>
            <a:r>
              <a:rPr lang="nl-NL"/>
              <a:t>On 2 lines</a:t>
            </a:r>
          </a:p>
        </p:txBody>
      </p:sp>
      <p:sp>
        <p:nvSpPr>
          <p:cNvPr id="147" name="Text Placeholder 5">
            <a:extLst>
              <a:ext uri="{FF2B5EF4-FFF2-40B4-BE49-F238E27FC236}">
                <a16:creationId xmlns:a16="http://schemas.microsoft.com/office/drawing/2014/main" id="{0146C3FE-C1CF-43EA-AA17-180A34AD2E2A}"/>
              </a:ext>
            </a:extLst>
          </p:cNvPr>
          <p:cNvSpPr>
            <a:spLocks noGrp="1"/>
          </p:cNvSpPr>
          <p:nvPr>
            <p:ph type="body" sz="quarter" idx="89" hasCustomPrompt="1"/>
          </p:nvPr>
        </p:nvSpPr>
        <p:spPr>
          <a:xfrm>
            <a:off x="7862354" y="4834143"/>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49" name="Text Placeholder 5">
            <a:extLst>
              <a:ext uri="{FF2B5EF4-FFF2-40B4-BE49-F238E27FC236}">
                <a16:creationId xmlns:a16="http://schemas.microsoft.com/office/drawing/2014/main" id="{CAB4BEB3-280C-4958-8262-1289F5F4C309}"/>
              </a:ext>
            </a:extLst>
          </p:cNvPr>
          <p:cNvSpPr>
            <a:spLocks noGrp="1"/>
          </p:cNvSpPr>
          <p:nvPr>
            <p:ph type="body" sz="quarter" idx="91" hasCustomPrompt="1"/>
          </p:nvPr>
        </p:nvSpPr>
        <p:spPr>
          <a:xfrm>
            <a:off x="7862354" y="5003015"/>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51" name="Text Placeholder 5">
            <a:extLst>
              <a:ext uri="{FF2B5EF4-FFF2-40B4-BE49-F238E27FC236}">
                <a16:creationId xmlns:a16="http://schemas.microsoft.com/office/drawing/2014/main" id="{FF095831-FD1C-4C56-8FBE-A7A69D6CA629}"/>
              </a:ext>
            </a:extLst>
          </p:cNvPr>
          <p:cNvSpPr>
            <a:spLocks noGrp="1"/>
          </p:cNvSpPr>
          <p:nvPr>
            <p:ph type="body" sz="quarter" idx="93" hasCustomPrompt="1"/>
          </p:nvPr>
        </p:nvSpPr>
        <p:spPr>
          <a:xfrm>
            <a:off x="7862354" y="5171886"/>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53" name="Text Placeholder 5">
            <a:extLst>
              <a:ext uri="{FF2B5EF4-FFF2-40B4-BE49-F238E27FC236}">
                <a16:creationId xmlns:a16="http://schemas.microsoft.com/office/drawing/2014/main" id="{C6C29853-3603-47E7-84FB-BF906D09A171}"/>
              </a:ext>
            </a:extLst>
          </p:cNvPr>
          <p:cNvSpPr>
            <a:spLocks noGrp="1"/>
          </p:cNvSpPr>
          <p:nvPr>
            <p:ph type="body" sz="quarter" idx="95" hasCustomPrompt="1"/>
          </p:nvPr>
        </p:nvSpPr>
        <p:spPr>
          <a:xfrm>
            <a:off x="7862354" y="5340758"/>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52" name="Slide Number Placeholder 4">
            <a:extLst>
              <a:ext uri="{FF2B5EF4-FFF2-40B4-BE49-F238E27FC236}">
                <a16:creationId xmlns:a16="http://schemas.microsoft.com/office/drawing/2014/main" id="{47E1A5FA-654E-4EB8-86A0-A90C89ABB66C}"/>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53" name="Date Placeholder 2">
            <a:extLst>
              <a:ext uri="{FF2B5EF4-FFF2-40B4-BE49-F238E27FC236}">
                <a16:creationId xmlns:a16="http://schemas.microsoft.com/office/drawing/2014/main" id="{81437B7F-560C-4C8E-A6BA-5D73312DF5A3}"/>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89D9F3E2-0BE2-4EC8-AA45-56CBB588878B}" type="datetime1">
              <a:rPr lang="fr-FR" smtClean="0"/>
              <a:t>27/11/2025</a:t>
            </a:fld>
            <a:endParaRPr lang="en-US"/>
          </a:p>
        </p:txBody>
      </p:sp>
      <p:sp>
        <p:nvSpPr>
          <p:cNvPr id="54" name="Titel 14">
            <a:extLst>
              <a:ext uri="{FF2B5EF4-FFF2-40B4-BE49-F238E27FC236}">
                <a16:creationId xmlns:a16="http://schemas.microsoft.com/office/drawing/2014/main" id="{F3130F2C-F608-4D29-B242-94DC921EBB96}"/>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56" name="Straight Connector 55">
            <a:extLst>
              <a:ext uri="{FF2B5EF4-FFF2-40B4-BE49-F238E27FC236}">
                <a16:creationId xmlns:a16="http://schemas.microsoft.com/office/drawing/2014/main" id="{488BCA76-2256-438A-A8C9-6F32AE257889}"/>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7" name="Graphic 56">
            <a:extLst>
              <a:ext uri="{FF2B5EF4-FFF2-40B4-BE49-F238E27FC236}">
                <a16:creationId xmlns:a16="http://schemas.microsoft.com/office/drawing/2014/main" id="{BD9D77BC-B0D7-4DDE-9C1F-6B350183FC4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5454628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title_PIN">
    <p:bg>
      <p:bgPr>
        <a:solidFill>
          <a:schemeClr val="tx1"/>
        </a:solidFill>
        <a:effectLst/>
      </p:bgPr>
    </p:bg>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8CE85972-1FBA-85B6-98A5-E0265D6EF3A7}"/>
              </a:ext>
            </a:extLst>
          </p:cNvPr>
          <p:cNvPicPr>
            <a:picLocks noChangeAspect="1"/>
          </p:cNvPicPr>
          <p:nvPr userDrawn="1"/>
        </p:nvPicPr>
        <p:blipFill>
          <a:blip r:embed="rId2"/>
          <a:srcRect/>
          <a:stretch/>
        </p:blipFill>
        <p:spPr>
          <a:xfrm>
            <a:off x="5896160" y="6196894"/>
            <a:ext cx="399679" cy="337264"/>
          </a:xfrm>
          <a:prstGeom prst="rect">
            <a:avLst/>
          </a:prstGeom>
        </p:spPr>
      </p:pic>
      <p:sp>
        <p:nvSpPr>
          <p:cNvPr id="2" name="Text Placeholder 18">
            <a:extLst>
              <a:ext uri="{FF2B5EF4-FFF2-40B4-BE49-F238E27FC236}">
                <a16:creationId xmlns:a16="http://schemas.microsoft.com/office/drawing/2014/main" id="{897266DD-267E-9A36-C26C-E81C2E82EA8B}"/>
              </a:ext>
            </a:extLst>
          </p:cNvPr>
          <p:cNvSpPr>
            <a:spLocks noGrp="1"/>
          </p:cNvSpPr>
          <p:nvPr>
            <p:ph type="body" sz="quarter" idx="14" hasCustomPrompt="1"/>
          </p:nvPr>
        </p:nvSpPr>
        <p:spPr>
          <a:xfrm>
            <a:off x="334963" y="2389892"/>
            <a:ext cx="11524528" cy="1362958"/>
          </a:xfrm>
          <a:prstGeom prst="rect">
            <a:avLst/>
          </a:prstGeom>
        </p:spPr>
        <p:txBody>
          <a:bodyPr anchor="ctr"/>
          <a:lstStyle>
            <a:lvl1pPr marL="0" indent="0" algn="ctr">
              <a:buNone/>
              <a:defRPr sz="4000">
                <a:solidFill>
                  <a:schemeClr val="accent2"/>
                </a:solidFill>
                <a:latin typeface="Bagoss Standard Medium" panose="020B0604060102020204" pitchFamily="34" charset="0"/>
                <a:cs typeface="Bagoss Standard Medium" panose="020B06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PRESENTATION SECTION TITLE</a:t>
            </a:r>
            <a:endParaRPr lang="en-US"/>
          </a:p>
        </p:txBody>
      </p:sp>
      <p:sp>
        <p:nvSpPr>
          <p:cNvPr id="3" name="Text Placeholder 18">
            <a:extLst>
              <a:ext uri="{FF2B5EF4-FFF2-40B4-BE49-F238E27FC236}">
                <a16:creationId xmlns:a16="http://schemas.microsoft.com/office/drawing/2014/main" id="{0A01E6E0-E5CB-C283-7FE7-091C23740360}"/>
              </a:ext>
            </a:extLst>
          </p:cNvPr>
          <p:cNvSpPr>
            <a:spLocks noGrp="1"/>
          </p:cNvSpPr>
          <p:nvPr>
            <p:ph type="body" sz="quarter" idx="13" hasCustomPrompt="1"/>
          </p:nvPr>
        </p:nvSpPr>
        <p:spPr>
          <a:xfrm>
            <a:off x="332509" y="3435927"/>
            <a:ext cx="11524528" cy="1043203"/>
          </a:xfrm>
          <a:prstGeom prst="rect">
            <a:avLst/>
          </a:prstGeom>
        </p:spPr>
        <p:txBody>
          <a:bodyPr anchor="ctr"/>
          <a:lstStyle>
            <a:lvl1pPr marL="0" indent="0" algn="ctr">
              <a:buNone/>
              <a:defRPr sz="4000">
                <a:solidFill>
                  <a:schemeClr val="accent2"/>
                </a:solidFill>
                <a:latin typeface="Bagoss Standard" panose="020B0504060102020204" pitchFamily="34" charset="0"/>
                <a:cs typeface="Bagoss Standard" panose="020B05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Subtitle here</a:t>
            </a:r>
            <a:endParaRPr lang="en-US"/>
          </a:p>
        </p:txBody>
      </p:sp>
    </p:spTree>
    <p:extLst>
      <p:ext uri="{BB962C8B-B14F-4D97-AF65-F5344CB8AC3E}">
        <p14:creationId xmlns:p14="http://schemas.microsoft.com/office/powerpoint/2010/main" val="374845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title_GRASS">
    <p:bg>
      <p:bgPr>
        <a:solidFill>
          <a:schemeClr val="accent2"/>
        </a:solidFill>
        <a:effectLst/>
      </p:bgPr>
    </p:bg>
    <p:spTree>
      <p:nvGrpSpPr>
        <p:cNvPr id="1" name=""/>
        <p:cNvGrpSpPr/>
        <p:nvPr/>
      </p:nvGrpSpPr>
      <p:grpSpPr>
        <a:xfrm>
          <a:off x="0" y="0"/>
          <a:ext cx="0" cy="0"/>
          <a:chOff x="0" y="0"/>
          <a:chExt cx="0" cy="0"/>
        </a:xfrm>
      </p:grpSpPr>
      <p:sp>
        <p:nvSpPr>
          <p:cNvPr id="13" name="Text Placeholder 18">
            <a:extLst>
              <a:ext uri="{FF2B5EF4-FFF2-40B4-BE49-F238E27FC236}">
                <a16:creationId xmlns:a16="http://schemas.microsoft.com/office/drawing/2014/main" id="{A404C1B0-2154-4A30-83EA-CE6980B59AAF}"/>
              </a:ext>
            </a:extLst>
          </p:cNvPr>
          <p:cNvSpPr>
            <a:spLocks noGrp="1"/>
          </p:cNvSpPr>
          <p:nvPr>
            <p:ph type="body" sz="quarter" idx="14" hasCustomPrompt="1"/>
          </p:nvPr>
        </p:nvSpPr>
        <p:spPr>
          <a:xfrm>
            <a:off x="334963" y="2389892"/>
            <a:ext cx="11524528" cy="1362958"/>
          </a:xfrm>
          <a:prstGeom prst="rect">
            <a:avLst/>
          </a:prstGeom>
        </p:spPr>
        <p:txBody>
          <a:bodyPr anchor="ctr"/>
          <a:lstStyle>
            <a:lvl1pPr marL="0" indent="0" algn="ctr">
              <a:buNone/>
              <a:defRPr sz="4000">
                <a:solidFill>
                  <a:schemeClr val="accent1"/>
                </a:solidFill>
                <a:latin typeface="Bagoss Standard Medium" panose="020B0604060102020204" pitchFamily="34" charset="0"/>
                <a:cs typeface="Bagoss Standard Medium" panose="020B06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PRESENTATION SECTION TITLE</a:t>
            </a:r>
            <a:endParaRPr lang="en-US"/>
          </a:p>
        </p:txBody>
      </p:sp>
      <p:pic>
        <p:nvPicPr>
          <p:cNvPr id="6" name="Afbeelding 5">
            <a:extLst>
              <a:ext uri="{FF2B5EF4-FFF2-40B4-BE49-F238E27FC236}">
                <a16:creationId xmlns:a16="http://schemas.microsoft.com/office/drawing/2014/main" id="{8CE85972-1FBA-85B6-98A5-E0265D6EF3A7}"/>
              </a:ext>
            </a:extLst>
          </p:cNvPr>
          <p:cNvPicPr>
            <a:picLocks noChangeAspect="1"/>
          </p:cNvPicPr>
          <p:nvPr userDrawn="1"/>
        </p:nvPicPr>
        <p:blipFill>
          <a:blip r:embed="rId2"/>
          <a:srcRect/>
          <a:stretch/>
        </p:blipFill>
        <p:spPr>
          <a:xfrm>
            <a:off x="5896160" y="6196894"/>
            <a:ext cx="399679" cy="337263"/>
          </a:xfrm>
          <a:prstGeom prst="rect">
            <a:avLst/>
          </a:prstGeom>
        </p:spPr>
      </p:pic>
      <p:sp>
        <p:nvSpPr>
          <p:cNvPr id="2" name="Text Placeholder 18">
            <a:extLst>
              <a:ext uri="{FF2B5EF4-FFF2-40B4-BE49-F238E27FC236}">
                <a16:creationId xmlns:a16="http://schemas.microsoft.com/office/drawing/2014/main" id="{F1D174E2-F318-B09E-6040-7295C94042C6}"/>
              </a:ext>
            </a:extLst>
          </p:cNvPr>
          <p:cNvSpPr>
            <a:spLocks noGrp="1"/>
          </p:cNvSpPr>
          <p:nvPr>
            <p:ph type="body" sz="quarter" idx="13" hasCustomPrompt="1"/>
          </p:nvPr>
        </p:nvSpPr>
        <p:spPr>
          <a:xfrm>
            <a:off x="332509" y="3435927"/>
            <a:ext cx="11524528" cy="1043203"/>
          </a:xfrm>
          <a:prstGeom prst="rect">
            <a:avLst/>
          </a:prstGeom>
        </p:spPr>
        <p:txBody>
          <a:bodyPr anchor="ctr"/>
          <a:lstStyle>
            <a:lvl1pPr marL="0" indent="0" algn="ctr">
              <a:buNone/>
              <a:defRPr sz="4000">
                <a:solidFill>
                  <a:schemeClr val="accent1"/>
                </a:solidFill>
                <a:latin typeface="Bagoss Standard" panose="020B0504060102020204" pitchFamily="34" charset="0"/>
                <a:cs typeface="Bagoss Standard" panose="020B05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Subtitle here</a:t>
            </a:r>
            <a:endParaRPr lang="en-US"/>
          </a:p>
        </p:txBody>
      </p:sp>
    </p:spTree>
    <p:extLst>
      <p:ext uri="{BB962C8B-B14F-4D97-AF65-F5344CB8AC3E}">
        <p14:creationId xmlns:p14="http://schemas.microsoft.com/office/powerpoint/2010/main" val="3534138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Simple-text_sans_layer">
    <p:bg>
      <p:bgPr>
        <a:solidFill>
          <a:srgbClr val="FFFFFF"/>
        </a:solidFill>
        <a:effectLst/>
      </p:bgPr>
    </p:bg>
    <p:spTree>
      <p:nvGrpSpPr>
        <p:cNvPr id="1" name=""/>
        <p:cNvGrpSpPr/>
        <p:nvPr/>
      </p:nvGrpSpPr>
      <p:grpSpPr>
        <a:xfrm>
          <a:off x="0" y="0"/>
          <a:ext cx="0" cy="0"/>
          <a:chOff x="0" y="0"/>
          <a:chExt cx="0" cy="0"/>
        </a:xfrm>
      </p:grpSpPr>
      <p:sp>
        <p:nvSpPr>
          <p:cNvPr id="21" name="Slide Number Placeholder 4">
            <a:extLst>
              <a:ext uri="{FF2B5EF4-FFF2-40B4-BE49-F238E27FC236}">
                <a16:creationId xmlns:a16="http://schemas.microsoft.com/office/drawing/2014/main" id="{04919B05-25FA-4326-95A9-52218D9EE524}"/>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23" name="Date Placeholder 2">
            <a:extLst>
              <a:ext uri="{FF2B5EF4-FFF2-40B4-BE49-F238E27FC236}">
                <a16:creationId xmlns:a16="http://schemas.microsoft.com/office/drawing/2014/main" id="{71D241C7-285A-46EE-B103-4DF94C2F2735}"/>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05C20A28-4BAC-4477-9026-1E123DBFBC43}" type="datetime1">
              <a:rPr lang="fr-FR" smtClean="0"/>
              <a:t>27/11/2025</a:t>
            </a:fld>
            <a:endParaRPr lang="en-US"/>
          </a:p>
        </p:txBody>
      </p:sp>
      <p:sp>
        <p:nvSpPr>
          <p:cNvPr id="18" name="Espace réservé du contenu 6">
            <a:extLst>
              <a:ext uri="{FF2B5EF4-FFF2-40B4-BE49-F238E27FC236}">
                <a16:creationId xmlns:a16="http://schemas.microsoft.com/office/drawing/2014/main" id="{3ED8EF5A-53F2-47D2-8D1C-2F21C08A987D}"/>
              </a:ext>
            </a:extLst>
          </p:cNvPr>
          <p:cNvSpPr>
            <a:spLocks noGrp="1"/>
          </p:cNvSpPr>
          <p:nvPr>
            <p:ph sz="quarter" idx="13" hasCustomPrompt="1"/>
          </p:nvPr>
        </p:nvSpPr>
        <p:spPr>
          <a:xfrm>
            <a:off x="336757" y="1096479"/>
            <a:ext cx="10945813" cy="2585628"/>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9" name="Titel 14">
            <a:extLst>
              <a:ext uri="{FF2B5EF4-FFF2-40B4-BE49-F238E27FC236}">
                <a16:creationId xmlns:a16="http://schemas.microsoft.com/office/drawing/2014/main" id="{956BF4AB-E8A1-4F20-B9CA-FB38AEA71E95}"/>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4" name="Straight Connector 23">
            <a:extLst>
              <a:ext uri="{FF2B5EF4-FFF2-40B4-BE49-F238E27FC236}">
                <a16:creationId xmlns:a16="http://schemas.microsoft.com/office/drawing/2014/main" id="{0F252710-C411-438E-82A9-476F627FB43E}"/>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C474A61A-05BE-4554-B48D-44C17516647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4154257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mple-text_PIN">
    <p:bg>
      <p:bgPr>
        <a:solidFill>
          <a:srgbClr val="FFFFFF"/>
        </a:solidFill>
        <a:effectLst/>
      </p:bgPr>
    </p:bg>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1610F45C-7D0C-6BD3-57EC-A0F8EBC6606B}"/>
              </a:ext>
            </a:extLst>
          </p:cNvPr>
          <p:cNvPicPr>
            <a:picLocks noChangeAspect="1"/>
          </p:cNvPicPr>
          <p:nvPr userDrawn="1"/>
        </p:nvPicPr>
        <p:blipFill>
          <a:blip r:embed="rId2">
            <a:alphaModFix amt="15000"/>
          </a:blip>
          <a:stretch>
            <a:fillRect/>
          </a:stretch>
        </p:blipFill>
        <p:spPr>
          <a:xfrm>
            <a:off x="8485303" y="3165020"/>
            <a:ext cx="3706697" cy="3706697"/>
          </a:xfrm>
          <a:prstGeom prst="rect">
            <a:avLst/>
          </a:prstGeom>
        </p:spPr>
      </p:pic>
      <p:sp>
        <p:nvSpPr>
          <p:cNvPr id="21" name="Slide Number Placeholder 4">
            <a:extLst>
              <a:ext uri="{FF2B5EF4-FFF2-40B4-BE49-F238E27FC236}">
                <a16:creationId xmlns:a16="http://schemas.microsoft.com/office/drawing/2014/main" id="{04919B05-25FA-4326-95A9-52218D9EE524}"/>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23" name="Date Placeholder 2">
            <a:extLst>
              <a:ext uri="{FF2B5EF4-FFF2-40B4-BE49-F238E27FC236}">
                <a16:creationId xmlns:a16="http://schemas.microsoft.com/office/drawing/2014/main" id="{71D241C7-285A-46EE-B103-4DF94C2F2735}"/>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05C20A28-4BAC-4477-9026-1E123DBFBC43}" type="datetime1">
              <a:rPr lang="fr-FR" smtClean="0"/>
              <a:t>27/11/2025</a:t>
            </a:fld>
            <a:endParaRPr lang="en-US"/>
          </a:p>
        </p:txBody>
      </p:sp>
      <p:sp>
        <p:nvSpPr>
          <p:cNvPr id="18" name="Espace réservé du contenu 6">
            <a:extLst>
              <a:ext uri="{FF2B5EF4-FFF2-40B4-BE49-F238E27FC236}">
                <a16:creationId xmlns:a16="http://schemas.microsoft.com/office/drawing/2014/main" id="{3ED8EF5A-53F2-47D2-8D1C-2F21C08A987D}"/>
              </a:ext>
            </a:extLst>
          </p:cNvPr>
          <p:cNvSpPr>
            <a:spLocks noGrp="1"/>
          </p:cNvSpPr>
          <p:nvPr>
            <p:ph sz="quarter" idx="13" hasCustomPrompt="1"/>
          </p:nvPr>
        </p:nvSpPr>
        <p:spPr>
          <a:xfrm>
            <a:off x="336757" y="1096479"/>
            <a:ext cx="10945813" cy="2585628"/>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3"/>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9" name="Titel 14">
            <a:extLst>
              <a:ext uri="{FF2B5EF4-FFF2-40B4-BE49-F238E27FC236}">
                <a16:creationId xmlns:a16="http://schemas.microsoft.com/office/drawing/2014/main" id="{956BF4AB-E8A1-4F20-B9CA-FB38AEA71E95}"/>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4" name="Straight Connector 23">
            <a:extLst>
              <a:ext uri="{FF2B5EF4-FFF2-40B4-BE49-F238E27FC236}">
                <a16:creationId xmlns:a16="http://schemas.microsoft.com/office/drawing/2014/main" id="{0F252710-C411-438E-82A9-476F627FB43E}"/>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C474A61A-05BE-4554-B48D-44C17516647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2103112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mple-text_TWO_COLUMS">
    <p:bg>
      <p:bgPr>
        <a:solidFill>
          <a:srgbClr val="FFFFFF"/>
        </a:solidFill>
        <a:effectLst/>
      </p:bgPr>
    </p:bg>
    <p:spTree>
      <p:nvGrpSpPr>
        <p:cNvPr id="1" name=""/>
        <p:cNvGrpSpPr/>
        <p:nvPr/>
      </p:nvGrpSpPr>
      <p:grpSpPr>
        <a:xfrm>
          <a:off x="0" y="0"/>
          <a:ext cx="0" cy="0"/>
          <a:chOff x="0" y="0"/>
          <a:chExt cx="0" cy="0"/>
        </a:xfrm>
      </p:grpSpPr>
      <p:sp>
        <p:nvSpPr>
          <p:cNvPr id="21" name="Slide Number Placeholder 4">
            <a:extLst>
              <a:ext uri="{FF2B5EF4-FFF2-40B4-BE49-F238E27FC236}">
                <a16:creationId xmlns:a16="http://schemas.microsoft.com/office/drawing/2014/main" id="{04919B05-25FA-4326-95A9-52218D9EE524}"/>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23" name="Date Placeholder 2">
            <a:extLst>
              <a:ext uri="{FF2B5EF4-FFF2-40B4-BE49-F238E27FC236}">
                <a16:creationId xmlns:a16="http://schemas.microsoft.com/office/drawing/2014/main" id="{71D241C7-285A-46EE-B103-4DF94C2F2735}"/>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05C20A28-4BAC-4477-9026-1E123DBFBC43}" type="datetime1">
              <a:rPr lang="fr-FR" smtClean="0"/>
              <a:t>27/11/2025</a:t>
            </a:fld>
            <a:endParaRPr lang="en-US"/>
          </a:p>
        </p:txBody>
      </p:sp>
      <p:sp>
        <p:nvSpPr>
          <p:cNvPr id="18" name="Espace réservé du contenu 6">
            <a:extLst>
              <a:ext uri="{FF2B5EF4-FFF2-40B4-BE49-F238E27FC236}">
                <a16:creationId xmlns:a16="http://schemas.microsoft.com/office/drawing/2014/main" id="{3ED8EF5A-53F2-47D2-8D1C-2F21C08A987D}"/>
              </a:ext>
            </a:extLst>
          </p:cNvPr>
          <p:cNvSpPr>
            <a:spLocks noGrp="1"/>
          </p:cNvSpPr>
          <p:nvPr>
            <p:ph sz="quarter" idx="13" hasCustomPrompt="1"/>
          </p:nvPr>
        </p:nvSpPr>
        <p:spPr>
          <a:xfrm>
            <a:off x="336757" y="1096478"/>
            <a:ext cx="5632165" cy="4924809"/>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9" name="Titel 14">
            <a:extLst>
              <a:ext uri="{FF2B5EF4-FFF2-40B4-BE49-F238E27FC236}">
                <a16:creationId xmlns:a16="http://schemas.microsoft.com/office/drawing/2014/main" id="{956BF4AB-E8A1-4F20-B9CA-FB38AEA71E95}"/>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4" name="Straight Connector 23">
            <a:extLst>
              <a:ext uri="{FF2B5EF4-FFF2-40B4-BE49-F238E27FC236}">
                <a16:creationId xmlns:a16="http://schemas.microsoft.com/office/drawing/2014/main" id="{0F252710-C411-438E-82A9-476F627FB43E}"/>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C474A61A-05BE-4554-B48D-44C17516647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
        <p:nvSpPr>
          <p:cNvPr id="9" name="Espace réservé du contenu 6">
            <a:extLst>
              <a:ext uri="{FF2B5EF4-FFF2-40B4-BE49-F238E27FC236}">
                <a16:creationId xmlns:a16="http://schemas.microsoft.com/office/drawing/2014/main" id="{2905BCB7-09B0-4CBC-8A45-606A71775ED0}"/>
              </a:ext>
            </a:extLst>
          </p:cNvPr>
          <p:cNvSpPr>
            <a:spLocks noGrp="1"/>
          </p:cNvSpPr>
          <p:nvPr>
            <p:ph sz="quarter" idx="14" hasCustomPrompt="1"/>
          </p:nvPr>
        </p:nvSpPr>
        <p:spPr>
          <a:xfrm>
            <a:off x="6216732" y="1096478"/>
            <a:ext cx="5632165" cy="4924809"/>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Tree>
    <p:extLst>
      <p:ext uri="{BB962C8B-B14F-4D97-AF65-F5344CB8AC3E}">
        <p14:creationId xmlns:p14="http://schemas.microsoft.com/office/powerpoint/2010/main" val="4038625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o">
    <p:bg>
      <p:bgPr>
        <a:solidFill>
          <a:schemeClr val="bg1"/>
        </a:solidFill>
        <a:effectLst/>
      </p:bgPr>
    </p:bg>
    <p:spTree>
      <p:nvGrpSpPr>
        <p:cNvPr id="1" name=""/>
        <p:cNvGrpSpPr/>
        <p:nvPr/>
      </p:nvGrpSpPr>
      <p:grpSpPr>
        <a:xfrm>
          <a:off x="0" y="0"/>
          <a:ext cx="0" cy="0"/>
          <a:chOff x="0" y="0"/>
          <a:chExt cx="0" cy="0"/>
        </a:xfrm>
      </p:grpSpPr>
      <p:sp>
        <p:nvSpPr>
          <p:cNvPr id="9" name="Titel 14">
            <a:extLst>
              <a:ext uri="{FF2B5EF4-FFF2-40B4-BE49-F238E27FC236}">
                <a16:creationId xmlns:a16="http://schemas.microsoft.com/office/drawing/2014/main" id="{89077073-F08B-4C9B-B1DA-ACA5666076E1}"/>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11" name="Straight Connector 10">
            <a:extLst>
              <a:ext uri="{FF2B5EF4-FFF2-40B4-BE49-F238E27FC236}">
                <a16:creationId xmlns:a16="http://schemas.microsoft.com/office/drawing/2014/main" id="{59C8ADEE-62CD-4C87-B85D-85455DEF7543}"/>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D5E9E06E-634D-48A9-99CB-034451F4F2D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sp>
        <p:nvSpPr>
          <p:cNvPr id="13" name="Slide Number Placeholder 4">
            <a:extLst>
              <a:ext uri="{FF2B5EF4-FFF2-40B4-BE49-F238E27FC236}">
                <a16:creationId xmlns:a16="http://schemas.microsoft.com/office/drawing/2014/main" id="{767DB9F0-FE9E-4628-8C45-BF35046F7CAC}"/>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17" name="Espace réservé du contenu 6">
            <a:extLst>
              <a:ext uri="{FF2B5EF4-FFF2-40B4-BE49-F238E27FC236}">
                <a16:creationId xmlns:a16="http://schemas.microsoft.com/office/drawing/2014/main" id="{78680422-37C6-480A-9DCE-B5ADFA2ACF44}"/>
              </a:ext>
            </a:extLst>
          </p:cNvPr>
          <p:cNvSpPr>
            <a:spLocks noGrp="1"/>
          </p:cNvSpPr>
          <p:nvPr>
            <p:ph sz="quarter" idx="13" hasCustomPrompt="1"/>
          </p:nvPr>
        </p:nvSpPr>
        <p:spPr>
          <a:xfrm>
            <a:off x="336757" y="1115325"/>
            <a:ext cx="10945813" cy="4041867"/>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4"/>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8" name="Date Placeholder 2">
            <a:extLst>
              <a:ext uri="{FF2B5EF4-FFF2-40B4-BE49-F238E27FC236}">
                <a16:creationId xmlns:a16="http://schemas.microsoft.com/office/drawing/2014/main" id="{A1C0ABC2-C295-460D-99D5-AE83EAFD7349}"/>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771B68FC-9087-4E3B-8BE6-3EB6AE24D2EA}" type="datetime1">
              <a:rPr lang="fr-FR" smtClean="0"/>
              <a:t>27/11/2025</a:t>
            </a:fld>
            <a:endParaRPr lang="en-US"/>
          </a:p>
        </p:txBody>
      </p:sp>
    </p:spTree>
    <p:extLst>
      <p:ext uri="{BB962C8B-B14F-4D97-AF65-F5344CB8AC3E}">
        <p14:creationId xmlns:p14="http://schemas.microsoft.com/office/powerpoint/2010/main" val="29908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mple-text_TABLE_GRASS">
    <p:bg>
      <p:bgPr>
        <a:solidFill>
          <a:srgbClr val="FFFFFF"/>
        </a:solidFill>
        <a:effectLst/>
      </p:bgPr>
    </p:bg>
    <p:spTree>
      <p:nvGrpSpPr>
        <p:cNvPr id="1" name=""/>
        <p:cNvGrpSpPr/>
        <p:nvPr/>
      </p:nvGrpSpPr>
      <p:grpSpPr>
        <a:xfrm>
          <a:off x="0" y="0"/>
          <a:ext cx="0" cy="0"/>
          <a:chOff x="0" y="0"/>
          <a:chExt cx="0" cy="0"/>
        </a:xfrm>
      </p:grpSpPr>
      <p:graphicFrame>
        <p:nvGraphicFramePr>
          <p:cNvPr id="2" name="Table 32">
            <a:extLst>
              <a:ext uri="{FF2B5EF4-FFF2-40B4-BE49-F238E27FC236}">
                <a16:creationId xmlns:a16="http://schemas.microsoft.com/office/drawing/2014/main" id="{5B83C85F-183F-DF09-754C-9BB4076100DE}"/>
              </a:ext>
            </a:extLst>
          </p:cNvPr>
          <p:cNvGraphicFramePr>
            <a:graphicFrameLocks/>
          </p:cNvGraphicFramePr>
          <p:nvPr userDrawn="1">
            <p:extLst>
              <p:ext uri="{D42A27DB-BD31-4B8C-83A1-F6EECF244321}">
                <p14:modId xmlns:p14="http://schemas.microsoft.com/office/powerpoint/2010/main" val="4096905899"/>
              </p:ext>
            </p:extLst>
          </p:nvPr>
        </p:nvGraphicFramePr>
        <p:xfrm>
          <a:off x="333375" y="4869273"/>
          <a:ext cx="11521868" cy="1224135"/>
        </p:xfrm>
        <a:graphic>
          <a:graphicData uri="http://schemas.openxmlformats.org/drawingml/2006/table">
            <a:tbl>
              <a:tblPr firstRow="1" bandRow="1">
                <a:tableStyleId>{5C22544A-7EE6-4342-B048-85BDC9FD1C3A}</a:tableStyleId>
              </a:tblPr>
              <a:tblGrid>
                <a:gridCol w="1820704">
                  <a:extLst>
                    <a:ext uri="{9D8B030D-6E8A-4147-A177-3AD203B41FA5}">
                      <a16:colId xmlns:a16="http://schemas.microsoft.com/office/drawing/2014/main" val="4205340721"/>
                    </a:ext>
                  </a:extLst>
                </a:gridCol>
                <a:gridCol w="9701164">
                  <a:extLst>
                    <a:ext uri="{9D8B030D-6E8A-4147-A177-3AD203B41FA5}">
                      <a16:colId xmlns:a16="http://schemas.microsoft.com/office/drawing/2014/main" val="3561325280"/>
                    </a:ext>
                  </a:extLst>
                </a:gridCol>
              </a:tblGrid>
              <a:tr h="1224135">
                <a:tc>
                  <a:txBody>
                    <a:bodyPr/>
                    <a:lstStyle/>
                    <a:p>
                      <a:pPr algn="ctr"/>
                      <a:endParaRPr lang="fr-FR" sz="1400">
                        <a:solidFill>
                          <a:schemeClr val="tx1"/>
                        </a:solidFill>
                      </a:endParaRPr>
                    </a:p>
                  </a:txBody>
                  <a:tcPr anchor="ctr">
                    <a:solidFill>
                      <a:srgbClr val="B2EDA7"/>
                    </a:solidFill>
                  </a:tcPr>
                </a:tc>
                <a:tc>
                  <a:txBody>
                    <a:bodyPr/>
                    <a:lstStyle/>
                    <a:p>
                      <a:endParaRPr lang="en-US" sz="1200" b="0">
                        <a:solidFill>
                          <a:schemeClr val="tx1"/>
                        </a:solidFill>
                      </a:endParaRPr>
                    </a:p>
                  </a:txBody>
                  <a:tcPr anchor="ctr">
                    <a:solidFill>
                      <a:srgbClr val="E9FAE6"/>
                    </a:solidFill>
                  </a:tcPr>
                </a:tc>
                <a:extLst>
                  <a:ext uri="{0D108BD9-81ED-4DB2-BD59-A6C34878D82A}">
                    <a16:rowId xmlns:a16="http://schemas.microsoft.com/office/drawing/2014/main" val="4137420540"/>
                  </a:ext>
                </a:extLst>
              </a:tr>
            </a:tbl>
          </a:graphicData>
        </a:graphic>
      </p:graphicFrame>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15" name="Titel 14">
            <a:extLst>
              <a:ext uri="{FF2B5EF4-FFF2-40B4-BE49-F238E27FC236}">
                <a16:creationId xmlns:a16="http://schemas.microsoft.com/office/drawing/2014/main" id="{475A41A9-8C95-15D2-7C18-0ABADA5BF893}"/>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115325"/>
            <a:ext cx="10945813" cy="3708411"/>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771B68FC-9087-4E3B-8BE6-3EB6AE24D2EA}" type="datetime1">
              <a:rPr lang="fr-FR" smtClean="0"/>
              <a:t>27/11/2025</a:t>
            </a:fld>
            <a:endParaRPr lang="en-US"/>
          </a:p>
        </p:txBody>
      </p:sp>
      <p:cxnSp>
        <p:nvCxnSpPr>
          <p:cNvPr id="5" name="Straight Connector 4">
            <a:extLst>
              <a:ext uri="{FF2B5EF4-FFF2-40B4-BE49-F238E27FC236}">
                <a16:creationId xmlns:a16="http://schemas.microsoft.com/office/drawing/2014/main" id="{E7D77697-8229-461A-8B0A-8032E1413682}"/>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7E372CC0-0B8D-49FD-B536-01431FB94A3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
        <p:nvSpPr>
          <p:cNvPr id="7" name="Espace réservé du texte 6">
            <a:extLst>
              <a:ext uri="{FF2B5EF4-FFF2-40B4-BE49-F238E27FC236}">
                <a16:creationId xmlns:a16="http://schemas.microsoft.com/office/drawing/2014/main" id="{03B629D6-94FB-CBB3-FC2E-63EB35BEB161}"/>
              </a:ext>
            </a:extLst>
          </p:cNvPr>
          <p:cNvSpPr>
            <a:spLocks noGrp="1"/>
          </p:cNvSpPr>
          <p:nvPr>
            <p:ph type="body" sz="quarter" idx="14" hasCustomPrompt="1"/>
          </p:nvPr>
        </p:nvSpPr>
        <p:spPr>
          <a:xfrm>
            <a:off x="339725" y="4928096"/>
            <a:ext cx="1784549" cy="1106488"/>
          </a:xfrm>
          <a:prstGeom prst="rect">
            <a:avLst/>
          </a:prstGeom>
        </p:spPr>
        <p:txBody>
          <a:bodyPr anchor="ctr" anchorCtr="0"/>
          <a:lstStyle>
            <a:lvl1pPr marL="0" indent="0" algn="ctr">
              <a:lnSpc>
                <a:spcPct val="30000"/>
              </a:lnSpc>
              <a:buNone/>
              <a:defRPr sz="1400" b="1"/>
            </a:lvl1pPr>
          </a:lstStyle>
          <a:p>
            <a:pPr lvl="0"/>
            <a:r>
              <a:rPr lang="fr-FR" err="1"/>
              <a:t>Text</a:t>
            </a:r>
            <a:endParaRPr lang="fr-FR"/>
          </a:p>
        </p:txBody>
      </p:sp>
      <p:sp>
        <p:nvSpPr>
          <p:cNvPr id="9" name="Espace réservé du texte 6">
            <a:extLst>
              <a:ext uri="{FF2B5EF4-FFF2-40B4-BE49-F238E27FC236}">
                <a16:creationId xmlns:a16="http://schemas.microsoft.com/office/drawing/2014/main" id="{6C70DEDB-5CDC-45BE-0939-EAAA7C0B4513}"/>
              </a:ext>
            </a:extLst>
          </p:cNvPr>
          <p:cNvSpPr>
            <a:spLocks noGrp="1"/>
          </p:cNvSpPr>
          <p:nvPr>
            <p:ph type="body" sz="quarter" idx="15" hasCustomPrompt="1"/>
          </p:nvPr>
        </p:nvSpPr>
        <p:spPr>
          <a:xfrm>
            <a:off x="2279576" y="4914800"/>
            <a:ext cx="9433047" cy="1106488"/>
          </a:xfrm>
          <a:prstGeom prst="rect">
            <a:avLst/>
          </a:prstGeom>
        </p:spPr>
        <p:txBody>
          <a:bodyPr anchor="ctr" anchorCtr="0"/>
          <a:lstStyle>
            <a:lvl1pPr marL="0" indent="0" algn="l">
              <a:lnSpc>
                <a:spcPct val="30000"/>
              </a:lnSpc>
              <a:buNone/>
              <a:defRPr sz="1200" b="0"/>
            </a:lvl1pPr>
          </a:lstStyle>
          <a:p>
            <a:pPr lvl="0"/>
            <a:r>
              <a:rPr lang="fr-FR" err="1"/>
              <a:t>Text</a:t>
            </a:r>
            <a:endParaRPr lang="fr-FR"/>
          </a:p>
        </p:txBody>
      </p:sp>
    </p:spTree>
    <p:extLst>
      <p:ext uri="{BB962C8B-B14F-4D97-AF65-F5344CB8AC3E}">
        <p14:creationId xmlns:p14="http://schemas.microsoft.com/office/powerpoint/2010/main" val="29372140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imple-text_LINK">
    <p:bg>
      <p:bgPr>
        <a:solidFill>
          <a:srgbClr val="FFFFFF"/>
        </a:solidFill>
        <a:effectLst/>
      </p:bgPr>
    </p:bg>
    <p:spTree>
      <p:nvGrpSpPr>
        <p:cNvPr id="1" name=""/>
        <p:cNvGrpSpPr/>
        <p:nvPr/>
      </p:nvGrpSpPr>
      <p:grpSpPr>
        <a:xfrm>
          <a:off x="0" y="0"/>
          <a:ext cx="0" cy="0"/>
          <a:chOff x="0" y="0"/>
          <a:chExt cx="0" cy="0"/>
        </a:xfrm>
      </p:grpSpPr>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117605"/>
            <a:ext cx="7775467" cy="1879347"/>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771B68FC-9087-4E3B-8BE6-3EB6AE24D2EA}" type="datetime1">
              <a:rPr lang="fr-FR" smtClean="0"/>
              <a:t>27/11/2025</a:t>
            </a:fld>
            <a:endParaRPr lang="en-US"/>
          </a:p>
        </p:txBody>
      </p:sp>
      <p:sp>
        <p:nvSpPr>
          <p:cNvPr id="12" name="Espace réservé du contenu 6">
            <a:extLst>
              <a:ext uri="{FF2B5EF4-FFF2-40B4-BE49-F238E27FC236}">
                <a16:creationId xmlns:a16="http://schemas.microsoft.com/office/drawing/2014/main" id="{FE6508B0-8C46-4410-B3FE-A17087F8FC64}"/>
              </a:ext>
            </a:extLst>
          </p:cNvPr>
          <p:cNvSpPr>
            <a:spLocks noGrp="1"/>
          </p:cNvSpPr>
          <p:nvPr>
            <p:ph sz="quarter" idx="38" hasCustomPrompt="1"/>
          </p:nvPr>
        </p:nvSpPr>
        <p:spPr>
          <a:xfrm>
            <a:off x="8256240" y="1145005"/>
            <a:ext cx="3592655" cy="1112103"/>
          </a:xfrm>
          <a:prstGeom prst="rect">
            <a:avLst/>
          </a:prstGeom>
        </p:spPr>
        <p:txBody>
          <a:bodyPr/>
          <a:lstStyle>
            <a:lvl1pPr marL="0" indent="0" algn="r">
              <a:lnSpc>
                <a:spcPct val="120000"/>
              </a:lnSpc>
              <a:spcBef>
                <a:spcPts val="1000"/>
              </a:spcBef>
              <a:buNone/>
              <a:defRPr sz="900" b="1">
                <a:solidFill>
                  <a:schemeClr val="bg1">
                    <a:lumMod val="25000"/>
                  </a:schemeClr>
                </a:solidFill>
              </a:defRPr>
            </a:lvl1pPr>
            <a:lvl2pPr marL="685800" indent="-228600" algn="r">
              <a:lnSpc>
                <a:spcPct val="100000"/>
              </a:lnSpc>
              <a:spcBef>
                <a:spcPts val="600"/>
              </a:spcBef>
              <a:spcAft>
                <a:spcPts val="0"/>
              </a:spcAft>
              <a:buFontTx/>
              <a:buBlip>
                <a:blip r:embed="rId3"/>
              </a:buBlip>
              <a:defRPr sz="1200" u="sng"/>
            </a:lvl2pPr>
            <a:lvl3pPr marL="0" indent="0" algn="r">
              <a:buNone/>
              <a:defRPr sz="1100">
                <a:solidFill>
                  <a:schemeClr val="bg1">
                    <a:lumMod val="25000"/>
                  </a:schemeClr>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err="1"/>
              <a:t>Acitvation</a:t>
            </a:r>
            <a:r>
              <a:rPr lang="en-US"/>
              <a:t> calendar</a:t>
            </a:r>
          </a:p>
          <a:p>
            <a:pPr lvl="1"/>
            <a:r>
              <a:rPr lang="fr-FR"/>
              <a:t>Bullet point</a:t>
            </a:r>
          </a:p>
          <a:p>
            <a:pPr lvl="2"/>
            <a:r>
              <a:rPr lang="en-US"/>
              <a:t>Continuously updated based on actual situation:</a:t>
            </a:r>
          </a:p>
          <a:p>
            <a:pPr lvl="3"/>
            <a:endParaRPr lang="fr-FR"/>
          </a:p>
        </p:txBody>
      </p:sp>
      <p:sp>
        <p:nvSpPr>
          <p:cNvPr id="8" name="Table Placeholder 7">
            <a:extLst>
              <a:ext uri="{FF2B5EF4-FFF2-40B4-BE49-F238E27FC236}">
                <a16:creationId xmlns:a16="http://schemas.microsoft.com/office/drawing/2014/main" id="{A6FC6EE8-2819-4BB4-B8BF-8292850BE690}"/>
              </a:ext>
            </a:extLst>
          </p:cNvPr>
          <p:cNvSpPr>
            <a:spLocks noGrp="1"/>
          </p:cNvSpPr>
          <p:nvPr>
            <p:ph type="tbl" sz="quarter" idx="39"/>
          </p:nvPr>
        </p:nvSpPr>
        <p:spPr>
          <a:xfrm>
            <a:off x="8256588" y="2565400"/>
            <a:ext cx="3602037" cy="1727200"/>
          </a:xfrm>
          <a:prstGeom prst="rect">
            <a:avLst/>
          </a:prstGeom>
        </p:spPr>
        <p:txBody>
          <a:bodyPr/>
          <a:lstStyle>
            <a:lvl1pPr>
              <a:defRPr sz="1200"/>
            </a:lvl1pPr>
          </a:lstStyle>
          <a:p>
            <a:endParaRPr lang="fr-FR"/>
          </a:p>
        </p:txBody>
      </p:sp>
      <p:sp>
        <p:nvSpPr>
          <p:cNvPr id="17" name="Titel 14">
            <a:extLst>
              <a:ext uri="{FF2B5EF4-FFF2-40B4-BE49-F238E27FC236}">
                <a16:creationId xmlns:a16="http://schemas.microsoft.com/office/drawing/2014/main" id="{FD47AFAE-0904-41A7-B5BA-B1ECB19A709B}"/>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19" name="Straight Connector 18">
            <a:extLst>
              <a:ext uri="{FF2B5EF4-FFF2-40B4-BE49-F238E27FC236}">
                <a16:creationId xmlns:a16="http://schemas.microsoft.com/office/drawing/2014/main" id="{FE44D3B6-41BA-4DF9-B5A4-CE66BD9BF26F}"/>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1" name="Graphic 20">
            <a:extLst>
              <a:ext uri="{FF2B5EF4-FFF2-40B4-BE49-F238E27FC236}">
                <a16:creationId xmlns:a16="http://schemas.microsoft.com/office/drawing/2014/main" id="{00451FBD-8BBE-4B78-AD36-2414BC59C60A}"/>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20266381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MAGE_INFO">
    <p:bg>
      <p:bgPr>
        <a:solidFill>
          <a:srgbClr val="FFFFFF"/>
        </a:solidFill>
        <a:effectLst/>
      </p:bgPr>
    </p:bg>
    <p:spTree>
      <p:nvGrpSpPr>
        <p:cNvPr id="1" name=""/>
        <p:cNvGrpSpPr/>
        <p:nvPr/>
      </p:nvGrpSpPr>
      <p:grpSpPr>
        <a:xfrm>
          <a:off x="0" y="0"/>
          <a:ext cx="0" cy="0"/>
          <a:chOff x="0" y="0"/>
          <a:chExt cx="0" cy="0"/>
        </a:xfrm>
      </p:grpSpPr>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771B68FC-9087-4E3B-8BE6-3EB6AE24D2EA}" type="datetime1">
              <a:rPr lang="fr-FR" smtClean="0"/>
              <a:t>27/11/2025</a:t>
            </a:fld>
            <a:endParaRPr lang="en-US"/>
          </a:p>
        </p:txBody>
      </p:sp>
      <p:sp>
        <p:nvSpPr>
          <p:cNvPr id="8" name="Table Placeholder 7">
            <a:extLst>
              <a:ext uri="{FF2B5EF4-FFF2-40B4-BE49-F238E27FC236}">
                <a16:creationId xmlns:a16="http://schemas.microsoft.com/office/drawing/2014/main" id="{A6FC6EE8-2819-4BB4-B8BF-8292850BE690}"/>
              </a:ext>
            </a:extLst>
          </p:cNvPr>
          <p:cNvSpPr>
            <a:spLocks noGrp="1"/>
          </p:cNvSpPr>
          <p:nvPr>
            <p:ph type="tbl" sz="quarter" idx="39"/>
          </p:nvPr>
        </p:nvSpPr>
        <p:spPr>
          <a:xfrm>
            <a:off x="8256588" y="1114263"/>
            <a:ext cx="3602037" cy="1727200"/>
          </a:xfrm>
          <a:prstGeom prst="rect">
            <a:avLst/>
          </a:prstGeom>
        </p:spPr>
        <p:txBody>
          <a:bodyPr/>
          <a:lstStyle>
            <a:lvl1pPr>
              <a:defRPr sz="1200"/>
            </a:lvl1pPr>
          </a:lstStyle>
          <a:p>
            <a:endParaRPr lang="fr-FR"/>
          </a:p>
        </p:txBody>
      </p:sp>
      <p:sp>
        <p:nvSpPr>
          <p:cNvPr id="4" name="Picture Placeholder 3">
            <a:extLst>
              <a:ext uri="{FF2B5EF4-FFF2-40B4-BE49-F238E27FC236}">
                <a16:creationId xmlns:a16="http://schemas.microsoft.com/office/drawing/2014/main" id="{D2399C6A-5CCA-4C9E-A007-74308122DFF4}"/>
              </a:ext>
            </a:extLst>
          </p:cNvPr>
          <p:cNvSpPr>
            <a:spLocks noGrp="1"/>
          </p:cNvSpPr>
          <p:nvPr>
            <p:ph type="pic" sz="quarter" idx="40"/>
          </p:nvPr>
        </p:nvSpPr>
        <p:spPr>
          <a:xfrm>
            <a:off x="334963" y="1119519"/>
            <a:ext cx="7705725" cy="4037669"/>
          </a:xfrm>
          <a:prstGeom prst="rect">
            <a:avLst/>
          </a:prstGeom>
        </p:spPr>
        <p:txBody>
          <a:bodyPr/>
          <a:lstStyle/>
          <a:p>
            <a:endParaRPr lang="fr-FR"/>
          </a:p>
        </p:txBody>
      </p:sp>
      <p:sp>
        <p:nvSpPr>
          <p:cNvPr id="17" name="Table Placeholder 7">
            <a:extLst>
              <a:ext uri="{FF2B5EF4-FFF2-40B4-BE49-F238E27FC236}">
                <a16:creationId xmlns:a16="http://schemas.microsoft.com/office/drawing/2014/main" id="{C7D23790-FDC4-4A6D-BD1A-B5D644440A29}"/>
              </a:ext>
            </a:extLst>
          </p:cNvPr>
          <p:cNvSpPr>
            <a:spLocks noGrp="1"/>
          </p:cNvSpPr>
          <p:nvPr>
            <p:ph type="tbl" sz="quarter" idx="41"/>
          </p:nvPr>
        </p:nvSpPr>
        <p:spPr>
          <a:xfrm>
            <a:off x="323255" y="5322281"/>
            <a:ext cx="11535370" cy="693757"/>
          </a:xfrm>
          <a:prstGeom prst="rect">
            <a:avLst/>
          </a:prstGeom>
        </p:spPr>
        <p:txBody>
          <a:bodyPr/>
          <a:lstStyle>
            <a:lvl1pPr>
              <a:defRPr sz="1200"/>
            </a:lvl1pPr>
          </a:lstStyle>
          <a:p>
            <a:endParaRPr lang="fr-FR"/>
          </a:p>
        </p:txBody>
      </p:sp>
      <p:sp>
        <p:nvSpPr>
          <p:cNvPr id="19" name="Titel 14">
            <a:extLst>
              <a:ext uri="{FF2B5EF4-FFF2-40B4-BE49-F238E27FC236}">
                <a16:creationId xmlns:a16="http://schemas.microsoft.com/office/drawing/2014/main" id="{87763A20-09D2-4AE5-AA8F-90EBB1F1362C}"/>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1" name="Straight Connector 20">
            <a:extLst>
              <a:ext uri="{FF2B5EF4-FFF2-40B4-BE49-F238E27FC236}">
                <a16:creationId xmlns:a16="http://schemas.microsoft.com/office/drawing/2014/main" id="{751D1DEB-A2F0-49B6-80F5-9738F1A474B2}"/>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3194FE39-5C1B-4038-B1A3-0069E2B47B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12917663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LORED_simple_text_PIN">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7FDDB1-5A4A-4C76-997C-F7B1B9BA32AA}"/>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2"/>
                </a:solidFill>
              </a:defRPr>
            </a:lvl1pPr>
          </a:lstStyle>
          <a:p>
            <a:fld id="{771B68FC-9087-4E3B-8BE6-3EB6AE24D2EA}" type="datetime1">
              <a:rPr lang="fr-FR" smtClean="0"/>
              <a:pPr/>
              <a:t>27/11/2025</a:t>
            </a:fld>
            <a:endParaRPr lang="en-US"/>
          </a:p>
        </p:txBody>
      </p:sp>
      <p:sp>
        <p:nvSpPr>
          <p:cNvPr id="17" name="Titel 14">
            <a:extLst>
              <a:ext uri="{FF2B5EF4-FFF2-40B4-BE49-F238E27FC236}">
                <a16:creationId xmlns:a16="http://schemas.microsoft.com/office/drawing/2014/main" id="{FCEC0B95-79DC-42F7-AC5B-81D123887F18}"/>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chemeClr val="accent2"/>
                </a:solidFill>
              </a:defRPr>
            </a:lvl1pPr>
          </a:lstStyle>
          <a:p>
            <a:r>
              <a:rPr lang="nl-NL" err="1"/>
              <a:t>Title</a:t>
            </a:r>
            <a:endParaRPr lang="en-US"/>
          </a:p>
        </p:txBody>
      </p:sp>
      <p:cxnSp>
        <p:nvCxnSpPr>
          <p:cNvPr id="19" name="Straight Connector 18">
            <a:extLst>
              <a:ext uri="{FF2B5EF4-FFF2-40B4-BE49-F238E27FC236}">
                <a16:creationId xmlns:a16="http://schemas.microsoft.com/office/drawing/2014/main" id="{DC0DC6F9-75CE-447A-8978-BB1F7027DAC2}"/>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 name="Picture 5">
            <a:extLst>
              <a:ext uri="{FF2B5EF4-FFF2-40B4-BE49-F238E27FC236}">
                <a16:creationId xmlns:a16="http://schemas.microsoft.com/office/drawing/2014/main" id="{6F317A44-B7F2-7FE3-A8DA-5E3F91365E11}"/>
              </a:ext>
            </a:extLst>
          </p:cNvPr>
          <p:cNvPicPr>
            <a:picLocks noChangeAspect="1"/>
          </p:cNvPicPr>
          <p:nvPr userDrawn="1"/>
        </p:nvPicPr>
        <p:blipFill>
          <a:blip r:embed="rId2">
            <a:alphaModFix amt="10000"/>
          </a:blip>
          <a:stretch>
            <a:fillRect/>
          </a:stretch>
        </p:blipFill>
        <p:spPr>
          <a:xfrm>
            <a:off x="8138065" y="2788592"/>
            <a:ext cx="4053935" cy="4069408"/>
          </a:xfrm>
          <a:prstGeom prst="rect">
            <a:avLst/>
          </a:prstGeom>
        </p:spPr>
      </p:pic>
      <p:pic>
        <p:nvPicPr>
          <p:cNvPr id="21" name="Graphic 20">
            <a:extLst>
              <a:ext uri="{FF2B5EF4-FFF2-40B4-BE49-F238E27FC236}">
                <a16:creationId xmlns:a16="http://schemas.microsoft.com/office/drawing/2014/main" id="{89C85785-4E63-4A1C-9AC1-F40022CA59C8}"/>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094414"/>
            <a:ext cx="10945813" cy="4998882"/>
          </a:xfrm>
          <a:prstGeom prst="rect">
            <a:avLst/>
          </a:prstGeom>
        </p:spPr>
        <p:txBody>
          <a:bodyPr/>
          <a:lstStyle>
            <a:lvl1pPr marL="0" indent="0">
              <a:lnSpc>
                <a:spcPct val="120000"/>
              </a:lnSpc>
              <a:spcBef>
                <a:spcPts val="1000"/>
              </a:spcBef>
              <a:buNone/>
              <a:defRPr sz="1200">
                <a:solidFill>
                  <a:schemeClr val="accent2"/>
                </a:solidFill>
              </a:defRPr>
            </a:lvl1pPr>
            <a:lvl2pPr marL="685800" indent="-228600">
              <a:lnSpc>
                <a:spcPct val="100000"/>
              </a:lnSpc>
              <a:spcBef>
                <a:spcPts val="600"/>
              </a:spcBef>
              <a:spcAft>
                <a:spcPts val="0"/>
              </a:spcAft>
              <a:buFontTx/>
              <a:buBlip>
                <a:blip r:embed="rId5"/>
              </a:buBlip>
              <a:defRPr sz="1200">
                <a:solidFill>
                  <a:schemeClr val="accent2"/>
                </a:solidFill>
              </a:defRPr>
            </a:lvl2pPr>
            <a:lvl3pPr marL="0" indent="0">
              <a:buNone/>
              <a:defRPr>
                <a:solidFill>
                  <a:schemeClr val="accent2"/>
                </a:solidFill>
              </a:defRPr>
            </a:lvl3pPr>
            <a:lvl4pPr marL="324000" indent="0">
              <a:lnSpc>
                <a:spcPct val="250000"/>
              </a:lnSpc>
              <a:buNone/>
              <a:defRPr>
                <a:solidFill>
                  <a:schemeClr val="accent1"/>
                </a:solidFill>
                <a:highlight>
                  <a:srgbClr val="B2EDA7"/>
                </a:highlight>
              </a:defRPr>
            </a:lvl4pPr>
            <a:lvl5pPr marL="324000" indent="0">
              <a:lnSpc>
                <a:spcPct val="120000"/>
              </a:lnSpc>
              <a:buNone/>
              <a:defRPr sz="1200">
                <a:solidFill>
                  <a:schemeClr val="accent2"/>
                </a:solidFill>
              </a:defRPr>
            </a:lvl5pPr>
            <a:lvl6pPr marL="0" indent="0">
              <a:buNone/>
              <a:defRPr sz="1400" b="1">
                <a:solidFill>
                  <a:schemeClr val="accent2"/>
                </a:solidFill>
              </a:defRPr>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a:t>Paragraphe </a:t>
            </a:r>
            <a:r>
              <a:rPr lang="fr-FR" err="1"/>
              <a:t>title</a:t>
            </a:r>
            <a:r>
              <a:rPr lang="fr-FR"/>
              <a:t> 2</a:t>
            </a:r>
          </a:p>
          <a:p>
            <a:pPr lvl="4"/>
            <a:r>
              <a:rPr lang="fr-FR" err="1"/>
              <a:t>Text</a:t>
            </a:r>
            <a:endParaRPr lang="fr-FR"/>
          </a:p>
          <a:p>
            <a:pPr lvl="5"/>
            <a:r>
              <a:rPr lang="fr-FR"/>
              <a:t>Sixième niveau</a:t>
            </a:r>
          </a:p>
        </p:txBody>
      </p:sp>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81328"/>
            <a:ext cx="818313" cy="276432"/>
          </a:xfrm>
          <a:prstGeom prst="rect">
            <a:avLst/>
          </a:prstGeom>
        </p:spPr>
        <p:txBody>
          <a:bodyPr lIns="0" tIns="0" rIns="0" bIns="0" anchor="ctr"/>
          <a:lstStyle>
            <a:lvl1pPr algn="r">
              <a:defRPr sz="1200">
                <a:solidFill>
                  <a:schemeClr val="accent2"/>
                </a:solidFill>
              </a:defRPr>
            </a:lvl1pPr>
          </a:lstStyle>
          <a:p>
            <a:fld id="{0D2E6A04-B99A-6C4D-8942-945F97C9E705}" type="slidenum">
              <a:rPr lang="en-US" smtClean="0"/>
              <a:pPr/>
              <a:t>‹nr.›</a:t>
            </a:fld>
            <a:endParaRPr lang="en-US"/>
          </a:p>
        </p:txBody>
      </p:sp>
    </p:spTree>
    <p:extLst>
      <p:ext uri="{BB962C8B-B14F-4D97-AF65-F5344CB8AC3E}">
        <p14:creationId xmlns:p14="http://schemas.microsoft.com/office/powerpoint/2010/main" val="39333941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LORED_simple_text_GRASS">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7FDDB1-5A4A-4C76-997C-F7B1B9BA32AA}"/>
              </a:ext>
            </a:extLst>
          </p:cNvPr>
          <p:cNvSpPr/>
          <p:nvPr userDrawn="1"/>
        </p:nvSpPr>
        <p:spPr>
          <a:xfrm>
            <a:off x="0" y="0"/>
            <a:ext cx="12192000" cy="6858000"/>
          </a:xfrm>
          <a:prstGeom prst="rect">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094414"/>
            <a:ext cx="10945813" cy="4998882"/>
          </a:xfrm>
          <a:prstGeom prst="rect">
            <a:avLst/>
          </a:prstGeom>
        </p:spPr>
        <p:txBody>
          <a:bodyPr/>
          <a:lstStyle>
            <a:lvl1pPr marL="0" indent="0">
              <a:lnSpc>
                <a:spcPct val="120000"/>
              </a:lnSpc>
              <a:spcBef>
                <a:spcPts val="1000"/>
              </a:spcBef>
              <a:buNone/>
              <a:defRPr sz="1200">
                <a:solidFill>
                  <a:schemeClr val="tx1"/>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solidFill>
                  <a:schemeClr val="accent2"/>
                </a:solidFill>
                <a:highlight>
                  <a:srgbClr val="045E51"/>
                </a:highlight>
              </a:defRPr>
            </a:lvl4pPr>
            <a:lvl5pPr marL="324000" indent="0">
              <a:lnSpc>
                <a:spcPct val="120000"/>
              </a:lnSpc>
              <a:buNone/>
              <a:defRPr sz="1200">
                <a:solidFill>
                  <a:schemeClr val="tx1"/>
                </a:solidFill>
              </a:defRPr>
            </a:lvl5pPr>
            <a:lvl6pPr marL="0" indent="0">
              <a:buNone/>
              <a:defRPr sz="1400" b="1"/>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a:t>Paragraphe </a:t>
            </a:r>
            <a:r>
              <a:rPr lang="fr-FR" err="1"/>
              <a:t>title</a:t>
            </a:r>
            <a:r>
              <a:rPr lang="fr-FR"/>
              <a:t> 2</a:t>
            </a:r>
          </a:p>
          <a:p>
            <a:pPr lvl="4"/>
            <a:r>
              <a:rPr lang="fr-FR" err="1"/>
              <a:t>Text</a:t>
            </a:r>
            <a:endParaRPr lang="fr-FR"/>
          </a:p>
          <a:p>
            <a:pPr lvl="5"/>
            <a:r>
              <a:rPr lang="fr-FR"/>
              <a:t>Sixième niveau</a:t>
            </a: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771B68FC-9087-4E3B-8BE6-3EB6AE24D2EA}" type="datetime1">
              <a:rPr lang="fr-FR" smtClean="0"/>
              <a:t>27/11/2025</a:t>
            </a:fld>
            <a:endParaRPr lang="en-US"/>
          </a:p>
        </p:txBody>
      </p:sp>
      <p:sp>
        <p:nvSpPr>
          <p:cNvPr id="17" name="Titel 14">
            <a:extLst>
              <a:ext uri="{FF2B5EF4-FFF2-40B4-BE49-F238E27FC236}">
                <a16:creationId xmlns:a16="http://schemas.microsoft.com/office/drawing/2014/main" id="{FCEC0B95-79DC-42F7-AC5B-81D123887F18}"/>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19" name="Straight Connector 18">
            <a:extLst>
              <a:ext uri="{FF2B5EF4-FFF2-40B4-BE49-F238E27FC236}">
                <a16:creationId xmlns:a16="http://schemas.microsoft.com/office/drawing/2014/main" id="{DC0DC6F9-75CE-447A-8978-BB1F7027DAC2}"/>
              </a:ext>
            </a:extLst>
          </p:cNvPr>
          <p:cNvCxnSpPr>
            <a:cxnSpLocks/>
          </p:cNvCxnSpPr>
          <p:nvPr userDrawn="1"/>
        </p:nvCxnSpPr>
        <p:spPr>
          <a:xfrm flipH="1">
            <a:off x="333629" y="836712"/>
            <a:ext cx="11515267" cy="0"/>
          </a:xfrm>
          <a:prstGeom prst="line">
            <a:avLst/>
          </a:prstGeom>
          <a:ln w="47625" cap="rnd">
            <a:solidFill>
              <a:schemeClr val="tx1"/>
            </a:solidFill>
          </a:ln>
        </p:spPr>
        <p:style>
          <a:lnRef idx="1">
            <a:schemeClr val="accent1"/>
          </a:lnRef>
          <a:fillRef idx="0">
            <a:schemeClr val="accent1"/>
          </a:fillRef>
          <a:effectRef idx="0">
            <a:schemeClr val="accent1"/>
          </a:effectRef>
          <a:fontRef idx="minor">
            <a:schemeClr val="tx1"/>
          </a:fontRef>
        </p:style>
      </p:cxnSp>
      <p:pic>
        <p:nvPicPr>
          <p:cNvPr id="21" name="Graphic 20">
            <a:extLst>
              <a:ext uri="{FF2B5EF4-FFF2-40B4-BE49-F238E27FC236}">
                <a16:creationId xmlns:a16="http://schemas.microsoft.com/office/drawing/2014/main" id="{89C85785-4E63-4A1C-9AC1-F40022CA59C8}"/>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pic>
        <p:nvPicPr>
          <p:cNvPr id="24" name="Picture 23">
            <a:extLst>
              <a:ext uri="{FF2B5EF4-FFF2-40B4-BE49-F238E27FC236}">
                <a16:creationId xmlns:a16="http://schemas.microsoft.com/office/drawing/2014/main" id="{E53DB1FF-9B9E-4F35-85A8-36DE8689495D}"/>
              </a:ext>
            </a:extLst>
          </p:cNvPr>
          <p:cNvPicPr>
            <a:picLocks noChangeAspect="1"/>
          </p:cNvPicPr>
          <p:nvPr userDrawn="1"/>
        </p:nvPicPr>
        <p:blipFill>
          <a:blip r:embed="rId5">
            <a:alphaModFix amt="5000"/>
          </a:blip>
          <a:stretch>
            <a:fillRect/>
          </a:stretch>
        </p:blipFill>
        <p:spPr>
          <a:xfrm>
            <a:off x="8148495" y="2781865"/>
            <a:ext cx="4068185" cy="4083712"/>
          </a:xfrm>
          <a:prstGeom prst="rect">
            <a:avLst/>
          </a:prstGeom>
        </p:spPr>
      </p:pic>
    </p:spTree>
    <p:extLst>
      <p:ext uri="{BB962C8B-B14F-4D97-AF65-F5344CB8AC3E}">
        <p14:creationId xmlns:p14="http://schemas.microsoft.com/office/powerpoint/2010/main" val="3810295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image_1">
    <p:bg>
      <p:bgPr>
        <a:solidFill>
          <a:schemeClr val="bg1"/>
        </a:solidFill>
        <a:effectLst/>
      </p:bgPr>
    </p:bg>
    <p:spTree>
      <p:nvGrpSpPr>
        <p:cNvPr id="1" name=""/>
        <p:cNvGrpSpPr/>
        <p:nvPr/>
      </p:nvGrpSpPr>
      <p:grpSpPr>
        <a:xfrm>
          <a:off x="0" y="0"/>
          <a:ext cx="0" cy="0"/>
          <a:chOff x="0" y="0"/>
          <a:chExt cx="0" cy="0"/>
        </a:xfrm>
      </p:grpSpPr>
      <p:sp>
        <p:nvSpPr>
          <p:cNvPr id="58" name="Text Placeholder 46">
            <a:extLst>
              <a:ext uri="{FF2B5EF4-FFF2-40B4-BE49-F238E27FC236}">
                <a16:creationId xmlns:a16="http://schemas.microsoft.com/office/drawing/2014/main" id="{24A90D0E-4498-34B0-A941-281BC6999AAA}"/>
              </a:ext>
            </a:extLst>
          </p:cNvPr>
          <p:cNvSpPr>
            <a:spLocks noGrp="1"/>
          </p:cNvSpPr>
          <p:nvPr>
            <p:ph type="body" sz="quarter" idx="21"/>
          </p:nvPr>
        </p:nvSpPr>
        <p:spPr>
          <a:xfrm>
            <a:off x="355864" y="7345110"/>
            <a:ext cx="11493031" cy="684211"/>
          </a:xfrm>
          <a:prstGeom prst="rect">
            <a:avLst/>
          </a:prstGeom>
        </p:spPr>
        <p:txBody>
          <a:bodyPr lIns="0" tIns="0" rIns="0" bIns="0" anchor="t" anchorCtr="0"/>
          <a:lstStyle>
            <a:lvl1pPr marL="0" indent="0">
              <a:buNone/>
              <a:defRPr sz="1400" b="0">
                <a:solidFill>
                  <a:srgbClr val="025D52"/>
                </a:solidFill>
              </a:defRPr>
            </a:lvl1pPr>
          </a:lstStyle>
          <a:p>
            <a:pPr lvl="0"/>
            <a:endParaRPr lang="en-US"/>
          </a:p>
        </p:txBody>
      </p:sp>
      <p:sp>
        <p:nvSpPr>
          <p:cNvPr id="2" name="Freeform 11">
            <a:extLst>
              <a:ext uri="{FF2B5EF4-FFF2-40B4-BE49-F238E27FC236}">
                <a16:creationId xmlns:a16="http://schemas.microsoft.com/office/drawing/2014/main" id="{20FEADF5-C8A6-B291-C939-277AC767E190}"/>
              </a:ext>
            </a:extLst>
          </p:cNvPr>
          <p:cNvSpPr>
            <a:spLocks noGrp="1"/>
          </p:cNvSpPr>
          <p:nvPr>
            <p:ph type="pic" sz="quarter" idx="26"/>
          </p:nvPr>
        </p:nvSpPr>
        <p:spPr>
          <a:xfrm>
            <a:off x="551384" y="1296991"/>
            <a:ext cx="2355352" cy="2376489"/>
          </a:xfrm>
          <a:custGeom>
            <a:avLst/>
            <a:gdLst>
              <a:gd name="connsiteX0" fmla="*/ 0 w 4823819"/>
              <a:gd name="connsiteY0" fmla="*/ 3582764 h 4789266"/>
              <a:gd name="connsiteX1" fmla="*/ 0 w 4823819"/>
              <a:gd name="connsiteY1" fmla="*/ 3582765 h 4789266"/>
              <a:gd name="connsiteX2" fmla="*/ 0 w 4823819"/>
              <a:gd name="connsiteY2" fmla="*/ 3582765 h 4789266"/>
              <a:gd name="connsiteX3" fmla="*/ 0 w 4823819"/>
              <a:gd name="connsiteY3" fmla="*/ 1206500 h 4789266"/>
              <a:gd name="connsiteX4" fmla="*/ 0 w 4823819"/>
              <a:gd name="connsiteY4" fmla="*/ 1206500 h 4789266"/>
              <a:gd name="connsiteX5" fmla="*/ 0 w 4823819"/>
              <a:gd name="connsiteY5" fmla="*/ 1206501 h 4789266"/>
              <a:gd name="connsiteX6" fmla="*/ 1206501 w 4823819"/>
              <a:gd name="connsiteY6" fmla="*/ 0 h 4789266"/>
              <a:gd name="connsiteX7" fmla="*/ 3617318 w 4823819"/>
              <a:gd name="connsiteY7" fmla="*/ 0 h 4789266"/>
              <a:gd name="connsiteX8" fmla="*/ 4823819 w 4823819"/>
              <a:gd name="connsiteY8" fmla="*/ 1206501 h 4789266"/>
              <a:gd name="connsiteX9" fmla="*/ 4823818 w 4823819"/>
              <a:gd name="connsiteY9" fmla="*/ 1206501 h 4789266"/>
              <a:gd name="connsiteX10" fmla="*/ 3860469 w 4823819"/>
              <a:gd name="connsiteY10" fmla="*/ 2388490 h 4789266"/>
              <a:gd name="connsiteX11" fmla="*/ 3820220 w 4823819"/>
              <a:gd name="connsiteY11" fmla="*/ 2394633 h 4789266"/>
              <a:gd name="connsiteX12" fmla="*/ 3860470 w 4823819"/>
              <a:gd name="connsiteY12" fmla="*/ 2400776 h 4789266"/>
              <a:gd name="connsiteX13" fmla="*/ 4823819 w 4823819"/>
              <a:gd name="connsiteY13" fmla="*/ 3582765 h 4789266"/>
              <a:gd name="connsiteX14" fmla="*/ 4823818 w 4823819"/>
              <a:gd name="connsiteY14" fmla="*/ 3582765 h 4789266"/>
              <a:gd name="connsiteX15" fmla="*/ 3617317 w 4823819"/>
              <a:gd name="connsiteY15" fmla="*/ 4789266 h 4789266"/>
              <a:gd name="connsiteX16" fmla="*/ 1206501 w 4823819"/>
              <a:gd name="connsiteY16" fmla="*/ 4789265 h 4789266"/>
              <a:gd name="connsiteX17" fmla="*/ 6229 w 4823819"/>
              <a:gd name="connsiteY17" fmla="*/ 3706122 h 4789266"/>
              <a:gd name="connsiteX18" fmla="*/ 0 w 4823819"/>
              <a:gd name="connsiteY18" fmla="*/ 3582765 h 4789266"/>
              <a:gd name="connsiteX19" fmla="*/ 6229 w 4823819"/>
              <a:gd name="connsiteY19" fmla="*/ 3459408 h 4789266"/>
              <a:gd name="connsiteX20" fmla="*/ 963349 w 4823819"/>
              <a:gd name="connsiteY20" fmla="*/ 2400776 h 4789266"/>
              <a:gd name="connsiteX21" fmla="*/ 1003602 w 4823819"/>
              <a:gd name="connsiteY21" fmla="*/ 2394633 h 4789266"/>
              <a:gd name="connsiteX22" fmla="*/ 963349 w 4823819"/>
              <a:gd name="connsiteY22" fmla="*/ 2388489 h 4789266"/>
              <a:gd name="connsiteX23" fmla="*/ 6229 w 4823819"/>
              <a:gd name="connsiteY23" fmla="*/ 1329858 h 4789266"/>
              <a:gd name="connsiteX24" fmla="*/ 0 w 4823819"/>
              <a:gd name="connsiteY24" fmla="*/ 1206500 h 4789266"/>
              <a:gd name="connsiteX25" fmla="*/ 6229 w 4823819"/>
              <a:gd name="connsiteY25" fmla="*/ 1083143 h 4789266"/>
              <a:gd name="connsiteX26" fmla="*/ 1206501 w 4823819"/>
              <a:gd name="connsiteY26" fmla="*/ 0 h 478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23819" h="4789266">
                <a:moveTo>
                  <a:pt x="0" y="3582764"/>
                </a:moveTo>
                <a:lnTo>
                  <a:pt x="0" y="3582765"/>
                </a:lnTo>
                <a:lnTo>
                  <a:pt x="0" y="3582765"/>
                </a:lnTo>
                <a:close/>
                <a:moveTo>
                  <a:pt x="0" y="1206500"/>
                </a:moveTo>
                <a:lnTo>
                  <a:pt x="0" y="1206500"/>
                </a:lnTo>
                <a:lnTo>
                  <a:pt x="0" y="1206501"/>
                </a:lnTo>
                <a:close/>
                <a:moveTo>
                  <a:pt x="1206501" y="0"/>
                </a:moveTo>
                <a:lnTo>
                  <a:pt x="3617318" y="0"/>
                </a:lnTo>
                <a:cubicBezTo>
                  <a:pt x="4283650" y="0"/>
                  <a:pt x="4823819" y="540169"/>
                  <a:pt x="4823819" y="1206501"/>
                </a:cubicBezTo>
                <a:lnTo>
                  <a:pt x="4823818" y="1206501"/>
                </a:lnTo>
                <a:cubicBezTo>
                  <a:pt x="4823818" y="1789541"/>
                  <a:pt x="4410251" y="2275988"/>
                  <a:pt x="3860469" y="2388490"/>
                </a:cubicBezTo>
                <a:lnTo>
                  <a:pt x="3820220" y="2394633"/>
                </a:lnTo>
                <a:lnTo>
                  <a:pt x="3860470" y="2400776"/>
                </a:lnTo>
                <a:cubicBezTo>
                  <a:pt x="4410252" y="2513278"/>
                  <a:pt x="4823819" y="2999725"/>
                  <a:pt x="4823819" y="3582765"/>
                </a:cubicBezTo>
                <a:lnTo>
                  <a:pt x="4823818" y="3582765"/>
                </a:lnTo>
                <a:cubicBezTo>
                  <a:pt x="4823818" y="4249097"/>
                  <a:pt x="4283649" y="4789266"/>
                  <a:pt x="3617317" y="4789266"/>
                </a:cubicBezTo>
                <a:lnTo>
                  <a:pt x="1206501" y="4789265"/>
                </a:lnTo>
                <a:cubicBezTo>
                  <a:pt x="581815" y="4789265"/>
                  <a:pt x="68014" y="4314507"/>
                  <a:pt x="6229" y="3706122"/>
                </a:cubicBezTo>
                <a:lnTo>
                  <a:pt x="0" y="3582765"/>
                </a:lnTo>
                <a:lnTo>
                  <a:pt x="6229" y="3459408"/>
                </a:lnTo>
                <a:cubicBezTo>
                  <a:pt x="59776" y="2932140"/>
                  <a:pt x="452837" y="2505242"/>
                  <a:pt x="963349" y="2400776"/>
                </a:cubicBezTo>
                <a:lnTo>
                  <a:pt x="1003602" y="2394633"/>
                </a:lnTo>
                <a:lnTo>
                  <a:pt x="963349" y="2388489"/>
                </a:lnTo>
                <a:cubicBezTo>
                  <a:pt x="452837" y="2284023"/>
                  <a:pt x="59776" y="1857125"/>
                  <a:pt x="6229" y="1329858"/>
                </a:cubicBezTo>
                <a:lnTo>
                  <a:pt x="0" y="1206500"/>
                </a:lnTo>
                <a:lnTo>
                  <a:pt x="6229" y="1083143"/>
                </a:lnTo>
                <a:cubicBezTo>
                  <a:pt x="68014" y="474758"/>
                  <a:pt x="581815" y="0"/>
                  <a:pt x="1206501" y="0"/>
                </a:cubicBezTo>
                <a:close/>
              </a:path>
            </a:pathLst>
          </a:custGeom>
          <a:solidFill>
            <a:schemeClr val="accent2"/>
          </a:solidFill>
        </p:spPr>
        <p:txBody>
          <a:bodyPr wrap="square" anchor="ctr">
            <a:noAutofit/>
          </a:bodyPr>
          <a:lstStyle>
            <a:lvl1pPr marL="0" indent="0" algn="ctr">
              <a:buNone/>
              <a:defRPr sz="2400">
                <a:solidFill>
                  <a:schemeClr val="accent1"/>
                </a:solidFill>
              </a:defRPr>
            </a:lvl1pPr>
          </a:lstStyle>
          <a:p>
            <a:endParaRPr lang="en-US"/>
          </a:p>
          <a:p>
            <a:r>
              <a:rPr lang="en-US"/>
              <a:t>Click icon to insert picture</a:t>
            </a:r>
          </a:p>
        </p:txBody>
      </p:sp>
      <p:sp>
        <p:nvSpPr>
          <p:cNvPr id="6" name="Picture Placeholder 7">
            <a:extLst>
              <a:ext uri="{FF2B5EF4-FFF2-40B4-BE49-F238E27FC236}">
                <a16:creationId xmlns:a16="http://schemas.microsoft.com/office/drawing/2014/main" id="{BF1CCEA6-C1AE-3353-BB17-66E6E8B78B2C}"/>
              </a:ext>
            </a:extLst>
          </p:cNvPr>
          <p:cNvSpPr>
            <a:spLocks noGrp="1"/>
          </p:cNvSpPr>
          <p:nvPr>
            <p:ph type="pic" sz="quarter" idx="24" hasCustomPrompt="1"/>
          </p:nvPr>
        </p:nvSpPr>
        <p:spPr>
          <a:xfrm>
            <a:off x="3506183" y="1296991"/>
            <a:ext cx="2172481" cy="2376489"/>
          </a:xfrm>
          <a:custGeom>
            <a:avLst/>
            <a:gdLst>
              <a:gd name="connsiteX0" fmla="*/ 2118800 w 4400525"/>
              <a:gd name="connsiteY0" fmla="*/ 0 h 4281874"/>
              <a:gd name="connsiteX1" fmla="*/ 2281725 w 4400525"/>
              <a:gd name="connsiteY1" fmla="*/ 0 h 4281874"/>
              <a:gd name="connsiteX2" fmla="*/ 4400525 w 4400525"/>
              <a:gd name="connsiteY2" fmla="*/ 2118800 h 4281874"/>
              <a:gd name="connsiteX3" fmla="*/ 4400525 w 4400525"/>
              <a:gd name="connsiteY3" fmla="*/ 4281874 h 4281874"/>
              <a:gd name="connsiteX4" fmla="*/ 4400525 w 4400525"/>
              <a:gd name="connsiteY4" fmla="*/ 4281874 h 4281874"/>
              <a:gd name="connsiteX5" fmla="*/ 0 w 4400525"/>
              <a:gd name="connsiteY5" fmla="*/ 4281874 h 4281874"/>
              <a:gd name="connsiteX6" fmla="*/ 0 w 4400525"/>
              <a:gd name="connsiteY6" fmla="*/ 4281874 h 4281874"/>
              <a:gd name="connsiteX7" fmla="*/ 0 w 4400525"/>
              <a:gd name="connsiteY7" fmla="*/ 2118800 h 4281874"/>
              <a:gd name="connsiteX8" fmla="*/ 2118800 w 4400525"/>
              <a:gd name="connsiteY8" fmla="*/ 0 h 4281874"/>
              <a:gd name="connsiteX0" fmla="*/ 2118800 w 4428234"/>
              <a:gd name="connsiteY0" fmla="*/ 0 h 4461983"/>
              <a:gd name="connsiteX1" fmla="*/ 2281725 w 4428234"/>
              <a:gd name="connsiteY1" fmla="*/ 0 h 4461983"/>
              <a:gd name="connsiteX2" fmla="*/ 4400525 w 4428234"/>
              <a:gd name="connsiteY2" fmla="*/ 2118800 h 4461983"/>
              <a:gd name="connsiteX3" fmla="*/ 4400525 w 4428234"/>
              <a:gd name="connsiteY3" fmla="*/ 4281874 h 4461983"/>
              <a:gd name="connsiteX4" fmla="*/ 4428234 w 4428234"/>
              <a:gd name="connsiteY4" fmla="*/ 4461983 h 4461983"/>
              <a:gd name="connsiteX5" fmla="*/ 0 w 4428234"/>
              <a:gd name="connsiteY5" fmla="*/ 4281874 h 4461983"/>
              <a:gd name="connsiteX6" fmla="*/ 0 w 4428234"/>
              <a:gd name="connsiteY6" fmla="*/ 4281874 h 4461983"/>
              <a:gd name="connsiteX7" fmla="*/ 0 w 4428234"/>
              <a:gd name="connsiteY7" fmla="*/ 2118800 h 4461983"/>
              <a:gd name="connsiteX8" fmla="*/ 2118800 w 4428234"/>
              <a:gd name="connsiteY8" fmla="*/ 0 h 4461983"/>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7709 w 4455943"/>
              <a:gd name="connsiteY5" fmla="*/ 4281874 h 4489692"/>
              <a:gd name="connsiteX6" fmla="*/ 0 w 4455943"/>
              <a:gd name="connsiteY6" fmla="*/ 4489692 h 4489692"/>
              <a:gd name="connsiteX7" fmla="*/ 27709 w 4455943"/>
              <a:gd name="connsiteY7" fmla="*/ 2118800 h 4489692"/>
              <a:gd name="connsiteX8" fmla="*/ 2146509 w 4455943"/>
              <a:gd name="connsiteY8" fmla="*/ 0 h 4489692"/>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036619 w 4455943"/>
              <a:gd name="connsiteY5" fmla="*/ 4475837 h 4489692"/>
              <a:gd name="connsiteX6" fmla="*/ 0 w 4455943"/>
              <a:gd name="connsiteY6" fmla="*/ 4489692 h 4489692"/>
              <a:gd name="connsiteX7" fmla="*/ 27709 w 4455943"/>
              <a:gd name="connsiteY7" fmla="*/ 2118800 h 4489692"/>
              <a:gd name="connsiteX8" fmla="*/ 2146509 w 4455943"/>
              <a:gd name="connsiteY8" fmla="*/ 0 h 4489692"/>
              <a:gd name="connsiteX0" fmla="*/ 2118800 w 4428234"/>
              <a:gd name="connsiteY0" fmla="*/ 0 h 4475942"/>
              <a:gd name="connsiteX1" fmla="*/ 2281725 w 4428234"/>
              <a:gd name="connsiteY1" fmla="*/ 0 h 4475942"/>
              <a:gd name="connsiteX2" fmla="*/ 4400525 w 4428234"/>
              <a:gd name="connsiteY2" fmla="*/ 2118800 h 4475942"/>
              <a:gd name="connsiteX3" fmla="*/ 4400525 w 4428234"/>
              <a:gd name="connsiteY3" fmla="*/ 4281874 h 4475942"/>
              <a:gd name="connsiteX4" fmla="*/ 4428234 w 4428234"/>
              <a:gd name="connsiteY4" fmla="*/ 4461983 h 4475942"/>
              <a:gd name="connsiteX5" fmla="*/ 2008910 w 4428234"/>
              <a:gd name="connsiteY5" fmla="*/ 4475837 h 4475942"/>
              <a:gd name="connsiteX6" fmla="*/ 6667 w 4428234"/>
              <a:gd name="connsiteY6" fmla="*/ 4475942 h 4475942"/>
              <a:gd name="connsiteX7" fmla="*/ 0 w 4428234"/>
              <a:gd name="connsiteY7" fmla="*/ 2118800 h 4475942"/>
              <a:gd name="connsiteX8" fmla="*/ 2118800 w 4428234"/>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036349 w 4400525"/>
              <a:gd name="connsiteY4" fmla="*/ 4365731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393859 w 4400525"/>
              <a:gd name="connsiteY4" fmla="*/ 4468859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817051"/>
              <a:gd name="connsiteX1" fmla="*/ 2281725 w 4400525"/>
              <a:gd name="connsiteY1" fmla="*/ 0 h 4817051"/>
              <a:gd name="connsiteX2" fmla="*/ 4400525 w 4400525"/>
              <a:gd name="connsiteY2" fmla="*/ 2118800 h 4817051"/>
              <a:gd name="connsiteX3" fmla="*/ 4400525 w 4400525"/>
              <a:gd name="connsiteY3" fmla="*/ 4281874 h 4817051"/>
              <a:gd name="connsiteX4" fmla="*/ 4393859 w 4400525"/>
              <a:gd name="connsiteY4" fmla="*/ 4468859 h 4817051"/>
              <a:gd name="connsiteX5" fmla="*/ 2008910 w 4400525"/>
              <a:gd name="connsiteY5" fmla="*/ 4475837 h 4817051"/>
              <a:gd name="connsiteX6" fmla="*/ 6667 w 4400525"/>
              <a:gd name="connsiteY6" fmla="*/ 4817051 h 4817051"/>
              <a:gd name="connsiteX7" fmla="*/ 0 w 4400525"/>
              <a:gd name="connsiteY7" fmla="*/ 2118800 h 4817051"/>
              <a:gd name="connsiteX8" fmla="*/ 2118800 w 4400525"/>
              <a:gd name="connsiteY8" fmla="*/ 0 h 4817051"/>
              <a:gd name="connsiteX0" fmla="*/ 2118800 w 4400525"/>
              <a:gd name="connsiteY0" fmla="*/ 0 h 4824204"/>
              <a:gd name="connsiteX1" fmla="*/ 2281725 w 4400525"/>
              <a:gd name="connsiteY1" fmla="*/ 0 h 4824204"/>
              <a:gd name="connsiteX2" fmla="*/ 4400525 w 4400525"/>
              <a:gd name="connsiteY2" fmla="*/ 2118800 h 4824204"/>
              <a:gd name="connsiteX3" fmla="*/ 4400525 w 4400525"/>
              <a:gd name="connsiteY3" fmla="*/ 4281874 h 4824204"/>
              <a:gd name="connsiteX4" fmla="*/ 4393859 w 4400525"/>
              <a:gd name="connsiteY4" fmla="*/ 4468859 h 4824204"/>
              <a:gd name="connsiteX5" fmla="*/ 2023425 w 4400525"/>
              <a:gd name="connsiteY5" fmla="*/ 4824204 h 4824204"/>
              <a:gd name="connsiteX6" fmla="*/ 6667 w 4400525"/>
              <a:gd name="connsiteY6" fmla="*/ 4817051 h 4824204"/>
              <a:gd name="connsiteX7" fmla="*/ 0 w 4400525"/>
              <a:gd name="connsiteY7" fmla="*/ 2118800 h 4824204"/>
              <a:gd name="connsiteX8" fmla="*/ 2118800 w 4400525"/>
              <a:gd name="connsiteY8" fmla="*/ 0 h 4824204"/>
              <a:gd name="connsiteX0" fmla="*/ 2118800 w 4415633"/>
              <a:gd name="connsiteY0" fmla="*/ 0 h 4824484"/>
              <a:gd name="connsiteX1" fmla="*/ 2281725 w 4415633"/>
              <a:gd name="connsiteY1" fmla="*/ 0 h 4824484"/>
              <a:gd name="connsiteX2" fmla="*/ 4400525 w 4415633"/>
              <a:gd name="connsiteY2" fmla="*/ 2118800 h 4824484"/>
              <a:gd name="connsiteX3" fmla="*/ 4400525 w 4415633"/>
              <a:gd name="connsiteY3" fmla="*/ 4281874 h 4824484"/>
              <a:gd name="connsiteX4" fmla="*/ 4415633 w 4415633"/>
              <a:gd name="connsiteY4" fmla="*/ 4824484 h 4824484"/>
              <a:gd name="connsiteX5" fmla="*/ 2023425 w 4415633"/>
              <a:gd name="connsiteY5" fmla="*/ 4824204 h 4824484"/>
              <a:gd name="connsiteX6" fmla="*/ 6667 w 4415633"/>
              <a:gd name="connsiteY6" fmla="*/ 4817051 h 4824484"/>
              <a:gd name="connsiteX7" fmla="*/ 0 w 4415633"/>
              <a:gd name="connsiteY7" fmla="*/ 2118800 h 4824484"/>
              <a:gd name="connsiteX8" fmla="*/ 2118800 w 4415633"/>
              <a:gd name="connsiteY8" fmla="*/ 0 h 4824484"/>
              <a:gd name="connsiteX0" fmla="*/ 2119972 w 4416805"/>
              <a:gd name="connsiteY0" fmla="*/ 0 h 4831567"/>
              <a:gd name="connsiteX1" fmla="*/ 2282897 w 4416805"/>
              <a:gd name="connsiteY1" fmla="*/ 0 h 4831567"/>
              <a:gd name="connsiteX2" fmla="*/ 4401697 w 4416805"/>
              <a:gd name="connsiteY2" fmla="*/ 2118800 h 4831567"/>
              <a:gd name="connsiteX3" fmla="*/ 4401697 w 4416805"/>
              <a:gd name="connsiteY3" fmla="*/ 4281874 h 4831567"/>
              <a:gd name="connsiteX4" fmla="*/ 4416805 w 4416805"/>
              <a:gd name="connsiteY4" fmla="*/ 4824484 h 4831567"/>
              <a:gd name="connsiteX5" fmla="*/ 2024597 w 4416805"/>
              <a:gd name="connsiteY5" fmla="*/ 4824204 h 4831567"/>
              <a:gd name="connsiteX6" fmla="*/ 580 w 4416805"/>
              <a:gd name="connsiteY6" fmla="*/ 4831567 h 4831567"/>
              <a:gd name="connsiteX7" fmla="*/ 1172 w 4416805"/>
              <a:gd name="connsiteY7" fmla="*/ 2118800 h 4831567"/>
              <a:gd name="connsiteX8" fmla="*/ 2119972 w 4416805"/>
              <a:gd name="connsiteY8" fmla="*/ 0 h 4831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6805" h="4831567">
                <a:moveTo>
                  <a:pt x="2119972" y="0"/>
                </a:moveTo>
                <a:lnTo>
                  <a:pt x="2282897" y="0"/>
                </a:lnTo>
                <a:cubicBezTo>
                  <a:pt x="3453078" y="0"/>
                  <a:pt x="4401697" y="948619"/>
                  <a:pt x="4401697" y="2118800"/>
                </a:cubicBezTo>
                <a:lnTo>
                  <a:pt x="4401697" y="4281874"/>
                </a:lnTo>
                <a:lnTo>
                  <a:pt x="4416805" y="4824484"/>
                </a:lnTo>
                <a:lnTo>
                  <a:pt x="2024597" y="4824204"/>
                </a:lnTo>
                <a:lnTo>
                  <a:pt x="580" y="4831567"/>
                </a:lnTo>
                <a:cubicBezTo>
                  <a:pt x="-1642" y="4045853"/>
                  <a:pt x="3394" y="2904514"/>
                  <a:pt x="1172" y="2118800"/>
                </a:cubicBezTo>
                <a:cubicBezTo>
                  <a:pt x="1172" y="948619"/>
                  <a:pt x="949791" y="0"/>
                  <a:pt x="2119972" y="0"/>
                </a:cubicBezTo>
                <a:close/>
              </a:path>
            </a:pathLst>
          </a:custGeom>
          <a:solidFill>
            <a:schemeClr val="accent2"/>
          </a:solidFill>
        </p:spPr>
        <p:txBody>
          <a:bodyPr anchor="ctr"/>
          <a:lstStyle>
            <a:lvl1pPr marL="0" indent="0" algn="ctr">
              <a:buNone/>
              <a:defRPr sz="2400">
                <a:solidFill>
                  <a:schemeClr val="accent1"/>
                </a:solidFill>
              </a:defRPr>
            </a:lvl1pPr>
          </a:lstStyle>
          <a:p>
            <a:r>
              <a:rPr lang="en-US"/>
              <a:t>Click to insert picture</a:t>
            </a:r>
          </a:p>
        </p:txBody>
      </p:sp>
      <p:sp>
        <p:nvSpPr>
          <p:cNvPr id="9" name="Picture Placeholder 6">
            <a:extLst>
              <a:ext uri="{FF2B5EF4-FFF2-40B4-BE49-F238E27FC236}">
                <a16:creationId xmlns:a16="http://schemas.microsoft.com/office/drawing/2014/main" id="{975B395F-81AA-8A8F-A89B-DECFDDA30CB8}"/>
              </a:ext>
            </a:extLst>
          </p:cNvPr>
          <p:cNvSpPr>
            <a:spLocks noGrp="1"/>
          </p:cNvSpPr>
          <p:nvPr>
            <p:ph type="pic" sz="quarter" idx="15" hasCustomPrompt="1"/>
          </p:nvPr>
        </p:nvSpPr>
        <p:spPr>
          <a:xfrm flipH="1">
            <a:off x="6278111" y="1321069"/>
            <a:ext cx="2449524" cy="2352411"/>
          </a:xfrm>
          <a:prstGeom prst="teardrop">
            <a:avLst/>
          </a:prstGeom>
          <a:solidFill>
            <a:schemeClr val="accent2"/>
          </a:solidFill>
        </p:spPr>
        <p:txBody>
          <a:bodyPr anchor="ctr"/>
          <a:lstStyle>
            <a:lvl1pPr marL="0" indent="0" algn="ctr">
              <a:buFontTx/>
              <a:buNone/>
              <a:defRPr sz="2400">
                <a:solidFill>
                  <a:schemeClr val="accent1"/>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Click icon to insert picture</a:t>
            </a:r>
          </a:p>
          <a:p>
            <a:endParaRPr lang="en-US"/>
          </a:p>
        </p:txBody>
      </p:sp>
      <p:sp>
        <p:nvSpPr>
          <p:cNvPr id="10" name="Freeform 14">
            <a:extLst>
              <a:ext uri="{FF2B5EF4-FFF2-40B4-BE49-F238E27FC236}">
                <a16:creationId xmlns:a16="http://schemas.microsoft.com/office/drawing/2014/main" id="{E3E23F56-B9D2-8D1F-E6D4-415C9FBD7465}"/>
              </a:ext>
            </a:extLst>
          </p:cNvPr>
          <p:cNvSpPr>
            <a:spLocks noGrp="1"/>
          </p:cNvSpPr>
          <p:nvPr>
            <p:ph type="pic" sz="quarter" idx="28"/>
          </p:nvPr>
        </p:nvSpPr>
        <p:spPr>
          <a:xfrm>
            <a:off x="9327082" y="1314616"/>
            <a:ext cx="2351869" cy="2363064"/>
          </a:xfrm>
          <a:custGeom>
            <a:avLst/>
            <a:gdLst>
              <a:gd name="connsiteX0" fmla="*/ 2383200 w 4766400"/>
              <a:gd name="connsiteY0" fmla="*/ 0 h 4834792"/>
              <a:gd name="connsiteX1" fmla="*/ 4763395 w 4766400"/>
              <a:gd name="connsiteY1" fmla="*/ 2409958 h 4834792"/>
              <a:gd name="connsiteX2" fmla="*/ 4766400 w 4766400"/>
              <a:gd name="connsiteY2" fmla="*/ 2409958 h 4834792"/>
              <a:gd name="connsiteX3" fmla="*/ 4766400 w 4766400"/>
              <a:gd name="connsiteY3" fmla="*/ 2413001 h 4834792"/>
              <a:gd name="connsiteX4" fmla="*/ 4766400 w 4766400"/>
              <a:gd name="connsiteY4" fmla="*/ 4834792 h 4834792"/>
              <a:gd name="connsiteX5" fmla="*/ 0 w 4766400"/>
              <a:gd name="connsiteY5" fmla="*/ 4834792 h 4834792"/>
              <a:gd name="connsiteX6" fmla="*/ 0 w 4766400"/>
              <a:gd name="connsiteY6" fmla="*/ 2413001 h 4834792"/>
              <a:gd name="connsiteX7" fmla="*/ 0 w 4766400"/>
              <a:gd name="connsiteY7" fmla="*/ 2409958 h 4834792"/>
              <a:gd name="connsiteX8" fmla="*/ 3005 w 4766400"/>
              <a:gd name="connsiteY8" fmla="*/ 2409958 h 4834792"/>
              <a:gd name="connsiteX0" fmla="*/ 2383200 w 4766400"/>
              <a:gd name="connsiteY0" fmla="*/ 0 h 4834792"/>
              <a:gd name="connsiteX1" fmla="*/ 4763395 w 4766400"/>
              <a:gd name="connsiteY1" fmla="*/ 2409958 h 4834792"/>
              <a:gd name="connsiteX2" fmla="*/ 4766400 w 4766400"/>
              <a:gd name="connsiteY2" fmla="*/ 2409958 h 4834792"/>
              <a:gd name="connsiteX3" fmla="*/ 4766400 w 4766400"/>
              <a:gd name="connsiteY3" fmla="*/ 2413001 h 4834792"/>
              <a:gd name="connsiteX4" fmla="*/ 4766400 w 4766400"/>
              <a:gd name="connsiteY4" fmla="*/ 4834792 h 4834792"/>
              <a:gd name="connsiteX5" fmla="*/ 0 w 4766400"/>
              <a:gd name="connsiteY5" fmla="*/ 4413004 h 4834792"/>
              <a:gd name="connsiteX6" fmla="*/ 0 w 4766400"/>
              <a:gd name="connsiteY6" fmla="*/ 2413001 h 4834792"/>
              <a:gd name="connsiteX7" fmla="*/ 0 w 4766400"/>
              <a:gd name="connsiteY7" fmla="*/ 2409958 h 4834792"/>
              <a:gd name="connsiteX8" fmla="*/ 3005 w 4766400"/>
              <a:gd name="connsiteY8" fmla="*/ 2409958 h 4834792"/>
              <a:gd name="connsiteX9" fmla="*/ 2383200 w 4766400"/>
              <a:gd name="connsiteY9" fmla="*/ 0 h 4834792"/>
              <a:gd name="connsiteX0" fmla="*/ 2383200 w 4774091"/>
              <a:gd name="connsiteY0" fmla="*/ 0 h 4434439"/>
              <a:gd name="connsiteX1" fmla="*/ 4763395 w 4774091"/>
              <a:gd name="connsiteY1" fmla="*/ 2409958 h 4434439"/>
              <a:gd name="connsiteX2" fmla="*/ 4766400 w 4774091"/>
              <a:gd name="connsiteY2" fmla="*/ 2409958 h 4434439"/>
              <a:gd name="connsiteX3" fmla="*/ 4766400 w 4774091"/>
              <a:gd name="connsiteY3" fmla="*/ 2413001 h 4434439"/>
              <a:gd name="connsiteX4" fmla="*/ 4774091 w 4774091"/>
              <a:gd name="connsiteY4" fmla="*/ 4434439 h 4434439"/>
              <a:gd name="connsiteX5" fmla="*/ 0 w 4774091"/>
              <a:gd name="connsiteY5" fmla="*/ 4413004 h 4434439"/>
              <a:gd name="connsiteX6" fmla="*/ 0 w 4774091"/>
              <a:gd name="connsiteY6" fmla="*/ 2413001 h 4434439"/>
              <a:gd name="connsiteX7" fmla="*/ 0 w 4774091"/>
              <a:gd name="connsiteY7" fmla="*/ 2409958 h 4434439"/>
              <a:gd name="connsiteX8" fmla="*/ 3005 w 4774091"/>
              <a:gd name="connsiteY8" fmla="*/ 2409958 h 4434439"/>
              <a:gd name="connsiteX9" fmla="*/ 2383200 w 4774091"/>
              <a:gd name="connsiteY9" fmla="*/ 0 h 4434439"/>
              <a:gd name="connsiteX0" fmla="*/ 2383200 w 4774091"/>
              <a:gd name="connsiteY0" fmla="*/ 0 h 4434439"/>
              <a:gd name="connsiteX1" fmla="*/ 4763395 w 4774091"/>
              <a:gd name="connsiteY1" fmla="*/ 2409958 h 4434439"/>
              <a:gd name="connsiteX2" fmla="*/ 4766400 w 4774091"/>
              <a:gd name="connsiteY2" fmla="*/ 2409958 h 4434439"/>
              <a:gd name="connsiteX3" fmla="*/ 4766400 w 4774091"/>
              <a:gd name="connsiteY3" fmla="*/ 2413001 h 4434439"/>
              <a:gd name="connsiteX4" fmla="*/ 4774091 w 4774091"/>
              <a:gd name="connsiteY4" fmla="*/ 4434439 h 4434439"/>
              <a:gd name="connsiteX5" fmla="*/ 0 w 4774091"/>
              <a:gd name="connsiteY5" fmla="*/ 4427052 h 4434439"/>
              <a:gd name="connsiteX6" fmla="*/ 0 w 4774091"/>
              <a:gd name="connsiteY6" fmla="*/ 2413001 h 4434439"/>
              <a:gd name="connsiteX7" fmla="*/ 0 w 4774091"/>
              <a:gd name="connsiteY7" fmla="*/ 2409958 h 4434439"/>
              <a:gd name="connsiteX8" fmla="*/ 3005 w 4774091"/>
              <a:gd name="connsiteY8" fmla="*/ 2409958 h 4434439"/>
              <a:gd name="connsiteX9" fmla="*/ 2383200 w 4774091"/>
              <a:gd name="connsiteY9" fmla="*/ 0 h 4434439"/>
              <a:gd name="connsiteX0" fmla="*/ 2383200 w 4774091"/>
              <a:gd name="connsiteY0" fmla="*/ 0 h 4780653"/>
              <a:gd name="connsiteX1" fmla="*/ 4763395 w 4774091"/>
              <a:gd name="connsiteY1" fmla="*/ 2409958 h 4780653"/>
              <a:gd name="connsiteX2" fmla="*/ 4766400 w 4774091"/>
              <a:gd name="connsiteY2" fmla="*/ 2409958 h 4780653"/>
              <a:gd name="connsiteX3" fmla="*/ 4766400 w 4774091"/>
              <a:gd name="connsiteY3" fmla="*/ 2413001 h 4780653"/>
              <a:gd name="connsiteX4" fmla="*/ 4774091 w 4774091"/>
              <a:gd name="connsiteY4" fmla="*/ 4780653 h 4780653"/>
              <a:gd name="connsiteX5" fmla="*/ 0 w 4774091"/>
              <a:gd name="connsiteY5" fmla="*/ 4427052 h 4780653"/>
              <a:gd name="connsiteX6" fmla="*/ 0 w 4774091"/>
              <a:gd name="connsiteY6" fmla="*/ 2413001 h 4780653"/>
              <a:gd name="connsiteX7" fmla="*/ 0 w 4774091"/>
              <a:gd name="connsiteY7" fmla="*/ 2409958 h 4780653"/>
              <a:gd name="connsiteX8" fmla="*/ 3005 w 4774091"/>
              <a:gd name="connsiteY8" fmla="*/ 2409958 h 4780653"/>
              <a:gd name="connsiteX9" fmla="*/ 2383200 w 4774091"/>
              <a:gd name="connsiteY9" fmla="*/ 0 h 4780653"/>
              <a:gd name="connsiteX0" fmla="*/ 2383200 w 4774091"/>
              <a:gd name="connsiteY0" fmla="*/ 0 h 4781922"/>
              <a:gd name="connsiteX1" fmla="*/ 4763395 w 4774091"/>
              <a:gd name="connsiteY1" fmla="*/ 2409958 h 4781922"/>
              <a:gd name="connsiteX2" fmla="*/ 4766400 w 4774091"/>
              <a:gd name="connsiteY2" fmla="*/ 2409958 h 4781922"/>
              <a:gd name="connsiteX3" fmla="*/ 4766400 w 4774091"/>
              <a:gd name="connsiteY3" fmla="*/ 2413001 h 4781922"/>
              <a:gd name="connsiteX4" fmla="*/ 4774091 w 4774091"/>
              <a:gd name="connsiteY4" fmla="*/ 4780653 h 4781922"/>
              <a:gd name="connsiteX5" fmla="*/ 0 w 4774091"/>
              <a:gd name="connsiteY5" fmla="*/ 4781922 h 4781922"/>
              <a:gd name="connsiteX6" fmla="*/ 0 w 4774091"/>
              <a:gd name="connsiteY6" fmla="*/ 2413001 h 4781922"/>
              <a:gd name="connsiteX7" fmla="*/ 0 w 4774091"/>
              <a:gd name="connsiteY7" fmla="*/ 2409958 h 4781922"/>
              <a:gd name="connsiteX8" fmla="*/ 3005 w 4774091"/>
              <a:gd name="connsiteY8" fmla="*/ 2409958 h 4781922"/>
              <a:gd name="connsiteX9" fmla="*/ 2383200 w 4774091"/>
              <a:gd name="connsiteY9" fmla="*/ 0 h 4781922"/>
              <a:gd name="connsiteX0" fmla="*/ 2383200 w 4774091"/>
              <a:gd name="connsiteY0" fmla="*/ 0 h 4780652"/>
              <a:gd name="connsiteX1" fmla="*/ 4763395 w 4774091"/>
              <a:gd name="connsiteY1" fmla="*/ 2409958 h 4780652"/>
              <a:gd name="connsiteX2" fmla="*/ 4766400 w 4774091"/>
              <a:gd name="connsiteY2" fmla="*/ 2409958 h 4780652"/>
              <a:gd name="connsiteX3" fmla="*/ 4766400 w 4774091"/>
              <a:gd name="connsiteY3" fmla="*/ 2413001 h 4780652"/>
              <a:gd name="connsiteX4" fmla="*/ 4774091 w 4774091"/>
              <a:gd name="connsiteY4" fmla="*/ 4780653 h 4780652"/>
              <a:gd name="connsiteX5" fmla="*/ 0 w 4774091"/>
              <a:gd name="connsiteY5" fmla="*/ 4373429 h 4780652"/>
              <a:gd name="connsiteX6" fmla="*/ 0 w 4774091"/>
              <a:gd name="connsiteY6" fmla="*/ 2413001 h 4780652"/>
              <a:gd name="connsiteX7" fmla="*/ 0 w 4774091"/>
              <a:gd name="connsiteY7" fmla="*/ 2409958 h 4780652"/>
              <a:gd name="connsiteX8" fmla="*/ 3005 w 4774091"/>
              <a:gd name="connsiteY8" fmla="*/ 2409958 h 4780652"/>
              <a:gd name="connsiteX9" fmla="*/ 2383200 w 4774091"/>
              <a:gd name="connsiteY9" fmla="*/ 0 h 4780652"/>
              <a:gd name="connsiteX0" fmla="*/ 2383200 w 4766558"/>
              <a:gd name="connsiteY0" fmla="*/ 0 h 4373429"/>
              <a:gd name="connsiteX1" fmla="*/ 4763395 w 4766558"/>
              <a:gd name="connsiteY1" fmla="*/ 2409958 h 4373429"/>
              <a:gd name="connsiteX2" fmla="*/ 4766400 w 4766558"/>
              <a:gd name="connsiteY2" fmla="*/ 2409958 h 4373429"/>
              <a:gd name="connsiteX3" fmla="*/ 4766400 w 4766558"/>
              <a:gd name="connsiteY3" fmla="*/ 2413001 h 4373429"/>
              <a:gd name="connsiteX4" fmla="*/ 4742140 w 4766558"/>
              <a:gd name="connsiteY4" fmla="*/ 4372163 h 4373429"/>
              <a:gd name="connsiteX5" fmla="*/ 0 w 4766558"/>
              <a:gd name="connsiteY5" fmla="*/ 4373429 h 4373429"/>
              <a:gd name="connsiteX6" fmla="*/ 0 w 4766558"/>
              <a:gd name="connsiteY6" fmla="*/ 2413001 h 4373429"/>
              <a:gd name="connsiteX7" fmla="*/ 0 w 4766558"/>
              <a:gd name="connsiteY7" fmla="*/ 2409958 h 4373429"/>
              <a:gd name="connsiteX8" fmla="*/ 3005 w 4766558"/>
              <a:gd name="connsiteY8" fmla="*/ 2409958 h 4373429"/>
              <a:gd name="connsiteX9" fmla="*/ 2383200 w 4766558"/>
              <a:gd name="connsiteY9" fmla="*/ 0 h 4373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66558" h="4373429">
                <a:moveTo>
                  <a:pt x="2383200" y="0"/>
                </a:moveTo>
                <a:lnTo>
                  <a:pt x="4763395" y="2409958"/>
                </a:lnTo>
                <a:lnTo>
                  <a:pt x="4766400" y="2409958"/>
                </a:lnTo>
                <a:lnTo>
                  <a:pt x="4766400" y="2413001"/>
                </a:lnTo>
                <a:cubicBezTo>
                  <a:pt x="4768964" y="3086814"/>
                  <a:pt x="4739576" y="3698350"/>
                  <a:pt x="4742140" y="4372163"/>
                </a:cubicBezTo>
                <a:lnTo>
                  <a:pt x="0" y="4373429"/>
                </a:lnTo>
                <a:lnTo>
                  <a:pt x="0" y="2413001"/>
                </a:lnTo>
                <a:lnTo>
                  <a:pt x="0" y="2409958"/>
                </a:lnTo>
                <a:lnTo>
                  <a:pt x="3005" y="2409958"/>
                </a:lnTo>
                <a:lnTo>
                  <a:pt x="2383200" y="0"/>
                </a:lnTo>
                <a:close/>
              </a:path>
            </a:pathLst>
          </a:custGeom>
          <a:solidFill>
            <a:schemeClr val="accent2"/>
          </a:solidFill>
        </p:spPr>
        <p:txBody>
          <a:bodyPr wrap="square" anchor="ctr">
            <a:noAutofit/>
          </a:bodyPr>
          <a:lstStyle>
            <a:lvl1pPr marL="0" indent="0" algn="ctr">
              <a:buNone/>
              <a:defRPr sz="2400">
                <a:solidFill>
                  <a:schemeClr val="accent1"/>
                </a:solidFill>
              </a:defRPr>
            </a:lvl1pPr>
          </a:lstStyle>
          <a:p>
            <a:endParaRPr lang="en-US"/>
          </a:p>
          <a:p>
            <a:endParaRPr lang="en-US"/>
          </a:p>
          <a:p>
            <a:r>
              <a:rPr lang="en-US"/>
              <a:t>Click to insert picture</a:t>
            </a:r>
          </a:p>
        </p:txBody>
      </p:sp>
      <p:sp>
        <p:nvSpPr>
          <p:cNvPr id="11" name="Tijdelijke aanduiding voor tekst 6">
            <a:extLst>
              <a:ext uri="{FF2B5EF4-FFF2-40B4-BE49-F238E27FC236}">
                <a16:creationId xmlns:a16="http://schemas.microsoft.com/office/drawing/2014/main" id="{2489BBEB-D49F-CB77-E864-DA84284662C8}"/>
              </a:ext>
            </a:extLst>
          </p:cNvPr>
          <p:cNvSpPr>
            <a:spLocks noGrp="1"/>
          </p:cNvSpPr>
          <p:nvPr>
            <p:ph type="body" sz="quarter" idx="29" hasCustomPrompt="1"/>
          </p:nvPr>
        </p:nvSpPr>
        <p:spPr>
          <a:xfrm>
            <a:off x="505346" y="3989702"/>
            <a:ext cx="2355352" cy="911346"/>
          </a:xfrm>
          <a:prstGeom prst="rect">
            <a:avLst/>
          </a:prstGeom>
        </p:spPr>
        <p:txBody>
          <a:bodyPr/>
          <a:lstStyle>
            <a:lvl1pPr marL="0" indent="0" algn="ctr">
              <a:lnSpc>
                <a:spcPct val="100000"/>
              </a:lnSpc>
              <a:spcBef>
                <a:spcPts val="0"/>
              </a:spcBef>
              <a:buNone/>
              <a:defRPr sz="2200"/>
            </a:lvl1pPr>
          </a:lstStyle>
          <a:p>
            <a:r>
              <a:rPr lang="fr-FR" err="1"/>
              <a:t>Title</a:t>
            </a:r>
            <a:endParaRPr lang="fr-FR"/>
          </a:p>
          <a:p>
            <a:r>
              <a:rPr lang="fr-FR"/>
              <a:t>2 </a:t>
            </a:r>
            <a:r>
              <a:rPr lang="fr-FR" err="1"/>
              <a:t>lines</a:t>
            </a:r>
            <a:endParaRPr lang="fr-FR"/>
          </a:p>
        </p:txBody>
      </p:sp>
      <p:sp>
        <p:nvSpPr>
          <p:cNvPr id="23" name="Text Placeholder 5">
            <a:extLst>
              <a:ext uri="{FF2B5EF4-FFF2-40B4-BE49-F238E27FC236}">
                <a16:creationId xmlns:a16="http://schemas.microsoft.com/office/drawing/2014/main" id="{82DF2DE9-7FA0-4846-BC28-A3B49557843F}"/>
              </a:ext>
            </a:extLst>
          </p:cNvPr>
          <p:cNvSpPr>
            <a:spLocks noGrp="1"/>
          </p:cNvSpPr>
          <p:nvPr>
            <p:ph type="body" sz="quarter" idx="33" hasCustomPrompt="1"/>
          </p:nvPr>
        </p:nvSpPr>
        <p:spPr>
          <a:xfrm>
            <a:off x="505347" y="4901413"/>
            <a:ext cx="2355352" cy="1047867"/>
          </a:xfrm>
          <a:prstGeom prst="rect">
            <a:avLst/>
          </a:prstGeom>
        </p:spPr>
        <p:txBody>
          <a:bodyPr/>
          <a:lstStyle>
            <a:lvl1pPr marL="0" indent="0" algn="ctr">
              <a:lnSpc>
                <a:spcPct val="110000"/>
              </a:lnSpc>
              <a:buNone/>
              <a:defRPr sz="1200">
                <a:solidFill>
                  <a:schemeClr val="bg1">
                    <a:lumMod val="25000"/>
                  </a:schemeClr>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25" name="Text Placeholder 5">
            <a:extLst>
              <a:ext uri="{FF2B5EF4-FFF2-40B4-BE49-F238E27FC236}">
                <a16:creationId xmlns:a16="http://schemas.microsoft.com/office/drawing/2014/main" id="{3B864A5A-1A64-45E0-81E8-A37AC003484B}"/>
              </a:ext>
            </a:extLst>
          </p:cNvPr>
          <p:cNvSpPr>
            <a:spLocks noGrp="1"/>
          </p:cNvSpPr>
          <p:nvPr>
            <p:ph type="body" sz="quarter" idx="35" hasCustomPrompt="1"/>
          </p:nvPr>
        </p:nvSpPr>
        <p:spPr>
          <a:xfrm>
            <a:off x="6324145" y="4901413"/>
            <a:ext cx="2355352" cy="1047867"/>
          </a:xfrm>
          <a:prstGeom prst="rect">
            <a:avLst/>
          </a:prstGeom>
        </p:spPr>
        <p:txBody>
          <a:bodyPr/>
          <a:lstStyle>
            <a:lvl1pPr marL="0" indent="0" algn="ctr">
              <a:lnSpc>
                <a:spcPct val="110000"/>
              </a:lnSpc>
              <a:buNone/>
              <a:defRPr sz="1200">
                <a:solidFill>
                  <a:schemeClr val="bg1">
                    <a:lumMod val="25000"/>
                  </a:schemeClr>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26" name="Text Placeholder 5">
            <a:extLst>
              <a:ext uri="{FF2B5EF4-FFF2-40B4-BE49-F238E27FC236}">
                <a16:creationId xmlns:a16="http://schemas.microsoft.com/office/drawing/2014/main" id="{E5AB2838-AFE7-47E0-9C49-E47F28B51DB5}"/>
              </a:ext>
            </a:extLst>
          </p:cNvPr>
          <p:cNvSpPr>
            <a:spLocks noGrp="1"/>
          </p:cNvSpPr>
          <p:nvPr>
            <p:ph type="body" sz="quarter" idx="36" hasCustomPrompt="1"/>
          </p:nvPr>
        </p:nvSpPr>
        <p:spPr>
          <a:xfrm>
            <a:off x="9348218" y="4901413"/>
            <a:ext cx="2355352" cy="1047867"/>
          </a:xfrm>
          <a:prstGeom prst="rect">
            <a:avLst/>
          </a:prstGeom>
        </p:spPr>
        <p:txBody>
          <a:bodyPr/>
          <a:lstStyle>
            <a:lvl1pPr marL="0" indent="0" algn="ctr">
              <a:lnSpc>
                <a:spcPct val="110000"/>
              </a:lnSpc>
              <a:buNone/>
              <a:defRPr sz="1200">
                <a:solidFill>
                  <a:schemeClr val="bg1">
                    <a:lumMod val="25000"/>
                  </a:schemeClr>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27" name="Tijdelijke aanduiding voor tekst 6">
            <a:extLst>
              <a:ext uri="{FF2B5EF4-FFF2-40B4-BE49-F238E27FC236}">
                <a16:creationId xmlns:a16="http://schemas.microsoft.com/office/drawing/2014/main" id="{F2DA8560-3073-4CAE-8F27-582EC73FA93E}"/>
              </a:ext>
            </a:extLst>
          </p:cNvPr>
          <p:cNvSpPr>
            <a:spLocks noGrp="1"/>
          </p:cNvSpPr>
          <p:nvPr>
            <p:ph type="body" sz="quarter" idx="37" hasCustomPrompt="1"/>
          </p:nvPr>
        </p:nvSpPr>
        <p:spPr>
          <a:xfrm>
            <a:off x="3414745" y="3989702"/>
            <a:ext cx="2355352" cy="911346"/>
          </a:xfrm>
          <a:prstGeom prst="rect">
            <a:avLst/>
          </a:prstGeom>
        </p:spPr>
        <p:txBody>
          <a:bodyPr/>
          <a:lstStyle>
            <a:lvl1pPr marL="0" indent="0" algn="ctr">
              <a:lnSpc>
                <a:spcPct val="100000"/>
              </a:lnSpc>
              <a:spcBef>
                <a:spcPts val="0"/>
              </a:spcBef>
              <a:buNone/>
              <a:defRPr sz="2200"/>
            </a:lvl1pPr>
          </a:lstStyle>
          <a:p>
            <a:r>
              <a:rPr lang="fr-FR" err="1"/>
              <a:t>Title</a:t>
            </a:r>
            <a:endParaRPr lang="fr-FR"/>
          </a:p>
          <a:p>
            <a:r>
              <a:rPr lang="fr-FR"/>
              <a:t>2 </a:t>
            </a:r>
            <a:r>
              <a:rPr lang="fr-FR" err="1"/>
              <a:t>lines</a:t>
            </a:r>
            <a:endParaRPr lang="fr-FR"/>
          </a:p>
        </p:txBody>
      </p:sp>
      <p:sp>
        <p:nvSpPr>
          <p:cNvPr id="28" name="Tijdelijke aanduiding voor tekst 6">
            <a:extLst>
              <a:ext uri="{FF2B5EF4-FFF2-40B4-BE49-F238E27FC236}">
                <a16:creationId xmlns:a16="http://schemas.microsoft.com/office/drawing/2014/main" id="{6122F964-51A8-4122-B4C8-3F5BCA7188EB}"/>
              </a:ext>
            </a:extLst>
          </p:cNvPr>
          <p:cNvSpPr>
            <a:spLocks noGrp="1"/>
          </p:cNvSpPr>
          <p:nvPr>
            <p:ph type="body" sz="quarter" idx="38" hasCustomPrompt="1"/>
          </p:nvPr>
        </p:nvSpPr>
        <p:spPr>
          <a:xfrm>
            <a:off x="6324143" y="3989702"/>
            <a:ext cx="2355352" cy="911346"/>
          </a:xfrm>
          <a:prstGeom prst="rect">
            <a:avLst/>
          </a:prstGeom>
        </p:spPr>
        <p:txBody>
          <a:bodyPr/>
          <a:lstStyle>
            <a:lvl1pPr marL="0" indent="0" algn="ctr">
              <a:lnSpc>
                <a:spcPct val="100000"/>
              </a:lnSpc>
              <a:spcBef>
                <a:spcPts val="0"/>
              </a:spcBef>
              <a:buNone/>
              <a:defRPr sz="2200"/>
            </a:lvl1pPr>
          </a:lstStyle>
          <a:p>
            <a:r>
              <a:rPr lang="fr-FR" err="1"/>
              <a:t>Title</a:t>
            </a:r>
            <a:endParaRPr lang="fr-FR"/>
          </a:p>
          <a:p>
            <a:r>
              <a:rPr lang="fr-FR"/>
              <a:t>2 </a:t>
            </a:r>
            <a:r>
              <a:rPr lang="fr-FR" err="1"/>
              <a:t>lines</a:t>
            </a:r>
            <a:endParaRPr lang="fr-FR"/>
          </a:p>
        </p:txBody>
      </p:sp>
      <p:sp>
        <p:nvSpPr>
          <p:cNvPr id="29" name="Tijdelijke aanduiding voor tekst 6">
            <a:extLst>
              <a:ext uri="{FF2B5EF4-FFF2-40B4-BE49-F238E27FC236}">
                <a16:creationId xmlns:a16="http://schemas.microsoft.com/office/drawing/2014/main" id="{B52E7F0E-6B3A-455D-840E-E28EADEA74C9}"/>
              </a:ext>
            </a:extLst>
          </p:cNvPr>
          <p:cNvSpPr>
            <a:spLocks noGrp="1"/>
          </p:cNvSpPr>
          <p:nvPr>
            <p:ph type="body" sz="quarter" idx="39" hasCustomPrompt="1"/>
          </p:nvPr>
        </p:nvSpPr>
        <p:spPr>
          <a:xfrm>
            <a:off x="9348218" y="3989702"/>
            <a:ext cx="2355352" cy="911346"/>
          </a:xfrm>
          <a:prstGeom prst="rect">
            <a:avLst/>
          </a:prstGeom>
        </p:spPr>
        <p:txBody>
          <a:bodyPr/>
          <a:lstStyle>
            <a:lvl1pPr marL="0" indent="0" algn="ctr">
              <a:lnSpc>
                <a:spcPct val="100000"/>
              </a:lnSpc>
              <a:spcBef>
                <a:spcPts val="0"/>
              </a:spcBef>
              <a:buNone/>
              <a:defRPr sz="2200"/>
            </a:lvl1pPr>
          </a:lstStyle>
          <a:p>
            <a:r>
              <a:rPr lang="fr-FR" err="1"/>
              <a:t>Title</a:t>
            </a:r>
            <a:endParaRPr lang="fr-FR"/>
          </a:p>
          <a:p>
            <a:r>
              <a:rPr lang="fr-FR"/>
              <a:t>2 </a:t>
            </a:r>
            <a:r>
              <a:rPr lang="fr-FR" err="1"/>
              <a:t>lines</a:t>
            </a:r>
            <a:endParaRPr lang="fr-FR"/>
          </a:p>
        </p:txBody>
      </p:sp>
      <p:sp>
        <p:nvSpPr>
          <p:cNvPr id="22" name="Slide Number Placeholder 4">
            <a:extLst>
              <a:ext uri="{FF2B5EF4-FFF2-40B4-BE49-F238E27FC236}">
                <a16:creationId xmlns:a16="http://schemas.microsoft.com/office/drawing/2014/main" id="{E54B16E5-1A64-496D-B740-6952BDF78CEA}"/>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30" name="Date Placeholder 2">
            <a:extLst>
              <a:ext uri="{FF2B5EF4-FFF2-40B4-BE49-F238E27FC236}">
                <a16:creationId xmlns:a16="http://schemas.microsoft.com/office/drawing/2014/main" id="{8200B906-A002-4556-B28C-F7C4771575F1}"/>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89D9F3E2-0BE2-4EC8-AA45-56CBB588878B}" type="datetime1">
              <a:rPr lang="fr-FR" smtClean="0"/>
              <a:t>27/11/2025</a:t>
            </a:fld>
            <a:endParaRPr lang="en-US"/>
          </a:p>
        </p:txBody>
      </p:sp>
      <p:sp>
        <p:nvSpPr>
          <p:cNvPr id="21" name="Titel 14">
            <a:extLst>
              <a:ext uri="{FF2B5EF4-FFF2-40B4-BE49-F238E27FC236}">
                <a16:creationId xmlns:a16="http://schemas.microsoft.com/office/drawing/2014/main" id="{3ED6B0DD-865B-4275-B592-254AF6D8370A}"/>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31" name="Straight Connector 30">
            <a:extLst>
              <a:ext uri="{FF2B5EF4-FFF2-40B4-BE49-F238E27FC236}">
                <a16:creationId xmlns:a16="http://schemas.microsoft.com/office/drawing/2014/main" id="{1986817A-1C14-4846-B877-299704A36E25}"/>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4" name="Graphic 33">
            <a:extLst>
              <a:ext uri="{FF2B5EF4-FFF2-40B4-BE49-F238E27FC236}">
                <a16:creationId xmlns:a16="http://schemas.microsoft.com/office/drawing/2014/main" id="{B3800C09-6006-46B9-91A5-BB08BB1D813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sp>
        <p:nvSpPr>
          <p:cNvPr id="3" name="Text Placeholder 5">
            <a:extLst>
              <a:ext uri="{FF2B5EF4-FFF2-40B4-BE49-F238E27FC236}">
                <a16:creationId xmlns:a16="http://schemas.microsoft.com/office/drawing/2014/main" id="{3B3FDB51-C73B-EC39-9E46-19437AE73997}"/>
              </a:ext>
            </a:extLst>
          </p:cNvPr>
          <p:cNvSpPr>
            <a:spLocks noGrp="1"/>
          </p:cNvSpPr>
          <p:nvPr>
            <p:ph type="body" sz="quarter" idx="40" hasCustomPrompt="1"/>
          </p:nvPr>
        </p:nvSpPr>
        <p:spPr>
          <a:xfrm>
            <a:off x="3410601" y="4901413"/>
            <a:ext cx="2355352" cy="1047867"/>
          </a:xfrm>
          <a:prstGeom prst="rect">
            <a:avLst/>
          </a:prstGeom>
        </p:spPr>
        <p:txBody>
          <a:bodyPr/>
          <a:lstStyle>
            <a:lvl1pPr marL="0" indent="0" algn="ctr">
              <a:lnSpc>
                <a:spcPct val="110000"/>
              </a:lnSpc>
              <a:buNone/>
              <a:defRPr sz="1200">
                <a:solidFill>
                  <a:schemeClr val="bg1">
                    <a:lumMod val="25000"/>
                  </a:schemeClr>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Tree>
    <p:extLst>
      <p:ext uri="{BB962C8B-B14F-4D97-AF65-F5344CB8AC3E}">
        <p14:creationId xmlns:p14="http://schemas.microsoft.com/office/powerpoint/2010/main" val="20880862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image_2">
    <p:bg>
      <p:bgPr>
        <a:solidFill>
          <a:schemeClr val="bg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8DCF7D2-4F23-424F-92B9-0799788239EE}"/>
              </a:ext>
            </a:extLst>
          </p:cNvPr>
          <p:cNvSpPr>
            <a:spLocks noGrp="1"/>
          </p:cNvSpPr>
          <p:nvPr>
            <p:ph type="pic" sz="quarter" idx="28"/>
          </p:nvPr>
        </p:nvSpPr>
        <p:spPr>
          <a:xfrm>
            <a:off x="1055440" y="3429000"/>
            <a:ext cx="4694085" cy="2635250"/>
          </a:xfrm>
          <a:prstGeom prst="rect">
            <a:avLst/>
          </a:prstGeom>
        </p:spPr>
        <p:txBody>
          <a:bodyPr/>
          <a:lstStyle/>
          <a:p>
            <a:endParaRPr lang="fr-FR"/>
          </a:p>
        </p:txBody>
      </p:sp>
      <p:sp>
        <p:nvSpPr>
          <p:cNvPr id="18" name="Slide Number Placeholder 4">
            <a:extLst>
              <a:ext uri="{FF2B5EF4-FFF2-40B4-BE49-F238E27FC236}">
                <a16:creationId xmlns:a16="http://schemas.microsoft.com/office/drawing/2014/main" id="{BA498B05-B75D-4B2E-B4A5-EBF77FC79C0B}"/>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19" name="Date Placeholder 2">
            <a:extLst>
              <a:ext uri="{FF2B5EF4-FFF2-40B4-BE49-F238E27FC236}">
                <a16:creationId xmlns:a16="http://schemas.microsoft.com/office/drawing/2014/main" id="{F46BD4B8-6A97-4778-9973-0685DBFD90FF}"/>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A876773C-B8C8-4BDD-A0EC-AFEC2C570C0C}" type="datetime1">
              <a:rPr lang="fr-FR" smtClean="0"/>
              <a:t>27/11/2025</a:t>
            </a:fld>
            <a:endParaRPr lang="en-US"/>
          </a:p>
        </p:txBody>
      </p:sp>
      <p:sp>
        <p:nvSpPr>
          <p:cNvPr id="17" name="Espace réservé du contenu 6">
            <a:extLst>
              <a:ext uri="{FF2B5EF4-FFF2-40B4-BE49-F238E27FC236}">
                <a16:creationId xmlns:a16="http://schemas.microsoft.com/office/drawing/2014/main" id="{5D9A119C-B8D1-4E76-993A-32B54EF3ACB6}"/>
              </a:ext>
            </a:extLst>
          </p:cNvPr>
          <p:cNvSpPr>
            <a:spLocks noGrp="1"/>
          </p:cNvSpPr>
          <p:nvPr>
            <p:ph sz="quarter" idx="13" hasCustomPrompt="1"/>
          </p:nvPr>
        </p:nvSpPr>
        <p:spPr>
          <a:xfrm>
            <a:off x="336757" y="1124753"/>
            <a:ext cx="10945813" cy="1656175"/>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21" name="Titel 14">
            <a:extLst>
              <a:ext uri="{FF2B5EF4-FFF2-40B4-BE49-F238E27FC236}">
                <a16:creationId xmlns:a16="http://schemas.microsoft.com/office/drawing/2014/main" id="{8AFB9332-8838-4EC6-B229-86F1FACAD975}"/>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4" name="Straight Connector 23">
            <a:extLst>
              <a:ext uri="{FF2B5EF4-FFF2-40B4-BE49-F238E27FC236}">
                <a16:creationId xmlns:a16="http://schemas.microsoft.com/office/drawing/2014/main" id="{021A7227-4B09-46BA-B4E5-64D219698F60}"/>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05BF748D-5192-4E43-A4D6-5AD0C52B409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
        <p:nvSpPr>
          <p:cNvPr id="26" name="Picture Placeholder 3">
            <a:extLst>
              <a:ext uri="{FF2B5EF4-FFF2-40B4-BE49-F238E27FC236}">
                <a16:creationId xmlns:a16="http://schemas.microsoft.com/office/drawing/2014/main" id="{0AA0C730-792E-4090-AFCF-318FD5521A4F}"/>
              </a:ext>
            </a:extLst>
          </p:cNvPr>
          <p:cNvSpPr>
            <a:spLocks noGrp="1"/>
          </p:cNvSpPr>
          <p:nvPr>
            <p:ph type="pic" sz="quarter" idx="29"/>
          </p:nvPr>
        </p:nvSpPr>
        <p:spPr>
          <a:xfrm>
            <a:off x="6331006" y="3429000"/>
            <a:ext cx="4694085" cy="2635250"/>
          </a:xfrm>
          <a:prstGeom prst="rect">
            <a:avLst/>
          </a:prstGeom>
        </p:spPr>
        <p:txBody>
          <a:bodyPr/>
          <a:lstStyle/>
          <a:p>
            <a:endParaRPr lang="fr-FR"/>
          </a:p>
        </p:txBody>
      </p:sp>
      <p:sp>
        <p:nvSpPr>
          <p:cNvPr id="27" name="Espace réservé du contenu 6">
            <a:extLst>
              <a:ext uri="{FF2B5EF4-FFF2-40B4-BE49-F238E27FC236}">
                <a16:creationId xmlns:a16="http://schemas.microsoft.com/office/drawing/2014/main" id="{70FE0B4F-A2B7-49E0-B86D-B4C6A1BB50AA}"/>
              </a:ext>
            </a:extLst>
          </p:cNvPr>
          <p:cNvSpPr>
            <a:spLocks noGrp="1"/>
          </p:cNvSpPr>
          <p:nvPr>
            <p:ph sz="quarter" idx="30" hasCustomPrompt="1"/>
          </p:nvPr>
        </p:nvSpPr>
        <p:spPr>
          <a:xfrm>
            <a:off x="1055792" y="2933329"/>
            <a:ext cx="4705573" cy="495672"/>
          </a:xfrm>
          <a:prstGeom prst="rect">
            <a:avLst/>
          </a:prstGeom>
        </p:spPr>
        <p:txBody>
          <a:bodyPr anchor="ctr" anchorCtr="0"/>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lgn="ctr">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2"/>
            <a:r>
              <a:rPr lang="fr-FR"/>
              <a:t>Paragraphe </a:t>
            </a:r>
            <a:r>
              <a:rPr lang="fr-FR" err="1"/>
              <a:t>title</a:t>
            </a:r>
            <a:endParaRPr lang="fr-FR"/>
          </a:p>
        </p:txBody>
      </p:sp>
      <p:sp>
        <p:nvSpPr>
          <p:cNvPr id="28" name="Espace réservé du contenu 6">
            <a:extLst>
              <a:ext uri="{FF2B5EF4-FFF2-40B4-BE49-F238E27FC236}">
                <a16:creationId xmlns:a16="http://schemas.microsoft.com/office/drawing/2014/main" id="{CAD352CB-8133-4D0B-8718-CC141C42630D}"/>
              </a:ext>
            </a:extLst>
          </p:cNvPr>
          <p:cNvSpPr>
            <a:spLocks noGrp="1"/>
          </p:cNvSpPr>
          <p:nvPr>
            <p:ph sz="quarter" idx="31" hasCustomPrompt="1"/>
          </p:nvPr>
        </p:nvSpPr>
        <p:spPr>
          <a:xfrm>
            <a:off x="6334485" y="2933329"/>
            <a:ext cx="4705573" cy="495672"/>
          </a:xfrm>
          <a:prstGeom prst="rect">
            <a:avLst/>
          </a:prstGeom>
        </p:spPr>
        <p:txBody>
          <a:bodyPr anchor="ctr" anchorCtr="0"/>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lgn="ctr">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2"/>
            <a:r>
              <a:rPr lang="fr-FR"/>
              <a:t>Paragraphe </a:t>
            </a:r>
            <a:r>
              <a:rPr lang="fr-FR" err="1"/>
              <a:t>title</a:t>
            </a:r>
            <a:endParaRPr lang="fr-FR"/>
          </a:p>
        </p:txBody>
      </p:sp>
    </p:spTree>
    <p:extLst>
      <p:ext uri="{BB962C8B-B14F-4D97-AF65-F5344CB8AC3E}">
        <p14:creationId xmlns:p14="http://schemas.microsoft.com/office/powerpoint/2010/main" val="12559852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image_3">
    <p:bg>
      <p:bgPr>
        <a:solidFill>
          <a:schemeClr val="bg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C92A863-6E12-4B31-9B26-F78F050A70E0}"/>
              </a:ext>
            </a:extLst>
          </p:cNvPr>
          <p:cNvSpPr>
            <a:spLocks noGrp="1"/>
          </p:cNvSpPr>
          <p:nvPr>
            <p:ph type="pic" sz="quarter" idx="28"/>
          </p:nvPr>
        </p:nvSpPr>
        <p:spPr>
          <a:xfrm>
            <a:off x="5951538" y="1487959"/>
            <a:ext cx="5897562" cy="4605337"/>
          </a:xfrm>
          <a:prstGeom prst="rect">
            <a:avLst/>
          </a:prstGeom>
          <a:noFill/>
        </p:spPr>
        <p:txBody>
          <a:bodyPr/>
          <a:lstStyle/>
          <a:p>
            <a:endParaRPr lang="fr-FR"/>
          </a:p>
        </p:txBody>
      </p:sp>
      <p:sp>
        <p:nvSpPr>
          <p:cNvPr id="18" name="Slide Number Placeholder 4">
            <a:extLst>
              <a:ext uri="{FF2B5EF4-FFF2-40B4-BE49-F238E27FC236}">
                <a16:creationId xmlns:a16="http://schemas.microsoft.com/office/drawing/2014/main" id="{DCA4171D-B01D-4D53-AC85-2F924913E274}"/>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21" name="Date Placeholder 2">
            <a:extLst>
              <a:ext uri="{FF2B5EF4-FFF2-40B4-BE49-F238E27FC236}">
                <a16:creationId xmlns:a16="http://schemas.microsoft.com/office/drawing/2014/main" id="{326CD297-0FF1-4A58-80D7-6A4247229274}"/>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B54900FE-C60D-44DF-883A-862BF735F8A8}" type="datetime1">
              <a:rPr lang="fr-FR" smtClean="0"/>
              <a:t>27/11/2025</a:t>
            </a:fld>
            <a:endParaRPr lang="en-US"/>
          </a:p>
        </p:txBody>
      </p:sp>
      <p:sp>
        <p:nvSpPr>
          <p:cNvPr id="17" name="Espace réservé du contenu 6">
            <a:extLst>
              <a:ext uri="{FF2B5EF4-FFF2-40B4-BE49-F238E27FC236}">
                <a16:creationId xmlns:a16="http://schemas.microsoft.com/office/drawing/2014/main" id="{C6C79413-CC9B-4112-9E2F-C24FF98FE205}"/>
              </a:ext>
            </a:extLst>
          </p:cNvPr>
          <p:cNvSpPr>
            <a:spLocks noGrp="1"/>
          </p:cNvSpPr>
          <p:nvPr>
            <p:ph sz="quarter" idx="13" hasCustomPrompt="1"/>
          </p:nvPr>
        </p:nvSpPr>
        <p:spPr>
          <a:xfrm>
            <a:off x="336757" y="1341438"/>
            <a:ext cx="5255187" cy="4871632"/>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9" name="Titel 14">
            <a:extLst>
              <a:ext uri="{FF2B5EF4-FFF2-40B4-BE49-F238E27FC236}">
                <a16:creationId xmlns:a16="http://schemas.microsoft.com/office/drawing/2014/main" id="{679B49E5-DEF5-495F-B9C5-5B62CAF22597}"/>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3" name="Straight Connector 22">
            <a:extLst>
              <a:ext uri="{FF2B5EF4-FFF2-40B4-BE49-F238E27FC236}">
                <a16:creationId xmlns:a16="http://schemas.microsoft.com/office/drawing/2014/main" id="{20CFFBAE-0733-4AB7-989B-0C9C7B8F4361}"/>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2FA4752E-D1DB-4496-9098-C1E981C16235}"/>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24643505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image_4">
    <p:bg>
      <p:bgPr>
        <a:solidFill>
          <a:schemeClr val="bg1"/>
        </a:solidFill>
        <a:effectLst/>
      </p:bgPr>
    </p:bg>
    <p:spTree>
      <p:nvGrpSpPr>
        <p:cNvPr id="1" name=""/>
        <p:cNvGrpSpPr/>
        <p:nvPr/>
      </p:nvGrpSpPr>
      <p:grpSpPr>
        <a:xfrm>
          <a:off x="0" y="0"/>
          <a:ext cx="0" cy="0"/>
          <a:chOff x="0" y="0"/>
          <a:chExt cx="0" cy="0"/>
        </a:xfrm>
      </p:grpSpPr>
      <p:sp>
        <p:nvSpPr>
          <p:cNvPr id="36" name="Picture Placeholder 7">
            <a:extLst>
              <a:ext uri="{FF2B5EF4-FFF2-40B4-BE49-F238E27FC236}">
                <a16:creationId xmlns:a16="http://schemas.microsoft.com/office/drawing/2014/main" id="{A378793C-D842-472D-ABCC-91FE563C6CE4}"/>
              </a:ext>
            </a:extLst>
          </p:cNvPr>
          <p:cNvSpPr>
            <a:spLocks noGrp="1"/>
          </p:cNvSpPr>
          <p:nvPr>
            <p:ph type="pic" sz="quarter" idx="24" hasCustomPrompt="1"/>
          </p:nvPr>
        </p:nvSpPr>
        <p:spPr>
          <a:xfrm>
            <a:off x="7600423" y="1351278"/>
            <a:ext cx="4248472" cy="4647427"/>
          </a:xfrm>
          <a:custGeom>
            <a:avLst/>
            <a:gdLst>
              <a:gd name="connsiteX0" fmla="*/ 2118800 w 4400525"/>
              <a:gd name="connsiteY0" fmla="*/ 0 h 4281874"/>
              <a:gd name="connsiteX1" fmla="*/ 2281725 w 4400525"/>
              <a:gd name="connsiteY1" fmla="*/ 0 h 4281874"/>
              <a:gd name="connsiteX2" fmla="*/ 4400525 w 4400525"/>
              <a:gd name="connsiteY2" fmla="*/ 2118800 h 4281874"/>
              <a:gd name="connsiteX3" fmla="*/ 4400525 w 4400525"/>
              <a:gd name="connsiteY3" fmla="*/ 4281874 h 4281874"/>
              <a:gd name="connsiteX4" fmla="*/ 4400525 w 4400525"/>
              <a:gd name="connsiteY4" fmla="*/ 4281874 h 4281874"/>
              <a:gd name="connsiteX5" fmla="*/ 0 w 4400525"/>
              <a:gd name="connsiteY5" fmla="*/ 4281874 h 4281874"/>
              <a:gd name="connsiteX6" fmla="*/ 0 w 4400525"/>
              <a:gd name="connsiteY6" fmla="*/ 4281874 h 4281874"/>
              <a:gd name="connsiteX7" fmla="*/ 0 w 4400525"/>
              <a:gd name="connsiteY7" fmla="*/ 2118800 h 4281874"/>
              <a:gd name="connsiteX8" fmla="*/ 2118800 w 4400525"/>
              <a:gd name="connsiteY8" fmla="*/ 0 h 4281874"/>
              <a:gd name="connsiteX0" fmla="*/ 2118800 w 4428234"/>
              <a:gd name="connsiteY0" fmla="*/ 0 h 4461983"/>
              <a:gd name="connsiteX1" fmla="*/ 2281725 w 4428234"/>
              <a:gd name="connsiteY1" fmla="*/ 0 h 4461983"/>
              <a:gd name="connsiteX2" fmla="*/ 4400525 w 4428234"/>
              <a:gd name="connsiteY2" fmla="*/ 2118800 h 4461983"/>
              <a:gd name="connsiteX3" fmla="*/ 4400525 w 4428234"/>
              <a:gd name="connsiteY3" fmla="*/ 4281874 h 4461983"/>
              <a:gd name="connsiteX4" fmla="*/ 4428234 w 4428234"/>
              <a:gd name="connsiteY4" fmla="*/ 4461983 h 4461983"/>
              <a:gd name="connsiteX5" fmla="*/ 0 w 4428234"/>
              <a:gd name="connsiteY5" fmla="*/ 4281874 h 4461983"/>
              <a:gd name="connsiteX6" fmla="*/ 0 w 4428234"/>
              <a:gd name="connsiteY6" fmla="*/ 4281874 h 4461983"/>
              <a:gd name="connsiteX7" fmla="*/ 0 w 4428234"/>
              <a:gd name="connsiteY7" fmla="*/ 2118800 h 4461983"/>
              <a:gd name="connsiteX8" fmla="*/ 2118800 w 4428234"/>
              <a:gd name="connsiteY8" fmla="*/ 0 h 4461983"/>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7709 w 4455943"/>
              <a:gd name="connsiteY5" fmla="*/ 4281874 h 4489692"/>
              <a:gd name="connsiteX6" fmla="*/ 0 w 4455943"/>
              <a:gd name="connsiteY6" fmla="*/ 4489692 h 4489692"/>
              <a:gd name="connsiteX7" fmla="*/ 27709 w 4455943"/>
              <a:gd name="connsiteY7" fmla="*/ 2118800 h 4489692"/>
              <a:gd name="connsiteX8" fmla="*/ 2146509 w 4455943"/>
              <a:gd name="connsiteY8" fmla="*/ 0 h 4489692"/>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036619 w 4455943"/>
              <a:gd name="connsiteY5" fmla="*/ 4475837 h 4489692"/>
              <a:gd name="connsiteX6" fmla="*/ 0 w 4455943"/>
              <a:gd name="connsiteY6" fmla="*/ 4489692 h 4489692"/>
              <a:gd name="connsiteX7" fmla="*/ 27709 w 4455943"/>
              <a:gd name="connsiteY7" fmla="*/ 2118800 h 4489692"/>
              <a:gd name="connsiteX8" fmla="*/ 2146509 w 4455943"/>
              <a:gd name="connsiteY8" fmla="*/ 0 h 4489692"/>
              <a:gd name="connsiteX0" fmla="*/ 2118800 w 4428234"/>
              <a:gd name="connsiteY0" fmla="*/ 0 h 4475942"/>
              <a:gd name="connsiteX1" fmla="*/ 2281725 w 4428234"/>
              <a:gd name="connsiteY1" fmla="*/ 0 h 4475942"/>
              <a:gd name="connsiteX2" fmla="*/ 4400525 w 4428234"/>
              <a:gd name="connsiteY2" fmla="*/ 2118800 h 4475942"/>
              <a:gd name="connsiteX3" fmla="*/ 4400525 w 4428234"/>
              <a:gd name="connsiteY3" fmla="*/ 4281874 h 4475942"/>
              <a:gd name="connsiteX4" fmla="*/ 4428234 w 4428234"/>
              <a:gd name="connsiteY4" fmla="*/ 4461983 h 4475942"/>
              <a:gd name="connsiteX5" fmla="*/ 2008910 w 4428234"/>
              <a:gd name="connsiteY5" fmla="*/ 4475837 h 4475942"/>
              <a:gd name="connsiteX6" fmla="*/ 6667 w 4428234"/>
              <a:gd name="connsiteY6" fmla="*/ 4475942 h 4475942"/>
              <a:gd name="connsiteX7" fmla="*/ 0 w 4428234"/>
              <a:gd name="connsiteY7" fmla="*/ 2118800 h 4475942"/>
              <a:gd name="connsiteX8" fmla="*/ 2118800 w 4428234"/>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036349 w 4400525"/>
              <a:gd name="connsiteY4" fmla="*/ 4365731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393859 w 4400525"/>
              <a:gd name="connsiteY4" fmla="*/ 4468859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817051"/>
              <a:gd name="connsiteX1" fmla="*/ 2281725 w 4400525"/>
              <a:gd name="connsiteY1" fmla="*/ 0 h 4817051"/>
              <a:gd name="connsiteX2" fmla="*/ 4400525 w 4400525"/>
              <a:gd name="connsiteY2" fmla="*/ 2118800 h 4817051"/>
              <a:gd name="connsiteX3" fmla="*/ 4400525 w 4400525"/>
              <a:gd name="connsiteY3" fmla="*/ 4281874 h 4817051"/>
              <a:gd name="connsiteX4" fmla="*/ 4393859 w 4400525"/>
              <a:gd name="connsiteY4" fmla="*/ 4468859 h 4817051"/>
              <a:gd name="connsiteX5" fmla="*/ 2008910 w 4400525"/>
              <a:gd name="connsiteY5" fmla="*/ 4475837 h 4817051"/>
              <a:gd name="connsiteX6" fmla="*/ 6667 w 4400525"/>
              <a:gd name="connsiteY6" fmla="*/ 4817051 h 4817051"/>
              <a:gd name="connsiteX7" fmla="*/ 0 w 4400525"/>
              <a:gd name="connsiteY7" fmla="*/ 2118800 h 4817051"/>
              <a:gd name="connsiteX8" fmla="*/ 2118800 w 4400525"/>
              <a:gd name="connsiteY8" fmla="*/ 0 h 4817051"/>
              <a:gd name="connsiteX0" fmla="*/ 2118800 w 4400525"/>
              <a:gd name="connsiteY0" fmla="*/ 0 h 4824204"/>
              <a:gd name="connsiteX1" fmla="*/ 2281725 w 4400525"/>
              <a:gd name="connsiteY1" fmla="*/ 0 h 4824204"/>
              <a:gd name="connsiteX2" fmla="*/ 4400525 w 4400525"/>
              <a:gd name="connsiteY2" fmla="*/ 2118800 h 4824204"/>
              <a:gd name="connsiteX3" fmla="*/ 4400525 w 4400525"/>
              <a:gd name="connsiteY3" fmla="*/ 4281874 h 4824204"/>
              <a:gd name="connsiteX4" fmla="*/ 4393859 w 4400525"/>
              <a:gd name="connsiteY4" fmla="*/ 4468859 h 4824204"/>
              <a:gd name="connsiteX5" fmla="*/ 2023425 w 4400525"/>
              <a:gd name="connsiteY5" fmla="*/ 4824204 h 4824204"/>
              <a:gd name="connsiteX6" fmla="*/ 6667 w 4400525"/>
              <a:gd name="connsiteY6" fmla="*/ 4817051 h 4824204"/>
              <a:gd name="connsiteX7" fmla="*/ 0 w 4400525"/>
              <a:gd name="connsiteY7" fmla="*/ 2118800 h 4824204"/>
              <a:gd name="connsiteX8" fmla="*/ 2118800 w 4400525"/>
              <a:gd name="connsiteY8" fmla="*/ 0 h 4824204"/>
              <a:gd name="connsiteX0" fmla="*/ 2118800 w 4415633"/>
              <a:gd name="connsiteY0" fmla="*/ 0 h 4824484"/>
              <a:gd name="connsiteX1" fmla="*/ 2281725 w 4415633"/>
              <a:gd name="connsiteY1" fmla="*/ 0 h 4824484"/>
              <a:gd name="connsiteX2" fmla="*/ 4400525 w 4415633"/>
              <a:gd name="connsiteY2" fmla="*/ 2118800 h 4824484"/>
              <a:gd name="connsiteX3" fmla="*/ 4400525 w 4415633"/>
              <a:gd name="connsiteY3" fmla="*/ 4281874 h 4824484"/>
              <a:gd name="connsiteX4" fmla="*/ 4415633 w 4415633"/>
              <a:gd name="connsiteY4" fmla="*/ 4824484 h 4824484"/>
              <a:gd name="connsiteX5" fmla="*/ 2023425 w 4415633"/>
              <a:gd name="connsiteY5" fmla="*/ 4824204 h 4824484"/>
              <a:gd name="connsiteX6" fmla="*/ 6667 w 4415633"/>
              <a:gd name="connsiteY6" fmla="*/ 4817051 h 4824484"/>
              <a:gd name="connsiteX7" fmla="*/ 0 w 4415633"/>
              <a:gd name="connsiteY7" fmla="*/ 2118800 h 4824484"/>
              <a:gd name="connsiteX8" fmla="*/ 2118800 w 4415633"/>
              <a:gd name="connsiteY8" fmla="*/ 0 h 4824484"/>
              <a:gd name="connsiteX0" fmla="*/ 2119972 w 4416805"/>
              <a:gd name="connsiteY0" fmla="*/ 0 h 4831567"/>
              <a:gd name="connsiteX1" fmla="*/ 2282897 w 4416805"/>
              <a:gd name="connsiteY1" fmla="*/ 0 h 4831567"/>
              <a:gd name="connsiteX2" fmla="*/ 4401697 w 4416805"/>
              <a:gd name="connsiteY2" fmla="*/ 2118800 h 4831567"/>
              <a:gd name="connsiteX3" fmla="*/ 4401697 w 4416805"/>
              <a:gd name="connsiteY3" fmla="*/ 4281874 h 4831567"/>
              <a:gd name="connsiteX4" fmla="*/ 4416805 w 4416805"/>
              <a:gd name="connsiteY4" fmla="*/ 4824484 h 4831567"/>
              <a:gd name="connsiteX5" fmla="*/ 2024597 w 4416805"/>
              <a:gd name="connsiteY5" fmla="*/ 4824204 h 4831567"/>
              <a:gd name="connsiteX6" fmla="*/ 580 w 4416805"/>
              <a:gd name="connsiteY6" fmla="*/ 4831567 h 4831567"/>
              <a:gd name="connsiteX7" fmla="*/ 1172 w 4416805"/>
              <a:gd name="connsiteY7" fmla="*/ 2118800 h 4831567"/>
              <a:gd name="connsiteX8" fmla="*/ 2119972 w 4416805"/>
              <a:gd name="connsiteY8" fmla="*/ 0 h 4831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6805" h="4831567">
                <a:moveTo>
                  <a:pt x="2119972" y="0"/>
                </a:moveTo>
                <a:lnTo>
                  <a:pt x="2282897" y="0"/>
                </a:lnTo>
                <a:cubicBezTo>
                  <a:pt x="3453078" y="0"/>
                  <a:pt x="4401697" y="948619"/>
                  <a:pt x="4401697" y="2118800"/>
                </a:cubicBezTo>
                <a:lnTo>
                  <a:pt x="4401697" y="4281874"/>
                </a:lnTo>
                <a:lnTo>
                  <a:pt x="4416805" y="4824484"/>
                </a:lnTo>
                <a:lnTo>
                  <a:pt x="2024597" y="4824204"/>
                </a:lnTo>
                <a:lnTo>
                  <a:pt x="580" y="4831567"/>
                </a:lnTo>
                <a:cubicBezTo>
                  <a:pt x="-1642" y="4045853"/>
                  <a:pt x="3394" y="2904514"/>
                  <a:pt x="1172" y="2118800"/>
                </a:cubicBezTo>
                <a:cubicBezTo>
                  <a:pt x="1172" y="948619"/>
                  <a:pt x="949791" y="0"/>
                  <a:pt x="2119972" y="0"/>
                </a:cubicBezTo>
                <a:close/>
              </a:path>
            </a:pathLst>
          </a:custGeom>
          <a:solidFill>
            <a:schemeClr val="accent2"/>
          </a:solidFill>
        </p:spPr>
        <p:txBody>
          <a:bodyPr anchor="ctr"/>
          <a:lstStyle>
            <a:lvl1pPr marL="0" indent="0" algn="ctr">
              <a:buNone/>
              <a:defRPr sz="2400">
                <a:solidFill>
                  <a:schemeClr val="accent1"/>
                </a:solidFill>
              </a:defRPr>
            </a:lvl1pPr>
          </a:lstStyle>
          <a:p>
            <a:r>
              <a:rPr lang="en-US"/>
              <a:t>Click to insert picture</a:t>
            </a:r>
          </a:p>
        </p:txBody>
      </p:sp>
      <p:sp>
        <p:nvSpPr>
          <p:cNvPr id="21" name="Slide Number Placeholder 4">
            <a:extLst>
              <a:ext uri="{FF2B5EF4-FFF2-40B4-BE49-F238E27FC236}">
                <a16:creationId xmlns:a16="http://schemas.microsoft.com/office/drawing/2014/main" id="{0DD458C4-3A18-4F7F-9396-DB740CF22DEC}"/>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23" name="Date Placeholder 2">
            <a:extLst>
              <a:ext uri="{FF2B5EF4-FFF2-40B4-BE49-F238E27FC236}">
                <a16:creationId xmlns:a16="http://schemas.microsoft.com/office/drawing/2014/main" id="{4F8ADA4E-9558-4414-B606-FFCDDECBE880}"/>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42628A07-F0D7-471C-A13C-E725AF7B83B4}" type="datetime1">
              <a:rPr lang="fr-FR" smtClean="0"/>
              <a:t>27/11/2025</a:t>
            </a:fld>
            <a:endParaRPr lang="en-US"/>
          </a:p>
        </p:txBody>
      </p:sp>
      <p:sp>
        <p:nvSpPr>
          <p:cNvPr id="17" name="Espace réservé du contenu 6">
            <a:extLst>
              <a:ext uri="{FF2B5EF4-FFF2-40B4-BE49-F238E27FC236}">
                <a16:creationId xmlns:a16="http://schemas.microsoft.com/office/drawing/2014/main" id="{765951D5-81BC-4873-AF9A-564FE6C57E73}"/>
              </a:ext>
            </a:extLst>
          </p:cNvPr>
          <p:cNvSpPr>
            <a:spLocks noGrp="1"/>
          </p:cNvSpPr>
          <p:nvPr>
            <p:ph sz="quarter" idx="13" hasCustomPrompt="1"/>
          </p:nvPr>
        </p:nvSpPr>
        <p:spPr>
          <a:xfrm>
            <a:off x="336757" y="1124746"/>
            <a:ext cx="6767355" cy="5088324"/>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8" name="Titel 14">
            <a:extLst>
              <a:ext uri="{FF2B5EF4-FFF2-40B4-BE49-F238E27FC236}">
                <a16:creationId xmlns:a16="http://schemas.microsoft.com/office/drawing/2014/main" id="{E441101A-1F2F-4E6D-8C50-41A8F56D99D2}"/>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19" name="Straight Connector 18">
            <a:extLst>
              <a:ext uri="{FF2B5EF4-FFF2-40B4-BE49-F238E27FC236}">
                <a16:creationId xmlns:a16="http://schemas.microsoft.com/office/drawing/2014/main" id="{32FC144E-FF55-462A-AE7C-DFDB1F6EB8F2}"/>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D8654857-CEA8-4036-ACAA-2FAD885366C5}"/>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4618976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image_5">
    <p:bg>
      <p:bgPr>
        <a:solidFill>
          <a:schemeClr val="bg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C92A863-6E12-4B31-9B26-F78F050A70E0}"/>
              </a:ext>
            </a:extLst>
          </p:cNvPr>
          <p:cNvSpPr>
            <a:spLocks noGrp="1"/>
          </p:cNvSpPr>
          <p:nvPr>
            <p:ph type="pic" sz="quarter" idx="28"/>
          </p:nvPr>
        </p:nvSpPr>
        <p:spPr>
          <a:xfrm>
            <a:off x="334962" y="1124749"/>
            <a:ext cx="8929389" cy="4968548"/>
          </a:xfrm>
          <a:prstGeom prst="rect">
            <a:avLst/>
          </a:prstGeom>
        </p:spPr>
        <p:txBody>
          <a:bodyPr/>
          <a:lstStyle/>
          <a:p>
            <a:endParaRPr lang="fr-FR"/>
          </a:p>
        </p:txBody>
      </p:sp>
      <p:sp>
        <p:nvSpPr>
          <p:cNvPr id="18" name="Slide Number Placeholder 4">
            <a:extLst>
              <a:ext uri="{FF2B5EF4-FFF2-40B4-BE49-F238E27FC236}">
                <a16:creationId xmlns:a16="http://schemas.microsoft.com/office/drawing/2014/main" id="{DCA4171D-B01D-4D53-AC85-2F924913E274}"/>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21" name="Date Placeholder 2">
            <a:extLst>
              <a:ext uri="{FF2B5EF4-FFF2-40B4-BE49-F238E27FC236}">
                <a16:creationId xmlns:a16="http://schemas.microsoft.com/office/drawing/2014/main" id="{326CD297-0FF1-4A58-80D7-6A4247229274}"/>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B54900FE-C60D-44DF-883A-862BF735F8A8}" type="datetime1">
              <a:rPr lang="fr-FR" smtClean="0"/>
              <a:t>27/11/2025</a:t>
            </a:fld>
            <a:endParaRPr lang="en-US"/>
          </a:p>
        </p:txBody>
      </p:sp>
      <p:sp>
        <p:nvSpPr>
          <p:cNvPr id="17" name="Espace réservé du contenu 6">
            <a:extLst>
              <a:ext uri="{FF2B5EF4-FFF2-40B4-BE49-F238E27FC236}">
                <a16:creationId xmlns:a16="http://schemas.microsoft.com/office/drawing/2014/main" id="{C6C79413-CC9B-4112-9E2F-C24FF98FE205}"/>
              </a:ext>
            </a:extLst>
          </p:cNvPr>
          <p:cNvSpPr>
            <a:spLocks noGrp="1"/>
          </p:cNvSpPr>
          <p:nvPr>
            <p:ph sz="quarter" idx="13" hasCustomPrompt="1"/>
          </p:nvPr>
        </p:nvSpPr>
        <p:spPr>
          <a:xfrm>
            <a:off x="9480376" y="1093913"/>
            <a:ext cx="2518883" cy="5119157"/>
          </a:xfrm>
          <a:prstGeom prst="rect">
            <a:avLst/>
          </a:prstGeom>
        </p:spPr>
        <p:txBody>
          <a:bodyPr/>
          <a:lstStyle>
            <a:lvl1pPr marL="0" indent="0">
              <a:lnSpc>
                <a:spcPct val="120000"/>
              </a:lnSpc>
              <a:spcBef>
                <a:spcPts val="400"/>
              </a:spcBef>
              <a:buNone/>
              <a:defRPr sz="11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sz="1400">
                <a:solidFill>
                  <a:schemeClr val="tx1"/>
                </a:solidFill>
              </a:defRPr>
            </a:lvl3pPr>
            <a:lvl4pPr marL="0" indent="0">
              <a:lnSpc>
                <a:spcPct val="250000"/>
              </a:lnSpc>
              <a:buNone/>
              <a:defRPr sz="1400">
                <a:highlight>
                  <a:srgbClr val="B2EDA7"/>
                </a:highlight>
              </a:defRPr>
            </a:lvl4pPr>
            <a:lvl5pPr marL="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23" name="Titel 14">
            <a:extLst>
              <a:ext uri="{FF2B5EF4-FFF2-40B4-BE49-F238E27FC236}">
                <a16:creationId xmlns:a16="http://schemas.microsoft.com/office/drawing/2014/main" id="{E847E7FD-EB23-41D1-A94C-0445B9FF4D65}"/>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4" name="Straight Connector 23">
            <a:extLst>
              <a:ext uri="{FF2B5EF4-FFF2-40B4-BE49-F238E27FC236}">
                <a16:creationId xmlns:a16="http://schemas.microsoft.com/office/drawing/2014/main" id="{3F6AE94D-8027-40EE-8AFE-67B69744BF06}"/>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97E25381-B292-4F2B-95DB-A6E7AFA4462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15299636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image_6">
    <p:bg>
      <p:bgPr>
        <a:solidFill>
          <a:schemeClr val="bg1"/>
        </a:solidFill>
        <a:effectLst/>
      </p:bgPr>
    </p:bg>
    <p:spTree>
      <p:nvGrpSpPr>
        <p:cNvPr id="1" name=""/>
        <p:cNvGrpSpPr/>
        <p:nvPr/>
      </p:nvGrpSpPr>
      <p:grpSpPr>
        <a:xfrm>
          <a:off x="0" y="0"/>
          <a:ext cx="0" cy="0"/>
          <a:chOff x="0" y="0"/>
          <a:chExt cx="0" cy="0"/>
        </a:xfrm>
      </p:grpSpPr>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090069"/>
            <a:ext cx="11512138" cy="1068124"/>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771B68FC-9087-4E3B-8BE6-3EB6AE24D2EA}" type="datetime1">
              <a:rPr lang="fr-FR" smtClean="0"/>
              <a:t>27/11/2025</a:t>
            </a:fld>
            <a:endParaRPr lang="en-US"/>
          </a:p>
        </p:txBody>
      </p:sp>
      <p:sp>
        <p:nvSpPr>
          <p:cNvPr id="8" name="Table Placeholder 7">
            <a:extLst>
              <a:ext uri="{FF2B5EF4-FFF2-40B4-BE49-F238E27FC236}">
                <a16:creationId xmlns:a16="http://schemas.microsoft.com/office/drawing/2014/main" id="{A6FC6EE8-2819-4BB4-B8BF-8292850BE690}"/>
              </a:ext>
            </a:extLst>
          </p:cNvPr>
          <p:cNvSpPr>
            <a:spLocks noGrp="1"/>
          </p:cNvSpPr>
          <p:nvPr>
            <p:ph type="tbl" sz="quarter" idx="39"/>
          </p:nvPr>
        </p:nvSpPr>
        <p:spPr>
          <a:xfrm>
            <a:off x="8256588" y="2350024"/>
            <a:ext cx="3602037" cy="1727200"/>
          </a:xfrm>
          <a:prstGeom prst="rect">
            <a:avLst/>
          </a:prstGeom>
        </p:spPr>
        <p:txBody>
          <a:bodyPr/>
          <a:lstStyle>
            <a:lvl1pPr>
              <a:defRPr sz="1200"/>
            </a:lvl1pPr>
          </a:lstStyle>
          <a:p>
            <a:endParaRPr lang="fr-FR"/>
          </a:p>
        </p:txBody>
      </p:sp>
      <p:sp>
        <p:nvSpPr>
          <p:cNvPr id="4" name="Picture Placeholder 3">
            <a:extLst>
              <a:ext uri="{FF2B5EF4-FFF2-40B4-BE49-F238E27FC236}">
                <a16:creationId xmlns:a16="http://schemas.microsoft.com/office/drawing/2014/main" id="{D2399C6A-5CCA-4C9E-A007-74308122DFF4}"/>
              </a:ext>
            </a:extLst>
          </p:cNvPr>
          <p:cNvSpPr>
            <a:spLocks noGrp="1"/>
          </p:cNvSpPr>
          <p:nvPr>
            <p:ph type="pic" sz="quarter" idx="40"/>
          </p:nvPr>
        </p:nvSpPr>
        <p:spPr>
          <a:xfrm>
            <a:off x="334963" y="2339138"/>
            <a:ext cx="7705725" cy="2700337"/>
          </a:xfrm>
          <a:prstGeom prst="rect">
            <a:avLst/>
          </a:prstGeom>
        </p:spPr>
        <p:txBody>
          <a:bodyPr/>
          <a:lstStyle/>
          <a:p>
            <a:endParaRPr lang="fr-FR"/>
          </a:p>
        </p:txBody>
      </p:sp>
      <p:sp>
        <p:nvSpPr>
          <p:cNvPr id="17" name="Table Placeholder 7">
            <a:extLst>
              <a:ext uri="{FF2B5EF4-FFF2-40B4-BE49-F238E27FC236}">
                <a16:creationId xmlns:a16="http://schemas.microsoft.com/office/drawing/2014/main" id="{C7D23790-FDC4-4A6D-BD1A-B5D644440A29}"/>
              </a:ext>
            </a:extLst>
          </p:cNvPr>
          <p:cNvSpPr>
            <a:spLocks noGrp="1"/>
          </p:cNvSpPr>
          <p:nvPr>
            <p:ph type="tbl" sz="quarter" idx="41"/>
          </p:nvPr>
        </p:nvSpPr>
        <p:spPr>
          <a:xfrm>
            <a:off x="323255" y="5322281"/>
            <a:ext cx="11535370" cy="693757"/>
          </a:xfrm>
          <a:prstGeom prst="rect">
            <a:avLst/>
          </a:prstGeom>
        </p:spPr>
        <p:txBody>
          <a:bodyPr/>
          <a:lstStyle>
            <a:lvl1pPr>
              <a:defRPr sz="1200"/>
            </a:lvl1pPr>
          </a:lstStyle>
          <a:p>
            <a:endParaRPr lang="fr-FR"/>
          </a:p>
        </p:txBody>
      </p:sp>
      <p:sp>
        <p:nvSpPr>
          <p:cNvPr id="19" name="Titel 14">
            <a:extLst>
              <a:ext uri="{FF2B5EF4-FFF2-40B4-BE49-F238E27FC236}">
                <a16:creationId xmlns:a16="http://schemas.microsoft.com/office/drawing/2014/main" id="{55BD0888-C41D-4055-8788-B673699C2BDE}"/>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1" name="Straight Connector 20">
            <a:extLst>
              <a:ext uri="{FF2B5EF4-FFF2-40B4-BE49-F238E27FC236}">
                <a16:creationId xmlns:a16="http://schemas.microsoft.com/office/drawing/2014/main" id="{77C8D043-4746-4954-8EAC-DFED1B542A10}"/>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832B0D9C-0878-4F5F-BE29-E86968EB216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629876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image_7">
    <p:bg>
      <p:bgPr>
        <a:solidFill>
          <a:schemeClr val="bg1"/>
        </a:solidFill>
        <a:effectLst/>
      </p:bgPr>
    </p:bg>
    <p:spTree>
      <p:nvGrpSpPr>
        <p:cNvPr id="1" name=""/>
        <p:cNvGrpSpPr/>
        <p:nvPr/>
      </p:nvGrpSpPr>
      <p:grpSpPr>
        <a:xfrm>
          <a:off x="0" y="0"/>
          <a:ext cx="0" cy="0"/>
          <a:chOff x="0" y="0"/>
          <a:chExt cx="0" cy="0"/>
        </a:xfrm>
      </p:grpSpPr>
      <p:sp>
        <p:nvSpPr>
          <p:cNvPr id="21" name="Slide Number Placeholder 4">
            <a:extLst>
              <a:ext uri="{FF2B5EF4-FFF2-40B4-BE49-F238E27FC236}">
                <a16:creationId xmlns:a16="http://schemas.microsoft.com/office/drawing/2014/main" id="{ADE82548-2FA4-4C50-9E29-81255A5BC6F1}"/>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23" name="Date Placeholder 2">
            <a:extLst>
              <a:ext uri="{FF2B5EF4-FFF2-40B4-BE49-F238E27FC236}">
                <a16:creationId xmlns:a16="http://schemas.microsoft.com/office/drawing/2014/main" id="{1DC8D84A-92C6-45F3-84ED-CA077369E75A}"/>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48915346-7BF6-4FC4-97C0-1AFF70E97D6F}" type="datetime1">
              <a:rPr lang="fr-FR" smtClean="0"/>
              <a:t>27/11/2025</a:t>
            </a:fld>
            <a:endParaRPr lang="en-US"/>
          </a:p>
        </p:txBody>
      </p:sp>
      <p:sp>
        <p:nvSpPr>
          <p:cNvPr id="18" name="Titel 14">
            <a:extLst>
              <a:ext uri="{FF2B5EF4-FFF2-40B4-BE49-F238E27FC236}">
                <a16:creationId xmlns:a16="http://schemas.microsoft.com/office/drawing/2014/main" id="{F9349C76-111E-4F4D-886C-21AB4F1B1AF3}"/>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19" name="Straight Connector 18">
            <a:extLst>
              <a:ext uri="{FF2B5EF4-FFF2-40B4-BE49-F238E27FC236}">
                <a16:creationId xmlns:a16="http://schemas.microsoft.com/office/drawing/2014/main" id="{FA97BF97-1403-4B3C-BE19-557AAAE5C732}"/>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9C7E7CB3-7441-445A-9D97-74909A90587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sp>
        <p:nvSpPr>
          <p:cNvPr id="3" name="Table Placeholder 2">
            <a:extLst>
              <a:ext uri="{FF2B5EF4-FFF2-40B4-BE49-F238E27FC236}">
                <a16:creationId xmlns:a16="http://schemas.microsoft.com/office/drawing/2014/main" id="{2A99B319-6DB2-4249-9EF9-0BE5A49EE516}"/>
              </a:ext>
            </a:extLst>
          </p:cNvPr>
          <p:cNvSpPr>
            <a:spLocks noGrp="1"/>
          </p:cNvSpPr>
          <p:nvPr>
            <p:ph type="tbl" sz="quarter" idx="13"/>
          </p:nvPr>
        </p:nvSpPr>
        <p:spPr>
          <a:xfrm>
            <a:off x="336550" y="1125538"/>
            <a:ext cx="11512550" cy="4895850"/>
          </a:xfrm>
          <a:prstGeom prst="rect">
            <a:avLst/>
          </a:prstGeom>
        </p:spPr>
        <p:txBody>
          <a:bodyPr lIns="180000" tIns="180000" anchor="ctr" anchorCtr="0"/>
          <a:lstStyle>
            <a:lvl1pPr>
              <a:defRPr>
                <a:solidFill>
                  <a:schemeClr val="accent2"/>
                </a:solidFill>
              </a:defRPr>
            </a:lvl1pPr>
          </a:lstStyle>
          <a:p>
            <a:endParaRPr lang="fr-FR"/>
          </a:p>
        </p:txBody>
      </p:sp>
    </p:spTree>
    <p:extLst>
      <p:ext uri="{BB962C8B-B14F-4D97-AF65-F5344CB8AC3E}">
        <p14:creationId xmlns:p14="http://schemas.microsoft.com/office/powerpoint/2010/main" val="4681025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image_8">
    <p:bg>
      <p:bgPr>
        <a:solidFill>
          <a:schemeClr val="bg1"/>
        </a:solidFill>
        <a:effectLst/>
      </p:bgPr>
    </p:bg>
    <p:spTree>
      <p:nvGrpSpPr>
        <p:cNvPr id="1" name=""/>
        <p:cNvGrpSpPr/>
        <p:nvPr/>
      </p:nvGrpSpPr>
      <p:grpSpPr>
        <a:xfrm>
          <a:off x="0" y="0"/>
          <a:ext cx="0" cy="0"/>
          <a:chOff x="0" y="0"/>
          <a:chExt cx="0" cy="0"/>
        </a:xfrm>
      </p:grpSpPr>
      <p:sp>
        <p:nvSpPr>
          <p:cNvPr id="2" name="Picture Placeholder 3">
            <a:extLst>
              <a:ext uri="{FF2B5EF4-FFF2-40B4-BE49-F238E27FC236}">
                <a16:creationId xmlns:a16="http://schemas.microsoft.com/office/drawing/2014/main" id="{E2CD231C-7E53-FC3E-217B-6B9C2D27172C}"/>
              </a:ext>
            </a:extLst>
          </p:cNvPr>
          <p:cNvSpPr>
            <a:spLocks noGrp="1"/>
          </p:cNvSpPr>
          <p:nvPr>
            <p:ph type="pic" sz="quarter" idx="28"/>
          </p:nvPr>
        </p:nvSpPr>
        <p:spPr>
          <a:xfrm>
            <a:off x="1055440" y="3429000"/>
            <a:ext cx="4694085" cy="2635250"/>
          </a:xfrm>
          <a:prstGeom prst="rect">
            <a:avLst/>
          </a:prstGeom>
        </p:spPr>
        <p:txBody>
          <a:bodyPr/>
          <a:lstStyle/>
          <a:p>
            <a:endParaRPr lang="fr-FR"/>
          </a:p>
        </p:txBody>
      </p:sp>
      <p:sp>
        <p:nvSpPr>
          <p:cNvPr id="3" name="Picture Placeholder 3">
            <a:extLst>
              <a:ext uri="{FF2B5EF4-FFF2-40B4-BE49-F238E27FC236}">
                <a16:creationId xmlns:a16="http://schemas.microsoft.com/office/drawing/2014/main" id="{A7883174-CC0C-CABC-9D25-A0EDDA8FED5F}"/>
              </a:ext>
            </a:extLst>
          </p:cNvPr>
          <p:cNvSpPr>
            <a:spLocks noGrp="1"/>
          </p:cNvSpPr>
          <p:nvPr>
            <p:ph type="pic" sz="quarter" idx="29"/>
          </p:nvPr>
        </p:nvSpPr>
        <p:spPr>
          <a:xfrm>
            <a:off x="6331006" y="3429000"/>
            <a:ext cx="4694085" cy="2635250"/>
          </a:xfrm>
          <a:prstGeom prst="rect">
            <a:avLst/>
          </a:prstGeom>
        </p:spPr>
        <p:txBody>
          <a:bodyPr/>
          <a:lstStyle/>
          <a:p>
            <a:endParaRPr lang="fr-FR"/>
          </a:p>
        </p:txBody>
      </p:sp>
      <p:pic>
        <p:nvPicPr>
          <p:cNvPr id="6" name="Picture 5">
            <a:extLst>
              <a:ext uri="{FF2B5EF4-FFF2-40B4-BE49-F238E27FC236}">
                <a16:creationId xmlns:a16="http://schemas.microsoft.com/office/drawing/2014/main" id="{05F2471D-427A-4D80-982C-D40707EBD8E1}"/>
              </a:ext>
            </a:extLst>
          </p:cNvPr>
          <p:cNvPicPr>
            <a:picLocks noChangeAspect="1"/>
          </p:cNvPicPr>
          <p:nvPr userDrawn="1"/>
        </p:nvPicPr>
        <p:blipFill>
          <a:blip r:embed="rId2"/>
          <a:stretch>
            <a:fillRect/>
          </a:stretch>
        </p:blipFill>
        <p:spPr>
          <a:xfrm>
            <a:off x="5788459" y="4402824"/>
            <a:ext cx="532709" cy="532709"/>
          </a:xfrm>
          <a:prstGeom prst="rect">
            <a:avLst/>
          </a:prstGeom>
        </p:spPr>
      </p:pic>
      <p:sp>
        <p:nvSpPr>
          <p:cNvPr id="30" name="Slide Number Placeholder 4">
            <a:extLst>
              <a:ext uri="{FF2B5EF4-FFF2-40B4-BE49-F238E27FC236}">
                <a16:creationId xmlns:a16="http://schemas.microsoft.com/office/drawing/2014/main" id="{BD3D19C5-4CA4-4AFB-8C20-87B3AC9AAAE0}"/>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31" name="Date Placeholder 2">
            <a:extLst>
              <a:ext uri="{FF2B5EF4-FFF2-40B4-BE49-F238E27FC236}">
                <a16:creationId xmlns:a16="http://schemas.microsoft.com/office/drawing/2014/main" id="{F240F743-4EB4-4F8F-B7B6-404DBB6D5889}"/>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9A99BF60-2013-4B78-8E6A-A10209EE9CF6}" type="datetime1">
              <a:rPr lang="fr-FR" smtClean="0"/>
              <a:t>27/11/2025</a:t>
            </a:fld>
            <a:endParaRPr lang="en-US"/>
          </a:p>
        </p:txBody>
      </p:sp>
      <p:sp>
        <p:nvSpPr>
          <p:cNvPr id="18" name="Espace réservé du contenu 6">
            <a:extLst>
              <a:ext uri="{FF2B5EF4-FFF2-40B4-BE49-F238E27FC236}">
                <a16:creationId xmlns:a16="http://schemas.microsoft.com/office/drawing/2014/main" id="{509F77A4-5507-4238-95ED-84105824AD07}"/>
              </a:ext>
            </a:extLst>
          </p:cNvPr>
          <p:cNvSpPr>
            <a:spLocks noGrp="1"/>
          </p:cNvSpPr>
          <p:nvPr>
            <p:ph sz="quarter" idx="13" hasCustomPrompt="1"/>
          </p:nvPr>
        </p:nvSpPr>
        <p:spPr>
          <a:xfrm>
            <a:off x="336757" y="1071308"/>
            <a:ext cx="10945813" cy="2249842"/>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3"/>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9" name="Titel 14">
            <a:extLst>
              <a:ext uri="{FF2B5EF4-FFF2-40B4-BE49-F238E27FC236}">
                <a16:creationId xmlns:a16="http://schemas.microsoft.com/office/drawing/2014/main" id="{17883BCD-0606-404A-AE7C-475FE31A0030}"/>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3" name="Straight Connector 22">
            <a:extLst>
              <a:ext uri="{FF2B5EF4-FFF2-40B4-BE49-F238E27FC236}">
                <a16:creationId xmlns:a16="http://schemas.microsoft.com/office/drawing/2014/main" id="{AC26ED86-60DF-4424-932B-C3F9A1C0881C}"/>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4" name="Graphic 23">
            <a:extLst>
              <a:ext uri="{FF2B5EF4-FFF2-40B4-BE49-F238E27FC236}">
                <a16:creationId xmlns:a16="http://schemas.microsoft.com/office/drawing/2014/main" id="{5EFBE8A7-9496-40E8-9DA9-215A4964771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22414396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image_9">
    <p:bg>
      <p:bgPr>
        <a:solidFill>
          <a:schemeClr val="bg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ADB16EC1-15FC-468C-84BD-BF9FFA189DA2}"/>
              </a:ext>
            </a:extLst>
          </p:cNvPr>
          <p:cNvPicPr>
            <a:picLocks noChangeAspect="1"/>
          </p:cNvPicPr>
          <p:nvPr userDrawn="1"/>
        </p:nvPicPr>
        <p:blipFill>
          <a:blip r:embed="rId2"/>
          <a:stretch>
            <a:fillRect/>
          </a:stretch>
        </p:blipFill>
        <p:spPr>
          <a:xfrm>
            <a:off x="334960" y="1511797"/>
            <a:ext cx="4464895" cy="4464895"/>
          </a:xfrm>
          <a:prstGeom prst="rect">
            <a:avLst/>
          </a:prstGeom>
        </p:spPr>
      </p:pic>
      <p:sp>
        <p:nvSpPr>
          <p:cNvPr id="4" name="Picture Placeholder 3">
            <a:extLst>
              <a:ext uri="{FF2B5EF4-FFF2-40B4-BE49-F238E27FC236}">
                <a16:creationId xmlns:a16="http://schemas.microsoft.com/office/drawing/2014/main" id="{C899C7DA-FA2A-4AD5-AA68-5C0BA563530D}"/>
              </a:ext>
            </a:extLst>
          </p:cNvPr>
          <p:cNvSpPr>
            <a:spLocks noGrp="1"/>
          </p:cNvSpPr>
          <p:nvPr>
            <p:ph type="pic" sz="quarter" idx="31"/>
          </p:nvPr>
        </p:nvSpPr>
        <p:spPr>
          <a:xfrm>
            <a:off x="5231904" y="1341439"/>
            <a:ext cx="6626721" cy="4635500"/>
          </a:xfrm>
          <a:prstGeom prst="rect">
            <a:avLst/>
          </a:prstGeom>
        </p:spPr>
        <p:txBody>
          <a:bodyPr/>
          <a:lstStyle/>
          <a:p>
            <a:endParaRPr lang="fr-FR"/>
          </a:p>
        </p:txBody>
      </p:sp>
      <p:sp>
        <p:nvSpPr>
          <p:cNvPr id="18" name="Espace réservé du contenu 6">
            <a:extLst>
              <a:ext uri="{FF2B5EF4-FFF2-40B4-BE49-F238E27FC236}">
                <a16:creationId xmlns:a16="http://schemas.microsoft.com/office/drawing/2014/main" id="{3606AF20-9DEB-4F9F-A475-AC03A36C3939}"/>
              </a:ext>
            </a:extLst>
          </p:cNvPr>
          <p:cNvSpPr>
            <a:spLocks noGrp="1"/>
          </p:cNvSpPr>
          <p:nvPr>
            <p:ph sz="quarter" idx="13" hasCustomPrompt="1"/>
          </p:nvPr>
        </p:nvSpPr>
        <p:spPr>
          <a:xfrm>
            <a:off x="551235" y="1341439"/>
            <a:ext cx="3888581" cy="4635254"/>
          </a:xfrm>
          <a:prstGeom prst="rect">
            <a:avLst/>
          </a:prstGeom>
        </p:spPr>
        <p:txBody>
          <a:bodyPr anchor="ctr" anchorCtr="0"/>
          <a:lstStyle>
            <a:lvl1pPr marL="0" indent="0" algn="ctr">
              <a:lnSpc>
                <a:spcPct val="120000"/>
              </a:lnSpc>
              <a:spcBef>
                <a:spcPts val="1000"/>
              </a:spcBef>
              <a:buNone/>
              <a:defRPr sz="1400">
                <a:solidFill>
                  <a:schemeClr val="tx1"/>
                </a:solidFill>
                <a:latin typeface="Bagoss Standard Medium" panose="020B0604060102020204" pitchFamily="34" charset="0"/>
                <a:cs typeface="Bagoss Standard Medium" panose="020B0604060102020204" pitchFamily="34" charset="0"/>
              </a:defRPr>
            </a:lvl1pPr>
            <a:lvl2pPr marL="0" indent="-228600" algn="ctr">
              <a:lnSpc>
                <a:spcPct val="100000"/>
              </a:lnSpc>
              <a:spcBef>
                <a:spcPts val="600"/>
              </a:spcBef>
              <a:spcAft>
                <a:spcPts val="0"/>
              </a:spcAft>
              <a:buFontTx/>
              <a:buBlip>
                <a:blip r:embed="rId3"/>
              </a:buBlip>
              <a:defRPr sz="1400">
                <a:latin typeface="Bagoss Standard Medium" panose="020B0604060102020204" pitchFamily="34" charset="0"/>
                <a:cs typeface="Bagoss Standard Medium" panose="020B0604060102020204" pitchFamily="34" charset="0"/>
              </a:defRPr>
            </a:lvl2pPr>
            <a:lvl3pPr marL="0" indent="0" algn="ctr">
              <a:lnSpc>
                <a:spcPts val="1300"/>
              </a:lnSpc>
              <a:spcBef>
                <a:spcPts val="1200"/>
              </a:spcBef>
              <a:spcAft>
                <a:spcPts val="0"/>
              </a:spcAft>
              <a:buNone/>
              <a:defRPr sz="2400">
                <a:solidFill>
                  <a:schemeClr val="tx1"/>
                </a:solidFill>
                <a:latin typeface="Bagoss Standard Medium" panose="020B0604060102020204" pitchFamily="34" charset="0"/>
                <a:cs typeface="Bagoss Standard Medium" panose="020B0604060102020204" pitchFamily="34" charset="0"/>
              </a:defRPr>
            </a:lvl3pPr>
            <a:lvl4pPr marL="324000" indent="0" algn="ctr">
              <a:lnSpc>
                <a:spcPct val="250000"/>
              </a:lnSpc>
              <a:buNone/>
              <a:defRPr>
                <a:highlight>
                  <a:srgbClr val="B2EDA7"/>
                </a:highlight>
              </a:defRPr>
            </a:lvl4pPr>
            <a:lvl5pPr marL="324000" indent="0" algn="ctr">
              <a:lnSpc>
                <a:spcPct val="120000"/>
              </a:lnSpc>
              <a:buNone/>
              <a:defRPr sz="1200">
                <a:solidFill>
                  <a:schemeClr val="bg1">
                    <a:lumMod val="25000"/>
                  </a:schemeClr>
                </a:solidFill>
              </a:defRPr>
            </a:lvl5pPr>
            <a:lvl6pPr marL="0" indent="0" algn="ctr">
              <a:buNone/>
              <a:defRPr sz="1400" b="1"/>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2"/>
            <a:r>
              <a:rPr lang="fr-FR" err="1"/>
              <a:t>erf</a:t>
            </a:r>
            <a:endParaRPr lang="fr-FR"/>
          </a:p>
          <a:p>
            <a:pPr lvl="3"/>
            <a:r>
              <a:rPr lang="fr-FR"/>
              <a:t>Paragraphe </a:t>
            </a:r>
            <a:r>
              <a:rPr lang="fr-FR" err="1"/>
              <a:t>title</a:t>
            </a:r>
            <a:r>
              <a:rPr lang="fr-FR"/>
              <a:t> 2</a:t>
            </a:r>
          </a:p>
          <a:p>
            <a:pPr lvl="4"/>
            <a:r>
              <a:rPr lang="fr-FR"/>
              <a:t>Cinquième niveau</a:t>
            </a:r>
          </a:p>
          <a:p>
            <a:pPr lvl="4"/>
            <a:r>
              <a:rPr lang="fr-FR" err="1"/>
              <a:t>ds</a:t>
            </a:r>
            <a:endParaRPr lang="fr-FR"/>
          </a:p>
          <a:p>
            <a:pPr lvl="5"/>
            <a:r>
              <a:rPr lang="fr-FR"/>
              <a:t>Sixième niveau</a:t>
            </a:r>
          </a:p>
        </p:txBody>
      </p:sp>
      <p:sp>
        <p:nvSpPr>
          <p:cNvPr id="26" name="Slide Number Placeholder 4">
            <a:extLst>
              <a:ext uri="{FF2B5EF4-FFF2-40B4-BE49-F238E27FC236}">
                <a16:creationId xmlns:a16="http://schemas.microsoft.com/office/drawing/2014/main" id="{E9F2EB19-D992-4F46-A7B6-5FFE44F318C3}"/>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27" name="Date Placeholder 2">
            <a:extLst>
              <a:ext uri="{FF2B5EF4-FFF2-40B4-BE49-F238E27FC236}">
                <a16:creationId xmlns:a16="http://schemas.microsoft.com/office/drawing/2014/main" id="{62898395-5562-4577-892A-DED8B4CB8D75}"/>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BA720FBA-0993-452C-BA0D-B29829E4DFFB}" type="datetime1">
              <a:rPr lang="fr-FR" smtClean="0"/>
              <a:t>27/11/2025</a:t>
            </a:fld>
            <a:endParaRPr lang="en-US"/>
          </a:p>
        </p:txBody>
      </p:sp>
      <p:sp>
        <p:nvSpPr>
          <p:cNvPr id="21" name="Titel 14">
            <a:extLst>
              <a:ext uri="{FF2B5EF4-FFF2-40B4-BE49-F238E27FC236}">
                <a16:creationId xmlns:a16="http://schemas.microsoft.com/office/drawing/2014/main" id="{6B8BE8CC-3A2A-4418-B713-7BA0508DB37D}"/>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4" name="Straight Connector 23">
            <a:extLst>
              <a:ext uri="{FF2B5EF4-FFF2-40B4-BE49-F238E27FC236}">
                <a16:creationId xmlns:a16="http://schemas.microsoft.com/office/drawing/2014/main" id="{2DCC7704-3E52-45A5-865D-0C5C6DA3272A}"/>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A6833364-511F-446C-96C9-23356AA53AAC}"/>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35981693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image_10">
    <p:bg>
      <p:bgPr>
        <a:solidFill>
          <a:schemeClr val="bg1"/>
        </a:solidFill>
        <a:effectLst/>
      </p:bgPr>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B36B8667-2240-41AA-B3D1-E8D5B84C6A2C}"/>
              </a:ext>
            </a:extLst>
          </p:cNvPr>
          <p:cNvPicPr>
            <a:picLocks noChangeAspect="1"/>
          </p:cNvPicPr>
          <p:nvPr userDrawn="1"/>
        </p:nvPicPr>
        <p:blipFill>
          <a:blip r:embed="rId2"/>
          <a:stretch>
            <a:fillRect/>
          </a:stretch>
        </p:blipFill>
        <p:spPr>
          <a:xfrm>
            <a:off x="6597267" y="1003026"/>
            <a:ext cx="4851948" cy="4851948"/>
          </a:xfrm>
          <a:prstGeom prst="rect">
            <a:avLst/>
          </a:prstGeom>
        </p:spPr>
      </p:pic>
      <p:sp>
        <p:nvSpPr>
          <p:cNvPr id="12" name="Espace réservé du contenu 6">
            <a:extLst>
              <a:ext uri="{FF2B5EF4-FFF2-40B4-BE49-F238E27FC236}">
                <a16:creationId xmlns:a16="http://schemas.microsoft.com/office/drawing/2014/main" id="{F9ECAD8B-6872-4109-BAB6-D61204A8C257}"/>
              </a:ext>
            </a:extLst>
          </p:cNvPr>
          <p:cNvSpPr>
            <a:spLocks noGrp="1"/>
          </p:cNvSpPr>
          <p:nvPr>
            <p:ph sz="quarter" idx="13" hasCustomPrompt="1"/>
          </p:nvPr>
        </p:nvSpPr>
        <p:spPr>
          <a:xfrm>
            <a:off x="6960096" y="1003026"/>
            <a:ext cx="3960440" cy="4851948"/>
          </a:xfrm>
          <a:prstGeom prst="rect">
            <a:avLst/>
          </a:prstGeom>
        </p:spPr>
        <p:txBody>
          <a:bodyPr anchor="ctr" anchorCtr="0"/>
          <a:lstStyle>
            <a:lvl1pPr marL="0" indent="0" algn="ctr">
              <a:lnSpc>
                <a:spcPct val="120000"/>
              </a:lnSpc>
              <a:spcBef>
                <a:spcPts val="1000"/>
              </a:spcBef>
              <a:buNone/>
              <a:defRPr sz="1400">
                <a:solidFill>
                  <a:schemeClr val="tx1"/>
                </a:solidFill>
                <a:latin typeface="Bagoss Standard Medium" panose="020B0604060102020204" pitchFamily="34" charset="0"/>
                <a:cs typeface="Bagoss Standard Medium" panose="020B0604060102020204" pitchFamily="34" charset="0"/>
              </a:defRPr>
            </a:lvl1pPr>
            <a:lvl2pPr marL="0" indent="-228600" algn="ctr">
              <a:lnSpc>
                <a:spcPct val="100000"/>
              </a:lnSpc>
              <a:spcBef>
                <a:spcPts val="600"/>
              </a:spcBef>
              <a:spcAft>
                <a:spcPts val="0"/>
              </a:spcAft>
              <a:buFontTx/>
              <a:buBlip>
                <a:blip r:embed="rId3"/>
              </a:buBlip>
              <a:defRPr sz="1400">
                <a:latin typeface="Bagoss Standard Medium" panose="020B0604060102020204" pitchFamily="34" charset="0"/>
                <a:cs typeface="Bagoss Standard Medium" panose="020B0604060102020204" pitchFamily="34" charset="0"/>
              </a:defRPr>
            </a:lvl2pPr>
            <a:lvl3pPr marL="0" indent="0" algn="ctr">
              <a:lnSpc>
                <a:spcPts val="1300"/>
              </a:lnSpc>
              <a:spcBef>
                <a:spcPts val="1200"/>
              </a:spcBef>
              <a:spcAft>
                <a:spcPts val="0"/>
              </a:spcAft>
              <a:buNone/>
              <a:defRPr sz="2400">
                <a:solidFill>
                  <a:schemeClr val="tx1"/>
                </a:solidFill>
                <a:latin typeface="Bagoss Standard Medium" panose="020B0604060102020204" pitchFamily="34" charset="0"/>
                <a:cs typeface="Bagoss Standard Medium" panose="020B0604060102020204" pitchFamily="34" charset="0"/>
              </a:defRPr>
            </a:lvl3pPr>
            <a:lvl4pPr marL="324000" indent="0" algn="ctr">
              <a:lnSpc>
                <a:spcPct val="250000"/>
              </a:lnSpc>
              <a:buNone/>
              <a:defRPr>
                <a:highlight>
                  <a:srgbClr val="B2EDA7"/>
                </a:highlight>
              </a:defRPr>
            </a:lvl4pPr>
            <a:lvl5pPr marL="324000" indent="0" algn="ctr">
              <a:lnSpc>
                <a:spcPct val="120000"/>
              </a:lnSpc>
              <a:buNone/>
              <a:defRPr sz="1200">
                <a:solidFill>
                  <a:schemeClr val="bg1">
                    <a:lumMod val="25000"/>
                  </a:schemeClr>
                </a:solidFill>
              </a:defRPr>
            </a:lvl5pPr>
            <a:lvl6pPr marL="0" indent="0" algn="ctr">
              <a:buNone/>
              <a:defRPr sz="1400" b="1"/>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2"/>
            <a:r>
              <a:rPr lang="fr-FR" err="1"/>
              <a:t>erf</a:t>
            </a:r>
            <a:endParaRPr lang="fr-FR"/>
          </a:p>
          <a:p>
            <a:pPr lvl="3"/>
            <a:r>
              <a:rPr lang="fr-FR"/>
              <a:t>Paragraphe </a:t>
            </a:r>
            <a:r>
              <a:rPr lang="fr-FR" err="1"/>
              <a:t>title</a:t>
            </a:r>
            <a:r>
              <a:rPr lang="fr-FR"/>
              <a:t> 2</a:t>
            </a:r>
          </a:p>
          <a:p>
            <a:pPr lvl="4"/>
            <a:r>
              <a:rPr lang="fr-FR"/>
              <a:t>Cinquième niveau</a:t>
            </a:r>
          </a:p>
          <a:p>
            <a:pPr lvl="4"/>
            <a:r>
              <a:rPr lang="fr-FR" err="1"/>
              <a:t>ds</a:t>
            </a:r>
            <a:endParaRPr lang="fr-FR"/>
          </a:p>
          <a:p>
            <a:pPr lvl="5"/>
            <a:r>
              <a:rPr lang="fr-FR"/>
              <a:t>Sixième niveau</a:t>
            </a:r>
          </a:p>
        </p:txBody>
      </p:sp>
      <p:sp>
        <p:nvSpPr>
          <p:cNvPr id="15" name="Slide Number Placeholder 4">
            <a:extLst>
              <a:ext uri="{FF2B5EF4-FFF2-40B4-BE49-F238E27FC236}">
                <a16:creationId xmlns:a16="http://schemas.microsoft.com/office/drawing/2014/main" id="{9C0791AA-D671-4496-B114-67EBD99A0463}"/>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bg1"/>
                </a:solidFill>
              </a:defRPr>
            </a:lvl1pPr>
          </a:lstStyle>
          <a:p>
            <a:fld id="{0D2E6A04-B99A-6C4D-8942-945F97C9E705}" type="slidenum">
              <a:rPr lang="en-US" smtClean="0"/>
              <a:pPr/>
              <a:t>‹nr.›</a:t>
            </a:fld>
            <a:endParaRPr lang="en-US"/>
          </a:p>
        </p:txBody>
      </p:sp>
      <p:sp>
        <p:nvSpPr>
          <p:cNvPr id="18" name="Date Placeholder 2">
            <a:extLst>
              <a:ext uri="{FF2B5EF4-FFF2-40B4-BE49-F238E27FC236}">
                <a16:creationId xmlns:a16="http://schemas.microsoft.com/office/drawing/2014/main" id="{3687440B-C9C6-4DC2-AE13-75F9171408AB}"/>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bg1"/>
                </a:solidFill>
              </a:defRPr>
            </a:lvl1pPr>
          </a:lstStyle>
          <a:p>
            <a:fld id="{41C7B704-6277-4566-9E7B-CC823712289A}" type="datetime1">
              <a:rPr lang="fr-FR" smtClean="0"/>
              <a:t>27/11/2025</a:t>
            </a:fld>
            <a:endParaRPr lang="en-US"/>
          </a:p>
        </p:txBody>
      </p:sp>
    </p:spTree>
    <p:extLst>
      <p:ext uri="{BB962C8B-B14F-4D97-AF65-F5344CB8AC3E}">
        <p14:creationId xmlns:p14="http://schemas.microsoft.com/office/powerpoint/2010/main" val="40337687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ockup-1">
    <p:bg>
      <p:bgPr>
        <a:solidFill>
          <a:schemeClr val="bg1"/>
        </a:solidFill>
        <a:effectLst/>
      </p:bgPr>
    </p:bg>
    <p:spTree>
      <p:nvGrpSpPr>
        <p:cNvPr id="1" name=""/>
        <p:cNvGrpSpPr/>
        <p:nvPr/>
      </p:nvGrpSpPr>
      <p:grpSpPr>
        <a:xfrm>
          <a:off x="0" y="0"/>
          <a:ext cx="0" cy="0"/>
          <a:chOff x="0" y="0"/>
          <a:chExt cx="0" cy="0"/>
        </a:xfrm>
      </p:grpSpPr>
      <p:pic>
        <p:nvPicPr>
          <p:cNvPr id="18" name="Image 16" descr="Une image contenant texte, équipement électronique, portable, afficher&#10;&#10;Description générée automatiquement">
            <a:extLst>
              <a:ext uri="{FF2B5EF4-FFF2-40B4-BE49-F238E27FC236}">
                <a16:creationId xmlns:a16="http://schemas.microsoft.com/office/drawing/2014/main" id="{7A6B97D8-20BB-42C9-91BF-39AF88C02B4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197673" y="1567302"/>
            <a:ext cx="7308669" cy="4523047"/>
          </a:xfrm>
          <a:prstGeom prst="rect">
            <a:avLst/>
          </a:prstGeom>
        </p:spPr>
      </p:pic>
      <p:pic>
        <p:nvPicPr>
          <p:cNvPr id="19" name="Picture 18">
            <a:extLst>
              <a:ext uri="{FF2B5EF4-FFF2-40B4-BE49-F238E27FC236}">
                <a16:creationId xmlns:a16="http://schemas.microsoft.com/office/drawing/2014/main" id="{ADB16EC1-15FC-468C-84BD-BF9FFA189DA2}"/>
              </a:ext>
            </a:extLst>
          </p:cNvPr>
          <p:cNvPicPr>
            <a:picLocks noChangeAspect="1"/>
          </p:cNvPicPr>
          <p:nvPr userDrawn="1"/>
        </p:nvPicPr>
        <p:blipFill>
          <a:blip r:embed="rId3"/>
          <a:stretch>
            <a:fillRect/>
          </a:stretch>
        </p:blipFill>
        <p:spPr>
          <a:xfrm>
            <a:off x="334961" y="1919082"/>
            <a:ext cx="3852096" cy="3852096"/>
          </a:xfrm>
          <a:prstGeom prst="rect">
            <a:avLst/>
          </a:prstGeom>
        </p:spPr>
      </p:pic>
      <p:sp>
        <p:nvSpPr>
          <p:cNvPr id="6" name="Text Placeholder 5">
            <a:extLst>
              <a:ext uri="{FF2B5EF4-FFF2-40B4-BE49-F238E27FC236}">
                <a16:creationId xmlns:a16="http://schemas.microsoft.com/office/drawing/2014/main" id="{12162CA2-A044-432C-82BA-84906CBEB5A2}"/>
              </a:ext>
            </a:extLst>
          </p:cNvPr>
          <p:cNvSpPr>
            <a:spLocks noGrp="1"/>
          </p:cNvSpPr>
          <p:nvPr>
            <p:ph type="body" sz="quarter" idx="28" hasCustomPrompt="1"/>
          </p:nvPr>
        </p:nvSpPr>
        <p:spPr>
          <a:xfrm>
            <a:off x="703784" y="2925256"/>
            <a:ext cx="3312368" cy="2183975"/>
          </a:xfrm>
          <a:prstGeom prst="rect">
            <a:avLst/>
          </a:prstGeom>
          <a:noFill/>
        </p:spPr>
        <p:txBody>
          <a:bodyPr/>
          <a:lstStyle>
            <a:lvl1pPr marL="0" indent="0">
              <a:lnSpc>
                <a:spcPct val="110000"/>
              </a:lnSpc>
              <a:buNone/>
              <a:defRPr sz="1200">
                <a:solidFill>
                  <a:schemeClr val="accent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8" name="Text Placeholder 7">
            <a:extLst>
              <a:ext uri="{FF2B5EF4-FFF2-40B4-BE49-F238E27FC236}">
                <a16:creationId xmlns:a16="http://schemas.microsoft.com/office/drawing/2014/main" id="{1F6D45D6-8205-4C94-8416-73C4EA08B4F6}"/>
              </a:ext>
            </a:extLst>
          </p:cNvPr>
          <p:cNvSpPr>
            <a:spLocks noGrp="1"/>
          </p:cNvSpPr>
          <p:nvPr>
            <p:ph type="body" sz="quarter" idx="29" hasCustomPrompt="1"/>
          </p:nvPr>
        </p:nvSpPr>
        <p:spPr>
          <a:xfrm>
            <a:off x="703784" y="2372927"/>
            <a:ext cx="2736304" cy="552329"/>
          </a:xfrm>
          <a:prstGeom prst="rect">
            <a:avLst/>
          </a:prstGeom>
        </p:spPr>
        <p:txBody>
          <a:bodyPr/>
          <a:lstStyle>
            <a:lvl1pPr marL="0" indent="0">
              <a:buNone/>
              <a:defRPr sz="2000"/>
            </a:lvl1pPr>
          </a:lstStyle>
          <a:p>
            <a:pPr lvl="0"/>
            <a:r>
              <a:rPr lang="en-US"/>
              <a:t>Paragraph title</a:t>
            </a:r>
            <a:endParaRPr lang="fr-FR"/>
          </a:p>
        </p:txBody>
      </p:sp>
      <p:sp>
        <p:nvSpPr>
          <p:cNvPr id="21" name="Text Placeholder 7">
            <a:extLst>
              <a:ext uri="{FF2B5EF4-FFF2-40B4-BE49-F238E27FC236}">
                <a16:creationId xmlns:a16="http://schemas.microsoft.com/office/drawing/2014/main" id="{95C98080-C8C9-4213-A9DE-FEB42F6B5CA8}"/>
              </a:ext>
            </a:extLst>
          </p:cNvPr>
          <p:cNvSpPr>
            <a:spLocks noGrp="1"/>
          </p:cNvSpPr>
          <p:nvPr>
            <p:ph type="body" sz="quarter" idx="30" hasCustomPrompt="1"/>
          </p:nvPr>
        </p:nvSpPr>
        <p:spPr>
          <a:xfrm>
            <a:off x="334962" y="1370391"/>
            <a:ext cx="11513932" cy="552329"/>
          </a:xfrm>
          <a:prstGeom prst="rect">
            <a:avLst/>
          </a:prstGeom>
        </p:spPr>
        <p:txBody>
          <a:bodyPr/>
          <a:lstStyle>
            <a:lvl1pPr marL="0" indent="0">
              <a:buNone/>
              <a:defRPr sz="2000"/>
            </a:lvl1pPr>
          </a:lstStyle>
          <a:p>
            <a:pPr lvl="0"/>
            <a:r>
              <a:rPr lang="en-US"/>
              <a:t>Paragraph title</a:t>
            </a:r>
            <a:endParaRPr lang="fr-FR"/>
          </a:p>
        </p:txBody>
      </p:sp>
      <p:sp>
        <p:nvSpPr>
          <p:cNvPr id="4" name="Picture Placeholder 3">
            <a:extLst>
              <a:ext uri="{FF2B5EF4-FFF2-40B4-BE49-F238E27FC236}">
                <a16:creationId xmlns:a16="http://schemas.microsoft.com/office/drawing/2014/main" id="{C899C7DA-FA2A-4AD5-AA68-5C0BA563530D}"/>
              </a:ext>
            </a:extLst>
          </p:cNvPr>
          <p:cNvSpPr>
            <a:spLocks noGrp="1"/>
          </p:cNvSpPr>
          <p:nvPr>
            <p:ph type="pic" sz="quarter" idx="31"/>
          </p:nvPr>
        </p:nvSpPr>
        <p:spPr>
          <a:xfrm>
            <a:off x="5087889" y="2107866"/>
            <a:ext cx="5524656" cy="3434182"/>
          </a:xfrm>
          <a:prstGeom prst="rect">
            <a:avLst/>
          </a:prstGeom>
        </p:spPr>
        <p:txBody>
          <a:bodyPr/>
          <a:lstStyle/>
          <a:p>
            <a:endParaRPr lang="fr-FR"/>
          </a:p>
        </p:txBody>
      </p:sp>
      <p:sp>
        <p:nvSpPr>
          <p:cNvPr id="25" name="Slide Number Placeholder 4">
            <a:extLst>
              <a:ext uri="{FF2B5EF4-FFF2-40B4-BE49-F238E27FC236}">
                <a16:creationId xmlns:a16="http://schemas.microsoft.com/office/drawing/2014/main" id="{564C2A2C-2556-442A-8B1E-73BFC28F4CC7}"/>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26" name="Date Placeholder 2">
            <a:extLst>
              <a:ext uri="{FF2B5EF4-FFF2-40B4-BE49-F238E27FC236}">
                <a16:creationId xmlns:a16="http://schemas.microsoft.com/office/drawing/2014/main" id="{3A9E7B52-A027-4AD2-A5B4-68CB9496A0EC}"/>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163396B5-C0E0-401A-A73E-AEED12937E07}" type="datetime1">
              <a:rPr lang="fr-FR" smtClean="0"/>
              <a:t>27/11/2025</a:t>
            </a:fld>
            <a:endParaRPr lang="en-US"/>
          </a:p>
        </p:txBody>
      </p:sp>
      <p:sp>
        <p:nvSpPr>
          <p:cNvPr id="23" name="Titel 14">
            <a:extLst>
              <a:ext uri="{FF2B5EF4-FFF2-40B4-BE49-F238E27FC236}">
                <a16:creationId xmlns:a16="http://schemas.microsoft.com/office/drawing/2014/main" id="{2E02F4A5-9F7C-40B8-AE80-8A7C252FE827}"/>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7" name="Straight Connector 26">
            <a:extLst>
              <a:ext uri="{FF2B5EF4-FFF2-40B4-BE49-F238E27FC236}">
                <a16:creationId xmlns:a16="http://schemas.microsoft.com/office/drawing/2014/main" id="{E6A3A3B1-0492-4DE4-9E77-C7630C6F11DE}"/>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8" name="Graphic 27">
            <a:extLst>
              <a:ext uri="{FF2B5EF4-FFF2-40B4-BE49-F238E27FC236}">
                <a16:creationId xmlns:a16="http://schemas.microsoft.com/office/drawing/2014/main" id="{6CD9F642-86C4-40B8-BB50-827F8118C654}"/>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13693915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mockup_2">
    <p:bg>
      <p:bgPr>
        <a:solidFill>
          <a:schemeClr val="bg1"/>
        </a:solidFill>
        <a:effectLst/>
      </p:bgPr>
    </p:bg>
    <p:spTree>
      <p:nvGrpSpPr>
        <p:cNvPr id="1" name=""/>
        <p:cNvGrpSpPr/>
        <p:nvPr/>
      </p:nvGrpSpPr>
      <p:grpSpPr>
        <a:xfrm>
          <a:off x="0" y="0"/>
          <a:ext cx="0" cy="0"/>
          <a:chOff x="0" y="0"/>
          <a:chExt cx="0" cy="0"/>
        </a:xfrm>
      </p:grpSpPr>
      <p:pic>
        <p:nvPicPr>
          <p:cNvPr id="23" name="Image 7">
            <a:extLst>
              <a:ext uri="{FF2B5EF4-FFF2-40B4-BE49-F238E27FC236}">
                <a16:creationId xmlns:a16="http://schemas.microsoft.com/office/drawing/2014/main" id="{03A1FFB4-280F-4F01-BA94-B0ECBE365100}"/>
              </a:ext>
            </a:extLst>
          </p:cNvPr>
          <p:cNvPicPr>
            <a:picLocks noChangeAspect="1"/>
          </p:cNvPicPr>
          <p:nvPr userDrawn="1"/>
        </p:nvPicPr>
        <p:blipFill>
          <a:blip r:embed="rId2" cstate="email">
            <a:grayscl/>
            <a:extLst>
              <a:ext uri="{28A0092B-C50C-407E-A947-70E740481C1C}">
                <a14:useLocalDpi xmlns:a14="http://schemas.microsoft.com/office/drawing/2010/main"/>
              </a:ext>
            </a:extLst>
          </a:blip>
          <a:srcRect/>
          <a:stretch/>
        </p:blipFill>
        <p:spPr>
          <a:xfrm>
            <a:off x="8057627" y="1134326"/>
            <a:ext cx="2830600" cy="5350387"/>
          </a:xfrm>
          <a:prstGeom prst="rect">
            <a:avLst/>
          </a:prstGeom>
        </p:spPr>
      </p:pic>
      <p:sp>
        <p:nvSpPr>
          <p:cNvPr id="24" name="Espace réservé pour une image  6">
            <a:extLst>
              <a:ext uri="{FF2B5EF4-FFF2-40B4-BE49-F238E27FC236}">
                <a16:creationId xmlns:a16="http://schemas.microsoft.com/office/drawing/2014/main" id="{2149025D-75C1-4FAB-8A8E-EADD255C03F9}"/>
              </a:ext>
            </a:extLst>
          </p:cNvPr>
          <p:cNvSpPr>
            <a:spLocks noGrp="1"/>
          </p:cNvSpPr>
          <p:nvPr>
            <p:ph type="pic" sz="quarter" idx="14"/>
          </p:nvPr>
        </p:nvSpPr>
        <p:spPr>
          <a:xfrm>
            <a:off x="8400257" y="1459130"/>
            <a:ext cx="2160240" cy="4703329"/>
          </a:xfrm>
          <a:custGeom>
            <a:avLst/>
            <a:gdLst>
              <a:gd name="connsiteX0" fmla="*/ 274308 w 2383631"/>
              <a:gd name="connsiteY0" fmla="*/ 0 h 5155406"/>
              <a:gd name="connsiteX1" fmla="*/ 496713 w 2383631"/>
              <a:gd name="connsiteY1" fmla="*/ 0 h 5155406"/>
              <a:gd name="connsiteX2" fmla="*/ 552448 w 2383631"/>
              <a:gd name="connsiteY2" fmla="*/ 55735 h 5155406"/>
              <a:gd name="connsiteX3" fmla="*/ 552162 w 2383631"/>
              <a:gd name="connsiteY3" fmla="*/ 57150 h 5155406"/>
              <a:gd name="connsiteX4" fmla="*/ 552448 w 2383631"/>
              <a:gd name="connsiteY4" fmla="*/ 57150 h 5155406"/>
              <a:gd name="connsiteX5" fmla="*/ 552448 w 2383631"/>
              <a:gd name="connsiteY5" fmla="*/ 55735 h 5155406"/>
              <a:gd name="connsiteX6" fmla="*/ 552448 w 2383631"/>
              <a:gd name="connsiteY6" fmla="*/ 0 h 5155406"/>
              <a:gd name="connsiteX7" fmla="*/ 552450 w 2383631"/>
              <a:gd name="connsiteY7" fmla="*/ 0 h 5155406"/>
              <a:gd name="connsiteX8" fmla="*/ 552450 w 2383631"/>
              <a:gd name="connsiteY8" fmla="*/ 54766 h 5155406"/>
              <a:gd name="connsiteX9" fmla="*/ 697709 w 2383631"/>
              <a:gd name="connsiteY9" fmla="*/ 200025 h 5155406"/>
              <a:gd name="connsiteX10" fmla="*/ 1690307 w 2383631"/>
              <a:gd name="connsiteY10" fmla="*/ 200025 h 5155406"/>
              <a:gd name="connsiteX11" fmla="*/ 1835566 w 2383631"/>
              <a:gd name="connsiteY11" fmla="*/ 54766 h 5155406"/>
              <a:gd name="connsiteX12" fmla="*/ 1835566 w 2383631"/>
              <a:gd name="connsiteY12" fmla="*/ 55735 h 5155406"/>
              <a:gd name="connsiteX13" fmla="*/ 1835566 w 2383631"/>
              <a:gd name="connsiteY13" fmla="*/ 57150 h 5155406"/>
              <a:gd name="connsiteX14" fmla="*/ 1835851 w 2383631"/>
              <a:gd name="connsiteY14" fmla="*/ 57150 h 5155406"/>
              <a:gd name="connsiteX15" fmla="*/ 1835566 w 2383631"/>
              <a:gd name="connsiteY15" fmla="*/ 55735 h 5155406"/>
              <a:gd name="connsiteX16" fmla="*/ 1891301 w 2383631"/>
              <a:gd name="connsiteY16" fmla="*/ 0 h 5155406"/>
              <a:gd name="connsiteX17" fmla="*/ 2109323 w 2383631"/>
              <a:gd name="connsiteY17" fmla="*/ 0 h 5155406"/>
              <a:gd name="connsiteX18" fmla="*/ 2383631 w 2383631"/>
              <a:gd name="connsiteY18" fmla="*/ 274308 h 5155406"/>
              <a:gd name="connsiteX19" fmla="*/ 2383631 w 2383631"/>
              <a:gd name="connsiteY19" fmla="*/ 4881098 h 5155406"/>
              <a:gd name="connsiteX20" fmla="*/ 2109323 w 2383631"/>
              <a:gd name="connsiteY20" fmla="*/ 5155406 h 5155406"/>
              <a:gd name="connsiteX21" fmla="*/ 274308 w 2383631"/>
              <a:gd name="connsiteY21" fmla="*/ 5155406 h 5155406"/>
              <a:gd name="connsiteX22" fmla="*/ 0 w 2383631"/>
              <a:gd name="connsiteY22" fmla="*/ 4881098 h 5155406"/>
              <a:gd name="connsiteX23" fmla="*/ 0 w 2383631"/>
              <a:gd name="connsiteY23" fmla="*/ 274308 h 5155406"/>
              <a:gd name="connsiteX24" fmla="*/ 274308 w 2383631"/>
              <a:gd name="connsiteY24" fmla="*/ 0 h 5155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383631" h="5155406">
                <a:moveTo>
                  <a:pt x="274308" y="0"/>
                </a:moveTo>
                <a:lnTo>
                  <a:pt x="496713" y="0"/>
                </a:lnTo>
                <a:cubicBezTo>
                  <a:pt x="527494" y="0"/>
                  <a:pt x="552448" y="24953"/>
                  <a:pt x="552448" y="55735"/>
                </a:cubicBezTo>
                <a:lnTo>
                  <a:pt x="552162" y="57150"/>
                </a:lnTo>
                <a:lnTo>
                  <a:pt x="552448" y="57150"/>
                </a:lnTo>
                <a:lnTo>
                  <a:pt x="552448" y="55735"/>
                </a:lnTo>
                <a:lnTo>
                  <a:pt x="552448" y="0"/>
                </a:lnTo>
                <a:lnTo>
                  <a:pt x="552450" y="0"/>
                </a:lnTo>
                <a:lnTo>
                  <a:pt x="552450" y="54766"/>
                </a:lnTo>
                <a:cubicBezTo>
                  <a:pt x="552450" y="134990"/>
                  <a:pt x="617485" y="200025"/>
                  <a:pt x="697709" y="200025"/>
                </a:cubicBezTo>
                <a:lnTo>
                  <a:pt x="1690307" y="200025"/>
                </a:lnTo>
                <a:cubicBezTo>
                  <a:pt x="1770531" y="200025"/>
                  <a:pt x="1835566" y="134990"/>
                  <a:pt x="1835566" y="54766"/>
                </a:cubicBezTo>
                <a:lnTo>
                  <a:pt x="1835566" y="55735"/>
                </a:lnTo>
                <a:lnTo>
                  <a:pt x="1835566" y="57150"/>
                </a:lnTo>
                <a:lnTo>
                  <a:pt x="1835851" y="57150"/>
                </a:lnTo>
                <a:lnTo>
                  <a:pt x="1835566" y="55735"/>
                </a:lnTo>
                <a:cubicBezTo>
                  <a:pt x="1835566" y="24953"/>
                  <a:pt x="1860519" y="0"/>
                  <a:pt x="1891301" y="0"/>
                </a:cubicBezTo>
                <a:lnTo>
                  <a:pt x="2109323" y="0"/>
                </a:lnTo>
                <a:cubicBezTo>
                  <a:pt x="2260819" y="0"/>
                  <a:pt x="2383631" y="122812"/>
                  <a:pt x="2383631" y="274308"/>
                </a:cubicBezTo>
                <a:lnTo>
                  <a:pt x="2383631" y="4881098"/>
                </a:lnTo>
                <a:cubicBezTo>
                  <a:pt x="2383631" y="5032594"/>
                  <a:pt x="2260819" y="5155406"/>
                  <a:pt x="2109323" y="5155406"/>
                </a:cubicBezTo>
                <a:lnTo>
                  <a:pt x="274308" y="5155406"/>
                </a:lnTo>
                <a:cubicBezTo>
                  <a:pt x="122812" y="5155406"/>
                  <a:pt x="0" y="5032594"/>
                  <a:pt x="0" y="4881098"/>
                </a:cubicBezTo>
                <a:lnTo>
                  <a:pt x="0" y="274308"/>
                </a:lnTo>
                <a:cubicBezTo>
                  <a:pt x="0" y="122812"/>
                  <a:pt x="122812" y="0"/>
                  <a:pt x="274308" y="0"/>
                </a:cubicBezTo>
                <a:close/>
              </a:path>
            </a:pathLst>
          </a:custGeom>
        </p:spPr>
        <p:txBody>
          <a:bodyPr/>
          <a:lstStyle/>
          <a:p>
            <a:endParaRPr lang="fr-FR"/>
          </a:p>
        </p:txBody>
      </p:sp>
      <p:sp>
        <p:nvSpPr>
          <p:cNvPr id="19" name="Slide Number Placeholder 4">
            <a:extLst>
              <a:ext uri="{FF2B5EF4-FFF2-40B4-BE49-F238E27FC236}">
                <a16:creationId xmlns:a16="http://schemas.microsoft.com/office/drawing/2014/main" id="{4AB445C5-8E6F-4510-8735-5A5F71421B21}"/>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21" name="Date Placeholder 2">
            <a:extLst>
              <a:ext uri="{FF2B5EF4-FFF2-40B4-BE49-F238E27FC236}">
                <a16:creationId xmlns:a16="http://schemas.microsoft.com/office/drawing/2014/main" id="{0F97DEDE-5EF2-4F76-AAE2-0AEA82B4FE65}"/>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91AF09C8-B8C9-4319-B42A-ABCBE6C76F5D}" type="datetime1">
              <a:rPr lang="fr-FR" smtClean="0"/>
              <a:t>27/11/2025</a:t>
            </a:fld>
            <a:endParaRPr lang="en-US"/>
          </a:p>
        </p:txBody>
      </p:sp>
      <p:sp>
        <p:nvSpPr>
          <p:cNvPr id="25" name="Espace réservé du contenu 6">
            <a:extLst>
              <a:ext uri="{FF2B5EF4-FFF2-40B4-BE49-F238E27FC236}">
                <a16:creationId xmlns:a16="http://schemas.microsoft.com/office/drawing/2014/main" id="{1426606B-A2A9-4F52-A426-7A7BC6889088}"/>
              </a:ext>
            </a:extLst>
          </p:cNvPr>
          <p:cNvSpPr>
            <a:spLocks noGrp="1"/>
          </p:cNvSpPr>
          <p:nvPr>
            <p:ph sz="quarter" idx="13" hasCustomPrompt="1"/>
          </p:nvPr>
        </p:nvSpPr>
        <p:spPr>
          <a:xfrm>
            <a:off x="336757" y="1341438"/>
            <a:ext cx="7271411" cy="4871632"/>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3"/>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8" name="Titel 14">
            <a:extLst>
              <a:ext uri="{FF2B5EF4-FFF2-40B4-BE49-F238E27FC236}">
                <a16:creationId xmlns:a16="http://schemas.microsoft.com/office/drawing/2014/main" id="{974B5DDE-E39D-442D-B518-0A95FAB822AE}"/>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6" name="Straight Connector 25">
            <a:extLst>
              <a:ext uri="{FF2B5EF4-FFF2-40B4-BE49-F238E27FC236}">
                <a16:creationId xmlns:a16="http://schemas.microsoft.com/office/drawing/2014/main" id="{D6AFB3A4-5290-47AE-80CC-41B088283968}"/>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8" name="Graphic 27">
            <a:extLst>
              <a:ext uri="{FF2B5EF4-FFF2-40B4-BE49-F238E27FC236}">
                <a16:creationId xmlns:a16="http://schemas.microsoft.com/office/drawing/2014/main" id="{8F0FCDF2-E4B8-4FF8-951F-333F195AE69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29502315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graph_1">
    <p:bg>
      <p:bgPr>
        <a:solidFill>
          <a:schemeClr val="bg1"/>
        </a:solidFill>
        <a:effectLst/>
      </p:bgPr>
    </p:bg>
    <p:spTree>
      <p:nvGrpSpPr>
        <p:cNvPr id="1" name=""/>
        <p:cNvGrpSpPr/>
        <p:nvPr/>
      </p:nvGrpSpPr>
      <p:grpSpPr>
        <a:xfrm>
          <a:off x="0" y="0"/>
          <a:ext cx="0" cy="0"/>
          <a:chOff x="0" y="0"/>
          <a:chExt cx="0" cy="0"/>
        </a:xfrm>
      </p:grpSpPr>
      <p:sp>
        <p:nvSpPr>
          <p:cNvPr id="4" name="Chart Placeholder 3">
            <a:extLst>
              <a:ext uri="{FF2B5EF4-FFF2-40B4-BE49-F238E27FC236}">
                <a16:creationId xmlns:a16="http://schemas.microsoft.com/office/drawing/2014/main" id="{A99C9207-CB47-47E2-9A1B-D9C0DF55E4F9}"/>
              </a:ext>
            </a:extLst>
          </p:cNvPr>
          <p:cNvSpPr>
            <a:spLocks noGrp="1"/>
          </p:cNvSpPr>
          <p:nvPr>
            <p:ph type="chart" sz="quarter" idx="32"/>
          </p:nvPr>
        </p:nvSpPr>
        <p:spPr>
          <a:xfrm>
            <a:off x="6456363" y="1124747"/>
            <a:ext cx="5392737" cy="4939504"/>
          </a:xfrm>
          <a:prstGeom prst="rect">
            <a:avLst/>
          </a:prstGeom>
        </p:spPr>
        <p:txBody>
          <a:bodyPr/>
          <a:lstStyle/>
          <a:p>
            <a:endParaRPr lang="fr-FR"/>
          </a:p>
        </p:txBody>
      </p:sp>
      <p:sp>
        <p:nvSpPr>
          <p:cNvPr id="21" name="Slide Number Placeholder 4">
            <a:extLst>
              <a:ext uri="{FF2B5EF4-FFF2-40B4-BE49-F238E27FC236}">
                <a16:creationId xmlns:a16="http://schemas.microsoft.com/office/drawing/2014/main" id="{ADE82548-2FA4-4C50-9E29-81255A5BC6F1}"/>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23" name="Date Placeholder 2">
            <a:extLst>
              <a:ext uri="{FF2B5EF4-FFF2-40B4-BE49-F238E27FC236}">
                <a16:creationId xmlns:a16="http://schemas.microsoft.com/office/drawing/2014/main" id="{1DC8D84A-92C6-45F3-84ED-CA077369E75A}"/>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48915346-7BF6-4FC4-97C0-1AFF70E97D6F}" type="datetime1">
              <a:rPr lang="fr-FR" smtClean="0"/>
              <a:t>27/11/2025</a:t>
            </a:fld>
            <a:endParaRPr lang="en-US"/>
          </a:p>
        </p:txBody>
      </p:sp>
      <p:sp>
        <p:nvSpPr>
          <p:cNvPr id="17" name="Espace réservé du contenu 6">
            <a:extLst>
              <a:ext uri="{FF2B5EF4-FFF2-40B4-BE49-F238E27FC236}">
                <a16:creationId xmlns:a16="http://schemas.microsoft.com/office/drawing/2014/main" id="{3B400F7A-3F2C-4929-878C-45AE48D05E73}"/>
              </a:ext>
            </a:extLst>
          </p:cNvPr>
          <p:cNvSpPr>
            <a:spLocks noGrp="1"/>
          </p:cNvSpPr>
          <p:nvPr>
            <p:ph sz="quarter" idx="13" hasCustomPrompt="1"/>
          </p:nvPr>
        </p:nvSpPr>
        <p:spPr>
          <a:xfrm>
            <a:off x="336757" y="1117918"/>
            <a:ext cx="5759243" cy="5095152"/>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8" name="Titel 14">
            <a:extLst>
              <a:ext uri="{FF2B5EF4-FFF2-40B4-BE49-F238E27FC236}">
                <a16:creationId xmlns:a16="http://schemas.microsoft.com/office/drawing/2014/main" id="{F9349C76-111E-4F4D-886C-21AB4F1B1AF3}"/>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19" name="Straight Connector 18">
            <a:extLst>
              <a:ext uri="{FF2B5EF4-FFF2-40B4-BE49-F238E27FC236}">
                <a16:creationId xmlns:a16="http://schemas.microsoft.com/office/drawing/2014/main" id="{FA97BF97-1403-4B3C-BE19-557AAAE5C732}"/>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9C7E7CB3-7441-445A-9D97-74909A90587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20025813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graph_2">
    <p:bg>
      <p:bgPr>
        <a:solidFill>
          <a:schemeClr val="bg1"/>
        </a:solidFill>
        <a:effectLst/>
      </p:bgPr>
    </p:bg>
    <p:spTree>
      <p:nvGrpSpPr>
        <p:cNvPr id="1" name=""/>
        <p:cNvGrpSpPr/>
        <p:nvPr/>
      </p:nvGrpSpPr>
      <p:grpSpPr>
        <a:xfrm>
          <a:off x="0" y="0"/>
          <a:ext cx="0" cy="0"/>
          <a:chOff x="0" y="0"/>
          <a:chExt cx="0" cy="0"/>
        </a:xfrm>
      </p:grpSpPr>
      <p:sp>
        <p:nvSpPr>
          <p:cNvPr id="4" name="Chart Placeholder 3">
            <a:extLst>
              <a:ext uri="{FF2B5EF4-FFF2-40B4-BE49-F238E27FC236}">
                <a16:creationId xmlns:a16="http://schemas.microsoft.com/office/drawing/2014/main" id="{A99C9207-CB47-47E2-9A1B-D9C0DF55E4F9}"/>
              </a:ext>
            </a:extLst>
          </p:cNvPr>
          <p:cNvSpPr>
            <a:spLocks noGrp="1"/>
          </p:cNvSpPr>
          <p:nvPr>
            <p:ph type="chart" sz="quarter" idx="32"/>
          </p:nvPr>
        </p:nvSpPr>
        <p:spPr>
          <a:xfrm>
            <a:off x="336757" y="1220999"/>
            <a:ext cx="5759243" cy="3168348"/>
          </a:xfrm>
          <a:prstGeom prst="rect">
            <a:avLst/>
          </a:prstGeom>
        </p:spPr>
        <p:txBody>
          <a:bodyPr/>
          <a:lstStyle/>
          <a:p>
            <a:endParaRPr lang="fr-FR"/>
          </a:p>
        </p:txBody>
      </p:sp>
      <p:sp>
        <p:nvSpPr>
          <p:cNvPr id="21" name="Slide Number Placeholder 4">
            <a:extLst>
              <a:ext uri="{FF2B5EF4-FFF2-40B4-BE49-F238E27FC236}">
                <a16:creationId xmlns:a16="http://schemas.microsoft.com/office/drawing/2014/main" id="{ADE82548-2FA4-4C50-9E29-81255A5BC6F1}"/>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23" name="Date Placeholder 2">
            <a:extLst>
              <a:ext uri="{FF2B5EF4-FFF2-40B4-BE49-F238E27FC236}">
                <a16:creationId xmlns:a16="http://schemas.microsoft.com/office/drawing/2014/main" id="{1DC8D84A-92C6-45F3-84ED-CA077369E75A}"/>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48915346-7BF6-4FC4-97C0-1AFF70E97D6F}" type="datetime1">
              <a:rPr lang="fr-FR" smtClean="0"/>
              <a:t>27/11/2025</a:t>
            </a:fld>
            <a:endParaRPr lang="en-US"/>
          </a:p>
        </p:txBody>
      </p:sp>
      <p:sp>
        <p:nvSpPr>
          <p:cNvPr id="17" name="Espace réservé du contenu 6">
            <a:extLst>
              <a:ext uri="{FF2B5EF4-FFF2-40B4-BE49-F238E27FC236}">
                <a16:creationId xmlns:a16="http://schemas.microsoft.com/office/drawing/2014/main" id="{3B400F7A-3F2C-4929-878C-45AE48D05E73}"/>
              </a:ext>
            </a:extLst>
          </p:cNvPr>
          <p:cNvSpPr>
            <a:spLocks noGrp="1"/>
          </p:cNvSpPr>
          <p:nvPr>
            <p:ph sz="quarter" idx="13" hasCustomPrompt="1"/>
          </p:nvPr>
        </p:nvSpPr>
        <p:spPr>
          <a:xfrm>
            <a:off x="336757" y="4533363"/>
            <a:ext cx="5759243" cy="1559933"/>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endParaRPr lang="fr-FR"/>
          </a:p>
        </p:txBody>
      </p:sp>
      <p:sp>
        <p:nvSpPr>
          <p:cNvPr id="18" name="Titel 14">
            <a:extLst>
              <a:ext uri="{FF2B5EF4-FFF2-40B4-BE49-F238E27FC236}">
                <a16:creationId xmlns:a16="http://schemas.microsoft.com/office/drawing/2014/main" id="{F9349C76-111E-4F4D-886C-21AB4F1B1AF3}"/>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19" name="Straight Connector 18">
            <a:extLst>
              <a:ext uri="{FF2B5EF4-FFF2-40B4-BE49-F238E27FC236}">
                <a16:creationId xmlns:a16="http://schemas.microsoft.com/office/drawing/2014/main" id="{FA97BF97-1403-4B3C-BE19-557AAAE5C732}"/>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9C7E7CB3-7441-445A-9D97-74909A90587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
        <p:nvSpPr>
          <p:cNvPr id="3" name="Espace réservé du contenu 6">
            <a:extLst>
              <a:ext uri="{FF2B5EF4-FFF2-40B4-BE49-F238E27FC236}">
                <a16:creationId xmlns:a16="http://schemas.microsoft.com/office/drawing/2014/main" id="{AEBA425F-E483-4CF4-DCFF-567159453D58}"/>
              </a:ext>
            </a:extLst>
          </p:cNvPr>
          <p:cNvSpPr>
            <a:spLocks noGrp="1"/>
          </p:cNvSpPr>
          <p:nvPr>
            <p:ph sz="quarter" idx="33" hasCustomPrompt="1"/>
          </p:nvPr>
        </p:nvSpPr>
        <p:spPr>
          <a:xfrm>
            <a:off x="9336360" y="1556793"/>
            <a:ext cx="2232248" cy="1944215"/>
          </a:xfrm>
          <a:prstGeom prst="rect">
            <a:avLst/>
          </a:prstGeom>
        </p:spPr>
        <p:txBody>
          <a:bodyPr tIns="360000" anchor="ctr" anchorCtr="0"/>
          <a:lstStyle>
            <a:lvl1pPr marL="0" indent="0" algn="ctr">
              <a:lnSpc>
                <a:spcPct val="120000"/>
              </a:lnSpc>
              <a:spcBef>
                <a:spcPts val="1000"/>
              </a:spcBef>
              <a:buNone/>
              <a:defRPr sz="1100">
                <a:solidFill>
                  <a:schemeClr val="tx1"/>
                </a:solidFill>
                <a:latin typeface="Bagoss Standard Medium" panose="020B0604060102020204" pitchFamily="34" charset="0"/>
                <a:cs typeface="Bagoss Standard Medium" panose="020B0604060102020204" pitchFamily="34" charset="0"/>
              </a:defRPr>
            </a:lvl1pPr>
            <a:lvl2pPr marL="0" indent="-228600" algn="ctr">
              <a:lnSpc>
                <a:spcPct val="100000"/>
              </a:lnSpc>
              <a:spcBef>
                <a:spcPts val="600"/>
              </a:spcBef>
              <a:spcAft>
                <a:spcPts val="0"/>
              </a:spcAft>
              <a:buFontTx/>
              <a:buBlip>
                <a:blip r:embed="rId5"/>
              </a:buBlip>
              <a:defRPr sz="1100">
                <a:latin typeface="Bagoss Standard Medium" panose="020B0604060102020204" pitchFamily="34" charset="0"/>
                <a:cs typeface="Bagoss Standard Medium" panose="020B0604060102020204" pitchFamily="34" charset="0"/>
              </a:defRPr>
            </a:lvl2pPr>
            <a:lvl3pPr marL="0" indent="0" algn="ctr">
              <a:lnSpc>
                <a:spcPts val="1300"/>
              </a:lnSpc>
              <a:spcBef>
                <a:spcPts val="1200"/>
              </a:spcBef>
              <a:spcAft>
                <a:spcPts val="0"/>
              </a:spcAft>
              <a:buNone/>
              <a:defRPr sz="4000">
                <a:solidFill>
                  <a:schemeClr val="tx1"/>
                </a:solidFill>
                <a:latin typeface="Bagoss Standard Medium" panose="020B0604060102020204" pitchFamily="34" charset="0"/>
                <a:cs typeface="Bagoss Standard Medium" panose="020B0604060102020204" pitchFamily="34" charset="0"/>
              </a:defRPr>
            </a:lvl3pPr>
            <a:lvl4pPr marL="324000" indent="0" algn="ctr">
              <a:lnSpc>
                <a:spcPct val="250000"/>
              </a:lnSpc>
              <a:buNone/>
              <a:defRPr>
                <a:highlight>
                  <a:srgbClr val="B2EDA7"/>
                </a:highlight>
              </a:defRPr>
            </a:lvl4pPr>
            <a:lvl5pPr marL="324000" indent="0" algn="ctr">
              <a:lnSpc>
                <a:spcPct val="120000"/>
              </a:lnSpc>
              <a:buNone/>
              <a:defRPr sz="1200">
                <a:solidFill>
                  <a:schemeClr val="bg1">
                    <a:lumMod val="25000"/>
                  </a:schemeClr>
                </a:solidFill>
              </a:defRPr>
            </a:lvl5pPr>
            <a:lvl6pPr marL="0" indent="0" algn="ctr">
              <a:buNone/>
              <a:defRPr sz="1400" b="1"/>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2"/>
            <a:r>
              <a:rPr lang="fr-FR" err="1"/>
              <a:t>erf</a:t>
            </a:r>
            <a:endParaRPr lang="fr-FR"/>
          </a:p>
          <a:p>
            <a:pPr lvl="3"/>
            <a:r>
              <a:rPr lang="fr-FR"/>
              <a:t>Paragraphe </a:t>
            </a:r>
            <a:r>
              <a:rPr lang="fr-FR" err="1"/>
              <a:t>title</a:t>
            </a:r>
            <a:r>
              <a:rPr lang="fr-FR"/>
              <a:t> 2</a:t>
            </a:r>
          </a:p>
          <a:p>
            <a:pPr lvl="4"/>
            <a:r>
              <a:rPr lang="fr-FR" err="1"/>
              <a:t>Text</a:t>
            </a:r>
            <a:endParaRPr lang="fr-FR"/>
          </a:p>
          <a:p>
            <a:pPr lvl="5"/>
            <a:r>
              <a:rPr lang="fr-FR"/>
              <a:t>Sixième niveau</a:t>
            </a:r>
          </a:p>
        </p:txBody>
      </p:sp>
    </p:spTree>
    <p:extLst>
      <p:ext uri="{BB962C8B-B14F-4D97-AF65-F5344CB8AC3E}">
        <p14:creationId xmlns:p14="http://schemas.microsoft.com/office/powerpoint/2010/main" val="398517641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graph_3">
    <p:bg>
      <p:bgPr>
        <a:solidFill>
          <a:schemeClr val="bg1"/>
        </a:solidFill>
        <a:effectLst/>
      </p:bgPr>
    </p:bg>
    <p:spTree>
      <p:nvGrpSpPr>
        <p:cNvPr id="1" name=""/>
        <p:cNvGrpSpPr/>
        <p:nvPr/>
      </p:nvGrpSpPr>
      <p:grpSpPr>
        <a:xfrm>
          <a:off x="0" y="0"/>
          <a:ext cx="0" cy="0"/>
          <a:chOff x="0" y="0"/>
          <a:chExt cx="0" cy="0"/>
        </a:xfrm>
      </p:grpSpPr>
      <p:sp>
        <p:nvSpPr>
          <p:cNvPr id="4" name="Chart Placeholder 3">
            <a:extLst>
              <a:ext uri="{FF2B5EF4-FFF2-40B4-BE49-F238E27FC236}">
                <a16:creationId xmlns:a16="http://schemas.microsoft.com/office/drawing/2014/main" id="{A99C9207-CB47-47E2-9A1B-D9C0DF55E4F9}"/>
              </a:ext>
            </a:extLst>
          </p:cNvPr>
          <p:cNvSpPr>
            <a:spLocks noGrp="1"/>
          </p:cNvSpPr>
          <p:nvPr>
            <p:ph type="chart" sz="quarter" idx="32"/>
          </p:nvPr>
        </p:nvSpPr>
        <p:spPr>
          <a:xfrm>
            <a:off x="6456363" y="1124745"/>
            <a:ext cx="5392737" cy="4939506"/>
          </a:xfrm>
          <a:prstGeom prst="rect">
            <a:avLst/>
          </a:prstGeom>
        </p:spPr>
        <p:txBody>
          <a:bodyPr/>
          <a:lstStyle/>
          <a:p>
            <a:endParaRPr lang="fr-FR"/>
          </a:p>
        </p:txBody>
      </p:sp>
      <p:sp>
        <p:nvSpPr>
          <p:cNvPr id="21" name="Slide Number Placeholder 4">
            <a:extLst>
              <a:ext uri="{FF2B5EF4-FFF2-40B4-BE49-F238E27FC236}">
                <a16:creationId xmlns:a16="http://schemas.microsoft.com/office/drawing/2014/main" id="{18C369C3-57E7-4B1A-97B9-D12132D09053}"/>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23" name="Date Placeholder 2">
            <a:extLst>
              <a:ext uri="{FF2B5EF4-FFF2-40B4-BE49-F238E27FC236}">
                <a16:creationId xmlns:a16="http://schemas.microsoft.com/office/drawing/2014/main" id="{00E47AFB-5751-402E-9C4D-475286CF1BA1}"/>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4D9B4C68-74AD-424F-82F3-6B735D326102}" type="datetime1">
              <a:rPr lang="fr-FR" smtClean="0"/>
              <a:t>27/11/2025</a:t>
            </a:fld>
            <a:endParaRPr lang="en-US"/>
          </a:p>
        </p:txBody>
      </p:sp>
      <p:sp>
        <p:nvSpPr>
          <p:cNvPr id="17" name="Espace réservé du contenu 6">
            <a:extLst>
              <a:ext uri="{FF2B5EF4-FFF2-40B4-BE49-F238E27FC236}">
                <a16:creationId xmlns:a16="http://schemas.microsoft.com/office/drawing/2014/main" id="{C26FEBEA-2085-4686-9F4F-F84D3D0BA861}"/>
              </a:ext>
            </a:extLst>
          </p:cNvPr>
          <p:cNvSpPr>
            <a:spLocks noGrp="1"/>
          </p:cNvSpPr>
          <p:nvPr>
            <p:ph sz="quarter" idx="13" hasCustomPrompt="1"/>
          </p:nvPr>
        </p:nvSpPr>
        <p:spPr>
          <a:xfrm>
            <a:off x="336757" y="1117916"/>
            <a:ext cx="5759243" cy="5095154"/>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8" name="Titel 14">
            <a:extLst>
              <a:ext uri="{FF2B5EF4-FFF2-40B4-BE49-F238E27FC236}">
                <a16:creationId xmlns:a16="http://schemas.microsoft.com/office/drawing/2014/main" id="{80F6BD7A-EC93-480C-BCA6-6CBC59B7F9B1}"/>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19" name="Straight Connector 18">
            <a:extLst>
              <a:ext uri="{FF2B5EF4-FFF2-40B4-BE49-F238E27FC236}">
                <a16:creationId xmlns:a16="http://schemas.microsoft.com/office/drawing/2014/main" id="{8F8CF61E-83A2-4547-9907-2677C3E649B3}"/>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67465D55-11A0-412F-AE0F-6F8158B80ADB}"/>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41357528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raph_4">
    <p:bg>
      <p:bgPr>
        <a:solidFill>
          <a:schemeClr val="bg1"/>
        </a:solidFill>
        <a:effectLst/>
      </p:bgPr>
    </p:bg>
    <p:spTree>
      <p:nvGrpSpPr>
        <p:cNvPr id="1" name=""/>
        <p:cNvGrpSpPr/>
        <p:nvPr/>
      </p:nvGrpSpPr>
      <p:grpSpPr>
        <a:xfrm>
          <a:off x="0" y="0"/>
          <a:ext cx="0" cy="0"/>
          <a:chOff x="0" y="0"/>
          <a:chExt cx="0" cy="0"/>
        </a:xfrm>
      </p:grpSpPr>
      <p:sp>
        <p:nvSpPr>
          <p:cNvPr id="18" name="Slide Number Placeholder 4">
            <a:extLst>
              <a:ext uri="{FF2B5EF4-FFF2-40B4-BE49-F238E27FC236}">
                <a16:creationId xmlns:a16="http://schemas.microsoft.com/office/drawing/2014/main" id="{DCA4171D-B01D-4D53-AC85-2F924913E274}"/>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21" name="Date Placeholder 2">
            <a:extLst>
              <a:ext uri="{FF2B5EF4-FFF2-40B4-BE49-F238E27FC236}">
                <a16:creationId xmlns:a16="http://schemas.microsoft.com/office/drawing/2014/main" id="{326CD297-0FF1-4A58-80D7-6A4247229274}"/>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B54900FE-C60D-44DF-883A-862BF735F8A8}" type="datetime1">
              <a:rPr lang="fr-FR" smtClean="0"/>
              <a:t>27/11/2025</a:t>
            </a:fld>
            <a:endParaRPr lang="en-US"/>
          </a:p>
        </p:txBody>
      </p:sp>
      <p:sp>
        <p:nvSpPr>
          <p:cNvPr id="19" name="Titel 14">
            <a:extLst>
              <a:ext uri="{FF2B5EF4-FFF2-40B4-BE49-F238E27FC236}">
                <a16:creationId xmlns:a16="http://schemas.microsoft.com/office/drawing/2014/main" id="{679B49E5-DEF5-495F-B9C5-5B62CAF22597}"/>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3" name="Straight Connector 22">
            <a:extLst>
              <a:ext uri="{FF2B5EF4-FFF2-40B4-BE49-F238E27FC236}">
                <a16:creationId xmlns:a16="http://schemas.microsoft.com/office/drawing/2014/main" id="{20CFFBAE-0733-4AB7-989B-0C9C7B8F4361}"/>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2FA4752E-D1DB-4496-9098-C1E981C1623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cxnSp>
        <p:nvCxnSpPr>
          <p:cNvPr id="11" name="Connecteur droit avec flèche 19">
            <a:extLst>
              <a:ext uri="{FF2B5EF4-FFF2-40B4-BE49-F238E27FC236}">
                <a16:creationId xmlns:a16="http://schemas.microsoft.com/office/drawing/2014/main" id="{82157D0B-5B43-4499-B811-FC97F94CC5B3}"/>
              </a:ext>
            </a:extLst>
          </p:cNvPr>
          <p:cNvCxnSpPr>
            <a:cxnSpLocks/>
          </p:cNvCxnSpPr>
          <p:nvPr userDrawn="1"/>
        </p:nvCxnSpPr>
        <p:spPr>
          <a:xfrm flipV="1">
            <a:off x="-257272" y="3429000"/>
            <a:ext cx="11953202" cy="1"/>
          </a:xfrm>
          <a:prstGeom prst="straightConnector1">
            <a:avLst/>
          </a:prstGeom>
          <a:ln w="476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Espace réservé du texte 9">
            <a:extLst>
              <a:ext uri="{FF2B5EF4-FFF2-40B4-BE49-F238E27FC236}">
                <a16:creationId xmlns:a16="http://schemas.microsoft.com/office/drawing/2014/main" id="{5BAA6DF2-6BF1-44D2-A7A2-4E832E7F3524}"/>
              </a:ext>
            </a:extLst>
          </p:cNvPr>
          <p:cNvSpPr>
            <a:spLocks noGrp="1"/>
          </p:cNvSpPr>
          <p:nvPr>
            <p:ph type="body" sz="quarter" idx="13" hasCustomPrompt="1"/>
          </p:nvPr>
        </p:nvSpPr>
        <p:spPr>
          <a:xfrm>
            <a:off x="1173541" y="2957868"/>
            <a:ext cx="832289" cy="832289"/>
          </a:xfrm>
          <a:custGeom>
            <a:avLst/>
            <a:gdLst>
              <a:gd name="connsiteX0" fmla="*/ 361950 w 723900"/>
              <a:gd name="connsiteY0" fmla="*/ 0 h 723900"/>
              <a:gd name="connsiteX1" fmla="*/ 723900 w 723900"/>
              <a:gd name="connsiteY1" fmla="*/ 361950 h 723900"/>
              <a:gd name="connsiteX2" fmla="*/ 361950 w 723900"/>
              <a:gd name="connsiteY2" fmla="*/ 723900 h 723900"/>
              <a:gd name="connsiteX3" fmla="*/ 0 w 723900"/>
              <a:gd name="connsiteY3" fmla="*/ 361950 h 723900"/>
              <a:gd name="connsiteX4" fmla="*/ 361950 w 723900"/>
              <a:gd name="connsiteY4" fmla="*/ 0 h 7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3900" h="723900">
                <a:moveTo>
                  <a:pt x="361950" y="0"/>
                </a:moveTo>
                <a:cubicBezTo>
                  <a:pt x="561849" y="0"/>
                  <a:pt x="723900" y="162051"/>
                  <a:pt x="723900" y="361950"/>
                </a:cubicBezTo>
                <a:cubicBezTo>
                  <a:pt x="723900" y="561849"/>
                  <a:pt x="561849" y="723900"/>
                  <a:pt x="361950" y="723900"/>
                </a:cubicBezTo>
                <a:cubicBezTo>
                  <a:pt x="162051" y="723900"/>
                  <a:pt x="0" y="561849"/>
                  <a:pt x="0" y="361950"/>
                </a:cubicBezTo>
                <a:cubicBezTo>
                  <a:pt x="0" y="162051"/>
                  <a:pt x="162051" y="0"/>
                  <a:pt x="361950" y="0"/>
                </a:cubicBezTo>
                <a:close/>
              </a:path>
            </a:pathLst>
          </a:custGeom>
          <a:solidFill>
            <a:schemeClr val="accent1"/>
          </a:solidFill>
        </p:spPr>
        <p:txBody>
          <a:bodyPr wrap="square" anchor="ctr">
            <a:noAutofit/>
          </a:bodyPr>
          <a:lstStyle>
            <a:lvl1pPr marL="0" indent="0" algn="ctr">
              <a:spcAft>
                <a:spcPts val="0"/>
              </a:spcAft>
              <a:buNone/>
              <a:defRPr sz="1400" cap="none"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Date</a:t>
            </a:r>
          </a:p>
        </p:txBody>
      </p:sp>
      <p:sp>
        <p:nvSpPr>
          <p:cNvPr id="13" name="Espace réservé du texte 10">
            <a:extLst>
              <a:ext uri="{FF2B5EF4-FFF2-40B4-BE49-F238E27FC236}">
                <a16:creationId xmlns:a16="http://schemas.microsoft.com/office/drawing/2014/main" id="{ED273E6C-5B43-47A1-AB8A-A2455EA34929}"/>
              </a:ext>
            </a:extLst>
          </p:cNvPr>
          <p:cNvSpPr>
            <a:spLocks noGrp="1"/>
          </p:cNvSpPr>
          <p:nvPr>
            <p:ph type="body" sz="quarter" idx="14" hasCustomPrompt="1"/>
          </p:nvPr>
        </p:nvSpPr>
        <p:spPr>
          <a:xfrm>
            <a:off x="2482094" y="2938101"/>
            <a:ext cx="832289" cy="832289"/>
          </a:xfrm>
          <a:custGeom>
            <a:avLst/>
            <a:gdLst>
              <a:gd name="connsiteX0" fmla="*/ 361950 w 723900"/>
              <a:gd name="connsiteY0" fmla="*/ 0 h 723900"/>
              <a:gd name="connsiteX1" fmla="*/ 723900 w 723900"/>
              <a:gd name="connsiteY1" fmla="*/ 361950 h 723900"/>
              <a:gd name="connsiteX2" fmla="*/ 361950 w 723900"/>
              <a:gd name="connsiteY2" fmla="*/ 723900 h 723900"/>
              <a:gd name="connsiteX3" fmla="*/ 0 w 723900"/>
              <a:gd name="connsiteY3" fmla="*/ 361950 h 723900"/>
              <a:gd name="connsiteX4" fmla="*/ 361950 w 723900"/>
              <a:gd name="connsiteY4" fmla="*/ 0 h 7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3900" h="723900">
                <a:moveTo>
                  <a:pt x="361950" y="0"/>
                </a:moveTo>
                <a:cubicBezTo>
                  <a:pt x="561849" y="0"/>
                  <a:pt x="723900" y="162051"/>
                  <a:pt x="723900" y="361950"/>
                </a:cubicBezTo>
                <a:cubicBezTo>
                  <a:pt x="723900" y="561849"/>
                  <a:pt x="561849" y="723900"/>
                  <a:pt x="361950" y="723900"/>
                </a:cubicBezTo>
                <a:cubicBezTo>
                  <a:pt x="162051" y="723900"/>
                  <a:pt x="0" y="561849"/>
                  <a:pt x="0" y="361950"/>
                </a:cubicBezTo>
                <a:cubicBezTo>
                  <a:pt x="0" y="162051"/>
                  <a:pt x="162051" y="0"/>
                  <a:pt x="361950" y="0"/>
                </a:cubicBezTo>
                <a:close/>
              </a:path>
            </a:pathLst>
          </a:custGeom>
          <a:solidFill>
            <a:schemeClr val="accent2"/>
          </a:solidFill>
        </p:spPr>
        <p:txBody>
          <a:bodyPr wrap="square" anchor="ctr">
            <a:noAutofit/>
          </a:bodyPr>
          <a:lstStyle>
            <a:lvl1pPr marL="0" indent="0" algn="ctr">
              <a:spcAft>
                <a:spcPts val="0"/>
              </a:spcAft>
              <a:buNone/>
              <a:defRPr sz="1400" cap="none"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Date</a:t>
            </a:r>
          </a:p>
        </p:txBody>
      </p:sp>
      <p:sp>
        <p:nvSpPr>
          <p:cNvPr id="14" name="Espace réservé du texte 11">
            <a:extLst>
              <a:ext uri="{FF2B5EF4-FFF2-40B4-BE49-F238E27FC236}">
                <a16:creationId xmlns:a16="http://schemas.microsoft.com/office/drawing/2014/main" id="{85A9C4E4-9C76-46EA-A104-6A52B8A2A572}"/>
              </a:ext>
            </a:extLst>
          </p:cNvPr>
          <p:cNvSpPr>
            <a:spLocks noGrp="1"/>
          </p:cNvSpPr>
          <p:nvPr>
            <p:ph type="body" sz="quarter" idx="15" hasCustomPrompt="1"/>
          </p:nvPr>
        </p:nvSpPr>
        <p:spPr>
          <a:xfrm>
            <a:off x="3790647" y="2938101"/>
            <a:ext cx="832289" cy="832289"/>
          </a:xfrm>
          <a:custGeom>
            <a:avLst/>
            <a:gdLst>
              <a:gd name="connsiteX0" fmla="*/ 361950 w 723900"/>
              <a:gd name="connsiteY0" fmla="*/ 0 h 723900"/>
              <a:gd name="connsiteX1" fmla="*/ 723900 w 723900"/>
              <a:gd name="connsiteY1" fmla="*/ 361950 h 723900"/>
              <a:gd name="connsiteX2" fmla="*/ 361950 w 723900"/>
              <a:gd name="connsiteY2" fmla="*/ 723900 h 723900"/>
              <a:gd name="connsiteX3" fmla="*/ 0 w 723900"/>
              <a:gd name="connsiteY3" fmla="*/ 361950 h 723900"/>
              <a:gd name="connsiteX4" fmla="*/ 361950 w 723900"/>
              <a:gd name="connsiteY4" fmla="*/ 0 h 7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3900" h="723900">
                <a:moveTo>
                  <a:pt x="361950" y="0"/>
                </a:moveTo>
                <a:cubicBezTo>
                  <a:pt x="561849" y="0"/>
                  <a:pt x="723900" y="162051"/>
                  <a:pt x="723900" y="361950"/>
                </a:cubicBezTo>
                <a:cubicBezTo>
                  <a:pt x="723900" y="561849"/>
                  <a:pt x="561849" y="723900"/>
                  <a:pt x="361950" y="723900"/>
                </a:cubicBezTo>
                <a:cubicBezTo>
                  <a:pt x="162051" y="723900"/>
                  <a:pt x="0" y="561849"/>
                  <a:pt x="0" y="361950"/>
                </a:cubicBezTo>
                <a:cubicBezTo>
                  <a:pt x="0" y="162051"/>
                  <a:pt x="162051" y="0"/>
                  <a:pt x="361950" y="0"/>
                </a:cubicBezTo>
                <a:close/>
              </a:path>
            </a:pathLst>
          </a:custGeom>
          <a:solidFill>
            <a:schemeClr val="accent3"/>
          </a:solidFill>
        </p:spPr>
        <p:txBody>
          <a:bodyPr wrap="square" anchor="ctr">
            <a:noAutofit/>
          </a:bodyPr>
          <a:lstStyle>
            <a:lvl1pPr marL="0" indent="0" algn="ctr">
              <a:spcAft>
                <a:spcPts val="0"/>
              </a:spcAft>
              <a:buNone/>
              <a:defRPr sz="1400" cap="none"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Date</a:t>
            </a:r>
          </a:p>
        </p:txBody>
      </p:sp>
      <p:sp>
        <p:nvSpPr>
          <p:cNvPr id="15" name="Espace réservé du texte 12">
            <a:extLst>
              <a:ext uri="{FF2B5EF4-FFF2-40B4-BE49-F238E27FC236}">
                <a16:creationId xmlns:a16="http://schemas.microsoft.com/office/drawing/2014/main" id="{F45A75B0-EDC2-4FD4-8027-3C0679164E98}"/>
              </a:ext>
            </a:extLst>
          </p:cNvPr>
          <p:cNvSpPr>
            <a:spLocks noGrp="1"/>
          </p:cNvSpPr>
          <p:nvPr>
            <p:ph type="body" sz="quarter" idx="16" hasCustomPrompt="1"/>
          </p:nvPr>
        </p:nvSpPr>
        <p:spPr>
          <a:xfrm>
            <a:off x="5099200" y="2938101"/>
            <a:ext cx="832289" cy="832289"/>
          </a:xfrm>
          <a:custGeom>
            <a:avLst/>
            <a:gdLst>
              <a:gd name="connsiteX0" fmla="*/ 361950 w 723900"/>
              <a:gd name="connsiteY0" fmla="*/ 0 h 723900"/>
              <a:gd name="connsiteX1" fmla="*/ 723900 w 723900"/>
              <a:gd name="connsiteY1" fmla="*/ 361950 h 723900"/>
              <a:gd name="connsiteX2" fmla="*/ 361950 w 723900"/>
              <a:gd name="connsiteY2" fmla="*/ 723900 h 723900"/>
              <a:gd name="connsiteX3" fmla="*/ 0 w 723900"/>
              <a:gd name="connsiteY3" fmla="*/ 361950 h 723900"/>
              <a:gd name="connsiteX4" fmla="*/ 361950 w 723900"/>
              <a:gd name="connsiteY4" fmla="*/ 0 h 7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3900" h="723900">
                <a:moveTo>
                  <a:pt x="361950" y="0"/>
                </a:moveTo>
                <a:cubicBezTo>
                  <a:pt x="561849" y="0"/>
                  <a:pt x="723900" y="162051"/>
                  <a:pt x="723900" y="361950"/>
                </a:cubicBezTo>
                <a:cubicBezTo>
                  <a:pt x="723900" y="561849"/>
                  <a:pt x="561849" y="723900"/>
                  <a:pt x="361950" y="723900"/>
                </a:cubicBezTo>
                <a:cubicBezTo>
                  <a:pt x="162051" y="723900"/>
                  <a:pt x="0" y="561849"/>
                  <a:pt x="0" y="361950"/>
                </a:cubicBezTo>
                <a:cubicBezTo>
                  <a:pt x="0" y="162051"/>
                  <a:pt x="162051" y="0"/>
                  <a:pt x="361950" y="0"/>
                </a:cubicBezTo>
                <a:close/>
              </a:path>
            </a:pathLst>
          </a:custGeom>
          <a:solidFill>
            <a:schemeClr val="accent4"/>
          </a:solidFill>
        </p:spPr>
        <p:txBody>
          <a:bodyPr wrap="square" anchor="ctr">
            <a:noAutofit/>
          </a:bodyPr>
          <a:lstStyle>
            <a:lvl1pPr marL="0" indent="0" algn="ctr">
              <a:spcAft>
                <a:spcPts val="0"/>
              </a:spcAft>
              <a:buNone/>
              <a:defRPr sz="1400" cap="none"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Date</a:t>
            </a:r>
          </a:p>
        </p:txBody>
      </p:sp>
      <p:sp>
        <p:nvSpPr>
          <p:cNvPr id="16" name="Espace réservé du texte 13">
            <a:extLst>
              <a:ext uri="{FF2B5EF4-FFF2-40B4-BE49-F238E27FC236}">
                <a16:creationId xmlns:a16="http://schemas.microsoft.com/office/drawing/2014/main" id="{1EB615D0-8561-40D1-A9FF-DB0B9BB02487}"/>
              </a:ext>
            </a:extLst>
          </p:cNvPr>
          <p:cNvSpPr>
            <a:spLocks noGrp="1"/>
          </p:cNvSpPr>
          <p:nvPr>
            <p:ph type="body" sz="quarter" idx="17" hasCustomPrompt="1"/>
          </p:nvPr>
        </p:nvSpPr>
        <p:spPr>
          <a:xfrm>
            <a:off x="6407753" y="2938101"/>
            <a:ext cx="832289" cy="832289"/>
          </a:xfrm>
          <a:custGeom>
            <a:avLst/>
            <a:gdLst>
              <a:gd name="connsiteX0" fmla="*/ 361950 w 723900"/>
              <a:gd name="connsiteY0" fmla="*/ 0 h 723900"/>
              <a:gd name="connsiteX1" fmla="*/ 723900 w 723900"/>
              <a:gd name="connsiteY1" fmla="*/ 361950 h 723900"/>
              <a:gd name="connsiteX2" fmla="*/ 361950 w 723900"/>
              <a:gd name="connsiteY2" fmla="*/ 723900 h 723900"/>
              <a:gd name="connsiteX3" fmla="*/ 0 w 723900"/>
              <a:gd name="connsiteY3" fmla="*/ 361950 h 723900"/>
              <a:gd name="connsiteX4" fmla="*/ 361950 w 723900"/>
              <a:gd name="connsiteY4" fmla="*/ 0 h 7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3900" h="723900">
                <a:moveTo>
                  <a:pt x="361950" y="0"/>
                </a:moveTo>
                <a:cubicBezTo>
                  <a:pt x="561849" y="0"/>
                  <a:pt x="723900" y="162051"/>
                  <a:pt x="723900" y="361950"/>
                </a:cubicBezTo>
                <a:cubicBezTo>
                  <a:pt x="723900" y="561849"/>
                  <a:pt x="561849" y="723900"/>
                  <a:pt x="361950" y="723900"/>
                </a:cubicBezTo>
                <a:cubicBezTo>
                  <a:pt x="162051" y="723900"/>
                  <a:pt x="0" y="561849"/>
                  <a:pt x="0" y="361950"/>
                </a:cubicBezTo>
                <a:cubicBezTo>
                  <a:pt x="0" y="162051"/>
                  <a:pt x="162051" y="0"/>
                  <a:pt x="361950" y="0"/>
                </a:cubicBezTo>
                <a:close/>
              </a:path>
            </a:pathLst>
          </a:custGeom>
          <a:solidFill>
            <a:schemeClr val="accent5"/>
          </a:solidFill>
        </p:spPr>
        <p:txBody>
          <a:bodyPr wrap="square" anchor="ctr">
            <a:noAutofit/>
          </a:bodyPr>
          <a:lstStyle>
            <a:lvl1pPr marL="0" indent="0" algn="ctr">
              <a:spcAft>
                <a:spcPts val="0"/>
              </a:spcAft>
              <a:buNone/>
              <a:defRPr sz="1400" cap="none"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Date</a:t>
            </a:r>
          </a:p>
        </p:txBody>
      </p:sp>
      <p:sp>
        <p:nvSpPr>
          <p:cNvPr id="20" name="Espace réservé du texte 14">
            <a:extLst>
              <a:ext uri="{FF2B5EF4-FFF2-40B4-BE49-F238E27FC236}">
                <a16:creationId xmlns:a16="http://schemas.microsoft.com/office/drawing/2014/main" id="{6C61FD5F-4FF2-4CCF-8216-A276AD21DF84}"/>
              </a:ext>
            </a:extLst>
          </p:cNvPr>
          <p:cNvSpPr>
            <a:spLocks noGrp="1"/>
          </p:cNvSpPr>
          <p:nvPr>
            <p:ph type="body" sz="quarter" idx="18" hasCustomPrompt="1"/>
          </p:nvPr>
        </p:nvSpPr>
        <p:spPr>
          <a:xfrm>
            <a:off x="7716306" y="2938101"/>
            <a:ext cx="832289" cy="832289"/>
          </a:xfrm>
          <a:custGeom>
            <a:avLst/>
            <a:gdLst>
              <a:gd name="connsiteX0" fmla="*/ 361950 w 723900"/>
              <a:gd name="connsiteY0" fmla="*/ 0 h 723900"/>
              <a:gd name="connsiteX1" fmla="*/ 723900 w 723900"/>
              <a:gd name="connsiteY1" fmla="*/ 361950 h 723900"/>
              <a:gd name="connsiteX2" fmla="*/ 361950 w 723900"/>
              <a:gd name="connsiteY2" fmla="*/ 723900 h 723900"/>
              <a:gd name="connsiteX3" fmla="*/ 0 w 723900"/>
              <a:gd name="connsiteY3" fmla="*/ 361950 h 723900"/>
              <a:gd name="connsiteX4" fmla="*/ 361950 w 723900"/>
              <a:gd name="connsiteY4" fmla="*/ 0 h 7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3900" h="723900">
                <a:moveTo>
                  <a:pt x="361950" y="0"/>
                </a:moveTo>
                <a:cubicBezTo>
                  <a:pt x="561849" y="0"/>
                  <a:pt x="723900" y="162051"/>
                  <a:pt x="723900" y="361950"/>
                </a:cubicBezTo>
                <a:cubicBezTo>
                  <a:pt x="723900" y="561849"/>
                  <a:pt x="561849" y="723900"/>
                  <a:pt x="361950" y="723900"/>
                </a:cubicBezTo>
                <a:cubicBezTo>
                  <a:pt x="162051" y="723900"/>
                  <a:pt x="0" y="561849"/>
                  <a:pt x="0" y="361950"/>
                </a:cubicBezTo>
                <a:cubicBezTo>
                  <a:pt x="0" y="162051"/>
                  <a:pt x="162051" y="0"/>
                  <a:pt x="361950" y="0"/>
                </a:cubicBezTo>
                <a:close/>
              </a:path>
            </a:pathLst>
          </a:custGeom>
          <a:solidFill>
            <a:schemeClr val="accent6"/>
          </a:solidFill>
        </p:spPr>
        <p:txBody>
          <a:bodyPr wrap="square" anchor="ctr">
            <a:noAutofit/>
          </a:bodyPr>
          <a:lstStyle>
            <a:lvl1pPr marL="0" indent="0" algn="ctr">
              <a:spcAft>
                <a:spcPts val="0"/>
              </a:spcAft>
              <a:buNone/>
              <a:defRPr sz="1400" cap="none"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Date</a:t>
            </a:r>
          </a:p>
        </p:txBody>
      </p:sp>
      <p:sp>
        <p:nvSpPr>
          <p:cNvPr id="22" name="Espace réservé du texte 17">
            <a:extLst>
              <a:ext uri="{FF2B5EF4-FFF2-40B4-BE49-F238E27FC236}">
                <a16:creationId xmlns:a16="http://schemas.microsoft.com/office/drawing/2014/main" id="{C7E7B9E7-1191-45B9-9409-E9FAAA1B7D7A}"/>
              </a:ext>
            </a:extLst>
          </p:cNvPr>
          <p:cNvSpPr>
            <a:spLocks noGrp="1"/>
          </p:cNvSpPr>
          <p:nvPr>
            <p:ph type="body" sz="quarter" idx="19" hasCustomPrompt="1"/>
          </p:nvPr>
        </p:nvSpPr>
        <p:spPr>
          <a:xfrm>
            <a:off x="9024859" y="2938101"/>
            <a:ext cx="832289" cy="832289"/>
          </a:xfrm>
          <a:custGeom>
            <a:avLst/>
            <a:gdLst>
              <a:gd name="connsiteX0" fmla="*/ 361950 w 723900"/>
              <a:gd name="connsiteY0" fmla="*/ 0 h 723900"/>
              <a:gd name="connsiteX1" fmla="*/ 723900 w 723900"/>
              <a:gd name="connsiteY1" fmla="*/ 361950 h 723900"/>
              <a:gd name="connsiteX2" fmla="*/ 361950 w 723900"/>
              <a:gd name="connsiteY2" fmla="*/ 723900 h 723900"/>
              <a:gd name="connsiteX3" fmla="*/ 0 w 723900"/>
              <a:gd name="connsiteY3" fmla="*/ 361950 h 723900"/>
              <a:gd name="connsiteX4" fmla="*/ 361950 w 723900"/>
              <a:gd name="connsiteY4" fmla="*/ 0 h 7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3900" h="723900">
                <a:moveTo>
                  <a:pt x="361950" y="0"/>
                </a:moveTo>
                <a:cubicBezTo>
                  <a:pt x="561849" y="0"/>
                  <a:pt x="723900" y="162051"/>
                  <a:pt x="723900" y="361950"/>
                </a:cubicBezTo>
                <a:cubicBezTo>
                  <a:pt x="723900" y="561849"/>
                  <a:pt x="561849" y="723900"/>
                  <a:pt x="361950" y="723900"/>
                </a:cubicBezTo>
                <a:cubicBezTo>
                  <a:pt x="162051" y="723900"/>
                  <a:pt x="0" y="561849"/>
                  <a:pt x="0" y="361950"/>
                </a:cubicBezTo>
                <a:cubicBezTo>
                  <a:pt x="0" y="162051"/>
                  <a:pt x="162051" y="0"/>
                  <a:pt x="361950" y="0"/>
                </a:cubicBezTo>
                <a:close/>
              </a:path>
            </a:pathLst>
          </a:custGeom>
          <a:solidFill>
            <a:srgbClr val="8DC8E8"/>
          </a:solidFill>
        </p:spPr>
        <p:txBody>
          <a:bodyPr wrap="square" anchor="ctr">
            <a:noAutofit/>
          </a:bodyPr>
          <a:lstStyle>
            <a:lvl1pPr marL="0" indent="0" algn="ctr">
              <a:spcAft>
                <a:spcPts val="0"/>
              </a:spcAft>
              <a:buNone/>
              <a:defRPr sz="1400" cap="none"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Date</a:t>
            </a:r>
          </a:p>
        </p:txBody>
      </p:sp>
      <p:sp>
        <p:nvSpPr>
          <p:cNvPr id="24" name="Espace réservé du texte 18">
            <a:extLst>
              <a:ext uri="{FF2B5EF4-FFF2-40B4-BE49-F238E27FC236}">
                <a16:creationId xmlns:a16="http://schemas.microsoft.com/office/drawing/2014/main" id="{1B8BFFF6-FB1C-4DCF-9551-4DC6B1166992}"/>
              </a:ext>
            </a:extLst>
          </p:cNvPr>
          <p:cNvSpPr>
            <a:spLocks noGrp="1"/>
          </p:cNvSpPr>
          <p:nvPr>
            <p:ph type="body" sz="quarter" idx="20" hasCustomPrompt="1"/>
          </p:nvPr>
        </p:nvSpPr>
        <p:spPr>
          <a:xfrm>
            <a:off x="10333415" y="2938101"/>
            <a:ext cx="832289" cy="832289"/>
          </a:xfrm>
          <a:custGeom>
            <a:avLst/>
            <a:gdLst>
              <a:gd name="connsiteX0" fmla="*/ 361950 w 723900"/>
              <a:gd name="connsiteY0" fmla="*/ 0 h 723900"/>
              <a:gd name="connsiteX1" fmla="*/ 723900 w 723900"/>
              <a:gd name="connsiteY1" fmla="*/ 361950 h 723900"/>
              <a:gd name="connsiteX2" fmla="*/ 361950 w 723900"/>
              <a:gd name="connsiteY2" fmla="*/ 723900 h 723900"/>
              <a:gd name="connsiteX3" fmla="*/ 0 w 723900"/>
              <a:gd name="connsiteY3" fmla="*/ 361950 h 723900"/>
              <a:gd name="connsiteX4" fmla="*/ 361950 w 723900"/>
              <a:gd name="connsiteY4" fmla="*/ 0 h 7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3900" h="723900">
                <a:moveTo>
                  <a:pt x="361950" y="0"/>
                </a:moveTo>
                <a:cubicBezTo>
                  <a:pt x="561849" y="0"/>
                  <a:pt x="723900" y="162051"/>
                  <a:pt x="723900" y="361950"/>
                </a:cubicBezTo>
                <a:cubicBezTo>
                  <a:pt x="723900" y="561849"/>
                  <a:pt x="561849" y="723900"/>
                  <a:pt x="361950" y="723900"/>
                </a:cubicBezTo>
                <a:cubicBezTo>
                  <a:pt x="162051" y="723900"/>
                  <a:pt x="0" y="561849"/>
                  <a:pt x="0" y="361950"/>
                </a:cubicBezTo>
                <a:cubicBezTo>
                  <a:pt x="0" y="162051"/>
                  <a:pt x="162051" y="0"/>
                  <a:pt x="361950" y="0"/>
                </a:cubicBezTo>
                <a:close/>
              </a:path>
            </a:pathLst>
          </a:custGeom>
          <a:solidFill>
            <a:srgbClr val="E6ADBE"/>
          </a:solidFill>
        </p:spPr>
        <p:txBody>
          <a:bodyPr wrap="square" anchor="ctr">
            <a:noAutofit/>
          </a:bodyPr>
          <a:lstStyle>
            <a:lvl1pPr marL="0" indent="0" algn="ctr">
              <a:spcAft>
                <a:spcPts val="0"/>
              </a:spcAft>
              <a:buNone/>
              <a:defRPr sz="1400" cap="none"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Date</a:t>
            </a:r>
          </a:p>
        </p:txBody>
      </p:sp>
      <p:sp>
        <p:nvSpPr>
          <p:cNvPr id="29" name="Espace réservé du texte 22">
            <a:extLst>
              <a:ext uri="{FF2B5EF4-FFF2-40B4-BE49-F238E27FC236}">
                <a16:creationId xmlns:a16="http://schemas.microsoft.com/office/drawing/2014/main" id="{16A49026-9DDC-4DEC-9349-93D1C08BDF76}"/>
              </a:ext>
            </a:extLst>
          </p:cNvPr>
          <p:cNvSpPr>
            <a:spLocks noGrp="1"/>
          </p:cNvSpPr>
          <p:nvPr>
            <p:ph type="body" sz="quarter" idx="28" hasCustomPrompt="1"/>
          </p:nvPr>
        </p:nvSpPr>
        <p:spPr>
          <a:xfrm>
            <a:off x="509023" y="1477838"/>
            <a:ext cx="2176675" cy="1035039"/>
          </a:xfrm>
          <a:prstGeom prst="rect">
            <a:avLst/>
          </a:prstGeom>
        </p:spPr>
        <p:txBody>
          <a:bodyPr anchor="ctr" anchorCtr="0">
            <a:noAutofit/>
          </a:bodyPr>
          <a:lstStyle>
            <a:lvl1pPr marL="0" indent="0" algn="ctr">
              <a:spcAft>
                <a:spcPts val="300"/>
              </a:spcAft>
              <a:buNone/>
              <a:defRPr sz="1400" b="0">
                <a:solidFill>
                  <a:schemeClr val="accent1"/>
                </a:solidFill>
              </a:defRPr>
            </a:lvl1pPr>
            <a:lvl2pPr marL="0" indent="0" algn="ctr">
              <a:spcAft>
                <a:spcPts val="300"/>
              </a:spcAft>
              <a:buFontTx/>
              <a:buNone/>
              <a:defRPr sz="1400" cap="all" baseline="0">
                <a:solidFill>
                  <a:schemeClr val="accent2"/>
                </a:solidFill>
                <a:latin typeface="+mj-lt"/>
              </a:defRPr>
            </a:lvl2pPr>
            <a:lvl3pPr algn="ctr">
              <a:defRPr/>
            </a:lvl3pPr>
            <a:lvl4pPr algn="ctr">
              <a:defRPr/>
            </a:lvl4pPr>
            <a:lvl5pPr algn="ctr">
              <a:defRPr/>
            </a:lvl5pPr>
          </a:lstStyle>
          <a:p>
            <a:pPr lvl="0"/>
            <a:r>
              <a:rPr lang="en-US"/>
              <a:t>Text</a:t>
            </a:r>
          </a:p>
          <a:p>
            <a:pPr lvl="0"/>
            <a:r>
              <a:rPr lang="fr-FR"/>
              <a:t>TITRE</a:t>
            </a:r>
          </a:p>
        </p:txBody>
      </p:sp>
      <p:sp>
        <p:nvSpPr>
          <p:cNvPr id="34" name="Espace réservé du texte 22">
            <a:extLst>
              <a:ext uri="{FF2B5EF4-FFF2-40B4-BE49-F238E27FC236}">
                <a16:creationId xmlns:a16="http://schemas.microsoft.com/office/drawing/2014/main" id="{A99BAA1A-E09C-4363-AA56-912797FB92E3}"/>
              </a:ext>
            </a:extLst>
          </p:cNvPr>
          <p:cNvSpPr>
            <a:spLocks noGrp="1"/>
          </p:cNvSpPr>
          <p:nvPr>
            <p:ph type="body" sz="quarter" idx="33" hasCustomPrompt="1"/>
          </p:nvPr>
        </p:nvSpPr>
        <p:spPr>
          <a:xfrm>
            <a:off x="3118454" y="1477838"/>
            <a:ext cx="2176675" cy="1035039"/>
          </a:xfrm>
          <a:prstGeom prst="rect">
            <a:avLst/>
          </a:prstGeom>
        </p:spPr>
        <p:txBody>
          <a:bodyPr anchor="ctr" anchorCtr="0">
            <a:noAutofit/>
          </a:bodyPr>
          <a:lstStyle>
            <a:lvl1pPr marL="0" indent="0" algn="ctr">
              <a:spcAft>
                <a:spcPts val="300"/>
              </a:spcAft>
              <a:buNone/>
              <a:defRPr sz="1400" b="0">
                <a:solidFill>
                  <a:schemeClr val="accent1"/>
                </a:solidFill>
              </a:defRPr>
            </a:lvl1pPr>
            <a:lvl2pPr marL="0" indent="0" algn="ctr">
              <a:spcAft>
                <a:spcPts val="300"/>
              </a:spcAft>
              <a:buFontTx/>
              <a:buNone/>
              <a:defRPr sz="1400" cap="all" baseline="0">
                <a:solidFill>
                  <a:schemeClr val="accent2"/>
                </a:solidFill>
                <a:latin typeface="+mj-lt"/>
              </a:defRPr>
            </a:lvl2pPr>
            <a:lvl3pPr algn="ctr">
              <a:defRPr/>
            </a:lvl3pPr>
            <a:lvl4pPr algn="ctr">
              <a:defRPr/>
            </a:lvl4pPr>
            <a:lvl5pPr algn="ctr">
              <a:defRPr/>
            </a:lvl5pPr>
          </a:lstStyle>
          <a:p>
            <a:pPr lvl="0"/>
            <a:r>
              <a:rPr lang="en-US"/>
              <a:t>Text</a:t>
            </a:r>
          </a:p>
          <a:p>
            <a:pPr lvl="0"/>
            <a:r>
              <a:rPr lang="fr-FR"/>
              <a:t>TITRE</a:t>
            </a:r>
          </a:p>
        </p:txBody>
      </p:sp>
      <p:sp>
        <p:nvSpPr>
          <p:cNvPr id="35" name="Espace réservé du texte 22">
            <a:extLst>
              <a:ext uri="{FF2B5EF4-FFF2-40B4-BE49-F238E27FC236}">
                <a16:creationId xmlns:a16="http://schemas.microsoft.com/office/drawing/2014/main" id="{CF7CD207-D6C9-4F3B-8E35-0A29272125A0}"/>
              </a:ext>
            </a:extLst>
          </p:cNvPr>
          <p:cNvSpPr>
            <a:spLocks noGrp="1"/>
          </p:cNvSpPr>
          <p:nvPr>
            <p:ph type="body" sz="quarter" idx="34" hasCustomPrompt="1"/>
          </p:nvPr>
        </p:nvSpPr>
        <p:spPr>
          <a:xfrm>
            <a:off x="5735560" y="1477838"/>
            <a:ext cx="2176675" cy="1035039"/>
          </a:xfrm>
          <a:prstGeom prst="rect">
            <a:avLst/>
          </a:prstGeom>
        </p:spPr>
        <p:txBody>
          <a:bodyPr anchor="ctr" anchorCtr="0">
            <a:noAutofit/>
          </a:bodyPr>
          <a:lstStyle>
            <a:lvl1pPr marL="0" indent="0" algn="ctr">
              <a:spcAft>
                <a:spcPts val="300"/>
              </a:spcAft>
              <a:buNone/>
              <a:defRPr sz="1400" b="0">
                <a:solidFill>
                  <a:schemeClr val="accent1"/>
                </a:solidFill>
              </a:defRPr>
            </a:lvl1pPr>
            <a:lvl2pPr marL="0" indent="0" algn="ctr">
              <a:spcAft>
                <a:spcPts val="300"/>
              </a:spcAft>
              <a:buFontTx/>
              <a:buNone/>
              <a:defRPr sz="1400" cap="all" baseline="0">
                <a:solidFill>
                  <a:schemeClr val="accent2"/>
                </a:solidFill>
                <a:latin typeface="+mj-lt"/>
              </a:defRPr>
            </a:lvl2pPr>
            <a:lvl3pPr algn="ctr">
              <a:defRPr/>
            </a:lvl3pPr>
            <a:lvl4pPr algn="ctr">
              <a:defRPr/>
            </a:lvl4pPr>
            <a:lvl5pPr algn="ctr">
              <a:defRPr/>
            </a:lvl5pPr>
          </a:lstStyle>
          <a:p>
            <a:pPr lvl="0"/>
            <a:r>
              <a:rPr lang="en-US"/>
              <a:t>Text</a:t>
            </a:r>
          </a:p>
          <a:p>
            <a:pPr lvl="0"/>
            <a:r>
              <a:rPr lang="fr-FR"/>
              <a:t>TITRE</a:t>
            </a:r>
          </a:p>
        </p:txBody>
      </p:sp>
      <p:sp>
        <p:nvSpPr>
          <p:cNvPr id="36" name="Espace réservé du texte 22">
            <a:extLst>
              <a:ext uri="{FF2B5EF4-FFF2-40B4-BE49-F238E27FC236}">
                <a16:creationId xmlns:a16="http://schemas.microsoft.com/office/drawing/2014/main" id="{D4CC00DC-4570-4C16-A178-BFBDE56AE4BC}"/>
              </a:ext>
            </a:extLst>
          </p:cNvPr>
          <p:cNvSpPr>
            <a:spLocks noGrp="1"/>
          </p:cNvSpPr>
          <p:nvPr>
            <p:ph type="body" sz="quarter" idx="35" hasCustomPrompt="1"/>
          </p:nvPr>
        </p:nvSpPr>
        <p:spPr>
          <a:xfrm>
            <a:off x="8306408" y="1477838"/>
            <a:ext cx="2176675" cy="1035039"/>
          </a:xfrm>
          <a:prstGeom prst="rect">
            <a:avLst/>
          </a:prstGeom>
        </p:spPr>
        <p:txBody>
          <a:bodyPr anchor="ctr" anchorCtr="0">
            <a:noAutofit/>
          </a:bodyPr>
          <a:lstStyle>
            <a:lvl1pPr marL="0" indent="0" algn="ctr">
              <a:spcAft>
                <a:spcPts val="300"/>
              </a:spcAft>
              <a:buNone/>
              <a:defRPr sz="1400" b="0">
                <a:solidFill>
                  <a:schemeClr val="accent1"/>
                </a:solidFill>
              </a:defRPr>
            </a:lvl1pPr>
            <a:lvl2pPr marL="0" indent="0" algn="ctr">
              <a:spcAft>
                <a:spcPts val="300"/>
              </a:spcAft>
              <a:buFontTx/>
              <a:buNone/>
              <a:defRPr sz="1400" cap="all" baseline="0">
                <a:solidFill>
                  <a:schemeClr val="accent2"/>
                </a:solidFill>
                <a:latin typeface="+mj-lt"/>
              </a:defRPr>
            </a:lvl2pPr>
            <a:lvl3pPr algn="ctr">
              <a:defRPr/>
            </a:lvl3pPr>
            <a:lvl4pPr algn="ctr">
              <a:defRPr/>
            </a:lvl4pPr>
            <a:lvl5pPr algn="ctr">
              <a:defRPr/>
            </a:lvl5pPr>
          </a:lstStyle>
          <a:p>
            <a:pPr lvl="0"/>
            <a:r>
              <a:rPr lang="en-US"/>
              <a:t>Text</a:t>
            </a:r>
          </a:p>
          <a:p>
            <a:pPr lvl="0"/>
            <a:r>
              <a:rPr lang="fr-FR"/>
              <a:t>TITRE</a:t>
            </a:r>
          </a:p>
        </p:txBody>
      </p:sp>
      <p:sp>
        <p:nvSpPr>
          <p:cNvPr id="38" name="Espace réservé du texte 22">
            <a:extLst>
              <a:ext uri="{FF2B5EF4-FFF2-40B4-BE49-F238E27FC236}">
                <a16:creationId xmlns:a16="http://schemas.microsoft.com/office/drawing/2014/main" id="{885ABC25-DCA1-476F-B9DE-8CD54A70E9D1}"/>
              </a:ext>
            </a:extLst>
          </p:cNvPr>
          <p:cNvSpPr>
            <a:spLocks noGrp="1"/>
          </p:cNvSpPr>
          <p:nvPr>
            <p:ph type="body" sz="quarter" idx="37" hasCustomPrompt="1"/>
          </p:nvPr>
        </p:nvSpPr>
        <p:spPr>
          <a:xfrm>
            <a:off x="1809901" y="4215381"/>
            <a:ext cx="2176675" cy="1035039"/>
          </a:xfrm>
          <a:prstGeom prst="rect">
            <a:avLst/>
          </a:prstGeom>
        </p:spPr>
        <p:txBody>
          <a:bodyPr anchor="ctr" anchorCtr="0">
            <a:noAutofit/>
          </a:bodyPr>
          <a:lstStyle>
            <a:lvl1pPr marL="0" indent="0" algn="ctr">
              <a:spcAft>
                <a:spcPts val="300"/>
              </a:spcAft>
              <a:buNone/>
              <a:defRPr sz="1400" b="0">
                <a:solidFill>
                  <a:schemeClr val="accent1"/>
                </a:solidFill>
              </a:defRPr>
            </a:lvl1pPr>
            <a:lvl2pPr marL="0" indent="0" algn="ctr">
              <a:spcAft>
                <a:spcPts val="300"/>
              </a:spcAft>
              <a:buFontTx/>
              <a:buNone/>
              <a:defRPr sz="1400" cap="all" baseline="0">
                <a:solidFill>
                  <a:schemeClr val="accent2"/>
                </a:solidFill>
                <a:latin typeface="+mj-lt"/>
              </a:defRPr>
            </a:lvl2pPr>
            <a:lvl3pPr algn="ctr">
              <a:defRPr/>
            </a:lvl3pPr>
            <a:lvl4pPr algn="ctr">
              <a:defRPr/>
            </a:lvl4pPr>
            <a:lvl5pPr algn="ctr">
              <a:defRPr/>
            </a:lvl5pPr>
          </a:lstStyle>
          <a:p>
            <a:pPr lvl="0"/>
            <a:r>
              <a:rPr lang="en-US"/>
              <a:t>Text </a:t>
            </a:r>
          </a:p>
          <a:p>
            <a:pPr lvl="0"/>
            <a:r>
              <a:rPr lang="fr-FR"/>
              <a:t>TITRE</a:t>
            </a:r>
          </a:p>
        </p:txBody>
      </p:sp>
      <p:sp>
        <p:nvSpPr>
          <p:cNvPr id="39" name="Espace réservé du texte 22">
            <a:extLst>
              <a:ext uri="{FF2B5EF4-FFF2-40B4-BE49-F238E27FC236}">
                <a16:creationId xmlns:a16="http://schemas.microsoft.com/office/drawing/2014/main" id="{AE26B1A6-6780-4059-BA90-AF69B771FC35}"/>
              </a:ext>
            </a:extLst>
          </p:cNvPr>
          <p:cNvSpPr>
            <a:spLocks noGrp="1"/>
          </p:cNvSpPr>
          <p:nvPr>
            <p:ph type="body" sz="quarter" idx="38" hasCustomPrompt="1"/>
          </p:nvPr>
        </p:nvSpPr>
        <p:spPr>
          <a:xfrm>
            <a:off x="4448037" y="4215381"/>
            <a:ext cx="2176675" cy="1035039"/>
          </a:xfrm>
          <a:prstGeom prst="rect">
            <a:avLst/>
          </a:prstGeom>
        </p:spPr>
        <p:txBody>
          <a:bodyPr anchor="ctr" anchorCtr="0">
            <a:noAutofit/>
          </a:bodyPr>
          <a:lstStyle>
            <a:lvl1pPr marL="0" indent="0" algn="ctr">
              <a:spcAft>
                <a:spcPts val="300"/>
              </a:spcAft>
              <a:buNone/>
              <a:defRPr sz="1400" b="0">
                <a:solidFill>
                  <a:schemeClr val="accent1"/>
                </a:solidFill>
              </a:defRPr>
            </a:lvl1pPr>
            <a:lvl2pPr marL="0" indent="0" algn="ctr">
              <a:spcAft>
                <a:spcPts val="300"/>
              </a:spcAft>
              <a:buFontTx/>
              <a:buNone/>
              <a:defRPr sz="1400" cap="all" baseline="0">
                <a:solidFill>
                  <a:schemeClr val="accent2"/>
                </a:solidFill>
                <a:latin typeface="+mj-lt"/>
              </a:defRPr>
            </a:lvl2pPr>
            <a:lvl3pPr algn="ctr">
              <a:defRPr/>
            </a:lvl3pPr>
            <a:lvl4pPr algn="ctr">
              <a:defRPr/>
            </a:lvl4pPr>
            <a:lvl5pPr algn="ctr">
              <a:defRPr/>
            </a:lvl5pPr>
          </a:lstStyle>
          <a:p>
            <a:pPr lvl="0"/>
            <a:r>
              <a:rPr lang="en-US"/>
              <a:t>Text </a:t>
            </a:r>
          </a:p>
          <a:p>
            <a:pPr lvl="0"/>
            <a:r>
              <a:rPr lang="fr-FR"/>
              <a:t>TITRE</a:t>
            </a:r>
          </a:p>
        </p:txBody>
      </p:sp>
      <p:sp>
        <p:nvSpPr>
          <p:cNvPr id="40" name="Espace réservé du texte 22">
            <a:extLst>
              <a:ext uri="{FF2B5EF4-FFF2-40B4-BE49-F238E27FC236}">
                <a16:creationId xmlns:a16="http://schemas.microsoft.com/office/drawing/2014/main" id="{EF67A492-5383-4C80-B06A-4451DB13466E}"/>
              </a:ext>
            </a:extLst>
          </p:cNvPr>
          <p:cNvSpPr>
            <a:spLocks noGrp="1"/>
          </p:cNvSpPr>
          <p:nvPr>
            <p:ph type="body" sz="quarter" idx="39" hasCustomPrompt="1"/>
          </p:nvPr>
        </p:nvSpPr>
        <p:spPr>
          <a:xfrm>
            <a:off x="7044113" y="4215381"/>
            <a:ext cx="2176675" cy="1035039"/>
          </a:xfrm>
          <a:prstGeom prst="rect">
            <a:avLst/>
          </a:prstGeom>
        </p:spPr>
        <p:txBody>
          <a:bodyPr anchor="ctr" anchorCtr="0">
            <a:noAutofit/>
          </a:bodyPr>
          <a:lstStyle>
            <a:lvl1pPr marL="0" indent="0" algn="ctr">
              <a:spcAft>
                <a:spcPts val="300"/>
              </a:spcAft>
              <a:buNone/>
              <a:defRPr sz="1400" b="0">
                <a:solidFill>
                  <a:schemeClr val="accent1"/>
                </a:solidFill>
              </a:defRPr>
            </a:lvl1pPr>
            <a:lvl2pPr marL="0" indent="0" algn="ctr">
              <a:spcAft>
                <a:spcPts val="300"/>
              </a:spcAft>
              <a:buFontTx/>
              <a:buNone/>
              <a:defRPr sz="1400" cap="all" baseline="0">
                <a:solidFill>
                  <a:schemeClr val="accent2"/>
                </a:solidFill>
                <a:latin typeface="+mj-lt"/>
              </a:defRPr>
            </a:lvl2pPr>
            <a:lvl3pPr algn="ctr">
              <a:defRPr/>
            </a:lvl3pPr>
            <a:lvl4pPr algn="ctr">
              <a:defRPr/>
            </a:lvl4pPr>
            <a:lvl5pPr algn="ctr">
              <a:defRPr/>
            </a:lvl5pPr>
          </a:lstStyle>
          <a:p>
            <a:pPr lvl="0"/>
            <a:r>
              <a:rPr lang="en-US"/>
              <a:t>Text </a:t>
            </a:r>
          </a:p>
          <a:p>
            <a:pPr lvl="0"/>
            <a:r>
              <a:rPr lang="fr-FR"/>
              <a:t>TITRE</a:t>
            </a:r>
          </a:p>
        </p:txBody>
      </p:sp>
      <p:sp>
        <p:nvSpPr>
          <p:cNvPr id="43" name="Espace réservé du texte 22">
            <a:extLst>
              <a:ext uri="{FF2B5EF4-FFF2-40B4-BE49-F238E27FC236}">
                <a16:creationId xmlns:a16="http://schemas.microsoft.com/office/drawing/2014/main" id="{51B5A691-1DDD-4108-AD2C-7149CE8B851E}"/>
              </a:ext>
            </a:extLst>
          </p:cNvPr>
          <p:cNvSpPr>
            <a:spLocks noGrp="1"/>
          </p:cNvSpPr>
          <p:nvPr>
            <p:ph type="body" sz="quarter" idx="40" hasCustomPrompt="1"/>
          </p:nvPr>
        </p:nvSpPr>
        <p:spPr>
          <a:xfrm>
            <a:off x="9607957" y="4215381"/>
            <a:ext cx="2176675" cy="1035039"/>
          </a:xfrm>
          <a:prstGeom prst="rect">
            <a:avLst/>
          </a:prstGeom>
        </p:spPr>
        <p:txBody>
          <a:bodyPr anchor="ctr" anchorCtr="0">
            <a:noAutofit/>
          </a:bodyPr>
          <a:lstStyle>
            <a:lvl1pPr marL="0" indent="0" algn="ctr">
              <a:spcAft>
                <a:spcPts val="300"/>
              </a:spcAft>
              <a:buNone/>
              <a:defRPr sz="1400" b="0">
                <a:solidFill>
                  <a:schemeClr val="accent1"/>
                </a:solidFill>
              </a:defRPr>
            </a:lvl1pPr>
            <a:lvl2pPr marL="0" indent="0" algn="ctr">
              <a:spcAft>
                <a:spcPts val="300"/>
              </a:spcAft>
              <a:buFontTx/>
              <a:buNone/>
              <a:defRPr sz="1400" cap="all" baseline="0">
                <a:solidFill>
                  <a:schemeClr val="accent2"/>
                </a:solidFill>
                <a:latin typeface="+mj-lt"/>
              </a:defRPr>
            </a:lvl2pPr>
            <a:lvl3pPr algn="ctr">
              <a:defRPr/>
            </a:lvl3pPr>
            <a:lvl4pPr algn="ctr">
              <a:defRPr/>
            </a:lvl4pPr>
            <a:lvl5pPr algn="ctr">
              <a:defRPr/>
            </a:lvl5pPr>
          </a:lstStyle>
          <a:p>
            <a:pPr lvl="0"/>
            <a:r>
              <a:rPr lang="en-US"/>
              <a:t>Text </a:t>
            </a:r>
          </a:p>
          <a:p>
            <a:pPr lvl="0"/>
            <a:r>
              <a:rPr lang="fr-FR"/>
              <a:t>TITRE</a:t>
            </a:r>
          </a:p>
        </p:txBody>
      </p:sp>
    </p:spTree>
    <p:extLst>
      <p:ext uri="{BB962C8B-B14F-4D97-AF65-F5344CB8AC3E}">
        <p14:creationId xmlns:p14="http://schemas.microsoft.com/office/powerpoint/2010/main" val="11344857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image_1">
    <p:bg>
      <p:bgPr>
        <a:solidFill>
          <a:schemeClr val="bg1"/>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00814652-4E64-BB4E-4C15-1630519B5CF6}"/>
              </a:ext>
            </a:extLst>
          </p:cNvPr>
          <p:cNvGrpSpPr/>
          <p:nvPr userDrawn="1"/>
        </p:nvGrpSpPr>
        <p:grpSpPr>
          <a:xfrm>
            <a:off x="0" y="-819472"/>
            <a:ext cx="4007768" cy="523220"/>
            <a:chOff x="0" y="-1099279"/>
            <a:chExt cx="4007768" cy="523220"/>
          </a:xfrm>
        </p:grpSpPr>
        <p:sp>
          <p:nvSpPr>
            <p:cNvPr id="20" name="TextBox 19">
              <a:extLst>
                <a:ext uri="{FF2B5EF4-FFF2-40B4-BE49-F238E27FC236}">
                  <a16:creationId xmlns:a16="http://schemas.microsoft.com/office/drawing/2014/main" id="{A2C8E78E-6E08-1993-B94C-1346633B0E98}"/>
                </a:ext>
              </a:extLst>
            </p:cNvPr>
            <p:cNvSpPr txBox="1"/>
            <p:nvPr userDrawn="1"/>
          </p:nvSpPr>
          <p:spPr>
            <a:xfrm>
              <a:off x="0" y="-822280"/>
              <a:ext cx="4007768" cy="246221"/>
            </a:xfrm>
            <a:prstGeom prst="rect">
              <a:avLst/>
            </a:prstGeom>
            <a:solidFill>
              <a:schemeClr val="accent2"/>
            </a:solidFill>
          </p:spPr>
          <p:txBody>
            <a:bodyPr wrap="square" rtlCol="0">
              <a:spAutoFit/>
            </a:bodyPr>
            <a:lstStyle/>
            <a:p>
              <a:r>
                <a:rPr lang="en-US" sz="1000">
                  <a:ln>
                    <a:noFill/>
                  </a:ln>
                  <a:solidFill>
                    <a:schemeClr val="tx1"/>
                  </a:solidFill>
                  <a:latin typeface="Tahoma" panose="020B0604030504040204" pitchFamily="34" charset="0"/>
                  <a:ea typeface="Tahoma" panose="020B0604030504040204" pitchFamily="34" charset="0"/>
                  <a:cs typeface="Tahoma" panose="020B0604030504040204" pitchFamily="34" charset="0"/>
                </a:rPr>
                <a:t>Click to change picture</a:t>
              </a:r>
              <a:endParaRPr lang="en-US" sz="1000" i="1">
                <a:ln>
                  <a:noFill/>
                </a:ln>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22" name="TextBox 21">
              <a:extLst>
                <a:ext uri="{FF2B5EF4-FFF2-40B4-BE49-F238E27FC236}">
                  <a16:creationId xmlns:a16="http://schemas.microsoft.com/office/drawing/2014/main" id="{7EF9AC48-87F1-85CE-2EB6-91E863A35687}"/>
                </a:ext>
              </a:extLst>
            </p:cNvPr>
            <p:cNvSpPr txBox="1"/>
            <p:nvPr userDrawn="1"/>
          </p:nvSpPr>
          <p:spPr>
            <a:xfrm>
              <a:off x="0" y="-1099279"/>
              <a:ext cx="4007768" cy="276999"/>
            </a:xfrm>
            <a:prstGeom prst="rect">
              <a:avLst/>
            </a:prstGeom>
            <a:solidFill>
              <a:schemeClr val="tx1"/>
            </a:solidFill>
          </p:spPr>
          <p:txBody>
            <a:bodyPr wrap="square" rtlCol="0">
              <a:spAutoFit/>
            </a:bodyPr>
            <a:lstStyle/>
            <a:p>
              <a:r>
                <a:rPr lang="en-US" sz="1200" b="1">
                  <a:ln>
                    <a:noFill/>
                  </a:ln>
                  <a:solidFill>
                    <a:schemeClr val="bg1"/>
                  </a:solidFill>
                  <a:latin typeface="Tahoma" panose="020B0604030504040204" pitchFamily="34" charset="0"/>
                  <a:ea typeface="Tahoma" panose="020B0604030504040204" pitchFamily="34" charset="0"/>
                  <a:cs typeface="Tahoma" panose="020B0604030504040204" pitchFamily="34" charset="0"/>
                </a:rPr>
                <a:t>TIP</a:t>
              </a:r>
            </a:p>
          </p:txBody>
        </p:sp>
      </p:grpSp>
      <p:sp>
        <p:nvSpPr>
          <p:cNvPr id="4" name="Picture Placeholder 3">
            <a:extLst>
              <a:ext uri="{FF2B5EF4-FFF2-40B4-BE49-F238E27FC236}">
                <a16:creationId xmlns:a16="http://schemas.microsoft.com/office/drawing/2014/main" id="{C899C7DA-FA2A-4AD5-AA68-5C0BA563530D}"/>
              </a:ext>
            </a:extLst>
          </p:cNvPr>
          <p:cNvSpPr>
            <a:spLocks noGrp="1"/>
          </p:cNvSpPr>
          <p:nvPr>
            <p:ph type="pic" sz="quarter" idx="31"/>
          </p:nvPr>
        </p:nvSpPr>
        <p:spPr>
          <a:xfrm>
            <a:off x="355864" y="1052736"/>
            <a:ext cx="11502761" cy="5101546"/>
          </a:xfrm>
          <a:prstGeom prst="rect">
            <a:avLst/>
          </a:prstGeom>
        </p:spPr>
        <p:txBody>
          <a:bodyPr/>
          <a:lstStyle/>
          <a:p>
            <a:endParaRPr lang="fr-FR"/>
          </a:p>
        </p:txBody>
      </p:sp>
      <p:sp>
        <p:nvSpPr>
          <p:cNvPr id="12" name="Slide Number Placeholder 4">
            <a:extLst>
              <a:ext uri="{FF2B5EF4-FFF2-40B4-BE49-F238E27FC236}">
                <a16:creationId xmlns:a16="http://schemas.microsoft.com/office/drawing/2014/main" id="{316757FF-58A1-48FC-9430-00C1FF4ACD02}"/>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13" name="Date Placeholder 2">
            <a:extLst>
              <a:ext uri="{FF2B5EF4-FFF2-40B4-BE49-F238E27FC236}">
                <a16:creationId xmlns:a16="http://schemas.microsoft.com/office/drawing/2014/main" id="{9D750953-D239-4F53-960F-BFB41CB071A2}"/>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48ADCF8A-FD77-41B6-A17C-740D06CEA781}" type="datetime1">
              <a:rPr lang="fr-FR" smtClean="0"/>
              <a:t>27/11/2025</a:t>
            </a:fld>
            <a:endParaRPr lang="en-US"/>
          </a:p>
        </p:txBody>
      </p:sp>
      <p:sp>
        <p:nvSpPr>
          <p:cNvPr id="18" name="Titel 14">
            <a:extLst>
              <a:ext uri="{FF2B5EF4-FFF2-40B4-BE49-F238E27FC236}">
                <a16:creationId xmlns:a16="http://schemas.microsoft.com/office/drawing/2014/main" id="{748BCF6B-A6F6-47F4-BEEC-36E35EF0A90C}"/>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1" name="Straight Connector 20">
            <a:extLst>
              <a:ext uri="{FF2B5EF4-FFF2-40B4-BE49-F238E27FC236}">
                <a16:creationId xmlns:a16="http://schemas.microsoft.com/office/drawing/2014/main" id="{CAFE0BAD-61A9-47B9-BB0D-B65F8F1CF02E}"/>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69792E35-ED0B-4E00-BDFF-52D0A18A3AB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41674017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mage_2">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F19FD9D-AC9E-4313-804A-B35D5BD9469A}"/>
              </a:ext>
            </a:extLst>
          </p:cNvPr>
          <p:cNvSpPr/>
          <p:nvPr userDrawn="1"/>
        </p:nvSpPr>
        <p:spPr>
          <a:xfrm>
            <a:off x="334961" y="1196752"/>
            <a:ext cx="5761039" cy="495219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A0C6C8D9-D5D3-4077-80A5-FEE769B9FDA5}"/>
              </a:ext>
            </a:extLst>
          </p:cNvPr>
          <p:cNvSpPr/>
          <p:nvPr userDrawn="1"/>
        </p:nvSpPr>
        <p:spPr>
          <a:xfrm>
            <a:off x="6087856" y="1196752"/>
            <a:ext cx="5761039" cy="495219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Picture Placeholder 7">
            <a:extLst>
              <a:ext uri="{FF2B5EF4-FFF2-40B4-BE49-F238E27FC236}">
                <a16:creationId xmlns:a16="http://schemas.microsoft.com/office/drawing/2014/main" id="{9FFE37CF-21ED-45B2-A9A4-A5835B277D54}"/>
              </a:ext>
            </a:extLst>
          </p:cNvPr>
          <p:cNvSpPr>
            <a:spLocks noGrp="1"/>
          </p:cNvSpPr>
          <p:nvPr>
            <p:ph type="pic" sz="quarter" idx="24" hasCustomPrompt="1"/>
          </p:nvPr>
        </p:nvSpPr>
        <p:spPr>
          <a:xfrm>
            <a:off x="1199456" y="1512055"/>
            <a:ext cx="3922549" cy="4290898"/>
          </a:xfrm>
          <a:custGeom>
            <a:avLst/>
            <a:gdLst>
              <a:gd name="connsiteX0" fmla="*/ 2118800 w 4400525"/>
              <a:gd name="connsiteY0" fmla="*/ 0 h 4281874"/>
              <a:gd name="connsiteX1" fmla="*/ 2281725 w 4400525"/>
              <a:gd name="connsiteY1" fmla="*/ 0 h 4281874"/>
              <a:gd name="connsiteX2" fmla="*/ 4400525 w 4400525"/>
              <a:gd name="connsiteY2" fmla="*/ 2118800 h 4281874"/>
              <a:gd name="connsiteX3" fmla="*/ 4400525 w 4400525"/>
              <a:gd name="connsiteY3" fmla="*/ 4281874 h 4281874"/>
              <a:gd name="connsiteX4" fmla="*/ 4400525 w 4400525"/>
              <a:gd name="connsiteY4" fmla="*/ 4281874 h 4281874"/>
              <a:gd name="connsiteX5" fmla="*/ 0 w 4400525"/>
              <a:gd name="connsiteY5" fmla="*/ 4281874 h 4281874"/>
              <a:gd name="connsiteX6" fmla="*/ 0 w 4400525"/>
              <a:gd name="connsiteY6" fmla="*/ 4281874 h 4281874"/>
              <a:gd name="connsiteX7" fmla="*/ 0 w 4400525"/>
              <a:gd name="connsiteY7" fmla="*/ 2118800 h 4281874"/>
              <a:gd name="connsiteX8" fmla="*/ 2118800 w 4400525"/>
              <a:gd name="connsiteY8" fmla="*/ 0 h 4281874"/>
              <a:gd name="connsiteX0" fmla="*/ 2118800 w 4428234"/>
              <a:gd name="connsiteY0" fmla="*/ 0 h 4461983"/>
              <a:gd name="connsiteX1" fmla="*/ 2281725 w 4428234"/>
              <a:gd name="connsiteY1" fmla="*/ 0 h 4461983"/>
              <a:gd name="connsiteX2" fmla="*/ 4400525 w 4428234"/>
              <a:gd name="connsiteY2" fmla="*/ 2118800 h 4461983"/>
              <a:gd name="connsiteX3" fmla="*/ 4400525 w 4428234"/>
              <a:gd name="connsiteY3" fmla="*/ 4281874 h 4461983"/>
              <a:gd name="connsiteX4" fmla="*/ 4428234 w 4428234"/>
              <a:gd name="connsiteY4" fmla="*/ 4461983 h 4461983"/>
              <a:gd name="connsiteX5" fmla="*/ 0 w 4428234"/>
              <a:gd name="connsiteY5" fmla="*/ 4281874 h 4461983"/>
              <a:gd name="connsiteX6" fmla="*/ 0 w 4428234"/>
              <a:gd name="connsiteY6" fmla="*/ 4281874 h 4461983"/>
              <a:gd name="connsiteX7" fmla="*/ 0 w 4428234"/>
              <a:gd name="connsiteY7" fmla="*/ 2118800 h 4461983"/>
              <a:gd name="connsiteX8" fmla="*/ 2118800 w 4428234"/>
              <a:gd name="connsiteY8" fmla="*/ 0 h 4461983"/>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7709 w 4455943"/>
              <a:gd name="connsiteY5" fmla="*/ 4281874 h 4489692"/>
              <a:gd name="connsiteX6" fmla="*/ 0 w 4455943"/>
              <a:gd name="connsiteY6" fmla="*/ 4489692 h 4489692"/>
              <a:gd name="connsiteX7" fmla="*/ 27709 w 4455943"/>
              <a:gd name="connsiteY7" fmla="*/ 2118800 h 4489692"/>
              <a:gd name="connsiteX8" fmla="*/ 2146509 w 4455943"/>
              <a:gd name="connsiteY8" fmla="*/ 0 h 4489692"/>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036619 w 4455943"/>
              <a:gd name="connsiteY5" fmla="*/ 4475837 h 4489692"/>
              <a:gd name="connsiteX6" fmla="*/ 0 w 4455943"/>
              <a:gd name="connsiteY6" fmla="*/ 4489692 h 4489692"/>
              <a:gd name="connsiteX7" fmla="*/ 27709 w 4455943"/>
              <a:gd name="connsiteY7" fmla="*/ 2118800 h 4489692"/>
              <a:gd name="connsiteX8" fmla="*/ 2146509 w 4455943"/>
              <a:gd name="connsiteY8" fmla="*/ 0 h 4489692"/>
              <a:gd name="connsiteX0" fmla="*/ 2118800 w 4428234"/>
              <a:gd name="connsiteY0" fmla="*/ 0 h 4475942"/>
              <a:gd name="connsiteX1" fmla="*/ 2281725 w 4428234"/>
              <a:gd name="connsiteY1" fmla="*/ 0 h 4475942"/>
              <a:gd name="connsiteX2" fmla="*/ 4400525 w 4428234"/>
              <a:gd name="connsiteY2" fmla="*/ 2118800 h 4475942"/>
              <a:gd name="connsiteX3" fmla="*/ 4400525 w 4428234"/>
              <a:gd name="connsiteY3" fmla="*/ 4281874 h 4475942"/>
              <a:gd name="connsiteX4" fmla="*/ 4428234 w 4428234"/>
              <a:gd name="connsiteY4" fmla="*/ 4461983 h 4475942"/>
              <a:gd name="connsiteX5" fmla="*/ 2008910 w 4428234"/>
              <a:gd name="connsiteY5" fmla="*/ 4475837 h 4475942"/>
              <a:gd name="connsiteX6" fmla="*/ 6667 w 4428234"/>
              <a:gd name="connsiteY6" fmla="*/ 4475942 h 4475942"/>
              <a:gd name="connsiteX7" fmla="*/ 0 w 4428234"/>
              <a:gd name="connsiteY7" fmla="*/ 2118800 h 4475942"/>
              <a:gd name="connsiteX8" fmla="*/ 2118800 w 4428234"/>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036349 w 4400525"/>
              <a:gd name="connsiteY4" fmla="*/ 4365731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393859 w 4400525"/>
              <a:gd name="connsiteY4" fmla="*/ 4468859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817051"/>
              <a:gd name="connsiteX1" fmla="*/ 2281725 w 4400525"/>
              <a:gd name="connsiteY1" fmla="*/ 0 h 4817051"/>
              <a:gd name="connsiteX2" fmla="*/ 4400525 w 4400525"/>
              <a:gd name="connsiteY2" fmla="*/ 2118800 h 4817051"/>
              <a:gd name="connsiteX3" fmla="*/ 4400525 w 4400525"/>
              <a:gd name="connsiteY3" fmla="*/ 4281874 h 4817051"/>
              <a:gd name="connsiteX4" fmla="*/ 4393859 w 4400525"/>
              <a:gd name="connsiteY4" fmla="*/ 4468859 h 4817051"/>
              <a:gd name="connsiteX5" fmla="*/ 2008910 w 4400525"/>
              <a:gd name="connsiteY5" fmla="*/ 4475837 h 4817051"/>
              <a:gd name="connsiteX6" fmla="*/ 6667 w 4400525"/>
              <a:gd name="connsiteY6" fmla="*/ 4817051 h 4817051"/>
              <a:gd name="connsiteX7" fmla="*/ 0 w 4400525"/>
              <a:gd name="connsiteY7" fmla="*/ 2118800 h 4817051"/>
              <a:gd name="connsiteX8" fmla="*/ 2118800 w 4400525"/>
              <a:gd name="connsiteY8" fmla="*/ 0 h 4817051"/>
              <a:gd name="connsiteX0" fmla="*/ 2118800 w 4400525"/>
              <a:gd name="connsiteY0" fmla="*/ 0 h 4824204"/>
              <a:gd name="connsiteX1" fmla="*/ 2281725 w 4400525"/>
              <a:gd name="connsiteY1" fmla="*/ 0 h 4824204"/>
              <a:gd name="connsiteX2" fmla="*/ 4400525 w 4400525"/>
              <a:gd name="connsiteY2" fmla="*/ 2118800 h 4824204"/>
              <a:gd name="connsiteX3" fmla="*/ 4400525 w 4400525"/>
              <a:gd name="connsiteY3" fmla="*/ 4281874 h 4824204"/>
              <a:gd name="connsiteX4" fmla="*/ 4393859 w 4400525"/>
              <a:gd name="connsiteY4" fmla="*/ 4468859 h 4824204"/>
              <a:gd name="connsiteX5" fmla="*/ 2023425 w 4400525"/>
              <a:gd name="connsiteY5" fmla="*/ 4824204 h 4824204"/>
              <a:gd name="connsiteX6" fmla="*/ 6667 w 4400525"/>
              <a:gd name="connsiteY6" fmla="*/ 4817051 h 4824204"/>
              <a:gd name="connsiteX7" fmla="*/ 0 w 4400525"/>
              <a:gd name="connsiteY7" fmla="*/ 2118800 h 4824204"/>
              <a:gd name="connsiteX8" fmla="*/ 2118800 w 4400525"/>
              <a:gd name="connsiteY8" fmla="*/ 0 h 4824204"/>
              <a:gd name="connsiteX0" fmla="*/ 2118800 w 4415633"/>
              <a:gd name="connsiteY0" fmla="*/ 0 h 4824484"/>
              <a:gd name="connsiteX1" fmla="*/ 2281725 w 4415633"/>
              <a:gd name="connsiteY1" fmla="*/ 0 h 4824484"/>
              <a:gd name="connsiteX2" fmla="*/ 4400525 w 4415633"/>
              <a:gd name="connsiteY2" fmla="*/ 2118800 h 4824484"/>
              <a:gd name="connsiteX3" fmla="*/ 4400525 w 4415633"/>
              <a:gd name="connsiteY3" fmla="*/ 4281874 h 4824484"/>
              <a:gd name="connsiteX4" fmla="*/ 4415633 w 4415633"/>
              <a:gd name="connsiteY4" fmla="*/ 4824484 h 4824484"/>
              <a:gd name="connsiteX5" fmla="*/ 2023425 w 4415633"/>
              <a:gd name="connsiteY5" fmla="*/ 4824204 h 4824484"/>
              <a:gd name="connsiteX6" fmla="*/ 6667 w 4415633"/>
              <a:gd name="connsiteY6" fmla="*/ 4817051 h 4824484"/>
              <a:gd name="connsiteX7" fmla="*/ 0 w 4415633"/>
              <a:gd name="connsiteY7" fmla="*/ 2118800 h 4824484"/>
              <a:gd name="connsiteX8" fmla="*/ 2118800 w 4415633"/>
              <a:gd name="connsiteY8" fmla="*/ 0 h 4824484"/>
              <a:gd name="connsiteX0" fmla="*/ 2119972 w 4416805"/>
              <a:gd name="connsiteY0" fmla="*/ 0 h 4831567"/>
              <a:gd name="connsiteX1" fmla="*/ 2282897 w 4416805"/>
              <a:gd name="connsiteY1" fmla="*/ 0 h 4831567"/>
              <a:gd name="connsiteX2" fmla="*/ 4401697 w 4416805"/>
              <a:gd name="connsiteY2" fmla="*/ 2118800 h 4831567"/>
              <a:gd name="connsiteX3" fmla="*/ 4401697 w 4416805"/>
              <a:gd name="connsiteY3" fmla="*/ 4281874 h 4831567"/>
              <a:gd name="connsiteX4" fmla="*/ 4416805 w 4416805"/>
              <a:gd name="connsiteY4" fmla="*/ 4824484 h 4831567"/>
              <a:gd name="connsiteX5" fmla="*/ 2024597 w 4416805"/>
              <a:gd name="connsiteY5" fmla="*/ 4824204 h 4831567"/>
              <a:gd name="connsiteX6" fmla="*/ 580 w 4416805"/>
              <a:gd name="connsiteY6" fmla="*/ 4831567 h 4831567"/>
              <a:gd name="connsiteX7" fmla="*/ 1172 w 4416805"/>
              <a:gd name="connsiteY7" fmla="*/ 2118800 h 4831567"/>
              <a:gd name="connsiteX8" fmla="*/ 2119972 w 4416805"/>
              <a:gd name="connsiteY8" fmla="*/ 0 h 4831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6805" h="4831567">
                <a:moveTo>
                  <a:pt x="2119972" y="0"/>
                </a:moveTo>
                <a:lnTo>
                  <a:pt x="2282897" y="0"/>
                </a:lnTo>
                <a:cubicBezTo>
                  <a:pt x="3453078" y="0"/>
                  <a:pt x="4401697" y="948619"/>
                  <a:pt x="4401697" y="2118800"/>
                </a:cubicBezTo>
                <a:lnTo>
                  <a:pt x="4401697" y="4281874"/>
                </a:lnTo>
                <a:lnTo>
                  <a:pt x="4416805" y="4824484"/>
                </a:lnTo>
                <a:lnTo>
                  <a:pt x="2024597" y="4824204"/>
                </a:lnTo>
                <a:lnTo>
                  <a:pt x="580" y="4831567"/>
                </a:lnTo>
                <a:cubicBezTo>
                  <a:pt x="-1642" y="4045853"/>
                  <a:pt x="3394" y="2904514"/>
                  <a:pt x="1172" y="2118800"/>
                </a:cubicBezTo>
                <a:cubicBezTo>
                  <a:pt x="1172" y="948619"/>
                  <a:pt x="949791" y="0"/>
                  <a:pt x="2119972" y="0"/>
                </a:cubicBezTo>
                <a:close/>
              </a:path>
            </a:pathLst>
          </a:custGeom>
          <a:solidFill>
            <a:schemeClr val="accent2"/>
          </a:solidFill>
        </p:spPr>
        <p:txBody>
          <a:bodyPr anchor="ctr"/>
          <a:lstStyle>
            <a:lvl1pPr marL="0" indent="0" algn="ctr">
              <a:buNone/>
              <a:defRPr sz="2400">
                <a:solidFill>
                  <a:schemeClr val="accent1"/>
                </a:solidFill>
              </a:defRPr>
            </a:lvl1pPr>
          </a:lstStyle>
          <a:p>
            <a:r>
              <a:rPr lang="en-US"/>
              <a:t>Click to insert picture</a:t>
            </a:r>
          </a:p>
        </p:txBody>
      </p:sp>
      <p:sp>
        <p:nvSpPr>
          <p:cNvPr id="19" name="Picture Placeholder 6">
            <a:extLst>
              <a:ext uri="{FF2B5EF4-FFF2-40B4-BE49-F238E27FC236}">
                <a16:creationId xmlns:a16="http://schemas.microsoft.com/office/drawing/2014/main" id="{20104C34-5A7E-4B6D-BBCA-13B481B38381}"/>
              </a:ext>
            </a:extLst>
          </p:cNvPr>
          <p:cNvSpPr>
            <a:spLocks noGrp="1"/>
          </p:cNvSpPr>
          <p:nvPr>
            <p:ph type="pic" sz="quarter" idx="15" hasCustomPrompt="1"/>
          </p:nvPr>
        </p:nvSpPr>
        <p:spPr>
          <a:xfrm flipH="1">
            <a:off x="6888088" y="1555529"/>
            <a:ext cx="4422767" cy="4247423"/>
          </a:xfrm>
          <a:prstGeom prst="teardrop">
            <a:avLst/>
          </a:prstGeom>
          <a:solidFill>
            <a:schemeClr val="accent2"/>
          </a:solidFill>
        </p:spPr>
        <p:txBody>
          <a:bodyPr anchor="ctr"/>
          <a:lstStyle>
            <a:lvl1pPr marL="0" indent="0" algn="ctr">
              <a:buFontTx/>
              <a:buNone/>
              <a:defRPr sz="2400">
                <a:solidFill>
                  <a:schemeClr val="accent1"/>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Click icon to insert picture</a:t>
            </a:r>
          </a:p>
          <a:p>
            <a:endParaRPr lang="en-US"/>
          </a:p>
        </p:txBody>
      </p:sp>
      <p:sp>
        <p:nvSpPr>
          <p:cNvPr id="21" name="Slide Number Placeholder 4">
            <a:extLst>
              <a:ext uri="{FF2B5EF4-FFF2-40B4-BE49-F238E27FC236}">
                <a16:creationId xmlns:a16="http://schemas.microsoft.com/office/drawing/2014/main" id="{FE69296D-3905-4CE6-9A55-02EE72A59A98}"/>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23" name="Date Placeholder 2">
            <a:extLst>
              <a:ext uri="{FF2B5EF4-FFF2-40B4-BE49-F238E27FC236}">
                <a16:creationId xmlns:a16="http://schemas.microsoft.com/office/drawing/2014/main" id="{FA733F98-84BC-4DC7-80B4-DF3E70E2E797}"/>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B4D693B8-F3FD-4AA0-BB78-88A56E05B336}" type="datetime1">
              <a:rPr lang="fr-FR" smtClean="0"/>
              <a:t>27/11/2025</a:t>
            </a:fld>
            <a:endParaRPr lang="en-US"/>
          </a:p>
        </p:txBody>
      </p:sp>
      <p:sp>
        <p:nvSpPr>
          <p:cNvPr id="24" name="Titel 14">
            <a:extLst>
              <a:ext uri="{FF2B5EF4-FFF2-40B4-BE49-F238E27FC236}">
                <a16:creationId xmlns:a16="http://schemas.microsoft.com/office/drawing/2014/main" id="{21E81E08-3054-4082-AB23-A0374AC247E7}"/>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6" name="Straight Connector 25">
            <a:extLst>
              <a:ext uri="{FF2B5EF4-FFF2-40B4-BE49-F238E27FC236}">
                <a16:creationId xmlns:a16="http://schemas.microsoft.com/office/drawing/2014/main" id="{9A048055-C1CC-4F50-8EAC-426A79B0A4B9}"/>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7" name="Graphic 26">
            <a:extLst>
              <a:ext uri="{FF2B5EF4-FFF2-40B4-BE49-F238E27FC236}">
                <a16:creationId xmlns:a16="http://schemas.microsoft.com/office/drawing/2014/main" id="{C2A1329B-ABCE-47BE-9BFD-76DB0A66A71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11938651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image_4">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F19FD9D-AC9E-4313-804A-B35D5BD9469A}"/>
              </a:ext>
            </a:extLst>
          </p:cNvPr>
          <p:cNvSpPr/>
          <p:nvPr userDrawn="1"/>
        </p:nvSpPr>
        <p:spPr>
          <a:xfrm>
            <a:off x="334961" y="1196752"/>
            <a:ext cx="5761039" cy="495219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A0C6C8D9-D5D3-4077-80A5-FEE769B9FDA5}"/>
              </a:ext>
            </a:extLst>
          </p:cNvPr>
          <p:cNvSpPr/>
          <p:nvPr userDrawn="1"/>
        </p:nvSpPr>
        <p:spPr>
          <a:xfrm>
            <a:off x="6087856" y="1196752"/>
            <a:ext cx="5761039" cy="495219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Picture Placeholder 7">
            <a:extLst>
              <a:ext uri="{FF2B5EF4-FFF2-40B4-BE49-F238E27FC236}">
                <a16:creationId xmlns:a16="http://schemas.microsoft.com/office/drawing/2014/main" id="{9FFE37CF-21ED-45B2-A9A4-A5835B277D54}"/>
              </a:ext>
            </a:extLst>
          </p:cNvPr>
          <p:cNvSpPr>
            <a:spLocks noGrp="1"/>
          </p:cNvSpPr>
          <p:nvPr>
            <p:ph type="pic" sz="quarter" idx="24" hasCustomPrompt="1"/>
          </p:nvPr>
        </p:nvSpPr>
        <p:spPr>
          <a:xfrm>
            <a:off x="1199456" y="1512055"/>
            <a:ext cx="3922549" cy="4290898"/>
          </a:xfrm>
          <a:custGeom>
            <a:avLst/>
            <a:gdLst>
              <a:gd name="connsiteX0" fmla="*/ 2118800 w 4400525"/>
              <a:gd name="connsiteY0" fmla="*/ 0 h 4281874"/>
              <a:gd name="connsiteX1" fmla="*/ 2281725 w 4400525"/>
              <a:gd name="connsiteY1" fmla="*/ 0 h 4281874"/>
              <a:gd name="connsiteX2" fmla="*/ 4400525 w 4400525"/>
              <a:gd name="connsiteY2" fmla="*/ 2118800 h 4281874"/>
              <a:gd name="connsiteX3" fmla="*/ 4400525 w 4400525"/>
              <a:gd name="connsiteY3" fmla="*/ 4281874 h 4281874"/>
              <a:gd name="connsiteX4" fmla="*/ 4400525 w 4400525"/>
              <a:gd name="connsiteY4" fmla="*/ 4281874 h 4281874"/>
              <a:gd name="connsiteX5" fmla="*/ 0 w 4400525"/>
              <a:gd name="connsiteY5" fmla="*/ 4281874 h 4281874"/>
              <a:gd name="connsiteX6" fmla="*/ 0 w 4400525"/>
              <a:gd name="connsiteY6" fmla="*/ 4281874 h 4281874"/>
              <a:gd name="connsiteX7" fmla="*/ 0 w 4400525"/>
              <a:gd name="connsiteY7" fmla="*/ 2118800 h 4281874"/>
              <a:gd name="connsiteX8" fmla="*/ 2118800 w 4400525"/>
              <a:gd name="connsiteY8" fmla="*/ 0 h 4281874"/>
              <a:gd name="connsiteX0" fmla="*/ 2118800 w 4428234"/>
              <a:gd name="connsiteY0" fmla="*/ 0 h 4461983"/>
              <a:gd name="connsiteX1" fmla="*/ 2281725 w 4428234"/>
              <a:gd name="connsiteY1" fmla="*/ 0 h 4461983"/>
              <a:gd name="connsiteX2" fmla="*/ 4400525 w 4428234"/>
              <a:gd name="connsiteY2" fmla="*/ 2118800 h 4461983"/>
              <a:gd name="connsiteX3" fmla="*/ 4400525 w 4428234"/>
              <a:gd name="connsiteY3" fmla="*/ 4281874 h 4461983"/>
              <a:gd name="connsiteX4" fmla="*/ 4428234 w 4428234"/>
              <a:gd name="connsiteY4" fmla="*/ 4461983 h 4461983"/>
              <a:gd name="connsiteX5" fmla="*/ 0 w 4428234"/>
              <a:gd name="connsiteY5" fmla="*/ 4281874 h 4461983"/>
              <a:gd name="connsiteX6" fmla="*/ 0 w 4428234"/>
              <a:gd name="connsiteY6" fmla="*/ 4281874 h 4461983"/>
              <a:gd name="connsiteX7" fmla="*/ 0 w 4428234"/>
              <a:gd name="connsiteY7" fmla="*/ 2118800 h 4461983"/>
              <a:gd name="connsiteX8" fmla="*/ 2118800 w 4428234"/>
              <a:gd name="connsiteY8" fmla="*/ 0 h 4461983"/>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7709 w 4455943"/>
              <a:gd name="connsiteY5" fmla="*/ 4281874 h 4489692"/>
              <a:gd name="connsiteX6" fmla="*/ 0 w 4455943"/>
              <a:gd name="connsiteY6" fmla="*/ 4489692 h 4489692"/>
              <a:gd name="connsiteX7" fmla="*/ 27709 w 4455943"/>
              <a:gd name="connsiteY7" fmla="*/ 2118800 h 4489692"/>
              <a:gd name="connsiteX8" fmla="*/ 2146509 w 4455943"/>
              <a:gd name="connsiteY8" fmla="*/ 0 h 4489692"/>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036619 w 4455943"/>
              <a:gd name="connsiteY5" fmla="*/ 4475837 h 4489692"/>
              <a:gd name="connsiteX6" fmla="*/ 0 w 4455943"/>
              <a:gd name="connsiteY6" fmla="*/ 4489692 h 4489692"/>
              <a:gd name="connsiteX7" fmla="*/ 27709 w 4455943"/>
              <a:gd name="connsiteY7" fmla="*/ 2118800 h 4489692"/>
              <a:gd name="connsiteX8" fmla="*/ 2146509 w 4455943"/>
              <a:gd name="connsiteY8" fmla="*/ 0 h 4489692"/>
              <a:gd name="connsiteX0" fmla="*/ 2118800 w 4428234"/>
              <a:gd name="connsiteY0" fmla="*/ 0 h 4475942"/>
              <a:gd name="connsiteX1" fmla="*/ 2281725 w 4428234"/>
              <a:gd name="connsiteY1" fmla="*/ 0 h 4475942"/>
              <a:gd name="connsiteX2" fmla="*/ 4400525 w 4428234"/>
              <a:gd name="connsiteY2" fmla="*/ 2118800 h 4475942"/>
              <a:gd name="connsiteX3" fmla="*/ 4400525 w 4428234"/>
              <a:gd name="connsiteY3" fmla="*/ 4281874 h 4475942"/>
              <a:gd name="connsiteX4" fmla="*/ 4428234 w 4428234"/>
              <a:gd name="connsiteY4" fmla="*/ 4461983 h 4475942"/>
              <a:gd name="connsiteX5" fmla="*/ 2008910 w 4428234"/>
              <a:gd name="connsiteY5" fmla="*/ 4475837 h 4475942"/>
              <a:gd name="connsiteX6" fmla="*/ 6667 w 4428234"/>
              <a:gd name="connsiteY6" fmla="*/ 4475942 h 4475942"/>
              <a:gd name="connsiteX7" fmla="*/ 0 w 4428234"/>
              <a:gd name="connsiteY7" fmla="*/ 2118800 h 4475942"/>
              <a:gd name="connsiteX8" fmla="*/ 2118800 w 4428234"/>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036349 w 4400525"/>
              <a:gd name="connsiteY4" fmla="*/ 4365731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393859 w 4400525"/>
              <a:gd name="connsiteY4" fmla="*/ 4468859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817051"/>
              <a:gd name="connsiteX1" fmla="*/ 2281725 w 4400525"/>
              <a:gd name="connsiteY1" fmla="*/ 0 h 4817051"/>
              <a:gd name="connsiteX2" fmla="*/ 4400525 w 4400525"/>
              <a:gd name="connsiteY2" fmla="*/ 2118800 h 4817051"/>
              <a:gd name="connsiteX3" fmla="*/ 4400525 w 4400525"/>
              <a:gd name="connsiteY3" fmla="*/ 4281874 h 4817051"/>
              <a:gd name="connsiteX4" fmla="*/ 4393859 w 4400525"/>
              <a:gd name="connsiteY4" fmla="*/ 4468859 h 4817051"/>
              <a:gd name="connsiteX5" fmla="*/ 2008910 w 4400525"/>
              <a:gd name="connsiteY5" fmla="*/ 4475837 h 4817051"/>
              <a:gd name="connsiteX6" fmla="*/ 6667 w 4400525"/>
              <a:gd name="connsiteY6" fmla="*/ 4817051 h 4817051"/>
              <a:gd name="connsiteX7" fmla="*/ 0 w 4400525"/>
              <a:gd name="connsiteY7" fmla="*/ 2118800 h 4817051"/>
              <a:gd name="connsiteX8" fmla="*/ 2118800 w 4400525"/>
              <a:gd name="connsiteY8" fmla="*/ 0 h 4817051"/>
              <a:gd name="connsiteX0" fmla="*/ 2118800 w 4400525"/>
              <a:gd name="connsiteY0" fmla="*/ 0 h 4824204"/>
              <a:gd name="connsiteX1" fmla="*/ 2281725 w 4400525"/>
              <a:gd name="connsiteY1" fmla="*/ 0 h 4824204"/>
              <a:gd name="connsiteX2" fmla="*/ 4400525 w 4400525"/>
              <a:gd name="connsiteY2" fmla="*/ 2118800 h 4824204"/>
              <a:gd name="connsiteX3" fmla="*/ 4400525 w 4400525"/>
              <a:gd name="connsiteY3" fmla="*/ 4281874 h 4824204"/>
              <a:gd name="connsiteX4" fmla="*/ 4393859 w 4400525"/>
              <a:gd name="connsiteY4" fmla="*/ 4468859 h 4824204"/>
              <a:gd name="connsiteX5" fmla="*/ 2023425 w 4400525"/>
              <a:gd name="connsiteY5" fmla="*/ 4824204 h 4824204"/>
              <a:gd name="connsiteX6" fmla="*/ 6667 w 4400525"/>
              <a:gd name="connsiteY6" fmla="*/ 4817051 h 4824204"/>
              <a:gd name="connsiteX7" fmla="*/ 0 w 4400525"/>
              <a:gd name="connsiteY7" fmla="*/ 2118800 h 4824204"/>
              <a:gd name="connsiteX8" fmla="*/ 2118800 w 4400525"/>
              <a:gd name="connsiteY8" fmla="*/ 0 h 4824204"/>
              <a:gd name="connsiteX0" fmla="*/ 2118800 w 4415633"/>
              <a:gd name="connsiteY0" fmla="*/ 0 h 4824484"/>
              <a:gd name="connsiteX1" fmla="*/ 2281725 w 4415633"/>
              <a:gd name="connsiteY1" fmla="*/ 0 h 4824484"/>
              <a:gd name="connsiteX2" fmla="*/ 4400525 w 4415633"/>
              <a:gd name="connsiteY2" fmla="*/ 2118800 h 4824484"/>
              <a:gd name="connsiteX3" fmla="*/ 4400525 w 4415633"/>
              <a:gd name="connsiteY3" fmla="*/ 4281874 h 4824484"/>
              <a:gd name="connsiteX4" fmla="*/ 4415633 w 4415633"/>
              <a:gd name="connsiteY4" fmla="*/ 4824484 h 4824484"/>
              <a:gd name="connsiteX5" fmla="*/ 2023425 w 4415633"/>
              <a:gd name="connsiteY5" fmla="*/ 4824204 h 4824484"/>
              <a:gd name="connsiteX6" fmla="*/ 6667 w 4415633"/>
              <a:gd name="connsiteY6" fmla="*/ 4817051 h 4824484"/>
              <a:gd name="connsiteX7" fmla="*/ 0 w 4415633"/>
              <a:gd name="connsiteY7" fmla="*/ 2118800 h 4824484"/>
              <a:gd name="connsiteX8" fmla="*/ 2118800 w 4415633"/>
              <a:gd name="connsiteY8" fmla="*/ 0 h 4824484"/>
              <a:gd name="connsiteX0" fmla="*/ 2119972 w 4416805"/>
              <a:gd name="connsiteY0" fmla="*/ 0 h 4831567"/>
              <a:gd name="connsiteX1" fmla="*/ 2282897 w 4416805"/>
              <a:gd name="connsiteY1" fmla="*/ 0 h 4831567"/>
              <a:gd name="connsiteX2" fmla="*/ 4401697 w 4416805"/>
              <a:gd name="connsiteY2" fmla="*/ 2118800 h 4831567"/>
              <a:gd name="connsiteX3" fmla="*/ 4401697 w 4416805"/>
              <a:gd name="connsiteY3" fmla="*/ 4281874 h 4831567"/>
              <a:gd name="connsiteX4" fmla="*/ 4416805 w 4416805"/>
              <a:gd name="connsiteY4" fmla="*/ 4824484 h 4831567"/>
              <a:gd name="connsiteX5" fmla="*/ 2024597 w 4416805"/>
              <a:gd name="connsiteY5" fmla="*/ 4824204 h 4831567"/>
              <a:gd name="connsiteX6" fmla="*/ 580 w 4416805"/>
              <a:gd name="connsiteY6" fmla="*/ 4831567 h 4831567"/>
              <a:gd name="connsiteX7" fmla="*/ 1172 w 4416805"/>
              <a:gd name="connsiteY7" fmla="*/ 2118800 h 4831567"/>
              <a:gd name="connsiteX8" fmla="*/ 2119972 w 4416805"/>
              <a:gd name="connsiteY8" fmla="*/ 0 h 4831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6805" h="4831567">
                <a:moveTo>
                  <a:pt x="2119972" y="0"/>
                </a:moveTo>
                <a:lnTo>
                  <a:pt x="2282897" y="0"/>
                </a:lnTo>
                <a:cubicBezTo>
                  <a:pt x="3453078" y="0"/>
                  <a:pt x="4401697" y="948619"/>
                  <a:pt x="4401697" y="2118800"/>
                </a:cubicBezTo>
                <a:lnTo>
                  <a:pt x="4401697" y="4281874"/>
                </a:lnTo>
                <a:lnTo>
                  <a:pt x="4416805" y="4824484"/>
                </a:lnTo>
                <a:lnTo>
                  <a:pt x="2024597" y="4824204"/>
                </a:lnTo>
                <a:lnTo>
                  <a:pt x="580" y="4831567"/>
                </a:lnTo>
                <a:cubicBezTo>
                  <a:pt x="-1642" y="4045853"/>
                  <a:pt x="3394" y="2904514"/>
                  <a:pt x="1172" y="2118800"/>
                </a:cubicBezTo>
                <a:cubicBezTo>
                  <a:pt x="1172" y="948619"/>
                  <a:pt x="949791" y="0"/>
                  <a:pt x="2119972" y="0"/>
                </a:cubicBezTo>
                <a:close/>
              </a:path>
            </a:pathLst>
          </a:custGeom>
          <a:solidFill>
            <a:schemeClr val="accent2"/>
          </a:solidFill>
        </p:spPr>
        <p:txBody>
          <a:bodyPr anchor="ctr"/>
          <a:lstStyle>
            <a:lvl1pPr marL="0" indent="0" algn="ctr">
              <a:buNone/>
              <a:defRPr sz="2400">
                <a:solidFill>
                  <a:schemeClr val="accent1"/>
                </a:solidFill>
              </a:defRPr>
            </a:lvl1pPr>
          </a:lstStyle>
          <a:p>
            <a:r>
              <a:rPr lang="en-US"/>
              <a:t>Click to insert picture</a:t>
            </a:r>
          </a:p>
        </p:txBody>
      </p:sp>
      <p:pic>
        <p:nvPicPr>
          <p:cNvPr id="6" name="Picture 5">
            <a:extLst>
              <a:ext uri="{FF2B5EF4-FFF2-40B4-BE49-F238E27FC236}">
                <a16:creationId xmlns:a16="http://schemas.microsoft.com/office/drawing/2014/main" id="{05F2471D-427A-4D80-982C-D40707EBD8E1}"/>
              </a:ext>
            </a:extLst>
          </p:cNvPr>
          <p:cNvPicPr>
            <a:picLocks noChangeAspect="1"/>
          </p:cNvPicPr>
          <p:nvPr userDrawn="1"/>
        </p:nvPicPr>
        <p:blipFill>
          <a:blip r:embed="rId2"/>
          <a:stretch>
            <a:fillRect/>
          </a:stretch>
        </p:blipFill>
        <p:spPr>
          <a:xfrm>
            <a:off x="5807968" y="2841240"/>
            <a:ext cx="998240" cy="998240"/>
          </a:xfrm>
          <a:prstGeom prst="rect">
            <a:avLst/>
          </a:prstGeom>
        </p:spPr>
      </p:pic>
      <p:sp>
        <p:nvSpPr>
          <p:cNvPr id="21" name="Slide Number Placeholder 4">
            <a:extLst>
              <a:ext uri="{FF2B5EF4-FFF2-40B4-BE49-F238E27FC236}">
                <a16:creationId xmlns:a16="http://schemas.microsoft.com/office/drawing/2014/main" id="{99665FB2-EC47-49E4-A249-21A1F62F9632}"/>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23" name="Date Placeholder 2">
            <a:extLst>
              <a:ext uri="{FF2B5EF4-FFF2-40B4-BE49-F238E27FC236}">
                <a16:creationId xmlns:a16="http://schemas.microsoft.com/office/drawing/2014/main" id="{3818A388-D90C-4FAB-BD74-27AF1E8766E9}"/>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DBA961B0-4255-4892-B4D6-ECE2BB7EB469}" type="datetime1">
              <a:rPr lang="fr-FR" smtClean="0"/>
              <a:t>27/11/2025</a:t>
            </a:fld>
            <a:endParaRPr lang="en-US"/>
          </a:p>
        </p:txBody>
      </p:sp>
      <p:sp>
        <p:nvSpPr>
          <p:cNvPr id="24" name="Picture Placeholder 7">
            <a:extLst>
              <a:ext uri="{FF2B5EF4-FFF2-40B4-BE49-F238E27FC236}">
                <a16:creationId xmlns:a16="http://schemas.microsoft.com/office/drawing/2014/main" id="{2E5A9C3B-BBB6-473D-9D32-4B7E30677666}"/>
              </a:ext>
            </a:extLst>
          </p:cNvPr>
          <p:cNvSpPr>
            <a:spLocks noGrp="1"/>
          </p:cNvSpPr>
          <p:nvPr>
            <p:ph type="pic" sz="quarter" idx="25" hasCustomPrompt="1"/>
          </p:nvPr>
        </p:nvSpPr>
        <p:spPr>
          <a:xfrm>
            <a:off x="7176120" y="1527400"/>
            <a:ext cx="3922549" cy="4290898"/>
          </a:xfrm>
          <a:custGeom>
            <a:avLst/>
            <a:gdLst>
              <a:gd name="connsiteX0" fmla="*/ 2118800 w 4400525"/>
              <a:gd name="connsiteY0" fmla="*/ 0 h 4281874"/>
              <a:gd name="connsiteX1" fmla="*/ 2281725 w 4400525"/>
              <a:gd name="connsiteY1" fmla="*/ 0 h 4281874"/>
              <a:gd name="connsiteX2" fmla="*/ 4400525 w 4400525"/>
              <a:gd name="connsiteY2" fmla="*/ 2118800 h 4281874"/>
              <a:gd name="connsiteX3" fmla="*/ 4400525 w 4400525"/>
              <a:gd name="connsiteY3" fmla="*/ 4281874 h 4281874"/>
              <a:gd name="connsiteX4" fmla="*/ 4400525 w 4400525"/>
              <a:gd name="connsiteY4" fmla="*/ 4281874 h 4281874"/>
              <a:gd name="connsiteX5" fmla="*/ 0 w 4400525"/>
              <a:gd name="connsiteY5" fmla="*/ 4281874 h 4281874"/>
              <a:gd name="connsiteX6" fmla="*/ 0 w 4400525"/>
              <a:gd name="connsiteY6" fmla="*/ 4281874 h 4281874"/>
              <a:gd name="connsiteX7" fmla="*/ 0 w 4400525"/>
              <a:gd name="connsiteY7" fmla="*/ 2118800 h 4281874"/>
              <a:gd name="connsiteX8" fmla="*/ 2118800 w 4400525"/>
              <a:gd name="connsiteY8" fmla="*/ 0 h 4281874"/>
              <a:gd name="connsiteX0" fmla="*/ 2118800 w 4428234"/>
              <a:gd name="connsiteY0" fmla="*/ 0 h 4461983"/>
              <a:gd name="connsiteX1" fmla="*/ 2281725 w 4428234"/>
              <a:gd name="connsiteY1" fmla="*/ 0 h 4461983"/>
              <a:gd name="connsiteX2" fmla="*/ 4400525 w 4428234"/>
              <a:gd name="connsiteY2" fmla="*/ 2118800 h 4461983"/>
              <a:gd name="connsiteX3" fmla="*/ 4400525 w 4428234"/>
              <a:gd name="connsiteY3" fmla="*/ 4281874 h 4461983"/>
              <a:gd name="connsiteX4" fmla="*/ 4428234 w 4428234"/>
              <a:gd name="connsiteY4" fmla="*/ 4461983 h 4461983"/>
              <a:gd name="connsiteX5" fmla="*/ 0 w 4428234"/>
              <a:gd name="connsiteY5" fmla="*/ 4281874 h 4461983"/>
              <a:gd name="connsiteX6" fmla="*/ 0 w 4428234"/>
              <a:gd name="connsiteY6" fmla="*/ 4281874 h 4461983"/>
              <a:gd name="connsiteX7" fmla="*/ 0 w 4428234"/>
              <a:gd name="connsiteY7" fmla="*/ 2118800 h 4461983"/>
              <a:gd name="connsiteX8" fmla="*/ 2118800 w 4428234"/>
              <a:gd name="connsiteY8" fmla="*/ 0 h 4461983"/>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7709 w 4455943"/>
              <a:gd name="connsiteY5" fmla="*/ 4281874 h 4489692"/>
              <a:gd name="connsiteX6" fmla="*/ 0 w 4455943"/>
              <a:gd name="connsiteY6" fmla="*/ 4489692 h 4489692"/>
              <a:gd name="connsiteX7" fmla="*/ 27709 w 4455943"/>
              <a:gd name="connsiteY7" fmla="*/ 2118800 h 4489692"/>
              <a:gd name="connsiteX8" fmla="*/ 2146509 w 4455943"/>
              <a:gd name="connsiteY8" fmla="*/ 0 h 4489692"/>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036619 w 4455943"/>
              <a:gd name="connsiteY5" fmla="*/ 4475837 h 4489692"/>
              <a:gd name="connsiteX6" fmla="*/ 0 w 4455943"/>
              <a:gd name="connsiteY6" fmla="*/ 4489692 h 4489692"/>
              <a:gd name="connsiteX7" fmla="*/ 27709 w 4455943"/>
              <a:gd name="connsiteY7" fmla="*/ 2118800 h 4489692"/>
              <a:gd name="connsiteX8" fmla="*/ 2146509 w 4455943"/>
              <a:gd name="connsiteY8" fmla="*/ 0 h 4489692"/>
              <a:gd name="connsiteX0" fmla="*/ 2118800 w 4428234"/>
              <a:gd name="connsiteY0" fmla="*/ 0 h 4475942"/>
              <a:gd name="connsiteX1" fmla="*/ 2281725 w 4428234"/>
              <a:gd name="connsiteY1" fmla="*/ 0 h 4475942"/>
              <a:gd name="connsiteX2" fmla="*/ 4400525 w 4428234"/>
              <a:gd name="connsiteY2" fmla="*/ 2118800 h 4475942"/>
              <a:gd name="connsiteX3" fmla="*/ 4400525 w 4428234"/>
              <a:gd name="connsiteY3" fmla="*/ 4281874 h 4475942"/>
              <a:gd name="connsiteX4" fmla="*/ 4428234 w 4428234"/>
              <a:gd name="connsiteY4" fmla="*/ 4461983 h 4475942"/>
              <a:gd name="connsiteX5" fmla="*/ 2008910 w 4428234"/>
              <a:gd name="connsiteY5" fmla="*/ 4475837 h 4475942"/>
              <a:gd name="connsiteX6" fmla="*/ 6667 w 4428234"/>
              <a:gd name="connsiteY6" fmla="*/ 4475942 h 4475942"/>
              <a:gd name="connsiteX7" fmla="*/ 0 w 4428234"/>
              <a:gd name="connsiteY7" fmla="*/ 2118800 h 4475942"/>
              <a:gd name="connsiteX8" fmla="*/ 2118800 w 4428234"/>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036349 w 4400525"/>
              <a:gd name="connsiteY4" fmla="*/ 4365731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393859 w 4400525"/>
              <a:gd name="connsiteY4" fmla="*/ 4468859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817051"/>
              <a:gd name="connsiteX1" fmla="*/ 2281725 w 4400525"/>
              <a:gd name="connsiteY1" fmla="*/ 0 h 4817051"/>
              <a:gd name="connsiteX2" fmla="*/ 4400525 w 4400525"/>
              <a:gd name="connsiteY2" fmla="*/ 2118800 h 4817051"/>
              <a:gd name="connsiteX3" fmla="*/ 4400525 w 4400525"/>
              <a:gd name="connsiteY3" fmla="*/ 4281874 h 4817051"/>
              <a:gd name="connsiteX4" fmla="*/ 4393859 w 4400525"/>
              <a:gd name="connsiteY4" fmla="*/ 4468859 h 4817051"/>
              <a:gd name="connsiteX5" fmla="*/ 2008910 w 4400525"/>
              <a:gd name="connsiteY5" fmla="*/ 4475837 h 4817051"/>
              <a:gd name="connsiteX6" fmla="*/ 6667 w 4400525"/>
              <a:gd name="connsiteY6" fmla="*/ 4817051 h 4817051"/>
              <a:gd name="connsiteX7" fmla="*/ 0 w 4400525"/>
              <a:gd name="connsiteY7" fmla="*/ 2118800 h 4817051"/>
              <a:gd name="connsiteX8" fmla="*/ 2118800 w 4400525"/>
              <a:gd name="connsiteY8" fmla="*/ 0 h 4817051"/>
              <a:gd name="connsiteX0" fmla="*/ 2118800 w 4400525"/>
              <a:gd name="connsiteY0" fmla="*/ 0 h 4824204"/>
              <a:gd name="connsiteX1" fmla="*/ 2281725 w 4400525"/>
              <a:gd name="connsiteY1" fmla="*/ 0 h 4824204"/>
              <a:gd name="connsiteX2" fmla="*/ 4400525 w 4400525"/>
              <a:gd name="connsiteY2" fmla="*/ 2118800 h 4824204"/>
              <a:gd name="connsiteX3" fmla="*/ 4400525 w 4400525"/>
              <a:gd name="connsiteY3" fmla="*/ 4281874 h 4824204"/>
              <a:gd name="connsiteX4" fmla="*/ 4393859 w 4400525"/>
              <a:gd name="connsiteY4" fmla="*/ 4468859 h 4824204"/>
              <a:gd name="connsiteX5" fmla="*/ 2023425 w 4400525"/>
              <a:gd name="connsiteY5" fmla="*/ 4824204 h 4824204"/>
              <a:gd name="connsiteX6" fmla="*/ 6667 w 4400525"/>
              <a:gd name="connsiteY6" fmla="*/ 4817051 h 4824204"/>
              <a:gd name="connsiteX7" fmla="*/ 0 w 4400525"/>
              <a:gd name="connsiteY7" fmla="*/ 2118800 h 4824204"/>
              <a:gd name="connsiteX8" fmla="*/ 2118800 w 4400525"/>
              <a:gd name="connsiteY8" fmla="*/ 0 h 4824204"/>
              <a:gd name="connsiteX0" fmla="*/ 2118800 w 4415633"/>
              <a:gd name="connsiteY0" fmla="*/ 0 h 4824484"/>
              <a:gd name="connsiteX1" fmla="*/ 2281725 w 4415633"/>
              <a:gd name="connsiteY1" fmla="*/ 0 h 4824484"/>
              <a:gd name="connsiteX2" fmla="*/ 4400525 w 4415633"/>
              <a:gd name="connsiteY2" fmla="*/ 2118800 h 4824484"/>
              <a:gd name="connsiteX3" fmla="*/ 4400525 w 4415633"/>
              <a:gd name="connsiteY3" fmla="*/ 4281874 h 4824484"/>
              <a:gd name="connsiteX4" fmla="*/ 4415633 w 4415633"/>
              <a:gd name="connsiteY4" fmla="*/ 4824484 h 4824484"/>
              <a:gd name="connsiteX5" fmla="*/ 2023425 w 4415633"/>
              <a:gd name="connsiteY5" fmla="*/ 4824204 h 4824484"/>
              <a:gd name="connsiteX6" fmla="*/ 6667 w 4415633"/>
              <a:gd name="connsiteY6" fmla="*/ 4817051 h 4824484"/>
              <a:gd name="connsiteX7" fmla="*/ 0 w 4415633"/>
              <a:gd name="connsiteY7" fmla="*/ 2118800 h 4824484"/>
              <a:gd name="connsiteX8" fmla="*/ 2118800 w 4415633"/>
              <a:gd name="connsiteY8" fmla="*/ 0 h 4824484"/>
              <a:gd name="connsiteX0" fmla="*/ 2119972 w 4416805"/>
              <a:gd name="connsiteY0" fmla="*/ 0 h 4831567"/>
              <a:gd name="connsiteX1" fmla="*/ 2282897 w 4416805"/>
              <a:gd name="connsiteY1" fmla="*/ 0 h 4831567"/>
              <a:gd name="connsiteX2" fmla="*/ 4401697 w 4416805"/>
              <a:gd name="connsiteY2" fmla="*/ 2118800 h 4831567"/>
              <a:gd name="connsiteX3" fmla="*/ 4401697 w 4416805"/>
              <a:gd name="connsiteY3" fmla="*/ 4281874 h 4831567"/>
              <a:gd name="connsiteX4" fmla="*/ 4416805 w 4416805"/>
              <a:gd name="connsiteY4" fmla="*/ 4824484 h 4831567"/>
              <a:gd name="connsiteX5" fmla="*/ 2024597 w 4416805"/>
              <a:gd name="connsiteY5" fmla="*/ 4824204 h 4831567"/>
              <a:gd name="connsiteX6" fmla="*/ 580 w 4416805"/>
              <a:gd name="connsiteY6" fmla="*/ 4831567 h 4831567"/>
              <a:gd name="connsiteX7" fmla="*/ 1172 w 4416805"/>
              <a:gd name="connsiteY7" fmla="*/ 2118800 h 4831567"/>
              <a:gd name="connsiteX8" fmla="*/ 2119972 w 4416805"/>
              <a:gd name="connsiteY8" fmla="*/ 0 h 4831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6805" h="4831567">
                <a:moveTo>
                  <a:pt x="2119972" y="0"/>
                </a:moveTo>
                <a:lnTo>
                  <a:pt x="2282897" y="0"/>
                </a:lnTo>
                <a:cubicBezTo>
                  <a:pt x="3453078" y="0"/>
                  <a:pt x="4401697" y="948619"/>
                  <a:pt x="4401697" y="2118800"/>
                </a:cubicBezTo>
                <a:lnTo>
                  <a:pt x="4401697" y="4281874"/>
                </a:lnTo>
                <a:lnTo>
                  <a:pt x="4416805" y="4824484"/>
                </a:lnTo>
                <a:lnTo>
                  <a:pt x="2024597" y="4824204"/>
                </a:lnTo>
                <a:lnTo>
                  <a:pt x="580" y="4831567"/>
                </a:lnTo>
                <a:cubicBezTo>
                  <a:pt x="-1642" y="4045853"/>
                  <a:pt x="3394" y="2904514"/>
                  <a:pt x="1172" y="2118800"/>
                </a:cubicBezTo>
                <a:cubicBezTo>
                  <a:pt x="1172" y="948619"/>
                  <a:pt x="949791" y="0"/>
                  <a:pt x="2119972" y="0"/>
                </a:cubicBezTo>
                <a:close/>
              </a:path>
            </a:pathLst>
          </a:custGeom>
          <a:solidFill>
            <a:schemeClr val="accent2"/>
          </a:solidFill>
        </p:spPr>
        <p:txBody>
          <a:bodyPr anchor="ctr"/>
          <a:lstStyle>
            <a:lvl1pPr marL="0" indent="0" algn="ctr">
              <a:buNone/>
              <a:defRPr sz="2400">
                <a:solidFill>
                  <a:schemeClr val="accent1"/>
                </a:solidFill>
              </a:defRPr>
            </a:lvl1pPr>
          </a:lstStyle>
          <a:p>
            <a:r>
              <a:rPr lang="en-US"/>
              <a:t>Click to insert picture</a:t>
            </a:r>
          </a:p>
        </p:txBody>
      </p:sp>
      <p:sp>
        <p:nvSpPr>
          <p:cNvPr id="19" name="Titel 14">
            <a:extLst>
              <a:ext uri="{FF2B5EF4-FFF2-40B4-BE49-F238E27FC236}">
                <a16:creationId xmlns:a16="http://schemas.microsoft.com/office/drawing/2014/main" id="{A400BF6B-DE11-4894-8F8B-C43733E04440}"/>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5" name="Straight Connector 24">
            <a:extLst>
              <a:ext uri="{FF2B5EF4-FFF2-40B4-BE49-F238E27FC236}">
                <a16:creationId xmlns:a16="http://schemas.microsoft.com/office/drawing/2014/main" id="{BFC5CB43-66B2-45AA-A1C4-F1D077B69C4C}"/>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7" name="Graphic 26">
            <a:extLst>
              <a:ext uri="{FF2B5EF4-FFF2-40B4-BE49-F238E27FC236}">
                <a16:creationId xmlns:a16="http://schemas.microsoft.com/office/drawing/2014/main" id="{03F45113-86BC-45EE-BF29-7E13F915649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9534867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you_PIN">
    <p:bg>
      <p:bgPr>
        <a:solidFill>
          <a:schemeClr val="tx1"/>
        </a:solidFill>
        <a:effectLst/>
      </p:bgPr>
    </p:bg>
    <p:spTree>
      <p:nvGrpSpPr>
        <p:cNvPr id="1" name=""/>
        <p:cNvGrpSpPr/>
        <p:nvPr/>
      </p:nvGrpSpPr>
      <p:grpSpPr>
        <a:xfrm>
          <a:off x="0" y="0"/>
          <a:ext cx="0" cy="0"/>
          <a:chOff x="0" y="0"/>
          <a:chExt cx="0" cy="0"/>
        </a:xfrm>
      </p:grpSpPr>
      <p:sp>
        <p:nvSpPr>
          <p:cNvPr id="26" name="Text Placeholder 20">
            <a:extLst>
              <a:ext uri="{FF2B5EF4-FFF2-40B4-BE49-F238E27FC236}">
                <a16:creationId xmlns:a16="http://schemas.microsoft.com/office/drawing/2014/main" id="{59667516-AF34-3A63-E277-815BBC3D2549}"/>
              </a:ext>
            </a:extLst>
          </p:cNvPr>
          <p:cNvSpPr>
            <a:spLocks noGrp="1"/>
          </p:cNvSpPr>
          <p:nvPr>
            <p:ph type="body" sz="quarter" idx="22" hasCustomPrompt="1"/>
          </p:nvPr>
        </p:nvSpPr>
        <p:spPr>
          <a:xfrm>
            <a:off x="2103297" y="1997258"/>
            <a:ext cx="7985404" cy="2727886"/>
          </a:xfrm>
          <a:prstGeom prst="rect">
            <a:avLst/>
          </a:prstGeom>
        </p:spPr>
        <p:txBody>
          <a:bodyPr anchor="ctr"/>
          <a:lstStyle>
            <a:lvl1pPr marL="0" indent="0" algn="ctr">
              <a:buNone/>
              <a:defRPr sz="9200">
                <a:solidFill>
                  <a:srgbClr val="B2EDA7"/>
                </a:solidFill>
                <a:latin typeface="Bagoss Standard Medium" panose="020B0604060102020204" pitchFamily="34" charset="0"/>
                <a:cs typeface="Bagoss Standard Medium" panose="020B0604060102020204" pitchFamily="34" charset="0"/>
              </a:defRPr>
            </a:lvl1pPr>
            <a:lvl2pPr marL="457200" indent="0">
              <a:buNone/>
              <a:defRPr sz="1200">
                <a:solidFill>
                  <a:srgbClr val="B2EDA7"/>
                </a:solidFill>
              </a:defRPr>
            </a:lvl2pPr>
            <a:lvl3pPr marL="914400" indent="0">
              <a:buNone/>
              <a:defRPr sz="1200">
                <a:solidFill>
                  <a:srgbClr val="B2EDA7"/>
                </a:solidFill>
              </a:defRPr>
            </a:lvl3pPr>
            <a:lvl4pPr marL="1371600" indent="0">
              <a:buNone/>
              <a:defRPr sz="1200">
                <a:solidFill>
                  <a:srgbClr val="B2EDA7"/>
                </a:solidFill>
              </a:defRPr>
            </a:lvl4pPr>
            <a:lvl5pPr marL="1828800" indent="0">
              <a:buNone/>
              <a:defRPr sz="1200">
                <a:solidFill>
                  <a:srgbClr val="B2EDA7"/>
                </a:solidFill>
              </a:defRPr>
            </a:lvl5pPr>
          </a:lstStyle>
          <a:p>
            <a:pPr lvl="0"/>
            <a:r>
              <a:rPr lang="en-GB"/>
              <a:t>THANK YOU</a:t>
            </a:r>
            <a:endParaRPr lang="en-US"/>
          </a:p>
        </p:txBody>
      </p:sp>
      <p:pic>
        <p:nvPicPr>
          <p:cNvPr id="4" name="Graphique 3">
            <a:extLst>
              <a:ext uri="{FF2B5EF4-FFF2-40B4-BE49-F238E27FC236}">
                <a16:creationId xmlns:a16="http://schemas.microsoft.com/office/drawing/2014/main" id="{08895822-A758-5D10-BDA4-51FC7156CC1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99831" y="5949280"/>
            <a:ext cx="2792338" cy="359015"/>
          </a:xfrm>
          <a:prstGeom prst="rect">
            <a:avLst/>
          </a:prstGeom>
        </p:spPr>
      </p:pic>
    </p:spTree>
    <p:extLst>
      <p:ext uri="{BB962C8B-B14F-4D97-AF65-F5344CB8AC3E}">
        <p14:creationId xmlns:p14="http://schemas.microsoft.com/office/powerpoint/2010/main" val="22285578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End_Slide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Text Placeholder 20">
            <a:extLst>
              <a:ext uri="{FF2B5EF4-FFF2-40B4-BE49-F238E27FC236}">
                <a16:creationId xmlns:a16="http://schemas.microsoft.com/office/drawing/2014/main" id="{5956624E-3989-1F2F-6744-AF96ED64340D}"/>
              </a:ext>
            </a:extLst>
          </p:cNvPr>
          <p:cNvSpPr>
            <a:spLocks noGrp="1"/>
          </p:cNvSpPr>
          <p:nvPr>
            <p:ph type="body" sz="quarter" idx="16" hasCustomPrompt="1"/>
          </p:nvPr>
        </p:nvSpPr>
        <p:spPr>
          <a:xfrm>
            <a:off x="8020527" y="10916392"/>
            <a:ext cx="2886182" cy="2643527"/>
          </a:xfrm>
          <a:prstGeom prst="rect">
            <a:avLst/>
          </a:prstGeom>
        </p:spPr>
        <p:txBody>
          <a:bodyPr anchor="ctr"/>
          <a:lstStyle>
            <a:lvl1pPr marL="0" indent="0" algn="ctr">
              <a:buNone/>
              <a:defRPr sz="1200">
                <a:solidFill>
                  <a:srgbClr val="B2EDA7"/>
                </a:solidFill>
              </a:defRPr>
            </a:lvl1pPr>
            <a:lvl2pPr marL="457200" indent="0">
              <a:buNone/>
              <a:defRPr sz="1200">
                <a:solidFill>
                  <a:srgbClr val="B2EDA7"/>
                </a:solidFill>
              </a:defRPr>
            </a:lvl2pPr>
            <a:lvl3pPr marL="914400" indent="0">
              <a:buNone/>
              <a:defRPr sz="1200">
                <a:solidFill>
                  <a:srgbClr val="B2EDA7"/>
                </a:solidFill>
              </a:defRPr>
            </a:lvl3pPr>
            <a:lvl4pPr marL="1371600" indent="0">
              <a:buNone/>
              <a:defRPr sz="1200">
                <a:solidFill>
                  <a:srgbClr val="B2EDA7"/>
                </a:solidFill>
              </a:defRPr>
            </a:lvl4pPr>
            <a:lvl5pPr marL="1828800" indent="0">
              <a:buNone/>
              <a:defRPr sz="1200">
                <a:solidFill>
                  <a:srgbClr val="B2EDA7"/>
                </a:solidFill>
              </a:defRPr>
            </a:lvl5pPr>
          </a:lstStyle>
          <a:p>
            <a:pPr lvl="0"/>
            <a:r>
              <a:rPr lang="en-GB"/>
              <a:t>Insert text here</a:t>
            </a:r>
            <a:endParaRPr lang="en-US"/>
          </a:p>
        </p:txBody>
      </p:sp>
      <p:sp>
        <p:nvSpPr>
          <p:cNvPr id="26" name="Text Placeholder 20">
            <a:extLst>
              <a:ext uri="{FF2B5EF4-FFF2-40B4-BE49-F238E27FC236}">
                <a16:creationId xmlns:a16="http://schemas.microsoft.com/office/drawing/2014/main" id="{59667516-AF34-3A63-E277-815BBC3D2549}"/>
              </a:ext>
            </a:extLst>
          </p:cNvPr>
          <p:cNvSpPr>
            <a:spLocks noGrp="1"/>
          </p:cNvSpPr>
          <p:nvPr>
            <p:ph type="body" sz="quarter" idx="22" hasCustomPrompt="1"/>
          </p:nvPr>
        </p:nvSpPr>
        <p:spPr>
          <a:xfrm>
            <a:off x="2103297" y="1997258"/>
            <a:ext cx="7985404" cy="2727886"/>
          </a:xfrm>
          <a:prstGeom prst="rect">
            <a:avLst/>
          </a:prstGeom>
        </p:spPr>
        <p:txBody>
          <a:bodyPr anchor="ctr"/>
          <a:lstStyle>
            <a:lvl1pPr marL="0" indent="0" algn="ctr">
              <a:buNone/>
              <a:defRPr sz="9200">
                <a:solidFill>
                  <a:srgbClr val="B2EDA7"/>
                </a:solidFill>
                <a:latin typeface="Bagoss Standard Medium" panose="020B0604060102020204" pitchFamily="34" charset="0"/>
                <a:cs typeface="Bagoss Standard Medium" panose="020B0604060102020204" pitchFamily="34" charset="0"/>
              </a:defRPr>
            </a:lvl1pPr>
            <a:lvl2pPr marL="457200" indent="0">
              <a:buNone/>
              <a:defRPr sz="1200">
                <a:solidFill>
                  <a:srgbClr val="B2EDA7"/>
                </a:solidFill>
              </a:defRPr>
            </a:lvl2pPr>
            <a:lvl3pPr marL="914400" indent="0">
              <a:buNone/>
              <a:defRPr sz="1200">
                <a:solidFill>
                  <a:srgbClr val="B2EDA7"/>
                </a:solidFill>
              </a:defRPr>
            </a:lvl3pPr>
            <a:lvl4pPr marL="1371600" indent="0">
              <a:buNone/>
              <a:defRPr sz="1200">
                <a:solidFill>
                  <a:srgbClr val="B2EDA7"/>
                </a:solidFill>
              </a:defRPr>
            </a:lvl4pPr>
            <a:lvl5pPr marL="1828800" indent="0">
              <a:buNone/>
              <a:defRPr sz="1200">
                <a:solidFill>
                  <a:srgbClr val="B2EDA7"/>
                </a:solidFill>
              </a:defRPr>
            </a:lvl5pPr>
          </a:lstStyle>
          <a:p>
            <a:pPr lvl="0"/>
            <a:r>
              <a:rPr lang="en-GB"/>
              <a:t>THANK YOU</a:t>
            </a:r>
            <a:endParaRPr lang="en-US"/>
          </a:p>
        </p:txBody>
      </p:sp>
      <p:pic>
        <p:nvPicPr>
          <p:cNvPr id="2" name="Afbeelding 1">
            <a:extLst>
              <a:ext uri="{FF2B5EF4-FFF2-40B4-BE49-F238E27FC236}">
                <a16:creationId xmlns:a16="http://schemas.microsoft.com/office/drawing/2014/main" id="{8CF3748E-BAEB-FA0D-EA71-EF50D45B17AB}"/>
              </a:ext>
            </a:extLst>
          </p:cNvPr>
          <p:cNvPicPr>
            <a:picLocks noChangeAspect="1"/>
          </p:cNvPicPr>
          <p:nvPr userDrawn="1"/>
        </p:nvPicPr>
        <p:blipFill>
          <a:blip r:embed="rId3"/>
          <a:srcRect/>
          <a:stretch/>
        </p:blipFill>
        <p:spPr>
          <a:xfrm>
            <a:off x="4650247" y="6165851"/>
            <a:ext cx="2891505" cy="358774"/>
          </a:xfrm>
          <a:prstGeom prst="rect">
            <a:avLst/>
          </a:prstGeom>
        </p:spPr>
      </p:pic>
    </p:spTree>
    <p:extLst>
      <p:ext uri="{BB962C8B-B14F-4D97-AF65-F5344CB8AC3E}">
        <p14:creationId xmlns:p14="http://schemas.microsoft.com/office/powerpoint/2010/main" val="238020887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Main-title-SUNSE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714D5-049C-A2AB-DE2D-5447BFB76B2B}"/>
              </a:ext>
            </a:extLst>
          </p:cNvPr>
          <p:cNvSpPr>
            <a:spLocks noGrp="1"/>
          </p:cNvSpPr>
          <p:nvPr>
            <p:ph type="title" hasCustomPrompt="1"/>
          </p:nvPr>
        </p:nvSpPr>
        <p:spPr>
          <a:xfrm>
            <a:off x="2879725" y="2512524"/>
            <a:ext cx="6432550" cy="1832952"/>
          </a:xfrm>
          <a:prstGeom prst="rect">
            <a:avLst/>
          </a:prstGeom>
        </p:spPr>
        <p:txBody>
          <a:bodyPr anchor="ctr"/>
          <a:lstStyle>
            <a:lvl1pPr algn="ctr">
              <a:defRPr sz="6500" b="0" i="0">
                <a:solidFill>
                  <a:schemeClr val="bg2"/>
                </a:solidFill>
                <a:latin typeface="Tahoma" panose="020B0604030504040204" pitchFamily="34" charset="0"/>
                <a:ea typeface="Tahoma" panose="020B0604030504040204" pitchFamily="34" charset="0"/>
                <a:cs typeface="Tahoma" panose="020B0604030504040204" pitchFamily="34" charset="0"/>
              </a:defRPr>
            </a:lvl1pPr>
          </a:lstStyle>
          <a:p>
            <a:br>
              <a:rPr lang="en-GB"/>
            </a:br>
            <a:r>
              <a:rPr lang="en-GB"/>
              <a:t>Presentation Title</a:t>
            </a:r>
            <a:br>
              <a:rPr lang="en-GB"/>
            </a:br>
            <a:endParaRPr lang="en-US"/>
          </a:p>
        </p:txBody>
      </p:sp>
      <p:sp>
        <p:nvSpPr>
          <p:cNvPr id="3" name="Date Placeholder 2">
            <a:extLst>
              <a:ext uri="{FF2B5EF4-FFF2-40B4-BE49-F238E27FC236}">
                <a16:creationId xmlns:a16="http://schemas.microsoft.com/office/drawing/2014/main" id="{BA9B395E-C624-B79B-E0DB-6B661D27DDF8}"/>
              </a:ext>
            </a:extLst>
          </p:cNvPr>
          <p:cNvSpPr>
            <a:spLocks noGrp="1"/>
          </p:cNvSpPr>
          <p:nvPr>
            <p:ph type="dt" sz="half" idx="10"/>
          </p:nvPr>
        </p:nvSpPr>
        <p:spPr>
          <a:xfrm>
            <a:off x="5037053" y="5883097"/>
            <a:ext cx="2117895" cy="277991"/>
          </a:xfrm>
          <a:prstGeom prst="rect">
            <a:avLst/>
          </a:prstGeom>
        </p:spPr>
        <p:txBody>
          <a:bodyPr/>
          <a:lstStyle>
            <a:lvl1pPr algn="ctr">
              <a:defRPr>
                <a:solidFill>
                  <a:schemeClr val="bg2"/>
                </a:solidFill>
              </a:defRPr>
            </a:lvl1pPr>
          </a:lstStyle>
          <a:p>
            <a:fld id="{CACEA970-51D5-41D8-BAF3-D0927549698A}" type="datetime1">
              <a:rPr lang="fr-FR" smtClean="0"/>
              <a:pPr/>
              <a:t>27/11/2025</a:t>
            </a:fld>
            <a:endParaRPr lang="en-US"/>
          </a:p>
        </p:txBody>
      </p:sp>
      <p:sp>
        <p:nvSpPr>
          <p:cNvPr id="9" name="Text Placeholder 8">
            <a:extLst>
              <a:ext uri="{FF2B5EF4-FFF2-40B4-BE49-F238E27FC236}">
                <a16:creationId xmlns:a16="http://schemas.microsoft.com/office/drawing/2014/main" id="{A36730EE-1422-4E74-B73C-FD4FDCAAC4BF}"/>
              </a:ext>
            </a:extLst>
          </p:cNvPr>
          <p:cNvSpPr>
            <a:spLocks noGrp="1"/>
          </p:cNvSpPr>
          <p:nvPr>
            <p:ph type="body" sz="quarter" idx="11" hasCustomPrompt="1"/>
          </p:nvPr>
        </p:nvSpPr>
        <p:spPr>
          <a:xfrm>
            <a:off x="2879725" y="5300663"/>
            <a:ext cx="6432550" cy="582434"/>
          </a:xfrm>
          <a:prstGeom prst="rect">
            <a:avLst/>
          </a:prstGeom>
        </p:spPr>
        <p:txBody>
          <a:bodyPr/>
          <a:lstStyle>
            <a:lvl1pPr marL="0" indent="0" algn="ctr">
              <a:buNone/>
              <a:defRPr>
                <a:solidFill>
                  <a:schemeClr val="bg2"/>
                </a:solidFill>
              </a:defRPr>
            </a:lvl1pPr>
          </a:lstStyle>
          <a:p>
            <a:pPr lvl="0"/>
            <a:r>
              <a:rPr lang="en-US"/>
              <a:t>Text</a:t>
            </a:r>
            <a:endParaRPr lang="fr-FR"/>
          </a:p>
        </p:txBody>
      </p:sp>
      <p:pic>
        <p:nvPicPr>
          <p:cNvPr id="4" name="Graphique 3">
            <a:extLst>
              <a:ext uri="{FF2B5EF4-FFF2-40B4-BE49-F238E27FC236}">
                <a16:creationId xmlns:a16="http://schemas.microsoft.com/office/drawing/2014/main" id="{E35AEFED-EBCA-D264-0980-F66F7216E5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437435" y="914892"/>
            <a:ext cx="3312368" cy="425876"/>
          </a:xfrm>
          <a:prstGeom prst="rect">
            <a:avLst/>
          </a:prstGeom>
        </p:spPr>
      </p:pic>
    </p:spTree>
    <p:extLst>
      <p:ext uri="{BB962C8B-B14F-4D97-AF65-F5344CB8AC3E}">
        <p14:creationId xmlns:p14="http://schemas.microsoft.com/office/powerpoint/2010/main" val="17266775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ection_title_SUNSET">
    <p:bg>
      <p:bgPr>
        <a:solidFill>
          <a:schemeClr val="tx2"/>
        </a:solidFill>
        <a:effectLst/>
      </p:bgPr>
    </p:bg>
    <p:spTree>
      <p:nvGrpSpPr>
        <p:cNvPr id="1" name=""/>
        <p:cNvGrpSpPr/>
        <p:nvPr/>
      </p:nvGrpSpPr>
      <p:grpSpPr>
        <a:xfrm>
          <a:off x="0" y="0"/>
          <a:ext cx="0" cy="0"/>
          <a:chOff x="0" y="0"/>
          <a:chExt cx="0" cy="0"/>
        </a:xfrm>
      </p:grpSpPr>
      <p:sp>
        <p:nvSpPr>
          <p:cNvPr id="2" name="Text Placeholder 18">
            <a:extLst>
              <a:ext uri="{FF2B5EF4-FFF2-40B4-BE49-F238E27FC236}">
                <a16:creationId xmlns:a16="http://schemas.microsoft.com/office/drawing/2014/main" id="{897266DD-267E-9A36-C26C-E81C2E82EA8B}"/>
              </a:ext>
            </a:extLst>
          </p:cNvPr>
          <p:cNvSpPr>
            <a:spLocks noGrp="1"/>
          </p:cNvSpPr>
          <p:nvPr>
            <p:ph type="body" sz="quarter" idx="14" hasCustomPrompt="1"/>
          </p:nvPr>
        </p:nvSpPr>
        <p:spPr>
          <a:xfrm>
            <a:off x="334963" y="2389892"/>
            <a:ext cx="11524528" cy="1362958"/>
          </a:xfrm>
          <a:prstGeom prst="rect">
            <a:avLst/>
          </a:prstGeom>
        </p:spPr>
        <p:txBody>
          <a:bodyPr anchor="ctr"/>
          <a:lstStyle>
            <a:lvl1pPr marL="0" indent="0" algn="ctr">
              <a:buNone/>
              <a:defRPr sz="4000">
                <a:solidFill>
                  <a:schemeClr val="bg2"/>
                </a:solidFill>
                <a:latin typeface="Bagoss Standard Medium" panose="020B0604060102020204" pitchFamily="34" charset="0"/>
                <a:cs typeface="Bagoss Standard Medium" panose="020B06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PRESENTATION SECTION TITLE</a:t>
            </a:r>
            <a:endParaRPr lang="en-US"/>
          </a:p>
        </p:txBody>
      </p:sp>
      <p:sp>
        <p:nvSpPr>
          <p:cNvPr id="3" name="Text Placeholder 18">
            <a:extLst>
              <a:ext uri="{FF2B5EF4-FFF2-40B4-BE49-F238E27FC236}">
                <a16:creationId xmlns:a16="http://schemas.microsoft.com/office/drawing/2014/main" id="{0A01E6E0-E5CB-C283-7FE7-091C23740360}"/>
              </a:ext>
            </a:extLst>
          </p:cNvPr>
          <p:cNvSpPr>
            <a:spLocks noGrp="1"/>
          </p:cNvSpPr>
          <p:nvPr>
            <p:ph type="body" sz="quarter" idx="13" hasCustomPrompt="1"/>
          </p:nvPr>
        </p:nvSpPr>
        <p:spPr>
          <a:xfrm>
            <a:off x="332509" y="3435927"/>
            <a:ext cx="11524528" cy="1043203"/>
          </a:xfrm>
          <a:prstGeom prst="rect">
            <a:avLst/>
          </a:prstGeom>
          <a:noFill/>
        </p:spPr>
        <p:txBody>
          <a:bodyPr anchor="ctr"/>
          <a:lstStyle>
            <a:lvl1pPr marL="0" indent="0" algn="ctr">
              <a:buNone/>
              <a:defRPr sz="4000">
                <a:solidFill>
                  <a:schemeClr val="bg2"/>
                </a:solidFill>
                <a:latin typeface="Bagoss Standard" panose="020B0504060102020204" pitchFamily="34" charset="0"/>
                <a:cs typeface="Bagoss Standard" panose="020B05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Subtitle here</a:t>
            </a:r>
            <a:endParaRPr lang="en-US"/>
          </a:p>
        </p:txBody>
      </p:sp>
      <p:pic>
        <p:nvPicPr>
          <p:cNvPr id="4" name="Graphic 56">
            <a:extLst>
              <a:ext uri="{FF2B5EF4-FFF2-40B4-BE49-F238E27FC236}">
                <a16:creationId xmlns:a16="http://schemas.microsoft.com/office/drawing/2014/main" id="{EAAB6502-4F21-3C14-1E8A-7D62B8679ED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79976" y="6191638"/>
            <a:ext cx="405367" cy="342520"/>
          </a:xfrm>
          <a:prstGeom prst="rect">
            <a:avLst/>
          </a:prstGeom>
        </p:spPr>
      </p:pic>
    </p:spTree>
    <p:extLst>
      <p:ext uri="{BB962C8B-B14F-4D97-AF65-F5344CB8AC3E}">
        <p14:creationId xmlns:p14="http://schemas.microsoft.com/office/powerpoint/2010/main" val="12274575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tion-title_BLOSSOM">
    <p:bg>
      <p:bgPr>
        <a:solidFill>
          <a:schemeClr val="bg2"/>
        </a:solidFill>
        <a:effectLst/>
      </p:bgPr>
    </p:bg>
    <p:spTree>
      <p:nvGrpSpPr>
        <p:cNvPr id="1" name=""/>
        <p:cNvGrpSpPr/>
        <p:nvPr/>
      </p:nvGrpSpPr>
      <p:grpSpPr>
        <a:xfrm>
          <a:off x="0" y="0"/>
          <a:ext cx="0" cy="0"/>
          <a:chOff x="0" y="0"/>
          <a:chExt cx="0" cy="0"/>
        </a:xfrm>
      </p:grpSpPr>
      <p:sp>
        <p:nvSpPr>
          <p:cNvPr id="2" name="Text Placeholder 18">
            <a:extLst>
              <a:ext uri="{FF2B5EF4-FFF2-40B4-BE49-F238E27FC236}">
                <a16:creationId xmlns:a16="http://schemas.microsoft.com/office/drawing/2014/main" id="{897266DD-267E-9A36-C26C-E81C2E82EA8B}"/>
              </a:ext>
            </a:extLst>
          </p:cNvPr>
          <p:cNvSpPr>
            <a:spLocks noGrp="1"/>
          </p:cNvSpPr>
          <p:nvPr>
            <p:ph type="body" sz="quarter" idx="14" hasCustomPrompt="1"/>
          </p:nvPr>
        </p:nvSpPr>
        <p:spPr>
          <a:xfrm>
            <a:off x="334963" y="2389892"/>
            <a:ext cx="11524528" cy="1362958"/>
          </a:xfrm>
          <a:prstGeom prst="rect">
            <a:avLst/>
          </a:prstGeom>
        </p:spPr>
        <p:txBody>
          <a:bodyPr anchor="ctr"/>
          <a:lstStyle>
            <a:lvl1pPr marL="0" indent="0" algn="ctr">
              <a:buNone/>
              <a:defRPr sz="4000">
                <a:solidFill>
                  <a:schemeClr val="tx2"/>
                </a:solidFill>
                <a:latin typeface="Bagoss Standard Medium" panose="020B0604060102020204" pitchFamily="34" charset="0"/>
                <a:cs typeface="Bagoss Standard Medium" panose="020B06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PRESENTATION SECTION TITLE</a:t>
            </a:r>
            <a:endParaRPr lang="en-US"/>
          </a:p>
        </p:txBody>
      </p:sp>
      <p:sp>
        <p:nvSpPr>
          <p:cNvPr id="3" name="Text Placeholder 18">
            <a:extLst>
              <a:ext uri="{FF2B5EF4-FFF2-40B4-BE49-F238E27FC236}">
                <a16:creationId xmlns:a16="http://schemas.microsoft.com/office/drawing/2014/main" id="{0A01E6E0-E5CB-C283-7FE7-091C23740360}"/>
              </a:ext>
            </a:extLst>
          </p:cNvPr>
          <p:cNvSpPr>
            <a:spLocks noGrp="1"/>
          </p:cNvSpPr>
          <p:nvPr>
            <p:ph type="body" sz="quarter" idx="13" hasCustomPrompt="1"/>
          </p:nvPr>
        </p:nvSpPr>
        <p:spPr>
          <a:xfrm>
            <a:off x="332509" y="3435927"/>
            <a:ext cx="11524528" cy="1043203"/>
          </a:xfrm>
          <a:prstGeom prst="rect">
            <a:avLst/>
          </a:prstGeom>
          <a:noFill/>
        </p:spPr>
        <p:txBody>
          <a:bodyPr anchor="ctr"/>
          <a:lstStyle>
            <a:lvl1pPr marL="0" indent="0" algn="ctr">
              <a:buNone/>
              <a:defRPr sz="4000">
                <a:solidFill>
                  <a:schemeClr val="tx2"/>
                </a:solidFill>
                <a:latin typeface="Bagoss Standard" panose="020B0504060102020204" pitchFamily="34" charset="0"/>
                <a:cs typeface="Bagoss Standard" panose="020B05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Subtitle here</a:t>
            </a:r>
            <a:endParaRPr lang="en-US"/>
          </a:p>
        </p:txBody>
      </p:sp>
      <p:pic>
        <p:nvPicPr>
          <p:cNvPr id="4" name="Graphic 56">
            <a:extLst>
              <a:ext uri="{FF2B5EF4-FFF2-40B4-BE49-F238E27FC236}">
                <a16:creationId xmlns:a16="http://schemas.microsoft.com/office/drawing/2014/main" id="{EAAB6502-4F21-3C14-1E8A-7D62B8679ED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79976" y="6191638"/>
            <a:ext cx="405367" cy="342520"/>
          </a:xfrm>
          <a:prstGeom prst="rect">
            <a:avLst/>
          </a:prstGeom>
        </p:spPr>
      </p:pic>
    </p:spTree>
    <p:extLst>
      <p:ext uri="{BB962C8B-B14F-4D97-AF65-F5344CB8AC3E}">
        <p14:creationId xmlns:p14="http://schemas.microsoft.com/office/powerpoint/2010/main" val="377777202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imple-text_BLOSSOM">
    <p:bg>
      <p:bgPr>
        <a:solidFill>
          <a:srgbClr val="FFFFFF"/>
        </a:solidFill>
        <a:effectLst/>
      </p:bgPr>
    </p:bg>
    <p:spTree>
      <p:nvGrpSpPr>
        <p:cNvPr id="1" name=""/>
        <p:cNvGrpSpPr/>
        <p:nvPr/>
      </p:nvGrpSpPr>
      <p:grpSpPr>
        <a:xfrm>
          <a:off x="0" y="0"/>
          <a:ext cx="0" cy="0"/>
          <a:chOff x="0" y="0"/>
          <a:chExt cx="0" cy="0"/>
        </a:xfrm>
      </p:grpSpPr>
      <p:pic>
        <p:nvPicPr>
          <p:cNvPr id="3" name="Picture 16">
            <a:extLst>
              <a:ext uri="{FF2B5EF4-FFF2-40B4-BE49-F238E27FC236}">
                <a16:creationId xmlns:a16="http://schemas.microsoft.com/office/drawing/2014/main" id="{23649652-109F-30B3-D03C-F3D9173957C7}"/>
              </a:ext>
            </a:extLst>
          </p:cNvPr>
          <p:cNvPicPr>
            <a:picLocks noChangeAspect="1"/>
          </p:cNvPicPr>
          <p:nvPr userDrawn="1"/>
        </p:nvPicPr>
        <p:blipFill>
          <a:blip r:embed="rId2">
            <a:alphaModFix amt="4000"/>
          </a:blip>
          <a:stretch>
            <a:fillRect/>
          </a:stretch>
        </p:blipFill>
        <p:spPr>
          <a:xfrm>
            <a:off x="8485303" y="3129544"/>
            <a:ext cx="3721864" cy="3721864"/>
          </a:xfrm>
          <a:prstGeom prst="rect">
            <a:avLst/>
          </a:prstGeom>
        </p:spPr>
      </p:pic>
      <p:sp>
        <p:nvSpPr>
          <p:cNvPr id="21" name="Slide Number Placeholder 4">
            <a:extLst>
              <a:ext uri="{FF2B5EF4-FFF2-40B4-BE49-F238E27FC236}">
                <a16:creationId xmlns:a16="http://schemas.microsoft.com/office/drawing/2014/main" id="{04919B05-25FA-4326-95A9-52218D9EE524}"/>
              </a:ext>
            </a:extLst>
          </p:cNvPr>
          <p:cNvSpPr>
            <a:spLocks noGrp="1"/>
          </p:cNvSpPr>
          <p:nvPr>
            <p:ph type="sldNum" sz="quarter" idx="12"/>
          </p:nvPr>
        </p:nvSpPr>
        <p:spPr>
          <a:xfrm>
            <a:off x="11040058" y="6320920"/>
            <a:ext cx="818313" cy="276432"/>
          </a:xfrm>
          <a:prstGeom prst="rect">
            <a:avLst/>
          </a:prstGeom>
          <a:noFill/>
        </p:spPr>
        <p:txBody>
          <a:bodyPr lIns="0" tIns="0" rIns="0" bIns="0" anchor="ctr"/>
          <a:lstStyle>
            <a:lvl1pPr algn="r">
              <a:defRPr sz="1200">
                <a:solidFill>
                  <a:schemeClr val="tx2"/>
                </a:solidFill>
              </a:defRPr>
            </a:lvl1pPr>
          </a:lstStyle>
          <a:p>
            <a:fld id="{0D2E6A04-B99A-6C4D-8942-945F97C9E705}" type="slidenum">
              <a:rPr lang="en-US" smtClean="0"/>
              <a:pPr/>
              <a:t>‹nr.›</a:t>
            </a:fld>
            <a:endParaRPr lang="en-US"/>
          </a:p>
        </p:txBody>
      </p:sp>
      <p:sp>
        <p:nvSpPr>
          <p:cNvPr id="23" name="Date Placeholder 2">
            <a:extLst>
              <a:ext uri="{FF2B5EF4-FFF2-40B4-BE49-F238E27FC236}">
                <a16:creationId xmlns:a16="http://schemas.microsoft.com/office/drawing/2014/main" id="{71D241C7-285A-46EE-B103-4DF94C2F2735}"/>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tx2"/>
                </a:solidFill>
              </a:defRPr>
            </a:lvl1pPr>
          </a:lstStyle>
          <a:p>
            <a:fld id="{05C20A28-4BAC-4477-9026-1E123DBFBC43}" type="datetime1">
              <a:rPr lang="fr-FR" smtClean="0"/>
              <a:pPr/>
              <a:t>27/11/2025</a:t>
            </a:fld>
            <a:endParaRPr lang="en-US"/>
          </a:p>
        </p:txBody>
      </p:sp>
      <p:sp>
        <p:nvSpPr>
          <p:cNvPr id="18" name="Espace réservé du contenu 6">
            <a:extLst>
              <a:ext uri="{FF2B5EF4-FFF2-40B4-BE49-F238E27FC236}">
                <a16:creationId xmlns:a16="http://schemas.microsoft.com/office/drawing/2014/main" id="{3ED8EF5A-53F2-47D2-8D1C-2F21C08A987D}"/>
              </a:ext>
            </a:extLst>
          </p:cNvPr>
          <p:cNvSpPr>
            <a:spLocks noGrp="1"/>
          </p:cNvSpPr>
          <p:nvPr>
            <p:ph sz="quarter" idx="13" hasCustomPrompt="1"/>
          </p:nvPr>
        </p:nvSpPr>
        <p:spPr>
          <a:xfrm>
            <a:off x="336757" y="1096479"/>
            <a:ext cx="10945813" cy="2585628"/>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3"/>
              </a:buBlip>
              <a:defRPr sz="1200">
                <a:solidFill>
                  <a:schemeClr val="tx2"/>
                </a:solidFill>
              </a:defRPr>
            </a:lvl2pPr>
            <a:lvl3pPr marL="0" indent="0">
              <a:buNone/>
              <a:defRPr>
                <a:solidFill>
                  <a:schemeClr val="tx2"/>
                </a:solidFill>
              </a:defRPr>
            </a:lvl3pPr>
            <a:lvl4pPr marL="324000" indent="0">
              <a:lnSpc>
                <a:spcPct val="250000"/>
              </a:lnSpc>
              <a:buNone/>
              <a:defRPr>
                <a:solidFill>
                  <a:schemeClr val="tx2"/>
                </a:solidFill>
                <a:highlight>
                  <a:srgbClr val="FFB0D6"/>
                </a:highlight>
              </a:defRPr>
            </a:lvl4pPr>
            <a:lvl5pPr marL="324000" indent="0">
              <a:lnSpc>
                <a:spcPct val="120000"/>
              </a:lnSpc>
              <a:buNone/>
              <a:defRPr sz="1200">
                <a:solidFill>
                  <a:schemeClr val="bg1">
                    <a:lumMod val="25000"/>
                  </a:schemeClr>
                </a:solidFill>
              </a:defRPr>
            </a:lvl5pPr>
            <a:lvl6pPr marL="0" indent="0">
              <a:spcBef>
                <a:spcPts val="1200"/>
              </a:spcBef>
              <a:buNone/>
              <a:defRPr sz="1400" b="1">
                <a:solidFill>
                  <a:schemeClr val="tx2"/>
                </a:solidFill>
              </a:defRPr>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9" name="Titel 14">
            <a:extLst>
              <a:ext uri="{FF2B5EF4-FFF2-40B4-BE49-F238E27FC236}">
                <a16:creationId xmlns:a16="http://schemas.microsoft.com/office/drawing/2014/main" id="{956BF4AB-E8A1-4F20-B9CA-FB38AEA71E95}"/>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chemeClr val="tx2"/>
                </a:solidFill>
              </a:defRPr>
            </a:lvl1pPr>
          </a:lstStyle>
          <a:p>
            <a:r>
              <a:rPr lang="nl-NL" err="1"/>
              <a:t>Title</a:t>
            </a:r>
            <a:endParaRPr lang="en-US"/>
          </a:p>
        </p:txBody>
      </p:sp>
      <p:cxnSp>
        <p:nvCxnSpPr>
          <p:cNvPr id="24" name="Straight Connector 23">
            <a:extLst>
              <a:ext uri="{FF2B5EF4-FFF2-40B4-BE49-F238E27FC236}">
                <a16:creationId xmlns:a16="http://schemas.microsoft.com/office/drawing/2014/main" id="{0F252710-C411-438E-82A9-476F627FB43E}"/>
              </a:ext>
            </a:extLst>
          </p:cNvPr>
          <p:cNvCxnSpPr>
            <a:cxnSpLocks/>
          </p:cNvCxnSpPr>
          <p:nvPr userDrawn="1"/>
        </p:nvCxnSpPr>
        <p:spPr>
          <a:xfrm flipH="1">
            <a:off x="333629" y="836712"/>
            <a:ext cx="11515267" cy="0"/>
          </a:xfrm>
          <a:prstGeom prst="line">
            <a:avLst/>
          </a:prstGeom>
          <a:ln w="47625" cap="rnd">
            <a:solidFill>
              <a:schemeClr val="bg2"/>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C474A61A-05BE-4554-B48D-44C17516647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25443255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Simple-text_TABLE_BLOSSOM">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87D7E1-03F8-AF94-FB7B-5B9DBB6D3B81}"/>
              </a:ext>
            </a:extLst>
          </p:cNvPr>
          <p:cNvSpPr/>
          <p:nvPr userDrawn="1"/>
        </p:nvSpPr>
        <p:spPr>
          <a:xfrm>
            <a:off x="339725" y="4869272"/>
            <a:ext cx="1784549" cy="122413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FB0D0A53-3553-7F80-AA86-80334C3D1276}"/>
              </a:ext>
            </a:extLst>
          </p:cNvPr>
          <p:cNvSpPr/>
          <p:nvPr userDrawn="1"/>
        </p:nvSpPr>
        <p:spPr>
          <a:xfrm>
            <a:off x="2107586" y="4869272"/>
            <a:ext cx="9741310" cy="1224135"/>
          </a:xfrm>
          <a:prstGeom prst="rect">
            <a:avLst/>
          </a:prstGeom>
          <a:solidFill>
            <a:srgbClr val="FFD9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15" name="Titel 14">
            <a:extLst>
              <a:ext uri="{FF2B5EF4-FFF2-40B4-BE49-F238E27FC236}">
                <a16:creationId xmlns:a16="http://schemas.microsoft.com/office/drawing/2014/main" id="{475A41A9-8C95-15D2-7C18-0ABADA5BF893}"/>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chemeClr val="tx2"/>
                </a:solidFill>
              </a:defRPr>
            </a:lvl1pPr>
          </a:lstStyle>
          <a:p>
            <a:r>
              <a:rPr lang="nl-NL" err="1"/>
              <a:t>Title</a:t>
            </a:r>
            <a:endParaRPr lang="en-US"/>
          </a:p>
        </p:txBody>
      </p:sp>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115325"/>
            <a:ext cx="10945813" cy="3708411"/>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solidFill>
                  <a:schemeClr val="tx2"/>
                </a:solidFill>
              </a:defRPr>
            </a:lvl2pPr>
            <a:lvl3pPr marL="0" indent="0">
              <a:buNone/>
              <a:defRPr>
                <a:solidFill>
                  <a:schemeClr val="tx2"/>
                </a:solidFill>
              </a:defRPr>
            </a:lvl3pPr>
            <a:lvl4pPr marL="324000" indent="0">
              <a:lnSpc>
                <a:spcPct val="250000"/>
              </a:lnSpc>
              <a:buNone/>
              <a:defRPr>
                <a:solidFill>
                  <a:schemeClr val="bg2"/>
                </a:solidFill>
                <a:highlight>
                  <a:srgbClr val="700606"/>
                </a:highlight>
              </a:defRPr>
            </a:lvl4pPr>
            <a:lvl5pPr marL="324000" indent="0">
              <a:lnSpc>
                <a:spcPct val="120000"/>
              </a:lnSpc>
              <a:buNone/>
              <a:defRPr sz="1200">
                <a:solidFill>
                  <a:schemeClr val="bg1">
                    <a:lumMod val="25000"/>
                  </a:schemeClr>
                </a:solidFill>
              </a:defRPr>
            </a:lvl5pPr>
            <a:lvl6pPr marL="0" indent="0">
              <a:spcBef>
                <a:spcPts val="1200"/>
              </a:spcBef>
              <a:buNone/>
              <a:defRPr sz="1400" b="1">
                <a:solidFill>
                  <a:schemeClr val="tx2"/>
                </a:solidFill>
              </a:defRPr>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771B68FC-9087-4E3B-8BE6-3EB6AE24D2EA}" type="datetime1">
              <a:rPr lang="fr-FR" smtClean="0"/>
              <a:t>27/11/2025</a:t>
            </a:fld>
            <a:endParaRPr lang="en-US"/>
          </a:p>
        </p:txBody>
      </p:sp>
      <p:cxnSp>
        <p:nvCxnSpPr>
          <p:cNvPr id="5" name="Straight Connector 4">
            <a:extLst>
              <a:ext uri="{FF2B5EF4-FFF2-40B4-BE49-F238E27FC236}">
                <a16:creationId xmlns:a16="http://schemas.microsoft.com/office/drawing/2014/main" id="{E7D77697-8229-461A-8B0A-8032E1413682}"/>
              </a:ext>
            </a:extLst>
          </p:cNvPr>
          <p:cNvCxnSpPr>
            <a:cxnSpLocks/>
          </p:cNvCxnSpPr>
          <p:nvPr userDrawn="1"/>
        </p:nvCxnSpPr>
        <p:spPr>
          <a:xfrm flipH="1">
            <a:off x="333629" y="836712"/>
            <a:ext cx="11515267" cy="0"/>
          </a:xfrm>
          <a:prstGeom prst="line">
            <a:avLst/>
          </a:prstGeom>
          <a:ln w="47625" cap="rnd">
            <a:solidFill>
              <a:schemeClr val="bg2"/>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7E372CC0-0B8D-49FD-B536-01431FB94A3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
        <p:nvSpPr>
          <p:cNvPr id="7" name="Espace réservé du texte 6">
            <a:extLst>
              <a:ext uri="{FF2B5EF4-FFF2-40B4-BE49-F238E27FC236}">
                <a16:creationId xmlns:a16="http://schemas.microsoft.com/office/drawing/2014/main" id="{03B629D6-94FB-CBB3-FC2E-63EB35BEB161}"/>
              </a:ext>
            </a:extLst>
          </p:cNvPr>
          <p:cNvSpPr>
            <a:spLocks noGrp="1"/>
          </p:cNvSpPr>
          <p:nvPr>
            <p:ph type="body" sz="quarter" idx="14" hasCustomPrompt="1"/>
          </p:nvPr>
        </p:nvSpPr>
        <p:spPr>
          <a:xfrm>
            <a:off x="339725" y="4928096"/>
            <a:ext cx="1784549" cy="1106488"/>
          </a:xfrm>
          <a:prstGeom prst="rect">
            <a:avLst/>
          </a:prstGeom>
        </p:spPr>
        <p:txBody>
          <a:bodyPr anchor="ctr" anchorCtr="0"/>
          <a:lstStyle>
            <a:lvl1pPr marL="0" indent="0" algn="ctr">
              <a:lnSpc>
                <a:spcPct val="30000"/>
              </a:lnSpc>
              <a:buNone/>
              <a:defRPr sz="1400" b="1">
                <a:solidFill>
                  <a:schemeClr val="tx2"/>
                </a:solidFill>
              </a:defRPr>
            </a:lvl1pPr>
          </a:lstStyle>
          <a:p>
            <a:pPr lvl="0"/>
            <a:r>
              <a:rPr lang="fr-FR" err="1"/>
              <a:t>Text</a:t>
            </a:r>
            <a:endParaRPr lang="fr-FR"/>
          </a:p>
        </p:txBody>
      </p:sp>
      <p:sp>
        <p:nvSpPr>
          <p:cNvPr id="9" name="Espace réservé du texte 6">
            <a:extLst>
              <a:ext uri="{FF2B5EF4-FFF2-40B4-BE49-F238E27FC236}">
                <a16:creationId xmlns:a16="http://schemas.microsoft.com/office/drawing/2014/main" id="{6C70DEDB-5CDC-45BE-0939-EAAA7C0B4513}"/>
              </a:ext>
            </a:extLst>
          </p:cNvPr>
          <p:cNvSpPr>
            <a:spLocks noGrp="1"/>
          </p:cNvSpPr>
          <p:nvPr>
            <p:ph type="body" sz="quarter" idx="15" hasCustomPrompt="1"/>
          </p:nvPr>
        </p:nvSpPr>
        <p:spPr>
          <a:xfrm>
            <a:off x="2279576" y="4914800"/>
            <a:ext cx="9433047" cy="1106488"/>
          </a:xfrm>
          <a:prstGeom prst="rect">
            <a:avLst/>
          </a:prstGeom>
        </p:spPr>
        <p:txBody>
          <a:bodyPr anchor="ctr" anchorCtr="0"/>
          <a:lstStyle>
            <a:lvl1pPr marL="0" indent="0" algn="l">
              <a:lnSpc>
                <a:spcPct val="30000"/>
              </a:lnSpc>
              <a:buNone/>
              <a:defRPr sz="1200" b="0">
                <a:solidFill>
                  <a:schemeClr val="tx2"/>
                </a:solidFill>
              </a:defRPr>
            </a:lvl1pPr>
          </a:lstStyle>
          <a:p>
            <a:pPr lvl="0"/>
            <a:r>
              <a:rPr lang="fr-FR" err="1"/>
              <a:t>Text</a:t>
            </a:r>
            <a:endParaRPr lang="fr-FR"/>
          </a:p>
        </p:txBody>
      </p:sp>
    </p:spTree>
    <p:extLst>
      <p:ext uri="{BB962C8B-B14F-4D97-AF65-F5344CB8AC3E}">
        <p14:creationId xmlns:p14="http://schemas.microsoft.com/office/powerpoint/2010/main" val="6422323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LORED_simple_text_SUNSE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7FDDB1-5A4A-4C76-997C-F7B1B9BA32AA}"/>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rgbClr val="FFB0D6"/>
                </a:solidFill>
              </a:defRPr>
            </a:lvl1pPr>
          </a:lstStyle>
          <a:p>
            <a:fld id="{771B68FC-9087-4E3B-8BE6-3EB6AE24D2EA}" type="datetime1">
              <a:rPr lang="fr-FR" smtClean="0"/>
              <a:pPr/>
              <a:t>27/11/2025</a:t>
            </a:fld>
            <a:endParaRPr lang="en-US"/>
          </a:p>
        </p:txBody>
      </p:sp>
      <p:sp>
        <p:nvSpPr>
          <p:cNvPr id="17" name="Titel 14">
            <a:extLst>
              <a:ext uri="{FF2B5EF4-FFF2-40B4-BE49-F238E27FC236}">
                <a16:creationId xmlns:a16="http://schemas.microsoft.com/office/drawing/2014/main" id="{FCEC0B95-79DC-42F7-AC5B-81D123887F18}"/>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rgbClr val="FFB0D6"/>
                </a:solidFill>
              </a:defRPr>
            </a:lvl1pPr>
          </a:lstStyle>
          <a:p>
            <a:r>
              <a:rPr lang="nl-NL" err="1"/>
              <a:t>Title</a:t>
            </a:r>
            <a:endParaRPr lang="en-US"/>
          </a:p>
        </p:txBody>
      </p:sp>
      <p:cxnSp>
        <p:nvCxnSpPr>
          <p:cNvPr id="19" name="Straight Connector 18">
            <a:extLst>
              <a:ext uri="{FF2B5EF4-FFF2-40B4-BE49-F238E27FC236}">
                <a16:creationId xmlns:a16="http://schemas.microsoft.com/office/drawing/2014/main" id="{DC0DC6F9-75CE-447A-8978-BB1F7027DAC2}"/>
              </a:ext>
            </a:extLst>
          </p:cNvPr>
          <p:cNvCxnSpPr>
            <a:cxnSpLocks/>
          </p:cNvCxnSpPr>
          <p:nvPr userDrawn="1"/>
        </p:nvCxnSpPr>
        <p:spPr>
          <a:xfrm flipH="1">
            <a:off x="333629" y="836712"/>
            <a:ext cx="11515267" cy="0"/>
          </a:xfrm>
          <a:prstGeom prst="line">
            <a:avLst/>
          </a:prstGeom>
          <a:ln w="47625" cap="rnd">
            <a:solidFill>
              <a:srgbClr val="FFB0D6"/>
            </a:solidFill>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B16ABA6E-893E-46DE-8FE7-C6130F9EE4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pic>
        <p:nvPicPr>
          <p:cNvPr id="3" name="Picture 14">
            <a:extLst>
              <a:ext uri="{FF2B5EF4-FFF2-40B4-BE49-F238E27FC236}">
                <a16:creationId xmlns:a16="http://schemas.microsoft.com/office/drawing/2014/main" id="{3B2E6603-80D9-0573-5187-BF5A75DA9A04}"/>
              </a:ext>
            </a:extLst>
          </p:cNvPr>
          <p:cNvPicPr>
            <a:picLocks noChangeAspect="1"/>
          </p:cNvPicPr>
          <p:nvPr userDrawn="1"/>
        </p:nvPicPr>
        <p:blipFill>
          <a:blip r:embed="rId4">
            <a:alphaModFix amt="9000"/>
          </a:blip>
          <a:stretch>
            <a:fillRect/>
          </a:stretch>
        </p:blipFill>
        <p:spPr>
          <a:xfrm>
            <a:off x="8403674" y="3082323"/>
            <a:ext cx="3775675" cy="3775675"/>
          </a:xfrm>
          <a:prstGeom prst="rect">
            <a:avLst/>
          </a:prstGeom>
        </p:spPr>
      </p:pic>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094414"/>
            <a:ext cx="10945813" cy="4998882"/>
          </a:xfrm>
          <a:prstGeom prst="rect">
            <a:avLst/>
          </a:prstGeom>
        </p:spPr>
        <p:txBody>
          <a:bodyPr/>
          <a:lstStyle>
            <a:lvl1pPr marL="0" indent="0">
              <a:lnSpc>
                <a:spcPct val="120000"/>
              </a:lnSpc>
              <a:spcBef>
                <a:spcPts val="1000"/>
              </a:spcBef>
              <a:buNone/>
              <a:defRPr sz="1200">
                <a:solidFill>
                  <a:srgbClr val="FFB0D6"/>
                </a:solidFill>
              </a:defRPr>
            </a:lvl1pPr>
            <a:lvl2pPr marL="685800" indent="-228600">
              <a:lnSpc>
                <a:spcPct val="100000"/>
              </a:lnSpc>
              <a:spcBef>
                <a:spcPts val="600"/>
              </a:spcBef>
              <a:spcAft>
                <a:spcPts val="0"/>
              </a:spcAft>
              <a:buFontTx/>
              <a:buBlip>
                <a:blip r:embed="rId5"/>
              </a:buBlip>
              <a:defRPr sz="1200">
                <a:solidFill>
                  <a:srgbClr val="FFB0D6"/>
                </a:solidFill>
              </a:defRPr>
            </a:lvl2pPr>
            <a:lvl3pPr marL="0" indent="0">
              <a:buNone/>
              <a:defRPr>
                <a:solidFill>
                  <a:srgbClr val="FFB0D6"/>
                </a:solidFill>
              </a:defRPr>
            </a:lvl3pPr>
            <a:lvl4pPr marL="324000" indent="0">
              <a:lnSpc>
                <a:spcPct val="250000"/>
              </a:lnSpc>
              <a:buNone/>
              <a:defRPr>
                <a:solidFill>
                  <a:schemeClr val="tx2"/>
                </a:solidFill>
                <a:highlight>
                  <a:srgbClr val="FFB0D6"/>
                </a:highlight>
              </a:defRPr>
            </a:lvl4pPr>
            <a:lvl5pPr marL="324000" indent="0">
              <a:lnSpc>
                <a:spcPct val="120000"/>
              </a:lnSpc>
              <a:buNone/>
              <a:defRPr sz="1200">
                <a:solidFill>
                  <a:srgbClr val="FFB0D6"/>
                </a:solidFill>
              </a:defRPr>
            </a:lvl5pPr>
            <a:lvl6pPr marL="0" indent="0">
              <a:buNone/>
              <a:defRPr sz="1400" b="1">
                <a:solidFill>
                  <a:srgbClr val="FFB0D6"/>
                </a:solidFill>
              </a:defRPr>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a:t>Paragraphe </a:t>
            </a:r>
            <a:r>
              <a:rPr lang="fr-FR" err="1"/>
              <a:t>title</a:t>
            </a:r>
            <a:r>
              <a:rPr lang="fr-FR"/>
              <a:t> 2</a:t>
            </a:r>
          </a:p>
          <a:p>
            <a:pPr lvl="4"/>
            <a:r>
              <a:rPr lang="fr-FR" err="1"/>
              <a:t>Text</a:t>
            </a:r>
            <a:endParaRPr lang="fr-FR"/>
          </a:p>
          <a:p>
            <a:pPr lvl="5"/>
            <a:r>
              <a:rPr lang="fr-FR"/>
              <a:t>Sixième niveau</a:t>
            </a:r>
          </a:p>
        </p:txBody>
      </p:sp>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81328"/>
            <a:ext cx="818313" cy="276432"/>
          </a:xfrm>
          <a:prstGeom prst="rect">
            <a:avLst/>
          </a:prstGeom>
        </p:spPr>
        <p:txBody>
          <a:bodyPr lIns="0" tIns="0" rIns="0" bIns="0" anchor="ctr"/>
          <a:lstStyle>
            <a:lvl1pPr algn="r">
              <a:defRPr sz="1200">
                <a:solidFill>
                  <a:srgbClr val="FFB0D6"/>
                </a:solidFill>
              </a:defRPr>
            </a:lvl1pPr>
          </a:lstStyle>
          <a:p>
            <a:fld id="{0D2E6A04-B99A-6C4D-8942-945F97C9E705}" type="slidenum">
              <a:rPr lang="en-US" smtClean="0"/>
              <a:pPr/>
              <a:t>‹nr.›</a:t>
            </a:fld>
            <a:endParaRPr lang="en-US"/>
          </a:p>
        </p:txBody>
      </p:sp>
    </p:spTree>
    <p:extLst>
      <p:ext uri="{BB962C8B-B14F-4D97-AF65-F5344CB8AC3E}">
        <p14:creationId xmlns:p14="http://schemas.microsoft.com/office/powerpoint/2010/main" val="281814642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LORED_simple_text_BLOSSOM">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7FDDB1-5A4A-4C76-997C-F7B1B9BA32AA}"/>
              </a:ext>
            </a:extLst>
          </p:cNvPr>
          <p:cNvSpPr/>
          <p:nvPr userDrawn="1"/>
        </p:nvSpPr>
        <p:spPr>
          <a:xfrm>
            <a:off x="0" y="0"/>
            <a:ext cx="12192000" cy="6858000"/>
          </a:xfrm>
          <a:prstGeom prst="rect">
            <a:avLst/>
          </a:prstGeom>
          <a:solidFill>
            <a:srgbClr val="FFB0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2"/>
                </a:solidFill>
              </a:defRPr>
            </a:lvl1pPr>
          </a:lstStyle>
          <a:p>
            <a:fld id="{0D2E6A04-B99A-6C4D-8942-945F97C9E705}" type="slidenum">
              <a:rPr lang="en-US" smtClean="0"/>
              <a:pPr/>
              <a:t>‹nr.›</a:t>
            </a:fld>
            <a:endParaRPr lang="en-US"/>
          </a:p>
        </p:txBody>
      </p:sp>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094414"/>
            <a:ext cx="10945813" cy="4998882"/>
          </a:xfrm>
          <a:prstGeom prst="rect">
            <a:avLst/>
          </a:prstGeom>
        </p:spPr>
        <p:txBody>
          <a:bodyPr/>
          <a:lstStyle>
            <a:lvl1pPr marL="0" indent="0">
              <a:lnSpc>
                <a:spcPct val="120000"/>
              </a:lnSpc>
              <a:spcBef>
                <a:spcPts val="1000"/>
              </a:spcBef>
              <a:buNone/>
              <a:defRPr sz="1200">
                <a:solidFill>
                  <a:schemeClr val="tx2"/>
                </a:solidFill>
              </a:defRPr>
            </a:lvl1pPr>
            <a:lvl2pPr marL="685800" indent="-228600">
              <a:lnSpc>
                <a:spcPct val="100000"/>
              </a:lnSpc>
              <a:spcBef>
                <a:spcPts val="600"/>
              </a:spcBef>
              <a:spcAft>
                <a:spcPts val="0"/>
              </a:spcAft>
              <a:buFontTx/>
              <a:buBlip>
                <a:blip r:embed="rId2"/>
              </a:buBlip>
              <a:defRPr sz="1200">
                <a:solidFill>
                  <a:schemeClr val="tx2"/>
                </a:solidFill>
              </a:defRPr>
            </a:lvl2pPr>
            <a:lvl3pPr marL="0" indent="0">
              <a:buNone/>
              <a:defRPr>
                <a:solidFill>
                  <a:schemeClr val="tx2"/>
                </a:solidFill>
              </a:defRPr>
            </a:lvl3pPr>
            <a:lvl4pPr marL="324000" indent="0">
              <a:lnSpc>
                <a:spcPct val="250000"/>
              </a:lnSpc>
              <a:buNone/>
              <a:defRPr>
                <a:solidFill>
                  <a:srgbClr val="FFB0D6"/>
                </a:solidFill>
                <a:highlight>
                  <a:srgbClr val="700606"/>
                </a:highlight>
              </a:defRPr>
            </a:lvl4pPr>
            <a:lvl5pPr marL="324000" indent="0">
              <a:lnSpc>
                <a:spcPct val="120000"/>
              </a:lnSpc>
              <a:buNone/>
              <a:defRPr sz="1200">
                <a:solidFill>
                  <a:schemeClr val="tx2"/>
                </a:solidFill>
              </a:defRPr>
            </a:lvl5pPr>
            <a:lvl6pPr marL="0" indent="0">
              <a:buNone/>
              <a:defRPr sz="1400" b="1">
                <a:solidFill>
                  <a:schemeClr val="tx2"/>
                </a:solidFill>
              </a:defRPr>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a:t>Paragraphe </a:t>
            </a:r>
            <a:r>
              <a:rPr lang="fr-FR" err="1"/>
              <a:t>title</a:t>
            </a:r>
            <a:r>
              <a:rPr lang="fr-FR"/>
              <a:t> 2</a:t>
            </a:r>
          </a:p>
          <a:p>
            <a:pPr lvl="4"/>
            <a:r>
              <a:rPr lang="fr-FR" err="1"/>
              <a:t>Text</a:t>
            </a:r>
            <a:endParaRPr lang="fr-FR"/>
          </a:p>
          <a:p>
            <a:pPr lvl="5"/>
            <a:r>
              <a:rPr lang="fr-FR"/>
              <a:t>Sixième niveau</a:t>
            </a: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tx2"/>
                </a:solidFill>
              </a:defRPr>
            </a:lvl1pPr>
          </a:lstStyle>
          <a:p>
            <a:fld id="{771B68FC-9087-4E3B-8BE6-3EB6AE24D2EA}" type="datetime1">
              <a:rPr lang="fr-FR" smtClean="0"/>
              <a:pPr/>
              <a:t>27/11/2025</a:t>
            </a:fld>
            <a:endParaRPr lang="en-US"/>
          </a:p>
        </p:txBody>
      </p:sp>
      <p:sp>
        <p:nvSpPr>
          <p:cNvPr id="17" name="Titel 14">
            <a:extLst>
              <a:ext uri="{FF2B5EF4-FFF2-40B4-BE49-F238E27FC236}">
                <a16:creationId xmlns:a16="http://schemas.microsoft.com/office/drawing/2014/main" id="{FCEC0B95-79DC-42F7-AC5B-81D123887F18}"/>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chemeClr val="tx2"/>
                </a:solidFill>
              </a:defRPr>
            </a:lvl1pPr>
          </a:lstStyle>
          <a:p>
            <a:r>
              <a:rPr lang="nl-NL" err="1"/>
              <a:t>Title</a:t>
            </a:r>
            <a:endParaRPr lang="en-US"/>
          </a:p>
        </p:txBody>
      </p:sp>
      <p:cxnSp>
        <p:nvCxnSpPr>
          <p:cNvPr id="19" name="Straight Connector 18">
            <a:extLst>
              <a:ext uri="{FF2B5EF4-FFF2-40B4-BE49-F238E27FC236}">
                <a16:creationId xmlns:a16="http://schemas.microsoft.com/office/drawing/2014/main" id="{DC0DC6F9-75CE-447A-8978-BB1F7027DAC2}"/>
              </a:ext>
            </a:extLst>
          </p:cNvPr>
          <p:cNvCxnSpPr>
            <a:cxnSpLocks/>
          </p:cNvCxnSpPr>
          <p:nvPr userDrawn="1"/>
        </p:nvCxnSpPr>
        <p:spPr>
          <a:xfrm flipH="1">
            <a:off x="333629" y="836712"/>
            <a:ext cx="11515267" cy="0"/>
          </a:xfrm>
          <a:prstGeom prst="line">
            <a:avLst/>
          </a:prstGeom>
          <a:ln w="47625" cap="rnd">
            <a:solidFill>
              <a:schemeClr val="tx2"/>
            </a:solidFill>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B16ABA6E-893E-46DE-8FE7-C6130F9EE46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pic>
        <p:nvPicPr>
          <p:cNvPr id="18" name="Picture 17">
            <a:extLst>
              <a:ext uri="{FF2B5EF4-FFF2-40B4-BE49-F238E27FC236}">
                <a16:creationId xmlns:a16="http://schemas.microsoft.com/office/drawing/2014/main" id="{D91CB6FD-5F28-4120-901B-82C36DA0B4BD}"/>
              </a:ext>
            </a:extLst>
          </p:cNvPr>
          <p:cNvPicPr>
            <a:picLocks noChangeAspect="1"/>
          </p:cNvPicPr>
          <p:nvPr userDrawn="1"/>
        </p:nvPicPr>
        <p:blipFill>
          <a:blip r:embed="rId5">
            <a:alphaModFix amt="5000"/>
          </a:blip>
          <a:stretch>
            <a:fillRect/>
          </a:stretch>
        </p:blipFill>
        <p:spPr>
          <a:xfrm>
            <a:off x="8390970" y="3082324"/>
            <a:ext cx="3775676" cy="3775676"/>
          </a:xfrm>
          <a:prstGeom prst="rect">
            <a:avLst/>
          </a:prstGeom>
        </p:spPr>
      </p:pic>
    </p:spTree>
    <p:extLst>
      <p:ext uri="{BB962C8B-B14F-4D97-AF65-F5344CB8AC3E}">
        <p14:creationId xmlns:p14="http://schemas.microsoft.com/office/powerpoint/2010/main" val="347535110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image_11">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1768855-FACA-4549-99D9-E8300DDC891C}"/>
              </a:ext>
            </a:extLst>
          </p:cNvPr>
          <p:cNvPicPr>
            <a:picLocks noChangeAspect="1"/>
          </p:cNvPicPr>
          <p:nvPr userDrawn="1"/>
        </p:nvPicPr>
        <p:blipFill>
          <a:blip r:embed="rId2"/>
          <a:stretch>
            <a:fillRect/>
          </a:stretch>
        </p:blipFill>
        <p:spPr>
          <a:xfrm>
            <a:off x="6288377" y="692696"/>
            <a:ext cx="4851948" cy="4870466"/>
          </a:xfrm>
          <a:prstGeom prst="rect">
            <a:avLst/>
          </a:prstGeom>
        </p:spPr>
      </p:pic>
      <p:sp>
        <p:nvSpPr>
          <p:cNvPr id="11" name="Espace réservé du contenu 6">
            <a:extLst>
              <a:ext uri="{FF2B5EF4-FFF2-40B4-BE49-F238E27FC236}">
                <a16:creationId xmlns:a16="http://schemas.microsoft.com/office/drawing/2014/main" id="{E87477D1-A495-4DA6-B19A-9A96230EA50F}"/>
              </a:ext>
            </a:extLst>
          </p:cNvPr>
          <p:cNvSpPr>
            <a:spLocks noGrp="1"/>
          </p:cNvSpPr>
          <p:nvPr>
            <p:ph sz="quarter" idx="13" hasCustomPrompt="1"/>
          </p:nvPr>
        </p:nvSpPr>
        <p:spPr>
          <a:xfrm>
            <a:off x="6528048" y="2204864"/>
            <a:ext cx="4392488" cy="3358298"/>
          </a:xfrm>
          <a:prstGeom prst="rect">
            <a:avLst/>
          </a:prstGeom>
        </p:spPr>
        <p:txBody>
          <a:bodyPr anchor="ctr" anchorCtr="0"/>
          <a:lstStyle>
            <a:lvl1pPr marL="0" indent="0" algn="ctr">
              <a:lnSpc>
                <a:spcPct val="120000"/>
              </a:lnSpc>
              <a:spcBef>
                <a:spcPts val="1000"/>
              </a:spcBef>
              <a:buNone/>
              <a:defRPr sz="1400">
                <a:solidFill>
                  <a:srgbClr val="700606"/>
                </a:solidFill>
                <a:latin typeface="Bagoss Standard Medium" panose="020B0604060102020204" pitchFamily="34" charset="0"/>
                <a:cs typeface="Bagoss Standard Medium" panose="020B0604060102020204" pitchFamily="34" charset="0"/>
              </a:defRPr>
            </a:lvl1pPr>
            <a:lvl2pPr marL="0" indent="-228600" algn="ctr">
              <a:lnSpc>
                <a:spcPct val="100000"/>
              </a:lnSpc>
              <a:spcBef>
                <a:spcPts val="600"/>
              </a:spcBef>
              <a:spcAft>
                <a:spcPts val="0"/>
              </a:spcAft>
              <a:buFontTx/>
              <a:buBlip>
                <a:blip r:embed="rId3"/>
              </a:buBlip>
              <a:defRPr sz="1400">
                <a:solidFill>
                  <a:srgbClr val="700606"/>
                </a:solidFill>
                <a:latin typeface="Bagoss Standard Medium" panose="020B0604060102020204" pitchFamily="34" charset="0"/>
                <a:cs typeface="Bagoss Standard Medium" panose="020B0604060102020204" pitchFamily="34" charset="0"/>
              </a:defRPr>
            </a:lvl2pPr>
            <a:lvl3pPr marL="0" indent="0" algn="ctr">
              <a:lnSpc>
                <a:spcPts val="1300"/>
              </a:lnSpc>
              <a:spcBef>
                <a:spcPts val="1200"/>
              </a:spcBef>
              <a:spcAft>
                <a:spcPts val="0"/>
              </a:spcAft>
              <a:buNone/>
              <a:defRPr sz="2400">
                <a:solidFill>
                  <a:srgbClr val="700606"/>
                </a:solidFill>
                <a:latin typeface="Bagoss Standard Medium" panose="020B0604060102020204" pitchFamily="34" charset="0"/>
                <a:cs typeface="Bagoss Standard Medium" panose="020B0604060102020204" pitchFamily="34" charset="0"/>
              </a:defRPr>
            </a:lvl3pPr>
            <a:lvl4pPr marL="324000" indent="0" algn="ctr">
              <a:lnSpc>
                <a:spcPct val="250000"/>
              </a:lnSpc>
              <a:buNone/>
              <a:defRPr>
                <a:highlight>
                  <a:srgbClr val="B2EDA7"/>
                </a:highlight>
              </a:defRPr>
            </a:lvl4pPr>
            <a:lvl5pPr marL="324000" indent="0" algn="ctr">
              <a:lnSpc>
                <a:spcPct val="120000"/>
              </a:lnSpc>
              <a:buNone/>
              <a:defRPr sz="1200">
                <a:solidFill>
                  <a:schemeClr val="bg1">
                    <a:lumMod val="25000"/>
                  </a:schemeClr>
                </a:solidFill>
              </a:defRPr>
            </a:lvl5pPr>
            <a:lvl6pPr marL="0" indent="0" algn="ctr">
              <a:buNone/>
              <a:defRPr sz="1400" b="1"/>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2"/>
            <a:r>
              <a:rPr lang="fr-FR" err="1"/>
              <a:t>erf</a:t>
            </a:r>
            <a:endParaRPr lang="fr-FR"/>
          </a:p>
          <a:p>
            <a:pPr lvl="3"/>
            <a:r>
              <a:rPr lang="fr-FR"/>
              <a:t>Paragraphe </a:t>
            </a:r>
            <a:r>
              <a:rPr lang="fr-FR" err="1"/>
              <a:t>title</a:t>
            </a:r>
            <a:r>
              <a:rPr lang="fr-FR"/>
              <a:t> 2</a:t>
            </a:r>
          </a:p>
          <a:p>
            <a:pPr lvl="4"/>
            <a:r>
              <a:rPr lang="fr-FR"/>
              <a:t>Cinquième niveau</a:t>
            </a:r>
          </a:p>
          <a:p>
            <a:pPr lvl="4"/>
            <a:r>
              <a:rPr lang="fr-FR" err="1"/>
              <a:t>ds</a:t>
            </a:r>
            <a:endParaRPr lang="fr-FR"/>
          </a:p>
          <a:p>
            <a:pPr lvl="5"/>
            <a:r>
              <a:rPr lang="fr-FR"/>
              <a:t>Sixième niveau</a:t>
            </a:r>
          </a:p>
        </p:txBody>
      </p:sp>
      <p:sp>
        <p:nvSpPr>
          <p:cNvPr id="12" name="Slide Number Placeholder 4">
            <a:extLst>
              <a:ext uri="{FF2B5EF4-FFF2-40B4-BE49-F238E27FC236}">
                <a16:creationId xmlns:a16="http://schemas.microsoft.com/office/drawing/2014/main" id="{EF346218-9C3C-4B3D-BE62-F3FE963C33C9}"/>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bg1"/>
                </a:solidFill>
              </a:defRPr>
            </a:lvl1pPr>
          </a:lstStyle>
          <a:p>
            <a:fld id="{0D2E6A04-B99A-6C4D-8942-945F97C9E705}" type="slidenum">
              <a:rPr lang="en-US" smtClean="0"/>
              <a:pPr/>
              <a:t>‹nr.›</a:t>
            </a:fld>
            <a:endParaRPr lang="en-US"/>
          </a:p>
        </p:txBody>
      </p:sp>
      <p:sp>
        <p:nvSpPr>
          <p:cNvPr id="14" name="Date Placeholder 2">
            <a:extLst>
              <a:ext uri="{FF2B5EF4-FFF2-40B4-BE49-F238E27FC236}">
                <a16:creationId xmlns:a16="http://schemas.microsoft.com/office/drawing/2014/main" id="{23898158-63AD-4764-985C-36F3F297C393}"/>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bg1"/>
                </a:solidFill>
              </a:defRPr>
            </a:lvl1pPr>
          </a:lstStyle>
          <a:p>
            <a:fld id="{0254D66B-6124-4183-985C-3A5B0C606042}" type="datetime1">
              <a:rPr lang="fr-FR" smtClean="0"/>
              <a:t>27/11/2025</a:t>
            </a:fld>
            <a:endParaRPr lang="en-US"/>
          </a:p>
        </p:txBody>
      </p:sp>
    </p:spTree>
    <p:extLst>
      <p:ext uri="{BB962C8B-B14F-4D97-AF65-F5344CB8AC3E}">
        <p14:creationId xmlns:p14="http://schemas.microsoft.com/office/powerpoint/2010/main" val="9258196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hank-you_BLOSSOM">
    <p:bg>
      <p:bgPr>
        <a:solidFill>
          <a:schemeClr val="tx2"/>
        </a:solidFill>
        <a:effectLst/>
      </p:bgPr>
    </p:bg>
    <p:spTree>
      <p:nvGrpSpPr>
        <p:cNvPr id="1" name=""/>
        <p:cNvGrpSpPr/>
        <p:nvPr/>
      </p:nvGrpSpPr>
      <p:grpSpPr>
        <a:xfrm>
          <a:off x="0" y="0"/>
          <a:ext cx="0" cy="0"/>
          <a:chOff x="0" y="0"/>
          <a:chExt cx="0" cy="0"/>
        </a:xfrm>
      </p:grpSpPr>
      <p:sp>
        <p:nvSpPr>
          <p:cNvPr id="26" name="Text Placeholder 20">
            <a:extLst>
              <a:ext uri="{FF2B5EF4-FFF2-40B4-BE49-F238E27FC236}">
                <a16:creationId xmlns:a16="http://schemas.microsoft.com/office/drawing/2014/main" id="{59667516-AF34-3A63-E277-815BBC3D2549}"/>
              </a:ext>
            </a:extLst>
          </p:cNvPr>
          <p:cNvSpPr>
            <a:spLocks noGrp="1"/>
          </p:cNvSpPr>
          <p:nvPr>
            <p:ph type="body" sz="quarter" idx="22" hasCustomPrompt="1"/>
          </p:nvPr>
        </p:nvSpPr>
        <p:spPr>
          <a:xfrm>
            <a:off x="2103297" y="1997258"/>
            <a:ext cx="7985404" cy="2727886"/>
          </a:xfrm>
          <a:prstGeom prst="rect">
            <a:avLst/>
          </a:prstGeom>
          <a:noFill/>
        </p:spPr>
        <p:txBody>
          <a:bodyPr anchor="ctr"/>
          <a:lstStyle>
            <a:lvl1pPr marL="0" indent="0" algn="ctr">
              <a:buNone/>
              <a:defRPr sz="9200">
                <a:solidFill>
                  <a:schemeClr val="bg2"/>
                </a:solidFill>
                <a:latin typeface="Bagoss Standard Medium" panose="020B0604060102020204" pitchFamily="34" charset="0"/>
                <a:cs typeface="Bagoss Standard Medium" panose="020B0604060102020204" pitchFamily="34" charset="0"/>
              </a:defRPr>
            </a:lvl1pPr>
            <a:lvl2pPr marL="457200" indent="0">
              <a:buNone/>
              <a:defRPr sz="1200">
                <a:solidFill>
                  <a:srgbClr val="B2EDA7"/>
                </a:solidFill>
              </a:defRPr>
            </a:lvl2pPr>
            <a:lvl3pPr marL="914400" indent="0">
              <a:buNone/>
              <a:defRPr sz="1200">
                <a:solidFill>
                  <a:srgbClr val="B2EDA7"/>
                </a:solidFill>
              </a:defRPr>
            </a:lvl3pPr>
            <a:lvl4pPr marL="1371600" indent="0">
              <a:buNone/>
              <a:defRPr sz="1200">
                <a:solidFill>
                  <a:srgbClr val="B2EDA7"/>
                </a:solidFill>
              </a:defRPr>
            </a:lvl4pPr>
            <a:lvl5pPr marL="1828800" indent="0">
              <a:buNone/>
              <a:defRPr sz="1200">
                <a:solidFill>
                  <a:srgbClr val="B2EDA7"/>
                </a:solidFill>
              </a:defRPr>
            </a:lvl5pPr>
          </a:lstStyle>
          <a:p>
            <a:pPr lvl="0"/>
            <a:r>
              <a:rPr lang="en-GB"/>
              <a:t>THANK YOU</a:t>
            </a:r>
            <a:endParaRPr lang="en-US"/>
          </a:p>
        </p:txBody>
      </p:sp>
      <p:pic>
        <p:nvPicPr>
          <p:cNvPr id="4" name="Graphique 3">
            <a:extLst>
              <a:ext uri="{FF2B5EF4-FFF2-40B4-BE49-F238E27FC236}">
                <a16:creationId xmlns:a16="http://schemas.microsoft.com/office/drawing/2014/main" id="{08895822-A758-5D10-BDA4-51FC7156CC1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99831" y="5949280"/>
            <a:ext cx="2792338" cy="359015"/>
          </a:xfrm>
          <a:prstGeom prst="rect">
            <a:avLst/>
          </a:prstGeom>
        </p:spPr>
      </p:pic>
    </p:spTree>
    <p:extLst>
      <p:ext uri="{BB962C8B-B14F-4D97-AF65-F5344CB8AC3E}">
        <p14:creationId xmlns:p14="http://schemas.microsoft.com/office/powerpoint/2010/main" val="375121137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Main-title_LAGOON">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714D5-049C-A2AB-DE2D-5447BFB76B2B}"/>
              </a:ext>
            </a:extLst>
          </p:cNvPr>
          <p:cNvSpPr>
            <a:spLocks noGrp="1"/>
          </p:cNvSpPr>
          <p:nvPr>
            <p:ph type="title" hasCustomPrompt="1"/>
          </p:nvPr>
        </p:nvSpPr>
        <p:spPr>
          <a:xfrm>
            <a:off x="2879725" y="2512524"/>
            <a:ext cx="6432550" cy="1832952"/>
          </a:xfrm>
          <a:prstGeom prst="rect">
            <a:avLst/>
          </a:prstGeom>
        </p:spPr>
        <p:txBody>
          <a:bodyPr anchor="ctr"/>
          <a:lstStyle>
            <a:lvl1pPr algn="ctr">
              <a:defRPr sz="6500" b="0" i="0">
                <a:solidFill>
                  <a:schemeClr val="accent6"/>
                </a:solidFill>
                <a:latin typeface="Tahoma" panose="020B0604030504040204" pitchFamily="34" charset="0"/>
                <a:ea typeface="Tahoma" panose="020B0604030504040204" pitchFamily="34" charset="0"/>
                <a:cs typeface="Tahoma" panose="020B0604030504040204" pitchFamily="34" charset="0"/>
              </a:defRPr>
            </a:lvl1pPr>
          </a:lstStyle>
          <a:p>
            <a:br>
              <a:rPr lang="en-GB"/>
            </a:br>
            <a:r>
              <a:rPr lang="en-GB"/>
              <a:t>Presentation Title</a:t>
            </a:r>
            <a:br>
              <a:rPr lang="en-GB"/>
            </a:br>
            <a:endParaRPr lang="en-US"/>
          </a:p>
        </p:txBody>
      </p:sp>
      <p:sp>
        <p:nvSpPr>
          <p:cNvPr id="3" name="Date Placeholder 2">
            <a:extLst>
              <a:ext uri="{FF2B5EF4-FFF2-40B4-BE49-F238E27FC236}">
                <a16:creationId xmlns:a16="http://schemas.microsoft.com/office/drawing/2014/main" id="{BA9B395E-C624-B79B-E0DB-6B661D27DDF8}"/>
              </a:ext>
            </a:extLst>
          </p:cNvPr>
          <p:cNvSpPr>
            <a:spLocks noGrp="1"/>
          </p:cNvSpPr>
          <p:nvPr>
            <p:ph type="dt" sz="half" idx="10"/>
          </p:nvPr>
        </p:nvSpPr>
        <p:spPr>
          <a:xfrm>
            <a:off x="5037053" y="5883097"/>
            <a:ext cx="2117895" cy="277991"/>
          </a:xfrm>
          <a:prstGeom prst="rect">
            <a:avLst/>
          </a:prstGeom>
        </p:spPr>
        <p:txBody>
          <a:bodyPr/>
          <a:lstStyle>
            <a:lvl1pPr algn="ctr">
              <a:defRPr>
                <a:solidFill>
                  <a:schemeClr val="accent6"/>
                </a:solidFill>
              </a:defRPr>
            </a:lvl1pPr>
          </a:lstStyle>
          <a:p>
            <a:fld id="{CACEA970-51D5-41D8-BAF3-D0927549698A}" type="datetime1">
              <a:rPr lang="fr-FR" smtClean="0"/>
              <a:pPr/>
              <a:t>27/11/2025</a:t>
            </a:fld>
            <a:endParaRPr lang="en-US"/>
          </a:p>
        </p:txBody>
      </p:sp>
      <p:sp>
        <p:nvSpPr>
          <p:cNvPr id="9" name="Text Placeholder 8">
            <a:extLst>
              <a:ext uri="{FF2B5EF4-FFF2-40B4-BE49-F238E27FC236}">
                <a16:creationId xmlns:a16="http://schemas.microsoft.com/office/drawing/2014/main" id="{A36730EE-1422-4E74-B73C-FD4FDCAAC4BF}"/>
              </a:ext>
            </a:extLst>
          </p:cNvPr>
          <p:cNvSpPr>
            <a:spLocks noGrp="1"/>
          </p:cNvSpPr>
          <p:nvPr>
            <p:ph type="body" sz="quarter" idx="11" hasCustomPrompt="1"/>
          </p:nvPr>
        </p:nvSpPr>
        <p:spPr>
          <a:xfrm>
            <a:off x="2879725" y="5300663"/>
            <a:ext cx="6432550" cy="582434"/>
          </a:xfrm>
          <a:prstGeom prst="rect">
            <a:avLst/>
          </a:prstGeom>
        </p:spPr>
        <p:txBody>
          <a:bodyPr/>
          <a:lstStyle>
            <a:lvl1pPr marL="0" indent="0" algn="ctr">
              <a:buNone/>
              <a:defRPr>
                <a:solidFill>
                  <a:schemeClr val="accent6"/>
                </a:solidFill>
              </a:defRPr>
            </a:lvl1pPr>
          </a:lstStyle>
          <a:p>
            <a:pPr lvl="0"/>
            <a:r>
              <a:rPr lang="en-US"/>
              <a:t>Text</a:t>
            </a:r>
            <a:endParaRPr lang="fr-FR"/>
          </a:p>
        </p:txBody>
      </p:sp>
      <p:pic>
        <p:nvPicPr>
          <p:cNvPr id="4" name="Graphique 3">
            <a:extLst>
              <a:ext uri="{FF2B5EF4-FFF2-40B4-BE49-F238E27FC236}">
                <a16:creationId xmlns:a16="http://schemas.microsoft.com/office/drawing/2014/main" id="{E35AEFED-EBCA-D264-0980-F66F7216E5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437435" y="914892"/>
            <a:ext cx="3312368" cy="425876"/>
          </a:xfrm>
          <a:prstGeom prst="rect">
            <a:avLst/>
          </a:prstGeom>
        </p:spPr>
      </p:pic>
    </p:spTree>
    <p:extLst>
      <p:ext uri="{BB962C8B-B14F-4D97-AF65-F5344CB8AC3E}">
        <p14:creationId xmlns:p14="http://schemas.microsoft.com/office/powerpoint/2010/main" val="359358244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imple-text_SKY">
    <p:bg>
      <p:bgPr>
        <a:solidFill>
          <a:srgbClr val="FFFFFF"/>
        </a:solidFill>
        <a:effectLst/>
      </p:bgPr>
    </p:bg>
    <p:spTree>
      <p:nvGrpSpPr>
        <p:cNvPr id="1" name=""/>
        <p:cNvGrpSpPr/>
        <p:nvPr/>
      </p:nvGrpSpPr>
      <p:grpSpPr>
        <a:xfrm>
          <a:off x="0" y="0"/>
          <a:ext cx="0" cy="0"/>
          <a:chOff x="0" y="0"/>
          <a:chExt cx="0" cy="0"/>
        </a:xfrm>
      </p:grpSpPr>
      <p:pic>
        <p:nvPicPr>
          <p:cNvPr id="3" name="Picture 24">
            <a:extLst>
              <a:ext uri="{FF2B5EF4-FFF2-40B4-BE49-F238E27FC236}">
                <a16:creationId xmlns:a16="http://schemas.microsoft.com/office/drawing/2014/main" id="{899C6986-6A14-6AF6-1E52-1C619F6694F4}"/>
              </a:ext>
            </a:extLst>
          </p:cNvPr>
          <p:cNvPicPr>
            <a:picLocks noChangeAspect="1"/>
          </p:cNvPicPr>
          <p:nvPr userDrawn="1"/>
        </p:nvPicPr>
        <p:blipFill>
          <a:blip r:embed="rId2">
            <a:alphaModFix amt="7000"/>
          </a:blip>
          <a:stretch>
            <a:fillRect/>
          </a:stretch>
        </p:blipFill>
        <p:spPr>
          <a:xfrm>
            <a:off x="8499020" y="3165020"/>
            <a:ext cx="3692980" cy="3692980"/>
          </a:xfrm>
          <a:prstGeom prst="rect">
            <a:avLst/>
          </a:prstGeom>
        </p:spPr>
      </p:pic>
      <p:sp>
        <p:nvSpPr>
          <p:cNvPr id="21" name="Slide Number Placeholder 4">
            <a:extLst>
              <a:ext uri="{FF2B5EF4-FFF2-40B4-BE49-F238E27FC236}">
                <a16:creationId xmlns:a16="http://schemas.microsoft.com/office/drawing/2014/main" id="{04919B05-25FA-4326-95A9-52218D9EE524}"/>
              </a:ext>
            </a:extLst>
          </p:cNvPr>
          <p:cNvSpPr>
            <a:spLocks noGrp="1"/>
          </p:cNvSpPr>
          <p:nvPr>
            <p:ph type="sldNum" sz="quarter" idx="12"/>
          </p:nvPr>
        </p:nvSpPr>
        <p:spPr>
          <a:xfrm>
            <a:off x="11040058" y="6320920"/>
            <a:ext cx="818313" cy="276432"/>
          </a:xfrm>
          <a:prstGeom prst="rect">
            <a:avLst/>
          </a:prstGeom>
          <a:noFill/>
        </p:spPr>
        <p:txBody>
          <a:bodyPr lIns="0" tIns="0" rIns="0" bIns="0" anchor="ctr"/>
          <a:lstStyle>
            <a:lvl1pPr algn="r">
              <a:defRPr sz="1200">
                <a:solidFill>
                  <a:schemeClr val="accent5"/>
                </a:solidFill>
              </a:defRPr>
            </a:lvl1pPr>
          </a:lstStyle>
          <a:p>
            <a:fld id="{0D2E6A04-B99A-6C4D-8942-945F97C9E705}" type="slidenum">
              <a:rPr lang="en-US" smtClean="0"/>
              <a:pPr/>
              <a:t>‹nr.›</a:t>
            </a:fld>
            <a:endParaRPr lang="en-US"/>
          </a:p>
        </p:txBody>
      </p:sp>
      <p:sp>
        <p:nvSpPr>
          <p:cNvPr id="23" name="Date Placeholder 2">
            <a:extLst>
              <a:ext uri="{FF2B5EF4-FFF2-40B4-BE49-F238E27FC236}">
                <a16:creationId xmlns:a16="http://schemas.microsoft.com/office/drawing/2014/main" id="{71D241C7-285A-46EE-B103-4DF94C2F2735}"/>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5"/>
                </a:solidFill>
              </a:defRPr>
            </a:lvl1pPr>
          </a:lstStyle>
          <a:p>
            <a:fld id="{05C20A28-4BAC-4477-9026-1E123DBFBC43}" type="datetime1">
              <a:rPr lang="fr-FR" smtClean="0"/>
              <a:pPr/>
              <a:t>27/11/2025</a:t>
            </a:fld>
            <a:endParaRPr lang="en-US"/>
          </a:p>
        </p:txBody>
      </p:sp>
      <p:sp>
        <p:nvSpPr>
          <p:cNvPr id="18" name="Espace réservé du contenu 6">
            <a:extLst>
              <a:ext uri="{FF2B5EF4-FFF2-40B4-BE49-F238E27FC236}">
                <a16:creationId xmlns:a16="http://schemas.microsoft.com/office/drawing/2014/main" id="{3ED8EF5A-53F2-47D2-8D1C-2F21C08A987D}"/>
              </a:ext>
            </a:extLst>
          </p:cNvPr>
          <p:cNvSpPr>
            <a:spLocks noGrp="1"/>
          </p:cNvSpPr>
          <p:nvPr>
            <p:ph sz="quarter" idx="13" hasCustomPrompt="1"/>
          </p:nvPr>
        </p:nvSpPr>
        <p:spPr>
          <a:xfrm>
            <a:off x="336757" y="1096479"/>
            <a:ext cx="10945813" cy="2585628"/>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3"/>
              </a:buBlip>
              <a:defRPr sz="1200">
                <a:solidFill>
                  <a:schemeClr val="accent5"/>
                </a:solidFill>
              </a:defRPr>
            </a:lvl2pPr>
            <a:lvl3pPr marL="0" indent="0">
              <a:buNone/>
              <a:defRPr>
                <a:solidFill>
                  <a:schemeClr val="accent5"/>
                </a:solidFill>
              </a:defRPr>
            </a:lvl3pPr>
            <a:lvl4pPr marL="324000" indent="0">
              <a:lnSpc>
                <a:spcPct val="250000"/>
              </a:lnSpc>
              <a:buNone/>
              <a:defRPr>
                <a:solidFill>
                  <a:schemeClr val="accent5"/>
                </a:solidFill>
                <a:highlight>
                  <a:srgbClr val="FFFFFF"/>
                </a:highlight>
              </a:defRPr>
            </a:lvl4pPr>
            <a:lvl5pPr marL="324000" indent="0">
              <a:lnSpc>
                <a:spcPct val="120000"/>
              </a:lnSpc>
              <a:buNone/>
              <a:defRPr sz="1200">
                <a:solidFill>
                  <a:schemeClr val="bg1">
                    <a:lumMod val="25000"/>
                  </a:schemeClr>
                </a:solidFill>
              </a:defRPr>
            </a:lvl5pPr>
            <a:lvl6pPr marL="0" indent="0">
              <a:spcBef>
                <a:spcPts val="1200"/>
              </a:spcBef>
              <a:buNone/>
              <a:defRPr sz="1400" b="1">
                <a:solidFill>
                  <a:schemeClr val="accent5"/>
                </a:solidFill>
              </a:defRPr>
            </a:lvl6pPr>
            <a:lvl7pPr marL="0" indent="0">
              <a:spcBef>
                <a:spcPts val="1200"/>
              </a:spcBef>
              <a:buNone/>
              <a:defRPr sz="1400" b="1">
                <a:solidFill>
                  <a:srgbClr val="700606"/>
                </a:solidFill>
              </a:defRPr>
            </a:lvl7pPr>
            <a:lvl8pPr marL="0" indent="0">
              <a:spcBef>
                <a:spcPts val="1200"/>
              </a:spcBef>
              <a:buNone/>
              <a:defRPr sz="1400" b="0">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9" name="Titel 14">
            <a:extLst>
              <a:ext uri="{FF2B5EF4-FFF2-40B4-BE49-F238E27FC236}">
                <a16:creationId xmlns:a16="http://schemas.microsoft.com/office/drawing/2014/main" id="{956BF4AB-E8A1-4F20-B9CA-FB38AEA71E95}"/>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chemeClr val="accent5"/>
                </a:solidFill>
              </a:defRPr>
            </a:lvl1pPr>
          </a:lstStyle>
          <a:p>
            <a:r>
              <a:rPr lang="nl-NL" err="1"/>
              <a:t>Title</a:t>
            </a:r>
            <a:endParaRPr lang="en-US"/>
          </a:p>
        </p:txBody>
      </p:sp>
      <p:cxnSp>
        <p:nvCxnSpPr>
          <p:cNvPr id="24" name="Straight Connector 23">
            <a:extLst>
              <a:ext uri="{FF2B5EF4-FFF2-40B4-BE49-F238E27FC236}">
                <a16:creationId xmlns:a16="http://schemas.microsoft.com/office/drawing/2014/main" id="{0F252710-C411-438E-82A9-476F627FB43E}"/>
              </a:ext>
            </a:extLst>
          </p:cNvPr>
          <p:cNvCxnSpPr>
            <a:cxnSpLocks/>
          </p:cNvCxnSpPr>
          <p:nvPr userDrawn="1"/>
        </p:nvCxnSpPr>
        <p:spPr>
          <a:xfrm flipH="1">
            <a:off x="333629" y="836712"/>
            <a:ext cx="11515267" cy="0"/>
          </a:xfrm>
          <a:prstGeom prst="line">
            <a:avLst/>
          </a:prstGeom>
          <a:ln w="44450" cap="rnd">
            <a:solidFill>
              <a:schemeClr val="accent6"/>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C474A61A-05BE-4554-B48D-44C17516647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212639658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Simple-text_TABLE_SKY">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87D7E1-03F8-AF94-FB7B-5B9DBB6D3B81}"/>
              </a:ext>
            </a:extLst>
          </p:cNvPr>
          <p:cNvSpPr/>
          <p:nvPr userDrawn="1"/>
        </p:nvSpPr>
        <p:spPr>
          <a:xfrm>
            <a:off x="339725" y="4869272"/>
            <a:ext cx="1784549" cy="122413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FB0D0A53-3553-7F80-AA86-80334C3D1276}"/>
              </a:ext>
            </a:extLst>
          </p:cNvPr>
          <p:cNvSpPr/>
          <p:nvPr userDrawn="1"/>
        </p:nvSpPr>
        <p:spPr>
          <a:xfrm>
            <a:off x="2107586" y="4869272"/>
            <a:ext cx="9741310" cy="1224135"/>
          </a:xfrm>
          <a:prstGeom prst="rect">
            <a:avLst/>
          </a:prstGeom>
          <a:solidFill>
            <a:srgbClr val="D9E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15" name="Titel 14">
            <a:extLst>
              <a:ext uri="{FF2B5EF4-FFF2-40B4-BE49-F238E27FC236}">
                <a16:creationId xmlns:a16="http://schemas.microsoft.com/office/drawing/2014/main" id="{475A41A9-8C95-15D2-7C18-0ABADA5BF893}"/>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chemeClr val="accent5"/>
                </a:solidFill>
              </a:defRPr>
            </a:lvl1pPr>
          </a:lstStyle>
          <a:p>
            <a:r>
              <a:rPr lang="nl-NL" err="1"/>
              <a:t>Title</a:t>
            </a:r>
            <a:endParaRPr lang="en-US"/>
          </a:p>
        </p:txBody>
      </p:sp>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115325"/>
            <a:ext cx="10945813" cy="3708411"/>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solidFill>
                  <a:schemeClr val="accent5"/>
                </a:solidFill>
              </a:defRPr>
            </a:lvl2pPr>
            <a:lvl3pPr marL="0" indent="0">
              <a:buNone/>
              <a:defRPr>
                <a:solidFill>
                  <a:schemeClr val="accent5"/>
                </a:solidFill>
              </a:defRPr>
            </a:lvl3pPr>
            <a:lvl4pPr marL="324000" indent="0">
              <a:lnSpc>
                <a:spcPct val="250000"/>
              </a:lnSpc>
              <a:buNone/>
              <a:defRPr>
                <a:solidFill>
                  <a:schemeClr val="accent6"/>
                </a:solidFill>
                <a:highlight>
                  <a:srgbClr val="00192E"/>
                </a:highlight>
              </a:defRPr>
            </a:lvl4pPr>
            <a:lvl5pPr marL="324000" indent="0">
              <a:lnSpc>
                <a:spcPct val="120000"/>
              </a:lnSpc>
              <a:buNone/>
              <a:defRPr sz="1200">
                <a:solidFill>
                  <a:schemeClr val="bg1">
                    <a:lumMod val="25000"/>
                  </a:schemeClr>
                </a:solidFill>
              </a:defRPr>
            </a:lvl5pPr>
            <a:lvl6pPr marL="0" indent="0">
              <a:spcBef>
                <a:spcPts val="1200"/>
              </a:spcBef>
              <a:buNone/>
              <a:defRPr sz="1400" b="1">
                <a:solidFill>
                  <a:schemeClr val="accent5"/>
                </a:solidFill>
              </a:defRPr>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771B68FC-9087-4E3B-8BE6-3EB6AE24D2EA}" type="datetime1">
              <a:rPr lang="fr-FR" smtClean="0"/>
              <a:t>27/11/2025</a:t>
            </a:fld>
            <a:endParaRPr lang="en-US"/>
          </a:p>
        </p:txBody>
      </p:sp>
      <p:cxnSp>
        <p:nvCxnSpPr>
          <p:cNvPr id="5" name="Straight Connector 4">
            <a:extLst>
              <a:ext uri="{FF2B5EF4-FFF2-40B4-BE49-F238E27FC236}">
                <a16:creationId xmlns:a16="http://schemas.microsoft.com/office/drawing/2014/main" id="{E7D77697-8229-461A-8B0A-8032E1413682}"/>
              </a:ext>
            </a:extLst>
          </p:cNvPr>
          <p:cNvCxnSpPr>
            <a:cxnSpLocks/>
          </p:cNvCxnSpPr>
          <p:nvPr userDrawn="1"/>
        </p:nvCxnSpPr>
        <p:spPr>
          <a:xfrm flipH="1">
            <a:off x="333629" y="836712"/>
            <a:ext cx="11515267" cy="0"/>
          </a:xfrm>
          <a:prstGeom prst="line">
            <a:avLst/>
          </a:prstGeom>
          <a:ln w="47625" cap="rnd">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7E372CC0-0B8D-49FD-B536-01431FB94A3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
        <p:nvSpPr>
          <p:cNvPr id="7" name="Espace réservé du texte 6">
            <a:extLst>
              <a:ext uri="{FF2B5EF4-FFF2-40B4-BE49-F238E27FC236}">
                <a16:creationId xmlns:a16="http://schemas.microsoft.com/office/drawing/2014/main" id="{03B629D6-94FB-CBB3-FC2E-63EB35BEB161}"/>
              </a:ext>
            </a:extLst>
          </p:cNvPr>
          <p:cNvSpPr>
            <a:spLocks noGrp="1"/>
          </p:cNvSpPr>
          <p:nvPr>
            <p:ph type="body" sz="quarter" idx="14" hasCustomPrompt="1"/>
          </p:nvPr>
        </p:nvSpPr>
        <p:spPr>
          <a:xfrm>
            <a:off x="339725" y="4928096"/>
            <a:ext cx="1784549" cy="1106488"/>
          </a:xfrm>
          <a:prstGeom prst="rect">
            <a:avLst/>
          </a:prstGeom>
        </p:spPr>
        <p:txBody>
          <a:bodyPr anchor="ctr" anchorCtr="0"/>
          <a:lstStyle>
            <a:lvl1pPr marL="0" indent="0" algn="ctr">
              <a:lnSpc>
                <a:spcPct val="30000"/>
              </a:lnSpc>
              <a:buNone/>
              <a:defRPr sz="1400" b="1">
                <a:solidFill>
                  <a:schemeClr val="accent5"/>
                </a:solidFill>
              </a:defRPr>
            </a:lvl1pPr>
          </a:lstStyle>
          <a:p>
            <a:pPr lvl="0"/>
            <a:r>
              <a:rPr lang="fr-FR" err="1"/>
              <a:t>Text</a:t>
            </a:r>
            <a:endParaRPr lang="fr-FR"/>
          </a:p>
        </p:txBody>
      </p:sp>
      <p:sp>
        <p:nvSpPr>
          <p:cNvPr id="9" name="Espace réservé du texte 6">
            <a:extLst>
              <a:ext uri="{FF2B5EF4-FFF2-40B4-BE49-F238E27FC236}">
                <a16:creationId xmlns:a16="http://schemas.microsoft.com/office/drawing/2014/main" id="{6C70DEDB-5CDC-45BE-0939-EAAA7C0B4513}"/>
              </a:ext>
            </a:extLst>
          </p:cNvPr>
          <p:cNvSpPr>
            <a:spLocks noGrp="1"/>
          </p:cNvSpPr>
          <p:nvPr>
            <p:ph type="body" sz="quarter" idx="15" hasCustomPrompt="1"/>
          </p:nvPr>
        </p:nvSpPr>
        <p:spPr>
          <a:xfrm>
            <a:off x="2279576" y="4914800"/>
            <a:ext cx="9433047" cy="1106488"/>
          </a:xfrm>
          <a:prstGeom prst="rect">
            <a:avLst/>
          </a:prstGeom>
        </p:spPr>
        <p:txBody>
          <a:bodyPr anchor="ctr" anchorCtr="0"/>
          <a:lstStyle>
            <a:lvl1pPr marL="0" indent="0" algn="l">
              <a:lnSpc>
                <a:spcPct val="30000"/>
              </a:lnSpc>
              <a:buNone/>
              <a:defRPr sz="1200" b="0">
                <a:solidFill>
                  <a:schemeClr val="accent5"/>
                </a:solidFill>
              </a:defRPr>
            </a:lvl1pPr>
          </a:lstStyle>
          <a:p>
            <a:pPr lvl="0"/>
            <a:r>
              <a:rPr lang="fr-FR" err="1"/>
              <a:t>Text</a:t>
            </a:r>
            <a:endParaRPr lang="fr-FR"/>
          </a:p>
        </p:txBody>
      </p:sp>
    </p:spTree>
    <p:extLst>
      <p:ext uri="{BB962C8B-B14F-4D97-AF65-F5344CB8AC3E}">
        <p14:creationId xmlns:p14="http://schemas.microsoft.com/office/powerpoint/2010/main" val="41215263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LORED_simple_text_LAGOON">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7FDDB1-5A4A-4C76-997C-F7B1B9BA32AA}"/>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6"/>
                </a:solidFill>
              </a:defRPr>
            </a:lvl1pPr>
          </a:lstStyle>
          <a:p>
            <a:fld id="{771B68FC-9087-4E3B-8BE6-3EB6AE24D2EA}" type="datetime1">
              <a:rPr lang="fr-FR" smtClean="0"/>
              <a:pPr/>
              <a:t>27/11/2025</a:t>
            </a:fld>
            <a:endParaRPr lang="en-US"/>
          </a:p>
        </p:txBody>
      </p:sp>
      <p:sp>
        <p:nvSpPr>
          <p:cNvPr id="17" name="Titel 14">
            <a:extLst>
              <a:ext uri="{FF2B5EF4-FFF2-40B4-BE49-F238E27FC236}">
                <a16:creationId xmlns:a16="http://schemas.microsoft.com/office/drawing/2014/main" id="{FCEC0B95-79DC-42F7-AC5B-81D123887F18}"/>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chemeClr val="accent6"/>
                </a:solidFill>
              </a:defRPr>
            </a:lvl1pPr>
          </a:lstStyle>
          <a:p>
            <a:r>
              <a:rPr lang="nl-NL" err="1"/>
              <a:t>Title</a:t>
            </a:r>
            <a:endParaRPr lang="en-US"/>
          </a:p>
        </p:txBody>
      </p:sp>
      <p:cxnSp>
        <p:nvCxnSpPr>
          <p:cNvPr id="19" name="Straight Connector 18">
            <a:extLst>
              <a:ext uri="{FF2B5EF4-FFF2-40B4-BE49-F238E27FC236}">
                <a16:creationId xmlns:a16="http://schemas.microsoft.com/office/drawing/2014/main" id="{DC0DC6F9-75CE-447A-8978-BB1F7027DAC2}"/>
              </a:ext>
            </a:extLst>
          </p:cNvPr>
          <p:cNvCxnSpPr>
            <a:cxnSpLocks/>
          </p:cNvCxnSpPr>
          <p:nvPr userDrawn="1"/>
        </p:nvCxnSpPr>
        <p:spPr>
          <a:xfrm flipH="1">
            <a:off x="333629" y="836712"/>
            <a:ext cx="11515267" cy="0"/>
          </a:xfrm>
          <a:prstGeom prst="line">
            <a:avLst/>
          </a:prstGeom>
          <a:ln w="47625" cap="rnd">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B16ABA6E-893E-46DE-8FE7-C6130F9EE4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pic>
        <p:nvPicPr>
          <p:cNvPr id="3" name="Picture 24">
            <a:extLst>
              <a:ext uri="{FF2B5EF4-FFF2-40B4-BE49-F238E27FC236}">
                <a16:creationId xmlns:a16="http://schemas.microsoft.com/office/drawing/2014/main" id="{763E44B9-D67B-A7FF-E763-F352A7191754}"/>
              </a:ext>
            </a:extLst>
          </p:cNvPr>
          <p:cNvPicPr>
            <a:picLocks noChangeAspect="1"/>
          </p:cNvPicPr>
          <p:nvPr userDrawn="1"/>
        </p:nvPicPr>
        <p:blipFill>
          <a:blip r:embed="rId4">
            <a:alphaModFix amt="14000"/>
          </a:blip>
          <a:stretch>
            <a:fillRect/>
          </a:stretch>
        </p:blipFill>
        <p:spPr>
          <a:xfrm>
            <a:off x="8332249" y="2999440"/>
            <a:ext cx="3858560" cy="3858560"/>
          </a:xfrm>
          <a:prstGeom prst="rect">
            <a:avLst/>
          </a:prstGeom>
        </p:spPr>
      </p:pic>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094414"/>
            <a:ext cx="10945813" cy="4998882"/>
          </a:xfrm>
          <a:prstGeom prst="rect">
            <a:avLst/>
          </a:prstGeom>
        </p:spPr>
        <p:txBody>
          <a:bodyPr/>
          <a:lstStyle>
            <a:lvl1pPr marL="0" indent="0">
              <a:lnSpc>
                <a:spcPct val="120000"/>
              </a:lnSpc>
              <a:spcBef>
                <a:spcPts val="1000"/>
              </a:spcBef>
              <a:buNone/>
              <a:defRPr sz="1200">
                <a:solidFill>
                  <a:schemeClr val="accent6"/>
                </a:solidFill>
              </a:defRPr>
            </a:lvl1pPr>
            <a:lvl2pPr marL="685800" indent="-228600">
              <a:lnSpc>
                <a:spcPct val="100000"/>
              </a:lnSpc>
              <a:spcBef>
                <a:spcPts val="600"/>
              </a:spcBef>
              <a:spcAft>
                <a:spcPts val="0"/>
              </a:spcAft>
              <a:buFontTx/>
              <a:buBlip>
                <a:blip r:embed="rId5"/>
              </a:buBlip>
              <a:defRPr sz="1200">
                <a:solidFill>
                  <a:schemeClr val="accent6"/>
                </a:solidFill>
              </a:defRPr>
            </a:lvl2pPr>
            <a:lvl3pPr marL="0" indent="0">
              <a:buNone/>
              <a:defRPr>
                <a:solidFill>
                  <a:schemeClr val="accent6"/>
                </a:solidFill>
              </a:defRPr>
            </a:lvl3pPr>
            <a:lvl4pPr marL="324000" indent="0">
              <a:lnSpc>
                <a:spcPct val="250000"/>
              </a:lnSpc>
              <a:buNone/>
              <a:defRPr>
                <a:solidFill>
                  <a:schemeClr val="accent6"/>
                </a:solidFill>
                <a:highlight>
                  <a:srgbClr val="00192E"/>
                </a:highlight>
              </a:defRPr>
            </a:lvl4pPr>
            <a:lvl5pPr marL="324000" indent="0">
              <a:lnSpc>
                <a:spcPct val="120000"/>
              </a:lnSpc>
              <a:buNone/>
              <a:defRPr sz="1200">
                <a:solidFill>
                  <a:schemeClr val="accent6"/>
                </a:solidFill>
              </a:defRPr>
            </a:lvl5pPr>
            <a:lvl6pPr marL="0" indent="0">
              <a:buNone/>
              <a:defRPr sz="1400" b="1">
                <a:solidFill>
                  <a:schemeClr val="accent6"/>
                </a:solidFill>
              </a:defRPr>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a:t>Paragraphe </a:t>
            </a:r>
            <a:r>
              <a:rPr lang="fr-FR" err="1"/>
              <a:t>title</a:t>
            </a:r>
            <a:r>
              <a:rPr lang="fr-FR"/>
              <a:t> 2</a:t>
            </a:r>
          </a:p>
          <a:p>
            <a:pPr lvl="4"/>
            <a:r>
              <a:rPr lang="fr-FR" err="1"/>
              <a:t>Text</a:t>
            </a:r>
            <a:endParaRPr lang="fr-FR"/>
          </a:p>
          <a:p>
            <a:pPr lvl="5"/>
            <a:r>
              <a:rPr lang="fr-FR"/>
              <a:t>Sixième niveau</a:t>
            </a:r>
          </a:p>
        </p:txBody>
      </p:sp>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09320"/>
            <a:ext cx="818313" cy="276432"/>
          </a:xfrm>
          <a:prstGeom prst="rect">
            <a:avLst/>
          </a:prstGeom>
        </p:spPr>
        <p:txBody>
          <a:bodyPr lIns="0" tIns="0" rIns="0" bIns="0" anchor="ctr"/>
          <a:lstStyle>
            <a:lvl1pPr algn="r">
              <a:defRPr sz="1200">
                <a:solidFill>
                  <a:schemeClr val="accent6"/>
                </a:solidFill>
              </a:defRPr>
            </a:lvl1pPr>
          </a:lstStyle>
          <a:p>
            <a:fld id="{0D2E6A04-B99A-6C4D-8942-945F97C9E705}" type="slidenum">
              <a:rPr lang="en-US" smtClean="0"/>
              <a:pPr/>
              <a:t>‹nr.›</a:t>
            </a:fld>
            <a:endParaRPr lang="en-US"/>
          </a:p>
        </p:txBody>
      </p:sp>
    </p:spTree>
    <p:extLst>
      <p:ext uri="{BB962C8B-B14F-4D97-AF65-F5344CB8AC3E}">
        <p14:creationId xmlns:p14="http://schemas.microsoft.com/office/powerpoint/2010/main" val="342444768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LORED_simple_text_SKY">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7FDDB1-5A4A-4C76-997C-F7B1B9BA32AA}"/>
              </a:ext>
            </a:extLst>
          </p:cNvPr>
          <p:cNvSpPr/>
          <p:nvPr userDrawn="1"/>
        </p:nvSpPr>
        <p:spPr>
          <a:xfrm>
            <a:off x="0" y="0"/>
            <a:ext cx="12192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accent5"/>
                </a:solidFill>
              </a:defRPr>
            </a:lvl1pPr>
          </a:lstStyle>
          <a:p>
            <a:fld id="{0D2E6A04-B99A-6C4D-8942-945F97C9E705}" type="slidenum">
              <a:rPr lang="en-US" smtClean="0"/>
              <a:pPr/>
              <a:t>‹nr.›</a:t>
            </a:fld>
            <a:endParaRPr lang="en-US"/>
          </a:p>
        </p:txBody>
      </p:sp>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094414"/>
            <a:ext cx="10945813" cy="4998882"/>
          </a:xfrm>
          <a:prstGeom prst="rect">
            <a:avLst/>
          </a:prstGeom>
        </p:spPr>
        <p:txBody>
          <a:bodyPr/>
          <a:lstStyle>
            <a:lvl1pPr marL="0" indent="0">
              <a:lnSpc>
                <a:spcPct val="120000"/>
              </a:lnSpc>
              <a:spcBef>
                <a:spcPts val="1000"/>
              </a:spcBef>
              <a:buNone/>
              <a:defRPr sz="1200">
                <a:solidFill>
                  <a:schemeClr val="accent5"/>
                </a:solidFill>
              </a:defRPr>
            </a:lvl1pPr>
            <a:lvl2pPr marL="685800" indent="-228600">
              <a:lnSpc>
                <a:spcPct val="100000"/>
              </a:lnSpc>
              <a:spcBef>
                <a:spcPts val="600"/>
              </a:spcBef>
              <a:spcAft>
                <a:spcPts val="0"/>
              </a:spcAft>
              <a:buFontTx/>
              <a:buBlip>
                <a:blip r:embed="rId2"/>
              </a:buBlip>
              <a:defRPr sz="1200">
                <a:solidFill>
                  <a:schemeClr val="accent5"/>
                </a:solidFill>
              </a:defRPr>
            </a:lvl2pPr>
            <a:lvl3pPr marL="0" indent="0">
              <a:buNone/>
              <a:defRPr>
                <a:solidFill>
                  <a:schemeClr val="accent5"/>
                </a:solidFill>
              </a:defRPr>
            </a:lvl3pPr>
            <a:lvl4pPr marL="324000" indent="0">
              <a:lnSpc>
                <a:spcPct val="250000"/>
              </a:lnSpc>
              <a:buNone/>
              <a:defRPr>
                <a:solidFill>
                  <a:schemeClr val="accent6"/>
                </a:solidFill>
                <a:highlight>
                  <a:srgbClr val="00192E"/>
                </a:highlight>
              </a:defRPr>
            </a:lvl4pPr>
            <a:lvl5pPr marL="324000" indent="0">
              <a:lnSpc>
                <a:spcPct val="120000"/>
              </a:lnSpc>
              <a:buNone/>
              <a:defRPr sz="1200">
                <a:solidFill>
                  <a:schemeClr val="accent5"/>
                </a:solidFill>
              </a:defRPr>
            </a:lvl5pPr>
            <a:lvl6pPr marL="0" indent="0">
              <a:buNone/>
              <a:defRPr sz="1400" b="1">
                <a:solidFill>
                  <a:schemeClr val="accent5"/>
                </a:solidFill>
              </a:defRPr>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a:t>Paragraphe </a:t>
            </a:r>
            <a:r>
              <a:rPr lang="fr-FR" err="1"/>
              <a:t>title</a:t>
            </a:r>
            <a:r>
              <a:rPr lang="fr-FR"/>
              <a:t> 2</a:t>
            </a:r>
          </a:p>
          <a:p>
            <a:pPr lvl="4"/>
            <a:r>
              <a:rPr lang="fr-FR" err="1"/>
              <a:t>Text</a:t>
            </a:r>
            <a:endParaRPr lang="fr-FR"/>
          </a:p>
          <a:p>
            <a:pPr lvl="5"/>
            <a:r>
              <a:rPr lang="fr-FR"/>
              <a:t>Sixième niveau</a:t>
            </a: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5"/>
                </a:solidFill>
              </a:defRPr>
            </a:lvl1pPr>
          </a:lstStyle>
          <a:p>
            <a:fld id="{771B68FC-9087-4E3B-8BE6-3EB6AE24D2EA}" type="datetime1">
              <a:rPr lang="fr-FR" smtClean="0"/>
              <a:pPr/>
              <a:t>27/11/2025</a:t>
            </a:fld>
            <a:endParaRPr lang="en-US"/>
          </a:p>
        </p:txBody>
      </p:sp>
      <p:sp>
        <p:nvSpPr>
          <p:cNvPr id="17" name="Titel 14">
            <a:extLst>
              <a:ext uri="{FF2B5EF4-FFF2-40B4-BE49-F238E27FC236}">
                <a16:creationId xmlns:a16="http://schemas.microsoft.com/office/drawing/2014/main" id="{FCEC0B95-79DC-42F7-AC5B-81D123887F18}"/>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chemeClr val="accent5"/>
                </a:solidFill>
              </a:defRPr>
            </a:lvl1pPr>
          </a:lstStyle>
          <a:p>
            <a:r>
              <a:rPr lang="nl-NL" err="1"/>
              <a:t>Title</a:t>
            </a:r>
            <a:endParaRPr lang="en-US"/>
          </a:p>
        </p:txBody>
      </p:sp>
      <p:cxnSp>
        <p:nvCxnSpPr>
          <p:cNvPr id="19" name="Straight Connector 18">
            <a:extLst>
              <a:ext uri="{FF2B5EF4-FFF2-40B4-BE49-F238E27FC236}">
                <a16:creationId xmlns:a16="http://schemas.microsoft.com/office/drawing/2014/main" id="{DC0DC6F9-75CE-447A-8978-BB1F7027DAC2}"/>
              </a:ext>
            </a:extLst>
          </p:cNvPr>
          <p:cNvCxnSpPr>
            <a:cxnSpLocks/>
          </p:cNvCxnSpPr>
          <p:nvPr userDrawn="1"/>
        </p:nvCxnSpPr>
        <p:spPr>
          <a:xfrm flipH="1">
            <a:off x="333629" y="836712"/>
            <a:ext cx="11515267" cy="0"/>
          </a:xfrm>
          <a:prstGeom prst="line">
            <a:avLst/>
          </a:prstGeom>
          <a:ln w="47625" cap="rnd">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B16ABA6E-893E-46DE-8FE7-C6130F9EE46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pic>
        <p:nvPicPr>
          <p:cNvPr id="9" name="Picture 8">
            <a:extLst>
              <a:ext uri="{FF2B5EF4-FFF2-40B4-BE49-F238E27FC236}">
                <a16:creationId xmlns:a16="http://schemas.microsoft.com/office/drawing/2014/main" id="{1CAEB7D4-0EB1-4DD6-B4F2-1375FA3FBA64}"/>
              </a:ext>
            </a:extLst>
          </p:cNvPr>
          <p:cNvPicPr>
            <a:picLocks noChangeAspect="1"/>
          </p:cNvPicPr>
          <p:nvPr userDrawn="1"/>
        </p:nvPicPr>
        <p:blipFill>
          <a:blip r:embed="rId5">
            <a:alphaModFix amt="5000"/>
          </a:blip>
          <a:stretch>
            <a:fillRect/>
          </a:stretch>
        </p:blipFill>
        <p:spPr>
          <a:xfrm>
            <a:off x="8331885" y="2999440"/>
            <a:ext cx="3858560" cy="3858560"/>
          </a:xfrm>
          <a:prstGeom prst="rect">
            <a:avLst/>
          </a:prstGeom>
        </p:spPr>
      </p:pic>
    </p:spTree>
    <p:extLst>
      <p:ext uri="{BB962C8B-B14F-4D97-AF65-F5344CB8AC3E}">
        <p14:creationId xmlns:p14="http://schemas.microsoft.com/office/powerpoint/2010/main" val="416734455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ection-title_LAGON">
    <p:bg>
      <p:bgPr>
        <a:solidFill>
          <a:schemeClr val="accent5"/>
        </a:solidFill>
        <a:effectLst/>
      </p:bgPr>
    </p:bg>
    <p:spTree>
      <p:nvGrpSpPr>
        <p:cNvPr id="1" name=""/>
        <p:cNvGrpSpPr/>
        <p:nvPr/>
      </p:nvGrpSpPr>
      <p:grpSpPr>
        <a:xfrm>
          <a:off x="0" y="0"/>
          <a:ext cx="0" cy="0"/>
          <a:chOff x="0" y="0"/>
          <a:chExt cx="0" cy="0"/>
        </a:xfrm>
      </p:grpSpPr>
      <p:sp>
        <p:nvSpPr>
          <p:cNvPr id="2" name="Text Placeholder 18">
            <a:extLst>
              <a:ext uri="{FF2B5EF4-FFF2-40B4-BE49-F238E27FC236}">
                <a16:creationId xmlns:a16="http://schemas.microsoft.com/office/drawing/2014/main" id="{897266DD-267E-9A36-C26C-E81C2E82EA8B}"/>
              </a:ext>
            </a:extLst>
          </p:cNvPr>
          <p:cNvSpPr>
            <a:spLocks noGrp="1"/>
          </p:cNvSpPr>
          <p:nvPr>
            <p:ph type="body" sz="quarter" idx="14" hasCustomPrompt="1"/>
          </p:nvPr>
        </p:nvSpPr>
        <p:spPr>
          <a:xfrm>
            <a:off x="334963" y="2389892"/>
            <a:ext cx="11524528" cy="1362958"/>
          </a:xfrm>
          <a:prstGeom prst="rect">
            <a:avLst/>
          </a:prstGeom>
        </p:spPr>
        <p:txBody>
          <a:bodyPr anchor="ctr"/>
          <a:lstStyle>
            <a:lvl1pPr marL="0" indent="0" algn="ctr">
              <a:buNone/>
              <a:defRPr sz="4000">
                <a:solidFill>
                  <a:schemeClr val="accent6"/>
                </a:solidFill>
                <a:latin typeface="Bagoss Standard Medium" panose="020B0604060102020204" pitchFamily="34" charset="0"/>
                <a:cs typeface="Bagoss Standard Medium" panose="020B06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PRESENTATION SECTION TITLE</a:t>
            </a:r>
            <a:endParaRPr lang="en-US"/>
          </a:p>
        </p:txBody>
      </p:sp>
      <p:sp>
        <p:nvSpPr>
          <p:cNvPr id="3" name="Text Placeholder 18">
            <a:extLst>
              <a:ext uri="{FF2B5EF4-FFF2-40B4-BE49-F238E27FC236}">
                <a16:creationId xmlns:a16="http://schemas.microsoft.com/office/drawing/2014/main" id="{0A01E6E0-E5CB-C283-7FE7-091C23740360}"/>
              </a:ext>
            </a:extLst>
          </p:cNvPr>
          <p:cNvSpPr>
            <a:spLocks noGrp="1"/>
          </p:cNvSpPr>
          <p:nvPr>
            <p:ph type="body" sz="quarter" idx="13" hasCustomPrompt="1"/>
          </p:nvPr>
        </p:nvSpPr>
        <p:spPr>
          <a:xfrm>
            <a:off x="332509" y="3435927"/>
            <a:ext cx="11524528" cy="1043203"/>
          </a:xfrm>
          <a:prstGeom prst="rect">
            <a:avLst/>
          </a:prstGeom>
          <a:noFill/>
        </p:spPr>
        <p:txBody>
          <a:bodyPr anchor="ctr"/>
          <a:lstStyle>
            <a:lvl1pPr marL="0" indent="0" algn="ctr">
              <a:buNone/>
              <a:defRPr sz="4000">
                <a:solidFill>
                  <a:schemeClr val="accent6"/>
                </a:solidFill>
                <a:latin typeface="Bagoss Standard" panose="020B0504060102020204" pitchFamily="34" charset="0"/>
                <a:cs typeface="Bagoss Standard" panose="020B05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Subtitle here</a:t>
            </a:r>
            <a:endParaRPr lang="en-US"/>
          </a:p>
        </p:txBody>
      </p:sp>
      <p:pic>
        <p:nvPicPr>
          <p:cNvPr id="4" name="Graphic 56">
            <a:extLst>
              <a:ext uri="{FF2B5EF4-FFF2-40B4-BE49-F238E27FC236}">
                <a16:creationId xmlns:a16="http://schemas.microsoft.com/office/drawing/2014/main" id="{EAAB6502-4F21-3C14-1E8A-7D62B8679ED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79976" y="6191638"/>
            <a:ext cx="405367" cy="342520"/>
          </a:xfrm>
          <a:prstGeom prst="rect">
            <a:avLst/>
          </a:prstGeom>
        </p:spPr>
      </p:pic>
    </p:spTree>
    <p:extLst>
      <p:ext uri="{BB962C8B-B14F-4D97-AF65-F5344CB8AC3E}">
        <p14:creationId xmlns:p14="http://schemas.microsoft.com/office/powerpoint/2010/main" val="127716727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ection-title_SKY">
    <p:bg>
      <p:bgPr>
        <a:solidFill>
          <a:schemeClr val="accent6"/>
        </a:solidFill>
        <a:effectLst/>
      </p:bgPr>
    </p:bg>
    <p:spTree>
      <p:nvGrpSpPr>
        <p:cNvPr id="1" name=""/>
        <p:cNvGrpSpPr/>
        <p:nvPr/>
      </p:nvGrpSpPr>
      <p:grpSpPr>
        <a:xfrm>
          <a:off x="0" y="0"/>
          <a:ext cx="0" cy="0"/>
          <a:chOff x="0" y="0"/>
          <a:chExt cx="0" cy="0"/>
        </a:xfrm>
      </p:grpSpPr>
      <p:sp>
        <p:nvSpPr>
          <p:cNvPr id="2" name="Text Placeholder 18">
            <a:extLst>
              <a:ext uri="{FF2B5EF4-FFF2-40B4-BE49-F238E27FC236}">
                <a16:creationId xmlns:a16="http://schemas.microsoft.com/office/drawing/2014/main" id="{897266DD-267E-9A36-C26C-E81C2E82EA8B}"/>
              </a:ext>
            </a:extLst>
          </p:cNvPr>
          <p:cNvSpPr>
            <a:spLocks noGrp="1"/>
          </p:cNvSpPr>
          <p:nvPr>
            <p:ph type="body" sz="quarter" idx="14" hasCustomPrompt="1"/>
          </p:nvPr>
        </p:nvSpPr>
        <p:spPr>
          <a:xfrm>
            <a:off x="334963" y="2389892"/>
            <a:ext cx="11524528" cy="1362958"/>
          </a:xfrm>
          <a:prstGeom prst="rect">
            <a:avLst/>
          </a:prstGeom>
        </p:spPr>
        <p:txBody>
          <a:bodyPr anchor="ctr"/>
          <a:lstStyle>
            <a:lvl1pPr marL="0" indent="0" algn="ctr">
              <a:buNone/>
              <a:defRPr sz="4000">
                <a:solidFill>
                  <a:schemeClr val="accent5"/>
                </a:solidFill>
                <a:latin typeface="Bagoss Standard Medium" panose="020B0604060102020204" pitchFamily="34" charset="0"/>
                <a:cs typeface="Bagoss Standard Medium" panose="020B06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PRESENTATION SECTION TITLE</a:t>
            </a:r>
            <a:endParaRPr lang="en-US"/>
          </a:p>
        </p:txBody>
      </p:sp>
      <p:sp>
        <p:nvSpPr>
          <p:cNvPr id="3" name="Text Placeholder 18">
            <a:extLst>
              <a:ext uri="{FF2B5EF4-FFF2-40B4-BE49-F238E27FC236}">
                <a16:creationId xmlns:a16="http://schemas.microsoft.com/office/drawing/2014/main" id="{0A01E6E0-E5CB-C283-7FE7-091C23740360}"/>
              </a:ext>
            </a:extLst>
          </p:cNvPr>
          <p:cNvSpPr>
            <a:spLocks noGrp="1"/>
          </p:cNvSpPr>
          <p:nvPr>
            <p:ph type="body" sz="quarter" idx="13" hasCustomPrompt="1"/>
          </p:nvPr>
        </p:nvSpPr>
        <p:spPr>
          <a:xfrm>
            <a:off x="332509" y="3435927"/>
            <a:ext cx="11524528" cy="1043203"/>
          </a:xfrm>
          <a:prstGeom prst="rect">
            <a:avLst/>
          </a:prstGeom>
          <a:noFill/>
        </p:spPr>
        <p:txBody>
          <a:bodyPr anchor="ctr"/>
          <a:lstStyle>
            <a:lvl1pPr marL="0" indent="0" algn="ctr">
              <a:buNone/>
              <a:defRPr sz="4000">
                <a:solidFill>
                  <a:schemeClr val="accent5"/>
                </a:solidFill>
                <a:latin typeface="Bagoss Standard" panose="020B0504060102020204" pitchFamily="34" charset="0"/>
                <a:cs typeface="Bagoss Standard" panose="020B05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Subtitle here</a:t>
            </a:r>
            <a:endParaRPr lang="en-US"/>
          </a:p>
        </p:txBody>
      </p:sp>
      <p:pic>
        <p:nvPicPr>
          <p:cNvPr id="4" name="Graphic 56">
            <a:extLst>
              <a:ext uri="{FF2B5EF4-FFF2-40B4-BE49-F238E27FC236}">
                <a16:creationId xmlns:a16="http://schemas.microsoft.com/office/drawing/2014/main" id="{EAAB6502-4F21-3C14-1E8A-7D62B8679ED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79976" y="6191638"/>
            <a:ext cx="405367" cy="342520"/>
          </a:xfrm>
          <a:prstGeom prst="rect">
            <a:avLst/>
          </a:prstGeom>
        </p:spPr>
      </p:pic>
    </p:spTree>
    <p:extLst>
      <p:ext uri="{BB962C8B-B14F-4D97-AF65-F5344CB8AC3E}">
        <p14:creationId xmlns:p14="http://schemas.microsoft.com/office/powerpoint/2010/main" val="11730473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ext+image_13">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D832270-EC8E-4F55-929E-693A8118D8FF}"/>
              </a:ext>
            </a:extLst>
          </p:cNvPr>
          <p:cNvPicPr>
            <a:picLocks noChangeAspect="1"/>
          </p:cNvPicPr>
          <p:nvPr userDrawn="1"/>
        </p:nvPicPr>
        <p:blipFill>
          <a:blip r:embed="rId2"/>
          <a:stretch>
            <a:fillRect/>
          </a:stretch>
        </p:blipFill>
        <p:spPr>
          <a:xfrm>
            <a:off x="5447928" y="862790"/>
            <a:ext cx="5724565" cy="4870465"/>
          </a:xfrm>
          <a:prstGeom prst="rect">
            <a:avLst/>
          </a:prstGeom>
        </p:spPr>
      </p:pic>
      <p:sp>
        <p:nvSpPr>
          <p:cNvPr id="11" name="Espace réservé du contenu 6">
            <a:extLst>
              <a:ext uri="{FF2B5EF4-FFF2-40B4-BE49-F238E27FC236}">
                <a16:creationId xmlns:a16="http://schemas.microsoft.com/office/drawing/2014/main" id="{E87477D1-A495-4DA6-B19A-9A96230EA50F}"/>
              </a:ext>
            </a:extLst>
          </p:cNvPr>
          <p:cNvSpPr>
            <a:spLocks noGrp="1"/>
          </p:cNvSpPr>
          <p:nvPr>
            <p:ph sz="quarter" idx="13" hasCustomPrompt="1"/>
          </p:nvPr>
        </p:nvSpPr>
        <p:spPr>
          <a:xfrm>
            <a:off x="6600056" y="1412775"/>
            <a:ext cx="3456384" cy="4320479"/>
          </a:xfrm>
          <a:prstGeom prst="rect">
            <a:avLst/>
          </a:prstGeom>
        </p:spPr>
        <p:txBody>
          <a:bodyPr anchor="ctr" anchorCtr="0"/>
          <a:lstStyle>
            <a:lvl1pPr marL="0" indent="0" algn="ctr">
              <a:lnSpc>
                <a:spcPct val="120000"/>
              </a:lnSpc>
              <a:spcBef>
                <a:spcPts val="1000"/>
              </a:spcBef>
              <a:buNone/>
              <a:defRPr sz="1400">
                <a:solidFill>
                  <a:srgbClr val="00192E"/>
                </a:solidFill>
                <a:latin typeface="Bagoss Standard Medium" panose="020B0604060102020204" pitchFamily="34" charset="0"/>
                <a:cs typeface="Bagoss Standard Medium" panose="020B0604060102020204" pitchFamily="34" charset="0"/>
              </a:defRPr>
            </a:lvl1pPr>
            <a:lvl2pPr marL="0" indent="-228600" algn="ctr">
              <a:lnSpc>
                <a:spcPct val="100000"/>
              </a:lnSpc>
              <a:spcBef>
                <a:spcPts val="600"/>
              </a:spcBef>
              <a:spcAft>
                <a:spcPts val="0"/>
              </a:spcAft>
              <a:buFontTx/>
              <a:buBlip>
                <a:blip r:embed="rId3"/>
              </a:buBlip>
              <a:defRPr sz="1400">
                <a:solidFill>
                  <a:srgbClr val="00192E"/>
                </a:solidFill>
                <a:latin typeface="Bagoss Standard Medium" panose="020B0604060102020204" pitchFamily="34" charset="0"/>
                <a:cs typeface="Bagoss Standard Medium" panose="020B0604060102020204" pitchFamily="34" charset="0"/>
              </a:defRPr>
            </a:lvl2pPr>
            <a:lvl3pPr marL="0" indent="0" algn="ctr">
              <a:lnSpc>
                <a:spcPts val="1300"/>
              </a:lnSpc>
              <a:spcBef>
                <a:spcPts val="1200"/>
              </a:spcBef>
              <a:spcAft>
                <a:spcPts val="0"/>
              </a:spcAft>
              <a:buNone/>
              <a:defRPr sz="2400">
                <a:solidFill>
                  <a:srgbClr val="00192E"/>
                </a:solidFill>
                <a:latin typeface="Bagoss Standard Medium" panose="020B0604060102020204" pitchFamily="34" charset="0"/>
                <a:cs typeface="Bagoss Standard Medium" panose="020B0604060102020204" pitchFamily="34" charset="0"/>
              </a:defRPr>
            </a:lvl3pPr>
            <a:lvl4pPr marL="324000" indent="0" algn="ctr">
              <a:lnSpc>
                <a:spcPct val="250000"/>
              </a:lnSpc>
              <a:buNone/>
              <a:defRPr>
                <a:highlight>
                  <a:srgbClr val="B2EDA7"/>
                </a:highlight>
              </a:defRPr>
            </a:lvl4pPr>
            <a:lvl5pPr marL="324000" indent="0" algn="ctr">
              <a:lnSpc>
                <a:spcPct val="120000"/>
              </a:lnSpc>
              <a:buNone/>
              <a:defRPr sz="1200">
                <a:solidFill>
                  <a:schemeClr val="bg1">
                    <a:lumMod val="25000"/>
                  </a:schemeClr>
                </a:solidFill>
              </a:defRPr>
            </a:lvl5pPr>
            <a:lvl6pPr marL="0" indent="0" algn="ctr">
              <a:buNone/>
              <a:defRPr sz="1400" b="1"/>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2"/>
            <a:r>
              <a:rPr lang="fr-FR" err="1"/>
              <a:t>erf</a:t>
            </a:r>
            <a:endParaRPr lang="fr-FR"/>
          </a:p>
          <a:p>
            <a:pPr lvl="3"/>
            <a:r>
              <a:rPr lang="fr-FR"/>
              <a:t>Paragraphe </a:t>
            </a:r>
            <a:r>
              <a:rPr lang="fr-FR" err="1"/>
              <a:t>title</a:t>
            </a:r>
            <a:r>
              <a:rPr lang="fr-FR"/>
              <a:t> 2</a:t>
            </a:r>
          </a:p>
          <a:p>
            <a:pPr lvl="4"/>
            <a:r>
              <a:rPr lang="fr-FR"/>
              <a:t>Cinquième niveau</a:t>
            </a:r>
          </a:p>
          <a:p>
            <a:pPr lvl="4"/>
            <a:r>
              <a:rPr lang="fr-FR" err="1"/>
              <a:t>ds</a:t>
            </a:r>
            <a:endParaRPr lang="fr-FR"/>
          </a:p>
          <a:p>
            <a:pPr lvl="5"/>
            <a:r>
              <a:rPr lang="fr-FR"/>
              <a:t>Sixième niveau</a:t>
            </a:r>
          </a:p>
        </p:txBody>
      </p:sp>
      <p:sp>
        <p:nvSpPr>
          <p:cNvPr id="12" name="Slide Number Placeholder 4">
            <a:extLst>
              <a:ext uri="{FF2B5EF4-FFF2-40B4-BE49-F238E27FC236}">
                <a16:creationId xmlns:a16="http://schemas.microsoft.com/office/drawing/2014/main" id="{2DB97E91-24CF-486F-ADB5-AF17ADC4986D}"/>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bg1"/>
                </a:solidFill>
              </a:defRPr>
            </a:lvl1pPr>
          </a:lstStyle>
          <a:p>
            <a:fld id="{0D2E6A04-B99A-6C4D-8942-945F97C9E705}" type="slidenum">
              <a:rPr lang="en-US" smtClean="0"/>
              <a:pPr/>
              <a:t>‹nr.›</a:t>
            </a:fld>
            <a:endParaRPr lang="en-US"/>
          </a:p>
        </p:txBody>
      </p:sp>
      <p:sp>
        <p:nvSpPr>
          <p:cNvPr id="13" name="Date Placeholder 2">
            <a:extLst>
              <a:ext uri="{FF2B5EF4-FFF2-40B4-BE49-F238E27FC236}">
                <a16:creationId xmlns:a16="http://schemas.microsoft.com/office/drawing/2014/main" id="{AA66240C-04F7-463C-A8B9-AE5CE2BC48E8}"/>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bg1"/>
                </a:solidFill>
              </a:defRPr>
            </a:lvl1pPr>
          </a:lstStyle>
          <a:p>
            <a:fld id="{F5F17FB8-2650-485F-B3FB-66E416F085DF}" type="datetime1">
              <a:rPr lang="fr-FR" smtClean="0"/>
              <a:t>27/11/2025</a:t>
            </a:fld>
            <a:endParaRPr lang="en-US"/>
          </a:p>
        </p:txBody>
      </p:sp>
    </p:spTree>
    <p:extLst>
      <p:ext uri="{BB962C8B-B14F-4D97-AF65-F5344CB8AC3E}">
        <p14:creationId xmlns:p14="http://schemas.microsoft.com/office/powerpoint/2010/main" val="210589753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hank-you_SKY">
    <p:bg>
      <p:bgPr>
        <a:solidFill>
          <a:schemeClr val="accent5"/>
        </a:solidFill>
        <a:effectLst/>
      </p:bgPr>
    </p:bg>
    <p:spTree>
      <p:nvGrpSpPr>
        <p:cNvPr id="1" name=""/>
        <p:cNvGrpSpPr/>
        <p:nvPr/>
      </p:nvGrpSpPr>
      <p:grpSpPr>
        <a:xfrm>
          <a:off x="0" y="0"/>
          <a:ext cx="0" cy="0"/>
          <a:chOff x="0" y="0"/>
          <a:chExt cx="0" cy="0"/>
        </a:xfrm>
      </p:grpSpPr>
      <p:sp>
        <p:nvSpPr>
          <p:cNvPr id="26" name="Text Placeholder 20">
            <a:extLst>
              <a:ext uri="{FF2B5EF4-FFF2-40B4-BE49-F238E27FC236}">
                <a16:creationId xmlns:a16="http://schemas.microsoft.com/office/drawing/2014/main" id="{59667516-AF34-3A63-E277-815BBC3D2549}"/>
              </a:ext>
            </a:extLst>
          </p:cNvPr>
          <p:cNvSpPr>
            <a:spLocks noGrp="1"/>
          </p:cNvSpPr>
          <p:nvPr>
            <p:ph type="body" sz="quarter" idx="22" hasCustomPrompt="1"/>
          </p:nvPr>
        </p:nvSpPr>
        <p:spPr>
          <a:xfrm>
            <a:off x="2103297" y="1997258"/>
            <a:ext cx="7985404" cy="2727886"/>
          </a:xfrm>
          <a:prstGeom prst="rect">
            <a:avLst/>
          </a:prstGeom>
          <a:noFill/>
        </p:spPr>
        <p:txBody>
          <a:bodyPr anchor="ctr"/>
          <a:lstStyle>
            <a:lvl1pPr marL="0" indent="0" algn="ctr">
              <a:buNone/>
              <a:defRPr sz="9200">
                <a:solidFill>
                  <a:schemeClr val="accent6"/>
                </a:solidFill>
                <a:latin typeface="Bagoss Standard Medium" panose="020B0604060102020204" pitchFamily="34" charset="0"/>
                <a:cs typeface="Bagoss Standard Medium" panose="020B0604060102020204" pitchFamily="34" charset="0"/>
              </a:defRPr>
            </a:lvl1pPr>
            <a:lvl2pPr marL="457200" indent="0">
              <a:buNone/>
              <a:defRPr sz="1200">
                <a:solidFill>
                  <a:srgbClr val="B2EDA7"/>
                </a:solidFill>
              </a:defRPr>
            </a:lvl2pPr>
            <a:lvl3pPr marL="914400" indent="0">
              <a:buNone/>
              <a:defRPr sz="1200">
                <a:solidFill>
                  <a:srgbClr val="B2EDA7"/>
                </a:solidFill>
              </a:defRPr>
            </a:lvl3pPr>
            <a:lvl4pPr marL="1371600" indent="0">
              <a:buNone/>
              <a:defRPr sz="1200">
                <a:solidFill>
                  <a:srgbClr val="B2EDA7"/>
                </a:solidFill>
              </a:defRPr>
            </a:lvl4pPr>
            <a:lvl5pPr marL="1828800" indent="0">
              <a:buNone/>
              <a:defRPr sz="1200">
                <a:solidFill>
                  <a:srgbClr val="B2EDA7"/>
                </a:solidFill>
              </a:defRPr>
            </a:lvl5pPr>
          </a:lstStyle>
          <a:p>
            <a:pPr lvl="0"/>
            <a:r>
              <a:rPr lang="en-GB"/>
              <a:t>THANK YOU</a:t>
            </a:r>
            <a:endParaRPr lang="en-US"/>
          </a:p>
        </p:txBody>
      </p:sp>
      <p:pic>
        <p:nvPicPr>
          <p:cNvPr id="4" name="Graphique 3">
            <a:extLst>
              <a:ext uri="{FF2B5EF4-FFF2-40B4-BE49-F238E27FC236}">
                <a16:creationId xmlns:a16="http://schemas.microsoft.com/office/drawing/2014/main" id="{08895822-A758-5D10-BDA4-51FC7156CC1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99831" y="5949280"/>
            <a:ext cx="2792338" cy="359015"/>
          </a:xfrm>
          <a:prstGeom prst="rect">
            <a:avLst/>
          </a:prstGeom>
        </p:spPr>
      </p:pic>
    </p:spTree>
    <p:extLst>
      <p:ext uri="{BB962C8B-B14F-4D97-AF65-F5344CB8AC3E}">
        <p14:creationId xmlns:p14="http://schemas.microsoft.com/office/powerpoint/2010/main" val="425893205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Main-title_BARK">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714D5-049C-A2AB-DE2D-5447BFB76B2B}"/>
              </a:ext>
            </a:extLst>
          </p:cNvPr>
          <p:cNvSpPr>
            <a:spLocks noGrp="1"/>
          </p:cNvSpPr>
          <p:nvPr>
            <p:ph type="title" hasCustomPrompt="1"/>
          </p:nvPr>
        </p:nvSpPr>
        <p:spPr>
          <a:xfrm>
            <a:off x="2879725" y="2512524"/>
            <a:ext cx="6432550" cy="1832952"/>
          </a:xfrm>
          <a:prstGeom prst="rect">
            <a:avLst/>
          </a:prstGeom>
        </p:spPr>
        <p:txBody>
          <a:bodyPr anchor="ctr"/>
          <a:lstStyle>
            <a:lvl1pPr algn="ctr">
              <a:defRPr sz="6500" b="0" i="0">
                <a:solidFill>
                  <a:schemeClr val="accent4"/>
                </a:solidFill>
                <a:latin typeface="Tahoma" panose="020B0604030504040204" pitchFamily="34" charset="0"/>
                <a:ea typeface="Tahoma" panose="020B0604030504040204" pitchFamily="34" charset="0"/>
                <a:cs typeface="Tahoma" panose="020B0604030504040204" pitchFamily="34" charset="0"/>
              </a:defRPr>
            </a:lvl1pPr>
          </a:lstStyle>
          <a:p>
            <a:br>
              <a:rPr lang="en-GB"/>
            </a:br>
            <a:r>
              <a:rPr lang="en-GB"/>
              <a:t>Presentation Title</a:t>
            </a:r>
            <a:br>
              <a:rPr lang="en-GB"/>
            </a:br>
            <a:endParaRPr lang="en-US"/>
          </a:p>
        </p:txBody>
      </p:sp>
      <p:sp>
        <p:nvSpPr>
          <p:cNvPr id="3" name="Date Placeholder 2">
            <a:extLst>
              <a:ext uri="{FF2B5EF4-FFF2-40B4-BE49-F238E27FC236}">
                <a16:creationId xmlns:a16="http://schemas.microsoft.com/office/drawing/2014/main" id="{BA9B395E-C624-B79B-E0DB-6B661D27DDF8}"/>
              </a:ext>
            </a:extLst>
          </p:cNvPr>
          <p:cNvSpPr>
            <a:spLocks noGrp="1"/>
          </p:cNvSpPr>
          <p:nvPr>
            <p:ph type="dt" sz="half" idx="10"/>
          </p:nvPr>
        </p:nvSpPr>
        <p:spPr>
          <a:xfrm>
            <a:off x="5037053" y="5883097"/>
            <a:ext cx="2117895" cy="277991"/>
          </a:xfrm>
          <a:prstGeom prst="rect">
            <a:avLst/>
          </a:prstGeom>
        </p:spPr>
        <p:txBody>
          <a:bodyPr/>
          <a:lstStyle>
            <a:lvl1pPr algn="ctr">
              <a:defRPr>
                <a:solidFill>
                  <a:schemeClr val="accent4"/>
                </a:solidFill>
              </a:defRPr>
            </a:lvl1pPr>
          </a:lstStyle>
          <a:p>
            <a:fld id="{CACEA970-51D5-41D8-BAF3-D0927549698A}" type="datetime1">
              <a:rPr lang="fr-FR" smtClean="0"/>
              <a:pPr/>
              <a:t>27/11/2025</a:t>
            </a:fld>
            <a:endParaRPr lang="en-US"/>
          </a:p>
        </p:txBody>
      </p:sp>
      <p:sp>
        <p:nvSpPr>
          <p:cNvPr id="9" name="Text Placeholder 8">
            <a:extLst>
              <a:ext uri="{FF2B5EF4-FFF2-40B4-BE49-F238E27FC236}">
                <a16:creationId xmlns:a16="http://schemas.microsoft.com/office/drawing/2014/main" id="{A36730EE-1422-4E74-B73C-FD4FDCAAC4BF}"/>
              </a:ext>
            </a:extLst>
          </p:cNvPr>
          <p:cNvSpPr>
            <a:spLocks noGrp="1"/>
          </p:cNvSpPr>
          <p:nvPr>
            <p:ph type="body" sz="quarter" idx="11" hasCustomPrompt="1"/>
          </p:nvPr>
        </p:nvSpPr>
        <p:spPr>
          <a:xfrm>
            <a:off x="2879725" y="5300663"/>
            <a:ext cx="6432550" cy="582434"/>
          </a:xfrm>
          <a:prstGeom prst="rect">
            <a:avLst/>
          </a:prstGeom>
        </p:spPr>
        <p:txBody>
          <a:bodyPr/>
          <a:lstStyle>
            <a:lvl1pPr marL="0" indent="0" algn="ctr">
              <a:buNone/>
              <a:defRPr>
                <a:solidFill>
                  <a:schemeClr val="accent4"/>
                </a:solidFill>
              </a:defRPr>
            </a:lvl1pPr>
          </a:lstStyle>
          <a:p>
            <a:pPr lvl="0"/>
            <a:r>
              <a:rPr lang="en-US"/>
              <a:t>Text</a:t>
            </a:r>
            <a:endParaRPr lang="fr-FR"/>
          </a:p>
        </p:txBody>
      </p:sp>
      <p:pic>
        <p:nvPicPr>
          <p:cNvPr id="4" name="Graphique 3">
            <a:extLst>
              <a:ext uri="{FF2B5EF4-FFF2-40B4-BE49-F238E27FC236}">
                <a16:creationId xmlns:a16="http://schemas.microsoft.com/office/drawing/2014/main" id="{E35AEFED-EBCA-D264-0980-F66F7216E5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437435" y="914892"/>
            <a:ext cx="3312368" cy="425876"/>
          </a:xfrm>
          <a:prstGeom prst="rect">
            <a:avLst/>
          </a:prstGeom>
        </p:spPr>
      </p:pic>
    </p:spTree>
    <p:extLst>
      <p:ext uri="{BB962C8B-B14F-4D97-AF65-F5344CB8AC3E}">
        <p14:creationId xmlns:p14="http://schemas.microsoft.com/office/powerpoint/2010/main" val="155539081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imple-text_HONEY">
    <p:bg>
      <p:bgPr>
        <a:solidFill>
          <a:srgbClr val="FFFFFF"/>
        </a:solidFill>
        <a:effectLst/>
      </p:bgPr>
    </p:bg>
    <p:spTree>
      <p:nvGrpSpPr>
        <p:cNvPr id="1" name=""/>
        <p:cNvGrpSpPr/>
        <p:nvPr/>
      </p:nvGrpSpPr>
      <p:grpSpPr>
        <a:xfrm>
          <a:off x="0" y="0"/>
          <a:ext cx="0" cy="0"/>
          <a:chOff x="0" y="0"/>
          <a:chExt cx="0" cy="0"/>
        </a:xfrm>
      </p:grpSpPr>
      <p:sp>
        <p:nvSpPr>
          <p:cNvPr id="21" name="Slide Number Placeholder 4">
            <a:extLst>
              <a:ext uri="{FF2B5EF4-FFF2-40B4-BE49-F238E27FC236}">
                <a16:creationId xmlns:a16="http://schemas.microsoft.com/office/drawing/2014/main" id="{04919B05-25FA-4326-95A9-52218D9EE524}"/>
              </a:ext>
            </a:extLst>
          </p:cNvPr>
          <p:cNvSpPr>
            <a:spLocks noGrp="1"/>
          </p:cNvSpPr>
          <p:nvPr>
            <p:ph type="sldNum" sz="quarter" idx="12"/>
          </p:nvPr>
        </p:nvSpPr>
        <p:spPr>
          <a:xfrm>
            <a:off x="11040058" y="6320920"/>
            <a:ext cx="818313" cy="276432"/>
          </a:xfrm>
          <a:prstGeom prst="rect">
            <a:avLst/>
          </a:prstGeom>
          <a:noFill/>
        </p:spPr>
        <p:txBody>
          <a:bodyPr lIns="0" tIns="0" rIns="0" bIns="0" anchor="ctr"/>
          <a:lstStyle>
            <a:lvl1pPr algn="r">
              <a:defRPr sz="1200">
                <a:solidFill>
                  <a:schemeClr val="tx2"/>
                </a:solidFill>
              </a:defRPr>
            </a:lvl1pPr>
          </a:lstStyle>
          <a:p>
            <a:fld id="{0D2E6A04-B99A-6C4D-8942-945F97C9E705}" type="slidenum">
              <a:rPr lang="en-US" smtClean="0"/>
              <a:pPr/>
              <a:t>‹nr.›</a:t>
            </a:fld>
            <a:endParaRPr lang="en-US"/>
          </a:p>
        </p:txBody>
      </p:sp>
      <p:sp>
        <p:nvSpPr>
          <p:cNvPr id="23" name="Date Placeholder 2">
            <a:extLst>
              <a:ext uri="{FF2B5EF4-FFF2-40B4-BE49-F238E27FC236}">
                <a16:creationId xmlns:a16="http://schemas.microsoft.com/office/drawing/2014/main" id="{71D241C7-285A-46EE-B103-4DF94C2F2735}"/>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tx2"/>
                </a:solidFill>
              </a:defRPr>
            </a:lvl1pPr>
          </a:lstStyle>
          <a:p>
            <a:fld id="{05C20A28-4BAC-4477-9026-1E123DBFBC43}" type="datetime1">
              <a:rPr lang="fr-FR" smtClean="0"/>
              <a:pPr/>
              <a:t>27/11/2025</a:t>
            </a:fld>
            <a:endParaRPr lang="en-US"/>
          </a:p>
        </p:txBody>
      </p:sp>
      <p:sp>
        <p:nvSpPr>
          <p:cNvPr id="18" name="Espace réservé du contenu 6">
            <a:extLst>
              <a:ext uri="{FF2B5EF4-FFF2-40B4-BE49-F238E27FC236}">
                <a16:creationId xmlns:a16="http://schemas.microsoft.com/office/drawing/2014/main" id="{3ED8EF5A-53F2-47D2-8D1C-2F21C08A987D}"/>
              </a:ext>
            </a:extLst>
          </p:cNvPr>
          <p:cNvSpPr>
            <a:spLocks noGrp="1"/>
          </p:cNvSpPr>
          <p:nvPr>
            <p:ph sz="quarter" idx="13" hasCustomPrompt="1"/>
          </p:nvPr>
        </p:nvSpPr>
        <p:spPr>
          <a:xfrm>
            <a:off x="336757" y="1096479"/>
            <a:ext cx="10945813" cy="2585628"/>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solidFill>
                  <a:schemeClr val="accent3"/>
                </a:solidFill>
              </a:defRPr>
            </a:lvl2pPr>
            <a:lvl3pPr marL="0" indent="0">
              <a:buNone/>
              <a:defRPr>
                <a:solidFill>
                  <a:schemeClr val="accent3"/>
                </a:solidFill>
              </a:defRPr>
            </a:lvl3pPr>
            <a:lvl4pPr marL="324000" indent="0">
              <a:lnSpc>
                <a:spcPct val="250000"/>
              </a:lnSpc>
              <a:buNone/>
              <a:defRPr>
                <a:solidFill>
                  <a:schemeClr val="accent3"/>
                </a:solidFill>
                <a:highlight>
                  <a:srgbClr val="FFFFFF"/>
                </a:highlight>
              </a:defRPr>
            </a:lvl4pPr>
            <a:lvl5pPr marL="324000" indent="0">
              <a:lnSpc>
                <a:spcPct val="120000"/>
              </a:lnSpc>
              <a:buNone/>
              <a:defRPr sz="1200">
                <a:solidFill>
                  <a:schemeClr val="bg1">
                    <a:lumMod val="25000"/>
                  </a:schemeClr>
                </a:solidFill>
              </a:defRPr>
            </a:lvl5pPr>
            <a:lvl6pPr marL="0" indent="0">
              <a:spcBef>
                <a:spcPts val="1200"/>
              </a:spcBef>
              <a:buNone/>
              <a:defRPr sz="1400" b="1">
                <a:solidFill>
                  <a:schemeClr val="accent3"/>
                </a:solidFill>
              </a:defRPr>
            </a:lvl6pPr>
            <a:lvl7pPr marL="0" indent="0">
              <a:spcBef>
                <a:spcPts val="1200"/>
              </a:spcBef>
              <a:buNone/>
              <a:defRPr sz="1400" b="1">
                <a:solidFill>
                  <a:srgbClr val="700606"/>
                </a:solidFill>
              </a:defRPr>
            </a:lvl7pPr>
            <a:lvl8pPr marL="0" indent="0">
              <a:spcBef>
                <a:spcPts val="1200"/>
              </a:spcBef>
              <a:buNone/>
              <a:defRPr sz="1400" b="0">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9" name="Titel 14">
            <a:extLst>
              <a:ext uri="{FF2B5EF4-FFF2-40B4-BE49-F238E27FC236}">
                <a16:creationId xmlns:a16="http://schemas.microsoft.com/office/drawing/2014/main" id="{956BF4AB-E8A1-4F20-B9CA-FB38AEA71E95}"/>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chemeClr val="accent3"/>
                </a:solidFill>
              </a:defRPr>
            </a:lvl1pPr>
          </a:lstStyle>
          <a:p>
            <a:r>
              <a:rPr lang="nl-NL" err="1"/>
              <a:t>Title</a:t>
            </a:r>
            <a:endParaRPr lang="en-US"/>
          </a:p>
        </p:txBody>
      </p:sp>
      <p:cxnSp>
        <p:nvCxnSpPr>
          <p:cNvPr id="24" name="Straight Connector 23">
            <a:extLst>
              <a:ext uri="{FF2B5EF4-FFF2-40B4-BE49-F238E27FC236}">
                <a16:creationId xmlns:a16="http://schemas.microsoft.com/office/drawing/2014/main" id="{0F252710-C411-438E-82A9-476F627FB43E}"/>
              </a:ext>
            </a:extLst>
          </p:cNvPr>
          <p:cNvCxnSpPr>
            <a:cxnSpLocks/>
          </p:cNvCxnSpPr>
          <p:nvPr userDrawn="1"/>
        </p:nvCxnSpPr>
        <p:spPr>
          <a:xfrm flipH="1">
            <a:off x="333629" y="836712"/>
            <a:ext cx="11515267" cy="0"/>
          </a:xfrm>
          <a:prstGeom prst="line">
            <a:avLst/>
          </a:prstGeom>
          <a:ln w="44450" cap="rnd">
            <a:solidFill>
              <a:srgbClr val="FFC000"/>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C474A61A-05BE-4554-B48D-44C17516647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pic>
        <p:nvPicPr>
          <p:cNvPr id="4" name="Picture 32">
            <a:extLst>
              <a:ext uri="{FF2B5EF4-FFF2-40B4-BE49-F238E27FC236}">
                <a16:creationId xmlns:a16="http://schemas.microsoft.com/office/drawing/2014/main" id="{D547B26C-4529-C12B-B948-9F8BD3853D88}"/>
              </a:ext>
            </a:extLst>
          </p:cNvPr>
          <p:cNvPicPr>
            <a:picLocks noChangeAspect="1"/>
          </p:cNvPicPr>
          <p:nvPr userDrawn="1"/>
        </p:nvPicPr>
        <p:blipFill>
          <a:blip r:embed="rId5">
            <a:alphaModFix amt="10000"/>
          </a:blip>
          <a:stretch>
            <a:fillRect/>
          </a:stretch>
        </p:blipFill>
        <p:spPr>
          <a:xfrm>
            <a:off x="8485303" y="3165019"/>
            <a:ext cx="3706697" cy="3706697"/>
          </a:xfrm>
          <a:prstGeom prst="rect">
            <a:avLst/>
          </a:prstGeom>
        </p:spPr>
      </p:pic>
    </p:spTree>
    <p:extLst>
      <p:ext uri="{BB962C8B-B14F-4D97-AF65-F5344CB8AC3E}">
        <p14:creationId xmlns:p14="http://schemas.microsoft.com/office/powerpoint/2010/main" val="47521915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_Simple-text_TABLE_HONEY">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87D7E1-03F8-AF94-FB7B-5B9DBB6D3B81}"/>
              </a:ext>
            </a:extLst>
          </p:cNvPr>
          <p:cNvSpPr/>
          <p:nvPr userDrawn="1"/>
        </p:nvSpPr>
        <p:spPr>
          <a:xfrm>
            <a:off x="339725" y="4869272"/>
            <a:ext cx="1784549" cy="12241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FB0D0A53-3553-7F80-AA86-80334C3D1276}"/>
              </a:ext>
            </a:extLst>
          </p:cNvPr>
          <p:cNvSpPr/>
          <p:nvPr userDrawn="1"/>
        </p:nvSpPr>
        <p:spPr>
          <a:xfrm>
            <a:off x="2107586" y="4869272"/>
            <a:ext cx="9741310" cy="1224135"/>
          </a:xfrm>
          <a:prstGeom prst="rect">
            <a:avLst/>
          </a:prstGeom>
          <a:solidFill>
            <a:srgbClr val="FFF2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15" name="Titel 14">
            <a:extLst>
              <a:ext uri="{FF2B5EF4-FFF2-40B4-BE49-F238E27FC236}">
                <a16:creationId xmlns:a16="http://schemas.microsoft.com/office/drawing/2014/main" id="{475A41A9-8C95-15D2-7C18-0ABADA5BF893}"/>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chemeClr val="accent3"/>
                </a:solidFill>
              </a:defRPr>
            </a:lvl1pPr>
          </a:lstStyle>
          <a:p>
            <a:r>
              <a:rPr lang="nl-NL" err="1"/>
              <a:t>Title</a:t>
            </a:r>
            <a:endParaRPr lang="en-US"/>
          </a:p>
        </p:txBody>
      </p:sp>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115325"/>
            <a:ext cx="10945813" cy="3708411"/>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solidFill>
                  <a:schemeClr val="accent3"/>
                </a:solidFill>
              </a:defRPr>
            </a:lvl2pPr>
            <a:lvl3pPr marL="0" indent="0">
              <a:buNone/>
              <a:defRPr>
                <a:solidFill>
                  <a:schemeClr val="accent3"/>
                </a:solidFill>
              </a:defRPr>
            </a:lvl3pPr>
            <a:lvl4pPr marL="324000" indent="0">
              <a:lnSpc>
                <a:spcPct val="250000"/>
              </a:lnSpc>
              <a:buNone/>
              <a:defRPr>
                <a:solidFill>
                  <a:schemeClr val="accent4"/>
                </a:solidFill>
                <a:highlight>
                  <a:srgbClr val="7A5125"/>
                </a:highlight>
              </a:defRPr>
            </a:lvl4pPr>
            <a:lvl5pPr marL="324000" indent="0">
              <a:lnSpc>
                <a:spcPct val="120000"/>
              </a:lnSpc>
              <a:buNone/>
              <a:defRPr sz="1200">
                <a:solidFill>
                  <a:schemeClr val="bg1">
                    <a:lumMod val="25000"/>
                  </a:schemeClr>
                </a:solidFill>
              </a:defRPr>
            </a:lvl5pPr>
            <a:lvl6pPr marL="0" indent="0">
              <a:spcBef>
                <a:spcPts val="1200"/>
              </a:spcBef>
              <a:buNone/>
              <a:defRPr sz="1400" b="1">
                <a:solidFill>
                  <a:schemeClr val="accent3"/>
                </a:solidFill>
              </a:defRPr>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771B68FC-9087-4E3B-8BE6-3EB6AE24D2EA}" type="datetime1">
              <a:rPr lang="fr-FR" smtClean="0"/>
              <a:t>27/11/2025</a:t>
            </a:fld>
            <a:endParaRPr lang="en-US"/>
          </a:p>
        </p:txBody>
      </p:sp>
      <p:cxnSp>
        <p:nvCxnSpPr>
          <p:cNvPr id="5" name="Straight Connector 4">
            <a:extLst>
              <a:ext uri="{FF2B5EF4-FFF2-40B4-BE49-F238E27FC236}">
                <a16:creationId xmlns:a16="http://schemas.microsoft.com/office/drawing/2014/main" id="{E7D77697-8229-461A-8B0A-8032E1413682}"/>
              </a:ext>
            </a:extLst>
          </p:cNvPr>
          <p:cNvCxnSpPr>
            <a:cxnSpLocks/>
          </p:cNvCxnSpPr>
          <p:nvPr userDrawn="1"/>
        </p:nvCxnSpPr>
        <p:spPr>
          <a:xfrm flipH="1">
            <a:off x="333629" y="836712"/>
            <a:ext cx="11515267"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7E372CC0-0B8D-49FD-B536-01431FB94A3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
        <p:nvSpPr>
          <p:cNvPr id="7" name="Espace réservé du texte 6">
            <a:extLst>
              <a:ext uri="{FF2B5EF4-FFF2-40B4-BE49-F238E27FC236}">
                <a16:creationId xmlns:a16="http://schemas.microsoft.com/office/drawing/2014/main" id="{03B629D6-94FB-CBB3-FC2E-63EB35BEB161}"/>
              </a:ext>
            </a:extLst>
          </p:cNvPr>
          <p:cNvSpPr>
            <a:spLocks noGrp="1"/>
          </p:cNvSpPr>
          <p:nvPr>
            <p:ph type="body" sz="quarter" idx="14" hasCustomPrompt="1"/>
          </p:nvPr>
        </p:nvSpPr>
        <p:spPr>
          <a:xfrm>
            <a:off x="339725" y="4928096"/>
            <a:ext cx="1784549" cy="1106488"/>
          </a:xfrm>
          <a:prstGeom prst="rect">
            <a:avLst/>
          </a:prstGeom>
        </p:spPr>
        <p:txBody>
          <a:bodyPr anchor="ctr" anchorCtr="0"/>
          <a:lstStyle>
            <a:lvl1pPr marL="0" indent="0" algn="ctr">
              <a:lnSpc>
                <a:spcPct val="30000"/>
              </a:lnSpc>
              <a:buNone/>
              <a:defRPr sz="1400" b="1">
                <a:solidFill>
                  <a:schemeClr val="accent3"/>
                </a:solidFill>
              </a:defRPr>
            </a:lvl1pPr>
          </a:lstStyle>
          <a:p>
            <a:pPr lvl="0"/>
            <a:r>
              <a:rPr lang="fr-FR" err="1"/>
              <a:t>Text</a:t>
            </a:r>
            <a:endParaRPr lang="fr-FR"/>
          </a:p>
        </p:txBody>
      </p:sp>
      <p:sp>
        <p:nvSpPr>
          <p:cNvPr id="9" name="Espace réservé du texte 6">
            <a:extLst>
              <a:ext uri="{FF2B5EF4-FFF2-40B4-BE49-F238E27FC236}">
                <a16:creationId xmlns:a16="http://schemas.microsoft.com/office/drawing/2014/main" id="{6C70DEDB-5CDC-45BE-0939-EAAA7C0B4513}"/>
              </a:ext>
            </a:extLst>
          </p:cNvPr>
          <p:cNvSpPr>
            <a:spLocks noGrp="1"/>
          </p:cNvSpPr>
          <p:nvPr>
            <p:ph type="body" sz="quarter" idx="15" hasCustomPrompt="1"/>
          </p:nvPr>
        </p:nvSpPr>
        <p:spPr>
          <a:xfrm>
            <a:off x="2279576" y="4914800"/>
            <a:ext cx="9433047" cy="1106488"/>
          </a:xfrm>
          <a:prstGeom prst="rect">
            <a:avLst/>
          </a:prstGeom>
        </p:spPr>
        <p:txBody>
          <a:bodyPr anchor="ctr" anchorCtr="0"/>
          <a:lstStyle>
            <a:lvl1pPr marL="0" indent="0" algn="l">
              <a:lnSpc>
                <a:spcPct val="30000"/>
              </a:lnSpc>
              <a:buNone/>
              <a:defRPr sz="1200" b="0">
                <a:solidFill>
                  <a:schemeClr val="accent3"/>
                </a:solidFill>
              </a:defRPr>
            </a:lvl1pPr>
          </a:lstStyle>
          <a:p>
            <a:pPr lvl="0"/>
            <a:r>
              <a:rPr lang="fr-FR" err="1"/>
              <a:t>Text</a:t>
            </a:r>
            <a:endParaRPr lang="fr-FR"/>
          </a:p>
        </p:txBody>
      </p:sp>
    </p:spTree>
    <p:extLst>
      <p:ext uri="{BB962C8B-B14F-4D97-AF65-F5344CB8AC3E}">
        <p14:creationId xmlns:p14="http://schemas.microsoft.com/office/powerpoint/2010/main" val="229685397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LORED_simple_text_BARK">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7FDDB1-5A4A-4C76-997C-F7B1B9BA32AA}"/>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4"/>
                </a:solidFill>
              </a:defRPr>
            </a:lvl1pPr>
          </a:lstStyle>
          <a:p>
            <a:fld id="{771B68FC-9087-4E3B-8BE6-3EB6AE24D2EA}" type="datetime1">
              <a:rPr lang="fr-FR" smtClean="0"/>
              <a:pPr/>
              <a:t>27/11/2025</a:t>
            </a:fld>
            <a:endParaRPr lang="en-US"/>
          </a:p>
        </p:txBody>
      </p:sp>
      <p:sp>
        <p:nvSpPr>
          <p:cNvPr id="17" name="Titel 14">
            <a:extLst>
              <a:ext uri="{FF2B5EF4-FFF2-40B4-BE49-F238E27FC236}">
                <a16:creationId xmlns:a16="http://schemas.microsoft.com/office/drawing/2014/main" id="{FCEC0B95-79DC-42F7-AC5B-81D123887F18}"/>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chemeClr val="accent4"/>
                </a:solidFill>
              </a:defRPr>
            </a:lvl1pPr>
          </a:lstStyle>
          <a:p>
            <a:r>
              <a:rPr lang="nl-NL" err="1"/>
              <a:t>Title</a:t>
            </a:r>
            <a:endParaRPr lang="en-US"/>
          </a:p>
        </p:txBody>
      </p:sp>
      <p:cxnSp>
        <p:nvCxnSpPr>
          <p:cNvPr id="19" name="Straight Connector 18">
            <a:extLst>
              <a:ext uri="{FF2B5EF4-FFF2-40B4-BE49-F238E27FC236}">
                <a16:creationId xmlns:a16="http://schemas.microsoft.com/office/drawing/2014/main" id="{DC0DC6F9-75CE-447A-8978-BB1F7027DAC2}"/>
              </a:ext>
            </a:extLst>
          </p:cNvPr>
          <p:cNvCxnSpPr>
            <a:cxnSpLocks/>
          </p:cNvCxnSpPr>
          <p:nvPr userDrawn="1"/>
        </p:nvCxnSpPr>
        <p:spPr>
          <a:xfrm flipH="1">
            <a:off x="333629" y="836712"/>
            <a:ext cx="11515267"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B16ABA6E-893E-46DE-8FE7-C6130F9EE4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pic>
        <p:nvPicPr>
          <p:cNvPr id="9" name="Picture 8">
            <a:extLst>
              <a:ext uri="{FF2B5EF4-FFF2-40B4-BE49-F238E27FC236}">
                <a16:creationId xmlns:a16="http://schemas.microsoft.com/office/drawing/2014/main" id="{DC71F4A3-AF67-4165-8FB5-5781E5A22B9E}"/>
              </a:ext>
            </a:extLst>
          </p:cNvPr>
          <p:cNvPicPr>
            <a:picLocks noChangeAspect="1"/>
          </p:cNvPicPr>
          <p:nvPr userDrawn="1"/>
        </p:nvPicPr>
        <p:blipFill>
          <a:blip r:embed="rId4">
            <a:alphaModFix amt="5000"/>
          </a:blip>
          <a:stretch>
            <a:fillRect/>
          </a:stretch>
        </p:blipFill>
        <p:spPr>
          <a:xfrm>
            <a:off x="8501305" y="3167305"/>
            <a:ext cx="3690695" cy="3690695"/>
          </a:xfrm>
          <a:prstGeom prst="rect">
            <a:avLst/>
          </a:prstGeom>
        </p:spPr>
      </p:pic>
      <p:pic>
        <p:nvPicPr>
          <p:cNvPr id="3" name="Picture 31">
            <a:extLst>
              <a:ext uri="{FF2B5EF4-FFF2-40B4-BE49-F238E27FC236}">
                <a16:creationId xmlns:a16="http://schemas.microsoft.com/office/drawing/2014/main" id="{F8084AD0-B6E5-138E-D4A1-A0D162740AD0}"/>
              </a:ext>
            </a:extLst>
          </p:cNvPr>
          <p:cNvPicPr>
            <a:picLocks noChangeAspect="1"/>
          </p:cNvPicPr>
          <p:nvPr userDrawn="1"/>
        </p:nvPicPr>
        <p:blipFill>
          <a:blip r:embed="rId5">
            <a:alphaModFix amt="9000"/>
          </a:blip>
          <a:stretch>
            <a:fillRect/>
          </a:stretch>
        </p:blipFill>
        <p:spPr>
          <a:xfrm>
            <a:off x="8501304" y="3167305"/>
            <a:ext cx="3690695" cy="3690695"/>
          </a:xfrm>
          <a:prstGeom prst="rect">
            <a:avLst/>
          </a:prstGeom>
        </p:spPr>
      </p:pic>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094414"/>
            <a:ext cx="10945813" cy="4998882"/>
          </a:xfrm>
          <a:prstGeom prst="rect">
            <a:avLst/>
          </a:prstGeom>
        </p:spPr>
        <p:txBody>
          <a:bodyPr/>
          <a:lstStyle>
            <a:lvl1pPr marL="0" indent="0">
              <a:lnSpc>
                <a:spcPct val="120000"/>
              </a:lnSpc>
              <a:spcBef>
                <a:spcPts val="1000"/>
              </a:spcBef>
              <a:buNone/>
              <a:defRPr sz="1200">
                <a:solidFill>
                  <a:schemeClr val="accent4"/>
                </a:solidFill>
              </a:defRPr>
            </a:lvl1pPr>
            <a:lvl2pPr marL="685800" indent="-228600">
              <a:lnSpc>
                <a:spcPct val="100000"/>
              </a:lnSpc>
              <a:spcBef>
                <a:spcPts val="600"/>
              </a:spcBef>
              <a:spcAft>
                <a:spcPts val="0"/>
              </a:spcAft>
              <a:buFontTx/>
              <a:buBlip>
                <a:blip r:embed="rId6"/>
              </a:buBlip>
              <a:defRPr sz="1200">
                <a:solidFill>
                  <a:schemeClr val="accent4"/>
                </a:solidFill>
              </a:defRPr>
            </a:lvl2pPr>
            <a:lvl3pPr marL="0" indent="0">
              <a:buNone/>
              <a:defRPr>
                <a:solidFill>
                  <a:schemeClr val="accent4"/>
                </a:solidFill>
              </a:defRPr>
            </a:lvl3pPr>
            <a:lvl4pPr marL="324000" indent="0">
              <a:lnSpc>
                <a:spcPct val="250000"/>
              </a:lnSpc>
              <a:buNone/>
              <a:defRPr>
                <a:solidFill>
                  <a:schemeClr val="accent4"/>
                </a:solidFill>
                <a:highlight>
                  <a:srgbClr val="7A5125"/>
                </a:highlight>
              </a:defRPr>
            </a:lvl4pPr>
            <a:lvl5pPr marL="324000" indent="0">
              <a:lnSpc>
                <a:spcPct val="120000"/>
              </a:lnSpc>
              <a:buNone/>
              <a:defRPr sz="1200">
                <a:solidFill>
                  <a:schemeClr val="accent4"/>
                </a:solidFill>
              </a:defRPr>
            </a:lvl5pPr>
            <a:lvl6pPr marL="0" indent="0">
              <a:buNone/>
              <a:defRPr sz="1400" b="1">
                <a:solidFill>
                  <a:schemeClr val="accent4"/>
                </a:solidFill>
              </a:defRPr>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a:t>Paragraphe </a:t>
            </a:r>
            <a:r>
              <a:rPr lang="fr-FR" err="1"/>
              <a:t>title</a:t>
            </a:r>
            <a:r>
              <a:rPr lang="fr-FR"/>
              <a:t> 2</a:t>
            </a:r>
          </a:p>
          <a:p>
            <a:pPr lvl="4"/>
            <a:r>
              <a:rPr lang="fr-FR" err="1"/>
              <a:t>Text</a:t>
            </a:r>
            <a:endParaRPr lang="fr-FR"/>
          </a:p>
          <a:p>
            <a:pPr lvl="5"/>
            <a:r>
              <a:rPr lang="fr-FR"/>
              <a:t>Sixième niveau</a:t>
            </a:r>
          </a:p>
        </p:txBody>
      </p:sp>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81328"/>
            <a:ext cx="818313" cy="276432"/>
          </a:xfrm>
          <a:prstGeom prst="rect">
            <a:avLst/>
          </a:prstGeom>
        </p:spPr>
        <p:txBody>
          <a:bodyPr lIns="0" tIns="0" rIns="0" bIns="0" anchor="ctr"/>
          <a:lstStyle>
            <a:lvl1pPr algn="r">
              <a:defRPr sz="1200">
                <a:solidFill>
                  <a:schemeClr val="accent4"/>
                </a:solidFill>
              </a:defRPr>
            </a:lvl1pPr>
          </a:lstStyle>
          <a:p>
            <a:fld id="{0D2E6A04-B99A-6C4D-8942-945F97C9E705}" type="slidenum">
              <a:rPr lang="en-US" smtClean="0"/>
              <a:pPr/>
              <a:t>‹nr.›</a:t>
            </a:fld>
            <a:endParaRPr lang="en-US"/>
          </a:p>
        </p:txBody>
      </p:sp>
    </p:spTree>
    <p:extLst>
      <p:ext uri="{BB962C8B-B14F-4D97-AF65-F5344CB8AC3E}">
        <p14:creationId xmlns:p14="http://schemas.microsoft.com/office/powerpoint/2010/main" val="35167059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LORED_simple_text_HONEY">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7FDDB1-5A4A-4C76-997C-F7B1B9BA32AA}"/>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accent3"/>
                </a:solidFill>
              </a:defRPr>
            </a:lvl1pPr>
          </a:lstStyle>
          <a:p>
            <a:fld id="{0D2E6A04-B99A-6C4D-8942-945F97C9E705}" type="slidenum">
              <a:rPr lang="en-US" smtClean="0"/>
              <a:pPr/>
              <a:t>‹nr.›</a:t>
            </a:fld>
            <a:endParaRPr lang="en-US"/>
          </a:p>
        </p:txBody>
      </p:sp>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094414"/>
            <a:ext cx="10945813" cy="4998882"/>
          </a:xfrm>
          <a:prstGeom prst="rect">
            <a:avLst/>
          </a:prstGeom>
        </p:spPr>
        <p:txBody>
          <a:bodyPr/>
          <a:lstStyle>
            <a:lvl1pPr marL="0" indent="0">
              <a:lnSpc>
                <a:spcPct val="120000"/>
              </a:lnSpc>
              <a:spcBef>
                <a:spcPts val="1000"/>
              </a:spcBef>
              <a:buNone/>
              <a:defRPr sz="1200">
                <a:solidFill>
                  <a:schemeClr val="accent3"/>
                </a:solidFill>
              </a:defRPr>
            </a:lvl1pPr>
            <a:lvl2pPr marL="685800" indent="-228600">
              <a:lnSpc>
                <a:spcPct val="100000"/>
              </a:lnSpc>
              <a:spcBef>
                <a:spcPts val="600"/>
              </a:spcBef>
              <a:spcAft>
                <a:spcPts val="0"/>
              </a:spcAft>
              <a:buFontTx/>
              <a:buBlip>
                <a:blip r:embed="rId2"/>
              </a:buBlip>
              <a:defRPr sz="1200">
                <a:solidFill>
                  <a:schemeClr val="accent3"/>
                </a:solidFill>
              </a:defRPr>
            </a:lvl2pPr>
            <a:lvl3pPr marL="0" indent="0">
              <a:buNone/>
              <a:defRPr>
                <a:solidFill>
                  <a:schemeClr val="accent3"/>
                </a:solidFill>
              </a:defRPr>
            </a:lvl3pPr>
            <a:lvl4pPr marL="324000" indent="0">
              <a:lnSpc>
                <a:spcPct val="250000"/>
              </a:lnSpc>
              <a:buNone/>
              <a:defRPr>
                <a:solidFill>
                  <a:schemeClr val="accent4"/>
                </a:solidFill>
                <a:highlight>
                  <a:srgbClr val="7A5125"/>
                </a:highlight>
              </a:defRPr>
            </a:lvl4pPr>
            <a:lvl5pPr marL="324000" indent="0">
              <a:lnSpc>
                <a:spcPct val="120000"/>
              </a:lnSpc>
              <a:buNone/>
              <a:defRPr sz="1200">
                <a:solidFill>
                  <a:schemeClr val="accent3"/>
                </a:solidFill>
              </a:defRPr>
            </a:lvl5pPr>
            <a:lvl6pPr marL="0" indent="0">
              <a:buNone/>
              <a:defRPr sz="1400" b="1">
                <a:solidFill>
                  <a:schemeClr val="accent3"/>
                </a:solidFill>
              </a:defRPr>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a:t>Paragraphe </a:t>
            </a:r>
            <a:r>
              <a:rPr lang="fr-FR" err="1"/>
              <a:t>title</a:t>
            </a:r>
            <a:r>
              <a:rPr lang="fr-FR"/>
              <a:t> 2</a:t>
            </a:r>
          </a:p>
          <a:p>
            <a:pPr lvl="4"/>
            <a:r>
              <a:rPr lang="fr-FR" err="1"/>
              <a:t>Text</a:t>
            </a:r>
            <a:endParaRPr lang="fr-FR"/>
          </a:p>
          <a:p>
            <a:pPr lvl="5"/>
            <a:r>
              <a:rPr lang="fr-FR"/>
              <a:t>Sixième niveau</a:t>
            </a: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3"/>
                </a:solidFill>
              </a:defRPr>
            </a:lvl1pPr>
          </a:lstStyle>
          <a:p>
            <a:fld id="{771B68FC-9087-4E3B-8BE6-3EB6AE24D2EA}" type="datetime1">
              <a:rPr lang="fr-FR" smtClean="0"/>
              <a:pPr/>
              <a:t>27/11/2025</a:t>
            </a:fld>
            <a:endParaRPr lang="en-US"/>
          </a:p>
        </p:txBody>
      </p:sp>
      <p:sp>
        <p:nvSpPr>
          <p:cNvPr id="17" name="Titel 14">
            <a:extLst>
              <a:ext uri="{FF2B5EF4-FFF2-40B4-BE49-F238E27FC236}">
                <a16:creationId xmlns:a16="http://schemas.microsoft.com/office/drawing/2014/main" id="{FCEC0B95-79DC-42F7-AC5B-81D123887F18}"/>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chemeClr val="accent3"/>
                </a:solidFill>
              </a:defRPr>
            </a:lvl1pPr>
          </a:lstStyle>
          <a:p>
            <a:r>
              <a:rPr lang="nl-NL" err="1"/>
              <a:t>Title</a:t>
            </a:r>
            <a:endParaRPr lang="en-US"/>
          </a:p>
        </p:txBody>
      </p:sp>
      <p:cxnSp>
        <p:nvCxnSpPr>
          <p:cNvPr id="19" name="Straight Connector 18">
            <a:extLst>
              <a:ext uri="{FF2B5EF4-FFF2-40B4-BE49-F238E27FC236}">
                <a16:creationId xmlns:a16="http://schemas.microsoft.com/office/drawing/2014/main" id="{DC0DC6F9-75CE-447A-8978-BB1F7027DAC2}"/>
              </a:ext>
            </a:extLst>
          </p:cNvPr>
          <p:cNvCxnSpPr>
            <a:cxnSpLocks/>
          </p:cNvCxnSpPr>
          <p:nvPr userDrawn="1"/>
        </p:nvCxnSpPr>
        <p:spPr>
          <a:xfrm flipH="1">
            <a:off x="333629" y="836712"/>
            <a:ext cx="11515267" cy="0"/>
          </a:xfrm>
          <a:prstGeom prst="line">
            <a:avLst/>
          </a:prstGeom>
          <a:ln w="47625" cap="rnd">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B16ABA6E-893E-46DE-8FE7-C6130F9EE46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pic>
        <p:nvPicPr>
          <p:cNvPr id="9" name="Picture 8">
            <a:extLst>
              <a:ext uri="{FF2B5EF4-FFF2-40B4-BE49-F238E27FC236}">
                <a16:creationId xmlns:a16="http://schemas.microsoft.com/office/drawing/2014/main" id="{DC71F4A3-AF67-4165-8FB5-5781E5A22B9E}"/>
              </a:ext>
            </a:extLst>
          </p:cNvPr>
          <p:cNvPicPr>
            <a:picLocks noChangeAspect="1"/>
          </p:cNvPicPr>
          <p:nvPr userDrawn="1"/>
        </p:nvPicPr>
        <p:blipFill>
          <a:blip r:embed="rId5">
            <a:alphaModFix amt="5000"/>
          </a:blip>
          <a:stretch>
            <a:fillRect/>
          </a:stretch>
        </p:blipFill>
        <p:spPr>
          <a:xfrm>
            <a:off x="8501305" y="3167305"/>
            <a:ext cx="3690695" cy="3690695"/>
          </a:xfrm>
          <a:prstGeom prst="rect">
            <a:avLst/>
          </a:prstGeom>
        </p:spPr>
      </p:pic>
    </p:spTree>
    <p:extLst>
      <p:ext uri="{BB962C8B-B14F-4D97-AF65-F5344CB8AC3E}">
        <p14:creationId xmlns:p14="http://schemas.microsoft.com/office/powerpoint/2010/main" val="304722408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image_12">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F87A30D-ABF0-49A1-B42A-597641388E0A}"/>
              </a:ext>
            </a:extLst>
          </p:cNvPr>
          <p:cNvPicPr>
            <a:picLocks noChangeAspect="1"/>
          </p:cNvPicPr>
          <p:nvPr userDrawn="1"/>
        </p:nvPicPr>
        <p:blipFill>
          <a:blip r:embed="rId2"/>
          <a:stretch>
            <a:fillRect/>
          </a:stretch>
        </p:blipFill>
        <p:spPr>
          <a:xfrm>
            <a:off x="6302897" y="862790"/>
            <a:ext cx="4870465" cy="4870465"/>
          </a:xfrm>
          <a:prstGeom prst="rect">
            <a:avLst/>
          </a:prstGeom>
        </p:spPr>
      </p:pic>
      <p:sp>
        <p:nvSpPr>
          <p:cNvPr id="11" name="Espace réservé du contenu 6">
            <a:extLst>
              <a:ext uri="{FF2B5EF4-FFF2-40B4-BE49-F238E27FC236}">
                <a16:creationId xmlns:a16="http://schemas.microsoft.com/office/drawing/2014/main" id="{E87477D1-A495-4DA6-B19A-9A96230EA50F}"/>
              </a:ext>
            </a:extLst>
          </p:cNvPr>
          <p:cNvSpPr>
            <a:spLocks noGrp="1"/>
          </p:cNvSpPr>
          <p:nvPr>
            <p:ph sz="quarter" idx="13" hasCustomPrompt="1"/>
          </p:nvPr>
        </p:nvSpPr>
        <p:spPr>
          <a:xfrm>
            <a:off x="6528048" y="1988840"/>
            <a:ext cx="4392488" cy="3574322"/>
          </a:xfrm>
          <a:prstGeom prst="rect">
            <a:avLst/>
          </a:prstGeom>
        </p:spPr>
        <p:txBody>
          <a:bodyPr anchor="ctr" anchorCtr="0"/>
          <a:lstStyle>
            <a:lvl1pPr marL="0" indent="0" algn="ctr">
              <a:lnSpc>
                <a:spcPct val="120000"/>
              </a:lnSpc>
              <a:spcBef>
                <a:spcPts val="1000"/>
              </a:spcBef>
              <a:buNone/>
              <a:defRPr sz="1400">
                <a:solidFill>
                  <a:srgbClr val="7A5125"/>
                </a:solidFill>
                <a:latin typeface="Bagoss Standard Medium" panose="020B0604060102020204" pitchFamily="34" charset="0"/>
                <a:cs typeface="Bagoss Standard Medium" panose="020B0604060102020204" pitchFamily="34" charset="0"/>
              </a:defRPr>
            </a:lvl1pPr>
            <a:lvl2pPr marL="0" indent="-228600" algn="ctr">
              <a:lnSpc>
                <a:spcPct val="100000"/>
              </a:lnSpc>
              <a:spcBef>
                <a:spcPts val="600"/>
              </a:spcBef>
              <a:spcAft>
                <a:spcPts val="0"/>
              </a:spcAft>
              <a:buFontTx/>
              <a:buBlip>
                <a:blip r:embed="rId3"/>
              </a:buBlip>
              <a:defRPr sz="1400">
                <a:solidFill>
                  <a:srgbClr val="7A5125"/>
                </a:solidFill>
                <a:latin typeface="Bagoss Standard Medium" panose="020B0604060102020204" pitchFamily="34" charset="0"/>
                <a:cs typeface="Bagoss Standard Medium" panose="020B0604060102020204" pitchFamily="34" charset="0"/>
              </a:defRPr>
            </a:lvl2pPr>
            <a:lvl3pPr marL="0" indent="0" algn="ctr">
              <a:lnSpc>
                <a:spcPts val="1300"/>
              </a:lnSpc>
              <a:spcBef>
                <a:spcPts val="1200"/>
              </a:spcBef>
              <a:spcAft>
                <a:spcPts val="0"/>
              </a:spcAft>
              <a:buNone/>
              <a:defRPr sz="2400">
                <a:solidFill>
                  <a:srgbClr val="7A5125"/>
                </a:solidFill>
                <a:latin typeface="Bagoss Standard Medium" panose="020B0604060102020204" pitchFamily="34" charset="0"/>
                <a:cs typeface="Bagoss Standard Medium" panose="020B0604060102020204" pitchFamily="34" charset="0"/>
              </a:defRPr>
            </a:lvl3pPr>
            <a:lvl4pPr marL="324000" indent="0" algn="ctr">
              <a:lnSpc>
                <a:spcPct val="250000"/>
              </a:lnSpc>
              <a:buNone/>
              <a:defRPr>
                <a:highlight>
                  <a:srgbClr val="B2EDA7"/>
                </a:highlight>
              </a:defRPr>
            </a:lvl4pPr>
            <a:lvl5pPr marL="324000" indent="0" algn="ctr">
              <a:lnSpc>
                <a:spcPct val="120000"/>
              </a:lnSpc>
              <a:buNone/>
              <a:defRPr sz="1200">
                <a:solidFill>
                  <a:schemeClr val="bg1">
                    <a:lumMod val="25000"/>
                  </a:schemeClr>
                </a:solidFill>
              </a:defRPr>
            </a:lvl5pPr>
            <a:lvl6pPr marL="0" indent="0" algn="ctr">
              <a:buNone/>
              <a:defRPr sz="1400" b="1"/>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2"/>
            <a:r>
              <a:rPr lang="fr-FR" err="1"/>
              <a:t>erf</a:t>
            </a:r>
            <a:endParaRPr lang="fr-FR"/>
          </a:p>
          <a:p>
            <a:pPr lvl="3"/>
            <a:r>
              <a:rPr lang="fr-FR"/>
              <a:t>Paragraphe </a:t>
            </a:r>
            <a:r>
              <a:rPr lang="fr-FR" err="1"/>
              <a:t>title</a:t>
            </a:r>
            <a:r>
              <a:rPr lang="fr-FR"/>
              <a:t> 2</a:t>
            </a:r>
          </a:p>
          <a:p>
            <a:pPr lvl="4"/>
            <a:r>
              <a:rPr lang="fr-FR"/>
              <a:t>Cinquième niveau</a:t>
            </a:r>
          </a:p>
          <a:p>
            <a:pPr lvl="4"/>
            <a:r>
              <a:rPr lang="fr-FR" err="1"/>
              <a:t>ds</a:t>
            </a:r>
            <a:endParaRPr lang="fr-FR"/>
          </a:p>
          <a:p>
            <a:pPr lvl="5"/>
            <a:r>
              <a:rPr lang="fr-FR"/>
              <a:t>Sixième niveau</a:t>
            </a:r>
          </a:p>
        </p:txBody>
      </p:sp>
      <p:sp>
        <p:nvSpPr>
          <p:cNvPr id="10" name="Slide Number Placeholder 4">
            <a:extLst>
              <a:ext uri="{FF2B5EF4-FFF2-40B4-BE49-F238E27FC236}">
                <a16:creationId xmlns:a16="http://schemas.microsoft.com/office/drawing/2014/main" id="{277B8F76-D931-454A-834C-DD06166D1401}"/>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bg1"/>
                </a:solidFill>
              </a:defRPr>
            </a:lvl1pPr>
          </a:lstStyle>
          <a:p>
            <a:fld id="{0D2E6A04-B99A-6C4D-8942-945F97C9E705}" type="slidenum">
              <a:rPr lang="en-US" smtClean="0"/>
              <a:pPr/>
              <a:t>‹nr.›</a:t>
            </a:fld>
            <a:endParaRPr lang="en-US"/>
          </a:p>
        </p:txBody>
      </p:sp>
      <p:sp>
        <p:nvSpPr>
          <p:cNvPr id="12" name="Date Placeholder 2">
            <a:extLst>
              <a:ext uri="{FF2B5EF4-FFF2-40B4-BE49-F238E27FC236}">
                <a16:creationId xmlns:a16="http://schemas.microsoft.com/office/drawing/2014/main" id="{47FFEEC5-495E-44AF-B58B-250A4DE48369}"/>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bg1"/>
                </a:solidFill>
              </a:defRPr>
            </a:lvl1pPr>
          </a:lstStyle>
          <a:p>
            <a:fld id="{2C95E0B9-1397-4357-A7A4-00B5E38C0113}" type="datetime1">
              <a:rPr lang="fr-FR" smtClean="0"/>
              <a:t>27/11/2025</a:t>
            </a:fld>
            <a:endParaRPr lang="en-US"/>
          </a:p>
        </p:txBody>
      </p:sp>
    </p:spTree>
    <p:extLst>
      <p:ext uri="{BB962C8B-B14F-4D97-AF65-F5344CB8AC3E}">
        <p14:creationId xmlns:p14="http://schemas.microsoft.com/office/powerpoint/2010/main" val="311687612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ection-title_BARK">
    <p:bg>
      <p:bgPr>
        <a:solidFill>
          <a:schemeClr val="accent3"/>
        </a:solidFill>
        <a:effectLst/>
      </p:bgPr>
    </p:bg>
    <p:spTree>
      <p:nvGrpSpPr>
        <p:cNvPr id="1" name=""/>
        <p:cNvGrpSpPr/>
        <p:nvPr/>
      </p:nvGrpSpPr>
      <p:grpSpPr>
        <a:xfrm>
          <a:off x="0" y="0"/>
          <a:ext cx="0" cy="0"/>
          <a:chOff x="0" y="0"/>
          <a:chExt cx="0" cy="0"/>
        </a:xfrm>
      </p:grpSpPr>
      <p:sp>
        <p:nvSpPr>
          <p:cNvPr id="2" name="Text Placeholder 18">
            <a:extLst>
              <a:ext uri="{FF2B5EF4-FFF2-40B4-BE49-F238E27FC236}">
                <a16:creationId xmlns:a16="http://schemas.microsoft.com/office/drawing/2014/main" id="{897266DD-267E-9A36-C26C-E81C2E82EA8B}"/>
              </a:ext>
            </a:extLst>
          </p:cNvPr>
          <p:cNvSpPr>
            <a:spLocks noGrp="1"/>
          </p:cNvSpPr>
          <p:nvPr>
            <p:ph type="body" sz="quarter" idx="14" hasCustomPrompt="1"/>
          </p:nvPr>
        </p:nvSpPr>
        <p:spPr>
          <a:xfrm>
            <a:off x="334963" y="2389892"/>
            <a:ext cx="11524528" cy="1362958"/>
          </a:xfrm>
          <a:prstGeom prst="rect">
            <a:avLst/>
          </a:prstGeom>
        </p:spPr>
        <p:txBody>
          <a:bodyPr anchor="ctr"/>
          <a:lstStyle>
            <a:lvl1pPr marL="0" indent="0" algn="ctr">
              <a:buNone/>
              <a:defRPr sz="4000">
                <a:solidFill>
                  <a:schemeClr val="accent4"/>
                </a:solidFill>
                <a:latin typeface="Bagoss Standard Medium" panose="020B0604060102020204" pitchFamily="34" charset="0"/>
                <a:cs typeface="Bagoss Standard Medium" panose="020B06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PRESENTATION SECTION TITLE</a:t>
            </a:r>
            <a:endParaRPr lang="en-US"/>
          </a:p>
        </p:txBody>
      </p:sp>
      <p:sp>
        <p:nvSpPr>
          <p:cNvPr id="3" name="Text Placeholder 18">
            <a:extLst>
              <a:ext uri="{FF2B5EF4-FFF2-40B4-BE49-F238E27FC236}">
                <a16:creationId xmlns:a16="http://schemas.microsoft.com/office/drawing/2014/main" id="{0A01E6E0-E5CB-C283-7FE7-091C23740360}"/>
              </a:ext>
            </a:extLst>
          </p:cNvPr>
          <p:cNvSpPr>
            <a:spLocks noGrp="1"/>
          </p:cNvSpPr>
          <p:nvPr>
            <p:ph type="body" sz="quarter" idx="13" hasCustomPrompt="1"/>
          </p:nvPr>
        </p:nvSpPr>
        <p:spPr>
          <a:xfrm>
            <a:off x="332509" y="3435927"/>
            <a:ext cx="11524528" cy="1043203"/>
          </a:xfrm>
          <a:prstGeom prst="rect">
            <a:avLst/>
          </a:prstGeom>
          <a:noFill/>
        </p:spPr>
        <p:txBody>
          <a:bodyPr anchor="ctr"/>
          <a:lstStyle>
            <a:lvl1pPr marL="0" indent="0" algn="ctr">
              <a:buNone/>
              <a:defRPr sz="4000">
                <a:solidFill>
                  <a:schemeClr val="accent4"/>
                </a:solidFill>
                <a:latin typeface="Bagoss Standard" panose="020B0504060102020204" pitchFamily="34" charset="0"/>
                <a:cs typeface="Bagoss Standard" panose="020B05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Subtitle here</a:t>
            </a:r>
            <a:endParaRPr lang="en-US"/>
          </a:p>
        </p:txBody>
      </p:sp>
      <p:pic>
        <p:nvPicPr>
          <p:cNvPr id="4" name="Graphic 56">
            <a:extLst>
              <a:ext uri="{FF2B5EF4-FFF2-40B4-BE49-F238E27FC236}">
                <a16:creationId xmlns:a16="http://schemas.microsoft.com/office/drawing/2014/main" id="{EAAB6502-4F21-3C14-1E8A-7D62B8679ED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79976" y="6191638"/>
            <a:ext cx="405367" cy="342520"/>
          </a:xfrm>
          <a:prstGeom prst="rect">
            <a:avLst/>
          </a:prstGeom>
        </p:spPr>
      </p:pic>
    </p:spTree>
    <p:extLst>
      <p:ext uri="{BB962C8B-B14F-4D97-AF65-F5344CB8AC3E}">
        <p14:creationId xmlns:p14="http://schemas.microsoft.com/office/powerpoint/2010/main" val="139402903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ection-title_HONEY">
    <p:bg>
      <p:bgPr>
        <a:solidFill>
          <a:schemeClr val="accent4"/>
        </a:solidFill>
        <a:effectLst/>
      </p:bgPr>
    </p:bg>
    <p:spTree>
      <p:nvGrpSpPr>
        <p:cNvPr id="1" name=""/>
        <p:cNvGrpSpPr/>
        <p:nvPr/>
      </p:nvGrpSpPr>
      <p:grpSpPr>
        <a:xfrm>
          <a:off x="0" y="0"/>
          <a:ext cx="0" cy="0"/>
          <a:chOff x="0" y="0"/>
          <a:chExt cx="0" cy="0"/>
        </a:xfrm>
      </p:grpSpPr>
      <p:sp>
        <p:nvSpPr>
          <p:cNvPr id="2" name="Text Placeholder 18">
            <a:extLst>
              <a:ext uri="{FF2B5EF4-FFF2-40B4-BE49-F238E27FC236}">
                <a16:creationId xmlns:a16="http://schemas.microsoft.com/office/drawing/2014/main" id="{897266DD-267E-9A36-C26C-E81C2E82EA8B}"/>
              </a:ext>
            </a:extLst>
          </p:cNvPr>
          <p:cNvSpPr>
            <a:spLocks noGrp="1"/>
          </p:cNvSpPr>
          <p:nvPr>
            <p:ph type="body" sz="quarter" idx="14" hasCustomPrompt="1"/>
          </p:nvPr>
        </p:nvSpPr>
        <p:spPr>
          <a:xfrm>
            <a:off x="334963" y="2389892"/>
            <a:ext cx="11524528" cy="1362958"/>
          </a:xfrm>
          <a:prstGeom prst="rect">
            <a:avLst/>
          </a:prstGeom>
        </p:spPr>
        <p:txBody>
          <a:bodyPr anchor="ctr"/>
          <a:lstStyle>
            <a:lvl1pPr marL="0" indent="0" algn="ctr">
              <a:buNone/>
              <a:defRPr sz="4000">
                <a:solidFill>
                  <a:schemeClr val="accent3"/>
                </a:solidFill>
                <a:latin typeface="Bagoss Standard Medium" panose="020B0604060102020204" pitchFamily="34" charset="0"/>
                <a:cs typeface="Bagoss Standard Medium" panose="020B06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PRESENTATION SECTION TITLE</a:t>
            </a:r>
            <a:endParaRPr lang="en-US"/>
          </a:p>
        </p:txBody>
      </p:sp>
      <p:sp>
        <p:nvSpPr>
          <p:cNvPr id="3" name="Text Placeholder 18">
            <a:extLst>
              <a:ext uri="{FF2B5EF4-FFF2-40B4-BE49-F238E27FC236}">
                <a16:creationId xmlns:a16="http://schemas.microsoft.com/office/drawing/2014/main" id="{0A01E6E0-E5CB-C283-7FE7-091C23740360}"/>
              </a:ext>
            </a:extLst>
          </p:cNvPr>
          <p:cNvSpPr>
            <a:spLocks noGrp="1"/>
          </p:cNvSpPr>
          <p:nvPr>
            <p:ph type="body" sz="quarter" idx="13" hasCustomPrompt="1"/>
          </p:nvPr>
        </p:nvSpPr>
        <p:spPr>
          <a:xfrm>
            <a:off x="332509" y="3435927"/>
            <a:ext cx="11524528" cy="1043203"/>
          </a:xfrm>
          <a:prstGeom prst="rect">
            <a:avLst/>
          </a:prstGeom>
          <a:noFill/>
        </p:spPr>
        <p:txBody>
          <a:bodyPr anchor="ctr"/>
          <a:lstStyle>
            <a:lvl1pPr marL="0" indent="0" algn="ctr">
              <a:buNone/>
              <a:defRPr sz="4000">
                <a:solidFill>
                  <a:schemeClr val="accent3"/>
                </a:solidFill>
                <a:latin typeface="Bagoss Standard" panose="020B0504060102020204" pitchFamily="34" charset="0"/>
                <a:cs typeface="Bagoss Standard" panose="020B05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Subtitle here</a:t>
            </a:r>
            <a:endParaRPr lang="en-US"/>
          </a:p>
        </p:txBody>
      </p:sp>
      <p:pic>
        <p:nvPicPr>
          <p:cNvPr id="4" name="Graphic 56">
            <a:extLst>
              <a:ext uri="{FF2B5EF4-FFF2-40B4-BE49-F238E27FC236}">
                <a16:creationId xmlns:a16="http://schemas.microsoft.com/office/drawing/2014/main" id="{EAAB6502-4F21-3C14-1E8A-7D62B8679ED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79976" y="6191638"/>
            <a:ext cx="405367" cy="342520"/>
          </a:xfrm>
          <a:prstGeom prst="rect">
            <a:avLst/>
          </a:prstGeom>
        </p:spPr>
      </p:pic>
    </p:spTree>
    <p:extLst>
      <p:ext uri="{BB962C8B-B14F-4D97-AF65-F5344CB8AC3E}">
        <p14:creationId xmlns:p14="http://schemas.microsoft.com/office/powerpoint/2010/main" val="307148487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hank-you_HONEY">
    <p:bg>
      <p:bgPr>
        <a:solidFill>
          <a:schemeClr val="accent3"/>
        </a:solidFill>
        <a:effectLst/>
      </p:bgPr>
    </p:bg>
    <p:spTree>
      <p:nvGrpSpPr>
        <p:cNvPr id="1" name=""/>
        <p:cNvGrpSpPr/>
        <p:nvPr/>
      </p:nvGrpSpPr>
      <p:grpSpPr>
        <a:xfrm>
          <a:off x="0" y="0"/>
          <a:ext cx="0" cy="0"/>
          <a:chOff x="0" y="0"/>
          <a:chExt cx="0" cy="0"/>
        </a:xfrm>
      </p:grpSpPr>
      <p:sp>
        <p:nvSpPr>
          <p:cNvPr id="26" name="Text Placeholder 20">
            <a:extLst>
              <a:ext uri="{FF2B5EF4-FFF2-40B4-BE49-F238E27FC236}">
                <a16:creationId xmlns:a16="http://schemas.microsoft.com/office/drawing/2014/main" id="{59667516-AF34-3A63-E277-815BBC3D2549}"/>
              </a:ext>
            </a:extLst>
          </p:cNvPr>
          <p:cNvSpPr>
            <a:spLocks noGrp="1"/>
          </p:cNvSpPr>
          <p:nvPr>
            <p:ph type="body" sz="quarter" idx="22" hasCustomPrompt="1"/>
          </p:nvPr>
        </p:nvSpPr>
        <p:spPr>
          <a:xfrm>
            <a:off x="2103297" y="1997258"/>
            <a:ext cx="7985404" cy="2727886"/>
          </a:xfrm>
          <a:prstGeom prst="rect">
            <a:avLst/>
          </a:prstGeom>
          <a:noFill/>
        </p:spPr>
        <p:txBody>
          <a:bodyPr anchor="ctr"/>
          <a:lstStyle>
            <a:lvl1pPr marL="0" indent="0" algn="ctr">
              <a:buNone/>
              <a:defRPr sz="9200">
                <a:solidFill>
                  <a:schemeClr val="accent4"/>
                </a:solidFill>
                <a:latin typeface="Bagoss Standard Medium" panose="020B0604060102020204" pitchFamily="34" charset="0"/>
                <a:cs typeface="Bagoss Standard Medium" panose="020B0604060102020204" pitchFamily="34" charset="0"/>
              </a:defRPr>
            </a:lvl1pPr>
            <a:lvl2pPr marL="457200" indent="0">
              <a:buNone/>
              <a:defRPr sz="1200">
                <a:solidFill>
                  <a:srgbClr val="B2EDA7"/>
                </a:solidFill>
              </a:defRPr>
            </a:lvl2pPr>
            <a:lvl3pPr marL="914400" indent="0">
              <a:buNone/>
              <a:defRPr sz="1200">
                <a:solidFill>
                  <a:srgbClr val="B2EDA7"/>
                </a:solidFill>
              </a:defRPr>
            </a:lvl3pPr>
            <a:lvl4pPr marL="1371600" indent="0">
              <a:buNone/>
              <a:defRPr sz="1200">
                <a:solidFill>
                  <a:srgbClr val="B2EDA7"/>
                </a:solidFill>
              </a:defRPr>
            </a:lvl4pPr>
            <a:lvl5pPr marL="1828800" indent="0">
              <a:buNone/>
              <a:defRPr sz="1200">
                <a:solidFill>
                  <a:srgbClr val="B2EDA7"/>
                </a:solidFill>
              </a:defRPr>
            </a:lvl5pPr>
          </a:lstStyle>
          <a:p>
            <a:pPr lvl="0"/>
            <a:r>
              <a:rPr lang="en-GB"/>
              <a:t>THANK YOU</a:t>
            </a:r>
            <a:endParaRPr lang="en-US"/>
          </a:p>
        </p:txBody>
      </p:sp>
      <p:pic>
        <p:nvPicPr>
          <p:cNvPr id="4" name="Graphique 3">
            <a:extLst>
              <a:ext uri="{FF2B5EF4-FFF2-40B4-BE49-F238E27FC236}">
                <a16:creationId xmlns:a16="http://schemas.microsoft.com/office/drawing/2014/main" id="{08895822-A758-5D10-BDA4-51FC7156CC1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99831" y="5949280"/>
            <a:ext cx="2792338" cy="359015"/>
          </a:xfrm>
          <a:prstGeom prst="rect">
            <a:avLst/>
          </a:prstGeom>
        </p:spPr>
      </p:pic>
    </p:spTree>
    <p:extLst>
      <p:ext uri="{BB962C8B-B14F-4D97-AF65-F5344CB8AC3E}">
        <p14:creationId xmlns:p14="http://schemas.microsoft.com/office/powerpoint/2010/main" val="229525002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7CBAD-3D1A-4BB9-9D09-53C7C913ABA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fr-FR"/>
          </a:p>
        </p:txBody>
      </p:sp>
    </p:spTree>
    <p:extLst>
      <p:ext uri="{BB962C8B-B14F-4D97-AF65-F5344CB8AC3E}">
        <p14:creationId xmlns:p14="http://schemas.microsoft.com/office/powerpoint/2010/main" val="146937170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slideLayout" Target="../slideLayouts/slideLayout6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B2EDA7"/>
        </a:solidFill>
        <a:effectLst/>
      </p:bgPr>
    </p:bg>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92E656B1-82D7-41B7-A851-18D4119510F2}"/>
              </a:ext>
            </a:extLst>
          </p:cNvPr>
          <p:cNvSpPr>
            <a:spLocks noGrp="1"/>
          </p:cNvSpPr>
          <p:nvPr>
            <p:ph type="sldNum" sz="quarter" idx="4"/>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‹nr.›</a:t>
            </a:fld>
            <a:endParaRPr lang="en-US"/>
          </a:p>
        </p:txBody>
      </p:sp>
      <p:sp>
        <p:nvSpPr>
          <p:cNvPr id="3" name="Date Placeholder 2">
            <a:extLst>
              <a:ext uri="{FF2B5EF4-FFF2-40B4-BE49-F238E27FC236}">
                <a16:creationId xmlns:a16="http://schemas.microsoft.com/office/drawing/2014/main" id="{48DA8A1C-9A75-4C6F-83C5-7B34336B8882}"/>
              </a:ext>
            </a:extLst>
          </p:cNvPr>
          <p:cNvSpPr>
            <a:spLocks noGrp="1"/>
          </p:cNvSpPr>
          <p:nvPr>
            <p:ph type="dt" sz="half" idx="2"/>
          </p:nvPr>
        </p:nvSpPr>
        <p:spPr>
          <a:xfrm>
            <a:off x="336757" y="6298845"/>
            <a:ext cx="1787517" cy="277991"/>
          </a:xfrm>
          <a:prstGeom prst="rect">
            <a:avLst/>
          </a:prstGeom>
        </p:spPr>
        <p:txBody>
          <a:bodyPr/>
          <a:lstStyle>
            <a:lvl1pPr algn="l">
              <a:defRPr sz="1200">
                <a:solidFill>
                  <a:schemeClr val="accent1"/>
                </a:solidFill>
              </a:defRPr>
            </a:lvl1pPr>
          </a:lstStyle>
          <a:p>
            <a:fld id="{378B8C6A-AF57-4293-8242-87CE7C71CA31}" type="datetime1">
              <a:rPr lang="fr-FR" smtClean="0"/>
              <a:t>27/11/2025</a:t>
            </a:fld>
            <a:endParaRPr lang="en-US"/>
          </a:p>
        </p:txBody>
      </p:sp>
    </p:spTree>
    <p:extLst>
      <p:ext uri="{BB962C8B-B14F-4D97-AF65-F5344CB8AC3E}">
        <p14:creationId xmlns:p14="http://schemas.microsoft.com/office/powerpoint/2010/main" val="1429408774"/>
      </p:ext>
    </p:extLst>
  </p:cSld>
  <p:clrMap bg1="lt1" tx1="dk1" bg2="lt2" tx2="dk2" accent1="accent1" accent2="accent2" accent3="accent3" accent4="accent4" accent5="accent5" accent6="accent6" hlink="hlink" folHlink="folHlink"/>
  <p:sldLayoutIdLst>
    <p:sldLayoutId id="2147483803" r:id="rId1"/>
    <p:sldLayoutId id="2147483832" r:id="rId2"/>
    <p:sldLayoutId id="2147483846" r:id="rId3"/>
    <p:sldLayoutId id="2147483745" r:id="rId4"/>
    <p:sldLayoutId id="2147483817" r:id="rId5"/>
    <p:sldLayoutId id="2147483764" r:id="rId6"/>
    <p:sldLayoutId id="2147483765" r:id="rId7"/>
    <p:sldLayoutId id="2147483869" r:id="rId8"/>
    <p:sldLayoutId id="2147483806" r:id="rId9"/>
    <p:sldLayoutId id="2147483841" r:id="rId10"/>
    <p:sldLayoutId id="2147483824" r:id="rId11"/>
    <p:sldLayoutId id="2147483805" r:id="rId12"/>
    <p:sldLayoutId id="2147483834" r:id="rId13"/>
    <p:sldLayoutId id="2147483836" r:id="rId14"/>
    <p:sldLayoutId id="2147483850" r:id="rId15"/>
    <p:sldLayoutId id="2147483831" r:id="rId16"/>
    <p:sldLayoutId id="2147483761" r:id="rId17"/>
    <p:sldLayoutId id="2147483829" r:id="rId18"/>
    <p:sldLayoutId id="2147483830" r:id="rId19"/>
    <p:sldLayoutId id="2147483819" r:id="rId20"/>
    <p:sldLayoutId id="2147483833" r:id="rId21"/>
    <p:sldLayoutId id="2147483835" r:id="rId22"/>
    <p:sldLayoutId id="2147483840" r:id="rId23"/>
    <p:sldLayoutId id="2147483815" r:id="rId24"/>
    <p:sldLayoutId id="2147483807" r:id="rId25"/>
    <p:sldLayoutId id="2147483823" r:id="rId26"/>
    <p:sldLayoutId id="2147483818" r:id="rId27"/>
    <p:sldLayoutId id="2147483822" r:id="rId28"/>
    <p:sldLayoutId id="2147483820" r:id="rId29"/>
    <p:sldLayoutId id="2147483845" r:id="rId30"/>
    <p:sldLayoutId id="2147483821" r:id="rId31"/>
    <p:sldLayoutId id="2147483842" r:id="rId32"/>
    <p:sldLayoutId id="2147483811" r:id="rId33"/>
    <p:sldLayoutId id="2147483812" r:id="rId34"/>
    <p:sldLayoutId id="2147483814" r:id="rId35"/>
    <p:sldLayoutId id="2147483762" r:id="rId36"/>
    <p:sldLayoutId id="2147483733" r:id="rId37"/>
    <p:sldLayoutId id="2147483860" r:id="rId38"/>
    <p:sldLayoutId id="2147483857" r:id="rId39"/>
    <p:sldLayoutId id="2147483856" r:id="rId40"/>
    <p:sldLayoutId id="2147483847" r:id="rId41"/>
    <p:sldLayoutId id="2147483863" r:id="rId42"/>
    <p:sldLayoutId id="2147483851" r:id="rId43"/>
    <p:sldLayoutId id="2147483837" r:id="rId44"/>
    <p:sldLayoutId id="2147483826" r:id="rId45"/>
    <p:sldLayoutId id="2147483866" r:id="rId46"/>
    <p:sldLayoutId id="2147483861" r:id="rId47"/>
    <p:sldLayoutId id="2147483849" r:id="rId48"/>
    <p:sldLayoutId id="2147483864" r:id="rId49"/>
    <p:sldLayoutId id="2147483852" r:id="rId50"/>
    <p:sldLayoutId id="2147483838" r:id="rId51"/>
    <p:sldLayoutId id="2147483859" r:id="rId52"/>
    <p:sldLayoutId id="2147483858" r:id="rId53"/>
    <p:sldLayoutId id="2147483828" r:id="rId54"/>
    <p:sldLayoutId id="2147483868" r:id="rId55"/>
    <p:sldLayoutId id="2147483862" r:id="rId56"/>
    <p:sldLayoutId id="2147483848" r:id="rId57"/>
    <p:sldLayoutId id="2147483865" r:id="rId58"/>
    <p:sldLayoutId id="2147483853" r:id="rId59"/>
    <p:sldLayoutId id="2147483839" r:id="rId60"/>
    <p:sldLayoutId id="2147483827" r:id="rId61"/>
    <p:sldLayoutId id="2147483855" r:id="rId62"/>
    <p:sldLayoutId id="2147483854" r:id="rId63"/>
    <p:sldLayoutId id="2147483867" r:id="rId64"/>
    <p:sldLayoutId id="2147483825" r:id="rId65"/>
  </p:sldLayoutIdLst>
  <p:hf hdr="0" ftr="0"/>
  <p:txStyles>
    <p:titleStyle>
      <a:lvl1pPr algn="l" defTabSz="914400" rtl="0" eaLnBrk="1" latinLnBrk="0" hangingPunct="1">
        <a:lnSpc>
          <a:spcPct val="90000"/>
        </a:lnSpc>
        <a:spcBef>
          <a:spcPct val="0"/>
        </a:spcBef>
        <a:buNone/>
        <a:defRPr sz="4400" kern="1200">
          <a:solidFill>
            <a:schemeClr val="tx1"/>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0" userDrawn="1">
          <p15:clr>
            <a:srgbClr val="F26B43"/>
          </p15:clr>
        </p15:guide>
        <p15:guide id="3" pos="415" userDrawn="1">
          <p15:clr>
            <a:srgbClr val="F26B43"/>
          </p15:clr>
        </p15:guide>
        <p15:guide id="4" pos="642" userDrawn="1">
          <p15:clr>
            <a:srgbClr val="F26B43"/>
          </p15:clr>
        </p15:guide>
        <p15:guide id="5" pos="846" userDrawn="1">
          <p15:clr>
            <a:srgbClr val="F26B43"/>
          </p15:clr>
        </p15:guide>
        <p15:guide id="6" pos="1073" userDrawn="1">
          <p15:clr>
            <a:srgbClr val="F26B43"/>
          </p15:clr>
        </p15:guide>
        <p15:guide id="7" pos="1277" userDrawn="1">
          <p15:clr>
            <a:srgbClr val="F26B43"/>
          </p15:clr>
        </p15:guide>
        <p15:guide id="8" pos="1481" userDrawn="1">
          <p15:clr>
            <a:srgbClr val="F26B43"/>
          </p15:clr>
        </p15:guide>
        <p15:guide id="9" pos="1708" userDrawn="1">
          <p15:clr>
            <a:srgbClr val="F26B43"/>
          </p15:clr>
        </p15:guide>
        <p15:guide id="10" pos="1912" userDrawn="1">
          <p15:clr>
            <a:srgbClr val="F26B43"/>
          </p15:clr>
        </p15:guide>
        <p15:guide id="11" pos="2139" userDrawn="1">
          <p15:clr>
            <a:srgbClr val="F26B43"/>
          </p15:clr>
        </p15:guide>
        <p15:guide id="12" pos="2343" userDrawn="1">
          <p15:clr>
            <a:srgbClr val="F26B43"/>
          </p15:clr>
        </p15:guide>
        <p15:guide id="13" pos="2570" userDrawn="1">
          <p15:clr>
            <a:srgbClr val="F26B43"/>
          </p15:clr>
        </p15:guide>
        <p15:guide id="14" pos="2774" userDrawn="1">
          <p15:clr>
            <a:srgbClr val="F26B43"/>
          </p15:clr>
        </p15:guide>
        <p15:guide id="15" pos="2978" userDrawn="1">
          <p15:clr>
            <a:srgbClr val="F26B43"/>
          </p15:clr>
        </p15:guide>
        <p15:guide id="16" pos="3205" userDrawn="1">
          <p15:clr>
            <a:srgbClr val="F26B43"/>
          </p15:clr>
        </p15:guide>
        <p15:guide id="17" pos="3409" userDrawn="1">
          <p15:clr>
            <a:srgbClr val="F26B43"/>
          </p15:clr>
        </p15:guide>
        <p15:guide id="18" pos="3636" userDrawn="1">
          <p15:clr>
            <a:srgbClr val="F26B43"/>
          </p15:clr>
        </p15:guide>
        <p15:guide id="19" pos="3840" userDrawn="1">
          <p15:clr>
            <a:srgbClr val="F26B43"/>
          </p15:clr>
        </p15:guide>
        <p15:guide id="20" pos="4067" userDrawn="1">
          <p15:clr>
            <a:srgbClr val="F26B43"/>
          </p15:clr>
        </p15:guide>
        <p15:guide id="21" pos="4271" userDrawn="1">
          <p15:clr>
            <a:srgbClr val="F26B43"/>
          </p15:clr>
        </p15:guide>
        <p15:guide id="22" pos="4475" userDrawn="1">
          <p15:clr>
            <a:srgbClr val="F26B43"/>
          </p15:clr>
        </p15:guide>
        <p15:guide id="23" pos="4702" userDrawn="1">
          <p15:clr>
            <a:srgbClr val="F26B43"/>
          </p15:clr>
        </p15:guide>
        <p15:guide id="24" pos="4906" userDrawn="1">
          <p15:clr>
            <a:srgbClr val="F26B43"/>
          </p15:clr>
        </p15:guide>
        <p15:guide id="25" pos="5110" userDrawn="1">
          <p15:clr>
            <a:srgbClr val="F26B43"/>
          </p15:clr>
        </p15:guide>
        <p15:guide id="26" pos="5337" userDrawn="1">
          <p15:clr>
            <a:srgbClr val="F26B43"/>
          </p15:clr>
        </p15:guide>
        <p15:guide id="27" pos="5541" userDrawn="1">
          <p15:clr>
            <a:srgbClr val="F26B43"/>
          </p15:clr>
        </p15:guide>
        <p15:guide id="28" pos="5768" userDrawn="1">
          <p15:clr>
            <a:srgbClr val="F26B43"/>
          </p15:clr>
        </p15:guide>
        <p15:guide id="29" pos="5972" userDrawn="1">
          <p15:clr>
            <a:srgbClr val="F26B43"/>
          </p15:clr>
        </p15:guide>
        <p15:guide id="30" pos="6199" userDrawn="1">
          <p15:clr>
            <a:srgbClr val="F26B43"/>
          </p15:clr>
        </p15:guide>
        <p15:guide id="31" pos="6403" userDrawn="1">
          <p15:clr>
            <a:srgbClr val="F26B43"/>
          </p15:clr>
        </p15:guide>
        <p15:guide id="32" pos="6630" userDrawn="1">
          <p15:clr>
            <a:srgbClr val="F26B43"/>
          </p15:clr>
        </p15:guide>
        <p15:guide id="33" pos="6834" userDrawn="1">
          <p15:clr>
            <a:srgbClr val="F26B43"/>
          </p15:clr>
        </p15:guide>
        <p15:guide id="34" pos="7038" userDrawn="1">
          <p15:clr>
            <a:srgbClr val="F26B43"/>
          </p15:clr>
        </p15:guide>
        <p15:guide id="35" pos="7242" userDrawn="1">
          <p15:clr>
            <a:srgbClr val="F26B43"/>
          </p15:clr>
        </p15:guide>
        <p15:guide id="36" pos="7469" userDrawn="1">
          <p15:clr>
            <a:srgbClr val="F26B43"/>
          </p15:clr>
        </p15:guide>
        <p15:guide id="37" orient="horz" pos="436" userDrawn="1">
          <p15:clr>
            <a:srgbClr val="F26B43"/>
          </p15:clr>
        </p15:guide>
        <p15:guide id="38" orient="horz" pos="640" userDrawn="1">
          <p15:clr>
            <a:srgbClr val="F26B43"/>
          </p15:clr>
        </p15:guide>
        <p15:guide id="39" orient="horz" pos="845" userDrawn="1">
          <p15:clr>
            <a:srgbClr val="F26B43"/>
          </p15:clr>
        </p15:guide>
        <p15:guide id="40" orient="horz" pos="1071" userDrawn="1">
          <p15:clr>
            <a:srgbClr val="F26B43"/>
          </p15:clr>
        </p15:guide>
        <p15:guide id="41" orient="horz" pos="1298" userDrawn="1">
          <p15:clr>
            <a:srgbClr val="F26B43"/>
          </p15:clr>
        </p15:guide>
        <p15:guide id="42" orient="horz" pos="1502" userDrawn="1">
          <p15:clr>
            <a:srgbClr val="F26B43"/>
          </p15:clr>
        </p15:guide>
        <p15:guide id="43" orient="horz" pos="1729" userDrawn="1">
          <p15:clr>
            <a:srgbClr val="F26B43"/>
          </p15:clr>
        </p15:guide>
        <p15:guide id="44" orient="horz" pos="1933" userDrawn="1">
          <p15:clr>
            <a:srgbClr val="F26B43"/>
          </p15:clr>
        </p15:guide>
        <p15:guide id="46" orient="horz" pos="2364" userDrawn="1">
          <p15:clr>
            <a:srgbClr val="F26B43"/>
          </p15:clr>
        </p15:guide>
        <p15:guide id="47" orient="horz" pos="2591" userDrawn="1">
          <p15:clr>
            <a:srgbClr val="F26B43"/>
          </p15:clr>
        </p15:guide>
        <p15:guide id="48" orient="horz" pos="2795" userDrawn="1">
          <p15:clr>
            <a:srgbClr val="F26B43"/>
          </p15:clr>
        </p15:guide>
        <p15:guide id="49" orient="horz" pos="3022" userDrawn="1">
          <p15:clr>
            <a:srgbClr val="F26B43"/>
          </p15:clr>
        </p15:guide>
        <p15:guide id="50" orient="horz" pos="3249" userDrawn="1">
          <p15:clr>
            <a:srgbClr val="F26B43"/>
          </p15:clr>
        </p15:guide>
        <p15:guide id="51" orient="horz" pos="3453" userDrawn="1">
          <p15:clr>
            <a:srgbClr val="F26B43"/>
          </p15:clr>
        </p15:guide>
        <p15:guide id="52" orient="horz" pos="3657" userDrawn="1">
          <p15:clr>
            <a:srgbClr val="F26B43"/>
          </p15:clr>
        </p15:guide>
        <p15:guide id="53" orient="horz" pos="3884" userDrawn="1">
          <p15:clr>
            <a:srgbClr val="F26B43"/>
          </p15:clr>
        </p15:guide>
        <p15:guide id="54" orient="horz" pos="4110" userDrawn="1">
          <p15:clr>
            <a:srgbClr val="F26B43"/>
          </p15:clr>
        </p15:guide>
        <p15:guide id="55" pos="211" userDrawn="1">
          <p15:clr>
            <a:srgbClr val="F26B43"/>
          </p15:clr>
        </p15:guide>
        <p15:guide id="56"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8" Type="http://schemas.openxmlformats.org/officeDocument/2006/relationships/slide" Target="slide51.xml"/><Relationship Id="rId3" Type="http://schemas.openxmlformats.org/officeDocument/2006/relationships/slide" Target="slide4.xml"/><Relationship Id="rId7" Type="http://schemas.openxmlformats.org/officeDocument/2006/relationships/slide" Target="slide38.xml"/><Relationship Id="rId2" Type="http://schemas.openxmlformats.org/officeDocument/2006/relationships/slide" Target="slide2.xml"/><Relationship Id="rId1" Type="http://schemas.openxmlformats.org/officeDocument/2006/relationships/slideLayout" Target="../slideLayouts/slideLayout8.xml"/><Relationship Id="rId6" Type="http://schemas.openxmlformats.org/officeDocument/2006/relationships/slide" Target="slide25.xml"/><Relationship Id="rId5" Type="http://schemas.openxmlformats.org/officeDocument/2006/relationships/slide" Target="slide8.xml"/><Relationship Id="rId10" Type="http://schemas.openxmlformats.org/officeDocument/2006/relationships/slide" Target="slide71.xml"/><Relationship Id="rId4" Type="http://schemas.openxmlformats.org/officeDocument/2006/relationships/slide" Target="slide5.xml"/><Relationship Id="rId9" Type="http://schemas.openxmlformats.org/officeDocument/2006/relationships/slide" Target="slide6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41.xml"/></Relationships>
</file>

<file path=ppt/slides/_rels/slide1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41.xml"/></Relationships>
</file>

<file path=ppt/slides/_rels/slide1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41.xml"/></Relationships>
</file>

<file path=ppt/slides/_rels/slide1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41.xml"/></Relationships>
</file>

<file path=ppt/slides/_rels/slide1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41.xml"/></Relationships>
</file>

<file path=ppt/slides/_rels/slide16.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image" Target="../media/image64.png"/><Relationship Id="rId1" Type="http://schemas.openxmlformats.org/officeDocument/2006/relationships/slideLayout" Target="../slideLayouts/slideLayout4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17.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image" Target="../media/image70.png"/><Relationship Id="rId1" Type="http://schemas.openxmlformats.org/officeDocument/2006/relationships/slideLayout" Target="../slideLayouts/slideLayout41.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2.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41.xml"/></Relationships>
</file>

<file path=ppt/slides/_rels/slide23.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41.xml"/></Relationships>
</file>

<file path=ppt/slides/_rels/slide24.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4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xml"/><Relationship Id="rId1" Type="http://schemas.openxmlformats.org/officeDocument/2006/relationships/slideLayout" Target="../slideLayouts/slideLayout57.xml"/></Relationships>
</file>

<file path=ppt/slides/_rels/slide2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57.xml"/></Relationships>
</file>

<file path=ppt/slides/_rels/slide28.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57.xml"/></Relationships>
</file>

<file path=ppt/slides/_rels/slide2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57.xml"/></Relationships>
</file>

<file path=ppt/slides/_rels/slide30.xml.rels><?xml version="1.0" encoding="UTF-8" standalone="yes"?>
<Relationships xmlns="http://schemas.openxmlformats.org/package/2006/relationships"><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image" Target="../media/image82.png"/><Relationship Id="rId1" Type="http://schemas.openxmlformats.org/officeDocument/2006/relationships/slideLayout" Target="../slideLayouts/slideLayout57.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31.xml.rels><?xml version="1.0" encoding="UTF-8" standalone="yes"?>
<Relationships xmlns="http://schemas.openxmlformats.org/package/2006/relationships"><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image" Target="../media/image88.png"/><Relationship Id="rId1" Type="http://schemas.openxmlformats.org/officeDocument/2006/relationships/slideLayout" Target="../slideLayouts/slideLayout57.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36.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57.xml"/></Relationships>
</file>

<file path=ppt/slides/_rels/slide37.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5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image" Target="../media/image99.png"/><Relationship Id="rId1" Type="http://schemas.openxmlformats.org/officeDocument/2006/relationships/slideLayout" Target="../slideLayouts/slideLayout9.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_rels/slide44.xml.rels><?xml version="1.0" encoding="UTF-8" standalone="yes"?>
<Relationships xmlns="http://schemas.openxmlformats.org/package/2006/relationships"><Relationship Id="rId3" Type="http://schemas.openxmlformats.org/officeDocument/2006/relationships/image" Target="../media/image106.png"/><Relationship Id="rId7" Type="http://schemas.openxmlformats.org/officeDocument/2006/relationships/image" Target="../media/image110.png"/><Relationship Id="rId2" Type="http://schemas.openxmlformats.org/officeDocument/2006/relationships/image" Target="../media/image105.png"/><Relationship Id="rId1" Type="http://schemas.openxmlformats.org/officeDocument/2006/relationships/slideLayout" Target="../slideLayouts/slideLayout9.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52.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48.xml"/></Relationships>
</file>

<file path=ppt/slides/_rels/slide53.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48.xml"/></Relationships>
</file>

<file path=ppt/slides/_rels/slide54.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48.xml"/></Relationships>
</file>

<file path=ppt/slides/_rels/slide55.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48.xml"/></Relationships>
</file>

<file path=ppt/slides/_rels/slide56.xml.rels><?xml version="1.0" encoding="UTF-8" standalone="yes"?>
<Relationships xmlns="http://schemas.openxmlformats.org/package/2006/relationships"><Relationship Id="rId3" Type="http://schemas.openxmlformats.org/officeDocument/2006/relationships/image" Target="../media/image117.png"/><Relationship Id="rId7" Type="http://schemas.openxmlformats.org/officeDocument/2006/relationships/image" Target="../media/image121.png"/><Relationship Id="rId2" Type="http://schemas.openxmlformats.org/officeDocument/2006/relationships/image" Target="../media/image116.png"/><Relationship Id="rId1" Type="http://schemas.openxmlformats.org/officeDocument/2006/relationships/slideLayout" Target="../slideLayouts/slideLayout48.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s>
</file>

<file path=ppt/slides/_rels/slide57.xml.rels><?xml version="1.0" encoding="UTF-8" standalone="yes"?>
<Relationships xmlns="http://schemas.openxmlformats.org/package/2006/relationships"><Relationship Id="rId3" Type="http://schemas.openxmlformats.org/officeDocument/2006/relationships/image" Target="../media/image123.png"/><Relationship Id="rId7" Type="http://schemas.openxmlformats.org/officeDocument/2006/relationships/image" Target="../media/image127.png"/><Relationship Id="rId2" Type="http://schemas.openxmlformats.org/officeDocument/2006/relationships/image" Target="../media/image122.png"/><Relationship Id="rId1" Type="http://schemas.openxmlformats.org/officeDocument/2006/relationships/slideLayout" Target="../slideLayouts/slideLayout48.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62.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48.xml"/></Relationships>
</file>

<file path=ppt/slides/_rels/slide63.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4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5.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41.xml"/></Relationships>
</file>

<file path=ppt/slides/_rels/slide66.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41.xml"/></Relationships>
</file>

<file path=ppt/slides/_rels/slide67.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4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69.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4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8.xml"/><Relationship Id="rId6" Type="http://schemas.openxmlformats.org/officeDocument/2006/relationships/image" Target="../media/image137.svg"/><Relationship Id="rId5" Type="http://schemas.openxmlformats.org/officeDocument/2006/relationships/image" Target="../media/image136.png"/><Relationship Id="rId4" Type="http://schemas.openxmlformats.org/officeDocument/2006/relationships/image" Target="../media/image135.svg"/></Relationships>
</file>

<file path=ppt/slides/_rels/slide73.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6748173-35B1-4802-933A-B78A9B6DBB62}"/>
              </a:ext>
            </a:extLst>
          </p:cNvPr>
          <p:cNvSpPr>
            <a:spLocks noGrp="1"/>
          </p:cNvSpPr>
          <p:nvPr>
            <p:ph type="title"/>
          </p:nvPr>
        </p:nvSpPr>
        <p:spPr/>
        <p:txBody>
          <a:bodyPr/>
          <a:lstStyle/>
          <a:p>
            <a:r>
              <a:rPr lang="fr-FR" sz="3200"/>
              <a:t>NPS PROGRAM</a:t>
            </a:r>
            <a:br>
              <a:rPr lang="fr-FR" sz="3200"/>
            </a:br>
            <a:r>
              <a:rPr lang="fr-FR" sz="2000"/>
              <a:t>FINAL RESULTS FY25 REVIEW</a:t>
            </a:r>
            <a:br>
              <a:rPr lang="fr-FR" sz="2000"/>
            </a:br>
            <a:r>
              <a:rPr lang="fr-FR" sz="2000"/>
              <a:t>(post </a:t>
            </a:r>
            <a:r>
              <a:rPr lang="fr-FR" sz="2000" err="1"/>
              <a:t>stay</a:t>
            </a:r>
            <a:r>
              <a:rPr lang="fr-FR" sz="2000"/>
              <a:t> satisfaction </a:t>
            </a:r>
            <a:r>
              <a:rPr lang="fr-FR" sz="2000" err="1"/>
              <a:t>survey</a:t>
            </a:r>
            <a:r>
              <a:rPr lang="fr-FR" sz="2000"/>
              <a:t>)</a:t>
            </a:r>
            <a:endParaRPr lang="fr-FR" sz="3200"/>
          </a:p>
        </p:txBody>
      </p:sp>
      <p:sp>
        <p:nvSpPr>
          <p:cNvPr id="3" name="Date Placeholder 2">
            <a:extLst>
              <a:ext uri="{FF2B5EF4-FFF2-40B4-BE49-F238E27FC236}">
                <a16:creationId xmlns:a16="http://schemas.microsoft.com/office/drawing/2014/main" id="{FCE378F3-F42A-4888-A0E5-EE13E29B66E5}"/>
              </a:ext>
            </a:extLst>
          </p:cNvPr>
          <p:cNvSpPr>
            <a:spLocks noGrp="1"/>
          </p:cNvSpPr>
          <p:nvPr>
            <p:ph type="dt" sz="half" idx="10"/>
          </p:nvPr>
        </p:nvSpPr>
        <p:spPr/>
        <p:txBody>
          <a:bodyPr/>
          <a:lstStyle/>
          <a:p>
            <a:fld id="{67D71382-9BDB-4375-9C18-8F89B4E8CC25}" type="datetime1">
              <a:rPr lang="fr-FR" smtClean="0"/>
              <a:pPr/>
              <a:t>27/11/2025</a:t>
            </a:fld>
            <a:endParaRPr lang="en-US"/>
          </a:p>
        </p:txBody>
      </p:sp>
      <p:sp>
        <p:nvSpPr>
          <p:cNvPr id="7" name="Text Placeholder 6">
            <a:extLst>
              <a:ext uri="{FF2B5EF4-FFF2-40B4-BE49-F238E27FC236}">
                <a16:creationId xmlns:a16="http://schemas.microsoft.com/office/drawing/2014/main" id="{40A43683-A2F0-406C-9A84-CF8393BC32A9}"/>
              </a:ext>
            </a:extLst>
          </p:cNvPr>
          <p:cNvSpPr>
            <a:spLocks noGrp="1"/>
          </p:cNvSpPr>
          <p:nvPr>
            <p:ph type="body" sz="quarter" idx="11"/>
          </p:nvPr>
        </p:nvSpPr>
        <p:spPr/>
        <p:txBody>
          <a:bodyPr/>
          <a:lstStyle/>
          <a:p>
            <a:r>
              <a:rPr lang="fr-FR"/>
              <a:t>Product Intelligence</a:t>
            </a:r>
          </a:p>
        </p:txBody>
      </p:sp>
    </p:spTree>
    <p:extLst>
      <p:ext uri="{BB962C8B-B14F-4D97-AF65-F5344CB8AC3E}">
        <p14:creationId xmlns:p14="http://schemas.microsoft.com/office/powerpoint/2010/main" val="228167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CF77E5-092D-2A02-7503-852340A8EF2F}"/>
              </a:ext>
            </a:extLst>
          </p:cNvPr>
          <p:cNvSpPr>
            <a:spLocks noGrp="1"/>
          </p:cNvSpPr>
          <p:nvPr>
            <p:ph type="sldNum" sz="quarter" idx="12"/>
          </p:nvPr>
        </p:nvSpPr>
        <p:spPr/>
        <p:txBody>
          <a:bodyPr/>
          <a:lstStyle/>
          <a:p>
            <a:fld id="{0D2E6A04-B99A-6C4D-8942-945F97C9E705}" type="slidenum">
              <a:rPr lang="en-US" smtClean="0"/>
              <a:pPr/>
              <a:t>2</a:t>
            </a:fld>
            <a:endParaRPr lang="en-US"/>
          </a:p>
        </p:txBody>
      </p:sp>
      <p:sp>
        <p:nvSpPr>
          <p:cNvPr id="3" name="Date Placeholder 2">
            <a:extLst>
              <a:ext uri="{FF2B5EF4-FFF2-40B4-BE49-F238E27FC236}">
                <a16:creationId xmlns:a16="http://schemas.microsoft.com/office/drawing/2014/main" id="{046EE2BF-782D-5FF5-1A97-2E8E48B7772F}"/>
              </a:ext>
            </a:extLst>
          </p:cNvPr>
          <p:cNvSpPr>
            <a:spLocks noGrp="1"/>
          </p:cNvSpPr>
          <p:nvPr>
            <p:ph type="dt" sz="half" idx="10"/>
          </p:nvPr>
        </p:nvSpPr>
        <p:spPr/>
        <p:txBody>
          <a:bodyPr/>
          <a:lstStyle/>
          <a:p>
            <a:fld id="{05C20A28-4BAC-4477-9026-1E123DBFBC43}" type="datetime1">
              <a:rPr lang="fr-FR" smtClean="0"/>
              <a:t>27/11/2025</a:t>
            </a:fld>
            <a:endParaRPr lang="en-US"/>
          </a:p>
        </p:txBody>
      </p:sp>
      <p:sp>
        <p:nvSpPr>
          <p:cNvPr id="4" name="Content Placeholder 3">
            <a:extLst>
              <a:ext uri="{FF2B5EF4-FFF2-40B4-BE49-F238E27FC236}">
                <a16:creationId xmlns:a16="http://schemas.microsoft.com/office/drawing/2014/main" id="{9199BB87-3A1F-6954-513E-095A625A9290}"/>
              </a:ext>
            </a:extLst>
          </p:cNvPr>
          <p:cNvSpPr>
            <a:spLocks noGrp="1"/>
          </p:cNvSpPr>
          <p:nvPr>
            <p:ph sz="quarter" idx="13"/>
          </p:nvPr>
        </p:nvSpPr>
        <p:spPr>
          <a:xfrm>
            <a:off x="336758" y="1096479"/>
            <a:ext cx="11521614" cy="4882681"/>
          </a:xfrm>
        </p:spPr>
        <p:txBody>
          <a:bodyPr numCol="2" spcCol="360000"/>
          <a:lstStyle/>
          <a:p>
            <a:pPr>
              <a:spcBef>
                <a:spcPts val="1200"/>
              </a:spcBef>
            </a:pPr>
            <a:r>
              <a:rPr lang="en-US" sz="1100" b="1" u="sng">
                <a:solidFill>
                  <a:schemeClr val="tx1"/>
                </a:solidFill>
                <a:highlight>
                  <a:srgbClr val="B2EDA7"/>
                </a:highlight>
                <a:ea typeface="Calibri"/>
                <a:cs typeface="Calibri"/>
              </a:rPr>
              <a:t>Survey health check : </a:t>
            </a:r>
          </a:p>
          <a:p>
            <a:pPr marL="542925" lvl="1" indent="-171450">
              <a:buFont typeface="Arial" panose="020B0604020202020204" pitchFamily="34" charset="0"/>
              <a:buChar char="•"/>
            </a:pPr>
            <a:r>
              <a:rPr lang="en-US" sz="1000">
                <a:ea typeface="Calibri"/>
                <a:cs typeface="Calibri"/>
              </a:rPr>
              <a:t>985 715 invitation sent (+ 30 364 vs </a:t>
            </a:r>
            <a:r>
              <a:rPr lang="en-US" sz="1000" err="1">
                <a:ea typeface="Calibri"/>
                <a:cs typeface="Calibri"/>
              </a:rPr>
              <a:t>ly</a:t>
            </a:r>
            <a:r>
              <a:rPr lang="en-US" sz="1000">
                <a:ea typeface="Calibri"/>
                <a:cs typeface="Calibri"/>
              </a:rPr>
              <a:t>).</a:t>
            </a:r>
          </a:p>
          <a:p>
            <a:pPr marL="542925" lvl="1" indent="-171450">
              <a:buFont typeface="Arial" panose="020B0604020202020204" pitchFamily="34" charset="0"/>
              <a:buChar char="•"/>
            </a:pPr>
            <a:r>
              <a:rPr lang="en-US" sz="1000">
                <a:ea typeface="Calibri"/>
                <a:cs typeface="Calibri"/>
              </a:rPr>
              <a:t>Email opening rate ↗ 6pts (69%), Click-through rate ↘ 2,8pts (34%).</a:t>
            </a:r>
          </a:p>
          <a:p>
            <a:pPr marL="542925" lvl="1" indent="-171450">
              <a:buFont typeface="Arial" panose="020B0604020202020204" pitchFamily="34" charset="0"/>
              <a:buChar char="•"/>
            </a:pPr>
            <a:r>
              <a:rPr lang="en-US" sz="1000">
                <a:ea typeface="Calibri"/>
                <a:cs typeface="Calibri"/>
              </a:rPr>
              <a:t>Survey return rate ↘ 2,5pts (30%), = 296K respondents, -3% vs </a:t>
            </a:r>
            <a:r>
              <a:rPr lang="en-US" sz="1000" err="1">
                <a:ea typeface="Calibri"/>
                <a:cs typeface="Calibri"/>
              </a:rPr>
              <a:t>ly</a:t>
            </a:r>
            <a:r>
              <a:rPr lang="en-US" sz="1000">
                <a:ea typeface="Calibri"/>
                <a:cs typeface="Calibri"/>
              </a:rPr>
              <a:t>.</a:t>
            </a:r>
          </a:p>
          <a:p>
            <a:pPr marL="542925" lvl="1" indent="-171450">
              <a:buFont typeface="Arial" panose="020B0604020202020204" pitchFamily="34" charset="0"/>
              <a:buChar char="•"/>
            </a:pPr>
            <a:r>
              <a:rPr lang="en-US" sz="1000">
                <a:ea typeface="Calibri"/>
                <a:cs typeface="Calibri"/>
              </a:rPr>
              <a:t>Survey abandonment rate is flat with 11,7%.</a:t>
            </a:r>
            <a:endParaRPr lang="en-US" sz="1100" b="1">
              <a:solidFill>
                <a:schemeClr val="tx1"/>
              </a:solidFill>
              <a:ea typeface="Calibri"/>
              <a:cs typeface="Calibri"/>
            </a:endParaRPr>
          </a:p>
          <a:p>
            <a:pPr>
              <a:spcBef>
                <a:spcPts val="1200"/>
              </a:spcBef>
            </a:pPr>
            <a:r>
              <a:rPr lang="en-US" sz="1100" b="1" u="sng">
                <a:solidFill>
                  <a:schemeClr val="tx1"/>
                </a:solidFill>
                <a:highlight>
                  <a:srgbClr val="B2EDA7"/>
                </a:highlight>
                <a:ea typeface="Calibri"/>
                <a:cs typeface="Calibri"/>
              </a:rPr>
              <a:t>NPS CPSP FY25= 20,5</a:t>
            </a:r>
            <a:r>
              <a:rPr lang="en-US" sz="1100" u="sng">
                <a:solidFill>
                  <a:schemeClr val="tx1"/>
                </a:solidFill>
                <a:highlight>
                  <a:srgbClr val="B2EDA7"/>
                </a:highlight>
                <a:ea typeface="Calibri"/>
                <a:cs typeface="Calibri"/>
              </a:rPr>
              <a:t>, and improved </a:t>
            </a:r>
            <a:r>
              <a:rPr lang="en-US" sz="1100" b="1" u="sng">
                <a:solidFill>
                  <a:schemeClr val="tx1"/>
                </a:solidFill>
                <a:highlight>
                  <a:srgbClr val="B2EDA7"/>
                </a:highlight>
                <a:ea typeface="Calibri"/>
                <a:cs typeface="Calibri"/>
              </a:rPr>
              <a:t>+6 pts vs </a:t>
            </a:r>
            <a:r>
              <a:rPr lang="en-US" sz="1100" b="1" u="sng" err="1">
                <a:solidFill>
                  <a:schemeClr val="tx1"/>
                </a:solidFill>
                <a:highlight>
                  <a:srgbClr val="B2EDA7"/>
                </a:highlight>
                <a:ea typeface="Calibri"/>
                <a:cs typeface="Calibri"/>
              </a:rPr>
              <a:t>ly</a:t>
            </a:r>
            <a:r>
              <a:rPr lang="en-US" sz="1100" b="1" u="sng">
                <a:solidFill>
                  <a:schemeClr val="tx1"/>
                </a:solidFill>
                <a:highlight>
                  <a:srgbClr val="B2EDA7"/>
                </a:highlight>
                <a:ea typeface="Calibri"/>
                <a:cs typeface="Calibri"/>
              </a:rPr>
              <a:t> </a:t>
            </a:r>
          </a:p>
          <a:p>
            <a:pPr marL="447675" lvl="1" indent="-171450">
              <a:buFont typeface="Arial" panose="020B0604020202020204" pitchFamily="34" charset="0"/>
              <a:buChar char="•"/>
            </a:pPr>
            <a:r>
              <a:rPr lang="en-US" sz="1000">
                <a:ea typeface="Calibri"/>
                <a:cs typeface="Calibri"/>
              </a:rPr>
              <a:t>↗ in</a:t>
            </a:r>
            <a:r>
              <a:rPr lang="en-US" sz="1000">
                <a:solidFill>
                  <a:schemeClr val="tx1"/>
                </a:solidFill>
                <a:ea typeface="Calibri"/>
                <a:cs typeface="Calibri"/>
              </a:rPr>
              <a:t> all countries, all parks and all guest segmentation (trialist, origin, villa type…) vs </a:t>
            </a:r>
            <a:r>
              <a:rPr lang="en-US" sz="1000" err="1">
                <a:solidFill>
                  <a:schemeClr val="tx1"/>
                </a:solidFill>
                <a:ea typeface="Calibri"/>
                <a:cs typeface="Calibri"/>
              </a:rPr>
              <a:t>ly</a:t>
            </a:r>
            <a:r>
              <a:rPr lang="en-US" sz="1000">
                <a:solidFill>
                  <a:schemeClr val="tx1"/>
                </a:solidFill>
                <a:ea typeface="Calibri"/>
                <a:cs typeface="Calibri"/>
              </a:rPr>
              <a:t>. </a:t>
            </a:r>
          </a:p>
          <a:p>
            <a:pPr marL="447675" lvl="1" indent="-171450">
              <a:buFont typeface="Arial" panose="020B0604020202020204" pitchFamily="34" charset="0"/>
              <a:buChar char="•"/>
            </a:pPr>
            <a:r>
              <a:rPr lang="en-US" sz="1000">
                <a:solidFill>
                  <a:schemeClr val="tx1"/>
                </a:solidFill>
                <a:ea typeface="Calibri"/>
                <a:cs typeface="Calibri"/>
              </a:rPr>
              <a:t>Some exception on guest segmentation can be investigated on park level.</a:t>
            </a:r>
          </a:p>
          <a:p>
            <a:pPr marL="447675" lvl="1" indent="-171450">
              <a:buFont typeface="Arial" panose="020B0604020202020204" pitchFamily="34" charset="0"/>
              <a:buChar char="•"/>
            </a:pPr>
            <a:r>
              <a:rPr lang="en-US" sz="1000">
                <a:solidFill>
                  <a:schemeClr val="tx1"/>
                </a:solidFill>
                <a:ea typeface="Calibri"/>
                <a:cs typeface="Calibri"/>
              </a:rPr>
              <a:t>Continuous improvement of monthly NPS vs. N-1.</a:t>
            </a:r>
          </a:p>
          <a:p>
            <a:pPr marL="447675" lvl="1" indent="-171450">
              <a:buFont typeface="Arial" panose="020B0604020202020204" pitchFamily="34" charset="0"/>
              <a:buChar char="•"/>
            </a:pPr>
            <a:r>
              <a:rPr lang="en-US" sz="1000">
                <a:solidFill>
                  <a:schemeClr val="tx1"/>
                </a:solidFill>
                <a:ea typeface="Calibri"/>
                <a:cs typeface="Calibri"/>
              </a:rPr>
              <a:t>Only </a:t>
            </a:r>
            <a:r>
              <a:rPr lang="en-US" sz="1000" err="1">
                <a:solidFill>
                  <a:schemeClr val="tx1"/>
                </a:solidFill>
                <a:ea typeface="Calibri"/>
                <a:cs typeface="Calibri"/>
              </a:rPr>
              <a:t>Sunparks</a:t>
            </a:r>
            <a:r>
              <a:rPr lang="en-US" sz="1000">
                <a:solidFill>
                  <a:schemeClr val="tx1"/>
                </a:solidFill>
                <a:ea typeface="Calibri"/>
                <a:cs typeface="Calibri"/>
              </a:rPr>
              <a:t> decreased vs </a:t>
            </a:r>
            <a:r>
              <a:rPr lang="en-US" sz="1000" err="1">
                <a:solidFill>
                  <a:schemeClr val="tx1"/>
                </a:solidFill>
                <a:ea typeface="Calibri"/>
                <a:cs typeface="Calibri"/>
              </a:rPr>
              <a:t>ly</a:t>
            </a:r>
            <a:r>
              <a:rPr lang="en-US" sz="1000">
                <a:ea typeface="Calibri"/>
                <a:cs typeface="Calibri"/>
              </a:rPr>
              <a:t> and NPS is still &lt;0.</a:t>
            </a:r>
            <a:endParaRPr lang="fr-FR" sz="1100">
              <a:solidFill>
                <a:schemeClr val="tx1"/>
              </a:solidFill>
              <a:ea typeface="Calibri"/>
              <a:cs typeface="Calibri"/>
            </a:endParaRPr>
          </a:p>
          <a:p>
            <a:pPr>
              <a:spcBef>
                <a:spcPts val="1200"/>
              </a:spcBef>
            </a:pPr>
            <a:r>
              <a:rPr lang="en-US" sz="1100" b="1" u="sng">
                <a:solidFill>
                  <a:schemeClr val="tx1"/>
                </a:solidFill>
                <a:highlight>
                  <a:srgbClr val="B2EDA7"/>
                </a:highlight>
                <a:ea typeface="Calibri"/>
                <a:cs typeface="Calibri"/>
              </a:rPr>
              <a:t>Country ranking:</a:t>
            </a:r>
          </a:p>
          <a:p>
            <a:pPr marL="447675" lvl="1">
              <a:buFont typeface="+mj-lt"/>
              <a:buAutoNum type="arabicPeriod"/>
            </a:pPr>
            <a:r>
              <a:rPr lang="fr-FR" sz="1000" b="1" err="1">
                <a:ea typeface="Calibri"/>
                <a:cs typeface="Calibri"/>
              </a:rPr>
              <a:t>Denmark</a:t>
            </a:r>
            <a:r>
              <a:rPr lang="fr-FR" sz="1000">
                <a:ea typeface="Calibri"/>
                <a:cs typeface="Calibri"/>
              </a:rPr>
              <a:t> (NPS=</a:t>
            </a:r>
            <a:r>
              <a:rPr lang="fr-FR" sz="1000" b="1">
                <a:ea typeface="Calibri"/>
                <a:cs typeface="Calibri"/>
              </a:rPr>
              <a:t>30,3</a:t>
            </a:r>
            <a:r>
              <a:rPr lang="fr-FR" sz="1000">
                <a:ea typeface="Calibri"/>
                <a:cs typeface="Calibri"/>
              </a:rPr>
              <a:t>)</a:t>
            </a:r>
          </a:p>
          <a:p>
            <a:pPr marL="447675" lvl="1">
              <a:buFont typeface="+mj-lt"/>
              <a:buAutoNum type="arabicPeriod"/>
            </a:pPr>
            <a:r>
              <a:rPr lang="fr-FR" sz="1000" b="1">
                <a:ea typeface="Calibri"/>
                <a:cs typeface="Calibri"/>
              </a:rPr>
              <a:t>Belgium</a:t>
            </a:r>
            <a:r>
              <a:rPr lang="fr-FR" sz="1000">
                <a:ea typeface="Calibri"/>
                <a:cs typeface="Calibri"/>
              </a:rPr>
              <a:t> (NPS=</a:t>
            </a:r>
            <a:r>
              <a:rPr lang="fr-FR" sz="1000" b="1">
                <a:ea typeface="Calibri"/>
                <a:cs typeface="Calibri"/>
              </a:rPr>
              <a:t>30,2</a:t>
            </a:r>
            <a:r>
              <a:rPr lang="fr-FR" sz="1000">
                <a:ea typeface="Calibri"/>
                <a:cs typeface="Calibri"/>
              </a:rPr>
              <a:t> ; +5,3 pts vs </a:t>
            </a:r>
            <a:r>
              <a:rPr lang="fr-FR" sz="1000" err="1">
                <a:ea typeface="Calibri"/>
                <a:cs typeface="Calibri"/>
              </a:rPr>
              <a:t>ly</a:t>
            </a:r>
            <a:r>
              <a:rPr lang="fr-FR" sz="1000">
                <a:ea typeface="Calibri"/>
                <a:cs typeface="Calibri"/>
              </a:rPr>
              <a:t>)</a:t>
            </a:r>
          </a:p>
          <a:p>
            <a:pPr marL="447675" lvl="1">
              <a:buFont typeface="+mj-lt"/>
              <a:buAutoNum type="arabicPeriod"/>
            </a:pPr>
            <a:r>
              <a:rPr lang="fr-FR" sz="1000" b="1">
                <a:ea typeface="Calibri"/>
                <a:cs typeface="Calibri"/>
              </a:rPr>
              <a:t>France</a:t>
            </a:r>
            <a:r>
              <a:rPr lang="fr-FR" sz="1000">
                <a:ea typeface="Calibri"/>
                <a:cs typeface="Calibri"/>
              </a:rPr>
              <a:t> (NPS=</a:t>
            </a:r>
            <a:r>
              <a:rPr lang="fr-FR" sz="1000" b="1">
                <a:ea typeface="Calibri"/>
                <a:cs typeface="Calibri"/>
              </a:rPr>
              <a:t>22</a:t>
            </a:r>
            <a:r>
              <a:rPr lang="fr-FR" sz="1000">
                <a:ea typeface="Calibri"/>
                <a:cs typeface="Calibri"/>
              </a:rPr>
              <a:t> ; +6,6 pts vs </a:t>
            </a:r>
            <a:r>
              <a:rPr lang="fr-FR" sz="1000" err="1">
                <a:ea typeface="Calibri"/>
                <a:cs typeface="Calibri"/>
              </a:rPr>
              <a:t>ly</a:t>
            </a:r>
            <a:r>
              <a:rPr lang="fr-FR" sz="1000">
                <a:ea typeface="Calibri"/>
                <a:cs typeface="Calibri"/>
              </a:rPr>
              <a:t>)</a:t>
            </a:r>
          </a:p>
          <a:p>
            <a:pPr marL="447675" lvl="1">
              <a:buFont typeface="+mj-lt"/>
              <a:buAutoNum type="arabicPeriod"/>
            </a:pPr>
            <a:r>
              <a:rPr lang="fr-FR" sz="1000" b="1">
                <a:ea typeface="Calibri"/>
                <a:cs typeface="Calibri"/>
              </a:rPr>
              <a:t>Germany</a:t>
            </a:r>
            <a:r>
              <a:rPr lang="fr-FR" sz="1000">
                <a:ea typeface="Calibri"/>
                <a:cs typeface="Calibri"/>
              </a:rPr>
              <a:t> (NPS=</a:t>
            </a:r>
            <a:r>
              <a:rPr lang="fr-FR" sz="1000" b="1">
                <a:ea typeface="Calibri"/>
                <a:cs typeface="Calibri"/>
              </a:rPr>
              <a:t>20,7</a:t>
            </a:r>
            <a:r>
              <a:rPr lang="fr-FR" sz="1000">
                <a:ea typeface="Calibri"/>
                <a:cs typeface="Calibri"/>
              </a:rPr>
              <a:t> ; +6 pts vs </a:t>
            </a:r>
            <a:r>
              <a:rPr lang="fr-FR" sz="1000" err="1">
                <a:ea typeface="Calibri"/>
                <a:cs typeface="Calibri"/>
              </a:rPr>
              <a:t>ly</a:t>
            </a:r>
            <a:r>
              <a:rPr lang="fr-FR" sz="1000">
                <a:ea typeface="Calibri"/>
                <a:cs typeface="Calibri"/>
              </a:rPr>
              <a:t>)</a:t>
            </a:r>
          </a:p>
          <a:p>
            <a:pPr marL="447675" lvl="1">
              <a:buFont typeface="+mj-lt"/>
              <a:buAutoNum type="arabicPeriod"/>
            </a:pPr>
            <a:r>
              <a:rPr lang="fr-FR" sz="1000" b="1">
                <a:ea typeface="Calibri"/>
                <a:cs typeface="Calibri"/>
              </a:rPr>
              <a:t>Netherlands</a:t>
            </a:r>
            <a:r>
              <a:rPr lang="fr-FR" sz="1000">
                <a:ea typeface="Calibri"/>
                <a:cs typeface="Calibri"/>
              </a:rPr>
              <a:t> (NPS=</a:t>
            </a:r>
            <a:r>
              <a:rPr lang="fr-FR" sz="1000" b="1">
                <a:ea typeface="Calibri"/>
                <a:cs typeface="Calibri"/>
              </a:rPr>
              <a:t>18,1</a:t>
            </a:r>
            <a:r>
              <a:rPr lang="fr-FR" sz="1000">
                <a:ea typeface="Calibri"/>
                <a:cs typeface="Calibri"/>
              </a:rPr>
              <a:t> ; +6,8 pts vs </a:t>
            </a:r>
            <a:r>
              <a:rPr lang="fr-FR" sz="1000" err="1">
                <a:ea typeface="Calibri"/>
                <a:cs typeface="Calibri"/>
              </a:rPr>
              <a:t>ly</a:t>
            </a:r>
            <a:r>
              <a:rPr lang="fr-FR" sz="1000">
                <a:ea typeface="Calibri"/>
                <a:cs typeface="Calibri"/>
              </a:rPr>
              <a:t>)</a:t>
            </a:r>
            <a:endParaRPr lang="fr-FR" sz="1100" b="1">
              <a:solidFill>
                <a:schemeClr val="tx1"/>
              </a:solidFill>
              <a:ea typeface="Calibri"/>
              <a:cs typeface="Calibri"/>
            </a:endParaRPr>
          </a:p>
          <a:p>
            <a:pPr>
              <a:spcBef>
                <a:spcPts val="1200"/>
              </a:spcBef>
            </a:pPr>
            <a:r>
              <a:rPr lang="fr-FR" sz="1100" b="1" u="sng">
                <a:solidFill>
                  <a:schemeClr val="tx1"/>
                </a:solidFill>
                <a:highlight>
                  <a:srgbClr val="B2EDA7"/>
                </a:highlight>
                <a:ea typeface="Calibri"/>
                <a:cs typeface="Calibri"/>
              </a:rPr>
              <a:t>Contributions to NPS</a:t>
            </a:r>
          </a:p>
          <a:p>
            <a:pPr marL="361950" lvl="1" indent="-171450">
              <a:buFont typeface="Arial" panose="020B0604020202020204" pitchFamily="34" charset="0"/>
              <a:buChar char="•"/>
            </a:pPr>
            <a:r>
              <a:rPr lang="fr-FR" sz="1000" b="1">
                <a:solidFill>
                  <a:schemeClr val="tx1"/>
                </a:solidFill>
                <a:ea typeface="Calibri"/>
                <a:cs typeface="Calibri"/>
              </a:rPr>
              <a:t>Net Satisfaction Scores of village, staff, cottage, Aqua Mundo, </a:t>
            </a:r>
            <a:r>
              <a:rPr lang="fr-FR" sz="1000" b="1" err="1">
                <a:solidFill>
                  <a:schemeClr val="tx1"/>
                </a:solidFill>
                <a:ea typeface="Calibri"/>
                <a:cs typeface="Calibri"/>
              </a:rPr>
              <a:t>leisure</a:t>
            </a:r>
            <a:r>
              <a:rPr lang="fr-FR" sz="1000" b="1">
                <a:solidFill>
                  <a:schemeClr val="tx1"/>
                </a:solidFill>
                <a:ea typeface="Calibri"/>
                <a:cs typeface="Calibri"/>
              </a:rPr>
              <a:t> and catering </a:t>
            </a:r>
            <a:r>
              <a:rPr lang="fr-FR" sz="1000" b="1" err="1">
                <a:solidFill>
                  <a:schemeClr val="tx1"/>
                </a:solidFill>
                <a:ea typeface="Calibri"/>
                <a:cs typeface="Calibri"/>
              </a:rPr>
              <a:t>experiences</a:t>
            </a:r>
            <a:r>
              <a:rPr lang="fr-FR" sz="1000" b="1">
                <a:solidFill>
                  <a:schemeClr val="tx1"/>
                </a:solidFill>
                <a:ea typeface="Calibri"/>
                <a:cs typeface="Calibri"/>
              </a:rPr>
              <a:t> are the </a:t>
            </a:r>
            <a:r>
              <a:rPr lang="fr-FR" sz="1000" b="1" err="1">
                <a:solidFill>
                  <a:schemeClr val="tx1"/>
                </a:solidFill>
                <a:ea typeface="Calibri"/>
                <a:cs typeface="Calibri"/>
              </a:rPr>
              <a:t>highest</a:t>
            </a:r>
            <a:r>
              <a:rPr lang="fr-FR" sz="1000" b="1">
                <a:solidFill>
                  <a:schemeClr val="tx1"/>
                </a:solidFill>
                <a:ea typeface="Calibri"/>
                <a:cs typeface="Calibri"/>
              </a:rPr>
              <a:t> </a:t>
            </a:r>
            <a:r>
              <a:rPr lang="fr-FR" sz="1000" b="1" err="1">
                <a:solidFill>
                  <a:schemeClr val="tx1"/>
                </a:solidFill>
                <a:ea typeface="Calibri"/>
                <a:cs typeface="Calibri"/>
              </a:rPr>
              <a:t>contributors</a:t>
            </a:r>
            <a:r>
              <a:rPr lang="fr-FR" sz="1000" b="1">
                <a:solidFill>
                  <a:schemeClr val="tx1"/>
                </a:solidFill>
                <a:ea typeface="Calibri"/>
                <a:cs typeface="Calibri"/>
              </a:rPr>
              <a:t> to NPS.</a:t>
            </a:r>
            <a:endParaRPr lang="fr-FR" sz="1000">
              <a:solidFill>
                <a:schemeClr val="tx1"/>
              </a:solidFill>
              <a:ea typeface="Calibri"/>
              <a:cs typeface="Calibri"/>
            </a:endParaRPr>
          </a:p>
          <a:p>
            <a:pPr marL="630238" lvl="1" indent="-171450">
              <a:buFont typeface="Arial" panose="020B0604020202020204" pitchFamily="34" charset="0"/>
              <a:buChar char="•"/>
            </a:pPr>
            <a:r>
              <a:rPr lang="fr-FR" sz="1000">
                <a:ea typeface="Calibri"/>
                <a:cs typeface="Calibri"/>
              </a:rPr>
              <a:t>Important </a:t>
            </a:r>
            <a:r>
              <a:rPr lang="fr-FR" sz="1000" err="1">
                <a:ea typeface="Calibri"/>
                <a:cs typeface="Calibri"/>
              </a:rPr>
              <a:t>attributes</a:t>
            </a:r>
            <a:r>
              <a:rPr lang="fr-FR" sz="1000">
                <a:ea typeface="Calibri"/>
                <a:cs typeface="Calibri"/>
              </a:rPr>
              <a:t> of </a:t>
            </a:r>
            <a:r>
              <a:rPr lang="fr-FR" sz="1000" err="1">
                <a:ea typeface="Calibri"/>
                <a:cs typeface="Calibri"/>
              </a:rPr>
              <a:t>these</a:t>
            </a:r>
            <a:r>
              <a:rPr lang="fr-FR" sz="1000">
                <a:ea typeface="Calibri"/>
                <a:cs typeface="Calibri"/>
              </a:rPr>
              <a:t> CX </a:t>
            </a:r>
            <a:r>
              <a:rPr lang="fr-FR" sz="1000" err="1">
                <a:ea typeface="Calibri"/>
                <a:cs typeface="Calibri"/>
              </a:rPr>
              <a:t>pillars</a:t>
            </a:r>
            <a:r>
              <a:rPr lang="fr-FR" sz="1000">
                <a:ea typeface="Calibri"/>
                <a:cs typeface="Calibri"/>
              </a:rPr>
              <a:t> are : village </a:t>
            </a:r>
            <a:r>
              <a:rPr lang="fr-FR" sz="1000" err="1">
                <a:ea typeface="Calibri"/>
                <a:cs typeface="Calibri"/>
              </a:rPr>
              <a:t>safety</a:t>
            </a:r>
            <a:r>
              <a:rPr lang="fr-FR" sz="1000">
                <a:ea typeface="Calibri"/>
                <a:cs typeface="Calibri"/>
              </a:rPr>
              <a:t>, cottage maintenance and </a:t>
            </a:r>
            <a:r>
              <a:rPr lang="fr-FR" sz="1000" err="1">
                <a:ea typeface="Calibri"/>
                <a:cs typeface="Calibri"/>
              </a:rPr>
              <a:t>cleanliness</a:t>
            </a:r>
            <a:r>
              <a:rPr lang="fr-FR" sz="1000">
                <a:ea typeface="Calibri"/>
                <a:cs typeface="Calibri"/>
              </a:rPr>
              <a:t>, </a:t>
            </a:r>
            <a:r>
              <a:rPr lang="fr-FR" sz="1000" err="1">
                <a:ea typeface="Calibri"/>
                <a:cs typeface="Calibri"/>
              </a:rPr>
              <a:t>offer</a:t>
            </a:r>
            <a:r>
              <a:rPr lang="fr-FR" sz="1000">
                <a:ea typeface="Calibri"/>
                <a:cs typeface="Calibri"/>
              </a:rPr>
              <a:t> and value for money.</a:t>
            </a:r>
          </a:p>
          <a:p>
            <a:pPr marL="458788" lvl="1" indent="0">
              <a:buNone/>
            </a:pPr>
            <a:endParaRPr lang="fr-FR" sz="1000">
              <a:solidFill>
                <a:schemeClr val="tx1"/>
              </a:solidFill>
              <a:ea typeface="Calibri"/>
              <a:cs typeface="Calibri"/>
            </a:endParaRPr>
          </a:p>
          <a:p>
            <a:pPr>
              <a:spcBef>
                <a:spcPts val="1200"/>
              </a:spcBef>
            </a:pPr>
            <a:r>
              <a:rPr lang="en-US" sz="1100" b="1" u="sng">
                <a:solidFill>
                  <a:schemeClr val="tx1"/>
                </a:solidFill>
                <a:highlight>
                  <a:srgbClr val="B2EDA7"/>
                </a:highlight>
                <a:ea typeface="Calibri"/>
                <a:cs typeface="Calibri"/>
              </a:rPr>
              <a:t>Guest feedbacks: text analytics and Impact Score:</a:t>
            </a:r>
          </a:p>
          <a:p>
            <a:pPr marL="180975" lvl="1" indent="0">
              <a:buNone/>
              <a:tabLst>
                <a:tab pos="542925" algn="l"/>
              </a:tabLst>
            </a:pPr>
            <a:r>
              <a:rPr lang="en-US" sz="1000" b="1">
                <a:solidFill>
                  <a:schemeClr val="tx1"/>
                </a:solidFill>
                <a:ea typeface="Calibri"/>
                <a:cs typeface="Calibri"/>
              </a:rPr>
              <a:t>Weaknesses impacting negatively the NPS: </a:t>
            </a:r>
          </a:p>
          <a:p>
            <a:pPr marL="536575" lvl="1" indent="-182563">
              <a:buFont typeface="Arial" panose="020B0604020202020204" pitchFamily="34" charset="0"/>
              <a:buChar char="•"/>
              <a:tabLst>
                <a:tab pos="446088" algn="l"/>
              </a:tabLst>
            </a:pPr>
            <a:r>
              <a:rPr lang="en-US" sz="1000" b="1">
                <a:solidFill>
                  <a:schemeClr val="tx1"/>
                </a:solidFill>
                <a:ea typeface="Calibri"/>
                <a:cs typeface="Calibri"/>
              </a:rPr>
              <a:t>26% of all </a:t>
            </a:r>
            <a:r>
              <a:rPr lang="en-US" sz="1000" b="1">
                <a:ea typeface="Calibri"/>
                <a:cs typeface="Calibri"/>
              </a:rPr>
              <a:t>records </a:t>
            </a:r>
            <a:r>
              <a:rPr lang="en-US" sz="1000" b="1">
                <a:solidFill>
                  <a:schemeClr val="tx1"/>
                </a:solidFill>
                <a:ea typeface="Calibri"/>
                <a:cs typeface="Calibri"/>
              </a:rPr>
              <a:t>includes at least one negative </a:t>
            </a:r>
            <a:r>
              <a:rPr lang="en-US" sz="1000">
                <a:solidFill>
                  <a:schemeClr val="tx1"/>
                </a:solidFill>
                <a:ea typeface="Calibri"/>
                <a:cs typeface="Calibri"/>
              </a:rPr>
              <a:t>(from </a:t>
            </a:r>
            <a:r>
              <a:rPr lang="en-US" sz="1000">
                <a:ea typeface="Calibri"/>
                <a:cs typeface="Calibri"/>
              </a:rPr>
              <a:t>mixed to strongly)</a:t>
            </a:r>
            <a:r>
              <a:rPr lang="en-US" sz="1000">
                <a:solidFill>
                  <a:schemeClr val="tx1"/>
                </a:solidFill>
                <a:ea typeface="Calibri"/>
                <a:cs typeface="Calibri"/>
              </a:rPr>
              <a:t> </a:t>
            </a:r>
            <a:r>
              <a:rPr lang="en-US" sz="1000" b="1">
                <a:solidFill>
                  <a:schemeClr val="tx1"/>
                </a:solidFill>
                <a:ea typeface="Calibri"/>
                <a:cs typeface="Calibri"/>
              </a:rPr>
              <a:t>feedbacks on accommodation </a:t>
            </a:r>
            <a:r>
              <a:rPr lang="en-US" sz="1000">
                <a:solidFill>
                  <a:schemeClr val="tx1"/>
                </a:solidFill>
                <a:ea typeface="Calibri"/>
                <a:cs typeface="Calibri"/>
              </a:rPr>
              <a:t>with focus on issues around cleanliness, maintenance, upkeep, inventory or comfort</a:t>
            </a:r>
            <a:r>
              <a:rPr lang="en-US" sz="1000">
                <a:ea typeface="Calibri"/>
                <a:cs typeface="Calibri"/>
              </a:rPr>
              <a:t>; </a:t>
            </a:r>
            <a:r>
              <a:rPr lang="en-US" sz="1000">
                <a:solidFill>
                  <a:schemeClr val="tx1"/>
                </a:solidFill>
                <a:ea typeface="Calibri"/>
                <a:cs typeface="Calibri"/>
              </a:rPr>
              <a:t>which represents the highest share of guest feedbacks.</a:t>
            </a:r>
          </a:p>
          <a:p>
            <a:pPr marL="536575" lvl="1" indent="-182563">
              <a:buFont typeface="Arial" panose="020B0604020202020204" pitchFamily="34" charset="0"/>
              <a:buChar char="•"/>
              <a:tabLst>
                <a:tab pos="446088" algn="l"/>
              </a:tabLst>
            </a:pPr>
            <a:r>
              <a:rPr lang="en-US" sz="1000">
                <a:ea typeface="Calibri"/>
                <a:cs typeface="Calibri"/>
              </a:rPr>
              <a:t>This share decreased -6 pts compared to FY24 (32%), impacting positively the NPS.</a:t>
            </a:r>
            <a:endParaRPr lang="en-US" sz="1000">
              <a:solidFill>
                <a:schemeClr val="tx1"/>
              </a:solidFill>
              <a:ea typeface="Calibri"/>
              <a:cs typeface="Calibri"/>
            </a:endParaRPr>
          </a:p>
          <a:p>
            <a:pPr marL="182563" lvl="1" indent="0">
              <a:buNone/>
            </a:pPr>
            <a:r>
              <a:rPr lang="en-US" sz="1000" b="1">
                <a:ea typeface="Calibri"/>
                <a:cs typeface="Calibri"/>
              </a:rPr>
              <a:t>S</a:t>
            </a:r>
            <a:r>
              <a:rPr lang="en-US" sz="1000" b="1">
                <a:solidFill>
                  <a:schemeClr val="tx1"/>
                </a:solidFill>
                <a:ea typeface="Calibri"/>
                <a:cs typeface="Calibri"/>
              </a:rPr>
              <a:t>trengths impacting positively the NPS: </a:t>
            </a:r>
          </a:p>
          <a:p>
            <a:pPr marL="536575" lvl="1" indent="-182563">
              <a:buFont typeface="Arial" panose="020B0604020202020204" pitchFamily="34" charset="0"/>
              <a:buChar char="•"/>
            </a:pPr>
            <a:r>
              <a:rPr lang="en-US" sz="1000">
                <a:solidFill>
                  <a:schemeClr val="tx1"/>
                </a:solidFill>
                <a:ea typeface="Calibri"/>
                <a:cs typeface="Calibri"/>
              </a:rPr>
              <a:t>60 to 80% of comments are positive regarding </a:t>
            </a:r>
            <a:r>
              <a:rPr lang="en-US" sz="1000" b="1">
                <a:solidFill>
                  <a:schemeClr val="tx1"/>
                </a:solidFill>
                <a:ea typeface="Calibri"/>
                <a:cs typeface="Calibri"/>
              </a:rPr>
              <a:t>staff</a:t>
            </a:r>
            <a:r>
              <a:rPr lang="en-US" sz="1000">
                <a:solidFill>
                  <a:schemeClr val="tx1"/>
                </a:solidFill>
                <a:ea typeface="Calibri"/>
                <a:cs typeface="Calibri"/>
              </a:rPr>
              <a:t> (including restaurants), </a:t>
            </a:r>
            <a:r>
              <a:rPr lang="en-US" sz="1000" b="1">
                <a:solidFill>
                  <a:schemeClr val="tx1"/>
                </a:solidFill>
                <a:ea typeface="Calibri"/>
                <a:cs typeface="Calibri"/>
              </a:rPr>
              <a:t>reception, check-in process, check-out process,</a:t>
            </a:r>
            <a:r>
              <a:rPr lang="en-US" sz="1000" b="1">
                <a:ea typeface="Calibri"/>
                <a:cs typeface="Calibri"/>
              </a:rPr>
              <a:t> village location, design, decoration and convenience, spa and Aqua Mundo categories. </a:t>
            </a:r>
            <a:r>
              <a:rPr lang="en-US" sz="1000">
                <a:ea typeface="Calibri"/>
                <a:cs typeface="Calibri"/>
              </a:rPr>
              <a:t>Accommodation decoration and size are also mentioned as more positive than negative, impacting positively the NPS.</a:t>
            </a:r>
          </a:p>
          <a:p>
            <a:pPr marL="180975" lvl="1" indent="0">
              <a:buNone/>
            </a:pPr>
            <a:r>
              <a:rPr lang="en-US" sz="1000" b="1">
                <a:solidFill>
                  <a:schemeClr val="tx1"/>
                </a:solidFill>
                <a:ea typeface="Calibri"/>
                <a:cs typeface="Calibri"/>
              </a:rPr>
              <a:t>There are differences in weaknesses and strengths per park.</a:t>
            </a:r>
          </a:p>
          <a:p>
            <a:pPr>
              <a:spcBef>
                <a:spcPts val="1200"/>
              </a:spcBef>
            </a:pPr>
            <a:r>
              <a:rPr lang="fr-FR" sz="1100" b="1" u="sng" err="1">
                <a:solidFill>
                  <a:schemeClr val="tx1"/>
                </a:solidFill>
                <a:highlight>
                  <a:srgbClr val="B2EDA7"/>
                </a:highlight>
                <a:ea typeface="Calibri"/>
                <a:cs typeface="Calibri"/>
              </a:rPr>
              <a:t>Special</a:t>
            </a:r>
            <a:r>
              <a:rPr lang="fr-FR" sz="1100" b="1" u="sng">
                <a:solidFill>
                  <a:schemeClr val="tx1"/>
                </a:solidFill>
                <a:highlight>
                  <a:srgbClr val="B2EDA7"/>
                </a:highlight>
                <a:ea typeface="Calibri"/>
                <a:cs typeface="Calibri"/>
              </a:rPr>
              <a:t> attention to continue </a:t>
            </a:r>
            <a:r>
              <a:rPr lang="fr-FR" sz="1100" b="1" u="sng" err="1">
                <a:solidFill>
                  <a:schemeClr val="tx1"/>
                </a:solidFill>
                <a:highlight>
                  <a:srgbClr val="B2EDA7"/>
                </a:highlight>
                <a:ea typeface="Calibri"/>
                <a:cs typeface="Calibri"/>
              </a:rPr>
              <a:t>improvement</a:t>
            </a:r>
            <a:r>
              <a:rPr lang="fr-FR" sz="1100" b="1" u="sng">
                <a:solidFill>
                  <a:schemeClr val="tx1"/>
                </a:solidFill>
                <a:highlight>
                  <a:srgbClr val="B2EDA7"/>
                </a:highlight>
                <a:ea typeface="Calibri"/>
                <a:cs typeface="Calibri"/>
              </a:rPr>
              <a:t>:</a:t>
            </a:r>
          </a:p>
          <a:p>
            <a:pPr marL="447675" lvl="1">
              <a:buFont typeface="+mj-lt"/>
              <a:buAutoNum type="arabicPeriod"/>
            </a:pPr>
            <a:r>
              <a:rPr lang="fr-FR" sz="1000" b="1" err="1">
                <a:ea typeface="Calibri"/>
                <a:cs typeface="Calibri"/>
              </a:rPr>
              <a:t>Denmark</a:t>
            </a:r>
            <a:r>
              <a:rPr lang="fr-FR" sz="1000">
                <a:ea typeface="Calibri"/>
                <a:cs typeface="Calibri"/>
              </a:rPr>
              <a:t> : </a:t>
            </a:r>
            <a:r>
              <a:rPr lang="fr-FR" sz="1000" err="1">
                <a:ea typeface="Calibri"/>
                <a:cs typeface="Calibri"/>
              </a:rPr>
              <a:t>Trialist</a:t>
            </a:r>
            <a:r>
              <a:rPr lang="fr-FR" sz="1000">
                <a:ea typeface="Calibri"/>
                <a:cs typeface="Calibri"/>
              </a:rPr>
              <a:t> and </a:t>
            </a:r>
            <a:r>
              <a:rPr lang="fr-FR" sz="1000" err="1">
                <a:ea typeface="Calibri"/>
                <a:cs typeface="Calibri"/>
              </a:rPr>
              <a:t>ReActivated</a:t>
            </a:r>
            <a:r>
              <a:rPr lang="fr-FR" sz="1000">
                <a:ea typeface="Calibri"/>
                <a:cs typeface="Calibri"/>
              </a:rPr>
              <a:t> </a:t>
            </a:r>
            <a:r>
              <a:rPr lang="fr-FR" sz="1000" err="1">
                <a:ea typeface="Calibri"/>
                <a:cs typeface="Calibri"/>
              </a:rPr>
              <a:t>guest</a:t>
            </a:r>
            <a:r>
              <a:rPr lang="fr-FR" sz="1000">
                <a:ea typeface="Calibri"/>
                <a:cs typeface="Calibri"/>
              </a:rPr>
              <a:t>, 3-4 and 12-17 yo, French and Dutch </a:t>
            </a:r>
            <a:r>
              <a:rPr lang="fr-FR" sz="1000" err="1">
                <a:ea typeface="Calibri"/>
                <a:cs typeface="Calibri"/>
              </a:rPr>
              <a:t>origin</a:t>
            </a:r>
            <a:r>
              <a:rPr lang="fr-FR" sz="1000">
                <a:ea typeface="Calibri"/>
                <a:cs typeface="Calibri"/>
              </a:rPr>
              <a:t>, </a:t>
            </a:r>
            <a:r>
              <a:rPr lang="fr-FR" sz="1000" err="1">
                <a:ea typeface="Calibri"/>
                <a:cs typeface="Calibri"/>
              </a:rPr>
              <a:t>quality</a:t>
            </a:r>
            <a:r>
              <a:rPr lang="fr-FR" sz="1000">
                <a:ea typeface="Calibri"/>
                <a:cs typeface="Calibri"/>
              </a:rPr>
              <a:t> and </a:t>
            </a:r>
            <a:r>
              <a:rPr lang="fr-FR" sz="1000" err="1">
                <a:ea typeface="Calibri"/>
                <a:cs typeface="Calibri"/>
              </a:rPr>
              <a:t>diversity</a:t>
            </a:r>
            <a:r>
              <a:rPr lang="fr-FR" sz="1000">
                <a:ea typeface="Calibri"/>
                <a:cs typeface="Calibri"/>
              </a:rPr>
              <a:t> of </a:t>
            </a:r>
            <a:r>
              <a:rPr lang="fr-FR" sz="1000" err="1">
                <a:ea typeface="Calibri"/>
                <a:cs typeface="Calibri"/>
              </a:rPr>
              <a:t>things</a:t>
            </a:r>
            <a:r>
              <a:rPr lang="fr-FR" sz="1000">
                <a:ea typeface="Calibri"/>
                <a:cs typeface="Calibri"/>
              </a:rPr>
              <a:t> to do (</a:t>
            </a:r>
            <a:r>
              <a:rPr lang="fr-FR" sz="1000" err="1">
                <a:ea typeface="Calibri"/>
                <a:cs typeface="Calibri"/>
              </a:rPr>
              <a:t>leisure</a:t>
            </a:r>
            <a:r>
              <a:rPr lang="fr-FR" sz="1000">
                <a:ea typeface="Calibri"/>
                <a:cs typeface="Calibri"/>
              </a:rPr>
              <a:t> and catering), cottage °C and Bugs </a:t>
            </a:r>
            <a:r>
              <a:rPr lang="fr-FR" sz="1000" err="1">
                <a:ea typeface="Calibri"/>
                <a:cs typeface="Calibri"/>
              </a:rPr>
              <a:t>summer</a:t>
            </a:r>
            <a:endParaRPr lang="fr-FR" sz="1000">
              <a:ea typeface="Calibri"/>
              <a:cs typeface="Calibri"/>
            </a:endParaRPr>
          </a:p>
          <a:p>
            <a:pPr marL="447675" lvl="1">
              <a:buFont typeface="+mj-lt"/>
              <a:buAutoNum type="arabicPeriod"/>
            </a:pPr>
            <a:r>
              <a:rPr lang="fr-FR" sz="1000" b="1">
                <a:ea typeface="Calibri"/>
                <a:cs typeface="Calibri"/>
              </a:rPr>
              <a:t>Belgium: </a:t>
            </a:r>
            <a:r>
              <a:rPr lang="fr-FR" sz="1000" err="1">
                <a:ea typeface="Calibri"/>
                <a:cs typeface="Calibri"/>
              </a:rPr>
              <a:t>Trialist</a:t>
            </a:r>
            <a:r>
              <a:rPr lang="fr-FR" sz="1000">
                <a:ea typeface="Calibri"/>
                <a:cs typeface="Calibri"/>
              </a:rPr>
              <a:t> and </a:t>
            </a:r>
            <a:r>
              <a:rPr lang="fr-FR" sz="1000" err="1">
                <a:ea typeface="Calibri"/>
                <a:cs typeface="Calibri"/>
              </a:rPr>
              <a:t>ReActivated</a:t>
            </a:r>
            <a:r>
              <a:rPr lang="fr-FR" sz="1000">
                <a:ea typeface="Calibri"/>
                <a:cs typeface="Calibri"/>
              </a:rPr>
              <a:t> </a:t>
            </a:r>
            <a:r>
              <a:rPr lang="fr-FR" sz="1000" err="1">
                <a:ea typeface="Calibri"/>
                <a:cs typeface="Calibri"/>
              </a:rPr>
              <a:t>guest</a:t>
            </a:r>
            <a:r>
              <a:rPr lang="fr-FR" sz="1000">
                <a:ea typeface="Calibri"/>
                <a:cs typeface="Calibri"/>
              </a:rPr>
              <a:t>, 0-2 and 12-17 yo, French, </a:t>
            </a:r>
            <a:r>
              <a:rPr lang="fr-FR" sz="1000" err="1">
                <a:ea typeface="Calibri"/>
                <a:cs typeface="Calibri"/>
              </a:rPr>
              <a:t>Swiss</a:t>
            </a:r>
            <a:r>
              <a:rPr lang="fr-FR" sz="1000">
                <a:ea typeface="Calibri"/>
                <a:cs typeface="Calibri"/>
              </a:rPr>
              <a:t> and Dutch, VIP cottages AR-HA-VM-EH, Cottage </a:t>
            </a:r>
            <a:r>
              <a:rPr lang="fr-FR" sz="1000" err="1">
                <a:ea typeface="Calibri"/>
                <a:cs typeface="Calibri"/>
              </a:rPr>
              <a:t>cleanliness</a:t>
            </a:r>
            <a:r>
              <a:rPr lang="fr-FR" sz="1000">
                <a:ea typeface="Calibri"/>
                <a:cs typeface="Calibri"/>
              </a:rPr>
              <a:t>, Les Ardennes and Parc De Haan.</a:t>
            </a:r>
          </a:p>
          <a:p>
            <a:pPr marL="447675" lvl="1">
              <a:buFont typeface="+mj-lt"/>
              <a:buAutoNum type="arabicPeriod"/>
            </a:pPr>
            <a:r>
              <a:rPr lang="fr-FR" sz="1000" b="1">
                <a:ea typeface="Calibri"/>
                <a:cs typeface="Calibri"/>
              </a:rPr>
              <a:t>France: </a:t>
            </a:r>
            <a:r>
              <a:rPr lang="fr-FR" sz="1000">
                <a:ea typeface="Calibri"/>
                <a:cs typeface="Calibri"/>
              </a:rPr>
              <a:t>June-July, </a:t>
            </a:r>
            <a:r>
              <a:rPr lang="fr-FR" sz="1000" err="1">
                <a:ea typeface="Calibri"/>
                <a:cs typeface="Calibri"/>
              </a:rPr>
              <a:t>ReActivated</a:t>
            </a:r>
            <a:r>
              <a:rPr lang="fr-FR" sz="1000">
                <a:ea typeface="Calibri"/>
                <a:cs typeface="Calibri"/>
              </a:rPr>
              <a:t> </a:t>
            </a:r>
            <a:r>
              <a:rPr lang="fr-FR" sz="1000" err="1">
                <a:ea typeface="Calibri"/>
                <a:cs typeface="Calibri"/>
              </a:rPr>
              <a:t>guest</a:t>
            </a:r>
            <a:r>
              <a:rPr lang="fr-FR" sz="1000">
                <a:ea typeface="Calibri"/>
                <a:cs typeface="Calibri"/>
              </a:rPr>
              <a:t>, </a:t>
            </a:r>
            <a:r>
              <a:rPr lang="fr-FR" sz="1000" err="1">
                <a:ea typeface="Calibri"/>
                <a:cs typeface="Calibri"/>
              </a:rPr>
              <a:t>Teens</a:t>
            </a:r>
            <a:r>
              <a:rPr lang="fr-FR" sz="1000">
                <a:ea typeface="Calibri"/>
                <a:cs typeface="Calibri"/>
              </a:rPr>
              <a:t> 12-17 yo, </a:t>
            </a:r>
            <a:r>
              <a:rPr lang="fr-FR" sz="1000" err="1">
                <a:ea typeface="Calibri"/>
                <a:cs typeface="Calibri"/>
              </a:rPr>
              <a:t>foreign</a:t>
            </a:r>
            <a:r>
              <a:rPr lang="fr-FR" sz="1000">
                <a:ea typeface="Calibri"/>
                <a:cs typeface="Calibri"/>
              </a:rPr>
              <a:t> </a:t>
            </a:r>
            <a:r>
              <a:rPr lang="fr-FR" sz="1000" err="1">
                <a:ea typeface="Calibri"/>
                <a:cs typeface="Calibri"/>
              </a:rPr>
              <a:t>origin</a:t>
            </a:r>
            <a:r>
              <a:rPr lang="fr-FR" sz="1000">
                <a:ea typeface="Calibri"/>
                <a:cs typeface="Calibri"/>
              </a:rPr>
              <a:t>, VIP cottages, Catering, Value for money, Lac d’Ailette and Villages Nature Paris.</a:t>
            </a:r>
          </a:p>
          <a:p>
            <a:pPr marL="447675" lvl="1">
              <a:buFont typeface="+mj-lt"/>
              <a:buAutoNum type="arabicPeriod"/>
            </a:pPr>
            <a:r>
              <a:rPr lang="fr-FR" sz="1000" b="1">
                <a:ea typeface="Calibri"/>
                <a:cs typeface="Calibri"/>
              </a:rPr>
              <a:t>Germany: </a:t>
            </a:r>
            <a:r>
              <a:rPr lang="fr-FR" sz="1000" err="1">
                <a:ea typeface="Calibri"/>
                <a:cs typeface="Calibri"/>
              </a:rPr>
              <a:t>Trialist</a:t>
            </a:r>
            <a:r>
              <a:rPr lang="fr-FR" sz="1000">
                <a:ea typeface="Calibri"/>
                <a:cs typeface="Calibri"/>
              </a:rPr>
              <a:t> and </a:t>
            </a:r>
            <a:r>
              <a:rPr lang="fr-FR" sz="1000" err="1">
                <a:ea typeface="Calibri"/>
                <a:cs typeface="Calibri"/>
              </a:rPr>
              <a:t>ReActivated</a:t>
            </a:r>
            <a:r>
              <a:rPr lang="fr-FR" sz="1000">
                <a:ea typeface="Calibri"/>
                <a:cs typeface="Calibri"/>
              </a:rPr>
              <a:t> </a:t>
            </a:r>
            <a:r>
              <a:rPr lang="fr-FR" sz="1000" err="1">
                <a:ea typeface="Calibri"/>
                <a:cs typeface="Calibri"/>
              </a:rPr>
              <a:t>guest</a:t>
            </a:r>
            <a:r>
              <a:rPr lang="fr-FR" sz="1000">
                <a:ea typeface="Calibri"/>
                <a:cs typeface="Calibri"/>
              </a:rPr>
              <a:t>, 0-2 and 12-17 yo, </a:t>
            </a:r>
            <a:r>
              <a:rPr lang="en-US" sz="1000">
                <a:ea typeface="Calibri"/>
                <a:cs typeface="Calibri"/>
              </a:rPr>
              <a:t>Austrian, Dutch, Swiss and Danish</a:t>
            </a:r>
            <a:r>
              <a:rPr lang="fr-FR" sz="1000">
                <a:ea typeface="Calibri"/>
                <a:cs typeface="Calibri"/>
              </a:rPr>
              <a:t>, VIP and Exclusive </a:t>
            </a:r>
            <a:r>
              <a:rPr lang="fr-FR" sz="1000" err="1">
                <a:ea typeface="Calibri"/>
                <a:cs typeface="Calibri"/>
              </a:rPr>
              <a:t>wellness</a:t>
            </a:r>
            <a:r>
              <a:rPr lang="fr-FR" sz="1000">
                <a:ea typeface="Calibri"/>
                <a:cs typeface="Calibri"/>
              </a:rPr>
              <a:t> cottages (Park </a:t>
            </a:r>
            <a:r>
              <a:rPr lang="fr-FR" sz="1000" err="1">
                <a:ea typeface="Calibri"/>
                <a:cs typeface="Calibri"/>
              </a:rPr>
              <a:t>Allgäu</a:t>
            </a:r>
            <a:r>
              <a:rPr lang="fr-FR" sz="1000">
                <a:ea typeface="Calibri"/>
                <a:cs typeface="Calibri"/>
              </a:rPr>
              <a:t>), Eden VIP (</a:t>
            </a:r>
            <a:r>
              <a:rPr lang="fr-FR" sz="1000" err="1">
                <a:ea typeface="Calibri"/>
                <a:cs typeface="Calibri"/>
              </a:rPr>
              <a:t>Bispinder</a:t>
            </a:r>
            <a:r>
              <a:rPr lang="fr-FR" sz="1000">
                <a:ea typeface="Calibri"/>
                <a:cs typeface="Calibri"/>
              </a:rPr>
              <a:t> Heide), </a:t>
            </a:r>
            <a:r>
              <a:rPr lang="fr-FR" sz="1000" err="1">
                <a:ea typeface="Calibri"/>
                <a:cs typeface="Calibri"/>
              </a:rPr>
              <a:t>Apartments</a:t>
            </a:r>
            <a:r>
              <a:rPr lang="fr-FR" sz="1000">
                <a:ea typeface="Calibri"/>
                <a:cs typeface="Calibri"/>
              </a:rPr>
              <a:t> (</a:t>
            </a:r>
            <a:r>
              <a:rPr lang="fr-FR" sz="1000" err="1">
                <a:ea typeface="Calibri"/>
                <a:cs typeface="Calibri"/>
              </a:rPr>
              <a:t>Nordseeküste</a:t>
            </a:r>
            <a:r>
              <a:rPr lang="fr-FR" sz="1000">
                <a:ea typeface="Calibri"/>
                <a:cs typeface="Calibri"/>
              </a:rPr>
              <a:t>), Park </a:t>
            </a:r>
            <a:r>
              <a:rPr lang="fr-FR" sz="1000" err="1">
                <a:ea typeface="Calibri"/>
                <a:cs typeface="Calibri"/>
              </a:rPr>
              <a:t>Nordseeküste</a:t>
            </a:r>
            <a:r>
              <a:rPr lang="fr-FR" sz="1000">
                <a:ea typeface="Calibri"/>
                <a:cs typeface="Calibri"/>
              </a:rPr>
              <a:t>, cottage </a:t>
            </a:r>
            <a:r>
              <a:rPr lang="fr-FR" sz="1000" err="1">
                <a:ea typeface="Calibri"/>
                <a:cs typeface="Calibri"/>
              </a:rPr>
              <a:t>cleanliness</a:t>
            </a:r>
            <a:r>
              <a:rPr lang="fr-FR" sz="1000">
                <a:ea typeface="Calibri"/>
                <a:cs typeface="Calibri"/>
              </a:rPr>
              <a:t>. </a:t>
            </a:r>
          </a:p>
          <a:p>
            <a:pPr marL="447675" lvl="1">
              <a:buFont typeface="+mj-lt"/>
              <a:buAutoNum type="arabicPeriod"/>
            </a:pPr>
            <a:r>
              <a:rPr lang="fr-FR" sz="1000" b="1">
                <a:ea typeface="Calibri"/>
                <a:cs typeface="Calibri"/>
              </a:rPr>
              <a:t>Netherlands: </a:t>
            </a:r>
            <a:r>
              <a:rPr lang="fr-FR" sz="1000" err="1">
                <a:ea typeface="Calibri"/>
                <a:cs typeface="Calibri"/>
              </a:rPr>
              <a:t>Trialist</a:t>
            </a:r>
            <a:r>
              <a:rPr lang="fr-FR" sz="1000">
                <a:ea typeface="Calibri"/>
                <a:cs typeface="Calibri"/>
              </a:rPr>
              <a:t> and </a:t>
            </a:r>
            <a:r>
              <a:rPr lang="fr-FR" sz="1000" err="1">
                <a:ea typeface="Calibri"/>
                <a:cs typeface="Calibri"/>
              </a:rPr>
              <a:t>ReActivated</a:t>
            </a:r>
            <a:r>
              <a:rPr lang="fr-FR" sz="1000">
                <a:ea typeface="Calibri"/>
                <a:cs typeface="Calibri"/>
              </a:rPr>
              <a:t> </a:t>
            </a:r>
            <a:r>
              <a:rPr lang="fr-FR" sz="1000" err="1">
                <a:ea typeface="Calibri"/>
                <a:cs typeface="Calibri"/>
              </a:rPr>
              <a:t>guest</a:t>
            </a:r>
            <a:r>
              <a:rPr lang="fr-FR" sz="1000">
                <a:ea typeface="Calibri"/>
                <a:cs typeface="Calibri"/>
              </a:rPr>
              <a:t>, 0-2 and 12-17 yo, Dutch and </a:t>
            </a:r>
            <a:r>
              <a:rPr lang="fr-FR" sz="1000" err="1">
                <a:ea typeface="Calibri"/>
                <a:cs typeface="Calibri"/>
              </a:rPr>
              <a:t>Swiss</a:t>
            </a:r>
            <a:r>
              <a:rPr lang="fr-FR" sz="1000">
                <a:ea typeface="Calibri"/>
                <a:cs typeface="Calibri"/>
              </a:rPr>
              <a:t> </a:t>
            </a:r>
            <a:r>
              <a:rPr lang="fr-FR" sz="1000" err="1">
                <a:ea typeface="Calibri"/>
                <a:cs typeface="Calibri"/>
              </a:rPr>
              <a:t>origin</a:t>
            </a:r>
            <a:r>
              <a:rPr lang="fr-FR" sz="1000">
                <a:ea typeface="Calibri"/>
                <a:cs typeface="Calibri"/>
              </a:rPr>
              <a:t>, VIP cottages, Kids cottages, cottage </a:t>
            </a:r>
            <a:r>
              <a:rPr lang="fr-FR" sz="1000" err="1">
                <a:ea typeface="Calibri"/>
                <a:cs typeface="Calibri"/>
              </a:rPr>
              <a:t>cleanliness</a:t>
            </a:r>
            <a:r>
              <a:rPr lang="fr-FR" sz="1000">
                <a:ea typeface="Calibri"/>
                <a:cs typeface="Calibri"/>
              </a:rPr>
              <a:t> and maintenance, Limburgse Peel and Port Zélande.</a:t>
            </a:r>
          </a:p>
          <a:p>
            <a:pPr marL="857250" lvl="1" indent="-171450">
              <a:buFont typeface="Arial" panose="020B0604020202020204" pitchFamily="34" charset="0"/>
              <a:buChar char="•"/>
            </a:pPr>
            <a:endParaRPr lang="en-US" sz="1100" b="1">
              <a:solidFill>
                <a:schemeClr val="tx1"/>
              </a:solidFill>
              <a:ea typeface="Calibri"/>
              <a:cs typeface="Calibri"/>
            </a:endParaRPr>
          </a:p>
        </p:txBody>
      </p:sp>
      <p:sp>
        <p:nvSpPr>
          <p:cNvPr id="5" name="Title 4">
            <a:extLst>
              <a:ext uri="{FF2B5EF4-FFF2-40B4-BE49-F238E27FC236}">
                <a16:creationId xmlns:a16="http://schemas.microsoft.com/office/drawing/2014/main" id="{D06CB6EA-6E65-A39D-977B-3836CB105A79}"/>
              </a:ext>
            </a:extLst>
          </p:cNvPr>
          <p:cNvSpPr>
            <a:spLocks noGrp="1"/>
          </p:cNvSpPr>
          <p:nvPr>
            <p:ph type="title"/>
          </p:nvPr>
        </p:nvSpPr>
        <p:spPr/>
        <p:txBody>
          <a:bodyPr/>
          <a:lstStyle/>
          <a:p>
            <a:r>
              <a:rPr lang="fr-FR"/>
              <a:t>Executive </a:t>
            </a:r>
            <a:r>
              <a:rPr lang="fr-FR" err="1"/>
              <a:t>Summary</a:t>
            </a:r>
            <a:endParaRPr lang="fr-FR"/>
          </a:p>
        </p:txBody>
      </p:sp>
    </p:spTree>
    <p:extLst>
      <p:ext uri="{BB962C8B-B14F-4D97-AF65-F5344CB8AC3E}">
        <p14:creationId xmlns:p14="http://schemas.microsoft.com/office/powerpoint/2010/main" val="2161369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6FE626CF-5DA8-D02F-D955-B9ECF9A69E4F}"/>
              </a:ext>
            </a:extLst>
          </p:cNvPr>
          <p:cNvSpPr>
            <a:spLocks noGrp="1"/>
          </p:cNvSpPr>
          <p:nvPr>
            <p:ph type="sldNum" sz="quarter" idx="12"/>
          </p:nvPr>
        </p:nvSpPr>
        <p:spPr/>
        <p:txBody>
          <a:bodyPr/>
          <a:lstStyle/>
          <a:p>
            <a:fld id="{0D2E6A04-B99A-6C4D-8942-945F97C9E705}" type="slidenum">
              <a:rPr lang="en-US" smtClean="0"/>
              <a:pPr/>
              <a:t>3</a:t>
            </a:fld>
            <a:endParaRPr lang="en-US"/>
          </a:p>
        </p:txBody>
      </p:sp>
      <p:sp>
        <p:nvSpPr>
          <p:cNvPr id="3" name="Espace réservé de la date 2">
            <a:extLst>
              <a:ext uri="{FF2B5EF4-FFF2-40B4-BE49-F238E27FC236}">
                <a16:creationId xmlns:a16="http://schemas.microsoft.com/office/drawing/2014/main" id="{CABD3D0C-0A73-BBE6-28A0-6DBAF69C1E8D}"/>
              </a:ext>
            </a:extLst>
          </p:cNvPr>
          <p:cNvSpPr>
            <a:spLocks noGrp="1"/>
          </p:cNvSpPr>
          <p:nvPr>
            <p:ph type="dt" sz="half" idx="10"/>
          </p:nvPr>
        </p:nvSpPr>
        <p:spPr/>
        <p:txBody>
          <a:bodyPr/>
          <a:lstStyle/>
          <a:p>
            <a:fld id="{05C20A28-4BAC-4477-9026-1E123DBFBC43}" type="datetime1">
              <a:rPr lang="fr-FR" smtClean="0"/>
              <a:t>27/11/2025</a:t>
            </a:fld>
            <a:endParaRPr lang="en-US"/>
          </a:p>
        </p:txBody>
      </p:sp>
      <p:sp>
        <p:nvSpPr>
          <p:cNvPr id="5" name="Titre 4">
            <a:extLst>
              <a:ext uri="{FF2B5EF4-FFF2-40B4-BE49-F238E27FC236}">
                <a16:creationId xmlns:a16="http://schemas.microsoft.com/office/drawing/2014/main" id="{514AC388-3177-7FD6-DFBC-C4B2719878E7}"/>
              </a:ext>
            </a:extLst>
          </p:cNvPr>
          <p:cNvSpPr>
            <a:spLocks noGrp="1"/>
          </p:cNvSpPr>
          <p:nvPr>
            <p:ph type="title"/>
          </p:nvPr>
        </p:nvSpPr>
        <p:spPr/>
        <p:txBody>
          <a:bodyPr/>
          <a:lstStyle/>
          <a:p>
            <a:r>
              <a:rPr lang="fr-FR"/>
              <a:t>Table of content</a:t>
            </a:r>
          </a:p>
        </p:txBody>
      </p:sp>
      <p:sp>
        <p:nvSpPr>
          <p:cNvPr id="4" name="ZoneTexte 3">
            <a:extLst>
              <a:ext uri="{FF2B5EF4-FFF2-40B4-BE49-F238E27FC236}">
                <a16:creationId xmlns:a16="http://schemas.microsoft.com/office/drawing/2014/main" id="{6EF2EEAC-AD24-D02F-2707-5375410D66D2}"/>
              </a:ext>
            </a:extLst>
          </p:cNvPr>
          <p:cNvSpPr txBox="1"/>
          <p:nvPr/>
        </p:nvSpPr>
        <p:spPr>
          <a:xfrm>
            <a:off x="334963" y="1059545"/>
            <a:ext cx="8473282" cy="5006499"/>
          </a:xfrm>
          <a:prstGeom prst="rect">
            <a:avLst/>
          </a:prstGeom>
          <a:noFill/>
        </p:spPr>
        <p:txBody>
          <a:bodyPr wrap="none" rtlCol="0">
            <a:spAutoFit/>
          </a:bodyPr>
          <a:lstStyle/>
          <a:p>
            <a:pPr marL="285750" indent="-285750">
              <a:lnSpc>
                <a:spcPct val="150000"/>
              </a:lnSpc>
              <a:spcBef>
                <a:spcPts val="1200"/>
              </a:spcBef>
              <a:buFont typeface="Arial" panose="020B0604020202020204" pitchFamily="34" charset="0"/>
              <a:buChar char="•"/>
            </a:pPr>
            <a:r>
              <a:rPr lang="fr-FR">
                <a:hlinkClick r:id="rId2" action="ppaction://hlinksldjump"/>
              </a:rPr>
              <a:t>Executive </a:t>
            </a:r>
            <a:r>
              <a:rPr lang="fr-FR" err="1">
                <a:hlinkClick r:id="rId2" action="ppaction://hlinksldjump"/>
              </a:rPr>
              <a:t>Summary</a:t>
            </a:r>
            <a:endParaRPr lang="fr-FR"/>
          </a:p>
          <a:p>
            <a:pPr marL="285750" indent="-285750">
              <a:lnSpc>
                <a:spcPct val="150000"/>
              </a:lnSpc>
              <a:spcBef>
                <a:spcPts val="1200"/>
              </a:spcBef>
              <a:buFont typeface="Arial" panose="020B0604020202020204" pitchFamily="34" charset="0"/>
              <a:buChar char="•"/>
            </a:pPr>
            <a:r>
              <a:rPr lang="fr-FR">
                <a:hlinkClick r:id="rId3" action="ppaction://hlinksldjump"/>
              </a:rPr>
              <a:t>Health check of the post </a:t>
            </a:r>
            <a:r>
              <a:rPr lang="fr-FR" err="1">
                <a:hlinkClick r:id="rId3" action="ppaction://hlinksldjump"/>
              </a:rPr>
              <a:t>stay</a:t>
            </a:r>
            <a:r>
              <a:rPr lang="fr-FR">
                <a:hlinkClick r:id="rId3" action="ppaction://hlinksldjump"/>
              </a:rPr>
              <a:t> </a:t>
            </a:r>
            <a:r>
              <a:rPr lang="fr-FR" err="1">
                <a:hlinkClick r:id="rId3" action="ppaction://hlinksldjump"/>
              </a:rPr>
              <a:t>survey</a:t>
            </a:r>
            <a:r>
              <a:rPr lang="fr-FR">
                <a:hlinkClick r:id="rId3" action="ppaction://hlinksldjump"/>
              </a:rPr>
              <a:t> and email</a:t>
            </a:r>
            <a:endParaRPr lang="fr-FR"/>
          </a:p>
          <a:p>
            <a:pPr marL="800100" lvl="1" indent="-342900">
              <a:lnSpc>
                <a:spcPct val="150000"/>
              </a:lnSpc>
              <a:spcBef>
                <a:spcPts val="1200"/>
              </a:spcBef>
              <a:buFont typeface="+mj-lt"/>
              <a:buAutoNum type="arabicPeriod"/>
            </a:pPr>
            <a:r>
              <a:rPr lang="fr-FR">
                <a:hlinkClick r:id="rId4" action="ppaction://hlinksldjump"/>
              </a:rPr>
              <a:t>NPS FY25 </a:t>
            </a:r>
            <a:r>
              <a:rPr lang="fr-FR" err="1">
                <a:hlinkClick r:id="rId4" action="ppaction://hlinksldjump"/>
              </a:rPr>
              <a:t>Results</a:t>
            </a:r>
            <a:r>
              <a:rPr lang="fr-FR">
                <a:hlinkClick r:id="rId4" action="ppaction://hlinksldjump"/>
              </a:rPr>
              <a:t> and </a:t>
            </a:r>
            <a:r>
              <a:rPr lang="fr-FR" err="1">
                <a:hlinkClick r:id="rId4" action="ppaction://hlinksldjump"/>
              </a:rPr>
              <a:t>learnings</a:t>
            </a:r>
            <a:r>
              <a:rPr lang="fr-FR">
                <a:hlinkClick r:id="rId4" action="ppaction://hlinksldjump"/>
              </a:rPr>
              <a:t> : </a:t>
            </a:r>
            <a:r>
              <a:rPr lang="fr-FR" b="1">
                <a:hlinkClick r:id="rId4" action="ppaction://hlinksldjump"/>
              </a:rPr>
              <a:t>Center Parcs &amp; </a:t>
            </a:r>
            <a:r>
              <a:rPr lang="fr-FR" b="1" err="1">
                <a:hlinkClick r:id="rId4" action="ppaction://hlinksldjump"/>
              </a:rPr>
              <a:t>Sunparks</a:t>
            </a:r>
            <a:r>
              <a:rPr lang="fr-FR" b="1">
                <a:hlinkClick r:id="rId4" action="ppaction://hlinksldjump"/>
              </a:rPr>
              <a:t> Europe</a:t>
            </a:r>
            <a:endParaRPr lang="fr-FR" b="1"/>
          </a:p>
          <a:p>
            <a:pPr marL="800100" lvl="1" indent="-342900">
              <a:lnSpc>
                <a:spcPct val="150000"/>
              </a:lnSpc>
              <a:spcBef>
                <a:spcPts val="1200"/>
              </a:spcBef>
              <a:buFont typeface="+mj-lt"/>
              <a:buAutoNum type="arabicPeriod"/>
            </a:pPr>
            <a:r>
              <a:rPr lang="fr-FR">
                <a:hlinkClick r:id="rId5" action="ppaction://hlinksldjump"/>
              </a:rPr>
              <a:t>NPS FY25 </a:t>
            </a:r>
            <a:r>
              <a:rPr lang="fr-FR" err="1">
                <a:hlinkClick r:id="rId5" action="ppaction://hlinksldjump"/>
              </a:rPr>
              <a:t>Results</a:t>
            </a:r>
            <a:r>
              <a:rPr lang="fr-FR">
                <a:hlinkClick r:id="rId5" action="ppaction://hlinksldjump"/>
              </a:rPr>
              <a:t> and </a:t>
            </a:r>
            <a:r>
              <a:rPr lang="fr-FR" err="1">
                <a:hlinkClick r:id="rId5" action="ppaction://hlinksldjump"/>
              </a:rPr>
              <a:t>learnings</a:t>
            </a:r>
            <a:r>
              <a:rPr lang="fr-FR">
                <a:hlinkClick r:id="rId5" action="ppaction://hlinksldjump"/>
              </a:rPr>
              <a:t> : </a:t>
            </a:r>
            <a:r>
              <a:rPr lang="fr-FR" b="1">
                <a:hlinkClick r:id="rId5" action="ppaction://hlinksldjump"/>
              </a:rPr>
              <a:t>Center Parcs &amp; </a:t>
            </a:r>
            <a:r>
              <a:rPr lang="fr-FR" b="1" err="1">
                <a:hlinkClick r:id="rId5" action="ppaction://hlinksldjump"/>
              </a:rPr>
              <a:t>Sunparks</a:t>
            </a:r>
            <a:r>
              <a:rPr lang="fr-FR" b="1">
                <a:hlinkClick r:id="rId5" action="ppaction://hlinksldjump"/>
              </a:rPr>
              <a:t> BELGIUM</a:t>
            </a:r>
            <a:endParaRPr lang="fr-FR" b="1"/>
          </a:p>
          <a:p>
            <a:pPr marL="800100" lvl="1" indent="-342900">
              <a:lnSpc>
                <a:spcPct val="150000"/>
              </a:lnSpc>
              <a:spcBef>
                <a:spcPts val="1200"/>
              </a:spcBef>
              <a:buFont typeface="+mj-lt"/>
              <a:buAutoNum type="arabicPeriod"/>
            </a:pPr>
            <a:r>
              <a:rPr lang="fr-FR">
                <a:hlinkClick r:id="rId6" action="ppaction://hlinksldjump"/>
              </a:rPr>
              <a:t>NPS FY25 </a:t>
            </a:r>
            <a:r>
              <a:rPr lang="fr-FR" err="1">
                <a:hlinkClick r:id="rId6" action="ppaction://hlinksldjump"/>
              </a:rPr>
              <a:t>Results</a:t>
            </a:r>
            <a:r>
              <a:rPr lang="fr-FR">
                <a:hlinkClick r:id="rId6" action="ppaction://hlinksldjump"/>
              </a:rPr>
              <a:t> and </a:t>
            </a:r>
            <a:r>
              <a:rPr lang="fr-FR" err="1">
                <a:hlinkClick r:id="rId6" action="ppaction://hlinksldjump"/>
              </a:rPr>
              <a:t>learnings</a:t>
            </a:r>
            <a:r>
              <a:rPr lang="fr-FR">
                <a:hlinkClick r:id="rId6" action="ppaction://hlinksldjump"/>
              </a:rPr>
              <a:t> : </a:t>
            </a:r>
            <a:r>
              <a:rPr lang="fr-FR" b="1">
                <a:hlinkClick r:id="rId6" action="ppaction://hlinksldjump"/>
              </a:rPr>
              <a:t>Center Parcs NETHERLANDS</a:t>
            </a:r>
            <a:endParaRPr lang="fr-FR" b="1"/>
          </a:p>
          <a:p>
            <a:pPr marL="800100" lvl="1" indent="-342900">
              <a:lnSpc>
                <a:spcPct val="150000"/>
              </a:lnSpc>
              <a:spcBef>
                <a:spcPts val="1200"/>
              </a:spcBef>
              <a:buFont typeface="+mj-lt"/>
              <a:buAutoNum type="arabicPeriod"/>
            </a:pPr>
            <a:r>
              <a:rPr lang="fr-FR">
                <a:hlinkClick r:id="rId7" action="ppaction://hlinksldjump"/>
              </a:rPr>
              <a:t>NPS FY25 </a:t>
            </a:r>
            <a:r>
              <a:rPr lang="fr-FR" err="1">
                <a:hlinkClick r:id="rId7" action="ppaction://hlinksldjump"/>
              </a:rPr>
              <a:t>Results</a:t>
            </a:r>
            <a:r>
              <a:rPr lang="fr-FR">
                <a:hlinkClick r:id="rId7" action="ppaction://hlinksldjump"/>
              </a:rPr>
              <a:t> and </a:t>
            </a:r>
            <a:r>
              <a:rPr lang="fr-FR" err="1">
                <a:hlinkClick r:id="rId7" action="ppaction://hlinksldjump"/>
              </a:rPr>
              <a:t>learnings</a:t>
            </a:r>
            <a:r>
              <a:rPr lang="fr-FR">
                <a:hlinkClick r:id="rId7" action="ppaction://hlinksldjump"/>
              </a:rPr>
              <a:t> : </a:t>
            </a:r>
            <a:r>
              <a:rPr lang="fr-FR" b="1">
                <a:hlinkClick r:id="rId7" action="ppaction://hlinksldjump"/>
              </a:rPr>
              <a:t>Center Parcs GERMANY</a:t>
            </a:r>
            <a:endParaRPr lang="fr-FR" b="1"/>
          </a:p>
          <a:p>
            <a:pPr marL="800100" lvl="1" indent="-342900">
              <a:lnSpc>
                <a:spcPct val="150000"/>
              </a:lnSpc>
              <a:spcBef>
                <a:spcPts val="1200"/>
              </a:spcBef>
              <a:buFont typeface="+mj-lt"/>
              <a:buAutoNum type="arabicPeriod"/>
            </a:pPr>
            <a:r>
              <a:rPr lang="fr-FR">
                <a:hlinkClick r:id="rId8" action="ppaction://hlinksldjump"/>
              </a:rPr>
              <a:t>NPS FY25 </a:t>
            </a:r>
            <a:r>
              <a:rPr lang="fr-FR" err="1">
                <a:hlinkClick r:id="rId8" action="ppaction://hlinksldjump"/>
              </a:rPr>
              <a:t>Results</a:t>
            </a:r>
            <a:r>
              <a:rPr lang="fr-FR">
                <a:hlinkClick r:id="rId8" action="ppaction://hlinksldjump"/>
              </a:rPr>
              <a:t> and </a:t>
            </a:r>
            <a:r>
              <a:rPr lang="fr-FR" err="1">
                <a:hlinkClick r:id="rId8" action="ppaction://hlinksldjump"/>
              </a:rPr>
              <a:t>learnings</a:t>
            </a:r>
            <a:r>
              <a:rPr lang="fr-FR">
                <a:hlinkClick r:id="rId8" action="ppaction://hlinksldjump"/>
              </a:rPr>
              <a:t> : </a:t>
            </a:r>
            <a:r>
              <a:rPr lang="fr-FR" b="1" u="sng">
                <a:hlinkClick r:id="rId8" action="ppaction://hlinksldjump"/>
              </a:rPr>
              <a:t>Center Parcs </a:t>
            </a:r>
            <a:r>
              <a:rPr lang="fr-FR" b="1" u="sng"/>
              <a:t>France</a:t>
            </a:r>
          </a:p>
          <a:p>
            <a:pPr marL="800100" lvl="1" indent="-342900">
              <a:lnSpc>
                <a:spcPct val="150000"/>
              </a:lnSpc>
              <a:spcBef>
                <a:spcPts val="1200"/>
              </a:spcBef>
              <a:buFont typeface="+mj-lt"/>
              <a:buAutoNum type="arabicPeriod"/>
            </a:pPr>
            <a:r>
              <a:rPr lang="fr-FR" u="sng">
                <a:hlinkClick r:id="rId9" action="ppaction://hlinksldjump"/>
              </a:rPr>
              <a:t>NPS FY25 </a:t>
            </a:r>
            <a:r>
              <a:rPr lang="fr-FR" u="sng" err="1">
                <a:hlinkClick r:id="rId9" action="ppaction://hlinksldjump"/>
              </a:rPr>
              <a:t>Results</a:t>
            </a:r>
            <a:r>
              <a:rPr lang="fr-FR" u="sng">
                <a:hlinkClick r:id="rId9" action="ppaction://hlinksldjump"/>
              </a:rPr>
              <a:t> and </a:t>
            </a:r>
            <a:r>
              <a:rPr lang="fr-FR" u="sng" err="1">
                <a:hlinkClick r:id="rId9" action="ppaction://hlinksldjump"/>
              </a:rPr>
              <a:t>learnings</a:t>
            </a:r>
            <a:r>
              <a:rPr lang="fr-FR" u="sng">
                <a:hlinkClick r:id="rId9" action="ppaction://hlinksldjump"/>
              </a:rPr>
              <a:t> : </a:t>
            </a:r>
            <a:r>
              <a:rPr lang="fr-FR" b="1" u="sng">
                <a:hlinkClick r:id="rId9" action="ppaction://hlinksldjump"/>
              </a:rPr>
              <a:t>Center Parcs </a:t>
            </a:r>
            <a:r>
              <a:rPr lang="fr-FR" b="1" u="sng" err="1">
                <a:hlinkClick r:id="rId9" action="ppaction://hlinksldjump"/>
              </a:rPr>
              <a:t>Denmark</a:t>
            </a:r>
            <a:endParaRPr lang="fr-FR" b="1" u="sng"/>
          </a:p>
          <a:p>
            <a:pPr marL="342900" indent="-342900">
              <a:lnSpc>
                <a:spcPct val="150000"/>
              </a:lnSpc>
              <a:spcBef>
                <a:spcPts val="1200"/>
              </a:spcBef>
              <a:buFont typeface="Arial" panose="020B0604020202020204" pitchFamily="34" charset="0"/>
              <a:buChar char="•"/>
            </a:pPr>
            <a:r>
              <a:rPr lang="fr-FR">
                <a:hlinkClick r:id="rId10" action="ppaction://hlinksldjump"/>
              </a:rPr>
              <a:t>Nomenclature</a:t>
            </a:r>
            <a:endParaRPr lang="fr-FR"/>
          </a:p>
        </p:txBody>
      </p:sp>
    </p:spTree>
    <p:extLst>
      <p:ext uri="{BB962C8B-B14F-4D97-AF65-F5344CB8AC3E}">
        <p14:creationId xmlns:p14="http://schemas.microsoft.com/office/powerpoint/2010/main" val="2494343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4EB32D-48CC-864F-F2E3-930C42F55F08}"/>
              </a:ext>
            </a:extLst>
          </p:cNvPr>
          <p:cNvSpPr>
            <a:spLocks noGrp="1"/>
          </p:cNvSpPr>
          <p:nvPr>
            <p:ph type="sldNum" sz="quarter" idx="12"/>
          </p:nvPr>
        </p:nvSpPr>
        <p:spPr/>
        <p:txBody>
          <a:bodyPr/>
          <a:lstStyle/>
          <a:p>
            <a:fld id="{0D2E6A04-B99A-6C4D-8942-945F97C9E705}" type="slidenum">
              <a:rPr lang="en-US" smtClean="0"/>
              <a:pPr/>
              <a:t>4</a:t>
            </a:fld>
            <a:endParaRPr lang="en-US"/>
          </a:p>
        </p:txBody>
      </p:sp>
      <p:sp>
        <p:nvSpPr>
          <p:cNvPr id="3" name="Date Placeholder 2">
            <a:extLst>
              <a:ext uri="{FF2B5EF4-FFF2-40B4-BE49-F238E27FC236}">
                <a16:creationId xmlns:a16="http://schemas.microsoft.com/office/drawing/2014/main" id="{B6032B2B-6E24-581B-2A3E-4A04CF3479A1}"/>
              </a:ext>
            </a:extLst>
          </p:cNvPr>
          <p:cNvSpPr>
            <a:spLocks noGrp="1"/>
          </p:cNvSpPr>
          <p:nvPr>
            <p:ph type="dt" sz="half" idx="10"/>
          </p:nvPr>
        </p:nvSpPr>
        <p:spPr/>
        <p:txBody>
          <a:bodyPr/>
          <a:lstStyle/>
          <a:p>
            <a:fld id="{05C20A28-4BAC-4477-9026-1E123DBFBC43}" type="datetime1">
              <a:rPr lang="fr-FR" smtClean="0"/>
              <a:t>27/11/2025</a:t>
            </a:fld>
            <a:endParaRPr lang="en-US"/>
          </a:p>
        </p:txBody>
      </p:sp>
      <p:sp>
        <p:nvSpPr>
          <p:cNvPr id="5" name="Title 4">
            <a:extLst>
              <a:ext uri="{FF2B5EF4-FFF2-40B4-BE49-F238E27FC236}">
                <a16:creationId xmlns:a16="http://schemas.microsoft.com/office/drawing/2014/main" id="{3D785F16-BA47-F00E-AD4A-38CB396B4C42}"/>
              </a:ext>
            </a:extLst>
          </p:cNvPr>
          <p:cNvSpPr>
            <a:spLocks noGrp="1"/>
          </p:cNvSpPr>
          <p:nvPr>
            <p:ph type="title"/>
          </p:nvPr>
        </p:nvSpPr>
        <p:spPr/>
        <p:txBody>
          <a:bodyPr/>
          <a:lstStyle/>
          <a:p>
            <a:r>
              <a:rPr lang="fr-FR"/>
              <a:t>Survey </a:t>
            </a:r>
            <a:r>
              <a:rPr lang="fr-FR" err="1"/>
              <a:t>Health</a:t>
            </a:r>
            <a:r>
              <a:rPr lang="fr-FR"/>
              <a:t> check</a:t>
            </a:r>
          </a:p>
        </p:txBody>
      </p:sp>
      <p:sp>
        <p:nvSpPr>
          <p:cNvPr id="6" name="Rechthoek 4">
            <a:extLst>
              <a:ext uri="{FF2B5EF4-FFF2-40B4-BE49-F238E27FC236}">
                <a16:creationId xmlns:a16="http://schemas.microsoft.com/office/drawing/2014/main" id="{5CAB94E7-FF36-4AD1-5F8F-5F0F727057AD}"/>
              </a:ext>
            </a:extLst>
          </p:cNvPr>
          <p:cNvSpPr/>
          <p:nvPr/>
        </p:nvSpPr>
        <p:spPr>
          <a:xfrm>
            <a:off x="0" y="978100"/>
            <a:ext cx="6975102" cy="1538706"/>
          </a:xfrm>
          <a:prstGeom prst="rect">
            <a:avLst/>
          </a:prstGeom>
          <a:solidFill>
            <a:schemeClr val="accent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buFont typeface="Arial" panose="020B0604020202020204" pitchFamily="34" charset="0"/>
              <a:buChar char="•"/>
            </a:pPr>
            <a:r>
              <a:rPr lang="en-US" sz="1200">
                <a:solidFill>
                  <a:schemeClr val="tx1"/>
                </a:solidFill>
                <a:latin typeface="+mj-lt"/>
                <a:ea typeface="Calibri"/>
                <a:cs typeface="Calibri"/>
              </a:rPr>
              <a:t>We collected </a:t>
            </a:r>
            <a:r>
              <a:rPr lang="en-US" sz="1200" b="1">
                <a:solidFill>
                  <a:schemeClr val="tx1"/>
                </a:solidFill>
                <a:latin typeface="+mj-lt"/>
                <a:ea typeface="Calibri"/>
                <a:cs typeface="Calibri"/>
              </a:rPr>
              <a:t>285 849 answers </a:t>
            </a:r>
            <a:r>
              <a:rPr lang="en-US" sz="1200">
                <a:solidFill>
                  <a:schemeClr val="tx1"/>
                </a:solidFill>
                <a:latin typeface="+mj-lt"/>
                <a:ea typeface="Calibri"/>
                <a:cs typeface="Calibri"/>
              </a:rPr>
              <a:t>(-3% vs </a:t>
            </a:r>
            <a:r>
              <a:rPr lang="en-US" sz="1200" err="1">
                <a:solidFill>
                  <a:schemeClr val="tx1"/>
                </a:solidFill>
                <a:latin typeface="+mj-lt"/>
                <a:ea typeface="Calibri"/>
                <a:cs typeface="Calibri"/>
              </a:rPr>
              <a:t>ly</a:t>
            </a:r>
            <a:r>
              <a:rPr lang="en-US" sz="1200">
                <a:solidFill>
                  <a:schemeClr val="tx1"/>
                </a:solidFill>
                <a:latin typeface="+mj-lt"/>
                <a:ea typeface="Calibri"/>
                <a:cs typeface="Calibri"/>
              </a:rPr>
              <a:t>)</a:t>
            </a:r>
          </a:p>
          <a:p>
            <a:pPr marL="720725" lvl="2" indent="-161925">
              <a:buFont typeface="Arial" panose="020B0604020202020204" pitchFamily="34" charset="0"/>
              <a:buChar char="•"/>
            </a:pPr>
            <a:r>
              <a:rPr lang="en-US" sz="1200" b="1">
                <a:solidFill>
                  <a:schemeClr val="tx1"/>
                </a:solidFill>
                <a:latin typeface="+mj-lt"/>
                <a:ea typeface="Calibri"/>
                <a:cs typeface="Calibri"/>
              </a:rPr>
              <a:t>Email opening rate is 69%, increased + 6pts </a:t>
            </a:r>
            <a:r>
              <a:rPr lang="en-US" sz="1200">
                <a:solidFill>
                  <a:schemeClr val="tx1"/>
                </a:solidFill>
                <a:latin typeface="+mj-lt"/>
                <a:ea typeface="Calibri"/>
                <a:cs typeface="Calibri"/>
              </a:rPr>
              <a:t>vs </a:t>
            </a:r>
            <a:r>
              <a:rPr lang="en-US" sz="1200" err="1">
                <a:solidFill>
                  <a:schemeClr val="tx1"/>
                </a:solidFill>
                <a:latin typeface="+mj-lt"/>
                <a:ea typeface="Calibri"/>
                <a:cs typeface="Calibri"/>
              </a:rPr>
              <a:t>ly</a:t>
            </a:r>
            <a:r>
              <a:rPr lang="en-US" sz="1200">
                <a:solidFill>
                  <a:schemeClr val="tx1"/>
                </a:solidFill>
                <a:latin typeface="+mj-lt"/>
                <a:ea typeface="Calibri"/>
                <a:cs typeface="Calibri"/>
              </a:rPr>
              <a:t> thanks to improvement in design.</a:t>
            </a:r>
          </a:p>
          <a:p>
            <a:pPr marL="720725" lvl="2" indent="-161925">
              <a:buFont typeface="Arial" panose="020B0604020202020204" pitchFamily="34" charset="0"/>
              <a:buChar char="•"/>
            </a:pPr>
            <a:r>
              <a:rPr lang="en-US" sz="1200" b="1">
                <a:solidFill>
                  <a:schemeClr val="tx1"/>
                </a:solidFill>
                <a:latin typeface="+mj-lt"/>
                <a:ea typeface="Calibri"/>
                <a:cs typeface="Calibri"/>
              </a:rPr>
              <a:t>Response rate is 30%, decreased -2,5pts </a:t>
            </a:r>
            <a:r>
              <a:rPr lang="en-US" sz="1200">
                <a:solidFill>
                  <a:schemeClr val="tx1"/>
                </a:solidFill>
                <a:latin typeface="+mj-lt"/>
                <a:ea typeface="Calibri"/>
                <a:cs typeface="Calibri"/>
              </a:rPr>
              <a:t>vs </a:t>
            </a:r>
            <a:r>
              <a:rPr lang="en-US" sz="1200" err="1">
                <a:solidFill>
                  <a:schemeClr val="tx1"/>
                </a:solidFill>
                <a:latin typeface="+mj-lt"/>
                <a:ea typeface="Calibri"/>
                <a:cs typeface="Calibri"/>
              </a:rPr>
              <a:t>ly</a:t>
            </a:r>
            <a:r>
              <a:rPr lang="en-US" sz="1200">
                <a:solidFill>
                  <a:schemeClr val="tx1"/>
                </a:solidFill>
                <a:latin typeface="+mj-lt"/>
                <a:ea typeface="Calibri"/>
                <a:cs typeface="Calibri"/>
              </a:rPr>
              <a:t>. Only VN, OD and ZV increased.</a:t>
            </a:r>
          </a:p>
          <a:p>
            <a:pPr marL="720725" lvl="2" indent="-161925">
              <a:buFont typeface="Arial" panose="020B0604020202020204" pitchFamily="34" charset="0"/>
              <a:buChar char="•"/>
            </a:pPr>
            <a:r>
              <a:rPr lang="en-US" sz="1200" b="1">
                <a:solidFill>
                  <a:schemeClr val="tx1"/>
                </a:solidFill>
                <a:latin typeface="+mj-lt"/>
                <a:ea typeface="Calibri"/>
                <a:cs typeface="Calibri"/>
              </a:rPr>
              <a:t>Return rate is higher on short survey</a:t>
            </a:r>
            <a:r>
              <a:rPr lang="en-US" sz="1200">
                <a:solidFill>
                  <a:schemeClr val="tx1"/>
                </a:solidFill>
                <a:latin typeface="+mj-lt"/>
                <a:ea typeface="Calibri"/>
                <a:cs typeface="Calibri"/>
              </a:rPr>
              <a:t>, vs very short survey was higher last years.</a:t>
            </a:r>
          </a:p>
          <a:p>
            <a:pPr marL="720725" lvl="2" indent="-161925">
              <a:buFont typeface="Arial" panose="020B0604020202020204" pitchFamily="34" charset="0"/>
              <a:buChar char="•"/>
            </a:pPr>
            <a:r>
              <a:rPr lang="en-US" sz="1200">
                <a:solidFill>
                  <a:schemeClr val="tx1"/>
                </a:solidFill>
                <a:latin typeface="+mj-lt"/>
                <a:ea typeface="Calibri"/>
                <a:cs typeface="Calibri"/>
              </a:rPr>
              <a:t>We don’t notice a significant difference in NPS between the surveys, only +1pt on very short survey vs total.</a:t>
            </a:r>
          </a:p>
        </p:txBody>
      </p:sp>
      <p:sp>
        <p:nvSpPr>
          <p:cNvPr id="7" name="Rectangle 6">
            <a:extLst>
              <a:ext uri="{FF2B5EF4-FFF2-40B4-BE49-F238E27FC236}">
                <a16:creationId xmlns:a16="http://schemas.microsoft.com/office/drawing/2014/main" id="{8F3CB6AB-4744-318B-4934-D5B11EC40C90}"/>
              </a:ext>
            </a:extLst>
          </p:cNvPr>
          <p:cNvSpPr/>
          <p:nvPr/>
        </p:nvSpPr>
        <p:spPr>
          <a:xfrm rot="16200000">
            <a:off x="-542904" y="1548811"/>
            <a:ext cx="1507598" cy="3754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ea typeface="Calibri"/>
                <a:cs typeface="Calibri"/>
              </a:rPr>
              <a:t>Analysis</a:t>
            </a:r>
            <a:endParaRPr lang="en-US" sz="1100"/>
          </a:p>
        </p:txBody>
      </p:sp>
      <p:graphicFrame>
        <p:nvGraphicFramePr>
          <p:cNvPr id="8" name="Table 7">
            <a:extLst>
              <a:ext uri="{FF2B5EF4-FFF2-40B4-BE49-F238E27FC236}">
                <a16:creationId xmlns:a16="http://schemas.microsoft.com/office/drawing/2014/main" id="{9BF403F9-FFB1-DAEF-1E3B-F1C5950A02E1}"/>
              </a:ext>
            </a:extLst>
          </p:cNvPr>
          <p:cNvGraphicFramePr>
            <a:graphicFrameLocks noGrp="1"/>
          </p:cNvGraphicFramePr>
          <p:nvPr>
            <p:extLst>
              <p:ext uri="{D42A27DB-BD31-4B8C-83A1-F6EECF244321}">
                <p14:modId xmlns:p14="http://schemas.microsoft.com/office/powerpoint/2010/main" val="2355699755"/>
              </p:ext>
            </p:extLst>
          </p:nvPr>
        </p:nvGraphicFramePr>
        <p:xfrm>
          <a:off x="188650" y="3957934"/>
          <a:ext cx="3340100" cy="1164590"/>
        </p:xfrm>
        <a:graphic>
          <a:graphicData uri="http://schemas.openxmlformats.org/drawingml/2006/table">
            <a:tbl>
              <a:tblPr/>
              <a:tblGrid>
                <a:gridCol w="1398660">
                  <a:extLst>
                    <a:ext uri="{9D8B030D-6E8A-4147-A177-3AD203B41FA5}">
                      <a16:colId xmlns:a16="http://schemas.microsoft.com/office/drawing/2014/main" val="121294272"/>
                    </a:ext>
                  </a:extLst>
                </a:gridCol>
                <a:gridCol w="628650">
                  <a:extLst>
                    <a:ext uri="{9D8B030D-6E8A-4147-A177-3AD203B41FA5}">
                      <a16:colId xmlns:a16="http://schemas.microsoft.com/office/drawing/2014/main" val="1828573909"/>
                    </a:ext>
                  </a:extLst>
                </a:gridCol>
                <a:gridCol w="657225">
                  <a:extLst>
                    <a:ext uri="{9D8B030D-6E8A-4147-A177-3AD203B41FA5}">
                      <a16:colId xmlns:a16="http://schemas.microsoft.com/office/drawing/2014/main" val="2015590391"/>
                    </a:ext>
                  </a:extLst>
                </a:gridCol>
                <a:gridCol w="655565">
                  <a:extLst>
                    <a:ext uri="{9D8B030D-6E8A-4147-A177-3AD203B41FA5}">
                      <a16:colId xmlns:a16="http://schemas.microsoft.com/office/drawing/2014/main" val="3071697202"/>
                    </a:ext>
                  </a:extLst>
                </a:gridCol>
              </a:tblGrid>
              <a:tr h="146752">
                <a:tc>
                  <a:txBody>
                    <a:bodyPr/>
                    <a:lstStyle/>
                    <a:p>
                      <a:pPr algn="ctr" fontAlgn="b">
                        <a:buNone/>
                      </a:pPr>
                      <a:r>
                        <a:rPr lang="fr-FR" sz="1050" b="1" i="0" u="none" strike="noStrike">
                          <a:solidFill>
                            <a:srgbClr val="000000"/>
                          </a:solidFill>
                          <a:effectLst/>
                          <a:latin typeface="Aptos Narrow" panose="020B0004020202020204" pitchFamily="34" charset="0"/>
                        </a:rPr>
                        <a:t>% Survey </a:t>
                      </a:r>
                      <a:r>
                        <a:rPr lang="fr-FR" sz="1050" b="1" i="0" u="none" strike="noStrike" err="1">
                          <a:solidFill>
                            <a:srgbClr val="000000"/>
                          </a:solidFill>
                          <a:effectLst/>
                          <a:latin typeface="Aptos Narrow" panose="020B0004020202020204" pitchFamily="34" charset="0"/>
                        </a:rPr>
                        <a:t>response</a:t>
                      </a:r>
                      <a:r>
                        <a:rPr lang="fr-FR" sz="1050" b="1" i="0" u="none" strike="noStrike">
                          <a:solidFill>
                            <a:srgbClr val="000000"/>
                          </a:solidFill>
                          <a:effectLst/>
                          <a:latin typeface="Aptos Narrow" panose="020B0004020202020204" pitchFamily="34" charset="0"/>
                        </a:rPr>
                        <a:t> rate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fontAlgn="b">
                        <a:buNone/>
                      </a:pPr>
                      <a:r>
                        <a:rPr lang="fr-FR" sz="1050" b="1" i="0" u="none" strike="noStrike">
                          <a:solidFill>
                            <a:srgbClr val="000000"/>
                          </a:solidFill>
                          <a:effectLst/>
                          <a:latin typeface="Aptos Narrow" panose="020B0004020202020204" pitchFamily="34" charset="0"/>
                        </a:rPr>
                        <a:t>FY24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fontAlgn="b">
                        <a:buNone/>
                      </a:pPr>
                      <a:r>
                        <a:rPr lang="fr-FR" sz="105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fontAlgn="b">
                        <a:buNone/>
                      </a:pPr>
                      <a:r>
                        <a:rPr lang="fr-FR" sz="1050" b="1" i="0" u="none" strike="noStrike">
                          <a:solidFill>
                            <a:srgbClr val="000000"/>
                          </a:solidFill>
                          <a:effectLst/>
                          <a:latin typeface="Aptos Narrow" panose="020B0004020202020204" pitchFamily="34" charset="0"/>
                        </a:rPr>
                        <a:t>Evol vs </a:t>
                      </a:r>
                      <a:r>
                        <a:rPr lang="fr-FR" sz="1050" b="1" i="0" u="none" strike="noStrike" err="1">
                          <a:solidFill>
                            <a:srgbClr val="000000"/>
                          </a:solidFill>
                          <a:effectLst/>
                          <a:latin typeface="Aptos Narrow" panose="020B0004020202020204" pitchFamily="34" charset="0"/>
                        </a:rPr>
                        <a:t>ly</a:t>
                      </a:r>
                      <a:endParaRPr lang="fr-FR" sz="1050" b="1"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35384796"/>
                  </a:ext>
                </a:extLst>
              </a:tr>
              <a:tr h="146752">
                <a:tc>
                  <a:txBody>
                    <a:bodyPr/>
                    <a:lstStyle/>
                    <a:p>
                      <a:pPr algn="l" fontAlgn="b">
                        <a:buNone/>
                      </a:pPr>
                      <a:r>
                        <a:rPr lang="fr-FR" sz="1050" b="0" i="0" u="none" strike="noStrike">
                          <a:solidFill>
                            <a:srgbClr val="000000"/>
                          </a:solidFill>
                          <a:effectLst/>
                          <a:latin typeface="Aptos Narrow" panose="020B0004020202020204" pitchFamily="34" charset="0"/>
                        </a:rPr>
                        <a:t>Belgium</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30,9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29,2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FF0000"/>
                          </a:solidFill>
                          <a:effectLst/>
                          <a:latin typeface="Aptos Narrow" panose="020B0004020202020204" pitchFamily="34" charset="0"/>
                        </a:rPr>
                        <a:t>-1,7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75025489"/>
                  </a:ext>
                </a:extLst>
              </a:tr>
              <a:tr h="146752">
                <a:tc>
                  <a:txBody>
                    <a:bodyPr/>
                    <a:lstStyle/>
                    <a:p>
                      <a:pPr algn="l" fontAlgn="b">
                        <a:buNone/>
                      </a:pPr>
                      <a:r>
                        <a:rPr lang="fr-FR" sz="1050" b="0" i="0" u="none" strike="noStrike" err="1">
                          <a:solidFill>
                            <a:srgbClr val="000000"/>
                          </a:solidFill>
                          <a:effectLst/>
                          <a:latin typeface="Aptos Narrow" panose="020B0004020202020204" pitchFamily="34" charset="0"/>
                        </a:rPr>
                        <a:t>Denmark</a:t>
                      </a:r>
                      <a:endParaRPr lang="fr-FR" sz="1050" b="0"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endParaRPr lang="fr-FR" sz="1050" b="0"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35,4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endParaRPr lang="fr-FR" sz="1050" b="0" i="0" u="none" strike="noStrike">
                        <a:solidFill>
                          <a:srgbClr val="FF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70854002"/>
                  </a:ext>
                </a:extLst>
              </a:tr>
              <a:tr h="146752">
                <a:tc>
                  <a:txBody>
                    <a:bodyPr/>
                    <a:lstStyle/>
                    <a:p>
                      <a:pPr algn="l" fontAlgn="b">
                        <a:buNone/>
                      </a:pPr>
                      <a:r>
                        <a:rPr lang="fr-FR" sz="1050" b="0" i="0" u="none" strike="noStrike">
                          <a:solidFill>
                            <a:srgbClr val="000000"/>
                          </a:solidFill>
                          <a:effectLst/>
                          <a:latin typeface="Aptos Narrow" panose="020B0004020202020204" pitchFamily="34" charset="0"/>
                        </a:rPr>
                        <a:t>France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32,2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28,9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FF0000"/>
                          </a:solidFill>
                          <a:effectLst/>
                          <a:latin typeface="Aptos Narrow" panose="020B0004020202020204" pitchFamily="34" charset="0"/>
                        </a:rPr>
                        <a:t>-3,4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54971582"/>
                  </a:ext>
                </a:extLst>
              </a:tr>
              <a:tr h="146752">
                <a:tc>
                  <a:txBody>
                    <a:bodyPr/>
                    <a:lstStyle/>
                    <a:p>
                      <a:pPr algn="l" fontAlgn="b">
                        <a:buNone/>
                      </a:pPr>
                      <a:r>
                        <a:rPr lang="fr-FR" sz="1050" b="0" i="0" u="none" strike="noStrike">
                          <a:solidFill>
                            <a:srgbClr val="000000"/>
                          </a:solidFill>
                          <a:effectLst/>
                          <a:latin typeface="Aptos Narrow" panose="020B0004020202020204" pitchFamily="34" charset="0"/>
                        </a:rPr>
                        <a:t>Netherlands</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31,1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29,0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FF0000"/>
                          </a:solidFill>
                          <a:effectLst/>
                          <a:latin typeface="Aptos Narrow" panose="020B0004020202020204" pitchFamily="34" charset="0"/>
                        </a:rPr>
                        <a:t>-2,1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23156382"/>
                  </a:ext>
                </a:extLst>
              </a:tr>
              <a:tr h="146752">
                <a:tc>
                  <a:txBody>
                    <a:bodyPr/>
                    <a:lstStyle/>
                    <a:p>
                      <a:pPr algn="l" fontAlgn="b">
                        <a:buNone/>
                      </a:pPr>
                      <a:r>
                        <a:rPr lang="fr-FR" sz="1050" b="0" i="0" u="none" strike="noStrike">
                          <a:solidFill>
                            <a:srgbClr val="000000"/>
                          </a:solidFill>
                          <a:effectLst/>
                          <a:latin typeface="Aptos Narrow" panose="020B0004020202020204" pitchFamily="34" charset="0"/>
                        </a:rPr>
                        <a:t>Germany</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35,7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33,0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FF0000"/>
                          </a:solidFill>
                          <a:effectLst/>
                          <a:latin typeface="Aptos Narrow" panose="020B0004020202020204" pitchFamily="34" charset="0"/>
                        </a:rPr>
                        <a:t>-2,7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24471670"/>
                  </a:ext>
                </a:extLst>
              </a:tr>
              <a:tr h="146752">
                <a:tc>
                  <a:txBody>
                    <a:bodyPr/>
                    <a:lstStyle/>
                    <a:p>
                      <a:pPr algn="l" fontAlgn="b">
                        <a:buNone/>
                      </a:pPr>
                      <a:r>
                        <a:rPr lang="fr-FR" sz="1050" b="1" i="0" u="none" strike="noStrike">
                          <a:solidFill>
                            <a:srgbClr val="000000"/>
                          </a:solidFill>
                          <a:effectLst/>
                          <a:latin typeface="Aptos Narrow" panose="020B0004020202020204" pitchFamily="34" charset="0"/>
                        </a:rPr>
                        <a:t>Total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32,4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29,9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FF0000"/>
                          </a:solidFill>
                          <a:effectLst/>
                          <a:latin typeface="Aptos Narrow" panose="020B0004020202020204" pitchFamily="34" charset="0"/>
                        </a:rPr>
                        <a:t>-2,5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19811091"/>
                  </a:ext>
                </a:extLst>
              </a:tr>
            </a:tbl>
          </a:graphicData>
        </a:graphic>
      </p:graphicFrame>
      <p:graphicFrame>
        <p:nvGraphicFramePr>
          <p:cNvPr id="9" name="Table 8">
            <a:extLst>
              <a:ext uri="{FF2B5EF4-FFF2-40B4-BE49-F238E27FC236}">
                <a16:creationId xmlns:a16="http://schemas.microsoft.com/office/drawing/2014/main" id="{3EA27A13-81AD-7BB3-9686-3E83C4BDE7D7}"/>
              </a:ext>
            </a:extLst>
          </p:cNvPr>
          <p:cNvGraphicFramePr>
            <a:graphicFrameLocks noGrp="1"/>
          </p:cNvGraphicFramePr>
          <p:nvPr>
            <p:extLst>
              <p:ext uri="{D42A27DB-BD31-4B8C-83A1-F6EECF244321}">
                <p14:modId xmlns:p14="http://schemas.microsoft.com/office/powerpoint/2010/main" val="1103925411"/>
              </p:ext>
            </p:extLst>
          </p:nvPr>
        </p:nvGraphicFramePr>
        <p:xfrm>
          <a:off x="7303770" y="978100"/>
          <a:ext cx="4554600" cy="5179260"/>
        </p:xfrm>
        <a:graphic>
          <a:graphicData uri="http://schemas.openxmlformats.org/drawingml/2006/table">
            <a:tbl>
              <a:tblPr/>
              <a:tblGrid>
                <a:gridCol w="2060826">
                  <a:extLst>
                    <a:ext uri="{9D8B030D-6E8A-4147-A177-3AD203B41FA5}">
                      <a16:colId xmlns:a16="http://schemas.microsoft.com/office/drawing/2014/main" val="480684141"/>
                    </a:ext>
                  </a:extLst>
                </a:gridCol>
                <a:gridCol w="831258">
                  <a:extLst>
                    <a:ext uri="{9D8B030D-6E8A-4147-A177-3AD203B41FA5}">
                      <a16:colId xmlns:a16="http://schemas.microsoft.com/office/drawing/2014/main" val="2451828506"/>
                    </a:ext>
                  </a:extLst>
                </a:gridCol>
                <a:gridCol w="831258">
                  <a:extLst>
                    <a:ext uri="{9D8B030D-6E8A-4147-A177-3AD203B41FA5}">
                      <a16:colId xmlns:a16="http://schemas.microsoft.com/office/drawing/2014/main" val="1369826649"/>
                    </a:ext>
                  </a:extLst>
                </a:gridCol>
                <a:gridCol w="831258">
                  <a:extLst>
                    <a:ext uri="{9D8B030D-6E8A-4147-A177-3AD203B41FA5}">
                      <a16:colId xmlns:a16="http://schemas.microsoft.com/office/drawing/2014/main" val="475164009"/>
                    </a:ext>
                  </a:extLst>
                </a:gridCol>
              </a:tblGrid>
              <a:tr h="168946">
                <a:tc>
                  <a:txBody>
                    <a:bodyPr/>
                    <a:lstStyle/>
                    <a:p>
                      <a:pPr algn="l" fontAlgn="b">
                        <a:buNone/>
                      </a:pPr>
                      <a:r>
                        <a:rPr lang="fr-FR" sz="1100" b="1" i="0" u="none" strike="noStrike">
                          <a:solidFill>
                            <a:srgbClr val="000000"/>
                          </a:solidFill>
                          <a:effectLst/>
                          <a:latin typeface="Aptos Narrow" panose="020B0004020202020204" pitchFamily="34" charset="0"/>
                        </a:rPr>
                        <a:t>% Survey </a:t>
                      </a:r>
                      <a:r>
                        <a:rPr lang="fr-FR" sz="1100" b="1" i="0" u="none" strike="noStrike" err="1">
                          <a:solidFill>
                            <a:srgbClr val="000000"/>
                          </a:solidFill>
                          <a:effectLst/>
                          <a:latin typeface="Aptos Narrow" panose="020B0004020202020204" pitchFamily="34" charset="0"/>
                        </a:rPr>
                        <a:t>response</a:t>
                      </a:r>
                      <a:r>
                        <a:rPr lang="fr-FR" sz="1100" b="1" i="0" u="none" strike="noStrike">
                          <a:solidFill>
                            <a:srgbClr val="000000"/>
                          </a:solidFill>
                          <a:effectLst/>
                          <a:latin typeface="Aptos Narrow" panose="020B0004020202020204" pitchFamily="34" charset="0"/>
                        </a:rPr>
                        <a:t> rate</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fontAlgn="b">
                        <a:buNone/>
                      </a:pPr>
                      <a:r>
                        <a:rPr lang="fr-FR" sz="1100" b="1" i="0" u="none" strike="noStrike">
                          <a:solidFill>
                            <a:srgbClr val="000000"/>
                          </a:solidFill>
                          <a:effectLst/>
                          <a:latin typeface="Aptos Narrow" panose="020B0004020202020204" pitchFamily="34" charset="0"/>
                        </a:rPr>
                        <a:t>FY24</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fontAlgn="b">
                        <a:buNone/>
                      </a:pPr>
                      <a:r>
                        <a:rPr lang="fr-FR" sz="1100" b="1" i="0" u="none" strike="noStrike">
                          <a:solidFill>
                            <a:srgbClr val="000000"/>
                          </a:solidFill>
                          <a:effectLst/>
                          <a:latin typeface="Aptos Narrow" panose="020B0004020202020204" pitchFamily="34" charset="0"/>
                        </a:rPr>
                        <a:t>FY25</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fontAlgn="b">
                        <a:buNone/>
                      </a:pPr>
                      <a:r>
                        <a:rPr lang="fr-FR" sz="1100" b="1" i="0" u="none" strike="noStrike">
                          <a:solidFill>
                            <a:srgbClr val="000000"/>
                          </a:solidFill>
                          <a:effectLst/>
                          <a:latin typeface="Aptos Narrow" panose="020B0004020202020204" pitchFamily="34" charset="0"/>
                        </a:rPr>
                        <a:t>Evol vs </a:t>
                      </a:r>
                      <a:r>
                        <a:rPr lang="fr-FR" sz="1100" b="1" i="0" u="none" strike="noStrike" err="1">
                          <a:solidFill>
                            <a:srgbClr val="000000"/>
                          </a:solidFill>
                          <a:effectLst/>
                          <a:latin typeface="Aptos Narrow" panose="020B0004020202020204" pitchFamily="34" charset="0"/>
                        </a:rPr>
                        <a:t>ly</a:t>
                      </a:r>
                      <a:endParaRPr lang="fr-FR" sz="1100" b="1" i="0" u="none" strike="noStrike">
                        <a:solidFill>
                          <a:srgbClr val="000000"/>
                        </a:solidFill>
                        <a:effectLst/>
                        <a:latin typeface="Aptos Narrow" panose="020B0004020202020204" pitchFamily="34" charset="0"/>
                      </a:endParaRP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52712584"/>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Bispinger Heide</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34</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32</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FF0000"/>
                          </a:solidFill>
                          <a:effectLst/>
                          <a:latin typeface="Aptos Narrow" panose="020B0004020202020204" pitchFamily="34" charset="0"/>
                        </a:rPr>
                        <a:t>-2,0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92973441"/>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De Eemhof</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29</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26</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FF0000"/>
                          </a:solidFill>
                          <a:effectLst/>
                          <a:latin typeface="Aptos Narrow" panose="020B0004020202020204" pitchFamily="34" charset="0"/>
                        </a:rPr>
                        <a:t>-3,0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10112146"/>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De Huttenheugte</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31</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29</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FF0000"/>
                          </a:solidFill>
                          <a:effectLst/>
                          <a:latin typeface="Aptos Narrow" panose="020B0004020202020204" pitchFamily="34" charset="0"/>
                        </a:rPr>
                        <a:t>-2,0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14342610"/>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De Kempervennen</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28</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FF0000"/>
                          </a:solidFill>
                          <a:effectLst/>
                          <a:latin typeface="Aptos Narrow" panose="020B0004020202020204" pitchFamily="34" charset="0"/>
                        </a:rPr>
                        <a:t>-2,0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858017"/>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De Vossemeren</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29</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28</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FF0000"/>
                          </a:solidFill>
                          <a:effectLst/>
                          <a:latin typeface="Aptos Narrow" panose="020B0004020202020204" pitchFamily="34" charset="0"/>
                        </a:rPr>
                        <a:t>-1,0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09193538"/>
                  </a:ext>
                </a:extLst>
              </a:tr>
              <a:tr h="168946">
                <a:tc>
                  <a:txBody>
                    <a:bodyPr/>
                    <a:lstStyle/>
                    <a:p>
                      <a:pPr algn="l" fontAlgn="b">
                        <a:buNone/>
                      </a:pPr>
                      <a:r>
                        <a:rPr lang="fr-FR" sz="1100" b="0" i="0" u="none" strike="noStrike" err="1">
                          <a:solidFill>
                            <a:srgbClr val="000000"/>
                          </a:solidFill>
                          <a:effectLst/>
                          <a:latin typeface="Aptos Narrow" panose="020B0004020202020204" pitchFamily="34" charset="0"/>
                        </a:rPr>
                        <a:t>Erperheide</a:t>
                      </a:r>
                      <a:endParaRPr lang="fr-FR" sz="1100" b="0" i="0" u="none" strike="noStrike">
                        <a:solidFill>
                          <a:srgbClr val="000000"/>
                        </a:solidFill>
                        <a:effectLst/>
                        <a:latin typeface="Aptos Narrow" panose="020B0004020202020204" pitchFamily="34" charset="0"/>
                      </a:endParaRP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29</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27</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FF0000"/>
                          </a:solidFill>
                          <a:effectLst/>
                          <a:latin typeface="Aptos Narrow" panose="020B0004020202020204" pitchFamily="34" charset="0"/>
                        </a:rPr>
                        <a:t>-2,0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69263862"/>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Het Heijderbos</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28</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FF0000"/>
                          </a:solidFill>
                          <a:effectLst/>
                          <a:latin typeface="Aptos Narrow" panose="020B0004020202020204" pitchFamily="34" charset="0"/>
                        </a:rPr>
                        <a:t>-2,0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4598745"/>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Het Meerdal</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31</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FF0000"/>
                          </a:solidFill>
                          <a:effectLst/>
                          <a:latin typeface="Aptos Narrow" panose="020B0004020202020204" pitchFamily="34" charset="0"/>
                        </a:rPr>
                        <a:t>-1,0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37073223"/>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Kempense Meren</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32</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31</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FF0000"/>
                          </a:solidFill>
                          <a:effectLst/>
                          <a:latin typeface="Aptos Narrow" panose="020B0004020202020204" pitchFamily="34" charset="0"/>
                        </a:rPr>
                        <a:t>-1,0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25574228"/>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Le Bois aux Daims</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33</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29</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FF0000"/>
                          </a:solidFill>
                          <a:effectLst/>
                          <a:latin typeface="Aptos Narrow" panose="020B0004020202020204" pitchFamily="34" charset="0"/>
                        </a:rPr>
                        <a:t>-4,0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2928970"/>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Le Lac d'Ailette</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32</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FF0000"/>
                          </a:solidFill>
                          <a:effectLst/>
                          <a:latin typeface="Aptos Narrow" panose="020B0004020202020204" pitchFamily="34" charset="0"/>
                        </a:rPr>
                        <a:t>-2,0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13134513"/>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Les Ardennes</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28</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FF0000"/>
                          </a:solidFill>
                          <a:effectLst/>
                          <a:latin typeface="Aptos Narrow" panose="020B0004020202020204" pitchFamily="34" charset="0"/>
                        </a:rPr>
                        <a:t>-2,0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33849388"/>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Les Bois-Francs</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31</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28</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FF0000"/>
                          </a:solidFill>
                          <a:effectLst/>
                          <a:latin typeface="Aptos Narrow" panose="020B0004020202020204" pitchFamily="34" charset="0"/>
                        </a:rPr>
                        <a:t>-3,0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37543500"/>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Les Hauts de Bruyères</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34</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FF0000"/>
                          </a:solidFill>
                          <a:effectLst/>
                          <a:latin typeface="Aptos Narrow" panose="020B0004020202020204" pitchFamily="34" charset="0"/>
                        </a:rPr>
                        <a:t>-4,0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28255851"/>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Les Landes de Gascogne</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35</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31</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FF0000"/>
                          </a:solidFill>
                          <a:effectLst/>
                          <a:latin typeface="Aptos Narrow" panose="020B0004020202020204" pitchFamily="34" charset="0"/>
                        </a:rPr>
                        <a:t>-4,0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64260517"/>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Les Trois Forêts</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32</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29</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FF0000"/>
                          </a:solidFill>
                          <a:effectLst/>
                          <a:latin typeface="Aptos Narrow" panose="020B0004020202020204" pitchFamily="34" charset="0"/>
                        </a:rPr>
                        <a:t>-3,0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8856157"/>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Limburgse Peel</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32</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FF0000"/>
                          </a:solidFill>
                          <a:effectLst/>
                          <a:latin typeface="Aptos Narrow" panose="020B0004020202020204" pitchFamily="34" charset="0"/>
                        </a:rPr>
                        <a:t>-2,0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37983354"/>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Oostduinkerke aan zee</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32</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35</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B050"/>
                          </a:solidFill>
                          <a:effectLst/>
                          <a:latin typeface="Aptos Narrow" panose="020B0004020202020204" pitchFamily="34" charset="0"/>
                        </a:rPr>
                        <a:t>3,0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23219154"/>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Parc Sandur</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35</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33</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FF0000"/>
                          </a:solidFill>
                          <a:effectLst/>
                          <a:latin typeface="Aptos Narrow" panose="020B0004020202020204" pitchFamily="34" charset="0"/>
                        </a:rPr>
                        <a:t>-2,0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47262249"/>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Park Allgäu</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38</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34</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FF0000"/>
                          </a:solidFill>
                          <a:effectLst/>
                          <a:latin typeface="Aptos Narrow" panose="020B0004020202020204" pitchFamily="34" charset="0"/>
                        </a:rPr>
                        <a:t>-4,0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42617029"/>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Park Bostalsee</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33</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35</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B050"/>
                          </a:solidFill>
                          <a:effectLst/>
                          <a:latin typeface="Aptos Narrow" panose="020B0004020202020204" pitchFamily="34" charset="0"/>
                        </a:rPr>
                        <a:t>2,0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4865917"/>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Park De Haan</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33</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31</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FF0000"/>
                          </a:solidFill>
                          <a:effectLst/>
                          <a:latin typeface="Aptos Narrow" panose="020B0004020202020204" pitchFamily="34" charset="0"/>
                        </a:rPr>
                        <a:t>-2,0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39110985"/>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Park Eifel</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35</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29</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FF0000"/>
                          </a:solidFill>
                          <a:effectLst/>
                          <a:latin typeface="Aptos Narrow" panose="020B0004020202020204" pitchFamily="34" charset="0"/>
                        </a:rPr>
                        <a:t>-6,0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34509270"/>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Park Hochsauerland</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33</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32</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FF0000"/>
                          </a:solidFill>
                          <a:effectLst/>
                          <a:latin typeface="Aptos Narrow" panose="020B0004020202020204" pitchFamily="34" charset="0"/>
                        </a:rPr>
                        <a:t>-1,0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14787833"/>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Park Nordseeküste</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35</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31</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FF0000"/>
                          </a:solidFill>
                          <a:effectLst/>
                          <a:latin typeface="Aptos Narrow" panose="020B0004020202020204" pitchFamily="34" charset="0"/>
                        </a:rPr>
                        <a:t>-4,0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81429056"/>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Park Zandvoort</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31</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34</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B050"/>
                          </a:solidFill>
                          <a:effectLst/>
                          <a:latin typeface="Aptos Narrow" panose="020B0004020202020204" pitchFamily="34" charset="0"/>
                        </a:rPr>
                        <a:t>3,0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73350674"/>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Port Zélande</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31</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FF0000"/>
                          </a:solidFill>
                          <a:effectLst/>
                          <a:latin typeface="Aptos Narrow" panose="020B0004020202020204" pitchFamily="34" charset="0"/>
                        </a:rPr>
                        <a:t>-1,0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06086683"/>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Terhills Resort</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31</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FF0000"/>
                          </a:solidFill>
                          <a:effectLst/>
                          <a:latin typeface="Aptos Narrow" panose="020B0004020202020204" pitchFamily="34" charset="0"/>
                        </a:rPr>
                        <a:t>-1,0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4874795"/>
                  </a:ext>
                </a:extLst>
              </a:tr>
              <a:tr h="168946">
                <a:tc>
                  <a:txBody>
                    <a:bodyPr/>
                    <a:lstStyle/>
                    <a:p>
                      <a:pPr algn="l" fontAlgn="b">
                        <a:buNone/>
                      </a:pPr>
                      <a:r>
                        <a:rPr lang="fr-FR" sz="1100" b="0" i="0" u="none" strike="noStrike">
                          <a:solidFill>
                            <a:srgbClr val="000000"/>
                          </a:solidFill>
                          <a:effectLst/>
                          <a:latin typeface="Aptos Narrow" panose="020B0004020202020204" pitchFamily="34" charset="0"/>
                        </a:rPr>
                        <a:t>Villages Nature Paris</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27</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32</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B050"/>
                          </a:solidFill>
                          <a:effectLst/>
                          <a:latin typeface="Aptos Narrow" panose="020B0004020202020204" pitchFamily="34" charset="0"/>
                        </a:rPr>
                        <a:t>5,0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01557505"/>
                  </a:ext>
                </a:extLst>
              </a:tr>
            </a:tbl>
          </a:graphicData>
        </a:graphic>
      </p:graphicFrame>
      <p:graphicFrame>
        <p:nvGraphicFramePr>
          <p:cNvPr id="10" name="Table 9">
            <a:extLst>
              <a:ext uri="{FF2B5EF4-FFF2-40B4-BE49-F238E27FC236}">
                <a16:creationId xmlns:a16="http://schemas.microsoft.com/office/drawing/2014/main" id="{ACF0FF00-5B76-DB67-CCAA-9DBC5F7D898A}"/>
              </a:ext>
            </a:extLst>
          </p:cNvPr>
          <p:cNvGraphicFramePr>
            <a:graphicFrameLocks noGrp="1"/>
          </p:cNvGraphicFramePr>
          <p:nvPr>
            <p:extLst>
              <p:ext uri="{D42A27DB-BD31-4B8C-83A1-F6EECF244321}">
                <p14:modId xmlns:p14="http://schemas.microsoft.com/office/powerpoint/2010/main" val="1711230610"/>
              </p:ext>
            </p:extLst>
          </p:nvPr>
        </p:nvGraphicFramePr>
        <p:xfrm>
          <a:off x="188649" y="2703730"/>
          <a:ext cx="3340101" cy="1164590"/>
        </p:xfrm>
        <a:graphic>
          <a:graphicData uri="http://schemas.openxmlformats.org/drawingml/2006/table">
            <a:tbl>
              <a:tblPr/>
              <a:tblGrid>
                <a:gridCol w="1382931">
                  <a:extLst>
                    <a:ext uri="{9D8B030D-6E8A-4147-A177-3AD203B41FA5}">
                      <a16:colId xmlns:a16="http://schemas.microsoft.com/office/drawing/2014/main" val="3665122449"/>
                    </a:ext>
                  </a:extLst>
                </a:gridCol>
                <a:gridCol w="652390">
                  <a:extLst>
                    <a:ext uri="{9D8B030D-6E8A-4147-A177-3AD203B41FA5}">
                      <a16:colId xmlns:a16="http://schemas.microsoft.com/office/drawing/2014/main" val="3264247536"/>
                    </a:ext>
                  </a:extLst>
                </a:gridCol>
                <a:gridCol w="652390">
                  <a:extLst>
                    <a:ext uri="{9D8B030D-6E8A-4147-A177-3AD203B41FA5}">
                      <a16:colId xmlns:a16="http://schemas.microsoft.com/office/drawing/2014/main" val="421556210"/>
                    </a:ext>
                  </a:extLst>
                </a:gridCol>
                <a:gridCol w="652390">
                  <a:extLst>
                    <a:ext uri="{9D8B030D-6E8A-4147-A177-3AD203B41FA5}">
                      <a16:colId xmlns:a16="http://schemas.microsoft.com/office/drawing/2014/main" val="2260439685"/>
                    </a:ext>
                  </a:extLst>
                </a:gridCol>
              </a:tblGrid>
              <a:tr h="134890">
                <a:tc>
                  <a:txBody>
                    <a:bodyPr/>
                    <a:lstStyle/>
                    <a:p>
                      <a:pPr algn="l" fontAlgn="b">
                        <a:buNone/>
                      </a:pPr>
                      <a:r>
                        <a:rPr lang="fr-FR" sz="1050" b="1" i="0" u="none" strike="noStrike">
                          <a:solidFill>
                            <a:srgbClr val="000000"/>
                          </a:solidFill>
                          <a:effectLst/>
                          <a:latin typeface="Aptos Narrow" panose="020B0004020202020204" pitchFamily="34" charset="0"/>
                        </a:rPr>
                        <a:t>%Email </a:t>
                      </a:r>
                      <a:r>
                        <a:rPr lang="fr-FR" sz="1050" b="1" i="0" u="none" strike="noStrike" err="1">
                          <a:solidFill>
                            <a:srgbClr val="000000"/>
                          </a:solidFill>
                          <a:effectLst/>
                          <a:latin typeface="Aptos Narrow" panose="020B0004020202020204" pitchFamily="34" charset="0"/>
                        </a:rPr>
                        <a:t>openning</a:t>
                      </a:r>
                      <a:r>
                        <a:rPr lang="fr-FR" sz="1050" b="1" i="0" u="none" strike="noStrike">
                          <a:solidFill>
                            <a:srgbClr val="000000"/>
                          </a:solidFill>
                          <a:effectLst/>
                          <a:latin typeface="Aptos Narrow" panose="020B0004020202020204" pitchFamily="34" charset="0"/>
                        </a:rPr>
                        <a:t> rate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fontAlgn="b">
                        <a:buNone/>
                      </a:pPr>
                      <a:r>
                        <a:rPr lang="fr-FR" sz="1050" b="1" i="0" u="none" strike="noStrike">
                          <a:solidFill>
                            <a:srgbClr val="000000"/>
                          </a:solidFill>
                          <a:effectLst/>
                          <a:latin typeface="Aptos Narrow" panose="020B0004020202020204" pitchFamily="34" charset="0"/>
                        </a:rPr>
                        <a:t>FY24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fontAlgn="b">
                        <a:buNone/>
                      </a:pPr>
                      <a:r>
                        <a:rPr lang="fr-FR" sz="105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fontAlgn="b">
                        <a:buNone/>
                      </a:pPr>
                      <a:r>
                        <a:rPr lang="fr-FR" sz="1050" b="1" i="0" u="none" strike="noStrike">
                          <a:solidFill>
                            <a:srgbClr val="000000"/>
                          </a:solidFill>
                          <a:effectLst/>
                          <a:latin typeface="Aptos Narrow" panose="020B0004020202020204" pitchFamily="34" charset="0"/>
                        </a:rPr>
                        <a:t>Evol vs </a:t>
                      </a:r>
                      <a:r>
                        <a:rPr lang="fr-FR" sz="1050" b="1" i="0" u="none" strike="noStrike" err="1">
                          <a:solidFill>
                            <a:srgbClr val="000000"/>
                          </a:solidFill>
                          <a:effectLst/>
                          <a:latin typeface="Aptos Narrow" panose="020B0004020202020204" pitchFamily="34" charset="0"/>
                        </a:rPr>
                        <a:t>ly</a:t>
                      </a:r>
                      <a:endParaRPr lang="fr-FR" sz="1050" b="1"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6101725"/>
                  </a:ext>
                </a:extLst>
              </a:tr>
              <a:tr h="134890">
                <a:tc>
                  <a:txBody>
                    <a:bodyPr/>
                    <a:lstStyle/>
                    <a:p>
                      <a:pPr algn="l" fontAlgn="b">
                        <a:buNone/>
                      </a:pPr>
                      <a:r>
                        <a:rPr lang="fr-FR" sz="1050" b="0" i="0" u="none" strike="noStrike">
                          <a:solidFill>
                            <a:srgbClr val="000000"/>
                          </a:solidFill>
                          <a:effectLst/>
                          <a:latin typeface="Aptos Narrow" panose="020B0004020202020204" pitchFamily="34" charset="0"/>
                        </a:rPr>
                        <a:t>Belgium</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56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64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B050"/>
                          </a:solidFill>
                          <a:effectLst/>
                          <a:latin typeface="Aptos Narrow" panose="020B0004020202020204" pitchFamily="34" charset="0"/>
                        </a:rPr>
                        <a:t>8,0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48314092"/>
                  </a:ext>
                </a:extLst>
              </a:tr>
              <a:tr h="134890">
                <a:tc>
                  <a:txBody>
                    <a:bodyPr/>
                    <a:lstStyle/>
                    <a:p>
                      <a:pPr algn="l" fontAlgn="b">
                        <a:buNone/>
                      </a:pPr>
                      <a:r>
                        <a:rPr lang="fr-FR" sz="1050" b="0" i="0" u="none" strike="noStrike">
                          <a:solidFill>
                            <a:srgbClr val="000000"/>
                          </a:solidFill>
                          <a:effectLst/>
                          <a:latin typeface="Aptos Narrow" panose="020B0004020202020204" pitchFamily="34" charset="0"/>
                        </a:rPr>
                        <a:t>Denmark</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endParaRPr lang="fr-FR" sz="1050" b="0"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76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endParaRPr lang="fr-FR" sz="1050" b="0" i="0" u="none" strike="noStrike">
                        <a:solidFill>
                          <a:srgbClr val="00B05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00203931"/>
                  </a:ext>
                </a:extLst>
              </a:tr>
              <a:tr h="134890">
                <a:tc>
                  <a:txBody>
                    <a:bodyPr/>
                    <a:lstStyle/>
                    <a:p>
                      <a:pPr algn="l" fontAlgn="b">
                        <a:buNone/>
                      </a:pPr>
                      <a:r>
                        <a:rPr lang="fr-FR" sz="1050" b="0" i="0" u="none" strike="noStrike">
                          <a:solidFill>
                            <a:srgbClr val="000000"/>
                          </a:solidFill>
                          <a:effectLst/>
                          <a:latin typeface="Aptos Narrow" panose="020B0004020202020204" pitchFamily="34" charset="0"/>
                        </a:rPr>
                        <a:t>France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65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71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B050"/>
                          </a:solidFill>
                          <a:effectLst/>
                          <a:latin typeface="Aptos Narrow" panose="020B0004020202020204" pitchFamily="34" charset="0"/>
                        </a:rPr>
                        <a:t>6,0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56470937"/>
                  </a:ext>
                </a:extLst>
              </a:tr>
              <a:tr h="134890">
                <a:tc>
                  <a:txBody>
                    <a:bodyPr/>
                    <a:lstStyle/>
                    <a:p>
                      <a:pPr algn="l" fontAlgn="b">
                        <a:buNone/>
                      </a:pPr>
                      <a:r>
                        <a:rPr lang="fr-FR" sz="1050" b="0" i="0" u="none" strike="noStrike">
                          <a:solidFill>
                            <a:srgbClr val="000000"/>
                          </a:solidFill>
                          <a:effectLst/>
                          <a:latin typeface="Aptos Narrow" panose="020B0004020202020204" pitchFamily="34" charset="0"/>
                        </a:rPr>
                        <a:t>Netherlands</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63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70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B050"/>
                          </a:solidFill>
                          <a:effectLst/>
                          <a:latin typeface="Aptos Narrow" panose="020B0004020202020204" pitchFamily="34" charset="0"/>
                        </a:rPr>
                        <a:t>7,0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76621609"/>
                  </a:ext>
                </a:extLst>
              </a:tr>
              <a:tr h="134890">
                <a:tc>
                  <a:txBody>
                    <a:bodyPr/>
                    <a:lstStyle/>
                    <a:p>
                      <a:pPr algn="l" fontAlgn="b">
                        <a:buNone/>
                      </a:pPr>
                      <a:r>
                        <a:rPr lang="fr-FR" sz="1050" b="0" i="0" u="none" strike="noStrike">
                          <a:solidFill>
                            <a:srgbClr val="000000"/>
                          </a:solidFill>
                          <a:effectLst/>
                          <a:latin typeface="Aptos Narrow" panose="020B0004020202020204" pitchFamily="34" charset="0"/>
                        </a:rPr>
                        <a:t>Germany</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68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70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B050"/>
                          </a:solidFill>
                          <a:effectLst/>
                          <a:latin typeface="Aptos Narrow" panose="020B0004020202020204" pitchFamily="34" charset="0"/>
                        </a:rPr>
                        <a:t>2,0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16580578"/>
                  </a:ext>
                </a:extLst>
              </a:tr>
              <a:tr h="134890">
                <a:tc>
                  <a:txBody>
                    <a:bodyPr/>
                    <a:lstStyle/>
                    <a:p>
                      <a:pPr algn="l" fontAlgn="b">
                        <a:buNone/>
                      </a:pPr>
                      <a:r>
                        <a:rPr lang="fr-FR" sz="1050" b="1" i="0" u="none" strike="noStrike">
                          <a:solidFill>
                            <a:srgbClr val="000000"/>
                          </a:solidFill>
                          <a:effectLst/>
                          <a:latin typeface="Aptos Narrow" panose="020B0004020202020204" pitchFamily="34" charset="0"/>
                        </a:rPr>
                        <a:t>Total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63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69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B050"/>
                          </a:solidFill>
                          <a:effectLst/>
                          <a:latin typeface="Aptos Narrow" panose="020B0004020202020204" pitchFamily="34" charset="0"/>
                        </a:rPr>
                        <a:t>6,0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87425760"/>
                  </a:ext>
                </a:extLst>
              </a:tr>
            </a:tbl>
          </a:graphicData>
        </a:graphic>
      </p:graphicFrame>
      <p:graphicFrame>
        <p:nvGraphicFramePr>
          <p:cNvPr id="11" name="Table 10">
            <a:extLst>
              <a:ext uri="{FF2B5EF4-FFF2-40B4-BE49-F238E27FC236}">
                <a16:creationId xmlns:a16="http://schemas.microsoft.com/office/drawing/2014/main" id="{D2334F32-205F-5D1F-AE56-48DCE77DCB0C}"/>
              </a:ext>
            </a:extLst>
          </p:cNvPr>
          <p:cNvGraphicFramePr>
            <a:graphicFrameLocks noGrp="1"/>
          </p:cNvGraphicFramePr>
          <p:nvPr>
            <p:extLst>
              <p:ext uri="{D42A27DB-BD31-4B8C-83A1-F6EECF244321}">
                <p14:modId xmlns:p14="http://schemas.microsoft.com/office/powerpoint/2010/main" val="2000679695"/>
              </p:ext>
            </p:extLst>
          </p:nvPr>
        </p:nvGraphicFramePr>
        <p:xfrm>
          <a:off x="3668767" y="3962993"/>
          <a:ext cx="3494985" cy="920750"/>
        </p:xfrm>
        <a:graphic>
          <a:graphicData uri="http://schemas.openxmlformats.org/drawingml/2006/table">
            <a:tbl>
              <a:tblPr/>
              <a:tblGrid>
                <a:gridCol w="1274889">
                  <a:extLst>
                    <a:ext uri="{9D8B030D-6E8A-4147-A177-3AD203B41FA5}">
                      <a16:colId xmlns:a16="http://schemas.microsoft.com/office/drawing/2014/main" val="3589521922"/>
                    </a:ext>
                  </a:extLst>
                </a:gridCol>
                <a:gridCol w="577146">
                  <a:extLst>
                    <a:ext uri="{9D8B030D-6E8A-4147-A177-3AD203B41FA5}">
                      <a16:colId xmlns:a16="http://schemas.microsoft.com/office/drawing/2014/main" val="1324355703"/>
                    </a:ext>
                  </a:extLst>
                </a:gridCol>
                <a:gridCol w="542689">
                  <a:extLst>
                    <a:ext uri="{9D8B030D-6E8A-4147-A177-3AD203B41FA5}">
                      <a16:colId xmlns:a16="http://schemas.microsoft.com/office/drawing/2014/main" val="3822152362"/>
                    </a:ext>
                  </a:extLst>
                </a:gridCol>
                <a:gridCol w="542689">
                  <a:extLst>
                    <a:ext uri="{9D8B030D-6E8A-4147-A177-3AD203B41FA5}">
                      <a16:colId xmlns:a16="http://schemas.microsoft.com/office/drawing/2014/main" val="3752899493"/>
                    </a:ext>
                  </a:extLst>
                </a:gridCol>
                <a:gridCol w="557572">
                  <a:extLst>
                    <a:ext uri="{9D8B030D-6E8A-4147-A177-3AD203B41FA5}">
                      <a16:colId xmlns:a16="http://schemas.microsoft.com/office/drawing/2014/main" val="3254314401"/>
                    </a:ext>
                  </a:extLst>
                </a:gridCol>
              </a:tblGrid>
              <a:tr h="184150">
                <a:tc>
                  <a:txBody>
                    <a:bodyPr/>
                    <a:lstStyle/>
                    <a:p>
                      <a:pPr algn="l" fontAlgn="b">
                        <a:buNone/>
                      </a:pPr>
                      <a:r>
                        <a:rPr lang="fr-FR" sz="1050" b="1" i="0" u="none" strike="noStrike">
                          <a:solidFill>
                            <a:srgbClr val="000000"/>
                          </a:solidFill>
                          <a:effectLst/>
                          <a:latin typeface="Aptos Narrow" panose="020B0004020202020204" pitchFamily="34" charset="0"/>
                        </a:rPr>
                        <a:t>%Survey </a:t>
                      </a:r>
                      <a:r>
                        <a:rPr lang="fr-FR" sz="1050" b="1" i="0" u="none" strike="noStrike" err="1">
                          <a:solidFill>
                            <a:srgbClr val="000000"/>
                          </a:solidFill>
                          <a:effectLst/>
                          <a:latin typeface="Aptos Narrow" panose="020B0004020202020204" pitchFamily="34" charset="0"/>
                        </a:rPr>
                        <a:t>response</a:t>
                      </a:r>
                      <a:r>
                        <a:rPr lang="fr-FR" sz="1050" b="1" i="0" u="none" strike="noStrike">
                          <a:solidFill>
                            <a:srgbClr val="000000"/>
                          </a:solidFill>
                          <a:effectLst/>
                          <a:latin typeface="Aptos Narrow" panose="020B0004020202020204" pitchFamily="34" charset="0"/>
                        </a:rPr>
                        <a:t> rate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fontAlgn="b">
                        <a:buNone/>
                      </a:pPr>
                      <a:r>
                        <a:rPr lang="fr-FR" sz="1050" b="1" i="0" u="none" strike="noStrike">
                          <a:solidFill>
                            <a:srgbClr val="000000"/>
                          </a:solidFill>
                          <a:effectLst/>
                          <a:latin typeface="Aptos Narrow" panose="020B0004020202020204" pitchFamily="34" charset="0"/>
                        </a:rPr>
                        <a:t>FY23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fontAlgn="b">
                        <a:buNone/>
                      </a:pPr>
                      <a:r>
                        <a:rPr lang="fr-FR" sz="1050" b="1" i="0" u="none" strike="noStrike">
                          <a:solidFill>
                            <a:srgbClr val="000000"/>
                          </a:solidFill>
                          <a:effectLst/>
                          <a:latin typeface="Aptos Narrow" panose="020B0004020202020204" pitchFamily="34" charset="0"/>
                        </a:rPr>
                        <a:t>FY24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fontAlgn="b">
                        <a:buNone/>
                      </a:pPr>
                      <a:r>
                        <a:rPr lang="fr-FR" sz="105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fontAlgn="b">
                        <a:buNone/>
                      </a:pPr>
                      <a:r>
                        <a:rPr lang="fr-FR" sz="1050" b="1" i="0" u="none" strike="noStrike">
                          <a:solidFill>
                            <a:srgbClr val="000000"/>
                          </a:solidFill>
                          <a:effectLst/>
                          <a:latin typeface="Aptos Narrow" panose="020B0004020202020204" pitchFamily="34" charset="0"/>
                        </a:rPr>
                        <a:t>Evol vs </a:t>
                      </a:r>
                      <a:r>
                        <a:rPr lang="fr-FR" sz="1050" b="1" i="0" u="none" strike="noStrike" err="1">
                          <a:solidFill>
                            <a:srgbClr val="000000"/>
                          </a:solidFill>
                          <a:effectLst/>
                          <a:latin typeface="Aptos Narrow" panose="020B0004020202020204" pitchFamily="34" charset="0"/>
                        </a:rPr>
                        <a:t>ly</a:t>
                      </a:r>
                      <a:endParaRPr lang="fr-FR" sz="1050" b="1"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50080120"/>
                  </a:ext>
                </a:extLst>
              </a:tr>
              <a:tr h="184150">
                <a:tc>
                  <a:txBody>
                    <a:bodyPr/>
                    <a:lstStyle/>
                    <a:p>
                      <a:pPr algn="l" fontAlgn="b">
                        <a:buNone/>
                      </a:pPr>
                      <a:r>
                        <a:rPr lang="fr-FR" sz="1050" b="0" i="0" u="none" strike="noStrike" err="1">
                          <a:solidFill>
                            <a:srgbClr val="000000"/>
                          </a:solidFill>
                          <a:effectLst/>
                          <a:latin typeface="Aptos Narrow" panose="020B0004020202020204" pitchFamily="34" charset="0"/>
                        </a:rPr>
                        <a:t>very</a:t>
                      </a:r>
                      <a:r>
                        <a:rPr lang="fr-FR" sz="1050" b="0" i="0" u="none" strike="noStrike">
                          <a:solidFill>
                            <a:srgbClr val="000000"/>
                          </a:solidFill>
                          <a:effectLst/>
                          <a:latin typeface="Aptos Narrow" panose="020B0004020202020204" pitchFamily="34" charset="0"/>
                        </a:rPr>
                        <a:t> short</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36,4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32,9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28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FF0000"/>
                          </a:solidFill>
                          <a:effectLst/>
                          <a:latin typeface="Aptos Narrow" panose="020B0004020202020204" pitchFamily="34" charset="0"/>
                        </a:rPr>
                        <a:t>-3,4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17303958"/>
                  </a:ext>
                </a:extLst>
              </a:tr>
              <a:tr h="184150">
                <a:tc>
                  <a:txBody>
                    <a:bodyPr/>
                    <a:lstStyle/>
                    <a:p>
                      <a:pPr algn="l" fontAlgn="b">
                        <a:buNone/>
                      </a:pPr>
                      <a:r>
                        <a:rPr lang="fr-FR" sz="1050" b="0" i="0" u="none" strike="noStrike">
                          <a:solidFill>
                            <a:srgbClr val="000000"/>
                          </a:solidFill>
                          <a:effectLst/>
                          <a:latin typeface="Aptos Narrow" panose="020B0004020202020204" pitchFamily="34" charset="0"/>
                        </a:rPr>
                        <a:t>short</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34,7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32,7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30,7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FF0000"/>
                          </a:solidFill>
                          <a:effectLst/>
                          <a:latin typeface="Aptos Narrow" panose="020B0004020202020204" pitchFamily="34" charset="0"/>
                        </a:rPr>
                        <a:t>-2,1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35915769"/>
                  </a:ext>
                </a:extLst>
              </a:tr>
              <a:tr h="184150">
                <a:tc>
                  <a:txBody>
                    <a:bodyPr/>
                    <a:lstStyle/>
                    <a:p>
                      <a:pPr algn="l" fontAlgn="b">
                        <a:buNone/>
                      </a:pPr>
                      <a:r>
                        <a:rPr lang="fr-FR" sz="1050" b="0" i="0" u="none" strike="noStrike">
                          <a:solidFill>
                            <a:srgbClr val="000000"/>
                          </a:solidFill>
                          <a:effectLst/>
                          <a:latin typeface="Aptos Narrow" panose="020B0004020202020204" pitchFamily="34" charset="0"/>
                        </a:rPr>
                        <a:t>long</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32,6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32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30,4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FF0000"/>
                          </a:solidFill>
                          <a:effectLst/>
                          <a:latin typeface="Aptos Narrow" panose="020B0004020202020204" pitchFamily="34" charset="0"/>
                        </a:rPr>
                        <a:t>-2,7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5821385"/>
                  </a:ext>
                </a:extLst>
              </a:tr>
              <a:tr h="184150">
                <a:tc>
                  <a:txBody>
                    <a:bodyPr/>
                    <a:lstStyle/>
                    <a:p>
                      <a:pPr algn="l" fontAlgn="b">
                        <a:buNone/>
                      </a:pPr>
                      <a:r>
                        <a:rPr lang="fr-FR" sz="1050" b="0" i="0" u="none" strike="noStrike">
                          <a:solidFill>
                            <a:srgbClr val="000000"/>
                          </a:solidFill>
                          <a:effectLst/>
                          <a:latin typeface="Aptos Narrow" panose="020B0004020202020204" pitchFamily="34" charset="0"/>
                        </a:rPr>
                        <a:t>total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33,8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32,4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000000"/>
                          </a:solidFill>
                          <a:effectLst/>
                          <a:latin typeface="Aptos Narrow" panose="020B0004020202020204" pitchFamily="34" charset="0"/>
                        </a:rPr>
                        <a:t>29,9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50" b="0" i="0" u="none" strike="noStrike">
                          <a:solidFill>
                            <a:srgbClr val="FF0000"/>
                          </a:solidFill>
                          <a:effectLst/>
                          <a:latin typeface="Aptos Narrow" panose="020B0004020202020204" pitchFamily="34" charset="0"/>
                        </a:rPr>
                        <a:t>-2,5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17241965"/>
                  </a:ext>
                </a:extLst>
              </a:tr>
            </a:tbl>
          </a:graphicData>
        </a:graphic>
      </p:graphicFrame>
      <p:graphicFrame>
        <p:nvGraphicFramePr>
          <p:cNvPr id="12" name="Table 11">
            <a:extLst>
              <a:ext uri="{FF2B5EF4-FFF2-40B4-BE49-F238E27FC236}">
                <a16:creationId xmlns:a16="http://schemas.microsoft.com/office/drawing/2014/main" id="{BCE52A53-5C32-59BD-57C8-6C5901CC4CBD}"/>
              </a:ext>
            </a:extLst>
          </p:cNvPr>
          <p:cNvGraphicFramePr>
            <a:graphicFrameLocks noGrp="1"/>
          </p:cNvGraphicFramePr>
          <p:nvPr>
            <p:extLst>
              <p:ext uri="{D42A27DB-BD31-4B8C-83A1-F6EECF244321}">
                <p14:modId xmlns:p14="http://schemas.microsoft.com/office/powerpoint/2010/main" val="369683298"/>
              </p:ext>
            </p:extLst>
          </p:nvPr>
        </p:nvGraphicFramePr>
        <p:xfrm>
          <a:off x="188649" y="5228248"/>
          <a:ext cx="6975102" cy="920750"/>
        </p:xfrm>
        <a:graphic>
          <a:graphicData uri="http://schemas.openxmlformats.org/drawingml/2006/table">
            <a:tbl>
              <a:tblPr/>
              <a:tblGrid>
                <a:gridCol w="1759015">
                  <a:extLst>
                    <a:ext uri="{9D8B030D-6E8A-4147-A177-3AD203B41FA5}">
                      <a16:colId xmlns:a16="http://schemas.microsoft.com/office/drawing/2014/main" val="3783408659"/>
                    </a:ext>
                  </a:extLst>
                </a:gridCol>
                <a:gridCol w="835967">
                  <a:extLst>
                    <a:ext uri="{9D8B030D-6E8A-4147-A177-3AD203B41FA5}">
                      <a16:colId xmlns:a16="http://schemas.microsoft.com/office/drawing/2014/main" val="1431532841"/>
                    </a:ext>
                  </a:extLst>
                </a:gridCol>
                <a:gridCol w="835967">
                  <a:extLst>
                    <a:ext uri="{9D8B030D-6E8A-4147-A177-3AD203B41FA5}">
                      <a16:colId xmlns:a16="http://schemas.microsoft.com/office/drawing/2014/main" val="800045305"/>
                    </a:ext>
                  </a:extLst>
                </a:gridCol>
                <a:gridCol w="835967">
                  <a:extLst>
                    <a:ext uri="{9D8B030D-6E8A-4147-A177-3AD203B41FA5}">
                      <a16:colId xmlns:a16="http://schemas.microsoft.com/office/drawing/2014/main" val="2711650349"/>
                    </a:ext>
                  </a:extLst>
                </a:gridCol>
                <a:gridCol w="1036252">
                  <a:extLst>
                    <a:ext uri="{9D8B030D-6E8A-4147-A177-3AD203B41FA5}">
                      <a16:colId xmlns:a16="http://schemas.microsoft.com/office/drawing/2014/main" val="2518272987"/>
                    </a:ext>
                  </a:extLst>
                </a:gridCol>
                <a:gridCol w="835967">
                  <a:extLst>
                    <a:ext uri="{9D8B030D-6E8A-4147-A177-3AD203B41FA5}">
                      <a16:colId xmlns:a16="http://schemas.microsoft.com/office/drawing/2014/main" val="3220755404"/>
                    </a:ext>
                  </a:extLst>
                </a:gridCol>
                <a:gridCol w="835967">
                  <a:extLst>
                    <a:ext uri="{9D8B030D-6E8A-4147-A177-3AD203B41FA5}">
                      <a16:colId xmlns:a16="http://schemas.microsoft.com/office/drawing/2014/main" val="945185100"/>
                    </a:ext>
                  </a:extLst>
                </a:gridCol>
              </a:tblGrid>
              <a:tr h="184150">
                <a:tc>
                  <a:txBody>
                    <a:bodyPr/>
                    <a:lstStyle/>
                    <a:p>
                      <a:pPr algn="l" fontAlgn="b">
                        <a:buNone/>
                      </a:pPr>
                      <a:r>
                        <a:rPr lang="fr-FR" sz="1100" b="1" i="0" u="none" strike="noStrike">
                          <a:solidFill>
                            <a:srgbClr val="000000"/>
                          </a:solidFill>
                          <a:effectLst/>
                          <a:latin typeface="Aptos Narrow" panose="020B0004020202020204" pitchFamily="34" charset="0"/>
                        </a:rPr>
                        <a:t>NPS per survey lenght</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1100" b="1" i="0" u="none" strike="noStrike">
                          <a:solidFill>
                            <a:srgbClr val="000000"/>
                          </a:solidFill>
                          <a:effectLst/>
                          <a:latin typeface="Aptos Narrow" panose="020B0004020202020204" pitchFamily="34" charset="0"/>
                        </a:rPr>
                        <a:t>Belgium</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1100" b="1" i="0" u="none" strike="noStrike" err="1">
                          <a:solidFill>
                            <a:srgbClr val="000000"/>
                          </a:solidFill>
                          <a:effectLst/>
                          <a:latin typeface="Aptos Narrow" panose="020B0004020202020204" pitchFamily="34" charset="0"/>
                        </a:rPr>
                        <a:t>Denmark</a:t>
                      </a:r>
                      <a:endParaRPr lang="fr-FR" sz="1100" b="1"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1100" b="1" i="0" u="none" strike="noStrike">
                          <a:solidFill>
                            <a:srgbClr val="000000"/>
                          </a:solidFill>
                          <a:effectLst/>
                          <a:latin typeface="Aptos Narrow" panose="020B0004020202020204" pitchFamily="34" charset="0"/>
                        </a:rPr>
                        <a:t>France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1100" b="1" i="0" u="none" strike="noStrike">
                          <a:solidFill>
                            <a:srgbClr val="000000"/>
                          </a:solidFill>
                          <a:effectLst/>
                          <a:latin typeface="Aptos Narrow" panose="020B0004020202020204" pitchFamily="34" charset="0"/>
                        </a:rPr>
                        <a:t>Netherlands</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1100" b="1" i="0" u="none" strike="noStrike">
                          <a:solidFill>
                            <a:srgbClr val="000000"/>
                          </a:solidFill>
                          <a:effectLst/>
                          <a:latin typeface="Aptos Narrow" panose="020B0004020202020204" pitchFamily="34" charset="0"/>
                        </a:rPr>
                        <a:t>Germany</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1100" b="1" i="0" u="none" strike="noStrike">
                          <a:solidFill>
                            <a:srgbClr val="000000"/>
                          </a:solidFill>
                          <a:effectLst/>
                          <a:latin typeface="Aptos Narrow" panose="020B0004020202020204" pitchFamily="34" charset="0"/>
                        </a:rPr>
                        <a:t>Total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97243451"/>
                  </a:ext>
                </a:extLst>
              </a:tr>
              <a:tr h="184150">
                <a:tc>
                  <a:txBody>
                    <a:bodyPr/>
                    <a:lstStyle/>
                    <a:p>
                      <a:pPr algn="l" fontAlgn="b">
                        <a:buNone/>
                      </a:pPr>
                      <a:r>
                        <a:rPr lang="fr-FR" sz="1100" b="0" i="0" u="none" strike="noStrike">
                          <a:solidFill>
                            <a:srgbClr val="000000"/>
                          </a:solidFill>
                          <a:effectLst/>
                          <a:latin typeface="Aptos Narrow" panose="020B0004020202020204" pitchFamily="34" charset="0"/>
                        </a:rPr>
                        <a:t>very short</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F9C"/>
                    </a:solidFill>
                  </a:tcPr>
                </a:tc>
                <a:tc>
                  <a:txBody>
                    <a:bodyPr/>
                    <a:lstStyle/>
                    <a:p>
                      <a:pPr algn="r" fontAlgn="b">
                        <a:buNone/>
                      </a:pPr>
                      <a:r>
                        <a:rPr lang="fr-FR" sz="1100" b="0" i="0" u="none" strike="noStrike">
                          <a:solidFill>
                            <a:srgbClr val="000000"/>
                          </a:solidFill>
                          <a:effectLst/>
                          <a:latin typeface="Aptos Narrow" panose="020B0004020202020204" pitchFamily="34" charset="0"/>
                        </a:rPr>
                        <a:t>32,2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1100" b="0" i="0" u="none" strike="noStrike">
                          <a:solidFill>
                            <a:srgbClr val="000000"/>
                          </a:solidFill>
                          <a:effectLst/>
                          <a:latin typeface="Aptos Narrow" panose="020B0004020202020204" pitchFamily="34" charset="0"/>
                        </a:rPr>
                        <a:t>24,2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1100" b="0" i="0" u="none" strike="noStrike">
                          <a:solidFill>
                            <a:srgbClr val="000000"/>
                          </a:solidFill>
                          <a:effectLst/>
                          <a:latin typeface="Aptos Narrow" panose="020B0004020202020204" pitchFamily="34" charset="0"/>
                        </a:rPr>
                        <a:t>18,7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1100" b="0" i="0" u="none" strike="noStrike">
                          <a:solidFill>
                            <a:srgbClr val="000000"/>
                          </a:solidFill>
                          <a:effectLst/>
                          <a:latin typeface="Aptos Narrow" panose="020B0004020202020204" pitchFamily="34" charset="0"/>
                        </a:rPr>
                        <a:t>22,4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1100" b="0" i="0" u="none" strike="noStrike">
                          <a:solidFill>
                            <a:srgbClr val="000000"/>
                          </a:solidFill>
                          <a:effectLst/>
                          <a:latin typeface="Aptos Narrow" panose="020B0004020202020204" pitchFamily="34" charset="0"/>
                        </a:rPr>
                        <a:t>21,5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extLst>
                  <a:ext uri="{0D108BD9-81ED-4DB2-BD59-A6C34878D82A}">
                    <a16:rowId xmlns:a16="http://schemas.microsoft.com/office/drawing/2014/main" val="3402102190"/>
                  </a:ext>
                </a:extLst>
              </a:tr>
              <a:tr h="184150">
                <a:tc>
                  <a:txBody>
                    <a:bodyPr/>
                    <a:lstStyle/>
                    <a:p>
                      <a:pPr algn="l" fontAlgn="b">
                        <a:buNone/>
                      </a:pPr>
                      <a:r>
                        <a:rPr lang="fr-FR" sz="1100" b="0" i="0" u="none" strike="noStrike">
                          <a:solidFill>
                            <a:srgbClr val="000000"/>
                          </a:solidFill>
                          <a:effectLst/>
                          <a:latin typeface="Aptos Narrow" panose="020B0004020202020204" pitchFamily="34" charset="0"/>
                        </a:rPr>
                        <a:t>short</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21,3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8E394"/>
                    </a:solidFill>
                  </a:tcPr>
                </a:tc>
                <a:tc>
                  <a:txBody>
                    <a:bodyPr/>
                    <a:lstStyle/>
                    <a:p>
                      <a:pPr algn="r" fontAlgn="b">
                        <a:buNone/>
                      </a:pPr>
                      <a:r>
                        <a:rPr lang="fr-FR" sz="1100" b="0" i="0" u="none" strike="noStrike">
                          <a:solidFill>
                            <a:srgbClr val="000000"/>
                          </a:solidFill>
                          <a:effectLst/>
                          <a:latin typeface="Aptos Narrow" panose="020B0004020202020204" pitchFamily="34" charset="0"/>
                        </a:rPr>
                        <a:t>29,5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F9C"/>
                    </a:solidFill>
                  </a:tcPr>
                </a:tc>
                <a:tc>
                  <a:txBody>
                    <a:bodyPr/>
                    <a:lstStyle/>
                    <a:p>
                      <a:pPr algn="r" fontAlgn="b">
                        <a:buNone/>
                      </a:pPr>
                      <a:r>
                        <a:rPr lang="fr-FR" sz="1100" b="0" i="0" u="none" strike="noStrike">
                          <a:solidFill>
                            <a:srgbClr val="000000"/>
                          </a:solidFill>
                          <a:effectLst/>
                          <a:latin typeface="Aptos Narrow" panose="020B0004020202020204" pitchFamily="34" charset="0"/>
                        </a:rPr>
                        <a:t>21,7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F9C"/>
                    </a:solidFill>
                  </a:tcPr>
                </a:tc>
                <a:tc>
                  <a:txBody>
                    <a:bodyPr/>
                    <a:lstStyle/>
                    <a:p>
                      <a:pPr algn="r" fontAlgn="b">
                        <a:buNone/>
                      </a:pPr>
                      <a:r>
                        <a:rPr lang="fr-FR" sz="1100" b="0" i="0" u="none" strike="noStrike">
                          <a:solidFill>
                            <a:srgbClr val="000000"/>
                          </a:solidFill>
                          <a:effectLst/>
                          <a:latin typeface="Aptos Narrow" panose="020B0004020202020204" pitchFamily="34" charset="0"/>
                        </a:rPr>
                        <a:t>17,7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F9C"/>
                    </a:solidFill>
                  </a:tcPr>
                </a:tc>
                <a:tc>
                  <a:txBody>
                    <a:bodyPr/>
                    <a:lstStyle/>
                    <a:p>
                      <a:pPr algn="r" fontAlgn="b">
                        <a:buNone/>
                      </a:pPr>
                      <a:r>
                        <a:rPr lang="fr-FR" sz="1100" b="0" i="0" u="none" strike="noStrike">
                          <a:solidFill>
                            <a:srgbClr val="000000"/>
                          </a:solidFill>
                          <a:effectLst/>
                          <a:latin typeface="Aptos Narrow" panose="020B0004020202020204" pitchFamily="34" charset="0"/>
                        </a:rPr>
                        <a:t>20,6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7ED9B"/>
                    </a:solidFill>
                  </a:tcPr>
                </a:tc>
                <a:tc>
                  <a:txBody>
                    <a:bodyPr/>
                    <a:lstStyle/>
                    <a:p>
                      <a:pPr algn="r" fontAlgn="b">
                        <a:buNone/>
                      </a:pPr>
                      <a:r>
                        <a:rPr lang="fr-FR" sz="1100" b="0" i="0" u="none" strike="noStrike">
                          <a:solidFill>
                            <a:srgbClr val="000000"/>
                          </a:solidFill>
                          <a:effectLst/>
                          <a:latin typeface="Aptos Narrow" panose="020B0004020202020204" pitchFamily="34" charset="0"/>
                        </a:rPr>
                        <a:t>20,2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F9C"/>
                    </a:solidFill>
                  </a:tcPr>
                </a:tc>
                <a:extLst>
                  <a:ext uri="{0D108BD9-81ED-4DB2-BD59-A6C34878D82A}">
                    <a16:rowId xmlns:a16="http://schemas.microsoft.com/office/drawing/2014/main" val="768229350"/>
                  </a:ext>
                </a:extLst>
              </a:tr>
              <a:tr h="184150">
                <a:tc>
                  <a:txBody>
                    <a:bodyPr/>
                    <a:lstStyle/>
                    <a:p>
                      <a:pPr algn="l" fontAlgn="b">
                        <a:buNone/>
                      </a:pPr>
                      <a:r>
                        <a:rPr lang="fr-FR" sz="1100" b="0" i="0" u="none" strike="noStrike">
                          <a:solidFill>
                            <a:srgbClr val="000000"/>
                          </a:solidFill>
                          <a:effectLst/>
                          <a:latin typeface="Aptos Narrow" panose="020B0004020202020204" pitchFamily="34" charset="0"/>
                        </a:rPr>
                        <a:t>long</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22,2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1100" b="0" i="0" u="none" strike="noStrike">
                          <a:solidFill>
                            <a:srgbClr val="000000"/>
                          </a:solidFill>
                          <a:effectLst/>
                          <a:latin typeface="Aptos Narrow" panose="020B0004020202020204" pitchFamily="34" charset="0"/>
                        </a:rPr>
                        <a:t>30,6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0DC8F"/>
                    </a:solidFill>
                  </a:tcPr>
                </a:tc>
                <a:tc>
                  <a:txBody>
                    <a:bodyPr/>
                    <a:lstStyle/>
                    <a:p>
                      <a:pPr algn="r" fontAlgn="b">
                        <a:buNone/>
                      </a:pPr>
                      <a:r>
                        <a:rPr lang="fr-FR" sz="1100" b="0" i="0" u="none" strike="noStrike">
                          <a:solidFill>
                            <a:srgbClr val="000000"/>
                          </a:solidFill>
                          <a:effectLst/>
                          <a:latin typeface="Aptos Narrow" panose="020B0004020202020204" pitchFamily="34" charset="0"/>
                        </a:rPr>
                        <a:t>21,9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3EC9A"/>
                    </a:solidFill>
                  </a:tcPr>
                </a:tc>
                <a:tc>
                  <a:txBody>
                    <a:bodyPr/>
                    <a:lstStyle/>
                    <a:p>
                      <a:pPr algn="r" fontAlgn="b">
                        <a:buNone/>
                      </a:pPr>
                      <a:r>
                        <a:rPr lang="fr-FR" sz="1100" b="0" i="0" u="none" strike="noStrike">
                          <a:solidFill>
                            <a:srgbClr val="000000"/>
                          </a:solidFill>
                          <a:effectLst/>
                          <a:latin typeface="Aptos Narrow" panose="020B0004020202020204" pitchFamily="34" charset="0"/>
                        </a:rPr>
                        <a:t>18,3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2D289"/>
                    </a:solidFill>
                  </a:tcPr>
                </a:tc>
                <a:tc>
                  <a:txBody>
                    <a:bodyPr/>
                    <a:lstStyle/>
                    <a:p>
                      <a:pPr algn="r" fontAlgn="b">
                        <a:buNone/>
                      </a:pPr>
                      <a:r>
                        <a:rPr lang="fr-FR" sz="1100" b="0" i="0" u="none" strike="noStrike">
                          <a:solidFill>
                            <a:srgbClr val="000000"/>
                          </a:solidFill>
                          <a:effectLst/>
                          <a:latin typeface="Aptos Narrow" panose="020B0004020202020204" pitchFamily="34" charset="0"/>
                        </a:rPr>
                        <a:t>20,5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F9C"/>
                    </a:solidFill>
                  </a:tcPr>
                </a:tc>
                <a:tc>
                  <a:txBody>
                    <a:bodyPr/>
                    <a:lstStyle/>
                    <a:p>
                      <a:pPr algn="r" fontAlgn="b">
                        <a:buNone/>
                      </a:pPr>
                      <a:r>
                        <a:rPr lang="fr-FR" sz="1100" b="0" i="0" u="none" strike="noStrike">
                          <a:solidFill>
                            <a:srgbClr val="000000"/>
                          </a:solidFill>
                          <a:effectLst/>
                          <a:latin typeface="Aptos Narrow" panose="020B0004020202020204" pitchFamily="34" charset="0"/>
                        </a:rPr>
                        <a:t>20,6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FE092"/>
                    </a:solidFill>
                  </a:tcPr>
                </a:tc>
                <a:extLst>
                  <a:ext uri="{0D108BD9-81ED-4DB2-BD59-A6C34878D82A}">
                    <a16:rowId xmlns:a16="http://schemas.microsoft.com/office/drawing/2014/main" val="691193298"/>
                  </a:ext>
                </a:extLst>
              </a:tr>
              <a:tr h="184150">
                <a:tc>
                  <a:txBody>
                    <a:bodyPr/>
                    <a:lstStyle/>
                    <a:p>
                      <a:pPr algn="l" fontAlgn="b">
                        <a:buNone/>
                      </a:pPr>
                      <a:r>
                        <a:rPr lang="fr-FR" sz="1100" b="1" i="0" u="none" strike="noStrike">
                          <a:solidFill>
                            <a:srgbClr val="000000"/>
                          </a:solidFill>
                          <a:effectLst/>
                          <a:latin typeface="Aptos Narrow" panose="020B0004020202020204" pitchFamily="34" charset="0"/>
                        </a:rPr>
                        <a:t>total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21,7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5D389"/>
                    </a:solidFill>
                  </a:tcPr>
                </a:tc>
                <a:tc>
                  <a:txBody>
                    <a:bodyPr/>
                    <a:lstStyle/>
                    <a:p>
                      <a:pPr algn="r" fontAlgn="b">
                        <a:buNone/>
                      </a:pPr>
                      <a:r>
                        <a:rPr lang="fr-FR" sz="1100" b="0" i="0" u="none" strike="noStrike">
                          <a:solidFill>
                            <a:srgbClr val="000000"/>
                          </a:solidFill>
                          <a:effectLst/>
                          <a:latin typeface="Aptos Narrow" panose="020B0004020202020204" pitchFamily="34" charset="0"/>
                        </a:rPr>
                        <a:t>30,3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1E193"/>
                    </a:solidFill>
                  </a:tcPr>
                </a:tc>
                <a:tc>
                  <a:txBody>
                    <a:bodyPr/>
                    <a:lstStyle/>
                    <a:p>
                      <a:pPr algn="r" fontAlgn="b">
                        <a:buNone/>
                      </a:pPr>
                      <a:r>
                        <a:rPr lang="fr-FR" sz="1100" b="0" i="0" u="none" strike="noStrike">
                          <a:solidFill>
                            <a:srgbClr val="000000"/>
                          </a:solidFill>
                          <a:effectLst/>
                          <a:latin typeface="Aptos Narrow" panose="020B0004020202020204" pitchFamily="34" charset="0"/>
                        </a:rPr>
                        <a:t>22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DEA99"/>
                    </a:solidFill>
                  </a:tcPr>
                </a:tc>
                <a:tc>
                  <a:txBody>
                    <a:bodyPr/>
                    <a:lstStyle/>
                    <a:p>
                      <a:pPr algn="r" fontAlgn="b">
                        <a:buNone/>
                      </a:pPr>
                      <a:r>
                        <a:rPr lang="fr-FR" sz="1100" b="0" i="0" u="none" strike="noStrike">
                          <a:solidFill>
                            <a:srgbClr val="000000"/>
                          </a:solidFill>
                          <a:effectLst/>
                          <a:latin typeface="Aptos Narrow" panose="020B0004020202020204" pitchFamily="34" charset="0"/>
                        </a:rPr>
                        <a:t>18,1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1DC8F"/>
                    </a:solidFill>
                  </a:tcPr>
                </a:tc>
                <a:tc>
                  <a:txBody>
                    <a:bodyPr/>
                    <a:lstStyle/>
                    <a:p>
                      <a:pPr algn="r" fontAlgn="b">
                        <a:buNone/>
                      </a:pPr>
                      <a:r>
                        <a:rPr lang="fr-FR" sz="1100" b="0" i="0" u="none" strike="noStrike">
                          <a:solidFill>
                            <a:srgbClr val="000000"/>
                          </a:solidFill>
                          <a:effectLst/>
                          <a:latin typeface="Aptos Narrow" panose="020B0004020202020204" pitchFamily="34" charset="0"/>
                        </a:rPr>
                        <a:t>20,7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FEA99"/>
                    </a:solidFill>
                  </a:tcPr>
                </a:tc>
                <a:tc>
                  <a:txBody>
                    <a:bodyPr/>
                    <a:lstStyle/>
                    <a:p>
                      <a:pPr algn="r" fontAlgn="b">
                        <a:buNone/>
                      </a:pPr>
                      <a:r>
                        <a:rPr lang="fr-FR" sz="1100" b="0" i="0" u="none" strike="noStrike">
                          <a:solidFill>
                            <a:srgbClr val="000000"/>
                          </a:solidFill>
                          <a:effectLst/>
                          <a:latin typeface="Aptos Narrow" panose="020B0004020202020204" pitchFamily="34" charset="0"/>
                        </a:rPr>
                        <a:t>20,5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BE495"/>
                    </a:solidFill>
                  </a:tcPr>
                </a:tc>
                <a:extLst>
                  <a:ext uri="{0D108BD9-81ED-4DB2-BD59-A6C34878D82A}">
                    <a16:rowId xmlns:a16="http://schemas.microsoft.com/office/drawing/2014/main" val="1914920085"/>
                  </a:ext>
                </a:extLst>
              </a:tr>
            </a:tbl>
          </a:graphicData>
        </a:graphic>
      </p:graphicFrame>
    </p:spTree>
    <p:extLst>
      <p:ext uri="{BB962C8B-B14F-4D97-AF65-F5344CB8AC3E}">
        <p14:creationId xmlns:p14="http://schemas.microsoft.com/office/powerpoint/2010/main" val="1049796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4D212-A7B7-E30E-F5EB-6674F6AE4BA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B3B08AB-6358-894A-B4D6-230FCD061C31}"/>
              </a:ext>
            </a:extLst>
          </p:cNvPr>
          <p:cNvSpPr>
            <a:spLocks noGrp="1"/>
          </p:cNvSpPr>
          <p:nvPr>
            <p:ph type="sldNum" sz="quarter" idx="12"/>
          </p:nvPr>
        </p:nvSpPr>
        <p:spPr/>
        <p:txBody>
          <a:bodyPr/>
          <a:lstStyle/>
          <a:p>
            <a:fld id="{0D2E6A04-B99A-6C4D-8942-945F97C9E705}" type="slidenum">
              <a:rPr lang="en-US" smtClean="0"/>
              <a:pPr/>
              <a:t>5</a:t>
            </a:fld>
            <a:endParaRPr lang="en-US"/>
          </a:p>
        </p:txBody>
      </p:sp>
      <p:sp>
        <p:nvSpPr>
          <p:cNvPr id="3" name="Date Placeholder 2">
            <a:extLst>
              <a:ext uri="{FF2B5EF4-FFF2-40B4-BE49-F238E27FC236}">
                <a16:creationId xmlns:a16="http://schemas.microsoft.com/office/drawing/2014/main" id="{C0730289-C4D0-AE08-9DCF-33DF5BA673AD}"/>
              </a:ext>
            </a:extLst>
          </p:cNvPr>
          <p:cNvSpPr>
            <a:spLocks noGrp="1"/>
          </p:cNvSpPr>
          <p:nvPr>
            <p:ph type="dt" sz="half" idx="10"/>
          </p:nvPr>
        </p:nvSpPr>
        <p:spPr/>
        <p:txBody>
          <a:bodyPr/>
          <a:lstStyle/>
          <a:p>
            <a:fld id="{05C20A28-4BAC-4477-9026-1E123DBFBC43}" type="datetime1">
              <a:rPr lang="fr-FR" smtClean="0"/>
              <a:t>27/11/2025</a:t>
            </a:fld>
            <a:endParaRPr lang="en-US"/>
          </a:p>
        </p:txBody>
      </p:sp>
      <p:sp>
        <p:nvSpPr>
          <p:cNvPr id="5" name="Title 4">
            <a:extLst>
              <a:ext uri="{FF2B5EF4-FFF2-40B4-BE49-F238E27FC236}">
                <a16:creationId xmlns:a16="http://schemas.microsoft.com/office/drawing/2014/main" id="{0BEAE0E5-C547-76C5-47A7-3446210537E3}"/>
              </a:ext>
            </a:extLst>
          </p:cNvPr>
          <p:cNvSpPr>
            <a:spLocks noGrp="1"/>
          </p:cNvSpPr>
          <p:nvPr>
            <p:ph type="title"/>
          </p:nvPr>
        </p:nvSpPr>
        <p:spPr/>
        <p:txBody>
          <a:bodyPr/>
          <a:lstStyle/>
          <a:p>
            <a:r>
              <a:rPr lang="fr-FR"/>
              <a:t>NPS Evolution</a:t>
            </a:r>
          </a:p>
        </p:txBody>
      </p:sp>
      <p:sp>
        <p:nvSpPr>
          <p:cNvPr id="6" name="Rechthoek 4">
            <a:extLst>
              <a:ext uri="{FF2B5EF4-FFF2-40B4-BE49-F238E27FC236}">
                <a16:creationId xmlns:a16="http://schemas.microsoft.com/office/drawing/2014/main" id="{DF0AFDAF-5B5E-6054-48DE-753CEC78E77E}"/>
              </a:ext>
            </a:extLst>
          </p:cNvPr>
          <p:cNvSpPr/>
          <p:nvPr/>
        </p:nvSpPr>
        <p:spPr>
          <a:xfrm>
            <a:off x="-1" y="978100"/>
            <a:ext cx="7487153" cy="1696720"/>
          </a:xfrm>
          <a:prstGeom prst="rect">
            <a:avLst/>
          </a:prstGeom>
          <a:solidFill>
            <a:schemeClr val="accent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100" b="1">
                <a:solidFill>
                  <a:schemeClr val="tx1"/>
                </a:solidFill>
                <a:latin typeface="+mj-lt"/>
                <a:ea typeface="Calibri"/>
                <a:cs typeface="Calibri"/>
              </a:rPr>
              <a:t>NPS CPSP = 20,5</a:t>
            </a:r>
            <a:r>
              <a:rPr lang="en-US" sz="1100">
                <a:solidFill>
                  <a:schemeClr val="tx1"/>
                </a:solidFill>
                <a:latin typeface="+mj-lt"/>
                <a:ea typeface="Calibri"/>
                <a:cs typeface="Calibri"/>
              </a:rPr>
              <a:t>, and improved +6 pts vs </a:t>
            </a:r>
            <a:r>
              <a:rPr lang="en-US" sz="1100" err="1">
                <a:solidFill>
                  <a:schemeClr val="tx1"/>
                </a:solidFill>
                <a:latin typeface="+mj-lt"/>
                <a:ea typeface="Calibri"/>
                <a:cs typeface="Calibri"/>
              </a:rPr>
              <a:t>ly</a:t>
            </a:r>
            <a:r>
              <a:rPr lang="en-US" sz="1100">
                <a:solidFill>
                  <a:schemeClr val="tx1"/>
                </a:solidFill>
                <a:latin typeface="+mj-lt"/>
                <a:ea typeface="Calibri"/>
                <a:cs typeface="Calibri"/>
              </a:rPr>
              <a:t> with, all countries and all parks improved vs </a:t>
            </a:r>
            <a:r>
              <a:rPr lang="en-US" sz="1100" err="1">
                <a:solidFill>
                  <a:schemeClr val="tx1"/>
                </a:solidFill>
                <a:latin typeface="+mj-lt"/>
                <a:ea typeface="Calibri"/>
                <a:cs typeface="Calibri"/>
              </a:rPr>
              <a:t>ly</a:t>
            </a:r>
            <a:r>
              <a:rPr lang="en-US" sz="1100">
                <a:solidFill>
                  <a:schemeClr val="tx1"/>
                </a:solidFill>
                <a:latin typeface="+mj-lt"/>
                <a:ea typeface="Calibri"/>
                <a:cs typeface="Calibri"/>
              </a:rPr>
              <a:t>.</a:t>
            </a:r>
          </a:p>
          <a:p>
            <a:pPr marL="720725" lvl="2" indent="-161925">
              <a:lnSpc>
                <a:spcPct val="120000"/>
              </a:lnSpc>
              <a:buFont typeface="Arial" panose="020B0604020202020204" pitchFamily="34" charset="0"/>
              <a:buChar char="•"/>
            </a:pPr>
            <a:r>
              <a:rPr lang="en-US" sz="1100">
                <a:solidFill>
                  <a:schemeClr val="tx1"/>
                </a:solidFill>
                <a:latin typeface="+mj-lt"/>
                <a:ea typeface="Calibri"/>
                <a:cs typeface="Calibri"/>
              </a:rPr>
              <a:t>Only </a:t>
            </a:r>
            <a:r>
              <a:rPr lang="en-US" sz="1100" b="1" err="1">
                <a:solidFill>
                  <a:schemeClr val="tx1"/>
                </a:solidFill>
                <a:latin typeface="+mj-lt"/>
                <a:ea typeface="Calibri"/>
                <a:cs typeface="Calibri"/>
              </a:rPr>
              <a:t>Sunparks</a:t>
            </a:r>
            <a:r>
              <a:rPr lang="en-US" sz="1100" b="1">
                <a:solidFill>
                  <a:schemeClr val="tx1"/>
                </a:solidFill>
                <a:latin typeface="+mj-lt"/>
                <a:ea typeface="Calibri"/>
                <a:cs typeface="Calibri"/>
              </a:rPr>
              <a:t> decreased 1,4 pt </a:t>
            </a:r>
            <a:r>
              <a:rPr lang="en-US" sz="1100">
                <a:solidFill>
                  <a:schemeClr val="tx1"/>
                </a:solidFill>
                <a:latin typeface="+mj-lt"/>
                <a:ea typeface="Calibri"/>
                <a:cs typeface="Calibri"/>
              </a:rPr>
              <a:t>vs </a:t>
            </a:r>
            <a:r>
              <a:rPr lang="en-US" sz="1100" err="1">
                <a:solidFill>
                  <a:schemeClr val="tx1"/>
                </a:solidFill>
                <a:latin typeface="+mj-lt"/>
                <a:ea typeface="Calibri"/>
                <a:cs typeface="Calibri"/>
              </a:rPr>
              <a:t>ly</a:t>
            </a:r>
            <a:r>
              <a:rPr lang="en-US" sz="1100">
                <a:solidFill>
                  <a:schemeClr val="tx1"/>
                </a:solidFill>
                <a:latin typeface="+mj-lt"/>
                <a:ea typeface="Calibri"/>
                <a:cs typeface="Calibri"/>
              </a:rPr>
              <a:t>, due to -6pts at OD; </a:t>
            </a:r>
            <a:r>
              <a:rPr lang="en-US" sz="1100" b="1">
                <a:solidFill>
                  <a:schemeClr val="tx1"/>
                </a:solidFill>
                <a:latin typeface="+mj-lt"/>
                <a:ea typeface="Calibri"/>
                <a:cs typeface="Calibri"/>
              </a:rPr>
              <a:t>NPS SP=-12,3.</a:t>
            </a:r>
          </a:p>
          <a:p>
            <a:pPr marL="720725" lvl="2" indent="-161925">
              <a:lnSpc>
                <a:spcPct val="120000"/>
              </a:lnSpc>
              <a:buFont typeface="Arial" panose="020B0604020202020204" pitchFamily="34" charset="0"/>
              <a:buChar char="•"/>
            </a:pPr>
            <a:r>
              <a:rPr lang="en-US" sz="1100" b="1">
                <a:solidFill>
                  <a:schemeClr val="tx1"/>
                </a:solidFill>
                <a:latin typeface="+mj-lt"/>
                <a:ea typeface="Calibri"/>
                <a:cs typeface="Calibri"/>
              </a:rPr>
              <a:t>Top parks </a:t>
            </a:r>
            <a:r>
              <a:rPr lang="en-US" sz="1100">
                <a:solidFill>
                  <a:schemeClr val="tx1"/>
                </a:solidFill>
                <a:latin typeface="+mj-lt"/>
                <a:ea typeface="Calibri"/>
                <a:cs typeface="Calibri"/>
              </a:rPr>
              <a:t>per country are </a:t>
            </a:r>
            <a:r>
              <a:rPr lang="en-US" sz="1100" b="1">
                <a:solidFill>
                  <a:schemeClr val="tx1"/>
                </a:solidFill>
                <a:ea typeface="Calibri"/>
                <a:cs typeface="Calibri"/>
              </a:rPr>
              <a:t>Terhills</a:t>
            </a:r>
            <a:r>
              <a:rPr lang="en-US" sz="1100">
                <a:solidFill>
                  <a:schemeClr val="tx1"/>
                </a:solidFill>
                <a:ea typeface="Calibri"/>
                <a:cs typeface="Calibri"/>
              </a:rPr>
              <a:t> – BE (57,4), </a:t>
            </a:r>
            <a:r>
              <a:rPr lang="en-US" sz="1100">
                <a:solidFill>
                  <a:schemeClr val="tx1"/>
                </a:solidFill>
                <a:latin typeface="+mj-lt"/>
                <a:ea typeface="Calibri"/>
                <a:cs typeface="Calibri"/>
              </a:rPr>
              <a:t>Les Landes de Gascogne – FR (48,5), </a:t>
            </a:r>
            <a:r>
              <a:rPr lang="en-US" sz="1100" b="1">
                <a:solidFill>
                  <a:schemeClr val="tx1"/>
                </a:solidFill>
                <a:ea typeface="Calibri"/>
                <a:cs typeface="Calibri"/>
              </a:rPr>
              <a:t>Park </a:t>
            </a:r>
            <a:r>
              <a:rPr lang="en-US" sz="1100" b="1" err="1">
                <a:solidFill>
                  <a:schemeClr val="tx1"/>
                </a:solidFill>
                <a:ea typeface="Calibri"/>
                <a:cs typeface="Calibri"/>
              </a:rPr>
              <a:t>Hochsauerland</a:t>
            </a:r>
            <a:r>
              <a:rPr lang="en-US" sz="1100">
                <a:solidFill>
                  <a:schemeClr val="tx1"/>
                </a:solidFill>
                <a:ea typeface="Calibri"/>
                <a:cs typeface="Calibri"/>
              </a:rPr>
              <a:t> – GE (35,6),</a:t>
            </a:r>
            <a:r>
              <a:rPr lang="en-US" sz="1100">
                <a:solidFill>
                  <a:schemeClr val="tx1"/>
                </a:solidFill>
                <a:latin typeface="+mj-lt"/>
                <a:ea typeface="Calibri"/>
                <a:cs typeface="Calibri"/>
              </a:rPr>
              <a:t> and </a:t>
            </a:r>
            <a:r>
              <a:rPr lang="en-US" sz="1100" b="1">
                <a:solidFill>
                  <a:schemeClr val="tx1"/>
                </a:solidFill>
                <a:latin typeface="+mj-lt"/>
                <a:ea typeface="Calibri"/>
                <a:cs typeface="Calibri"/>
              </a:rPr>
              <a:t>Het Meerdal </a:t>
            </a:r>
            <a:r>
              <a:rPr lang="en-US" sz="1100">
                <a:solidFill>
                  <a:schemeClr val="tx1"/>
                </a:solidFill>
                <a:latin typeface="+mj-lt"/>
                <a:ea typeface="Calibri"/>
                <a:cs typeface="Calibri"/>
              </a:rPr>
              <a:t>– NL (31,7).</a:t>
            </a:r>
          </a:p>
          <a:p>
            <a:pPr marL="720725" lvl="2" indent="-161925">
              <a:lnSpc>
                <a:spcPct val="120000"/>
              </a:lnSpc>
              <a:buFont typeface="Arial" panose="020B0604020202020204" pitchFamily="34" charset="0"/>
              <a:buChar char="•"/>
            </a:pPr>
            <a:r>
              <a:rPr lang="en-US" sz="1100">
                <a:solidFill>
                  <a:schemeClr val="tx1"/>
                </a:solidFill>
                <a:latin typeface="+mj-lt"/>
                <a:ea typeface="Calibri"/>
                <a:cs typeface="Calibri"/>
              </a:rPr>
              <a:t>Highest increase vs </a:t>
            </a:r>
            <a:r>
              <a:rPr lang="en-US" sz="1100" err="1">
                <a:solidFill>
                  <a:schemeClr val="tx1"/>
                </a:solidFill>
                <a:latin typeface="+mj-lt"/>
                <a:ea typeface="Calibri"/>
                <a:cs typeface="Calibri"/>
              </a:rPr>
              <a:t>ly</a:t>
            </a:r>
            <a:r>
              <a:rPr lang="en-US" sz="1100">
                <a:solidFill>
                  <a:schemeClr val="tx1"/>
                </a:solidFill>
                <a:latin typeface="+mj-lt"/>
                <a:ea typeface="Calibri"/>
                <a:cs typeface="Calibri"/>
              </a:rPr>
              <a:t> in NPS are Park </a:t>
            </a:r>
            <a:r>
              <a:rPr lang="en-US" sz="1100" err="1">
                <a:solidFill>
                  <a:schemeClr val="tx1"/>
                </a:solidFill>
                <a:latin typeface="+mj-lt"/>
                <a:ea typeface="Calibri"/>
                <a:cs typeface="Calibri"/>
              </a:rPr>
              <a:t>Bostalsee</a:t>
            </a:r>
            <a:r>
              <a:rPr lang="en-US" sz="1100">
                <a:solidFill>
                  <a:schemeClr val="tx1"/>
                </a:solidFill>
                <a:latin typeface="+mj-lt"/>
                <a:ea typeface="Calibri"/>
                <a:cs typeface="Calibri"/>
              </a:rPr>
              <a:t> (+11,7pts) and </a:t>
            </a:r>
            <a:r>
              <a:rPr lang="en-US" sz="1100" err="1">
                <a:solidFill>
                  <a:schemeClr val="tx1"/>
                </a:solidFill>
                <a:latin typeface="+mj-lt"/>
                <a:ea typeface="Calibri"/>
                <a:cs typeface="Calibri"/>
              </a:rPr>
              <a:t>Bispinger</a:t>
            </a:r>
            <a:r>
              <a:rPr lang="en-US" sz="1100">
                <a:solidFill>
                  <a:schemeClr val="tx1"/>
                </a:solidFill>
                <a:latin typeface="+mj-lt"/>
                <a:ea typeface="Calibri"/>
                <a:cs typeface="Calibri"/>
              </a:rPr>
              <a:t> Heide (+10,2pts) </a:t>
            </a:r>
            <a:r>
              <a:rPr lang="en-US" sz="1100">
                <a:solidFill>
                  <a:schemeClr val="tx1"/>
                </a:solidFill>
                <a:ea typeface="Calibri"/>
                <a:cs typeface="Calibri"/>
              </a:rPr>
              <a:t>in GE, Le Bois aux </a:t>
            </a:r>
            <a:r>
              <a:rPr lang="en-US" sz="1100" err="1">
                <a:solidFill>
                  <a:schemeClr val="tx1"/>
                </a:solidFill>
                <a:ea typeface="Calibri"/>
                <a:cs typeface="Calibri"/>
              </a:rPr>
              <a:t>Daims</a:t>
            </a:r>
            <a:r>
              <a:rPr lang="en-US" sz="1100">
                <a:solidFill>
                  <a:schemeClr val="tx1"/>
                </a:solidFill>
                <a:ea typeface="Calibri"/>
                <a:cs typeface="Calibri"/>
              </a:rPr>
              <a:t> (+10,7pts) and Les Bois-Francs in FR (+10,3pts), </a:t>
            </a:r>
            <a:r>
              <a:rPr lang="en-US" sz="1100">
                <a:solidFill>
                  <a:schemeClr val="tx1"/>
                </a:solidFill>
                <a:latin typeface="+mj-lt"/>
                <a:ea typeface="Calibri"/>
                <a:cs typeface="Calibri"/>
              </a:rPr>
              <a:t>Parc Sandur (+9,6pts) and</a:t>
            </a:r>
            <a:r>
              <a:rPr lang="en-US" sz="1100">
                <a:solidFill>
                  <a:schemeClr val="tx1"/>
                </a:solidFill>
                <a:ea typeface="Calibri"/>
                <a:cs typeface="Calibri"/>
              </a:rPr>
              <a:t> </a:t>
            </a:r>
            <a:r>
              <a:rPr lang="en-US" sz="1100" err="1">
                <a:solidFill>
                  <a:schemeClr val="tx1"/>
                </a:solidFill>
                <a:ea typeface="Calibri"/>
                <a:cs typeface="Calibri"/>
              </a:rPr>
              <a:t>Limburgse</a:t>
            </a:r>
            <a:r>
              <a:rPr lang="en-US" sz="1100">
                <a:solidFill>
                  <a:schemeClr val="tx1"/>
                </a:solidFill>
                <a:ea typeface="Calibri"/>
                <a:cs typeface="Calibri"/>
              </a:rPr>
              <a:t> Peel (+9,3pts) in NL, and Park de Haan (+8,6pts) and Les Ardennes (+5,4pts) in BE.</a:t>
            </a:r>
            <a:endParaRPr lang="en-US" sz="1100">
              <a:solidFill>
                <a:schemeClr val="tx1"/>
              </a:solidFill>
              <a:latin typeface="+mj-lt"/>
              <a:ea typeface="Calibri"/>
              <a:cs typeface="Calibri"/>
            </a:endParaRPr>
          </a:p>
        </p:txBody>
      </p:sp>
      <p:sp>
        <p:nvSpPr>
          <p:cNvPr id="7" name="Rectangle 6">
            <a:extLst>
              <a:ext uri="{FF2B5EF4-FFF2-40B4-BE49-F238E27FC236}">
                <a16:creationId xmlns:a16="http://schemas.microsoft.com/office/drawing/2014/main" id="{11740B50-14A8-4C18-8581-31FCAB15E49A}"/>
              </a:ext>
            </a:extLst>
          </p:cNvPr>
          <p:cNvSpPr/>
          <p:nvPr/>
        </p:nvSpPr>
        <p:spPr>
          <a:xfrm rot="16200000">
            <a:off x="-617105" y="1646060"/>
            <a:ext cx="1656000" cy="3754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ea typeface="Calibri"/>
                <a:cs typeface="Calibri"/>
              </a:rPr>
              <a:t>Analysis</a:t>
            </a:r>
            <a:endParaRPr lang="en-US" sz="1100"/>
          </a:p>
        </p:txBody>
      </p:sp>
      <p:graphicFrame>
        <p:nvGraphicFramePr>
          <p:cNvPr id="4" name="Table 3">
            <a:extLst>
              <a:ext uri="{FF2B5EF4-FFF2-40B4-BE49-F238E27FC236}">
                <a16:creationId xmlns:a16="http://schemas.microsoft.com/office/drawing/2014/main" id="{F53F8079-FC75-747E-66F5-C7105DC15F78}"/>
              </a:ext>
            </a:extLst>
          </p:cNvPr>
          <p:cNvGraphicFramePr>
            <a:graphicFrameLocks noGrp="1"/>
          </p:cNvGraphicFramePr>
          <p:nvPr>
            <p:extLst>
              <p:ext uri="{D42A27DB-BD31-4B8C-83A1-F6EECF244321}">
                <p14:modId xmlns:p14="http://schemas.microsoft.com/office/powerpoint/2010/main" val="2986577833"/>
              </p:ext>
            </p:extLst>
          </p:nvPr>
        </p:nvGraphicFramePr>
        <p:xfrm>
          <a:off x="2836478" y="2840164"/>
          <a:ext cx="4652009" cy="1696720"/>
        </p:xfrm>
        <a:graphic>
          <a:graphicData uri="http://schemas.openxmlformats.org/drawingml/2006/table">
            <a:tbl>
              <a:tblPr/>
              <a:tblGrid>
                <a:gridCol w="1647979">
                  <a:extLst>
                    <a:ext uri="{9D8B030D-6E8A-4147-A177-3AD203B41FA5}">
                      <a16:colId xmlns:a16="http://schemas.microsoft.com/office/drawing/2014/main" val="3510881265"/>
                    </a:ext>
                  </a:extLst>
                </a:gridCol>
                <a:gridCol w="1327800">
                  <a:extLst>
                    <a:ext uri="{9D8B030D-6E8A-4147-A177-3AD203B41FA5}">
                      <a16:colId xmlns:a16="http://schemas.microsoft.com/office/drawing/2014/main" val="1732036605"/>
                    </a:ext>
                  </a:extLst>
                </a:gridCol>
                <a:gridCol w="1676230">
                  <a:extLst>
                    <a:ext uri="{9D8B030D-6E8A-4147-A177-3AD203B41FA5}">
                      <a16:colId xmlns:a16="http://schemas.microsoft.com/office/drawing/2014/main" val="1484678612"/>
                    </a:ext>
                  </a:extLst>
                </a:gridCol>
              </a:tblGrid>
              <a:tr h="174467">
                <a:tc gridSpan="2">
                  <a:txBody>
                    <a:bodyPr/>
                    <a:lstStyle/>
                    <a:p>
                      <a:pPr algn="ctr" fontAlgn="b">
                        <a:buNone/>
                      </a:pPr>
                      <a:r>
                        <a:rPr lang="fr-FR" sz="1050" b="1" i="0" u="none" strike="noStrike">
                          <a:solidFill>
                            <a:srgbClr val="000000"/>
                          </a:solidFill>
                          <a:effectLst/>
                          <a:latin typeface="Bagoss Standard" panose="020B0604020202020204" charset="0"/>
                        </a:rPr>
                        <a:t>FINAL NPS</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fr-FR"/>
                    </a:p>
                  </a:txBody>
                  <a:tcPr/>
                </a:tc>
                <a:tc>
                  <a:txBody>
                    <a:bodyPr/>
                    <a:lstStyle/>
                    <a:p>
                      <a:pPr algn="ctr" fontAlgn="b">
                        <a:buNone/>
                      </a:pPr>
                      <a:r>
                        <a:rPr lang="fr-FR" sz="1050" b="1" i="0" u="none" strike="noStrike">
                          <a:solidFill>
                            <a:srgbClr val="000000"/>
                          </a:solidFill>
                          <a:effectLst/>
                          <a:latin typeface="Bagoss Standard" panose="020B0604020202020204" charset="0"/>
                        </a:rPr>
                        <a:t>Evol vs n-1</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133363960"/>
                  </a:ext>
                </a:extLst>
              </a:tr>
              <a:tr h="167198">
                <a:tc>
                  <a:txBody>
                    <a:bodyPr/>
                    <a:lstStyle/>
                    <a:p>
                      <a:pPr algn="l" fontAlgn="b">
                        <a:buNone/>
                      </a:pPr>
                      <a:r>
                        <a:rPr lang="fr-FR" sz="1050" b="1" i="0" u="none" strike="noStrike">
                          <a:solidFill>
                            <a:srgbClr val="000000"/>
                          </a:solidFill>
                          <a:effectLst/>
                          <a:latin typeface="Bagoss Standard" panose="020B0604020202020204" charset="0"/>
                        </a:rPr>
                        <a:t>Bispinger Heide</a:t>
                      </a:r>
                    </a:p>
                  </a:txBody>
                  <a:tcPr marL="6350" marR="6350" marT="635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21,1</a:t>
                      </a:r>
                    </a:p>
                  </a:txBody>
                  <a:tcPr marL="6350" marR="6350" marT="635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10,2</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39377158"/>
                  </a:ext>
                </a:extLst>
              </a:tr>
              <a:tr h="167198">
                <a:tc>
                  <a:txBody>
                    <a:bodyPr/>
                    <a:lstStyle/>
                    <a:p>
                      <a:pPr algn="l" fontAlgn="b">
                        <a:buNone/>
                      </a:pPr>
                      <a:r>
                        <a:rPr lang="fr-FR" sz="1050" b="1" i="0" u="none" strike="noStrike">
                          <a:solidFill>
                            <a:srgbClr val="000000"/>
                          </a:solidFill>
                          <a:effectLst/>
                          <a:latin typeface="Bagoss Standard" panose="020B0604020202020204" charset="0"/>
                        </a:rPr>
                        <a:t>Park Allgäu</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17,5</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3,7</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012479078"/>
                  </a:ext>
                </a:extLst>
              </a:tr>
              <a:tr h="167198">
                <a:tc>
                  <a:txBody>
                    <a:bodyPr/>
                    <a:lstStyle/>
                    <a:p>
                      <a:pPr algn="l" fontAlgn="b">
                        <a:buNone/>
                      </a:pPr>
                      <a:r>
                        <a:rPr lang="fr-FR" sz="1050" b="1" i="0" u="none" strike="noStrike">
                          <a:solidFill>
                            <a:srgbClr val="000000"/>
                          </a:solidFill>
                          <a:effectLst/>
                          <a:latin typeface="Bagoss Standard" panose="020B0604020202020204" charset="0"/>
                        </a:rPr>
                        <a:t>Park Bostalsee</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24,3</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11,7</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58901399"/>
                  </a:ext>
                </a:extLst>
              </a:tr>
              <a:tr h="167198">
                <a:tc>
                  <a:txBody>
                    <a:bodyPr/>
                    <a:lstStyle/>
                    <a:p>
                      <a:pPr algn="l" fontAlgn="b">
                        <a:buNone/>
                      </a:pPr>
                      <a:r>
                        <a:rPr lang="fr-FR" sz="1050" b="1" i="0" u="none" strike="noStrike">
                          <a:solidFill>
                            <a:srgbClr val="000000"/>
                          </a:solidFill>
                          <a:effectLst/>
                          <a:latin typeface="Bagoss Standard" panose="020B0604020202020204" charset="0"/>
                        </a:rPr>
                        <a:t>Park Eifel</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22,4</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8,5</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432309463"/>
                  </a:ext>
                </a:extLst>
              </a:tr>
              <a:tr h="167198">
                <a:tc>
                  <a:txBody>
                    <a:bodyPr/>
                    <a:lstStyle/>
                    <a:p>
                      <a:pPr algn="l" fontAlgn="b">
                        <a:buNone/>
                      </a:pPr>
                      <a:r>
                        <a:rPr lang="fr-FR" sz="1050" b="1" i="0" u="none" strike="noStrike">
                          <a:solidFill>
                            <a:srgbClr val="000000"/>
                          </a:solidFill>
                          <a:effectLst/>
                          <a:latin typeface="Bagoss Standard" panose="020B0604020202020204" charset="0"/>
                        </a:rPr>
                        <a:t>Park Hochsauerland</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35,6</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3,5</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78110348"/>
                  </a:ext>
                </a:extLst>
              </a:tr>
              <a:tr h="167198">
                <a:tc>
                  <a:txBody>
                    <a:bodyPr/>
                    <a:lstStyle/>
                    <a:p>
                      <a:pPr algn="l" fontAlgn="b">
                        <a:buNone/>
                      </a:pPr>
                      <a:r>
                        <a:rPr lang="fr-FR" sz="1050" b="1" i="0" u="none" strike="noStrike">
                          <a:solidFill>
                            <a:srgbClr val="000000"/>
                          </a:solidFill>
                          <a:effectLst/>
                          <a:latin typeface="Bagoss Standard" panose="020B0604020202020204" charset="0"/>
                        </a:rPr>
                        <a:t>Park Nordseeküste</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0,3</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0,2</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563980712"/>
                  </a:ext>
                </a:extLst>
              </a:tr>
              <a:tr h="174467">
                <a:tc>
                  <a:txBody>
                    <a:bodyPr/>
                    <a:lstStyle/>
                    <a:p>
                      <a:pPr algn="l" fontAlgn="b">
                        <a:buNone/>
                      </a:pPr>
                      <a:r>
                        <a:rPr lang="fr-FR" sz="1050" b="1" i="0" u="none" strike="noStrike">
                          <a:solidFill>
                            <a:srgbClr val="B1EDA6"/>
                          </a:solidFill>
                          <a:effectLst/>
                          <a:latin typeface="Bagoss Standard" panose="020B0604020202020204" charset="0"/>
                        </a:rPr>
                        <a:t>CP GERMANY</a:t>
                      </a:r>
                    </a:p>
                  </a:txBody>
                  <a:tcPr marL="6350" marR="6350" marT="635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045E51"/>
                    </a:solidFill>
                  </a:tcPr>
                </a:tc>
                <a:tc>
                  <a:txBody>
                    <a:bodyPr/>
                    <a:lstStyle/>
                    <a:p>
                      <a:pPr algn="ctr" fontAlgn="b">
                        <a:buNone/>
                      </a:pPr>
                      <a:r>
                        <a:rPr lang="fr-FR" sz="1050" b="1" i="0" u="none" strike="noStrike">
                          <a:solidFill>
                            <a:srgbClr val="00B050"/>
                          </a:solidFill>
                          <a:effectLst/>
                          <a:latin typeface="Bagoss Standard" panose="020B0604020202020204" charset="0"/>
                        </a:rPr>
                        <a:t>20,7</a:t>
                      </a:r>
                    </a:p>
                  </a:txBody>
                  <a:tcPr marL="6350" marR="6350" marT="635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ctr" fontAlgn="b">
                        <a:buNone/>
                      </a:pPr>
                      <a:r>
                        <a:rPr lang="fr-FR" sz="1050" b="1" i="0" u="none" strike="noStrike">
                          <a:solidFill>
                            <a:srgbClr val="00B050"/>
                          </a:solidFill>
                          <a:effectLst/>
                          <a:latin typeface="Bagoss Standard" panose="020B0604020202020204" charset="0"/>
                        </a:rPr>
                        <a:t>6,1</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83953374"/>
                  </a:ext>
                </a:extLst>
              </a:tr>
            </a:tbl>
          </a:graphicData>
        </a:graphic>
      </p:graphicFrame>
      <p:graphicFrame>
        <p:nvGraphicFramePr>
          <p:cNvPr id="13" name="Table 12">
            <a:extLst>
              <a:ext uri="{FF2B5EF4-FFF2-40B4-BE49-F238E27FC236}">
                <a16:creationId xmlns:a16="http://schemas.microsoft.com/office/drawing/2014/main" id="{F0760029-E5B8-3B3A-E274-DDA80A04EF05}"/>
              </a:ext>
            </a:extLst>
          </p:cNvPr>
          <p:cNvGraphicFramePr>
            <a:graphicFrameLocks noGrp="1"/>
          </p:cNvGraphicFramePr>
          <p:nvPr>
            <p:extLst>
              <p:ext uri="{D42A27DB-BD31-4B8C-83A1-F6EECF244321}">
                <p14:modId xmlns:p14="http://schemas.microsoft.com/office/powerpoint/2010/main" val="1489411949"/>
              </p:ext>
            </p:extLst>
          </p:nvPr>
        </p:nvGraphicFramePr>
        <p:xfrm>
          <a:off x="2835144" y="4615756"/>
          <a:ext cx="4652008" cy="1908810"/>
        </p:xfrm>
        <a:graphic>
          <a:graphicData uri="http://schemas.openxmlformats.org/drawingml/2006/table">
            <a:tbl>
              <a:tblPr/>
              <a:tblGrid>
                <a:gridCol w="1862552">
                  <a:extLst>
                    <a:ext uri="{9D8B030D-6E8A-4147-A177-3AD203B41FA5}">
                      <a16:colId xmlns:a16="http://schemas.microsoft.com/office/drawing/2014/main" val="1703123462"/>
                    </a:ext>
                  </a:extLst>
                </a:gridCol>
                <a:gridCol w="1097867">
                  <a:extLst>
                    <a:ext uri="{9D8B030D-6E8A-4147-A177-3AD203B41FA5}">
                      <a16:colId xmlns:a16="http://schemas.microsoft.com/office/drawing/2014/main" val="333041639"/>
                    </a:ext>
                  </a:extLst>
                </a:gridCol>
                <a:gridCol w="1691589">
                  <a:extLst>
                    <a:ext uri="{9D8B030D-6E8A-4147-A177-3AD203B41FA5}">
                      <a16:colId xmlns:a16="http://schemas.microsoft.com/office/drawing/2014/main" val="1727378267"/>
                    </a:ext>
                  </a:extLst>
                </a:gridCol>
              </a:tblGrid>
              <a:tr h="174467">
                <a:tc gridSpan="2">
                  <a:txBody>
                    <a:bodyPr/>
                    <a:lstStyle/>
                    <a:p>
                      <a:pPr algn="ctr" fontAlgn="b">
                        <a:buNone/>
                      </a:pPr>
                      <a:r>
                        <a:rPr lang="fr-FR" sz="1050" b="1" i="0" u="none" strike="noStrike">
                          <a:solidFill>
                            <a:srgbClr val="000000"/>
                          </a:solidFill>
                          <a:effectLst/>
                          <a:latin typeface="Bagoss Standard" panose="020B0604020202020204" charset="0"/>
                        </a:rPr>
                        <a:t>FINAL NPS</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fr-FR"/>
                    </a:p>
                  </a:txBody>
                  <a:tcPr/>
                </a:tc>
                <a:tc>
                  <a:txBody>
                    <a:bodyPr/>
                    <a:lstStyle/>
                    <a:p>
                      <a:pPr algn="ctr" fontAlgn="b">
                        <a:buNone/>
                      </a:pPr>
                      <a:r>
                        <a:rPr lang="fr-FR" sz="1050" b="1" i="0" u="none" strike="noStrike">
                          <a:solidFill>
                            <a:srgbClr val="000000"/>
                          </a:solidFill>
                          <a:effectLst/>
                          <a:latin typeface="Bagoss Standard" panose="020B0604020202020204" charset="0"/>
                        </a:rPr>
                        <a:t>Evol vs n-1</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867260591"/>
                  </a:ext>
                </a:extLst>
              </a:tr>
              <a:tr h="167198">
                <a:tc>
                  <a:txBody>
                    <a:bodyPr/>
                    <a:lstStyle/>
                    <a:p>
                      <a:pPr algn="l" fontAlgn="b">
                        <a:buNone/>
                      </a:pPr>
                      <a:r>
                        <a:rPr lang="fr-FR" sz="1050" b="1" i="0" u="none" strike="noStrike">
                          <a:solidFill>
                            <a:srgbClr val="000000"/>
                          </a:solidFill>
                          <a:effectLst/>
                          <a:latin typeface="Bagoss Standard" panose="020B0604020202020204" charset="0"/>
                        </a:rPr>
                        <a:t>Le Bois aux Daims</a:t>
                      </a:r>
                    </a:p>
                  </a:txBody>
                  <a:tcPr marL="6350" marR="6350" marT="635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33,7</a:t>
                      </a:r>
                    </a:p>
                  </a:txBody>
                  <a:tcPr marL="6350" marR="6350" marT="635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10,7</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02912467"/>
                  </a:ext>
                </a:extLst>
              </a:tr>
              <a:tr h="167198">
                <a:tc>
                  <a:txBody>
                    <a:bodyPr/>
                    <a:lstStyle/>
                    <a:p>
                      <a:pPr algn="l" fontAlgn="b">
                        <a:buNone/>
                      </a:pPr>
                      <a:r>
                        <a:rPr lang="fr-FR" sz="1050" b="1" i="0" u="none" strike="noStrike">
                          <a:solidFill>
                            <a:srgbClr val="000000"/>
                          </a:solidFill>
                          <a:effectLst/>
                          <a:latin typeface="Bagoss Standard" panose="020B0604020202020204" charset="0"/>
                        </a:rPr>
                        <a:t>Le Lac d'Ailette</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6,9</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2,7</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11092547"/>
                  </a:ext>
                </a:extLst>
              </a:tr>
              <a:tr h="167198">
                <a:tc>
                  <a:txBody>
                    <a:bodyPr/>
                    <a:lstStyle/>
                    <a:p>
                      <a:pPr algn="l" fontAlgn="b">
                        <a:buNone/>
                      </a:pPr>
                      <a:r>
                        <a:rPr lang="fr-FR" sz="1050" b="1" i="0" u="none" strike="noStrike">
                          <a:solidFill>
                            <a:srgbClr val="000000"/>
                          </a:solidFill>
                          <a:effectLst/>
                          <a:latin typeface="Bagoss Standard" panose="020B0604020202020204" charset="0"/>
                        </a:rPr>
                        <a:t>Les Bois-Francs</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18,3</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10,3</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241148086"/>
                  </a:ext>
                </a:extLst>
              </a:tr>
              <a:tr h="167198">
                <a:tc>
                  <a:txBody>
                    <a:bodyPr/>
                    <a:lstStyle/>
                    <a:p>
                      <a:pPr algn="l" fontAlgn="b">
                        <a:buNone/>
                      </a:pPr>
                      <a:r>
                        <a:rPr lang="fr-FR" sz="1050" b="1" i="0" u="none" strike="noStrike">
                          <a:solidFill>
                            <a:srgbClr val="000000"/>
                          </a:solidFill>
                          <a:effectLst/>
                          <a:latin typeface="Bagoss Standard" panose="020B0604020202020204" charset="0"/>
                        </a:rPr>
                        <a:t>Les Hauts de Bruyères</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15,2</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6,2</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85506191"/>
                  </a:ext>
                </a:extLst>
              </a:tr>
              <a:tr h="167198">
                <a:tc>
                  <a:txBody>
                    <a:bodyPr/>
                    <a:lstStyle/>
                    <a:p>
                      <a:pPr algn="l" fontAlgn="b">
                        <a:buNone/>
                      </a:pPr>
                      <a:r>
                        <a:rPr lang="fr-FR" sz="1050" b="1" i="0" u="none" strike="noStrike">
                          <a:solidFill>
                            <a:srgbClr val="000000"/>
                          </a:solidFill>
                          <a:effectLst/>
                          <a:latin typeface="Bagoss Standard" panose="020B0604020202020204" charset="0"/>
                        </a:rPr>
                        <a:t>Les Landes de Gascogne</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48,5</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7,5</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188240924"/>
                  </a:ext>
                </a:extLst>
              </a:tr>
              <a:tr h="167198">
                <a:tc>
                  <a:txBody>
                    <a:bodyPr/>
                    <a:lstStyle/>
                    <a:p>
                      <a:pPr algn="l" fontAlgn="b">
                        <a:buNone/>
                      </a:pPr>
                      <a:r>
                        <a:rPr lang="fr-FR" sz="1050" b="1" i="0" u="none" strike="noStrike">
                          <a:solidFill>
                            <a:srgbClr val="000000"/>
                          </a:solidFill>
                          <a:effectLst/>
                          <a:latin typeface="Bagoss Standard" panose="020B0604020202020204" charset="0"/>
                        </a:rPr>
                        <a:t>Les Trois Forêts</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27,2</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8,3</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079562449"/>
                  </a:ext>
                </a:extLst>
              </a:tr>
              <a:tr h="167198">
                <a:tc>
                  <a:txBody>
                    <a:bodyPr/>
                    <a:lstStyle/>
                    <a:p>
                      <a:pPr algn="l" fontAlgn="b">
                        <a:buNone/>
                      </a:pPr>
                      <a:r>
                        <a:rPr lang="fr-FR" sz="1050" b="1" i="0" u="none" strike="noStrike">
                          <a:solidFill>
                            <a:srgbClr val="000000"/>
                          </a:solidFill>
                          <a:effectLst/>
                          <a:latin typeface="Bagoss Standard" panose="020B0604020202020204" charset="0"/>
                        </a:rPr>
                        <a:t>Villages Nature Paris</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8,8</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3,9</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195364181"/>
                  </a:ext>
                </a:extLst>
              </a:tr>
              <a:tr h="174467">
                <a:tc>
                  <a:txBody>
                    <a:bodyPr/>
                    <a:lstStyle/>
                    <a:p>
                      <a:pPr algn="l" fontAlgn="b">
                        <a:buNone/>
                      </a:pPr>
                      <a:r>
                        <a:rPr lang="fr-FR" sz="1050" b="1" i="0" u="none" strike="noStrike">
                          <a:solidFill>
                            <a:srgbClr val="9DB4F6"/>
                          </a:solidFill>
                          <a:effectLst/>
                          <a:latin typeface="Bagoss Standard" panose="020B0604020202020204" charset="0"/>
                        </a:rPr>
                        <a:t>CP France</a:t>
                      </a:r>
                    </a:p>
                  </a:txBody>
                  <a:tcPr marL="6350" marR="6350" marT="635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00192F"/>
                    </a:solidFill>
                  </a:tcPr>
                </a:tc>
                <a:tc>
                  <a:txBody>
                    <a:bodyPr/>
                    <a:lstStyle/>
                    <a:p>
                      <a:pPr algn="ctr" fontAlgn="b">
                        <a:buNone/>
                      </a:pPr>
                      <a:r>
                        <a:rPr lang="fr-FR" sz="1050" b="1" i="0" u="none" strike="noStrike">
                          <a:solidFill>
                            <a:srgbClr val="00B050"/>
                          </a:solidFill>
                          <a:effectLst/>
                          <a:latin typeface="Bagoss Standard" panose="020B0604020202020204" charset="0"/>
                        </a:rPr>
                        <a:t>22,0</a:t>
                      </a:r>
                    </a:p>
                  </a:txBody>
                  <a:tcPr marL="6350" marR="6350" marT="635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ctr" fontAlgn="b">
                        <a:buNone/>
                      </a:pPr>
                      <a:r>
                        <a:rPr lang="fr-FR" sz="1050" b="1" i="0" u="none" strike="noStrike">
                          <a:solidFill>
                            <a:srgbClr val="00B050"/>
                          </a:solidFill>
                          <a:effectLst/>
                          <a:latin typeface="Bagoss Standard" panose="020B0604020202020204" charset="0"/>
                        </a:rPr>
                        <a:t>6,6</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10273383"/>
                  </a:ext>
                </a:extLst>
              </a:tr>
            </a:tbl>
          </a:graphicData>
        </a:graphic>
      </p:graphicFrame>
      <p:graphicFrame>
        <p:nvGraphicFramePr>
          <p:cNvPr id="14" name="Table 13">
            <a:extLst>
              <a:ext uri="{FF2B5EF4-FFF2-40B4-BE49-F238E27FC236}">
                <a16:creationId xmlns:a16="http://schemas.microsoft.com/office/drawing/2014/main" id="{93447C22-AE1C-1DA7-DC3B-103A508C3D65}"/>
              </a:ext>
            </a:extLst>
          </p:cNvPr>
          <p:cNvGraphicFramePr>
            <a:graphicFrameLocks noGrp="1"/>
          </p:cNvGraphicFramePr>
          <p:nvPr>
            <p:extLst>
              <p:ext uri="{D42A27DB-BD31-4B8C-83A1-F6EECF244321}">
                <p14:modId xmlns:p14="http://schemas.microsoft.com/office/powerpoint/2010/main" val="1112505542"/>
              </p:ext>
            </p:extLst>
          </p:nvPr>
        </p:nvGraphicFramePr>
        <p:xfrm>
          <a:off x="7669530" y="3429000"/>
          <a:ext cx="4262771" cy="2332990"/>
        </p:xfrm>
        <a:graphic>
          <a:graphicData uri="http://schemas.openxmlformats.org/drawingml/2006/table">
            <a:tbl>
              <a:tblPr/>
              <a:tblGrid>
                <a:gridCol w="1984181">
                  <a:extLst>
                    <a:ext uri="{9D8B030D-6E8A-4147-A177-3AD203B41FA5}">
                      <a16:colId xmlns:a16="http://schemas.microsoft.com/office/drawing/2014/main" val="2865859653"/>
                    </a:ext>
                  </a:extLst>
                </a:gridCol>
                <a:gridCol w="1016101">
                  <a:extLst>
                    <a:ext uri="{9D8B030D-6E8A-4147-A177-3AD203B41FA5}">
                      <a16:colId xmlns:a16="http://schemas.microsoft.com/office/drawing/2014/main" val="3418953653"/>
                    </a:ext>
                  </a:extLst>
                </a:gridCol>
                <a:gridCol w="1262489">
                  <a:extLst>
                    <a:ext uri="{9D8B030D-6E8A-4147-A177-3AD203B41FA5}">
                      <a16:colId xmlns:a16="http://schemas.microsoft.com/office/drawing/2014/main" val="1900580444"/>
                    </a:ext>
                  </a:extLst>
                </a:gridCol>
              </a:tblGrid>
              <a:tr h="134043">
                <a:tc gridSpan="2">
                  <a:txBody>
                    <a:bodyPr/>
                    <a:lstStyle/>
                    <a:p>
                      <a:pPr algn="ctr" fontAlgn="b">
                        <a:buNone/>
                      </a:pPr>
                      <a:r>
                        <a:rPr lang="fr-FR" sz="1050" b="1" i="0" u="none" strike="noStrike">
                          <a:solidFill>
                            <a:srgbClr val="000000"/>
                          </a:solidFill>
                          <a:effectLst/>
                          <a:latin typeface="Bagoss Standard" panose="020B0604020202020204" charset="0"/>
                        </a:rPr>
                        <a:t>FINAL NPS</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fr-FR"/>
                    </a:p>
                  </a:txBody>
                  <a:tcPr/>
                </a:tc>
                <a:tc>
                  <a:txBody>
                    <a:bodyPr/>
                    <a:lstStyle/>
                    <a:p>
                      <a:pPr algn="ctr" fontAlgn="b">
                        <a:buNone/>
                      </a:pPr>
                      <a:r>
                        <a:rPr lang="fr-FR" sz="1050" b="1" i="0" u="none" strike="noStrike">
                          <a:solidFill>
                            <a:srgbClr val="000000"/>
                          </a:solidFill>
                          <a:effectLst/>
                          <a:latin typeface="Bagoss Standard" panose="020B0604020202020204" charset="0"/>
                        </a:rPr>
                        <a:t>Evol vs n-1</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292348737"/>
                  </a:ext>
                </a:extLst>
              </a:tr>
              <a:tr h="134043">
                <a:tc>
                  <a:txBody>
                    <a:bodyPr/>
                    <a:lstStyle/>
                    <a:p>
                      <a:pPr algn="l" fontAlgn="b">
                        <a:buNone/>
                      </a:pPr>
                      <a:r>
                        <a:rPr lang="fr-FR" sz="1050" b="1" i="0" u="none" strike="noStrike">
                          <a:solidFill>
                            <a:srgbClr val="000000"/>
                          </a:solidFill>
                          <a:effectLst/>
                          <a:latin typeface="Bagoss Standard" panose="020B0604020202020204" charset="0"/>
                        </a:rPr>
                        <a:t>De Eemhof</a:t>
                      </a:r>
                    </a:p>
                  </a:txBody>
                  <a:tcPr marL="6350" marR="6350" marT="635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13,3</a:t>
                      </a:r>
                    </a:p>
                  </a:txBody>
                  <a:tcPr marL="6350" marR="6350" marT="635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6,8</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574046510"/>
                  </a:ext>
                </a:extLst>
              </a:tr>
              <a:tr h="134043">
                <a:tc>
                  <a:txBody>
                    <a:bodyPr/>
                    <a:lstStyle/>
                    <a:p>
                      <a:pPr algn="l" fontAlgn="b">
                        <a:buNone/>
                      </a:pPr>
                      <a:r>
                        <a:rPr lang="fr-FR" sz="1050" b="1" i="0" u="none" strike="noStrike">
                          <a:solidFill>
                            <a:srgbClr val="000000"/>
                          </a:solidFill>
                          <a:effectLst/>
                          <a:latin typeface="Bagoss Standard" panose="020B0604020202020204" charset="0"/>
                        </a:rPr>
                        <a:t>De Huttenheugte</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19,6</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4,8</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63856756"/>
                  </a:ext>
                </a:extLst>
              </a:tr>
              <a:tr h="134043">
                <a:tc>
                  <a:txBody>
                    <a:bodyPr/>
                    <a:lstStyle/>
                    <a:p>
                      <a:pPr algn="l" fontAlgn="b">
                        <a:buNone/>
                      </a:pPr>
                      <a:r>
                        <a:rPr lang="fr-FR" sz="1050" b="1" i="0" u="none" strike="noStrike">
                          <a:solidFill>
                            <a:srgbClr val="000000"/>
                          </a:solidFill>
                          <a:effectLst/>
                          <a:latin typeface="Bagoss Standard" panose="020B0604020202020204" charset="0"/>
                        </a:rPr>
                        <a:t>De Kempervennen</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22,7</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6,3</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244745246"/>
                  </a:ext>
                </a:extLst>
              </a:tr>
              <a:tr h="134043">
                <a:tc>
                  <a:txBody>
                    <a:bodyPr/>
                    <a:lstStyle/>
                    <a:p>
                      <a:pPr algn="l" fontAlgn="b">
                        <a:buNone/>
                      </a:pPr>
                      <a:r>
                        <a:rPr lang="fr-FR" sz="1050" b="1" i="0" u="none" strike="noStrike">
                          <a:solidFill>
                            <a:srgbClr val="000000"/>
                          </a:solidFill>
                          <a:effectLst/>
                          <a:latin typeface="Bagoss Standard" panose="020B0604020202020204" charset="0"/>
                        </a:rPr>
                        <a:t>Het Heijderbos</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16,6</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6,5</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77454522"/>
                  </a:ext>
                </a:extLst>
              </a:tr>
              <a:tr h="134043">
                <a:tc>
                  <a:txBody>
                    <a:bodyPr/>
                    <a:lstStyle/>
                    <a:p>
                      <a:pPr algn="l" fontAlgn="b">
                        <a:buNone/>
                      </a:pPr>
                      <a:r>
                        <a:rPr lang="fr-FR" sz="1050" b="1" i="0" u="none" strike="noStrike">
                          <a:solidFill>
                            <a:srgbClr val="000000"/>
                          </a:solidFill>
                          <a:effectLst/>
                          <a:latin typeface="Bagoss Standard" panose="020B0604020202020204" charset="0"/>
                        </a:rPr>
                        <a:t>Het Meerdal</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31,7</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6,9</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061330668"/>
                  </a:ext>
                </a:extLst>
              </a:tr>
              <a:tr h="134043">
                <a:tc>
                  <a:txBody>
                    <a:bodyPr/>
                    <a:lstStyle/>
                    <a:p>
                      <a:pPr algn="l" fontAlgn="b">
                        <a:buNone/>
                      </a:pPr>
                      <a:r>
                        <a:rPr lang="fr-FR" sz="1050" b="1" i="0" u="none" strike="noStrike">
                          <a:solidFill>
                            <a:srgbClr val="000000"/>
                          </a:solidFill>
                          <a:effectLst/>
                          <a:latin typeface="Bagoss Standard" panose="020B0604020202020204" charset="0"/>
                        </a:rPr>
                        <a:t>Limburgse Peel</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2,5</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9,3</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55817597"/>
                  </a:ext>
                </a:extLst>
              </a:tr>
              <a:tr h="134043">
                <a:tc>
                  <a:txBody>
                    <a:bodyPr/>
                    <a:lstStyle/>
                    <a:p>
                      <a:pPr algn="l" fontAlgn="b">
                        <a:buNone/>
                      </a:pPr>
                      <a:r>
                        <a:rPr lang="fr-FR" sz="1050" b="1" i="0" u="none" strike="noStrike">
                          <a:solidFill>
                            <a:srgbClr val="000000"/>
                          </a:solidFill>
                          <a:effectLst/>
                          <a:latin typeface="Bagoss Standard" panose="020B0604020202020204" charset="0"/>
                        </a:rPr>
                        <a:t>Parc Sandur</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19,3</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9,6</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244022442"/>
                  </a:ext>
                </a:extLst>
              </a:tr>
              <a:tr h="134043">
                <a:tc>
                  <a:txBody>
                    <a:bodyPr/>
                    <a:lstStyle/>
                    <a:p>
                      <a:pPr algn="l" fontAlgn="b">
                        <a:buNone/>
                      </a:pPr>
                      <a:r>
                        <a:rPr lang="fr-FR" sz="1050" b="1" i="0" u="none" strike="noStrike">
                          <a:solidFill>
                            <a:srgbClr val="000000"/>
                          </a:solidFill>
                          <a:effectLst/>
                          <a:latin typeface="Bagoss Standard" panose="020B0604020202020204" charset="0"/>
                        </a:rPr>
                        <a:t>Park Zandvoort</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22,6</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4,7</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273770795"/>
                  </a:ext>
                </a:extLst>
              </a:tr>
              <a:tr h="134043">
                <a:tc>
                  <a:txBody>
                    <a:bodyPr/>
                    <a:lstStyle/>
                    <a:p>
                      <a:pPr algn="l" fontAlgn="b">
                        <a:buNone/>
                      </a:pPr>
                      <a:r>
                        <a:rPr lang="fr-FR" sz="1050" b="1" i="0" u="none" strike="noStrike">
                          <a:solidFill>
                            <a:srgbClr val="000000"/>
                          </a:solidFill>
                          <a:effectLst/>
                          <a:latin typeface="Bagoss Standard" panose="020B0604020202020204" charset="0"/>
                        </a:rPr>
                        <a:t>Port Zélande</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11,7</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6,8</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00668751"/>
                  </a:ext>
                </a:extLst>
              </a:tr>
              <a:tr h="134043">
                <a:tc>
                  <a:txBody>
                    <a:bodyPr/>
                    <a:lstStyle/>
                    <a:p>
                      <a:pPr algn="l" fontAlgn="b">
                        <a:buNone/>
                      </a:pPr>
                      <a:r>
                        <a:rPr lang="fr-FR" sz="1050" b="1" i="0" u="none" strike="noStrike">
                          <a:solidFill>
                            <a:schemeClr val="accent3"/>
                          </a:solidFill>
                          <a:effectLst/>
                          <a:latin typeface="Bagoss Standard" panose="020B0604020202020204" charset="0"/>
                        </a:rPr>
                        <a:t>CP Netherlands</a:t>
                      </a:r>
                    </a:p>
                  </a:txBody>
                  <a:tcPr marL="6350" marR="6350" marT="635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chemeClr val="accent4"/>
                    </a:solidFill>
                  </a:tcPr>
                </a:tc>
                <a:tc>
                  <a:txBody>
                    <a:bodyPr/>
                    <a:lstStyle/>
                    <a:p>
                      <a:pPr algn="ctr" fontAlgn="b">
                        <a:buNone/>
                      </a:pPr>
                      <a:r>
                        <a:rPr lang="fr-FR" sz="1050" b="1" i="0" u="none" strike="noStrike">
                          <a:solidFill>
                            <a:srgbClr val="00B050"/>
                          </a:solidFill>
                          <a:effectLst/>
                          <a:latin typeface="Bagoss Standard" panose="020B0604020202020204" charset="0"/>
                        </a:rPr>
                        <a:t>18,1</a:t>
                      </a:r>
                    </a:p>
                  </a:txBody>
                  <a:tcPr marL="6350" marR="6350" marT="635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ctr" fontAlgn="b">
                        <a:buNone/>
                      </a:pPr>
                      <a:r>
                        <a:rPr lang="fr-FR" sz="1050" b="1" i="0" u="none" strike="noStrike">
                          <a:solidFill>
                            <a:srgbClr val="00B050"/>
                          </a:solidFill>
                          <a:effectLst/>
                          <a:latin typeface="Bagoss Standard" panose="020B0604020202020204" charset="0"/>
                        </a:rPr>
                        <a:t>6,8</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9672102"/>
                  </a:ext>
                </a:extLst>
              </a:tr>
            </a:tbl>
          </a:graphicData>
        </a:graphic>
      </p:graphicFrame>
      <p:graphicFrame>
        <p:nvGraphicFramePr>
          <p:cNvPr id="15" name="Table 14">
            <a:extLst>
              <a:ext uri="{FF2B5EF4-FFF2-40B4-BE49-F238E27FC236}">
                <a16:creationId xmlns:a16="http://schemas.microsoft.com/office/drawing/2014/main" id="{04D99AAF-49B0-8724-1035-8CAEF444426E}"/>
              </a:ext>
            </a:extLst>
          </p:cNvPr>
          <p:cNvGraphicFramePr>
            <a:graphicFrameLocks noGrp="1"/>
          </p:cNvGraphicFramePr>
          <p:nvPr>
            <p:extLst>
              <p:ext uri="{D42A27DB-BD31-4B8C-83A1-F6EECF244321}">
                <p14:modId xmlns:p14="http://schemas.microsoft.com/office/powerpoint/2010/main" val="1445128873"/>
              </p:ext>
            </p:extLst>
          </p:nvPr>
        </p:nvGraphicFramePr>
        <p:xfrm>
          <a:off x="7669530" y="980245"/>
          <a:ext cx="4262771" cy="2332990"/>
        </p:xfrm>
        <a:graphic>
          <a:graphicData uri="http://schemas.openxmlformats.org/drawingml/2006/table">
            <a:tbl>
              <a:tblPr/>
              <a:tblGrid>
                <a:gridCol w="1988817">
                  <a:extLst>
                    <a:ext uri="{9D8B030D-6E8A-4147-A177-3AD203B41FA5}">
                      <a16:colId xmlns:a16="http://schemas.microsoft.com/office/drawing/2014/main" val="978331538"/>
                    </a:ext>
                  </a:extLst>
                </a:gridCol>
                <a:gridCol w="1005102">
                  <a:extLst>
                    <a:ext uri="{9D8B030D-6E8A-4147-A177-3AD203B41FA5}">
                      <a16:colId xmlns:a16="http://schemas.microsoft.com/office/drawing/2014/main" val="1035362986"/>
                    </a:ext>
                  </a:extLst>
                </a:gridCol>
                <a:gridCol w="1268852">
                  <a:extLst>
                    <a:ext uri="{9D8B030D-6E8A-4147-A177-3AD203B41FA5}">
                      <a16:colId xmlns:a16="http://schemas.microsoft.com/office/drawing/2014/main" val="1828871954"/>
                    </a:ext>
                  </a:extLst>
                </a:gridCol>
              </a:tblGrid>
              <a:tr h="156556">
                <a:tc gridSpan="2">
                  <a:txBody>
                    <a:bodyPr/>
                    <a:lstStyle/>
                    <a:p>
                      <a:pPr algn="ctr" fontAlgn="b">
                        <a:buNone/>
                      </a:pPr>
                      <a:r>
                        <a:rPr lang="fr-FR" sz="1050" b="1" i="0" u="none" strike="noStrike">
                          <a:solidFill>
                            <a:srgbClr val="000000"/>
                          </a:solidFill>
                          <a:effectLst/>
                          <a:latin typeface="Bagoss Standard" panose="020B0604020202020204" charset="0"/>
                        </a:rPr>
                        <a:t>FINAL NPS</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fr-FR"/>
                    </a:p>
                  </a:txBody>
                  <a:tcPr/>
                </a:tc>
                <a:tc>
                  <a:txBody>
                    <a:bodyPr/>
                    <a:lstStyle/>
                    <a:p>
                      <a:pPr algn="ctr" fontAlgn="b">
                        <a:buNone/>
                      </a:pPr>
                      <a:r>
                        <a:rPr lang="fr-FR" sz="1050" b="1" i="0" u="none" strike="noStrike">
                          <a:solidFill>
                            <a:srgbClr val="000000"/>
                          </a:solidFill>
                          <a:effectLst/>
                          <a:latin typeface="Bagoss Standard" panose="020B0604020202020204" charset="0"/>
                        </a:rPr>
                        <a:t>Evol vs n-1</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735391564"/>
                  </a:ext>
                </a:extLst>
              </a:tr>
              <a:tr h="150033">
                <a:tc>
                  <a:txBody>
                    <a:bodyPr/>
                    <a:lstStyle/>
                    <a:p>
                      <a:pPr algn="l" fontAlgn="b">
                        <a:buNone/>
                      </a:pPr>
                      <a:r>
                        <a:rPr lang="fr-FR" sz="1050" b="1" i="0" u="none" strike="noStrike">
                          <a:solidFill>
                            <a:srgbClr val="000000"/>
                          </a:solidFill>
                          <a:effectLst/>
                          <a:latin typeface="Bagoss Standard" panose="020B0604020202020204" charset="0"/>
                        </a:rPr>
                        <a:t>De Vossemeren</a:t>
                      </a:r>
                    </a:p>
                  </a:txBody>
                  <a:tcPr marL="6350" marR="6350" marT="635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34,0</a:t>
                      </a:r>
                    </a:p>
                  </a:txBody>
                  <a:tcPr marL="6350" marR="6350" marT="635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0,0</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481382779"/>
                  </a:ext>
                </a:extLst>
              </a:tr>
              <a:tr h="150033">
                <a:tc>
                  <a:txBody>
                    <a:bodyPr/>
                    <a:lstStyle/>
                    <a:p>
                      <a:pPr algn="l" fontAlgn="b">
                        <a:buNone/>
                      </a:pPr>
                      <a:r>
                        <a:rPr lang="fr-FR" sz="1050" b="1" i="0" u="none" strike="noStrike">
                          <a:solidFill>
                            <a:srgbClr val="000000"/>
                          </a:solidFill>
                          <a:effectLst/>
                          <a:latin typeface="Bagoss Standard" panose="020B0604020202020204" charset="0"/>
                        </a:rPr>
                        <a:t>Erperheide</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42,1</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4,8</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990454175"/>
                  </a:ext>
                </a:extLst>
              </a:tr>
              <a:tr h="150033">
                <a:tc>
                  <a:txBody>
                    <a:bodyPr/>
                    <a:lstStyle/>
                    <a:p>
                      <a:pPr algn="l" fontAlgn="b">
                        <a:buNone/>
                      </a:pPr>
                      <a:r>
                        <a:rPr lang="fr-FR" sz="1050" b="1" i="0" u="none" strike="noStrike">
                          <a:solidFill>
                            <a:srgbClr val="000000"/>
                          </a:solidFill>
                          <a:effectLst/>
                          <a:latin typeface="Bagoss Standard" panose="020B0604020202020204" charset="0"/>
                        </a:rPr>
                        <a:t>Les Ardennes</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9,5</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5,4</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144843248"/>
                  </a:ext>
                </a:extLst>
              </a:tr>
              <a:tr h="150033">
                <a:tc>
                  <a:txBody>
                    <a:bodyPr/>
                    <a:lstStyle/>
                    <a:p>
                      <a:pPr algn="l" fontAlgn="b">
                        <a:buNone/>
                      </a:pPr>
                      <a:r>
                        <a:rPr lang="fr-FR" sz="1050" b="1" i="0" u="none" strike="noStrike">
                          <a:solidFill>
                            <a:srgbClr val="000000"/>
                          </a:solidFill>
                          <a:effectLst/>
                          <a:latin typeface="Bagoss Standard" panose="020B0604020202020204" charset="0"/>
                        </a:rPr>
                        <a:t>Park De Haan</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7,7</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8,6</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970695769"/>
                  </a:ext>
                </a:extLst>
              </a:tr>
              <a:tr h="150033">
                <a:tc>
                  <a:txBody>
                    <a:bodyPr/>
                    <a:lstStyle/>
                    <a:p>
                      <a:pPr algn="l" fontAlgn="b">
                        <a:buNone/>
                      </a:pPr>
                      <a:r>
                        <a:rPr lang="fr-FR" sz="1050" b="1" i="0" u="none" strike="noStrike">
                          <a:solidFill>
                            <a:schemeClr val="tx2"/>
                          </a:solidFill>
                          <a:effectLst/>
                          <a:latin typeface="Bagoss Standard" panose="020B0604020202020204" charset="0"/>
                        </a:rPr>
                        <a:t>CP Belgium</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solidFill>
                      <a:schemeClr val="bg2"/>
                    </a:solidFill>
                  </a:tcPr>
                </a:tc>
                <a:tc>
                  <a:txBody>
                    <a:bodyPr/>
                    <a:lstStyle/>
                    <a:p>
                      <a:pPr algn="ctr" fontAlgn="b">
                        <a:buNone/>
                      </a:pPr>
                      <a:r>
                        <a:rPr lang="fr-FR" sz="1050" b="1" i="0" u="none" strike="noStrike">
                          <a:solidFill>
                            <a:srgbClr val="00B050"/>
                          </a:solidFill>
                          <a:effectLst/>
                          <a:latin typeface="Bagoss Standard" panose="020B0604020202020204" charset="0"/>
                        </a:rPr>
                        <a:t>26,6</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5,1</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071434704"/>
                  </a:ext>
                </a:extLst>
              </a:tr>
              <a:tr h="150033">
                <a:tc>
                  <a:txBody>
                    <a:bodyPr/>
                    <a:lstStyle/>
                    <a:p>
                      <a:pPr algn="l" fontAlgn="b">
                        <a:buNone/>
                      </a:pPr>
                      <a:r>
                        <a:rPr lang="fr-FR" sz="1050" b="1" i="0" u="none" strike="noStrike">
                          <a:solidFill>
                            <a:srgbClr val="000000"/>
                          </a:solidFill>
                          <a:effectLst/>
                          <a:latin typeface="Bagoss Standard" panose="020B0604020202020204" charset="0"/>
                        </a:rPr>
                        <a:t>Sunparks Kempense Meren</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fr-FR" sz="1050" b="1" i="0" u="none" strike="noStrike">
                          <a:solidFill>
                            <a:srgbClr val="FF0000"/>
                          </a:solidFill>
                          <a:effectLst/>
                          <a:latin typeface="Bagoss Standard" panose="020B0604020202020204" charset="0"/>
                        </a:rPr>
                        <a:t>-14,0</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1,8</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983205647"/>
                  </a:ext>
                </a:extLst>
              </a:tr>
              <a:tr h="150033">
                <a:tc>
                  <a:txBody>
                    <a:bodyPr/>
                    <a:lstStyle/>
                    <a:p>
                      <a:pPr algn="l" fontAlgn="b">
                        <a:buNone/>
                      </a:pPr>
                      <a:r>
                        <a:rPr lang="fr-FR" sz="1050" b="1" i="0" u="none" strike="noStrike">
                          <a:solidFill>
                            <a:srgbClr val="000000"/>
                          </a:solidFill>
                          <a:effectLst/>
                          <a:latin typeface="Bagoss Standard" panose="020B0604020202020204" charset="0"/>
                        </a:rPr>
                        <a:t>Sunparks Oostduinkerke aan zee</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fr-FR" sz="1050" b="1" i="0" u="none" strike="noStrike">
                          <a:solidFill>
                            <a:srgbClr val="FF0000"/>
                          </a:solidFill>
                          <a:effectLst/>
                          <a:latin typeface="Bagoss Standard" panose="020B0604020202020204" charset="0"/>
                        </a:rPr>
                        <a:t>-10,1</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FF0000"/>
                          </a:solidFill>
                          <a:effectLst/>
                          <a:latin typeface="Bagoss Standard" panose="020B0604020202020204" charset="0"/>
                        </a:rPr>
                        <a:t>-6,0</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528164695"/>
                  </a:ext>
                </a:extLst>
              </a:tr>
              <a:tr h="150033">
                <a:tc>
                  <a:txBody>
                    <a:bodyPr/>
                    <a:lstStyle/>
                    <a:p>
                      <a:pPr algn="l" fontAlgn="b">
                        <a:buNone/>
                      </a:pPr>
                      <a:r>
                        <a:rPr lang="fr-FR" sz="1050" b="1" i="0" u="none" strike="noStrike">
                          <a:solidFill>
                            <a:schemeClr val="tx2"/>
                          </a:solidFill>
                          <a:effectLst/>
                          <a:latin typeface="Bagoss Standard" panose="020B0604020202020204" charset="0"/>
                        </a:rPr>
                        <a:t>SP Belgium</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solidFill>
                      <a:schemeClr val="bg2"/>
                    </a:solidFill>
                  </a:tcPr>
                </a:tc>
                <a:tc>
                  <a:txBody>
                    <a:bodyPr/>
                    <a:lstStyle/>
                    <a:p>
                      <a:pPr algn="ctr" fontAlgn="b">
                        <a:buNone/>
                      </a:pPr>
                      <a:r>
                        <a:rPr lang="fr-FR" sz="1050" b="1" i="0" u="none" strike="noStrike">
                          <a:solidFill>
                            <a:srgbClr val="FF0000"/>
                          </a:solidFill>
                          <a:effectLst/>
                          <a:latin typeface="Bagoss Standard" panose="020B0604020202020204" charset="0"/>
                        </a:rPr>
                        <a:t>-12,3</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FF0000"/>
                          </a:solidFill>
                          <a:effectLst/>
                          <a:latin typeface="Bagoss Standard" panose="020B0604020202020204" charset="0"/>
                        </a:rPr>
                        <a:t>-1,4</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18249640"/>
                  </a:ext>
                </a:extLst>
              </a:tr>
              <a:tr h="150033">
                <a:tc>
                  <a:txBody>
                    <a:bodyPr/>
                    <a:lstStyle/>
                    <a:p>
                      <a:pPr algn="l" fontAlgn="b">
                        <a:buNone/>
                      </a:pPr>
                      <a:r>
                        <a:rPr lang="fr-FR" sz="1050" b="1" i="0" u="none" strike="noStrike">
                          <a:solidFill>
                            <a:schemeClr val="tx2"/>
                          </a:solidFill>
                          <a:effectLst/>
                          <a:latin typeface="Bagoss Standard" panose="020B0604020202020204" charset="0"/>
                        </a:rPr>
                        <a:t>TH Belgium</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solidFill>
                      <a:schemeClr val="bg2"/>
                    </a:solidFill>
                  </a:tcPr>
                </a:tc>
                <a:tc>
                  <a:txBody>
                    <a:bodyPr/>
                    <a:lstStyle/>
                    <a:p>
                      <a:pPr algn="ctr" fontAlgn="b">
                        <a:buNone/>
                      </a:pPr>
                      <a:r>
                        <a:rPr lang="fr-FR" sz="1050" b="1" i="0" u="none" strike="noStrike">
                          <a:solidFill>
                            <a:srgbClr val="00B050"/>
                          </a:solidFill>
                          <a:effectLst/>
                          <a:latin typeface="Bagoss Standard" panose="020B0604020202020204" charset="0"/>
                        </a:rPr>
                        <a:t>57,4</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6,0</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729231775"/>
                  </a:ext>
                </a:extLst>
              </a:tr>
              <a:tr h="156556">
                <a:tc>
                  <a:txBody>
                    <a:bodyPr/>
                    <a:lstStyle/>
                    <a:p>
                      <a:pPr algn="l" fontAlgn="b">
                        <a:buNone/>
                      </a:pPr>
                      <a:r>
                        <a:rPr lang="fr-FR" sz="1050" b="1" i="0" u="none" strike="noStrike">
                          <a:solidFill>
                            <a:schemeClr val="tx2"/>
                          </a:solidFill>
                          <a:effectLst/>
                          <a:latin typeface="Bagoss Standard" panose="020B0604020202020204" charset="0"/>
                        </a:rPr>
                        <a:t>CP SP TH Belgium</a:t>
                      </a:r>
                    </a:p>
                  </a:txBody>
                  <a:tcPr marL="6350" marR="6350" marT="635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chemeClr val="bg2"/>
                    </a:solidFill>
                  </a:tcPr>
                </a:tc>
                <a:tc>
                  <a:txBody>
                    <a:bodyPr/>
                    <a:lstStyle/>
                    <a:p>
                      <a:pPr algn="ctr" fontAlgn="b">
                        <a:buNone/>
                      </a:pPr>
                      <a:r>
                        <a:rPr lang="fr-FR" sz="1050" b="1" i="0" u="none" strike="noStrike">
                          <a:solidFill>
                            <a:srgbClr val="00B050"/>
                          </a:solidFill>
                          <a:effectLst/>
                          <a:latin typeface="Bagoss Standard" panose="020B0604020202020204" charset="0"/>
                        </a:rPr>
                        <a:t>21,7</a:t>
                      </a:r>
                    </a:p>
                  </a:txBody>
                  <a:tcPr marL="6350" marR="6350" marT="635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ctr" fontAlgn="b">
                        <a:buNone/>
                      </a:pPr>
                      <a:r>
                        <a:rPr lang="fr-FR" sz="1050" b="1" i="0" u="none" strike="noStrike">
                          <a:solidFill>
                            <a:srgbClr val="00B050"/>
                          </a:solidFill>
                          <a:effectLst/>
                          <a:latin typeface="Bagoss Standard" panose="020B0604020202020204" charset="0"/>
                        </a:rPr>
                        <a:t>3,7</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30071666"/>
                  </a:ext>
                </a:extLst>
              </a:tr>
            </a:tbl>
          </a:graphicData>
        </a:graphic>
      </p:graphicFrame>
      <p:graphicFrame>
        <p:nvGraphicFramePr>
          <p:cNvPr id="16" name="Table 15">
            <a:extLst>
              <a:ext uri="{FF2B5EF4-FFF2-40B4-BE49-F238E27FC236}">
                <a16:creationId xmlns:a16="http://schemas.microsoft.com/office/drawing/2014/main" id="{4CCE55E2-4FB7-1F0F-E9B6-0DB9D4D98A88}"/>
              </a:ext>
            </a:extLst>
          </p:cNvPr>
          <p:cNvGraphicFramePr>
            <a:graphicFrameLocks noGrp="1"/>
          </p:cNvGraphicFramePr>
          <p:nvPr>
            <p:extLst>
              <p:ext uri="{D42A27DB-BD31-4B8C-83A1-F6EECF244321}">
                <p14:modId xmlns:p14="http://schemas.microsoft.com/office/powerpoint/2010/main" val="3651582953"/>
              </p:ext>
            </p:extLst>
          </p:nvPr>
        </p:nvGraphicFramePr>
        <p:xfrm>
          <a:off x="7669530" y="5848291"/>
          <a:ext cx="3009777" cy="676275"/>
        </p:xfrm>
        <a:graphic>
          <a:graphicData uri="http://schemas.openxmlformats.org/drawingml/2006/table">
            <a:tbl>
              <a:tblPr/>
              <a:tblGrid>
                <a:gridCol w="1974685">
                  <a:extLst>
                    <a:ext uri="{9D8B030D-6E8A-4147-A177-3AD203B41FA5}">
                      <a16:colId xmlns:a16="http://schemas.microsoft.com/office/drawing/2014/main" val="275968247"/>
                    </a:ext>
                  </a:extLst>
                </a:gridCol>
                <a:gridCol w="1035092">
                  <a:extLst>
                    <a:ext uri="{9D8B030D-6E8A-4147-A177-3AD203B41FA5}">
                      <a16:colId xmlns:a16="http://schemas.microsoft.com/office/drawing/2014/main" val="1655394518"/>
                    </a:ext>
                  </a:extLst>
                </a:gridCol>
              </a:tblGrid>
              <a:tr h="228600">
                <a:tc gridSpan="2">
                  <a:txBody>
                    <a:bodyPr/>
                    <a:lstStyle/>
                    <a:p>
                      <a:pPr algn="ctr" fontAlgn="b">
                        <a:buNone/>
                      </a:pPr>
                      <a:r>
                        <a:rPr lang="fr-FR" sz="1050" b="1" i="0" u="none" strike="noStrike">
                          <a:solidFill>
                            <a:srgbClr val="000000"/>
                          </a:solidFill>
                          <a:effectLst/>
                          <a:latin typeface="Bagoss Standard" panose="020B0604020202020204" charset="0"/>
                        </a:rPr>
                        <a:t>FINAL NPS</a:t>
                      </a:r>
                    </a:p>
                  </a:txBody>
                  <a:tcPr marL="6350" marR="6350" marT="635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fr-FR"/>
                    </a:p>
                  </a:txBody>
                  <a:tcPr/>
                </a:tc>
                <a:extLst>
                  <a:ext uri="{0D108BD9-81ED-4DB2-BD59-A6C34878D82A}">
                    <a16:rowId xmlns:a16="http://schemas.microsoft.com/office/drawing/2014/main" val="4007983174"/>
                  </a:ext>
                </a:extLst>
              </a:tr>
              <a:tr h="219075">
                <a:tc>
                  <a:txBody>
                    <a:bodyPr/>
                    <a:lstStyle/>
                    <a:p>
                      <a:pPr algn="l" fontAlgn="b">
                        <a:buNone/>
                      </a:pPr>
                      <a:r>
                        <a:rPr lang="fr-FR" sz="1050" b="1" i="0" u="none" strike="noStrike" err="1">
                          <a:solidFill>
                            <a:srgbClr val="000000"/>
                          </a:solidFill>
                          <a:effectLst/>
                          <a:latin typeface="Bagoss Standard" panose="020B0604020202020204" charset="0"/>
                        </a:rPr>
                        <a:t>Nordborg</a:t>
                      </a:r>
                      <a:r>
                        <a:rPr lang="fr-FR" sz="1050" b="1" i="0" u="none" strike="noStrike">
                          <a:solidFill>
                            <a:srgbClr val="000000"/>
                          </a:solidFill>
                          <a:effectLst/>
                          <a:latin typeface="Bagoss Standard" panose="020B0604020202020204" charset="0"/>
                        </a:rPr>
                        <a:t> Resort</a:t>
                      </a:r>
                    </a:p>
                  </a:txBody>
                  <a:tcPr marL="6350" marR="6350" marT="635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ctr" fontAlgn="b">
                        <a:buNone/>
                      </a:pPr>
                      <a:r>
                        <a:rPr lang="fr-FR" sz="1050" b="1" i="0" u="none" strike="noStrike">
                          <a:solidFill>
                            <a:srgbClr val="00B050"/>
                          </a:solidFill>
                          <a:effectLst/>
                          <a:latin typeface="Bagoss Standard" panose="020B0604020202020204" charset="0"/>
                        </a:rPr>
                        <a:t>30,3</a:t>
                      </a:r>
                    </a:p>
                  </a:txBody>
                  <a:tcPr marL="6350" marR="6350" marT="635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28592994"/>
                  </a:ext>
                </a:extLst>
              </a:tr>
              <a:tr h="228600">
                <a:tc>
                  <a:txBody>
                    <a:bodyPr/>
                    <a:lstStyle/>
                    <a:p>
                      <a:pPr algn="l" fontAlgn="b">
                        <a:buNone/>
                      </a:pPr>
                      <a:r>
                        <a:rPr lang="fr-FR" sz="1050" b="1" i="0" u="none" strike="noStrike">
                          <a:solidFill>
                            <a:srgbClr val="B1EDA6"/>
                          </a:solidFill>
                          <a:effectLst/>
                          <a:latin typeface="Bagoss Standard" panose="020B0604020202020204" charset="0"/>
                        </a:rPr>
                        <a:t>CP DENMARK</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solidFill>
                      <a:srgbClr val="045E51"/>
                    </a:solidFill>
                  </a:tcPr>
                </a:tc>
                <a:tc>
                  <a:txBody>
                    <a:bodyPr/>
                    <a:lstStyle/>
                    <a:p>
                      <a:pPr algn="ctr" fontAlgn="b">
                        <a:buNone/>
                      </a:pPr>
                      <a:r>
                        <a:rPr lang="fr-FR" sz="1050" b="1" i="0" u="none" strike="noStrike">
                          <a:solidFill>
                            <a:srgbClr val="00B050"/>
                          </a:solidFill>
                          <a:effectLst/>
                          <a:latin typeface="Bagoss Standard" panose="020B0604020202020204" charset="0"/>
                        </a:rPr>
                        <a:t>30,3</a:t>
                      </a:r>
                    </a:p>
                  </a:txBody>
                  <a:tcPr marL="6350" marR="6350" marT="635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31446425"/>
                  </a:ext>
                </a:extLst>
              </a:tr>
            </a:tbl>
          </a:graphicData>
        </a:graphic>
      </p:graphicFrame>
      <p:graphicFrame>
        <p:nvGraphicFramePr>
          <p:cNvPr id="17" name="Table 16">
            <a:extLst>
              <a:ext uri="{FF2B5EF4-FFF2-40B4-BE49-F238E27FC236}">
                <a16:creationId xmlns:a16="http://schemas.microsoft.com/office/drawing/2014/main" id="{25AA67FB-14EF-6440-3DA6-CD6A62AD1B09}"/>
              </a:ext>
            </a:extLst>
          </p:cNvPr>
          <p:cNvGraphicFramePr>
            <a:graphicFrameLocks noGrp="1"/>
          </p:cNvGraphicFramePr>
          <p:nvPr>
            <p:extLst>
              <p:ext uri="{D42A27DB-BD31-4B8C-83A1-F6EECF244321}">
                <p14:modId xmlns:p14="http://schemas.microsoft.com/office/powerpoint/2010/main" val="3633336931"/>
              </p:ext>
            </p:extLst>
          </p:nvPr>
        </p:nvGraphicFramePr>
        <p:xfrm>
          <a:off x="75434" y="2840164"/>
          <a:ext cx="2643588" cy="1879600"/>
        </p:xfrm>
        <a:graphic>
          <a:graphicData uri="http://schemas.openxmlformats.org/drawingml/2006/table">
            <a:tbl>
              <a:tblPr/>
              <a:tblGrid>
                <a:gridCol w="916877">
                  <a:extLst>
                    <a:ext uri="{9D8B030D-6E8A-4147-A177-3AD203B41FA5}">
                      <a16:colId xmlns:a16="http://schemas.microsoft.com/office/drawing/2014/main" val="2013719104"/>
                    </a:ext>
                  </a:extLst>
                </a:gridCol>
                <a:gridCol w="758938">
                  <a:extLst>
                    <a:ext uri="{9D8B030D-6E8A-4147-A177-3AD203B41FA5}">
                      <a16:colId xmlns:a16="http://schemas.microsoft.com/office/drawing/2014/main" val="2318503526"/>
                    </a:ext>
                  </a:extLst>
                </a:gridCol>
                <a:gridCol w="967773">
                  <a:extLst>
                    <a:ext uri="{9D8B030D-6E8A-4147-A177-3AD203B41FA5}">
                      <a16:colId xmlns:a16="http://schemas.microsoft.com/office/drawing/2014/main" val="2492830743"/>
                    </a:ext>
                  </a:extLst>
                </a:gridCol>
              </a:tblGrid>
              <a:tr h="228600">
                <a:tc gridSpan="2">
                  <a:txBody>
                    <a:bodyPr/>
                    <a:lstStyle/>
                    <a:p>
                      <a:pPr algn="ctr" fontAlgn="b">
                        <a:buNone/>
                      </a:pPr>
                      <a:r>
                        <a:rPr lang="fr-FR" sz="1200" b="1" i="0" u="none" strike="noStrike">
                          <a:solidFill>
                            <a:srgbClr val="000000"/>
                          </a:solidFill>
                          <a:effectLst/>
                          <a:latin typeface="Bagoss Standard" panose="020B0604020202020204" charset="0"/>
                        </a:rPr>
                        <a:t>FINAL NPS</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fr-FR"/>
                    </a:p>
                  </a:txBody>
                  <a:tcPr/>
                </a:tc>
                <a:tc>
                  <a:txBody>
                    <a:bodyPr/>
                    <a:lstStyle/>
                    <a:p>
                      <a:pPr algn="ctr" fontAlgn="b">
                        <a:buNone/>
                      </a:pPr>
                      <a:r>
                        <a:rPr lang="fr-FR" sz="1200" b="1" i="0" u="none" strike="noStrike">
                          <a:solidFill>
                            <a:srgbClr val="000000"/>
                          </a:solidFill>
                          <a:effectLst/>
                          <a:latin typeface="Bagoss Standard" panose="020B0604020202020204" charset="0"/>
                        </a:rPr>
                        <a:t>Evol vs n-1</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4016533468"/>
                  </a:ext>
                </a:extLst>
              </a:tr>
              <a:tr h="228600">
                <a:tc>
                  <a:txBody>
                    <a:bodyPr/>
                    <a:lstStyle/>
                    <a:p>
                      <a:pPr algn="l" fontAlgn="b">
                        <a:buNone/>
                      </a:pPr>
                      <a:r>
                        <a:rPr lang="fr-FR" sz="1200" b="1" i="0" u="none" strike="noStrike">
                          <a:solidFill>
                            <a:srgbClr val="B1EDA6"/>
                          </a:solidFill>
                          <a:effectLst/>
                          <a:latin typeface="Bagoss Standard" panose="020B0604020202020204" charset="0"/>
                        </a:rPr>
                        <a:t>CP </a:t>
                      </a:r>
                    </a:p>
                  </a:txBody>
                  <a:tcPr marL="6350" marR="6350" marT="635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045E51"/>
                    </a:solidFill>
                  </a:tcPr>
                </a:tc>
                <a:tc>
                  <a:txBody>
                    <a:bodyPr/>
                    <a:lstStyle/>
                    <a:p>
                      <a:pPr algn="ctr" fontAlgn="b">
                        <a:buNone/>
                      </a:pPr>
                      <a:r>
                        <a:rPr lang="fr-FR" sz="1200" b="1" i="0" u="none" strike="noStrike">
                          <a:solidFill>
                            <a:srgbClr val="00B050"/>
                          </a:solidFill>
                          <a:effectLst/>
                          <a:latin typeface="Bagoss Standard" panose="020B0604020202020204" charset="0"/>
                        </a:rPr>
                        <a:t>21,1</a:t>
                      </a:r>
                    </a:p>
                  </a:txBody>
                  <a:tcPr marL="6350" marR="6350" marT="635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ctr" fontAlgn="b">
                        <a:buNone/>
                      </a:pPr>
                      <a:r>
                        <a:rPr lang="fr-FR" sz="1200" b="1" i="0" u="none" strike="noStrike">
                          <a:solidFill>
                            <a:srgbClr val="00B050"/>
                          </a:solidFill>
                          <a:effectLst/>
                          <a:latin typeface="Bagoss Standard" panose="020B0604020202020204" charset="0"/>
                        </a:rPr>
                        <a:t>6,3</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055615853"/>
                  </a:ext>
                </a:extLst>
              </a:tr>
              <a:tr h="219075">
                <a:tc>
                  <a:txBody>
                    <a:bodyPr/>
                    <a:lstStyle/>
                    <a:p>
                      <a:pPr algn="l" fontAlgn="b">
                        <a:buNone/>
                      </a:pPr>
                      <a:r>
                        <a:rPr lang="fr-FR" sz="1200" b="1" i="0" u="none" strike="noStrike">
                          <a:solidFill>
                            <a:srgbClr val="B1EDA6"/>
                          </a:solidFill>
                          <a:effectLst/>
                          <a:latin typeface="Bagoss Standard" panose="020B0604020202020204" charset="0"/>
                        </a:rPr>
                        <a:t>SP</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solidFill>
                      <a:srgbClr val="045E51"/>
                    </a:solidFill>
                  </a:tcPr>
                </a:tc>
                <a:tc>
                  <a:txBody>
                    <a:bodyPr/>
                    <a:lstStyle/>
                    <a:p>
                      <a:pPr algn="ctr" fontAlgn="b">
                        <a:buNone/>
                      </a:pPr>
                      <a:r>
                        <a:rPr lang="fr-FR" sz="1200" b="1" i="0" u="none" strike="noStrike">
                          <a:solidFill>
                            <a:srgbClr val="FF0000"/>
                          </a:solidFill>
                          <a:effectLst/>
                          <a:latin typeface="Bagoss Standard" panose="020B0604020202020204" charset="0"/>
                        </a:rPr>
                        <a:t>-12,3</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200" b="1" i="0" u="none" strike="noStrike">
                          <a:solidFill>
                            <a:srgbClr val="FF0000"/>
                          </a:solidFill>
                          <a:effectLst/>
                          <a:latin typeface="Bagoss Standard" panose="020B0604020202020204" charset="0"/>
                        </a:rPr>
                        <a:t>-1,4</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00892080"/>
                  </a:ext>
                </a:extLst>
              </a:tr>
              <a:tr h="219075">
                <a:tc>
                  <a:txBody>
                    <a:bodyPr/>
                    <a:lstStyle/>
                    <a:p>
                      <a:pPr algn="l" fontAlgn="b">
                        <a:buNone/>
                      </a:pPr>
                      <a:r>
                        <a:rPr lang="fr-FR" sz="1200" b="1" i="0" u="none" strike="noStrike">
                          <a:solidFill>
                            <a:srgbClr val="B1EDA6"/>
                          </a:solidFill>
                          <a:effectLst/>
                          <a:latin typeface="Bagoss Standard" panose="020B0604020202020204" charset="0"/>
                        </a:rPr>
                        <a:t>CP SP</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solidFill>
                      <a:srgbClr val="045E51"/>
                    </a:solidFill>
                  </a:tcPr>
                </a:tc>
                <a:tc>
                  <a:txBody>
                    <a:bodyPr/>
                    <a:lstStyle/>
                    <a:p>
                      <a:pPr algn="ctr" fontAlgn="b">
                        <a:buNone/>
                      </a:pPr>
                      <a:r>
                        <a:rPr lang="fr-FR" sz="1200" b="1" i="0" u="none" strike="noStrike">
                          <a:solidFill>
                            <a:srgbClr val="00B050"/>
                          </a:solidFill>
                          <a:effectLst/>
                          <a:latin typeface="Bagoss Standard" panose="020B0604020202020204" charset="0"/>
                        </a:rPr>
                        <a:t>19,8</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200" b="1" i="0" u="none" strike="noStrike">
                          <a:solidFill>
                            <a:srgbClr val="00B050"/>
                          </a:solidFill>
                          <a:effectLst/>
                          <a:latin typeface="Bagoss Standard" panose="020B0604020202020204" charset="0"/>
                        </a:rPr>
                        <a:t>6,0</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863318752"/>
                  </a:ext>
                </a:extLst>
              </a:tr>
              <a:tr h="219075">
                <a:tc>
                  <a:txBody>
                    <a:bodyPr/>
                    <a:lstStyle/>
                    <a:p>
                      <a:pPr algn="l" fontAlgn="b">
                        <a:buNone/>
                      </a:pPr>
                      <a:r>
                        <a:rPr lang="fr-FR" sz="1200" b="1" i="0" u="none" strike="noStrike">
                          <a:solidFill>
                            <a:srgbClr val="B1EDA6"/>
                          </a:solidFill>
                          <a:effectLst/>
                          <a:latin typeface="Bagoss Standard" panose="020B0604020202020204" charset="0"/>
                        </a:rPr>
                        <a:t>TH</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solidFill>
                      <a:srgbClr val="045E51"/>
                    </a:solidFill>
                  </a:tcPr>
                </a:tc>
                <a:tc>
                  <a:txBody>
                    <a:bodyPr/>
                    <a:lstStyle/>
                    <a:p>
                      <a:pPr algn="ctr" fontAlgn="b">
                        <a:buNone/>
                      </a:pPr>
                      <a:r>
                        <a:rPr lang="fr-FR" sz="1200" b="1" i="0" u="none" strike="noStrike">
                          <a:solidFill>
                            <a:srgbClr val="00B050"/>
                          </a:solidFill>
                          <a:effectLst/>
                          <a:latin typeface="Bagoss Standard" panose="020B0604020202020204" charset="0"/>
                        </a:rPr>
                        <a:t>57,4</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200" b="1" i="0" u="none" strike="noStrike">
                          <a:solidFill>
                            <a:srgbClr val="00B050"/>
                          </a:solidFill>
                          <a:effectLst/>
                          <a:latin typeface="Bagoss Standard" panose="020B0604020202020204" charset="0"/>
                        </a:rPr>
                        <a:t>6,0</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979001677"/>
                  </a:ext>
                </a:extLst>
              </a:tr>
              <a:tr h="219075">
                <a:tc>
                  <a:txBody>
                    <a:bodyPr/>
                    <a:lstStyle/>
                    <a:p>
                      <a:pPr algn="l" fontAlgn="b">
                        <a:buNone/>
                      </a:pPr>
                      <a:r>
                        <a:rPr lang="fr-FR" sz="1200" b="1" i="0" u="none" strike="noStrike">
                          <a:solidFill>
                            <a:srgbClr val="B1EDA6"/>
                          </a:solidFill>
                          <a:effectLst/>
                          <a:latin typeface="Bagoss Standard" panose="020B0604020202020204" charset="0"/>
                        </a:rPr>
                        <a:t>CP SP TH</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solidFill>
                      <a:srgbClr val="045E51"/>
                    </a:solidFill>
                  </a:tcPr>
                </a:tc>
                <a:tc>
                  <a:txBody>
                    <a:bodyPr/>
                    <a:lstStyle/>
                    <a:p>
                      <a:pPr algn="ctr" fontAlgn="b">
                        <a:buNone/>
                      </a:pPr>
                      <a:r>
                        <a:rPr lang="fr-FR" sz="1200" b="1" i="0" u="none" strike="noStrike">
                          <a:solidFill>
                            <a:srgbClr val="00B050"/>
                          </a:solidFill>
                          <a:effectLst/>
                          <a:latin typeface="Bagoss Standard" panose="020B0604020202020204" charset="0"/>
                        </a:rPr>
                        <a:t>20,5</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fr-FR" sz="1200" b="1" i="0" u="none" strike="noStrike">
                          <a:solidFill>
                            <a:srgbClr val="00B050"/>
                          </a:solidFill>
                          <a:effectLst/>
                          <a:latin typeface="Bagoss Standard" panose="020B0604020202020204" charset="0"/>
                        </a:rPr>
                        <a:t>6,0</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202287039"/>
                  </a:ext>
                </a:extLst>
              </a:tr>
              <a:tr h="219075">
                <a:tc>
                  <a:txBody>
                    <a:bodyPr/>
                    <a:lstStyle/>
                    <a:p>
                      <a:pPr algn="l" fontAlgn="b">
                        <a:buNone/>
                      </a:pPr>
                      <a:r>
                        <a:rPr lang="fr-FR" sz="1200" b="1" i="0" u="none" strike="noStrike">
                          <a:solidFill>
                            <a:srgbClr val="B1EDA6"/>
                          </a:solidFill>
                          <a:effectLst/>
                          <a:latin typeface="Bagoss Standard" panose="020B0604020202020204" charset="0"/>
                        </a:rPr>
                        <a:t>NO</a:t>
                      </a:r>
                    </a:p>
                  </a:txBody>
                  <a:tcPr marL="6350" marR="6350" marT="6350" anchor="b">
                    <a:lnL w="12700" cap="flat" cmpd="sng" algn="ctr">
                      <a:solidFill>
                        <a:srgbClr val="000000"/>
                      </a:solidFill>
                      <a:prstDash val="solid"/>
                      <a:round/>
                      <a:headEnd type="none" w="med" len="med"/>
                      <a:tailEnd type="none" w="med" len="med"/>
                    </a:lnL>
                    <a:lnR>
                      <a:noFill/>
                    </a:lnR>
                    <a:lnT>
                      <a:noFill/>
                    </a:lnT>
                    <a:lnB>
                      <a:noFill/>
                    </a:lnB>
                    <a:solidFill>
                      <a:srgbClr val="045E51"/>
                    </a:solidFill>
                  </a:tcPr>
                </a:tc>
                <a:tc>
                  <a:txBody>
                    <a:bodyPr/>
                    <a:lstStyle/>
                    <a:p>
                      <a:pPr algn="ctr" fontAlgn="b">
                        <a:buNone/>
                      </a:pPr>
                      <a:r>
                        <a:rPr lang="fr-FR" sz="1200" b="1" i="0" u="none" strike="noStrike">
                          <a:solidFill>
                            <a:srgbClr val="00B050"/>
                          </a:solidFill>
                          <a:effectLst/>
                          <a:latin typeface="Bagoss Standard" panose="020B0604020202020204" charset="0"/>
                        </a:rPr>
                        <a:t>30,3</a:t>
                      </a:r>
                    </a:p>
                  </a:txBody>
                  <a:tcPr marL="6350" marR="6350" marT="635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endParaRPr lang="fr-FR" sz="1200" b="1" i="0" u="none" strike="noStrike">
                        <a:solidFill>
                          <a:srgbClr val="FF0000"/>
                        </a:solidFill>
                        <a:effectLst/>
                        <a:latin typeface="Bagoss Standard" panose="020B0604020202020204" charset="0"/>
                      </a:endParaRP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768496428"/>
                  </a:ext>
                </a:extLst>
              </a:tr>
              <a:tr h="228600">
                <a:tc>
                  <a:txBody>
                    <a:bodyPr/>
                    <a:lstStyle/>
                    <a:p>
                      <a:pPr algn="l" fontAlgn="b">
                        <a:buNone/>
                      </a:pPr>
                      <a:r>
                        <a:rPr lang="fr-FR" sz="1200" b="1" i="0" u="none" strike="noStrike">
                          <a:solidFill>
                            <a:srgbClr val="B1EDA6"/>
                          </a:solidFill>
                          <a:effectLst/>
                          <a:latin typeface="Bagoss Standard" panose="020B0604020202020204" charset="0"/>
                        </a:rPr>
                        <a:t>CP SP TH NO</a:t>
                      </a:r>
                    </a:p>
                  </a:txBody>
                  <a:tcPr marL="6350" marR="6350" marT="635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045E51"/>
                    </a:solidFill>
                  </a:tcPr>
                </a:tc>
                <a:tc>
                  <a:txBody>
                    <a:bodyPr/>
                    <a:lstStyle/>
                    <a:p>
                      <a:pPr algn="ctr" fontAlgn="b">
                        <a:buNone/>
                      </a:pPr>
                      <a:r>
                        <a:rPr lang="fr-FR" sz="1200" b="1" i="0" u="none" strike="noStrike">
                          <a:solidFill>
                            <a:srgbClr val="00B050"/>
                          </a:solidFill>
                          <a:effectLst/>
                          <a:latin typeface="Bagoss Standard" panose="020B0604020202020204" charset="0"/>
                        </a:rPr>
                        <a:t>20,5</a:t>
                      </a:r>
                    </a:p>
                  </a:txBody>
                  <a:tcPr marL="6350" marR="6350" marT="635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ctr" fontAlgn="b">
                        <a:buNone/>
                      </a:pPr>
                      <a:r>
                        <a:rPr lang="fr-FR" sz="1200" b="1" i="0" u="none" strike="noStrike">
                          <a:solidFill>
                            <a:srgbClr val="00B050"/>
                          </a:solidFill>
                          <a:effectLst/>
                          <a:latin typeface="Bagoss Standard" panose="020B0604020202020204" charset="0"/>
                        </a:rPr>
                        <a:t>6,0</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6898699"/>
                  </a:ext>
                </a:extLst>
              </a:tr>
            </a:tbl>
          </a:graphicData>
        </a:graphic>
      </p:graphicFrame>
    </p:spTree>
    <p:extLst>
      <p:ext uri="{BB962C8B-B14F-4D97-AF65-F5344CB8AC3E}">
        <p14:creationId xmlns:p14="http://schemas.microsoft.com/office/powerpoint/2010/main" val="1295617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3FFB7-3FCF-FF04-7873-42010CF11F3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8FEA56-6FF0-750F-37F5-1E99A6A0D916}"/>
              </a:ext>
            </a:extLst>
          </p:cNvPr>
          <p:cNvSpPr>
            <a:spLocks noGrp="1"/>
          </p:cNvSpPr>
          <p:nvPr>
            <p:ph type="sldNum" sz="quarter" idx="12"/>
          </p:nvPr>
        </p:nvSpPr>
        <p:spPr/>
        <p:txBody>
          <a:bodyPr/>
          <a:lstStyle/>
          <a:p>
            <a:fld id="{0D2E6A04-B99A-6C4D-8942-945F97C9E705}" type="slidenum">
              <a:rPr lang="en-US" smtClean="0"/>
              <a:pPr/>
              <a:t>6</a:t>
            </a:fld>
            <a:endParaRPr lang="en-US"/>
          </a:p>
        </p:txBody>
      </p:sp>
      <p:sp>
        <p:nvSpPr>
          <p:cNvPr id="3" name="Date Placeholder 2">
            <a:extLst>
              <a:ext uri="{FF2B5EF4-FFF2-40B4-BE49-F238E27FC236}">
                <a16:creationId xmlns:a16="http://schemas.microsoft.com/office/drawing/2014/main" id="{2D7C8E20-2FE5-F7B3-6127-87598D0BDB66}"/>
              </a:ext>
            </a:extLst>
          </p:cNvPr>
          <p:cNvSpPr>
            <a:spLocks noGrp="1"/>
          </p:cNvSpPr>
          <p:nvPr>
            <p:ph type="dt" sz="half" idx="10"/>
          </p:nvPr>
        </p:nvSpPr>
        <p:spPr/>
        <p:txBody>
          <a:bodyPr/>
          <a:lstStyle/>
          <a:p>
            <a:fld id="{05C20A28-4BAC-4477-9026-1E123DBFBC43}" type="datetime1">
              <a:rPr lang="fr-FR" smtClean="0"/>
              <a:t>27/11/2025</a:t>
            </a:fld>
            <a:endParaRPr lang="en-US"/>
          </a:p>
        </p:txBody>
      </p:sp>
      <p:sp>
        <p:nvSpPr>
          <p:cNvPr id="5" name="Title 4">
            <a:extLst>
              <a:ext uri="{FF2B5EF4-FFF2-40B4-BE49-F238E27FC236}">
                <a16:creationId xmlns:a16="http://schemas.microsoft.com/office/drawing/2014/main" id="{D9F5FA8D-C110-EE1D-0F06-DD6E846E38D0}"/>
              </a:ext>
            </a:extLst>
          </p:cNvPr>
          <p:cNvSpPr>
            <a:spLocks noGrp="1"/>
          </p:cNvSpPr>
          <p:nvPr>
            <p:ph type="title"/>
          </p:nvPr>
        </p:nvSpPr>
        <p:spPr/>
        <p:txBody>
          <a:bodyPr/>
          <a:lstStyle/>
          <a:p>
            <a:r>
              <a:rPr lang="fr-FR">
                <a:latin typeface="Tahoma"/>
                <a:ea typeface="Tahoma"/>
                <a:cs typeface="Tahoma"/>
              </a:rPr>
              <a:t>NPS Evolution and distribution</a:t>
            </a:r>
            <a:endParaRPr lang="fr-FR"/>
          </a:p>
        </p:txBody>
      </p:sp>
      <p:sp>
        <p:nvSpPr>
          <p:cNvPr id="6" name="Rechthoek 4">
            <a:extLst>
              <a:ext uri="{FF2B5EF4-FFF2-40B4-BE49-F238E27FC236}">
                <a16:creationId xmlns:a16="http://schemas.microsoft.com/office/drawing/2014/main" id="{0C7E09F5-25C8-9E87-8800-F9EB8FBF7346}"/>
              </a:ext>
            </a:extLst>
          </p:cNvPr>
          <p:cNvSpPr/>
          <p:nvPr/>
        </p:nvSpPr>
        <p:spPr>
          <a:xfrm>
            <a:off x="-1" y="978100"/>
            <a:ext cx="6916231" cy="1004704"/>
          </a:xfrm>
          <a:prstGeom prst="rect">
            <a:avLst/>
          </a:prstGeom>
          <a:solidFill>
            <a:schemeClr val="accent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1"/>
                </a:solidFill>
                <a:latin typeface="+mj-lt"/>
                <a:ea typeface="Calibri"/>
                <a:cs typeface="Calibri"/>
              </a:rPr>
              <a:t>Continuous improvement of monthly NPS vs. N-1</a:t>
            </a:r>
          </a:p>
          <a:p>
            <a:pPr marL="720725" lvl="2" indent="-161925">
              <a:lnSpc>
                <a:spcPct val="120000"/>
              </a:lnSpc>
              <a:buFont typeface="Arial" panose="020B0604020202020204" pitchFamily="34" charset="0"/>
              <a:buChar char="•"/>
            </a:pPr>
            <a:r>
              <a:rPr lang="en-US" sz="1200" b="1">
                <a:solidFill>
                  <a:schemeClr val="tx1"/>
                </a:solidFill>
                <a:latin typeface="+mj-lt"/>
                <a:ea typeface="Calibri"/>
                <a:cs typeface="Calibri"/>
              </a:rPr>
              <a:t>Clear upgrade in January and May 2025 vs </a:t>
            </a:r>
            <a:r>
              <a:rPr lang="en-US" sz="1200" b="1" err="1">
                <a:solidFill>
                  <a:schemeClr val="tx1"/>
                </a:solidFill>
                <a:latin typeface="+mj-lt"/>
                <a:ea typeface="Calibri"/>
                <a:cs typeface="Calibri"/>
              </a:rPr>
              <a:t>ly</a:t>
            </a:r>
            <a:r>
              <a:rPr lang="en-US" sz="1200" b="1">
                <a:solidFill>
                  <a:schemeClr val="tx1"/>
                </a:solidFill>
                <a:latin typeface="+mj-lt"/>
                <a:ea typeface="Calibri"/>
                <a:cs typeface="Calibri"/>
              </a:rPr>
              <a:t>, the trend has reversed.</a:t>
            </a:r>
          </a:p>
          <a:p>
            <a:pPr marL="720725" lvl="2" indent="-161925">
              <a:lnSpc>
                <a:spcPct val="120000"/>
              </a:lnSpc>
              <a:buFont typeface="Arial" panose="020B0604020202020204" pitchFamily="34" charset="0"/>
              <a:buChar char="•"/>
            </a:pPr>
            <a:r>
              <a:rPr lang="en-US" sz="1200" b="1">
                <a:solidFill>
                  <a:schemeClr val="tx1"/>
                </a:solidFill>
                <a:latin typeface="+mj-lt"/>
                <a:ea typeface="Calibri"/>
                <a:cs typeface="Calibri"/>
              </a:rPr>
              <a:t>14 villages above the CPE NPS and 14 villages below </a:t>
            </a:r>
            <a:r>
              <a:rPr lang="en-US" sz="1050">
                <a:solidFill>
                  <a:schemeClr val="tx1"/>
                </a:solidFill>
                <a:latin typeface="+mj-lt"/>
                <a:ea typeface="Calibri"/>
                <a:cs typeface="Calibri"/>
              </a:rPr>
              <a:t>(vs 10 parks above CP average of 15,5 </a:t>
            </a:r>
            <a:r>
              <a:rPr lang="en-US" sz="1050" err="1">
                <a:solidFill>
                  <a:schemeClr val="tx1"/>
                </a:solidFill>
                <a:latin typeface="+mj-lt"/>
                <a:ea typeface="Calibri"/>
                <a:cs typeface="Calibri"/>
              </a:rPr>
              <a:t>ly</a:t>
            </a:r>
            <a:r>
              <a:rPr lang="en-US" sz="1050">
                <a:solidFill>
                  <a:schemeClr val="tx1"/>
                </a:solidFill>
                <a:latin typeface="+mj-lt"/>
                <a:ea typeface="Calibri"/>
                <a:cs typeface="Calibri"/>
              </a:rPr>
              <a:t> and 17 villages below) </a:t>
            </a:r>
          </a:p>
        </p:txBody>
      </p:sp>
      <p:sp>
        <p:nvSpPr>
          <p:cNvPr id="7" name="Rectangle 6">
            <a:extLst>
              <a:ext uri="{FF2B5EF4-FFF2-40B4-BE49-F238E27FC236}">
                <a16:creationId xmlns:a16="http://schemas.microsoft.com/office/drawing/2014/main" id="{3156B716-6F88-199A-7ACD-C2FF782B79C4}"/>
              </a:ext>
            </a:extLst>
          </p:cNvPr>
          <p:cNvSpPr/>
          <p:nvPr/>
        </p:nvSpPr>
        <p:spPr>
          <a:xfrm rot="16200000">
            <a:off x="-279400" y="1308356"/>
            <a:ext cx="980592" cy="3754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ea typeface="Calibri"/>
                <a:cs typeface="Calibri"/>
              </a:rPr>
              <a:t>Analysis</a:t>
            </a:r>
            <a:endParaRPr lang="en-US" sz="1100"/>
          </a:p>
        </p:txBody>
      </p:sp>
      <p:pic>
        <p:nvPicPr>
          <p:cNvPr id="9" name="Picture 8" descr="A graph with numbers and lines&#10;&#10;AI-generated content may be incorrect.">
            <a:extLst>
              <a:ext uri="{FF2B5EF4-FFF2-40B4-BE49-F238E27FC236}">
                <a16:creationId xmlns:a16="http://schemas.microsoft.com/office/drawing/2014/main" id="{D05BE2BD-CA42-7A7F-88E8-F4F1008725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963" y="2381251"/>
            <a:ext cx="6916231" cy="3744886"/>
          </a:xfrm>
          <a:prstGeom prst="rect">
            <a:avLst/>
          </a:prstGeom>
        </p:spPr>
      </p:pic>
      <p:pic>
        <p:nvPicPr>
          <p:cNvPr id="11" name="Picture 10">
            <a:extLst>
              <a:ext uri="{FF2B5EF4-FFF2-40B4-BE49-F238E27FC236}">
                <a16:creationId xmlns:a16="http://schemas.microsoft.com/office/drawing/2014/main" id="{B71B2E25-AAD9-9552-D969-25095A335B77}"/>
              </a:ext>
            </a:extLst>
          </p:cNvPr>
          <p:cNvPicPr>
            <a:picLocks noChangeAspect="1"/>
          </p:cNvPicPr>
          <p:nvPr/>
        </p:nvPicPr>
        <p:blipFill>
          <a:blip r:embed="rId3"/>
          <a:stretch>
            <a:fillRect/>
          </a:stretch>
        </p:blipFill>
        <p:spPr>
          <a:xfrm>
            <a:off x="7342308" y="1005799"/>
            <a:ext cx="4539220" cy="5129730"/>
          </a:xfrm>
          <a:prstGeom prst="rect">
            <a:avLst/>
          </a:prstGeom>
        </p:spPr>
      </p:pic>
      <p:cxnSp>
        <p:nvCxnSpPr>
          <p:cNvPr id="18" name="Straight Arrow Connector 17">
            <a:extLst>
              <a:ext uri="{FF2B5EF4-FFF2-40B4-BE49-F238E27FC236}">
                <a16:creationId xmlns:a16="http://schemas.microsoft.com/office/drawing/2014/main" id="{9F696CB6-80B6-2F90-8D71-A2F963626D5E}"/>
              </a:ext>
            </a:extLst>
          </p:cNvPr>
          <p:cNvCxnSpPr/>
          <p:nvPr/>
        </p:nvCxnSpPr>
        <p:spPr>
          <a:xfrm>
            <a:off x="7520940" y="3611880"/>
            <a:ext cx="97155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662FF89-EFCB-5C81-46B0-09886781582E}"/>
              </a:ext>
            </a:extLst>
          </p:cNvPr>
          <p:cNvSpPr txBox="1"/>
          <p:nvPr/>
        </p:nvSpPr>
        <p:spPr>
          <a:xfrm>
            <a:off x="6270730" y="3457991"/>
            <a:ext cx="1217000" cy="307777"/>
          </a:xfrm>
          <a:prstGeom prst="rect">
            <a:avLst/>
          </a:prstGeom>
          <a:noFill/>
        </p:spPr>
        <p:txBody>
          <a:bodyPr wrap="none" rtlCol="0">
            <a:spAutoFit/>
          </a:bodyPr>
          <a:lstStyle/>
          <a:p>
            <a:r>
              <a:rPr lang="fr-FR" sz="1400" b="1" err="1"/>
              <a:t>Average</a:t>
            </a:r>
            <a:r>
              <a:rPr lang="fr-FR" sz="1400" b="1"/>
              <a:t> CP</a:t>
            </a:r>
          </a:p>
        </p:txBody>
      </p:sp>
      <p:sp>
        <p:nvSpPr>
          <p:cNvPr id="20" name="TextBox 19">
            <a:extLst>
              <a:ext uri="{FF2B5EF4-FFF2-40B4-BE49-F238E27FC236}">
                <a16:creationId xmlns:a16="http://schemas.microsoft.com/office/drawing/2014/main" id="{0072E847-AD61-F101-6AA4-34D1A861CEB7}"/>
              </a:ext>
            </a:extLst>
          </p:cNvPr>
          <p:cNvSpPr txBox="1"/>
          <p:nvPr/>
        </p:nvSpPr>
        <p:spPr>
          <a:xfrm>
            <a:off x="10612546" y="3457991"/>
            <a:ext cx="582211" cy="307777"/>
          </a:xfrm>
          <a:prstGeom prst="rect">
            <a:avLst/>
          </a:prstGeom>
          <a:noFill/>
        </p:spPr>
        <p:txBody>
          <a:bodyPr wrap="none" lIns="91440" tIns="45720" rIns="91440" bIns="45720" rtlCol="0" anchor="t">
            <a:spAutoFit/>
          </a:bodyPr>
          <a:lstStyle/>
          <a:p>
            <a:r>
              <a:rPr lang="fr-FR" sz="1400" b="1"/>
              <a:t>21,1</a:t>
            </a:r>
          </a:p>
        </p:txBody>
      </p:sp>
    </p:spTree>
    <p:extLst>
      <p:ext uri="{BB962C8B-B14F-4D97-AF65-F5344CB8AC3E}">
        <p14:creationId xmlns:p14="http://schemas.microsoft.com/office/powerpoint/2010/main" val="2253118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218079-6D59-7BAE-AC28-7C5546E99872}"/>
              </a:ext>
            </a:extLst>
          </p:cNvPr>
          <p:cNvSpPr>
            <a:spLocks noGrp="1"/>
          </p:cNvSpPr>
          <p:nvPr>
            <p:ph type="sldNum" sz="quarter" idx="12"/>
          </p:nvPr>
        </p:nvSpPr>
        <p:spPr/>
        <p:txBody>
          <a:bodyPr/>
          <a:lstStyle/>
          <a:p>
            <a:fld id="{0D2E6A04-B99A-6C4D-8942-945F97C9E705}" type="slidenum">
              <a:rPr lang="en-US" smtClean="0"/>
              <a:pPr/>
              <a:t>7</a:t>
            </a:fld>
            <a:endParaRPr lang="en-US"/>
          </a:p>
        </p:txBody>
      </p:sp>
      <p:sp>
        <p:nvSpPr>
          <p:cNvPr id="3" name="Date Placeholder 2">
            <a:extLst>
              <a:ext uri="{FF2B5EF4-FFF2-40B4-BE49-F238E27FC236}">
                <a16:creationId xmlns:a16="http://schemas.microsoft.com/office/drawing/2014/main" id="{4BD2E7FB-C5CB-84BF-8FDA-51792A2CD44A}"/>
              </a:ext>
            </a:extLst>
          </p:cNvPr>
          <p:cNvSpPr>
            <a:spLocks noGrp="1"/>
          </p:cNvSpPr>
          <p:nvPr>
            <p:ph type="dt" sz="half" idx="10"/>
          </p:nvPr>
        </p:nvSpPr>
        <p:spPr/>
        <p:txBody>
          <a:bodyPr/>
          <a:lstStyle/>
          <a:p>
            <a:fld id="{05C20A28-4BAC-4477-9026-1E123DBFBC43}" type="datetime1">
              <a:rPr lang="fr-FR" smtClean="0"/>
              <a:t>27/11/2025</a:t>
            </a:fld>
            <a:endParaRPr lang="en-US"/>
          </a:p>
        </p:txBody>
      </p:sp>
      <p:sp>
        <p:nvSpPr>
          <p:cNvPr id="5" name="Title 4">
            <a:extLst>
              <a:ext uri="{FF2B5EF4-FFF2-40B4-BE49-F238E27FC236}">
                <a16:creationId xmlns:a16="http://schemas.microsoft.com/office/drawing/2014/main" id="{001B97A3-D0D1-F27E-ECAB-F3A9DCA6D7DA}"/>
              </a:ext>
            </a:extLst>
          </p:cNvPr>
          <p:cNvSpPr>
            <a:spLocks noGrp="1"/>
          </p:cNvSpPr>
          <p:nvPr>
            <p:ph type="title"/>
          </p:nvPr>
        </p:nvSpPr>
        <p:spPr/>
        <p:txBody>
          <a:bodyPr/>
          <a:lstStyle/>
          <a:p>
            <a:r>
              <a:rPr lang="fr-FR"/>
              <a:t>Return intention</a:t>
            </a:r>
          </a:p>
        </p:txBody>
      </p:sp>
      <p:graphicFrame>
        <p:nvGraphicFramePr>
          <p:cNvPr id="6" name="Chart 5">
            <a:extLst>
              <a:ext uri="{FF2B5EF4-FFF2-40B4-BE49-F238E27FC236}">
                <a16:creationId xmlns:a16="http://schemas.microsoft.com/office/drawing/2014/main" id="{DCD6B68C-8A8F-C080-0857-D2B59B31AD75}"/>
              </a:ext>
            </a:extLst>
          </p:cNvPr>
          <p:cNvGraphicFramePr>
            <a:graphicFrameLocks/>
          </p:cNvGraphicFramePr>
          <p:nvPr>
            <p:extLst>
              <p:ext uri="{D42A27DB-BD31-4B8C-83A1-F6EECF244321}">
                <p14:modId xmlns:p14="http://schemas.microsoft.com/office/powerpoint/2010/main" val="1963891625"/>
              </p:ext>
            </p:extLst>
          </p:nvPr>
        </p:nvGraphicFramePr>
        <p:xfrm>
          <a:off x="1524000" y="2114680"/>
          <a:ext cx="9088546" cy="4206240"/>
        </p:xfrm>
        <a:graphic>
          <a:graphicData uri="http://schemas.openxmlformats.org/drawingml/2006/chart">
            <c:chart xmlns:c="http://schemas.openxmlformats.org/drawingml/2006/chart" xmlns:r="http://schemas.openxmlformats.org/officeDocument/2006/relationships" r:id="rId2"/>
          </a:graphicData>
        </a:graphic>
      </p:graphicFrame>
      <p:sp>
        <p:nvSpPr>
          <p:cNvPr id="7" name="Rechthoek 4">
            <a:extLst>
              <a:ext uri="{FF2B5EF4-FFF2-40B4-BE49-F238E27FC236}">
                <a16:creationId xmlns:a16="http://schemas.microsoft.com/office/drawing/2014/main" id="{C9D8C1FC-D69D-D759-AFC5-94631A0131D5}"/>
              </a:ext>
            </a:extLst>
          </p:cNvPr>
          <p:cNvSpPr/>
          <p:nvPr/>
        </p:nvSpPr>
        <p:spPr>
          <a:xfrm>
            <a:off x="-1" y="978100"/>
            <a:ext cx="11858372" cy="1004704"/>
          </a:xfrm>
          <a:prstGeom prst="rect">
            <a:avLst/>
          </a:prstGeom>
          <a:solidFill>
            <a:schemeClr val="accent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1"/>
                </a:solidFill>
                <a:latin typeface="+mj-lt"/>
                <a:ea typeface="Calibri"/>
                <a:cs typeface="Calibri"/>
              </a:rPr>
              <a:t>Positive % return intention ↗ in all countries for Center Parcs. </a:t>
            </a:r>
          </a:p>
        </p:txBody>
      </p:sp>
      <p:sp>
        <p:nvSpPr>
          <p:cNvPr id="8" name="Rectangle 7">
            <a:extLst>
              <a:ext uri="{FF2B5EF4-FFF2-40B4-BE49-F238E27FC236}">
                <a16:creationId xmlns:a16="http://schemas.microsoft.com/office/drawing/2014/main" id="{A7F3F9C8-2F19-8303-5B66-BEEBED82D4DD}"/>
              </a:ext>
            </a:extLst>
          </p:cNvPr>
          <p:cNvSpPr/>
          <p:nvPr/>
        </p:nvSpPr>
        <p:spPr>
          <a:xfrm rot="16200000">
            <a:off x="-279400" y="1308356"/>
            <a:ext cx="980592" cy="3754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ea typeface="Calibri"/>
                <a:cs typeface="Calibri"/>
              </a:rPr>
              <a:t>Analysis</a:t>
            </a:r>
            <a:endParaRPr lang="en-US" sz="1100"/>
          </a:p>
        </p:txBody>
      </p:sp>
    </p:spTree>
    <p:extLst>
      <p:ext uri="{BB962C8B-B14F-4D97-AF65-F5344CB8AC3E}">
        <p14:creationId xmlns:p14="http://schemas.microsoft.com/office/powerpoint/2010/main" val="1587942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9CB6B79-3426-6C4F-0A89-00B95B4EEB4F}"/>
              </a:ext>
            </a:extLst>
          </p:cNvPr>
          <p:cNvSpPr>
            <a:spLocks noGrp="1"/>
          </p:cNvSpPr>
          <p:nvPr>
            <p:ph type="body" sz="quarter" idx="14"/>
          </p:nvPr>
        </p:nvSpPr>
        <p:spPr/>
        <p:txBody>
          <a:bodyPr/>
          <a:lstStyle/>
          <a:p>
            <a:r>
              <a:rPr lang="fr-FR"/>
              <a:t>Belgium</a:t>
            </a:r>
          </a:p>
        </p:txBody>
      </p:sp>
      <p:sp>
        <p:nvSpPr>
          <p:cNvPr id="3" name="Text Placeholder 2">
            <a:extLst>
              <a:ext uri="{FF2B5EF4-FFF2-40B4-BE49-F238E27FC236}">
                <a16:creationId xmlns:a16="http://schemas.microsoft.com/office/drawing/2014/main" id="{1868A1DA-A658-89D5-8E08-5EC88CBC92BA}"/>
              </a:ext>
            </a:extLst>
          </p:cNvPr>
          <p:cNvSpPr>
            <a:spLocks noGrp="1"/>
          </p:cNvSpPr>
          <p:nvPr>
            <p:ph type="body" sz="quarter" idx="13"/>
          </p:nvPr>
        </p:nvSpPr>
        <p:spPr/>
        <p:txBody>
          <a:bodyPr/>
          <a:lstStyle/>
          <a:p>
            <a:r>
              <a:rPr lang="fr-FR"/>
              <a:t>NPS </a:t>
            </a:r>
            <a:r>
              <a:rPr lang="fr-FR" err="1"/>
              <a:t>Review</a:t>
            </a:r>
            <a:endParaRPr lang="fr-FR"/>
          </a:p>
        </p:txBody>
      </p:sp>
    </p:spTree>
    <p:extLst>
      <p:ext uri="{BB962C8B-B14F-4D97-AF65-F5344CB8AC3E}">
        <p14:creationId xmlns:p14="http://schemas.microsoft.com/office/powerpoint/2010/main" val="1226026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C73CD-ABDB-17EB-2E85-EF011376C8D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F3AFC5-9537-9E0F-7840-545EA19B253E}"/>
              </a:ext>
            </a:extLst>
          </p:cNvPr>
          <p:cNvSpPr>
            <a:spLocks noGrp="1"/>
          </p:cNvSpPr>
          <p:nvPr>
            <p:ph type="sldNum" sz="quarter" idx="12"/>
          </p:nvPr>
        </p:nvSpPr>
        <p:spPr/>
        <p:txBody>
          <a:bodyPr/>
          <a:lstStyle/>
          <a:p>
            <a:fld id="{0D2E6A04-B99A-6C4D-8942-945F97C9E705}" type="slidenum">
              <a:rPr lang="en-US" smtClean="0"/>
              <a:pPr/>
              <a:t>9</a:t>
            </a:fld>
            <a:endParaRPr lang="en-US"/>
          </a:p>
        </p:txBody>
      </p:sp>
      <p:sp>
        <p:nvSpPr>
          <p:cNvPr id="3" name="Date Placeholder 2">
            <a:extLst>
              <a:ext uri="{FF2B5EF4-FFF2-40B4-BE49-F238E27FC236}">
                <a16:creationId xmlns:a16="http://schemas.microsoft.com/office/drawing/2014/main" id="{2C35ECB8-B9E7-5146-F240-F64C306B9411}"/>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85CD18D1-06EB-41D5-71A2-75B4A7DB917D}"/>
              </a:ext>
            </a:extLst>
          </p:cNvPr>
          <p:cNvSpPr>
            <a:spLocks noGrp="1"/>
          </p:cNvSpPr>
          <p:nvPr>
            <p:ph type="title"/>
          </p:nvPr>
        </p:nvSpPr>
        <p:spPr/>
        <p:txBody>
          <a:bodyPr/>
          <a:lstStyle/>
          <a:p>
            <a:r>
              <a:rPr lang="fr-FR"/>
              <a:t>Belgium – </a:t>
            </a:r>
            <a:r>
              <a:rPr lang="fr-FR" err="1"/>
              <a:t>highest</a:t>
            </a:r>
            <a:r>
              <a:rPr lang="fr-FR"/>
              <a:t> contribution to NPS (</a:t>
            </a:r>
            <a:r>
              <a:rPr lang="fr-FR" err="1"/>
              <a:t>Sunparks</a:t>
            </a:r>
            <a:r>
              <a:rPr lang="fr-FR"/>
              <a:t> </a:t>
            </a:r>
            <a:r>
              <a:rPr lang="fr-FR" err="1"/>
              <a:t>only</a:t>
            </a:r>
            <a:r>
              <a:rPr lang="fr-FR"/>
              <a:t>)</a:t>
            </a:r>
          </a:p>
        </p:txBody>
      </p:sp>
      <p:sp>
        <p:nvSpPr>
          <p:cNvPr id="7" name="Rechthoek 4">
            <a:extLst>
              <a:ext uri="{FF2B5EF4-FFF2-40B4-BE49-F238E27FC236}">
                <a16:creationId xmlns:a16="http://schemas.microsoft.com/office/drawing/2014/main" id="{7B80FA9C-00D2-900A-1930-799A6629C5A4}"/>
              </a:ext>
            </a:extLst>
          </p:cNvPr>
          <p:cNvSpPr/>
          <p:nvPr/>
        </p:nvSpPr>
        <p:spPr>
          <a:xfrm>
            <a:off x="-1" y="978100"/>
            <a:ext cx="11858372" cy="1010720"/>
          </a:xfrm>
          <a:prstGeom prst="rect">
            <a:avLst/>
          </a:prstGeom>
          <a:solidFill>
            <a:schemeClr val="bg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Only February is positive this year, whereas December </a:t>
            </a:r>
            <a:r>
              <a:rPr lang="en-US" sz="1200" b="1" err="1">
                <a:solidFill>
                  <a:schemeClr val="tx2"/>
                </a:solidFill>
                <a:latin typeface="+mj-lt"/>
                <a:ea typeface="Calibri"/>
                <a:cs typeface="Calibri"/>
              </a:rPr>
              <a:t>ly</a:t>
            </a:r>
            <a:r>
              <a:rPr lang="en-US" sz="1200" b="1">
                <a:solidFill>
                  <a:schemeClr val="tx2"/>
                </a:solidFill>
                <a:latin typeface="+mj-lt"/>
                <a:ea typeface="Calibri"/>
                <a:cs typeface="Calibri"/>
              </a:rPr>
              <a:t>.</a:t>
            </a:r>
          </a:p>
        </p:txBody>
      </p:sp>
      <p:sp>
        <p:nvSpPr>
          <p:cNvPr id="8" name="Rectangle 7">
            <a:extLst>
              <a:ext uri="{FF2B5EF4-FFF2-40B4-BE49-F238E27FC236}">
                <a16:creationId xmlns:a16="http://schemas.microsoft.com/office/drawing/2014/main" id="{A7019439-6DE3-5D14-991D-EC4628106CA8}"/>
              </a:ext>
            </a:extLst>
          </p:cNvPr>
          <p:cNvSpPr/>
          <p:nvPr/>
        </p:nvSpPr>
        <p:spPr>
          <a:xfrm rot="16200000">
            <a:off x="-282336" y="1311292"/>
            <a:ext cx="986463"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bg2"/>
                </a:solidFill>
                <a:ea typeface="Calibri"/>
                <a:cs typeface="Calibri"/>
              </a:rPr>
              <a:t>Analysis</a:t>
            </a:r>
            <a:endParaRPr lang="en-US" sz="1100">
              <a:solidFill>
                <a:schemeClr val="bg2"/>
              </a:solidFill>
            </a:endParaRPr>
          </a:p>
        </p:txBody>
      </p:sp>
      <p:pic>
        <p:nvPicPr>
          <p:cNvPr id="9" name="Picture 8">
            <a:extLst>
              <a:ext uri="{FF2B5EF4-FFF2-40B4-BE49-F238E27FC236}">
                <a16:creationId xmlns:a16="http://schemas.microsoft.com/office/drawing/2014/main" id="{4F8C8837-B5D6-9AFA-1A8D-7192E02019C1}"/>
              </a:ext>
            </a:extLst>
          </p:cNvPr>
          <p:cNvPicPr>
            <a:picLocks noChangeAspect="1"/>
          </p:cNvPicPr>
          <p:nvPr/>
        </p:nvPicPr>
        <p:blipFill>
          <a:blip r:embed="rId2"/>
          <a:stretch>
            <a:fillRect/>
          </a:stretch>
        </p:blipFill>
        <p:spPr>
          <a:xfrm>
            <a:off x="1795947" y="2228426"/>
            <a:ext cx="9076469" cy="3852887"/>
          </a:xfrm>
          <a:prstGeom prst="rect">
            <a:avLst/>
          </a:prstGeom>
        </p:spPr>
      </p:pic>
    </p:spTree>
    <p:extLst>
      <p:ext uri="{BB962C8B-B14F-4D97-AF65-F5344CB8AC3E}">
        <p14:creationId xmlns:p14="http://schemas.microsoft.com/office/powerpoint/2010/main" val="474890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205FB-3491-F903-5C06-0A396FA0048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D4E05D-3471-2731-342E-84A2415A0F4B}"/>
              </a:ext>
            </a:extLst>
          </p:cNvPr>
          <p:cNvSpPr>
            <a:spLocks noGrp="1"/>
          </p:cNvSpPr>
          <p:nvPr>
            <p:ph type="sldNum" sz="quarter" idx="12"/>
          </p:nvPr>
        </p:nvSpPr>
        <p:spPr/>
        <p:txBody>
          <a:bodyPr/>
          <a:lstStyle/>
          <a:p>
            <a:fld id="{0D2E6A04-B99A-6C4D-8942-945F97C9E705}" type="slidenum">
              <a:rPr lang="en-US" smtClean="0"/>
              <a:pPr/>
              <a:t>10</a:t>
            </a:fld>
            <a:endParaRPr lang="en-US"/>
          </a:p>
        </p:txBody>
      </p:sp>
      <p:sp>
        <p:nvSpPr>
          <p:cNvPr id="3" name="Date Placeholder 2">
            <a:extLst>
              <a:ext uri="{FF2B5EF4-FFF2-40B4-BE49-F238E27FC236}">
                <a16:creationId xmlns:a16="http://schemas.microsoft.com/office/drawing/2014/main" id="{6488B243-7703-F543-9FED-66530061E364}"/>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92A16096-3D8D-FD33-4A9A-34460AAFC159}"/>
              </a:ext>
            </a:extLst>
          </p:cNvPr>
          <p:cNvSpPr>
            <a:spLocks noGrp="1"/>
          </p:cNvSpPr>
          <p:nvPr>
            <p:ph type="title"/>
          </p:nvPr>
        </p:nvSpPr>
        <p:spPr/>
        <p:txBody>
          <a:bodyPr/>
          <a:lstStyle/>
          <a:p>
            <a:r>
              <a:rPr lang="fr-FR"/>
              <a:t>Belgium – </a:t>
            </a:r>
            <a:r>
              <a:rPr lang="fr-FR" err="1"/>
              <a:t>highest</a:t>
            </a:r>
            <a:r>
              <a:rPr lang="fr-FR"/>
              <a:t> contribution to NPS (Center Parcs </a:t>
            </a:r>
            <a:r>
              <a:rPr lang="fr-FR" err="1"/>
              <a:t>only</a:t>
            </a:r>
            <a:r>
              <a:rPr lang="fr-FR"/>
              <a:t>)</a:t>
            </a:r>
          </a:p>
        </p:txBody>
      </p:sp>
      <p:sp>
        <p:nvSpPr>
          <p:cNvPr id="7" name="Rechthoek 4">
            <a:extLst>
              <a:ext uri="{FF2B5EF4-FFF2-40B4-BE49-F238E27FC236}">
                <a16:creationId xmlns:a16="http://schemas.microsoft.com/office/drawing/2014/main" id="{C070007E-7300-0B48-52DE-D8D14D169D06}"/>
              </a:ext>
            </a:extLst>
          </p:cNvPr>
          <p:cNvSpPr/>
          <p:nvPr/>
        </p:nvSpPr>
        <p:spPr>
          <a:xfrm>
            <a:off x="-1" y="978100"/>
            <a:ext cx="11858372" cy="1010720"/>
          </a:xfrm>
          <a:prstGeom prst="rect">
            <a:avLst/>
          </a:prstGeom>
          <a:solidFill>
            <a:schemeClr val="bg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Continuous improvement of monthly NPS vs. N-1</a:t>
            </a:r>
          </a:p>
        </p:txBody>
      </p:sp>
      <p:sp>
        <p:nvSpPr>
          <p:cNvPr id="8" name="Rectangle 7">
            <a:extLst>
              <a:ext uri="{FF2B5EF4-FFF2-40B4-BE49-F238E27FC236}">
                <a16:creationId xmlns:a16="http://schemas.microsoft.com/office/drawing/2014/main" id="{03FEFFBF-E86B-A9C3-7465-807090FDC098}"/>
              </a:ext>
            </a:extLst>
          </p:cNvPr>
          <p:cNvSpPr/>
          <p:nvPr/>
        </p:nvSpPr>
        <p:spPr>
          <a:xfrm rot="16200000">
            <a:off x="-282336" y="1311292"/>
            <a:ext cx="986463"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bg2"/>
                </a:solidFill>
                <a:ea typeface="Calibri"/>
                <a:cs typeface="Calibri"/>
              </a:rPr>
              <a:t>Analysis</a:t>
            </a:r>
            <a:endParaRPr lang="en-US" sz="1100">
              <a:solidFill>
                <a:schemeClr val="bg2"/>
              </a:solidFill>
            </a:endParaRPr>
          </a:p>
        </p:txBody>
      </p:sp>
      <p:pic>
        <p:nvPicPr>
          <p:cNvPr id="6" name="Picture 5">
            <a:extLst>
              <a:ext uri="{FF2B5EF4-FFF2-40B4-BE49-F238E27FC236}">
                <a16:creationId xmlns:a16="http://schemas.microsoft.com/office/drawing/2014/main" id="{3C32B3C4-F78B-36F9-581D-766DA75EE90C}"/>
              </a:ext>
            </a:extLst>
          </p:cNvPr>
          <p:cNvPicPr>
            <a:picLocks noChangeAspect="1"/>
          </p:cNvPicPr>
          <p:nvPr/>
        </p:nvPicPr>
        <p:blipFill>
          <a:blip r:embed="rId2"/>
          <a:stretch>
            <a:fillRect/>
          </a:stretch>
        </p:blipFill>
        <p:spPr>
          <a:xfrm>
            <a:off x="1262806" y="2175744"/>
            <a:ext cx="9349740" cy="4018032"/>
          </a:xfrm>
          <a:prstGeom prst="rect">
            <a:avLst/>
          </a:prstGeom>
        </p:spPr>
      </p:pic>
    </p:spTree>
    <p:extLst>
      <p:ext uri="{BB962C8B-B14F-4D97-AF65-F5344CB8AC3E}">
        <p14:creationId xmlns:p14="http://schemas.microsoft.com/office/powerpoint/2010/main" val="4095321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C8E15-44F8-5056-B850-0E915C3949B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F626DB-FC11-29C7-38E4-F38FA644027F}"/>
              </a:ext>
            </a:extLst>
          </p:cNvPr>
          <p:cNvSpPr>
            <a:spLocks noGrp="1"/>
          </p:cNvSpPr>
          <p:nvPr>
            <p:ph type="sldNum" sz="quarter" idx="12"/>
          </p:nvPr>
        </p:nvSpPr>
        <p:spPr/>
        <p:txBody>
          <a:bodyPr/>
          <a:lstStyle/>
          <a:p>
            <a:fld id="{0D2E6A04-B99A-6C4D-8942-945F97C9E705}" type="slidenum">
              <a:rPr lang="en-US" smtClean="0"/>
              <a:pPr/>
              <a:t>11</a:t>
            </a:fld>
            <a:endParaRPr lang="en-US"/>
          </a:p>
        </p:txBody>
      </p:sp>
      <p:sp>
        <p:nvSpPr>
          <p:cNvPr id="3" name="Date Placeholder 2">
            <a:extLst>
              <a:ext uri="{FF2B5EF4-FFF2-40B4-BE49-F238E27FC236}">
                <a16:creationId xmlns:a16="http://schemas.microsoft.com/office/drawing/2014/main" id="{27CAF912-671A-D38A-79FD-EAD0EB1D8879}"/>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17B62C93-E7DA-BC7A-AD3C-16A01FA8BD44}"/>
              </a:ext>
            </a:extLst>
          </p:cNvPr>
          <p:cNvSpPr>
            <a:spLocks noGrp="1"/>
          </p:cNvSpPr>
          <p:nvPr>
            <p:ph type="title"/>
          </p:nvPr>
        </p:nvSpPr>
        <p:spPr/>
        <p:txBody>
          <a:bodyPr/>
          <a:lstStyle/>
          <a:p>
            <a:r>
              <a:rPr lang="fr-FR"/>
              <a:t>Belgium – </a:t>
            </a:r>
            <a:r>
              <a:rPr lang="fr-FR" err="1"/>
              <a:t>highest</a:t>
            </a:r>
            <a:r>
              <a:rPr lang="fr-FR"/>
              <a:t> contribution to NPS</a:t>
            </a:r>
          </a:p>
        </p:txBody>
      </p:sp>
      <p:sp>
        <p:nvSpPr>
          <p:cNvPr id="7" name="Rechthoek 4">
            <a:extLst>
              <a:ext uri="{FF2B5EF4-FFF2-40B4-BE49-F238E27FC236}">
                <a16:creationId xmlns:a16="http://schemas.microsoft.com/office/drawing/2014/main" id="{F798DFED-2691-A8F0-FE06-4AEC911D0213}"/>
              </a:ext>
            </a:extLst>
          </p:cNvPr>
          <p:cNvSpPr/>
          <p:nvPr/>
        </p:nvSpPr>
        <p:spPr>
          <a:xfrm>
            <a:off x="-1" y="978100"/>
            <a:ext cx="4267201" cy="1696720"/>
          </a:xfrm>
          <a:prstGeom prst="rect">
            <a:avLst/>
          </a:prstGeom>
          <a:solidFill>
            <a:schemeClr val="bg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Main pillars are key on Net Promoter Score.</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Secondary pillars “Village safety”, “quality of the meals” and “catering promptness” are also key to impact Net Promoter Score</a:t>
            </a:r>
            <a:endParaRPr lang="en-US" sz="1200">
              <a:solidFill>
                <a:schemeClr val="tx2"/>
              </a:solidFill>
              <a:latin typeface="+mj-lt"/>
              <a:ea typeface="Calibri"/>
              <a:cs typeface="Calibri"/>
            </a:endParaRPr>
          </a:p>
        </p:txBody>
      </p:sp>
      <p:sp>
        <p:nvSpPr>
          <p:cNvPr id="8" name="Rectangle 7">
            <a:extLst>
              <a:ext uri="{FF2B5EF4-FFF2-40B4-BE49-F238E27FC236}">
                <a16:creationId xmlns:a16="http://schemas.microsoft.com/office/drawing/2014/main" id="{562C0FAF-8417-9D71-891A-7A0EF6F63061}"/>
              </a:ext>
            </a:extLst>
          </p:cNvPr>
          <p:cNvSpPr/>
          <p:nvPr/>
        </p:nvSpPr>
        <p:spPr>
          <a:xfrm rot="16200000">
            <a:off x="-617105" y="1646060"/>
            <a:ext cx="1656000"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bg2"/>
                </a:solidFill>
                <a:ea typeface="Calibri"/>
                <a:cs typeface="Calibri"/>
              </a:rPr>
              <a:t>Analysis</a:t>
            </a:r>
            <a:endParaRPr lang="en-US" sz="1100">
              <a:solidFill>
                <a:schemeClr val="bg2"/>
              </a:solidFill>
            </a:endParaRPr>
          </a:p>
        </p:txBody>
      </p:sp>
      <p:pic>
        <p:nvPicPr>
          <p:cNvPr id="10" name="Picture 9">
            <a:extLst>
              <a:ext uri="{FF2B5EF4-FFF2-40B4-BE49-F238E27FC236}">
                <a16:creationId xmlns:a16="http://schemas.microsoft.com/office/drawing/2014/main" id="{62F6B375-441B-2AF7-FAA3-96403A12685D}"/>
              </a:ext>
            </a:extLst>
          </p:cNvPr>
          <p:cNvPicPr>
            <a:picLocks noChangeAspect="1"/>
          </p:cNvPicPr>
          <p:nvPr/>
        </p:nvPicPr>
        <p:blipFill>
          <a:blip r:embed="rId2"/>
          <a:stretch>
            <a:fillRect/>
          </a:stretch>
        </p:blipFill>
        <p:spPr>
          <a:xfrm>
            <a:off x="4829794" y="978100"/>
            <a:ext cx="7028577" cy="5156000"/>
          </a:xfrm>
          <a:prstGeom prst="rect">
            <a:avLst/>
          </a:prstGeom>
        </p:spPr>
      </p:pic>
    </p:spTree>
    <p:extLst>
      <p:ext uri="{BB962C8B-B14F-4D97-AF65-F5344CB8AC3E}">
        <p14:creationId xmlns:p14="http://schemas.microsoft.com/office/powerpoint/2010/main" val="4290680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25B49E-41BD-753F-9200-AC788C110E5B}"/>
              </a:ext>
            </a:extLst>
          </p:cNvPr>
          <p:cNvSpPr>
            <a:spLocks noGrp="1"/>
          </p:cNvSpPr>
          <p:nvPr>
            <p:ph type="sldNum" sz="quarter" idx="12"/>
          </p:nvPr>
        </p:nvSpPr>
        <p:spPr/>
        <p:txBody>
          <a:bodyPr/>
          <a:lstStyle/>
          <a:p>
            <a:fld id="{0D2E6A04-B99A-6C4D-8942-945F97C9E705}" type="slidenum">
              <a:rPr lang="en-US" smtClean="0"/>
              <a:pPr/>
              <a:t>12</a:t>
            </a:fld>
            <a:endParaRPr lang="en-US"/>
          </a:p>
        </p:txBody>
      </p:sp>
      <p:sp>
        <p:nvSpPr>
          <p:cNvPr id="3" name="Date Placeholder 2">
            <a:extLst>
              <a:ext uri="{FF2B5EF4-FFF2-40B4-BE49-F238E27FC236}">
                <a16:creationId xmlns:a16="http://schemas.microsoft.com/office/drawing/2014/main" id="{4592030B-6905-CB81-8151-15E21351C733}"/>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C6B6D3C1-DE62-EA29-9161-5479A7C69BC6}"/>
              </a:ext>
            </a:extLst>
          </p:cNvPr>
          <p:cNvSpPr>
            <a:spLocks noGrp="1"/>
          </p:cNvSpPr>
          <p:nvPr>
            <p:ph type="title"/>
          </p:nvPr>
        </p:nvSpPr>
        <p:spPr/>
        <p:txBody>
          <a:bodyPr/>
          <a:lstStyle/>
          <a:p>
            <a:r>
              <a:rPr lang="fr-FR"/>
              <a:t>Belgium – main </a:t>
            </a:r>
            <a:r>
              <a:rPr lang="fr-FR" err="1"/>
              <a:t>pillars</a:t>
            </a:r>
            <a:r>
              <a:rPr lang="fr-FR"/>
              <a:t> over </a:t>
            </a:r>
            <a:r>
              <a:rPr lang="fr-FR" err="1"/>
              <a:t>months</a:t>
            </a:r>
            <a:r>
              <a:rPr lang="fr-FR"/>
              <a:t> (</a:t>
            </a:r>
            <a:r>
              <a:rPr lang="fr-FR" err="1"/>
              <a:t>Sunparks</a:t>
            </a:r>
            <a:r>
              <a:rPr lang="fr-FR"/>
              <a:t> </a:t>
            </a:r>
            <a:r>
              <a:rPr lang="fr-FR" err="1"/>
              <a:t>only</a:t>
            </a:r>
            <a:r>
              <a:rPr lang="fr-FR"/>
              <a:t>)</a:t>
            </a:r>
          </a:p>
        </p:txBody>
      </p:sp>
      <p:sp>
        <p:nvSpPr>
          <p:cNvPr id="7" name="Rechthoek 4">
            <a:extLst>
              <a:ext uri="{FF2B5EF4-FFF2-40B4-BE49-F238E27FC236}">
                <a16:creationId xmlns:a16="http://schemas.microsoft.com/office/drawing/2014/main" id="{7838B77D-FE70-F656-868A-B0E3A40142AE}"/>
              </a:ext>
            </a:extLst>
          </p:cNvPr>
          <p:cNvSpPr/>
          <p:nvPr/>
        </p:nvSpPr>
        <p:spPr>
          <a:xfrm>
            <a:off x="-1" y="978100"/>
            <a:ext cx="11858372" cy="1079300"/>
          </a:xfrm>
          <a:prstGeom prst="rect">
            <a:avLst/>
          </a:prstGeom>
          <a:solidFill>
            <a:schemeClr val="bg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Direct impact between cottage general and its main attributes cleanliness and maintenance, with NPS and Overall satisfaction of the stay.</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Improvement of all pillars compared to </a:t>
            </a:r>
            <a:r>
              <a:rPr lang="en-US" sz="1200" b="1" err="1">
                <a:solidFill>
                  <a:schemeClr val="tx2"/>
                </a:solidFill>
                <a:latin typeface="+mj-lt"/>
                <a:ea typeface="Calibri"/>
                <a:cs typeface="Calibri"/>
              </a:rPr>
              <a:t>ly</a:t>
            </a:r>
            <a:r>
              <a:rPr lang="en-US" sz="1200" b="1">
                <a:solidFill>
                  <a:schemeClr val="tx2"/>
                </a:solidFill>
                <a:latin typeface="+mj-lt"/>
                <a:ea typeface="Calibri"/>
                <a:cs typeface="Calibri"/>
              </a:rPr>
              <a:t>, excepted on staff and village. </a:t>
            </a:r>
          </a:p>
        </p:txBody>
      </p:sp>
      <p:sp>
        <p:nvSpPr>
          <p:cNvPr id="8" name="Rectangle 7">
            <a:extLst>
              <a:ext uri="{FF2B5EF4-FFF2-40B4-BE49-F238E27FC236}">
                <a16:creationId xmlns:a16="http://schemas.microsoft.com/office/drawing/2014/main" id="{F5836033-1446-C99C-480D-3EEC24E0B8F6}"/>
              </a:ext>
            </a:extLst>
          </p:cNvPr>
          <p:cNvSpPr/>
          <p:nvPr/>
        </p:nvSpPr>
        <p:spPr>
          <a:xfrm rot="16200000">
            <a:off x="-315804" y="1344760"/>
            <a:ext cx="1053400"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bg2"/>
                </a:solidFill>
                <a:ea typeface="Calibri"/>
                <a:cs typeface="Calibri"/>
              </a:rPr>
              <a:t>Analysis</a:t>
            </a:r>
            <a:endParaRPr lang="en-US" sz="1100">
              <a:solidFill>
                <a:schemeClr val="bg2"/>
              </a:solidFill>
            </a:endParaRPr>
          </a:p>
        </p:txBody>
      </p:sp>
      <p:pic>
        <p:nvPicPr>
          <p:cNvPr id="6" name="Picture 5" descr="A screenshot of a computer&#10;&#10;AI-generated content may be incorrect.">
            <a:extLst>
              <a:ext uri="{FF2B5EF4-FFF2-40B4-BE49-F238E27FC236}">
                <a16:creationId xmlns:a16="http://schemas.microsoft.com/office/drawing/2014/main" id="{BBCDC47C-8F87-9DEE-7B7F-0D31A0752CCB}"/>
              </a:ext>
            </a:extLst>
          </p:cNvPr>
          <p:cNvPicPr>
            <a:picLocks noChangeAspect="1"/>
          </p:cNvPicPr>
          <p:nvPr/>
        </p:nvPicPr>
        <p:blipFill>
          <a:blip r:embed="rId2">
            <a:extLst>
              <a:ext uri="{28A0092B-C50C-407E-A947-70E740481C1C}">
                <a14:useLocalDpi xmlns:a14="http://schemas.microsoft.com/office/drawing/2010/main" val="0"/>
              </a:ext>
            </a:extLst>
          </a:blip>
          <a:srcRect b="46059"/>
          <a:stretch>
            <a:fillRect/>
          </a:stretch>
        </p:blipFill>
        <p:spPr>
          <a:xfrm>
            <a:off x="1359947" y="2244324"/>
            <a:ext cx="8114194" cy="3699276"/>
          </a:xfrm>
          <a:prstGeom prst="rect">
            <a:avLst/>
          </a:prstGeom>
        </p:spPr>
      </p:pic>
    </p:spTree>
    <p:extLst>
      <p:ext uri="{BB962C8B-B14F-4D97-AF65-F5344CB8AC3E}">
        <p14:creationId xmlns:p14="http://schemas.microsoft.com/office/powerpoint/2010/main" val="2925767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348FD-184C-D183-0D18-D502C1BB674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AFC6C9-DDC2-65A4-6362-7C8CB48D0560}"/>
              </a:ext>
            </a:extLst>
          </p:cNvPr>
          <p:cNvSpPr>
            <a:spLocks noGrp="1"/>
          </p:cNvSpPr>
          <p:nvPr>
            <p:ph type="sldNum" sz="quarter" idx="12"/>
          </p:nvPr>
        </p:nvSpPr>
        <p:spPr/>
        <p:txBody>
          <a:bodyPr/>
          <a:lstStyle/>
          <a:p>
            <a:fld id="{0D2E6A04-B99A-6C4D-8942-945F97C9E705}" type="slidenum">
              <a:rPr lang="en-US" smtClean="0"/>
              <a:pPr/>
              <a:t>13</a:t>
            </a:fld>
            <a:endParaRPr lang="en-US"/>
          </a:p>
        </p:txBody>
      </p:sp>
      <p:sp>
        <p:nvSpPr>
          <p:cNvPr id="3" name="Date Placeholder 2">
            <a:extLst>
              <a:ext uri="{FF2B5EF4-FFF2-40B4-BE49-F238E27FC236}">
                <a16:creationId xmlns:a16="http://schemas.microsoft.com/office/drawing/2014/main" id="{073A6A0C-765A-ACC5-6093-3D1CA380582A}"/>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372318CE-19F5-AA02-4D62-63A3F056A686}"/>
              </a:ext>
            </a:extLst>
          </p:cNvPr>
          <p:cNvSpPr>
            <a:spLocks noGrp="1"/>
          </p:cNvSpPr>
          <p:nvPr>
            <p:ph type="title"/>
          </p:nvPr>
        </p:nvSpPr>
        <p:spPr/>
        <p:txBody>
          <a:bodyPr/>
          <a:lstStyle/>
          <a:p>
            <a:r>
              <a:rPr lang="fr-FR"/>
              <a:t>Belgium – main </a:t>
            </a:r>
            <a:r>
              <a:rPr lang="fr-FR" err="1"/>
              <a:t>pillars</a:t>
            </a:r>
            <a:r>
              <a:rPr lang="fr-FR"/>
              <a:t> over </a:t>
            </a:r>
            <a:r>
              <a:rPr lang="fr-FR" err="1"/>
              <a:t>months</a:t>
            </a:r>
            <a:r>
              <a:rPr lang="fr-FR"/>
              <a:t> (</a:t>
            </a:r>
            <a:r>
              <a:rPr lang="fr-FR" err="1"/>
              <a:t>Sunparks</a:t>
            </a:r>
            <a:r>
              <a:rPr lang="fr-FR"/>
              <a:t> </a:t>
            </a:r>
            <a:r>
              <a:rPr lang="fr-FR" err="1"/>
              <a:t>only</a:t>
            </a:r>
            <a:r>
              <a:rPr lang="fr-FR"/>
              <a:t>)</a:t>
            </a:r>
          </a:p>
        </p:txBody>
      </p:sp>
      <p:sp>
        <p:nvSpPr>
          <p:cNvPr id="7" name="Rechthoek 4">
            <a:extLst>
              <a:ext uri="{FF2B5EF4-FFF2-40B4-BE49-F238E27FC236}">
                <a16:creationId xmlns:a16="http://schemas.microsoft.com/office/drawing/2014/main" id="{C7F1796F-42E1-BC2B-DDB1-860748AA78D7}"/>
              </a:ext>
            </a:extLst>
          </p:cNvPr>
          <p:cNvSpPr/>
          <p:nvPr/>
        </p:nvSpPr>
        <p:spPr>
          <a:xfrm>
            <a:off x="-1" y="978100"/>
            <a:ext cx="11858372" cy="1079300"/>
          </a:xfrm>
          <a:prstGeom prst="rect">
            <a:avLst/>
          </a:prstGeom>
          <a:solidFill>
            <a:schemeClr val="bg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Decrease of all pillars compared to </a:t>
            </a:r>
            <a:r>
              <a:rPr lang="en-US" sz="1200" b="1" err="1">
                <a:solidFill>
                  <a:schemeClr val="tx2"/>
                </a:solidFill>
                <a:latin typeface="+mj-lt"/>
                <a:ea typeface="Calibri"/>
                <a:cs typeface="Calibri"/>
              </a:rPr>
              <a:t>ly</a:t>
            </a:r>
            <a:r>
              <a:rPr lang="en-US" sz="1200" b="1">
                <a:solidFill>
                  <a:schemeClr val="tx2"/>
                </a:solidFill>
                <a:latin typeface="+mj-lt"/>
                <a:ea typeface="Calibri"/>
                <a:cs typeface="Calibri"/>
              </a:rPr>
              <a:t>.</a:t>
            </a:r>
          </a:p>
        </p:txBody>
      </p:sp>
      <p:sp>
        <p:nvSpPr>
          <p:cNvPr id="8" name="Rectangle 7">
            <a:extLst>
              <a:ext uri="{FF2B5EF4-FFF2-40B4-BE49-F238E27FC236}">
                <a16:creationId xmlns:a16="http://schemas.microsoft.com/office/drawing/2014/main" id="{1868CFFE-C6A7-73E2-2995-5EA5A5E2DE02}"/>
              </a:ext>
            </a:extLst>
          </p:cNvPr>
          <p:cNvSpPr/>
          <p:nvPr/>
        </p:nvSpPr>
        <p:spPr>
          <a:xfrm rot="16200000">
            <a:off x="-315804" y="1344760"/>
            <a:ext cx="1053400"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bg2"/>
                </a:solidFill>
                <a:ea typeface="Calibri"/>
                <a:cs typeface="Calibri"/>
              </a:rPr>
              <a:t>Analysis</a:t>
            </a:r>
            <a:endParaRPr lang="en-US" sz="1100">
              <a:solidFill>
                <a:schemeClr val="bg2"/>
              </a:solidFill>
            </a:endParaRPr>
          </a:p>
        </p:txBody>
      </p:sp>
      <p:pic>
        <p:nvPicPr>
          <p:cNvPr id="9" name="Picture 8" descr="A screenshot of a computer&#10;&#10;AI-generated content may be incorrect.">
            <a:extLst>
              <a:ext uri="{FF2B5EF4-FFF2-40B4-BE49-F238E27FC236}">
                <a16:creationId xmlns:a16="http://schemas.microsoft.com/office/drawing/2014/main" id="{C7479C6C-F53D-6FCE-C622-EF6773A49DA9}"/>
              </a:ext>
            </a:extLst>
          </p:cNvPr>
          <p:cNvPicPr>
            <a:picLocks noChangeAspect="1"/>
          </p:cNvPicPr>
          <p:nvPr/>
        </p:nvPicPr>
        <p:blipFill>
          <a:blip r:embed="rId2">
            <a:extLst>
              <a:ext uri="{28A0092B-C50C-407E-A947-70E740481C1C}">
                <a14:useLocalDpi xmlns:a14="http://schemas.microsoft.com/office/drawing/2010/main" val="0"/>
              </a:ext>
            </a:extLst>
          </a:blip>
          <a:srcRect b="87170"/>
          <a:stretch>
            <a:fillRect/>
          </a:stretch>
        </p:blipFill>
        <p:spPr>
          <a:xfrm>
            <a:off x="1359947" y="2244324"/>
            <a:ext cx="8114194" cy="879876"/>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D1DC9BE8-4C26-6E26-ED83-117C1FA352FC}"/>
              </a:ext>
            </a:extLst>
          </p:cNvPr>
          <p:cNvPicPr>
            <a:picLocks noChangeAspect="1"/>
          </p:cNvPicPr>
          <p:nvPr/>
        </p:nvPicPr>
        <p:blipFill>
          <a:blip r:embed="rId2">
            <a:extLst>
              <a:ext uri="{28A0092B-C50C-407E-A947-70E740481C1C}">
                <a14:useLocalDpi xmlns:a14="http://schemas.microsoft.com/office/drawing/2010/main" val="0"/>
              </a:ext>
            </a:extLst>
          </a:blip>
          <a:srcRect t="54446" b="-4470"/>
          <a:stretch>
            <a:fillRect/>
          </a:stretch>
        </p:blipFill>
        <p:spPr>
          <a:xfrm>
            <a:off x="1359947" y="3124200"/>
            <a:ext cx="8114194" cy="3430562"/>
          </a:xfrm>
          <a:prstGeom prst="rect">
            <a:avLst/>
          </a:prstGeom>
        </p:spPr>
      </p:pic>
    </p:spTree>
    <p:extLst>
      <p:ext uri="{BB962C8B-B14F-4D97-AF65-F5344CB8AC3E}">
        <p14:creationId xmlns:p14="http://schemas.microsoft.com/office/powerpoint/2010/main" val="2658439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F031D-78F8-659E-DC27-E3E6DD1D837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CB9D2D-0C77-A223-9DC1-82EA629383E5}"/>
              </a:ext>
            </a:extLst>
          </p:cNvPr>
          <p:cNvSpPr>
            <a:spLocks noGrp="1"/>
          </p:cNvSpPr>
          <p:nvPr>
            <p:ph type="sldNum" sz="quarter" idx="12"/>
          </p:nvPr>
        </p:nvSpPr>
        <p:spPr/>
        <p:txBody>
          <a:bodyPr/>
          <a:lstStyle/>
          <a:p>
            <a:fld id="{0D2E6A04-B99A-6C4D-8942-945F97C9E705}" type="slidenum">
              <a:rPr lang="en-US" smtClean="0"/>
              <a:pPr/>
              <a:t>14</a:t>
            </a:fld>
            <a:endParaRPr lang="en-US"/>
          </a:p>
        </p:txBody>
      </p:sp>
      <p:sp>
        <p:nvSpPr>
          <p:cNvPr id="3" name="Date Placeholder 2">
            <a:extLst>
              <a:ext uri="{FF2B5EF4-FFF2-40B4-BE49-F238E27FC236}">
                <a16:creationId xmlns:a16="http://schemas.microsoft.com/office/drawing/2014/main" id="{D0B59B88-D12E-AB40-1699-B37250A963E1}"/>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22062670-1F79-57A9-EA36-2C0AC557BEE2}"/>
              </a:ext>
            </a:extLst>
          </p:cNvPr>
          <p:cNvSpPr>
            <a:spLocks noGrp="1"/>
          </p:cNvSpPr>
          <p:nvPr>
            <p:ph type="title"/>
          </p:nvPr>
        </p:nvSpPr>
        <p:spPr/>
        <p:txBody>
          <a:bodyPr/>
          <a:lstStyle/>
          <a:p>
            <a:r>
              <a:rPr lang="fr-FR"/>
              <a:t>Belgium – main </a:t>
            </a:r>
            <a:r>
              <a:rPr lang="fr-FR" err="1"/>
              <a:t>pillars</a:t>
            </a:r>
            <a:r>
              <a:rPr lang="fr-FR"/>
              <a:t> over </a:t>
            </a:r>
            <a:r>
              <a:rPr lang="fr-FR" err="1"/>
              <a:t>months</a:t>
            </a:r>
            <a:r>
              <a:rPr lang="fr-FR"/>
              <a:t> (Center Parcs </a:t>
            </a:r>
            <a:r>
              <a:rPr lang="fr-FR" err="1"/>
              <a:t>only</a:t>
            </a:r>
            <a:r>
              <a:rPr lang="fr-FR"/>
              <a:t>)</a:t>
            </a:r>
          </a:p>
        </p:txBody>
      </p:sp>
      <p:sp>
        <p:nvSpPr>
          <p:cNvPr id="7" name="Rechthoek 4">
            <a:extLst>
              <a:ext uri="{FF2B5EF4-FFF2-40B4-BE49-F238E27FC236}">
                <a16:creationId xmlns:a16="http://schemas.microsoft.com/office/drawing/2014/main" id="{F2E9D923-00CB-90D0-125B-BE14033A6B4F}"/>
              </a:ext>
            </a:extLst>
          </p:cNvPr>
          <p:cNvSpPr/>
          <p:nvPr/>
        </p:nvSpPr>
        <p:spPr>
          <a:xfrm>
            <a:off x="-1" y="978100"/>
            <a:ext cx="11858372" cy="1079300"/>
          </a:xfrm>
          <a:prstGeom prst="rect">
            <a:avLst/>
          </a:prstGeom>
          <a:solidFill>
            <a:schemeClr val="bg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Impact between cottage general and its main attributes cleanliness and maintenance with NPS is less visible than with Overall satisfaction of the stay.</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Improvement of all pillars compared to </a:t>
            </a:r>
            <a:r>
              <a:rPr lang="en-US" sz="1200" b="1" err="1">
                <a:solidFill>
                  <a:schemeClr val="tx2"/>
                </a:solidFill>
                <a:latin typeface="+mj-lt"/>
                <a:ea typeface="Calibri"/>
                <a:cs typeface="Calibri"/>
              </a:rPr>
              <a:t>ly</a:t>
            </a:r>
            <a:r>
              <a:rPr lang="en-US" sz="1200" b="1">
                <a:solidFill>
                  <a:schemeClr val="tx2"/>
                </a:solidFill>
                <a:latin typeface="+mj-lt"/>
                <a:ea typeface="Calibri"/>
                <a:cs typeface="Calibri"/>
              </a:rPr>
              <a:t>, excepted on staff. </a:t>
            </a:r>
          </a:p>
        </p:txBody>
      </p:sp>
      <p:sp>
        <p:nvSpPr>
          <p:cNvPr id="8" name="Rectangle 7">
            <a:extLst>
              <a:ext uri="{FF2B5EF4-FFF2-40B4-BE49-F238E27FC236}">
                <a16:creationId xmlns:a16="http://schemas.microsoft.com/office/drawing/2014/main" id="{376CF981-7927-A9F5-1B60-28EF46820C5E}"/>
              </a:ext>
            </a:extLst>
          </p:cNvPr>
          <p:cNvSpPr/>
          <p:nvPr/>
        </p:nvSpPr>
        <p:spPr>
          <a:xfrm rot="16200000">
            <a:off x="-315804" y="1344760"/>
            <a:ext cx="1053400"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bg2"/>
                </a:solidFill>
                <a:ea typeface="Calibri"/>
                <a:cs typeface="Calibri"/>
              </a:rPr>
              <a:t>Analysis</a:t>
            </a:r>
            <a:endParaRPr lang="en-US" sz="1100">
              <a:solidFill>
                <a:schemeClr val="bg2"/>
              </a:solidFill>
            </a:endParaRPr>
          </a:p>
        </p:txBody>
      </p:sp>
      <p:pic>
        <p:nvPicPr>
          <p:cNvPr id="10" name="Picture 9" descr="A screenshot of a computer&#10;&#10;AI-generated content may be incorrect.">
            <a:extLst>
              <a:ext uri="{FF2B5EF4-FFF2-40B4-BE49-F238E27FC236}">
                <a16:creationId xmlns:a16="http://schemas.microsoft.com/office/drawing/2014/main" id="{BEA93061-EF67-F6C7-CF08-29B0775AE399}"/>
              </a:ext>
            </a:extLst>
          </p:cNvPr>
          <p:cNvPicPr>
            <a:picLocks noChangeAspect="1"/>
          </p:cNvPicPr>
          <p:nvPr/>
        </p:nvPicPr>
        <p:blipFill>
          <a:blip r:embed="rId2">
            <a:extLst>
              <a:ext uri="{28A0092B-C50C-407E-A947-70E740481C1C}">
                <a14:useLocalDpi xmlns:a14="http://schemas.microsoft.com/office/drawing/2010/main" val="0"/>
              </a:ext>
            </a:extLst>
          </a:blip>
          <a:srcRect t="1" b="45465"/>
          <a:stretch>
            <a:fillRect/>
          </a:stretch>
        </p:blipFill>
        <p:spPr>
          <a:xfrm>
            <a:off x="1359947" y="2244324"/>
            <a:ext cx="8129513" cy="3739916"/>
          </a:xfrm>
          <a:prstGeom prst="rect">
            <a:avLst/>
          </a:prstGeom>
        </p:spPr>
      </p:pic>
    </p:spTree>
    <p:extLst>
      <p:ext uri="{BB962C8B-B14F-4D97-AF65-F5344CB8AC3E}">
        <p14:creationId xmlns:p14="http://schemas.microsoft.com/office/powerpoint/2010/main" val="801007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19276-CF73-D5A3-DD9B-2006D9035B3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C317F4-41C2-8DAA-D6A9-83475E37E58F}"/>
              </a:ext>
            </a:extLst>
          </p:cNvPr>
          <p:cNvSpPr>
            <a:spLocks noGrp="1"/>
          </p:cNvSpPr>
          <p:nvPr>
            <p:ph type="sldNum" sz="quarter" idx="12"/>
          </p:nvPr>
        </p:nvSpPr>
        <p:spPr/>
        <p:txBody>
          <a:bodyPr/>
          <a:lstStyle/>
          <a:p>
            <a:fld id="{0D2E6A04-B99A-6C4D-8942-945F97C9E705}" type="slidenum">
              <a:rPr lang="en-US" smtClean="0"/>
              <a:pPr/>
              <a:t>15</a:t>
            </a:fld>
            <a:endParaRPr lang="en-US"/>
          </a:p>
        </p:txBody>
      </p:sp>
      <p:sp>
        <p:nvSpPr>
          <p:cNvPr id="3" name="Date Placeholder 2">
            <a:extLst>
              <a:ext uri="{FF2B5EF4-FFF2-40B4-BE49-F238E27FC236}">
                <a16:creationId xmlns:a16="http://schemas.microsoft.com/office/drawing/2014/main" id="{3D380E50-2A36-8CC1-A7DD-E242B9C46A16}"/>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6439DD05-CC1E-1866-3930-BD68B14FD4C6}"/>
              </a:ext>
            </a:extLst>
          </p:cNvPr>
          <p:cNvSpPr>
            <a:spLocks noGrp="1"/>
          </p:cNvSpPr>
          <p:nvPr>
            <p:ph type="title"/>
          </p:nvPr>
        </p:nvSpPr>
        <p:spPr/>
        <p:txBody>
          <a:bodyPr/>
          <a:lstStyle/>
          <a:p>
            <a:r>
              <a:rPr lang="fr-FR"/>
              <a:t>Belgium – main </a:t>
            </a:r>
            <a:r>
              <a:rPr lang="fr-FR" err="1"/>
              <a:t>pillars</a:t>
            </a:r>
            <a:r>
              <a:rPr lang="fr-FR"/>
              <a:t> over </a:t>
            </a:r>
            <a:r>
              <a:rPr lang="fr-FR" err="1"/>
              <a:t>months</a:t>
            </a:r>
            <a:r>
              <a:rPr lang="fr-FR"/>
              <a:t> (Center Parcs </a:t>
            </a:r>
            <a:r>
              <a:rPr lang="fr-FR" err="1"/>
              <a:t>only</a:t>
            </a:r>
            <a:r>
              <a:rPr lang="fr-FR"/>
              <a:t>)</a:t>
            </a:r>
          </a:p>
        </p:txBody>
      </p:sp>
      <p:sp>
        <p:nvSpPr>
          <p:cNvPr id="7" name="Rechthoek 4">
            <a:extLst>
              <a:ext uri="{FF2B5EF4-FFF2-40B4-BE49-F238E27FC236}">
                <a16:creationId xmlns:a16="http://schemas.microsoft.com/office/drawing/2014/main" id="{68379078-4213-78B0-B11B-BB02E33BCAC9}"/>
              </a:ext>
            </a:extLst>
          </p:cNvPr>
          <p:cNvSpPr/>
          <p:nvPr/>
        </p:nvSpPr>
        <p:spPr>
          <a:xfrm>
            <a:off x="-1" y="978100"/>
            <a:ext cx="11858372" cy="1079300"/>
          </a:xfrm>
          <a:prstGeom prst="rect">
            <a:avLst/>
          </a:prstGeom>
          <a:solidFill>
            <a:schemeClr val="bg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Increased of all pillars compared to </a:t>
            </a:r>
            <a:r>
              <a:rPr lang="en-US" sz="1200" b="1" err="1">
                <a:solidFill>
                  <a:schemeClr val="tx2"/>
                </a:solidFill>
                <a:latin typeface="+mj-lt"/>
                <a:ea typeface="Calibri"/>
                <a:cs typeface="Calibri"/>
              </a:rPr>
              <a:t>ly</a:t>
            </a:r>
            <a:r>
              <a:rPr lang="en-US" sz="1200" b="1">
                <a:solidFill>
                  <a:schemeClr val="tx2"/>
                </a:solidFill>
                <a:latin typeface="+mj-lt"/>
                <a:ea typeface="Calibri"/>
                <a:cs typeface="Calibri"/>
              </a:rPr>
              <a:t>.</a:t>
            </a:r>
          </a:p>
        </p:txBody>
      </p:sp>
      <p:sp>
        <p:nvSpPr>
          <p:cNvPr id="8" name="Rectangle 7">
            <a:extLst>
              <a:ext uri="{FF2B5EF4-FFF2-40B4-BE49-F238E27FC236}">
                <a16:creationId xmlns:a16="http://schemas.microsoft.com/office/drawing/2014/main" id="{726345AC-1998-C85C-77AE-28DD0A162A6D}"/>
              </a:ext>
            </a:extLst>
          </p:cNvPr>
          <p:cNvSpPr/>
          <p:nvPr/>
        </p:nvSpPr>
        <p:spPr>
          <a:xfrm rot="16200000">
            <a:off x="-315804" y="1344760"/>
            <a:ext cx="1053400"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bg2"/>
                </a:solidFill>
                <a:ea typeface="Calibri"/>
                <a:cs typeface="Calibri"/>
              </a:rPr>
              <a:t>Analysis</a:t>
            </a:r>
            <a:endParaRPr lang="en-US" sz="1100">
              <a:solidFill>
                <a:schemeClr val="bg2"/>
              </a:solidFill>
            </a:endParaRPr>
          </a:p>
        </p:txBody>
      </p:sp>
      <p:pic>
        <p:nvPicPr>
          <p:cNvPr id="11" name="Picture 10" descr="A screenshot of a computer&#10;&#10;AI-generated content may be incorrect.">
            <a:extLst>
              <a:ext uri="{FF2B5EF4-FFF2-40B4-BE49-F238E27FC236}">
                <a16:creationId xmlns:a16="http://schemas.microsoft.com/office/drawing/2014/main" id="{D85CF22F-6F9A-0A97-8592-0EC61BE2E5BB}"/>
              </a:ext>
            </a:extLst>
          </p:cNvPr>
          <p:cNvPicPr>
            <a:picLocks noChangeAspect="1"/>
          </p:cNvPicPr>
          <p:nvPr/>
        </p:nvPicPr>
        <p:blipFill>
          <a:blip r:embed="rId2">
            <a:extLst>
              <a:ext uri="{28A0092B-C50C-407E-A947-70E740481C1C}">
                <a14:useLocalDpi xmlns:a14="http://schemas.microsoft.com/office/drawing/2010/main" val="0"/>
              </a:ext>
            </a:extLst>
          </a:blip>
          <a:srcRect b="87170"/>
          <a:stretch>
            <a:fillRect/>
          </a:stretch>
        </p:blipFill>
        <p:spPr>
          <a:xfrm>
            <a:off x="1359947" y="2244324"/>
            <a:ext cx="8129513" cy="879876"/>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AB4CF9DB-B61A-F852-2453-7F608593316C}"/>
              </a:ext>
            </a:extLst>
          </p:cNvPr>
          <p:cNvPicPr>
            <a:picLocks noChangeAspect="1"/>
          </p:cNvPicPr>
          <p:nvPr/>
        </p:nvPicPr>
        <p:blipFill>
          <a:blip r:embed="rId2">
            <a:extLst>
              <a:ext uri="{28A0092B-C50C-407E-A947-70E740481C1C}">
                <a14:useLocalDpi xmlns:a14="http://schemas.microsoft.com/office/drawing/2010/main" val="0"/>
              </a:ext>
            </a:extLst>
          </a:blip>
          <a:srcRect t="54816" b="-504"/>
          <a:stretch>
            <a:fillRect/>
          </a:stretch>
        </p:blipFill>
        <p:spPr>
          <a:xfrm>
            <a:off x="1359947" y="3163803"/>
            <a:ext cx="8129513" cy="3133241"/>
          </a:xfrm>
          <a:prstGeom prst="rect">
            <a:avLst/>
          </a:prstGeom>
        </p:spPr>
      </p:pic>
    </p:spTree>
    <p:extLst>
      <p:ext uri="{BB962C8B-B14F-4D97-AF65-F5344CB8AC3E}">
        <p14:creationId xmlns:p14="http://schemas.microsoft.com/office/powerpoint/2010/main" val="3111639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30F8A-D2CE-12AA-C5B8-0AECD5CC734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B62B6A-4138-8C4B-74FB-F70BE82B1BC9}"/>
              </a:ext>
            </a:extLst>
          </p:cNvPr>
          <p:cNvSpPr>
            <a:spLocks noGrp="1"/>
          </p:cNvSpPr>
          <p:nvPr>
            <p:ph type="sldNum" sz="quarter" idx="12"/>
          </p:nvPr>
        </p:nvSpPr>
        <p:spPr/>
        <p:txBody>
          <a:bodyPr/>
          <a:lstStyle/>
          <a:p>
            <a:fld id="{0D2E6A04-B99A-6C4D-8942-945F97C9E705}" type="slidenum">
              <a:rPr lang="en-US" smtClean="0"/>
              <a:pPr/>
              <a:t>16</a:t>
            </a:fld>
            <a:endParaRPr lang="en-US"/>
          </a:p>
        </p:txBody>
      </p:sp>
      <p:sp>
        <p:nvSpPr>
          <p:cNvPr id="3" name="Date Placeholder 2">
            <a:extLst>
              <a:ext uri="{FF2B5EF4-FFF2-40B4-BE49-F238E27FC236}">
                <a16:creationId xmlns:a16="http://schemas.microsoft.com/office/drawing/2014/main" id="{75EE2F5C-425C-ABBE-BFF1-584ED2756187}"/>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A7E302BA-132D-F9D5-E296-B0F939022B0D}"/>
              </a:ext>
            </a:extLst>
          </p:cNvPr>
          <p:cNvSpPr>
            <a:spLocks noGrp="1"/>
          </p:cNvSpPr>
          <p:nvPr>
            <p:ph type="title"/>
          </p:nvPr>
        </p:nvSpPr>
        <p:spPr/>
        <p:txBody>
          <a:bodyPr/>
          <a:lstStyle/>
          <a:p>
            <a:r>
              <a:rPr lang="fr-FR"/>
              <a:t>Belgium – </a:t>
            </a:r>
            <a:r>
              <a:rPr lang="fr-FR" err="1"/>
              <a:t>ranking</a:t>
            </a:r>
            <a:r>
              <a:rPr lang="fr-FR"/>
              <a:t> </a:t>
            </a:r>
            <a:r>
              <a:rPr lang="fr-FR" err="1"/>
              <a:t>parks</a:t>
            </a:r>
            <a:r>
              <a:rPr lang="fr-FR"/>
              <a:t> on main </a:t>
            </a:r>
            <a:r>
              <a:rPr lang="fr-FR" err="1"/>
              <a:t>pillars</a:t>
            </a:r>
            <a:endParaRPr lang="fr-FR"/>
          </a:p>
        </p:txBody>
      </p:sp>
      <p:sp>
        <p:nvSpPr>
          <p:cNvPr id="6" name="Rectangle 5">
            <a:extLst>
              <a:ext uri="{FF2B5EF4-FFF2-40B4-BE49-F238E27FC236}">
                <a16:creationId xmlns:a16="http://schemas.microsoft.com/office/drawing/2014/main" id="{9C652CA6-367B-0425-F765-347928645271}"/>
              </a:ext>
            </a:extLst>
          </p:cNvPr>
          <p:cNvSpPr/>
          <p:nvPr/>
        </p:nvSpPr>
        <p:spPr>
          <a:xfrm>
            <a:off x="2411730" y="5500598"/>
            <a:ext cx="8881110" cy="360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Picture 9">
            <a:extLst>
              <a:ext uri="{FF2B5EF4-FFF2-40B4-BE49-F238E27FC236}">
                <a16:creationId xmlns:a16="http://schemas.microsoft.com/office/drawing/2014/main" id="{15233424-9C7A-85F8-A8A1-4E835B07B4A0}"/>
              </a:ext>
            </a:extLst>
          </p:cNvPr>
          <p:cNvPicPr>
            <a:picLocks noChangeAspect="1"/>
          </p:cNvPicPr>
          <p:nvPr/>
        </p:nvPicPr>
        <p:blipFill>
          <a:blip r:embed="rId2"/>
          <a:stretch>
            <a:fillRect/>
          </a:stretch>
        </p:blipFill>
        <p:spPr>
          <a:xfrm>
            <a:off x="23156" y="2172888"/>
            <a:ext cx="3920490" cy="2008894"/>
          </a:xfrm>
          <a:prstGeom prst="rect">
            <a:avLst/>
          </a:prstGeom>
        </p:spPr>
      </p:pic>
      <p:pic>
        <p:nvPicPr>
          <p:cNvPr id="14" name="Picture 13">
            <a:extLst>
              <a:ext uri="{FF2B5EF4-FFF2-40B4-BE49-F238E27FC236}">
                <a16:creationId xmlns:a16="http://schemas.microsoft.com/office/drawing/2014/main" id="{A64D93DD-D34A-3749-6AFD-8FC628E40744}"/>
              </a:ext>
            </a:extLst>
          </p:cNvPr>
          <p:cNvPicPr>
            <a:picLocks noChangeAspect="1"/>
          </p:cNvPicPr>
          <p:nvPr/>
        </p:nvPicPr>
        <p:blipFill>
          <a:blip r:embed="rId3"/>
          <a:stretch>
            <a:fillRect/>
          </a:stretch>
        </p:blipFill>
        <p:spPr>
          <a:xfrm>
            <a:off x="-1" y="4292525"/>
            <a:ext cx="3824413" cy="2208034"/>
          </a:xfrm>
          <a:prstGeom prst="rect">
            <a:avLst/>
          </a:prstGeom>
        </p:spPr>
      </p:pic>
      <p:pic>
        <p:nvPicPr>
          <p:cNvPr id="17" name="Picture 16">
            <a:extLst>
              <a:ext uri="{FF2B5EF4-FFF2-40B4-BE49-F238E27FC236}">
                <a16:creationId xmlns:a16="http://schemas.microsoft.com/office/drawing/2014/main" id="{540FE36E-16E4-9428-588A-4FE977DA6E23}"/>
              </a:ext>
            </a:extLst>
          </p:cNvPr>
          <p:cNvPicPr>
            <a:picLocks noChangeAspect="1"/>
          </p:cNvPicPr>
          <p:nvPr/>
        </p:nvPicPr>
        <p:blipFill>
          <a:blip r:embed="rId4"/>
          <a:stretch>
            <a:fillRect/>
          </a:stretch>
        </p:blipFill>
        <p:spPr>
          <a:xfrm>
            <a:off x="4074174" y="4301414"/>
            <a:ext cx="3874475" cy="2208034"/>
          </a:xfrm>
          <a:prstGeom prst="rect">
            <a:avLst/>
          </a:prstGeom>
        </p:spPr>
      </p:pic>
      <p:pic>
        <p:nvPicPr>
          <p:cNvPr id="19" name="Picture 18">
            <a:extLst>
              <a:ext uri="{FF2B5EF4-FFF2-40B4-BE49-F238E27FC236}">
                <a16:creationId xmlns:a16="http://schemas.microsoft.com/office/drawing/2014/main" id="{9A1497D7-0893-2007-7ECF-F3767F2A5DF6}"/>
              </a:ext>
            </a:extLst>
          </p:cNvPr>
          <p:cNvPicPr>
            <a:picLocks noChangeAspect="1"/>
          </p:cNvPicPr>
          <p:nvPr/>
        </p:nvPicPr>
        <p:blipFill>
          <a:blip r:embed="rId5"/>
          <a:stretch>
            <a:fillRect/>
          </a:stretch>
        </p:blipFill>
        <p:spPr>
          <a:xfrm>
            <a:off x="8149119" y="4292524"/>
            <a:ext cx="4042880" cy="2262238"/>
          </a:xfrm>
          <a:prstGeom prst="rect">
            <a:avLst/>
          </a:prstGeom>
        </p:spPr>
      </p:pic>
      <p:pic>
        <p:nvPicPr>
          <p:cNvPr id="21" name="Picture 20">
            <a:extLst>
              <a:ext uri="{FF2B5EF4-FFF2-40B4-BE49-F238E27FC236}">
                <a16:creationId xmlns:a16="http://schemas.microsoft.com/office/drawing/2014/main" id="{4C91BFE5-E953-B392-981A-1471D2AC83DC}"/>
              </a:ext>
            </a:extLst>
          </p:cNvPr>
          <p:cNvPicPr>
            <a:picLocks noChangeAspect="1"/>
          </p:cNvPicPr>
          <p:nvPr/>
        </p:nvPicPr>
        <p:blipFill>
          <a:blip r:embed="rId6"/>
          <a:stretch>
            <a:fillRect/>
          </a:stretch>
        </p:blipFill>
        <p:spPr>
          <a:xfrm>
            <a:off x="8263492" y="2164314"/>
            <a:ext cx="3854137" cy="2026042"/>
          </a:xfrm>
          <a:prstGeom prst="rect">
            <a:avLst/>
          </a:prstGeom>
        </p:spPr>
      </p:pic>
      <p:pic>
        <p:nvPicPr>
          <p:cNvPr id="23" name="Picture 22">
            <a:extLst>
              <a:ext uri="{FF2B5EF4-FFF2-40B4-BE49-F238E27FC236}">
                <a16:creationId xmlns:a16="http://schemas.microsoft.com/office/drawing/2014/main" id="{10329388-B377-E65B-87D6-953420758E89}"/>
              </a:ext>
            </a:extLst>
          </p:cNvPr>
          <p:cNvPicPr>
            <a:picLocks noChangeAspect="1"/>
          </p:cNvPicPr>
          <p:nvPr/>
        </p:nvPicPr>
        <p:blipFill>
          <a:blip r:embed="rId7"/>
          <a:stretch>
            <a:fillRect/>
          </a:stretch>
        </p:blipFill>
        <p:spPr>
          <a:xfrm>
            <a:off x="4227492" y="2168661"/>
            <a:ext cx="3752155" cy="2017349"/>
          </a:xfrm>
          <a:prstGeom prst="rect">
            <a:avLst/>
          </a:prstGeom>
        </p:spPr>
      </p:pic>
      <p:sp>
        <p:nvSpPr>
          <p:cNvPr id="26" name="Rechthoek 4">
            <a:extLst>
              <a:ext uri="{FF2B5EF4-FFF2-40B4-BE49-F238E27FC236}">
                <a16:creationId xmlns:a16="http://schemas.microsoft.com/office/drawing/2014/main" id="{21645C02-AA47-C143-0FD9-FF59D3BA321C}"/>
              </a:ext>
            </a:extLst>
          </p:cNvPr>
          <p:cNvSpPr/>
          <p:nvPr/>
        </p:nvSpPr>
        <p:spPr>
          <a:xfrm>
            <a:off x="-1" y="978100"/>
            <a:ext cx="11858372" cy="1079300"/>
          </a:xfrm>
          <a:prstGeom prst="rect">
            <a:avLst/>
          </a:prstGeom>
          <a:solidFill>
            <a:schemeClr val="bg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Terhills Resort is TOP village and cottage experience.</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Then, </a:t>
            </a:r>
            <a:r>
              <a:rPr lang="en-US" sz="1200" b="1" err="1">
                <a:solidFill>
                  <a:schemeClr val="tx2"/>
                </a:solidFill>
                <a:latin typeface="+mj-lt"/>
                <a:ea typeface="Calibri"/>
                <a:cs typeface="Calibri"/>
              </a:rPr>
              <a:t>Erperheide</a:t>
            </a:r>
            <a:r>
              <a:rPr lang="en-US" sz="1200" b="1">
                <a:solidFill>
                  <a:schemeClr val="tx2"/>
                </a:solidFill>
                <a:latin typeface="+mj-lt"/>
                <a:ea typeface="Calibri"/>
                <a:cs typeface="Calibri"/>
              </a:rPr>
              <a:t> and De Vossemeren have the same trend on main pillars.</a:t>
            </a:r>
          </a:p>
          <a:p>
            <a:pPr marL="720725" lvl="2" indent="-161925">
              <a:lnSpc>
                <a:spcPct val="120000"/>
              </a:lnSpc>
              <a:buFont typeface="Arial" panose="020B0604020202020204" pitchFamily="34" charset="0"/>
              <a:buChar char="•"/>
            </a:pPr>
            <a:r>
              <a:rPr lang="en-US" sz="1200" b="1">
                <a:solidFill>
                  <a:schemeClr val="tx2"/>
                </a:solidFill>
                <a:ea typeface="Calibri"/>
                <a:cs typeface="Calibri"/>
              </a:rPr>
              <a:t>Finally, Les Ardennes and Park De Haan have the same trend on main pillars, but Les Ardennes is better than De Haan in cottage experiences. </a:t>
            </a:r>
            <a:r>
              <a:rPr lang="en-US" sz="1200" b="1">
                <a:solidFill>
                  <a:schemeClr val="tx2"/>
                </a:solidFill>
                <a:latin typeface="+mj-lt"/>
                <a:ea typeface="Calibri"/>
                <a:cs typeface="Calibri"/>
              </a:rPr>
              <a:t> </a:t>
            </a:r>
          </a:p>
        </p:txBody>
      </p:sp>
      <p:sp>
        <p:nvSpPr>
          <p:cNvPr id="27" name="Rectangle 26">
            <a:extLst>
              <a:ext uri="{FF2B5EF4-FFF2-40B4-BE49-F238E27FC236}">
                <a16:creationId xmlns:a16="http://schemas.microsoft.com/office/drawing/2014/main" id="{2CE5274C-5518-9090-1F22-E072DCD88AAF}"/>
              </a:ext>
            </a:extLst>
          </p:cNvPr>
          <p:cNvSpPr/>
          <p:nvPr/>
        </p:nvSpPr>
        <p:spPr>
          <a:xfrm rot="16200000">
            <a:off x="-315804" y="1344760"/>
            <a:ext cx="1053400"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bg2"/>
                </a:solidFill>
                <a:ea typeface="Calibri"/>
                <a:cs typeface="Calibri"/>
              </a:rPr>
              <a:t>Analysis</a:t>
            </a:r>
            <a:endParaRPr lang="en-US" sz="1100">
              <a:solidFill>
                <a:schemeClr val="bg2"/>
              </a:solidFill>
            </a:endParaRPr>
          </a:p>
        </p:txBody>
      </p:sp>
    </p:spTree>
    <p:extLst>
      <p:ext uri="{BB962C8B-B14F-4D97-AF65-F5344CB8AC3E}">
        <p14:creationId xmlns:p14="http://schemas.microsoft.com/office/powerpoint/2010/main" val="6825581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CA5CC-4967-6D3A-601B-F7340384CBF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720C00-93FB-B984-91A4-2A8F2EC1357B}"/>
              </a:ext>
            </a:extLst>
          </p:cNvPr>
          <p:cNvSpPr>
            <a:spLocks noGrp="1"/>
          </p:cNvSpPr>
          <p:nvPr>
            <p:ph type="sldNum" sz="quarter" idx="12"/>
          </p:nvPr>
        </p:nvSpPr>
        <p:spPr/>
        <p:txBody>
          <a:bodyPr/>
          <a:lstStyle/>
          <a:p>
            <a:fld id="{0D2E6A04-B99A-6C4D-8942-945F97C9E705}" type="slidenum">
              <a:rPr lang="en-US" smtClean="0"/>
              <a:pPr/>
              <a:t>17</a:t>
            </a:fld>
            <a:endParaRPr lang="en-US"/>
          </a:p>
        </p:txBody>
      </p:sp>
      <p:sp>
        <p:nvSpPr>
          <p:cNvPr id="3" name="Date Placeholder 2">
            <a:extLst>
              <a:ext uri="{FF2B5EF4-FFF2-40B4-BE49-F238E27FC236}">
                <a16:creationId xmlns:a16="http://schemas.microsoft.com/office/drawing/2014/main" id="{AE9B747F-5897-7674-F210-25384B230595}"/>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E2A860F6-7965-2E71-5486-242890E0994F}"/>
              </a:ext>
            </a:extLst>
          </p:cNvPr>
          <p:cNvSpPr>
            <a:spLocks noGrp="1"/>
          </p:cNvSpPr>
          <p:nvPr>
            <p:ph type="title"/>
          </p:nvPr>
        </p:nvSpPr>
        <p:spPr/>
        <p:txBody>
          <a:bodyPr/>
          <a:lstStyle/>
          <a:p>
            <a:r>
              <a:rPr lang="fr-FR"/>
              <a:t>Belgium – </a:t>
            </a:r>
            <a:r>
              <a:rPr lang="fr-FR" err="1"/>
              <a:t>ranking</a:t>
            </a:r>
            <a:r>
              <a:rPr lang="fr-FR"/>
              <a:t> </a:t>
            </a:r>
            <a:r>
              <a:rPr lang="fr-FR" err="1"/>
              <a:t>parks</a:t>
            </a:r>
            <a:r>
              <a:rPr lang="fr-FR"/>
              <a:t> on main </a:t>
            </a:r>
            <a:r>
              <a:rPr lang="fr-FR" err="1"/>
              <a:t>pillars</a:t>
            </a:r>
            <a:endParaRPr lang="fr-FR"/>
          </a:p>
        </p:txBody>
      </p:sp>
      <p:sp>
        <p:nvSpPr>
          <p:cNvPr id="6" name="Rectangle 5">
            <a:extLst>
              <a:ext uri="{FF2B5EF4-FFF2-40B4-BE49-F238E27FC236}">
                <a16:creationId xmlns:a16="http://schemas.microsoft.com/office/drawing/2014/main" id="{BF2987B9-B0F0-6245-7DA2-9AF61F208879}"/>
              </a:ext>
            </a:extLst>
          </p:cNvPr>
          <p:cNvSpPr/>
          <p:nvPr/>
        </p:nvSpPr>
        <p:spPr>
          <a:xfrm>
            <a:off x="2411730" y="5500598"/>
            <a:ext cx="8881110" cy="360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Picture 6">
            <a:extLst>
              <a:ext uri="{FF2B5EF4-FFF2-40B4-BE49-F238E27FC236}">
                <a16:creationId xmlns:a16="http://schemas.microsoft.com/office/drawing/2014/main" id="{78E7DE22-8414-7CAC-B150-E339C1FF4E9A}"/>
              </a:ext>
            </a:extLst>
          </p:cNvPr>
          <p:cNvPicPr>
            <a:picLocks noChangeAspect="1"/>
          </p:cNvPicPr>
          <p:nvPr/>
        </p:nvPicPr>
        <p:blipFill>
          <a:blip r:embed="rId2"/>
          <a:stretch>
            <a:fillRect/>
          </a:stretch>
        </p:blipFill>
        <p:spPr>
          <a:xfrm>
            <a:off x="57150" y="4443933"/>
            <a:ext cx="3744321" cy="2090678"/>
          </a:xfrm>
          <a:prstGeom prst="rect">
            <a:avLst/>
          </a:prstGeom>
        </p:spPr>
      </p:pic>
      <p:pic>
        <p:nvPicPr>
          <p:cNvPr id="9" name="Picture 8">
            <a:extLst>
              <a:ext uri="{FF2B5EF4-FFF2-40B4-BE49-F238E27FC236}">
                <a16:creationId xmlns:a16="http://schemas.microsoft.com/office/drawing/2014/main" id="{3B2D8117-644C-6FB0-B79C-83A0E51A431D}"/>
              </a:ext>
            </a:extLst>
          </p:cNvPr>
          <p:cNvPicPr>
            <a:picLocks noChangeAspect="1"/>
          </p:cNvPicPr>
          <p:nvPr/>
        </p:nvPicPr>
        <p:blipFill>
          <a:blip r:embed="rId3"/>
          <a:stretch>
            <a:fillRect/>
          </a:stretch>
        </p:blipFill>
        <p:spPr>
          <a:xfrm>
            <a:off x="57150" y="2178902"/>
            <a:ext cx="3744321" cy="2092587"/>
          </a:xfrm>
          <a:prstGeom prst="rect">
            <a:avLst/>
          </a:prstGeom>
        </p:spPr>
      </p:pic>
      <p:pic>
        <p:nvPicPr>
          <p:cNvPr id="13" name="Picture 12">
            <a:extLst>
              <a:ext uri="{FF2B5EF4-FFF2-40B4-BE49-F238E27FC236}">
                <a16:creationId xmlns:a16="http://schemas.microsoft.com/office/drawing/2014/main" id="{2A885219-B14D-3847-776B-E3A81624043E}"/>
              </a:ext>
            </a:extLst>
          </p:cNvPr>
          <p:cNvPicPr>
            <a:picLocks noChangeAspect="1"/>
          </p:cNvPicPr>
          <p:nvPr/>
        </p:nvPicPr>
        <p:blipFill>
          <a:blip r:embed="rId4"/>
          <a:stretch>
            <a:fillRect/>
          </a:stretch>
        </p:blipFill>
        <p:spPr>
          <a:xfrm>
            <a:off x="4045265" y="2178902"/>
            <a:ext cx="3899007" cy="2092587"/>
          </a:xfrm>
          <a:prstGeom prst="rect">
            <a:avLst/>
          </a:prstGeom>
        </p:spPr>
      </p:pic>
      <p:pic>
        <p:nvPicPr>
          <p:cNvPr id="16" name="Picture 15">
            <a:extLst>
              <a:ext uri="{FF2B5EF4-FFF2-40B4-BE49-F238E27FC236}">
                <a16:creationId xmlns:a16="http://schemas.microsoft.com/office/drawing/2014/main" id="{4F1799BA-ED27-42E0-8459-94EDAF520200}"/>
              </a:ext>
            </a:extLst>
          </p:cNvPr>
          <p:cNvPicPr>
            <a:picLocks noChangeAspect="1"/>
          </p:cNvPicPr>
          <p:nvPr/>
        </p:nvPicPr>
        <p:blipFill>
          <a:blip r:embed="rId5"/>
          <a:stretch>
            <a:fillRect/>
          </a:stretch>
        </p:blipFill>
        <p:spPr>
          <a:xfrm>
            <a:off x="8188066" y="2182426"/>
            <a:ext cx="3907990" cy="2089064"/>
          </a:xfrm>
          <a:prstGeom prst="rect">
            <a:avLst/>
          </a:prstGeom>
        </p:spPr>
      </p:pic>
      <p:pic>
        <p:nvPicPr>
          <p:cNvPr id="20" name="Picture 19">
            <a:extLst>
              <a:ext uri="{FF2B5EF4-FFF2-40B4-BE49-F238E27FC236}">
                <a16:creationId xmlns:a16="http://schemas.microsoft.com/office/drawing/2014/main" id="{1EED2E2B-D574-A3A7-0070-F183832B2D1C}"/>
              </a:ext>
            </a:extLst>
          </p:cNvPr>
          <p:cNvPicPr>
            <a:picLocks noChangeAspect="1"/>
          </p:cNvPicPr>
          <p:nvPr/>
        </p:nvPicPr>
        <p:blipFill>
          <a:blip r:embed="rId6"/>
          <a:stretch>
            <a:fillRect/>
          </a:stretch>
        </p:blipFill>
        <p:spPr>
          <a:xfrm>
            <a:off x="4032296" y="4443933"/>
            <a:ext cx="3885069" cy="2119129"/>
          </a:xfrm>
          <a:prstGeom prst="rect">
            <a:avLst/>
          </a:prstGeom>
        </p:spPr>
      </p:pic>
      <p:pic>
        <p:nvPicPr>
          <p:cNvPr id="24" name="Picture 23">
            <a:extLst>
              <a:ext uri="{FF2B5EF4-FFF2-40B4-BE49-F238E27FC236}">
                <a16:creationId xmlns:a16="http://schemas.microsoft.com/office/drawing/2014/main" id="{340D615E-EC6C-D736-3BD9-794564ABABD1}"/>
              </a:ext>
            </a:extLst>
          </p:cNvPr>
          <p:cNvPicPr>
            <a:picLocks noChangeAspect="1"/>
          </p:cNvPicPr>
          <p:nvPr/>
        </p:nvPicPr>
        <p:blipFill>
          <a:blip r:embed="rId7"/>
          <a:stretch>
            <a:fillRect/>
          </a:stretch>
        </p:blipFill>
        <p:spPr>
          <a:xfrm>
            <a:off x="8148190" y="4443933"/>
            <a:ext cx="3709655" cy="2026042"/>
          </a:xfrm>
          <a:prstGeom prst="rect">
            <a:avLst/>
          </a:prstGeom>
        </p:spPr>
      </p:pic>
      <p:sp>
        <p:nvSpPr>
          <p:cNvPr id="25" name="Rechthoek 4">
            <a:extLst>
              <a:ext uri="{FF2B5EF4-FFF2-40B4-BE49-F238E27FC236}">
                <a16:creationId xmlns:a16="http://schemas.microsoft.com/office/drawing/2014/main" id="{9FE10F51-7E9F-346E-FA3D-D572B32A7DA5}"/>
              </a:ext>
            </a:extLst>
          </p:cNvPr>
          <p:cNvSpPr/>
          <p:nvPr/>
        </p:nvSpPr>
        <p:spPr>
          <a:xfrm>
            <a:off x="-1" y="978100"/>
            <a:ext cx="11858372" cy="1079300"/>
          </a:xfrm>
          <a:prstGeom prst="rect">
            <a:avLst/>
          </a:prstGeom>
          <a:solidFill>
            <a:schemeClr val="bg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err="1">
                <a:solidFill>
                  <a:schemeClr val="tx2"/>
                </a:solidFill>
                <a:latin typeface="+mj-lt"/>
                <a:ea typeface="Calibri"/>
                <a:cs typeface="Calibri"/>
              </a:rPr>
              <a:t>Erperheide</a:t>
            </a:r>
            <a:r>
              <a:rPr lang="en-US" sz="1200" b="1">
                <a:solidFill>
                  <a:schemeClr val="tx2"/>
                </a:solidFill>
                <a:latin typeface="+mj-lt"/>
                <a:ea typeface="Calibri"/>
                <a:cs typeface="Calibri"/>
              </a:rPr>
              <a:t> is top village for leisure experiences., above De Vossemeren, but comparable for catering experience.</a:t>
            </a:r>
          </a:p>
          <a:p>
            <a:pPr marL="720725" lvl="2" indent="-161925">
              <a:lnSpc>
                <a:spcPct val="120000"/>
              </a:lnSpc>
              <a:buFont typeface="Arial" panose="020B0604020202020204" pitchFamily="34" charset="0"/>
              <a:buChar char="•"/>
            </a:pPr>
            <a:r>
              <a:rPr lang="en-US" sz="1200" b="1" err="1">
                <a:solidFill>
                  <a:schemeClr val="tx2"/>
                </a:solidFill>
                <a:latin typeface="+mj-lt"/>
                <a:ea typeface="Calibri"/>
                <a:cs typeface="Calibri"/>
              </a:rPr>
              <a:t>Terhilss</a:t>
            </a:r>
            <a:r>
              <a:rPr lang="en-US" sz="1200" b="1">
                <a:solidFill>
                  <a:schemeClr val="tx2"/>
                </a:solidFill>
                <a:latin typeface="+mj-lt"/>
                <a:ea typeface="Calibri"/>
                <a:cs typeface="Calibri"/>
              </a:rPr>
              <a:t> is top village for staff and catering experiences</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Les Ardennes and Park De Haan have the same trend on all pillars, but De Haan is better than Ardennes in catering and farm experiences. </a:t>
            </a:r>
          </a:p>
        </p:txBody>
      </p:sp>
      <p:sp>
        <p:nvSpPr>
          <p:cNvPr id="26" name="Rectangle 25">
            <a:extLst>
              <a:ext uri="{FF2B5EF4-FFF2-40B4-BE49-F238E27FC236}">
                <a16:creationId xmlns:a16="http://schemas.microsoft.com/office/drawing/2014/main" id="{9D1C1117-97B8-4E1F-096C-C3F00481716E}"/>
              </a:ext>
            </a:extLst>
          </p:cNvPr>
          <p:cNvSpPr/>
          <p:nvPr/>
        </p:nvSpPr>
        <p:spPr>
          <a:xfrm rot="16200000">
            <a:off x="-315804" y="1344760"/>
            <a:ext cx="1053400"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bg2"/>
                </a:solidFill>
                <a:ea typeface="Calibri"/>
                <a:cs typeface="Calibri"/>
              </a:rPr>
              <a:t>Analysis</a:t>
            </a:r>
            <a:endParaRPr lang="en-US" sz="1100">
              <a:solidFill>
                <a:schemeClr val="bg2"/>
              </a:solidFill>
            </a:endParaRPr>
          </a:p>
        </p:txBody>
      </p:sp>
    </p:spTree>
    <p:extLst>
      <p:ext uri="{BB962C8B-B14F-4D97-AF65-F5344CB8AC3E}">
        <p14:creationId xmlns:p14="http://schemas.microsoft.com/office/powerpoint/2010/main" val="3218953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D1E6D-8795-82E1-1C21-3210805CC79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1A27EE-B6C8-194D-65DE-219E248D0CBB}"/>
              </a:ext>
            </a:extLst>
          </p:cNvPr>
          <p:cNvSpPr>
            <a:spLocks noGrp="1"/>
          </p:cNvSpPr>
          <p:nvPr>
            <p:ph type="sldNum" sz="quarter" idx="12"/>
          </p:nvPr>
        </p:nvSpPr>
        <p:spPr/>
        <p:txBody>
          <a:bodyPr/>
          <a:lstStyle/>
          <a:p>
            <a:fld id="{0D2E6A04-B99A-6C4D-8942-945F97C9E705}" type="slidenum">
              <a:rPr lang="en-US" smtClean="0"/>
              <a:pPr/>
              <a:t>18</a:t>
            </a:fld>
            <a:endParaRPr lang="en-US"/>
          </a:p>
        </p:txBody>
      </p:sp>
      <p:sp>
        <p:nvSpPr>
          <p:cNvPr id="3" name="Date Placeholder 2">
            <a:extLst>
              <a:ext uri="{FF2B5EF4-FFF2-40B4-BE49-F238E27FC236}">
                <a16:creationId xmlns:a16="http://schemas.microsoft.com/office/drawing/2014/main" id="{E20EAB50-6C11-3D70-7FD8-1142CF184160}"/>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F19A6F80-0303-8E15-06F8-1298FBB12186}"/>
              </a:ext>
            </a:extLst>
          </p:cNvPr>
          <p:cNvSpPr>
            <a:spLocks noGrp="1"/>
          </p:cNvSpPr>
          <p:nvPr>
            <p:ph type="title"/>
          </p:nvPr>
        </p:nvSpPr>
        <p:spPr/>
        <p:txBody>
          <a:bodyPr/>
          <a:lstStyle/>
          <a:p>
            <a:r>
              <a:rPr lang="fr-FR"/>
              <a:t>Belgium – NPS per </a:t>
            </a:r>
            <a:r>
              <a:rPr lang="fr-FR" err="1"/>
              <a:t>trialist</a:t>
            </a:r>
            <a:r>
              <a:rPr lang="fr-FR"/>
              <a:t>/</a:t>
            </a:r>
            <a:r>
              <a:rPr lang="fr-FR" err="1"/>
              <a:t>repeaters</a:t>
            </a:r>
            <a:r>
              <a:rPr lang="fr-FR"/>
              <a:t>/</a:t>
            </a:r>
            <a:r>
              <a:rPr lang="fr-FR" err="1"/>
              <a:t>reactivated</a:t>
            </a:r>
            <a:endParaRPr lang="fr-FR"/>
          </a:p>
        </p:txBody>
      </p:sp>
      <p:sp>
        <p:nvSpPr>
          <p:cNvPr id="7" name="Rechthoek 4">
            <a:extLst>
              <a:ext uri="{FF2B5EF4-FFF2-40B4-BE49-F238E27FC236}">
                <a16:creationId xmlns:a16="http://schemas.microsoft.com/office/drawing/2014/main" id="{AD2C822B-FA39-4E6C-A65C-8061FF3C55BA}"/>
              </a:ext>
            </a:extLst>
          </p:cNvPr>
          <p:cNvSpPr/>
          <p:nvPr/>
        </p:nvSpPr>
        <p:spPr>
          <a:xfrm>
            <a:off x="-1" y="978100"/>
            <a:ext cx="6934201" cy="1696720"/>
          </a:xfrm>
          <a:prstGeom prst="rect">
            <a:avLst/>
          </a:prstGeom>
          <a:solidFill>
            <a:schemeClr val="bg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NPS Repeaters &gt; NPS Trialist and </a:t>
            </a:r>
            <a:r>
              <a:rPr lang="en-US" sz="1200" b="1" err="1">
                <a:solidFill>
                  <a:schemeClr val="tx2"/>
                </a:solidFill>
                <a:latin typeface="+mj-lt"/>
                <a:ea typeface="Calibri"/>
                <a:cs typeface="Calibri"/>
              </a:rPr>
              <a:t>ReActivated</a:t>
            </a:r>
            <a:r>
              <a:rPr lang="en-US" sz="1200" b="1">
                <a:solidFill>
                  <a:schemeClr val="tx2"/>
                </a:solidFill>
                <a:latin typeface="+mj-lt"/>
                <a:ea typeface="Calibri"/>
                <a:cs typeface="Calibri"/>
              </a:rPr>
              <a:t> guest.</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All segments improved in all parks of Belgium.</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Only </a:t>
            </a:r>
            <a:r>
              <a:rPr lang="en-US" sz="1200" b="1" err="1">
                <a:solidFill>
                  <a:schemeClr val="tx2"/>
                </a:solidFill>
                <a:latin typeface="+mj-lt"/>
                <a:ea typeface="Calibri"/>
                <a:cs typeface="Calibri"/>
              </a:rPr>
              <a:t>ReActivated</a:t>
            </a:r>
            <a:r>
              <a:rPr lang="en-US" sz="1200" b="1">
                <a:solidFill>
                  <a:schemeClr val="tx2"/>
                </a:solidFill>
                <a:latin typeface="+mj-lt"/>
                <a:ea typeface="Calibri"/>
                <a:cs typeface="Calibri"/>
              </a:rPr>
              <a:t> and Repeaters guest of De Vossemeren decreased.</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All segments decreased at </a:t>
            </a:r>
            <a:r>
              <a:rPr lang="en-US" sz="1200" b="1" err="1">
                <a:solidFill>
                  <a:schemeClr val="tx2"/>
                </a:solidFill>
                <a:latin typeface="+mj-lt"/>
                <a:ea typeface="Calibri"/>
                <a:cs typeface="Calibri"/>
              </a:rPr>
              <a:t>Sunparks</a:t>
            </a:r>
            <a:r>
              <a:rPr lang="en-US" sz="1200" b="1">
                <a:solidFill>
                  <a:schemeClr val="tx2"/>
                </a:solidFill>
                <a:latin typeface="+mj-lt"/>
                <a:ea typeface="Calibri"/>
                <a:cs typeface="Calibri"/>
              </a:rPr>
              <a:t> </a:t>
            </a:r>
            <a:r>
              <a:rPr lang="en-US" sz="1200" b="1" err="1">
                <a:solidFill>
                  <a:schemeClr val="tx2"/>
                </a:solidFill>
                <a:latin typeface="+mj-lt"/>
                <a:ea typeface="Calibri"/>
                <a:cs typeface="Calibri"/>
              </a:rPr>
              <a:t>Oostduinkerke</a:t>
            </a:r>
            <a:r>
              <a:rPr lang="en-US" sz="1200" b="1">
                <a:solidFill>
                  <a:schemeClr val="tx2"/>
                </a:solidFill>
                <a:latin typeface="+mj-lt"/>
                <a:ea typeface="Calibri"/>
                <a:cs typeface="Calibri"/>
              </a:rPr>
              <a:t> </a:t>
            </a:r>
            <a:r>
              <a:rPr lang="en-US" sz="1200" b="1" err="1">
                <a:solidFill>
                  <a:schemeClr val="tx2"/>
                </a:solidFill>
                <a:latin typeface="+mj-lt"/>
                <a:ea typeface="Calibri"/>
                <a:cs typeface="Calibri"/>
              </a:rPr>
              <a:t>aan</a:t>
            </a:r>
            <a:r>
              <a:rPr lang="en-US" sz="1200" b="1">
                <a:solidFill>
                  <a:schemeClr val="tx2"/>
                </a:solidFill>
                <a:latin typeface="+mj-lt"/>
                <a:ea typeface="Calibri"/>
                <a:cs typeface="Calibri"/>
              </a:rPr>
              <a:t> zee.</a:t>
            </a:r>
            <a:endParaRPr lang="en-US" sz="1200">
              <a:solidFill>
                <a:schemeClr val="tx2"/>
              </a:solidFill>
              <a:latin typeface="+mj-lt"/>
              <a:ea typeface="Calibri"/>
              <a:cs typeface="Calibri"/>
            </a:endParaRPr>
          </a:p>
        </p:txBody>
      </p:sp>
      <p:sp>
        <p:nvSpPr>
          <p:cNvPr id="8" name="Rectangle 7">
            <a:extLst>
              <a:ext uri="{FF2B5EF4-FFF2-40B4-BE49-F238E27FC236}">
                <a16:creationId xmlns:a16="http://schemas.microsoft.com/office/drawing/2014/main" id="{BC7D42BF-E6FB-9347-FBEB-42A30D1E282A}"/>
              </a:ext>
            </a:extLst>
          </p:cNvPr>
          <p:cNvSpPr/>
          <p:nvPr/>
        </p:nvSpPr>
        <p:spPr>
          <a:xfrm rot="16200000">
            <a:off x="-617105" y="1646060"/>
            <a:ext cx="1656000"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bg2"/>
                </a:solidFill>
                <a:ea typeface="Calibri"/>
                <a:cs typeface="Calibri"/>
              </a:rPr>
              <a:t>Analysis</a:t>
            </a:r>
            <a:endParaRPr lang="en-US" sz="1100">
              <a:solidFill>
                <a:schemeClr val="bg2"/>
              </a:solidFill>
            </a:endParaRPr>
          </a:p>
        </p:txBody>
      </p:sp>
      <p:graphicFrame>
        <p:nvGraphicFramePr>
          <p:cNvPr id="11" name="Table 10">
            <a:extLst>
              <a:ext uri="{FF2B5EF4-FFF2-40B4-BE49-F238E27FC236}">
                <a16:creationId xmlns:a16="http://schemas.microsoft.com/office/drawing/2014/main" id="{8E90DA44-DE47-E710-2AC0-742F424383B3}"/>
              </a:ext>
            </a:extLst>
          </p:cNvPr>
          <p:cNvGraphicFramePr>
            <a:graphicFrameLocks noGrp="1"/>
          </p:cNvGraphicFramePr>
          <p:nvPr/>
        </p:nvGraphicFramePr>
        <p:xfrm>
          <a:off x="694310" y="2861744"/>
          <a:ext cx="4544185" cy="3226640"/>
        </p:xfrm>
        <a:graphic>
          <a:graphicData uri="http://schemas.openxmlformats.org/drawingml/2006/table">
            <a:tbl>
              <a:tblPr/>
              <a:tblGrid>
                <a:gridCol w="2318461">
                  <a:extLst>
                    <a:ext uri="{9D8B030D-6E8A-4147-A177-3AD203B41FA5}">
                      <a16:colId xmlns:a16="http://schemas.microsoft.com/office/drawing/2014/main" val="3745037977"/>
                    </a:ext>
                  </a:extLst>
                </a:gridCol>
                <a:gridCol w="741908">
                  <a:extLst>
                    <a:ext uri="{9D8B030D-6E8A-4147-A177-3AD203B41FA5}">
                      <a16:colId xmlns:a16="http://schemas.microsoft.com/office/drawing/2014/main" val="2998287970"/>
                    </a:ext>
                  </a:extLst>
                </a:gridCol>
                <a:gridCol w="741908">
                  <a:extLst>
                    <a:ext uri="{9D8B030D-6E8A-4147-A177-3AD203B41FA5}">
                      <a16:colId xmlns:a16="http://schemas.microsoft.com/office/drawing/2014/main" val="58602962"/>
                    </a:ext>
                  </a:extLst>
                </a:gridCol>
                <a:gridCol w="741908">
                  <a:extLst>
                    <a:ext uri="{9D8B030D-6E8A-4147-A177-3AD203B41FA5}">
                      <a16:colId xmlns:a16="http://schemas.microsoft.com/office/drawing/2014/main" val="2012867096"/>
                    </a:ext>
                  </a:extLst>
                </a:gridCol>
              </a:tblGrid>
              <a:tr h="161332">
                <a:tc>
                  <a:txBody>
                    <a:bodyPr/>
                    <a:lstStyle/>
                    <a:p>
                      <a:pPr algn="l" fontAlgn="b">
                        <a:buNone/>
                      </a:pPr>
                      <a:r>
                        <a:rPr lang="fr-FR" sz="1000" b="0" i="0" u="none" strike="noStrike">
                          <a:solidFill>
                            <a:srgbClr val="000000"/>
                          </a:solidFill>
                          <a:effectLst/>
                          <a:latin typeface="Arial" panose="020B0604020202020204" pitchFamily="34" charset="0"/>
                        </a:rPr>
                        <a:t>NPS</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FY25</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FY24</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Evol </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28342044"/>
                  </a:ext>
                </a:extLst>
              </a:tr>
              <a:tr h="161332">
                <a:tc>
                  <a:txBody>
                    <a:bodyPr/>
                    <a:lstStyle/>
                    <a:p>
                      <a:pPr algn="l" rtl="0" fontAlgn="b">
                        <a:buNone/>
                      </a:pPr>
                      <a:r>
                        <a:rPr lang="fr-FR" sz="1000" b="1" i="0" u="none" strike="noStrike">
                          <a:solidFill>
                            <a:srgbClr val="000000"/>
                          </a:solidFill>
                          <a:effectLst/>
                          <a:latin typeface="Aptos Narrow" panose="020B0004020202020204" pitchFamily="34" charset="0"/>
                        </a:rPr>
                        <a:t>De Vossemeren, Subtotal</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rtl="0" fontAlgn="b">
                        <a:buNone/>
                      </a:pPr>
                      <a:r>
                        <a:rPr lang="fr-FR" sz="1000" b="1" i="0" u="none" strike="noStrike">
                          <a:solidFill>
                            <a:srgbClr val="000000"/>
                          </a:solidFill>
                          <a:effectLst/>
                          <a:latin typeface="Aptos Narrow" panose="020B0004020202020204" pitchFamily="34" charset="0"/>
                        </a:rPr>
                        <a:t>34</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3D580"/>
                    </a:solidFill>
                  </a:tcPr>
                </a:tc>
                <a:tc>
                  <a:txBody>
                    <a:bodyPr/>
                    <a:lstStyle/>
                    <a:p>
                      <a:pPr algn="r" rtl="0" fontAlgn="b">
                        <a:buNone/>
                      </a:pPr>
                      <a:r>
                        <a:rPr lang="fr-FR" sz="1000" b="1" i="0" u="none" strike="noStrike">
                          <a:solidFill>
                            <a:srgbClr val="000000"/>
                          </a:solidFill>
                          <a:effectLst/>
                          <a:latin typeface="Aptos Narrow" panose="020B0004020202020204" pitchFamily="34" charset="0"/>
                        </a:rPr>
                        <a:t>34,1</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3D580"/>
                    </a:solidFill>
                  </a:tcPr>
                </a:tc>
                <a:tc>
                  <a:txBody>
                    <a:bodyPr/>
                    <a:lstStyle/>
                    <a:p>
                      <a:pPr algn="r" rtl="0" fontAlgn="b">
                        <a:buNone/>
                      </a:pPr>
                      <a:r>
                        <a:rPr lang="fr-FR" sz="1000" b="1" i="0" u="none" strike="noStrike">
                          <a:solidFill>
                            <a:srgbClr val="FF0000"/>
                          </a:solidFill>
                          <a:effectLst/>
                          <a:latin typeface="Aptos Narrow" panose="020B0004020202020204" pitchFamily="34" charset="0"/>
                        </a:rPr>
                        <a:t>0</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93021001"/>
                  </a:ext>
                </a:extLst>
              </a:tr>
              <a:tr h="161332">
                <a:tc>
                  <a:txBody>
                    <a:bodyPr/>
                    <a:lstStyle/>
                    <a:p>
                      <a:pPr algn="l" fontAlgn="b">
                        <a:buNone/>
                      </a:pPr>
                      <a:r>
                        <a:rPr lang="fr-FR" sz="1000" b="0" i="0" u="none" strike="noStrike">
                          <a:solidFill>
                            <a:srgbClr val="000000"/>
                          </a:solidFill>
                          <a:effectLst/>
                          <a:latin typeface="Aptos Narrow" panose="020B0004020202020204" pitchFamily="34" charset="0"/>
                        </a:rPr>
                        <a:t>De Vossemeren, A</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28,7</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3DA81"/>
                    </a:solidFill>
                  </a:tcPr>
                </a:tc>
                <a:tc>
                  <a:txBody>
                    <a:bodyPr/>
                    <a:lstStyle/>
                    <a:p>
                      <a:pPr algn="r" fontAlgn="b">
                        <a:buNone/>
                      </a:pPr>
                      <a:r>
                        <a:rPr lang="fr-FR" sz="1000" b="0" i="0" u="none" strike="noStrike">
                          <a:solidFill>
                            <a:srgbClr val="000000"/>
                          </a:solidFill>
                          <a:effectLst/>
                          <a:latin typeface="Aptos Narrow" panose="020B0004020202020204" pitchFamily="34" charset="0"/>
                        </a:rPr>
                        <a:t>34,6</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1D580"/>
                    </a:solidFill>
                  </a:tcPr>
                </a:tc>
                <a:tc>
                  <a:txBody>
                    <a:bodyPr/>
                    <a:lstStyle/>
                    <a:p>
                      <a:pPr algn="r" fontAlgn="b">
                        <a:buNone/>
                      </a:pPr>
                      <a:r>
                        <a:rPr lang="fr-FR" sz="1000" b="0" i="0" u="none" strike="noStrike">
                          <a:solidFill>
                            <a:srgbClr val="FF0000"/>
                          </a:solidFill>
                          <a:effectLst/>
                          <a:latin typeface="Aptos Narrow" panose="020B0004020202020204" pitchFamily="34" charset="0"/>
                        </a:rPr>
                        <a:t>-6,0</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92131653"/>
                  </a:ext>
                </a:extLst>
              </a:tr>
              <a:tr h="161332">
                <a:tc>
                  <a:txBody>
                    <a:bodyPr/>
                    <a:lstStyle/>
                    <a:p>
                      <a:pPr algn="l" fontAlgn="b">
                        <a:buNone/>
                      </a:pPr>
                      <a:r>
                        <a:rPr lang="fr-FR" sz="1000" b="0" i="0" u="none" strike="noStrike">
                          <a:solidFill>
                            <a:srgbClr val="000000"/>
                          </a:solidFill>
                          <a:effectLst/>
                          <a:latin typeface="Aptos Narrow" panose="020B0004020202020204" pitchFamily="34" charset="0"/>
                        </a:rPr>
                        <a:t>De Vossemeren, R</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35,8</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ED480"/>
                    </a:solidFill>
                  </a:tcPr>
                </a:tc>
                <a:tc>
                  <a:txBody>
                    <a:bodyPr/>
                    <a:lstStyle/>
                    <a:p>
                      <a:pPr algn="r" fontAlgn="b">
                        <a:buNone/>
                      </a:pPr>
                      <a:r>
                        <a:rPr lang="fr-FR" sz="1000" b="0" i="0" u="none" strike="noStrike">
                          <a:solidFill>
                            <a:srgbClr val="000000"/>
                          </a:solidFill>
                          <a:effectLst/>
                          <a:latin typeface="Aptos Narrow" panose="020B0004020202020204" pitchFamily="34" charset="0"/>
                        </a:rPr>
                        <a:t>36,2</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CD480"/>
                    </a:solidFill>
                  </a:tcPr>
                </a:tc>
                <a:tc>
                  <a:txBody>
                    <a:bodyPr/>
                    <a:lstStyle/>
                    <a:p>
                      <a:pPr algn="r" fontAlgn="b">
                        <a:buNone/>
                      </a:pPr>
                      <a:r>
                        <a:rPr lang="fr-FR" sz="1000" b="0" i="0" u="none" strike="noStrike">
                          <a:solidFill>
                            <a:srgbClr val="FF0000"/>
                          </a:solidFill>
                          <a:effectLst/>
                          <a:latin typeface="Aptos Narrow" panose="020B0004020202020204" pitchFamily="34" charset="0"/>
                        </a:rPr>
                        <a:t>-0,4</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88746163"/>
                  </a:ext>
                </a:extLst>
              </a:tr>
              <a:tr h="161332">
                <a:tc>
                  <a:txBody>
                    <a:bodyPr/>
                    <a:lstStyle/>
                    <a:p>
                      <a:pPr algn="l" fontAlgn="b">
                        <a:buNone/>
                      </a:pPr>
                      <a:r>
                        <a:rPr lang="fr-FR" sz="1000" b="0" i="0" u="none" strike="noStrike">
                          <a:solidFill>
                            <a:srgbClr val="000000"/>
                          </a:solidFill>
                          <a:effectLst/>
                          <a:latin typeface="Aptos Narrow" panose="020B0004020202020204" pitchFamily="34" charset="0"/>
                        </a:rPr>
                        <a:t>De Vossemeren, T</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30,9</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DD881"/>
                    </a:solidFill>
                  </a:tcPr>
                </a:tc>
                <a:tc>
                  <a:txBody>
                    <a:bodyPr/>
                    <a:lstStyle/>
                    <a:p>
                      <a:pPr algn="r" fontAlgn="b">
                        <a:buNone/>
                      </a:pPr>
                      <a:r>
                        <a:rPr lang="fr-FR" sz="1000" b="0" i="0" u="none" strike="noStrike">
                          <a:solidFill>
                            <a:srgbClr val="000000"/>
                          </a:solidFill>
                          <a:effectLst/>
                          <a:latin typeface="Aptos Narrow" panose="020B0004020202020204" pitchFamily="34" charset="0"/>
                        </a:rPr>
                        <a:t>29,4</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1D981"/>
                    </a:solidFill>
                  </a:tcPr>
                </a:tc>
                <a:tc>
                  <a:txBody>
                    <a:bodyPr/>
                    <a:lstStyle/>
                    <a:p>
                      <a:pPr algn="r" fontAlgn="b">
                        <a:buNone/>
                      </a:pPr>
                      <a:r>
                        <a:rPr lang="fr-FR" sz="1000" b="0" i="0" u="none" strike="noStrike">
                          <a:solidFill>
                            <a:srgbClr val="00B050"/>
                          </a:solidFill>
                          <a:effectLst/>
                          <a:latin typeface="Aptos Narrow" panose="020B0004020202020204" pitchFamily="34" charset="0"/>
                        </a:rPr>
                        <a:t>1,5</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15861211"/>
                  </a:ext>
                </a:extLst>
              </a:tr>
              <a:tr h="161332">
                <a:tc>
                  <a:txBody>
                    <a:bodyPr/>
                    <a:lstStyle/>
                    <a:p>
                      <a:pPr algn="l" fontAlgn="b">
                        <a:buNone/>
                      </a:pPr>
                      <a:r>
                        <a:rPr lang="fr-FR" sz="1000" b="1" i="0" u="none" strike="noStrike">
                          <a:solidFill>
                            <a:srgbClr val="000000"/>
                          </a:solidFill>
                          <a:effectLst/>
                          <a:latin typeface="Aptos Narrow" panose="020B0004020202020204" pitchFamily="34" charset="0"/>
                        </a:rPr>
                        <a:t>Erperheide, Subtotal</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42,1</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ACE7F"/>
                    </a:solidFill>
                  </a:tcPr>
                </a:tc>
                <a:tc>
                  <a:txBody>
                    <a:bodyPr/>
                    <a:lstStyle/>
                    <a:p>
                      <a:pPr algn="r" fontAlgn="b">
                        <a:buNone/>
                      </a:pPr>
                      <a:r>
                        <a:rPr lang="fr-FR" sz="1000" b="1" i="0" u="none" strike="noStrike">
                          <a:solidFill>
                            <a:srgbClr val="000000"/>
                          </a:solidFill>
                          <a:effectLst/>
                          <a:latin typeface="Aptos Narrow" panose="020B0004020202020204" pitchFamily="34" charset="0"/>
                        </a:rPr>
                        <a:t>37,4</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9D27F"/>
                    </a:solidFill>
                  </a:tcPr>
                </a:tc>
                <a:tc>
                  <a:txBody>
                    <a:bodyPr/>
                    <a:lstStyle/>
                    <a:p>
                      <a:pPr algn="r" fontAlgn="b">
                        <a:buNone/>
                      </a:pPr>
                      <a:r>
                        <a:rPr lang="fr-FR" sz="1000" b="1" i="0" u="none" strike="noStrike">
                          <a:solidFill>
                            <a:srgbClr val="00B050"/>
                          </a:solidFill>
                          <a:effectLst/>
                          <a:latin typeface="Aptos Narrow" panose="020B0004020202020204" pitchFamily="34" charset="0"/>
                        </a:rPr>
                        <a:t>4,7</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06809647"/>
                  </a:ext>
                </a:extLst>
              </a:tr>
              <a:tr h="161332">
                <a:tc>
                  <a:txBody>
                    <a:bodyPr/>
                    <a:lstStyle/>
                    <a:p>
                      <a:pPr algn="l" fontAlgn="b">
                        <a:buNone/>
                      </a:pPr>
                      <a:r>
                        <a:rPr lang="fr-FR" sz="1000" b="0" i="0" u="none" strike="noStrike">
                          <a:solidFill>
                            <a:srgbClr val="000000"/>
                          </a:solidFill>
                          <a:effectLst/>
                          <a:latin typeface="Aptos Narrow" panose="020B0004020202020204" pitchFamily="34" charset="0"/>
                        </a:rPr>
                        <a:t>Erperheide, A</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33,8</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4D680"/>
                    </a:solidFill>
                  </a:tcPr>
                </a:tc>
                <a:tc>
                  <a:txBody>
                    <a:bodyPr/>
                    <a:lstStyle/>
                    <a:p>
                      <a:pPr algn="r" fontAlgn="b">
                        <a:buNone/>
                      </a:pPr>
                      <a:r>
                        <a:rPr lang="fr-FR" sz="1000" b="0" i="0" u="none" strike="noStrike">
                          <a:solidFill>
                            <a:srgbClr val="000000"/>
                          </a:solidFill>
                          <a:effectLst/>
                          <a:latin typeface="Aptos Narrow" panose="020B0004020202020204" pitchFamily="34" charset="0"/>
                        </a:rPr>
                        <a:t>30,8</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DD881"/>
                    </a:solidFill>
                  </a:tcPr>
                </a:tc>
                <a:tc>
                  <a:txBody>
                    <a:bodyPr/>
                    <a:lstStyle/>
                    <a:p>
                      <a:pPr algn="r" fontAlgn="b">
                        <a:buNone/>
                      </a:pPr>
                      <a:r>
                        <a:rPr lang="fr-FR" sz="1000" b="0" i="0" u="none" strike="noStrike">
                          <a:solidFill>
                            <a:srgbClr val="00B050"/>
                          </a:solidFill>
                          <a:effectLst/>
                          <a:latin typeface="Aptos Narrow" panose="020B0004020202020204" pitchFamily="34" charset="0"/>
                        </a:rPr>
                        <a:t>3,0</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8411480"/>
                  </a:ext>
                </a:extLst>
              </a:tr>
              <a:tr h="161332">
                <a:tc>
                  <a:txBody>
                    <a:bodyPr/>
                    <a:lstStyle/>
                    <a:p>
                      <a:pPr algn="l" fontAlgn="b">
                        <a:buNone/>
                      </a:pPr>
                      <a:r>
                        <a:rPr lang="fr-FR" sz="1000" b="0" i="0" u="none" strike="noStrike">
                          <a:solidFill>
                            <a:srgbClr val="000000"/>
                          </a:solidFill>
                          <a:effectLst/>
                          <a:latin typeface="Aptos Narrow" panose="020B0004020202020204" pitchFamily="34" charset="0"/>
                        </a:rPr>
                        <a:t>Erperheide, R</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43,5</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6CD7E"/>
                    </a:solidFill>
                  </a:tcPr>
                </a:tc>
                <a:tc>
                  <a:txBody>
                    <a:bodyPr/>
                    <a:lstStyle/>
                    <a:p>
                      <a:pPr algn="r" fontAlgn="b">
                        <a:buNone/>
                      </a:pPr>
                      <a:r>
                        <a:rPr lang="fr-FR" sz="1000" b="0" i="0" u="none" strike="noStrike">
                          <a:solidFill>
                            <a:srgbClr val="000000"/>
                          </a:solidFill>
                          <a:effectLst/>
                          <a:latin typeface="Aptos Narrow" panose="020B0004020202020204" pitchFamily="34" charset="0"/>
                        </a:rPr>
                        <a:t>39,4</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3D17F"/>
                    </a:solidFill>
                  </a:tcPr>
                </a:tc>
                <a:tc>
                  <a:txBody>
                    <a:bodyPr/>
                    <a:lstStyle/>
                    <a:p>
                      <a:pPr algn="r" fontAlgn="b">
                        <a:buNone/>
                      </a:pPr>
                      <a:r>
                        <a:rPr lang="fr-FR" sz="1000" b="0" i="0" u="none" strike="noStrike">
                          <a:solidFill>
                            <a:srgbClr val="00B050"/>
                          </a:solidFill>
                          <a:effectLst/>
                          <a:latin typeface="Aptos Narrow" panose="020B0004020202020204" pitchFamily="34" charset="0"/>
                        </a:rPr>
                        <a:t>4,1</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43311614"/>
                  </a:ext>
                </a:extLst>
              </a:tr>
              <a:tr h="161332">
                <a:tc>
                  <a:txBody>
                    <a:bodyPr/>
                    <a:lstStyle/>
                    <a:p>
                      <a:pPr algn="l" fontAlgn="b">
                        <a:buNone/>
                      </a:pPr>
                      <a:r>
                        <a:rPr lang="fr-FR" sz="1000" b="0" i="0" u="none" strike="noStrike">
                          <a:solidFill>
                            <a:srgbClr val="000000"/>
                          </a:solidFill>
                          <a:effectLst/>
                          <a:latin typeface="Aptos Narrow" panose="020B0004020202020204" pitchFamily="34" charset="0"/>
                        </a:rPr>
                        <a:t>Erperheide, T</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39,8</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1D07F"/>
                    </a:solidFill>
                  </a:tcPr>
                </a:tc>
                <a:tc>
                  <a:txBody>
                    <a:bodyPr/>
                    <a:lstStyle/>
                    <a:p>
                      <a:pPr algn="r" fontAlgn="b">
                        <a:buNone/>
                      </a:pPr>
                      <a:r>
                        <a:rPr lang="fr-FR" sz="1000" b="0" i="0" u="none" strike="noStrike">
                          <a:solidFill>
                            <a:srgbClr val="000000"/>
                          </a:solidFill>
                          <a:effectLst/>
                          <a:latin typeface="Aptos Narrow" panose="020B0004020202020204" pitchFamily="34" charset="0"/>
                        </a:rPr>
                        <a:t>34,2</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2D580"/>
                    </a:solidFill>
                  </a:tcPr>
                </a:tc>
                <a:tc>
                  <a:txBody>
                    <a:bodyPr/>
                    <a:lstStyle/>
                    <a:p>
                      <a:pPr algn="r" fontAlgn="b">
                        <a:buNone/>
                      </a:pPr>
                      <a:r>
                        <a:rPr lang="fr-FR" sz="1000" b="0" i="0" u="none" strike="noStrike">
                          <a:solidFill>
                            <a:srgbClr val="00B050"/>
                          </a:solidFill>
                          <a:effectLst/>
                          <a:latin typeface="Aptos Narrow" panose="020B0004020202020204" pitchFamily="34" charset="0"/>
                        </a:rPr>
                        <a:t>5,6</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36553645"/>
                  </a:ext>
                </a:extLst>
              </a:tr>
              <a:tr h="161332">
                <a:tc>
                  <a:txBody>
                    <a:bodyPr/>
                    <a:lstStyle/>
                    <a:p>
                      <a:pPr algn="l" fontAlgn="b">
                        <a:buNone/>
                      </a:pPr>
                      <a:r>
                        <a:rPr lang="fr-FR" sz="1000" b="1" i="0" u="none" strike="noStrike">
                          <a:solidFill>
                            <a:srgbClr val="000000"/>
                          </a:solidFill>
                          <a:effectLst/>
                          <a:latin typeface="Aptos Narrow" panose="020B0004020202020204" pitchFamily="34" charset="0"/>
                        </a:rPr>
                        <a:t>Kempense Meren, Subtotal</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-14,0</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072"/>
                    </a:solidFill>
                  </a:tcPr>
                </a:tc>
                <a:tc>
                  <a:txBody>
                    <a:bodyPr/>
                    <a:lstStyle/>
                    <a:p>
                      <a:pPr algn="r" fontAlgn="b">
                        <a:buNone/>
                      </a:pPr>
                      <a:r>
                        <a:rPr lang="fr-FR" sz="1000" b="1" i="0" u="none" strike="noStrike">
                          <a:solidFill>
                            <a:srgbClr val="000000"/>
                          </a:solidFill>
                          <a:effectLst/>
                          <a:latin typeface="Aptos Narrow" panose="020B0004020202020204" pitchFamily="34" charset="0"/>
                        </a:rPr>
                        <a:t>-15,9</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971"/>
                    </a:solidFill>
                  </a:tcPr>
                </a:tc>
                <a:tc>
                  <a:txBody>
                    <a:bodyPr/>
                    <a:lstStyle/>
                    <a:p>
                      <a:pPr algn="r" fontAlgn="b">
                        <a:buNone/>
                      </a:pPr>
                      <a:r>
                        <a:rPr lang="fr-FR" sz="1000" b="1" i="0" u="none" strike="noStrike">
                          <a:solidFill>
                            <a:srgbClr val="00B050"/>
                          </a:solidFill>
                          <a:effectLst/>
                          <a:latin typeface="Aptos Narrow" panose="020B0004020202020204" pitchFamily="34" charset="0"/>
                        </a:rPr>
                        <a:t>1,8</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04016108"/>
                  </a:ext>
                </a:extLst>
              </a:tr>
              <a:tr h="161332">
                <a:tc>
                  <a:txBody>
                    <a:bodyPr/>
                    <a:lstStyle/>
                    <a:p>
                      <a:pPr algn="l" fontAlgn="b">
                        <a:buNone/>
                      </a:pPr>
                      <a:r>
                        <a:rPr lang="fr-FR" sz="1000" b="0" i="0" u="none" strike="noStrike">
                          <a:solidFill>
                            <a:srgbClr val="000000"/>
                          </a:solidFill>
                          <a:effectLst/>
                          <a:latin typeface="Aptos Narrow" panose="020B0004020202020204" pitchFamily="34" charset="0"/>
                        </a:rPr>
                        <a:t>Kempense Meren, A</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-11,2</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C74"/>
                    </a:solidFill>
                  </a:tcPr>
                </a:tc>
                <a:tc>
                  <a:txBody>
                    <a:bodyPr/>
                    <a:lstStyle/>
                    <a:p>
                      <a:pPr algn="r" fontAlgn="b">
                        <a:buNone/>
                      </a:pPr>
                      <a:r>
                        <a:rPr lang="fr-FR" sz="1000" b="0" i="0" u="none" strike="noStrike">
                          <a:solidFill>
                            <a:srgbClr val="000000"/>
                          </a:solidFill>
                          <a:effectLst/>
                          <a:latin typeface="Aptos Narrow" panose="020B0004020202020204" pitchFamily="34" charset="0"/>
                        </a:rPr>
                        <a:t>-19,7</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A6E"/>
                    </a:solidFill>
                  </a:tcPr>
                </a:tc>
                <a:tc>
                  <a:txBody>
                    <a:bodyPr/>
                    <a:lstStyle/>
                    <a:p>
                      <a:pPr algn="r" fontAlgn="b">
                        <a:buNone/>
                      </a:pPr>
                      <a:r>
                        <a:rPr lang="fr-FR" sz="1000" b="0" i="0" u="none" strike="noStrike">
                          <a:solidFill>
                            <a:srgbClr val="00B050"/>
                          </a:solidFill>
                          <a:effectLst/>
                          <a:latin typeface="Aptos Narrow" panose="020B0004020202020204" pitchFamily="34" charset="0"/>
                        </a:rPr>
                        <a:t>8,6</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43783008"/>
                  </a:ext>
                </a:extLst>
              </a:tr>
              <a:tr h="161332">
                <a:tc>
                  <a:txBody>
                    <a:bodyPr/>
                    <a:lstStyle/>
                    <a:p>
                      <a:pPr algn="l" fontAlgn="b">
                        <a:buNone/>
                      </a:pPr>
                      <a:r>
                        <a:rPr lang="fr-FR" sz="1000" b="0" i="0" u="none" strike="noStrike">
                          <a:solidFill>
                            <a:srgbClr val="000000"/>
                          </a:solidFill>
                          <a:effectLst/>
                          <a:latin typeface="Aptos Narrow" panose="020B0004020202020204" pitchFamily="34" charset="0"/>
                        </a:rPr>
                        <a:t>Kempense Meren, R</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-1,0</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37C"/>
                    </a:solidFill>
                  </a:tcPr>
                </a:tc>
                <a:tc>
                  <a:txBody>
                    <a:bodyPr/>
                    <a:lstStyle/>
                    <a:p>
                      <a:pPr algn="r" fontAlgn="b">
                        <a:buNone/>
                      </a:pPr>
                      <a:r>
                        <a:rPr lang="fr-FR" sz="1000" b="0" i="0" u="none" strike="noStrike">
                          <a:solidFill>
                            <a:srgbClr val="000000"/>
                          </a:solidFill>
                          <a:effectLst/>
                          <a:latin typeface="Aptos Narrow" panose="020B0004020202020204" pitchFamily="34" charset="0"/>
                        </a:rPr>
                        <a:t>-1,7</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17B"/>
                    </a:solidFill>
                  </a:tcPr>
                </a:tc>
                <a:tc>
                  <a:txBody>
                    <a:bodyPr/>
                    <a:lstStyle/>
                    <a:p>
                      <a:pPr algn="r" fontAlgn="b">
                        <a:buNone/>
                      </a:pPr>
                      <a:r>
                        <a:rPr lang="fr-FR" sz="1000" b="0" i="0" u="none" strike="noStrike">
                          <a:solidFill>
                            <a:srgbClr val="00B050"/>
                          </a:solidFill>
                          <a:effectLst/>
                          <a:latin typeface="Aptos Narrow" panose="020B0004020202020204" pitchFamily="34" charset="0"/>
                        </a:rPr>
                        <a:t>0,7</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36758173"/>
                  </a:ext>
                </a:extLst>
              </a:tr>
              <a:tr h="161332">
                <a:tc>
                  <a:txBody>
                    <a:bodyPr/>
                    <a:lstStyle/>
                    <a:p>
                      <a:pPr algn="l" fontAlgn="b">
                        <a:buNone/>
                      </a:pPr>
                      <a:r>
                        <a:rPr lang="fr-FR" sz="1000" b="0" i="0" u="none" strike="noStrike">
                          <a:solidFill>
                            <a:srgbClr val="000000"/>
                          </a:solidFill>
                          <a:effectLst/>
                          <a:latin typeface="Aptos Narrow" panose="020B0004020202020204" pitchFamily="34" charset="0"/>
                        </a:rPr>
                        <a:t>Kempense Meren, T</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-22,8</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E6C"/>
                    </a:solidFill>
                  </a:tcPr>
                </a:tc>
                <a:tc>
                  <a:txBody>
                    <a:bodyPr/>
                    <a:lstStyle/>
                    <a:p>
                      <a:pPr algn="r" fontAlgn="b">
                        <a:buNone/>
                      </a:pPr>
                      <a:r>
                        <a:rPr lang="fr-FR" sz="1000" b="0" i="0" u="none" strike="noStrike">
                          <a:solidFill>
                            <a:srgbClr val="000000"/>
                          </a:solidFill>
                          <a:effectLst/>
                          <a:latin typeface="Aptos Narrow" panose="020B0004020202020204" pitchFamily="34" charset="0"/>
                        </a:rPr>
                        <a:t>-24,2</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96B"/>
                    </a:solidFill>
                  </a:tcPr>
                </a:tc>
                <a:tc>
                  <a:txBody>
                    <a:bodyPr/>
                    <a:lstStyle/>
                    <a:p>
                      <a:pPr algn="r" fontAlgn="b">
                        <a:buNone/>
                      </a:pPr>
                      <a:r>
                        <a:rPr lang="fr-FR" sz="1000" b="0" i="0" u="none" strike="noStrike">
                          <a:solidFill>
                            <a:srgbClr val="00B050"/>
                          </a:solidFill>
                          <a:effectLst/>
                          <a:latin typeface="Aptos Narrow" panose="020B0004020202020204" pitchFamily="34" charset="0"/>
                        </a:rPr>
                        <a:t>1,3</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391007"/>
                  </a:ext>
                </a:extLst>
              </a:tr>
              <a:tr h="161332">
                <a:tc>
                  <a:txBody>
                    <a:bodyPr/>
                    <a:lstStyle/>
                    <a:p>
                      <a:pPr algn="l" fontAlgn="b">
                        <a:buNone/>
                      </a:pPr>
                      <a:r>
                        <a:rPr lang="fr-FR" sz="1000" b="1" i="0" u="none" strike="noStrike">
                          <a:solidFill>
                            <a:srgbClr val="000000"/>
                          </a:solidFill>
                          <a:effectLst/>
                          <a:latin typeface="Aptos Narrow" panose="020B0004020202020204" pitchFamily="34" charset="0"/>
                        </a:rPr>
                        <a:t>Les Ardennes, Subtotal</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9,5</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B84"/>
                    </a:solidFill>
                  </a:tcPr>
                </a:tc>
                <a:tc>
                  <a:txBody>
                    <a:bodyPr/>
                    <a:lstStyle/>
                    <a:p>
                      <a:pPr algn="r" fontAlgn="b">
                        <a:buNone/>
                      </a:pPr>
                      <a:r>
                        <a:rPr lang="fr-FR" sz="1000" b="1" i="0" u="none" strike="noStrike">
                          <a:solidFill>
                            <a:srgbClr val="000000"/>
                          </a:solidFill>
                          <a:effectLst/>
                          <a:latin typeface="Aptos Narrow" panose="020B0004020202020204" pitchFamily="34" charset="0"/>
                        </a:rPr>
                        <a:t>4,1</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780"/>
                    </a:solidFill>
                  </a:tcPr>
                </a:tc>
                <a:tc>
                  <a:txBody>
                    <a:bodyPr/>
                    <a:lstStyle/>
                    <a:p>
                      <a:pPr algn="r" fontAlgn="b">
                        <a:buNone/>
                      </a:pPr>
                      <a:r>
                        <a:rPr lang="fr-FR" sz="1000" b="1" i="0" u="none" strike="noStrike">
                          <a:solidFill>
                            <a:srgbClr val="00B050"/>
                          </a:solidFill>
                          <a:effectLst/>
                          <a:latin typeface="Aptos Narrow" panose="020B0004020202020204" pitchFamily="34" charset="0"/>
                        </a:rPr>
                        <a:t>5,4</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53122421"/>
                  </a:ext>
                </a:extLst>
              </a:tr>
              <a:tr h="161332">
                <a:tc>
                  <a:txBody>
                    <a:bodyPr/>
                    <a:lstStyle/>
                    <a:p>
                      <a:pPr algn="l" fontAlgn="b">
                        <a:buNone/>
                      </a:pPr>
                      <a:r>
                        <a:rPr lang="fr-FR" sz="1000" b="0" i="0" u="none" strike="noStrike">
                          <a:solidFill>
                            <a:srgbClr val="000000"/>
                          </a:solidFill>
                          <a:effectLst/>
                          <a:latin typeface="Aptos Narrow" panose="020B0004020202020204" pitchFamily="34" charset="0"/>
                        </a:rPr>
                        <a:t>Les Ardennes, A</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6,0</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F81"/>
                    </a:solidFill>
                  </a:tcPr>
                </a:tc>
                <a:tc>
                  <a:txBody>
                    <a:bodyPr/>
                    <a:lstStyle/>
                    <a:p>
                      <a:pPr algn="r" fontAlgn="b">
                        <a:buNone/>
                      </a:pPr>
                      <a:r>
                        <a:rPr lang="fr-FR" sz="1000" b="0" i="0" u="none" strike="noStrike">
                          <a:solidFill>
                            <a:srgbClr val="000000"/>
                          </a:solidFill>
                          <a:effectLst/>
                          <a:latin typeface="Aptos Narrow" panose="020B0004020202020204" pitchFamily="34" charset="0"/>
                        </a:rPr>
                        <a:t>-6,8</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D78"/>
                    </a:solidFill>
                  </a:tcPr>
                </a:tc>
                <a:tc>
                  <a:txBody>
                    <a:bodyPr/>
                    <a:lstStyle/>
                    <a:p>
                      <a:pPr algn="r" fontAlgn="b">
                        <a:buNone/>
                      </a:pPr>
                      <a:r>
                        <a:rPr lang="fr-FR" sz="1000" b="0" i="0" u="none" strike="noStrike">
                          <a:solidFill>
                            <a:srgbClr val="00B050"/>
                          </a:solidFill>
                          <a:effectLst/>
                          <a:latin typeface="Aptos Narrow" panose="020B0004020202020204" pitchFamily="34" charset="0"/>
                        </a:rPr>
                        <a:t>12,8</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94418935"/>
                  </a:ext>
                </a:extLst>
              </a:tr>
              <a:tr h="161332">
                <a:tc>
                  <a:txBody>
                    <a:bodyPr/>
                    <a:lstStyle/>
                    <a:p>
                      <a:pPr algn="l" fontAlgn="b">
                        <a:buNone/>
                      </a:pPr>
                      <a:r>
                        <a:rPr lang="fr-FR" sz="1000" b="0" i="0" u="none" strike="noStrike">
                          <a:solidFill>
                            <a:srgbClr val="000000"/>
                          </a:solidFill>
                          <a:effectLst/>
                          <a:latin typeface="Aptos Narrow" panose="020B0004020202020204" pitchFamily="34" charset="0"/>
                        </a:rPr>
                        <a:t>Les Ardennes, R</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11,2</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EA84"/>
                    </a:solidFill>
                  </a:tcPr>
                </a:tc>
                <a:tc>
                  <a:txBody>
                    <a:bodyPr/>
                    <a:lstStyle/>
                    <a:p>
                      <a:pPr algn="r" fontAlgn="b">
                        <a:buNone/>
                      </a:pPr>
                      <a:r>
                        <a:rPr lang="fr-FR" sz="1000" b="0" i="0" u="none" strike="noStrike">
                          <a:solidFill>
                            <a:srgbClr val="000000"/>
                          </a:solidFill>
                          <a:effectLst/>
                          <a:latin typeface="Aptos Narrow" panose="020B0004020202020204" pitchFamily="34" charset="0"/>
                        </a:rPr>
                        <a:t>6,0</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F81"/>
                    </a:solidFill>
                  </a:tcPr>
                </a:tc>
                <a:tc>
                  <a:txBody>
                    <a:bodyPr/>
                    <a:lstStyle/>
                    <a:p>
                      <a:pPr algn="r" fontAlgn="b">
                        <a:buNone/>
                      </a:pPr>
                      <a:r>
                        <a:rPr lang="fr-FR" sz="1000" b="0" i="0" u="none" strike="noStrike">
                          <a:solidFill>
                            <a:srgbClr val="00B050"/>
                          </a:solidFill>
                          <a:effectLst/>
                          <a:latin typeface="Aptos Narrow" panose="020B0004020202020204" pitchFamily="34" charset="0"/>
                        </a:rPr>
                        <a:t>5,2</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29383846"/>
                  </a:ext>
                </a:extLst>
              </a:tr>
              <a:tr h="161332">
                <a:tc>
                  <a:txBody>
                    <a:bodyPr/>
                    <a:lstStyle/>
                    <a:p>
                      <a:pPr algn="l" fontAlgn="b">
                        <a:buNone/>
                      </a:pPr>
                      <a:r>
                        <a:rPr lang="fr-FR" sz="1000" b="0" i="0" u="none" strike="noStrike">
                          <a:solidFill>
                            <a:srgbClr val="000000"/>
                          </a:solidFill>
                          <a:effectLst/>
                          <a:latin typeface="Aptos Narrow" panose="020B0004020202020204" pitchFamily="34" charset="0"/>
                        </a:rPr>
                        <a:t>Les Ardennes, T</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7,6</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582"/>
                    </a:solidFill>
                  </a:tcPr>
                </a:tc>
                <a:tc>
                  <a:txBody>
                    <a:bodyPr/>
                    <a:lstStyle/>
                    <a:p>
                      <a:pPr algn="r" fontAlgn="b">
                        <a:buNone/>
                      </a:pPr>
                      <a:r>
                        <a:rPr lang="fr-FR" sz="1000" b="0" i="0" u="none" strike="noStrike">
                          <a:solidFill>
                            <a:srgbClr val="000000"/>
                          </a:solidFill>
                          <a:effectLst/>
                          <a:latin typeface="Aptos Narrow" panose="020B0004020202020204" pitchFamily="34" charset="0"/>
                        </a:rPr>
                        <a:t>3,5</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57F"/>
                    </a:solidFill>
                  </a:tcPr>
                </a:tc>
                <a:tc>
                  <a:txBody>
                    <a:bodyPr/>
                    <a:lstStyle/>
                    <a:p>
                      <a:pPr algn="r" fontAlgn="b">
                        <a:buNone/>
                      </a:pPr>
                      <a:r>
                        <a:rPr lang="fr-FR" sz="1000" b="0" i="0" u="none" strike="noStrike">
                          <a:solidFill>
                            <a:srgbClr val="00B050"/>
                          </a:solidFill>
                          <a:effectLst/>
                          <a:latin typeface="Aptos Narrow" panose="020B0004020202020204" pitchFamily="34" charset="0"/>
                        </a:rPr>
                        <a:t>4,2</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33100704"/>
                  </a:ext>
                </a:extLst>
              </a:tr>
              <a:tr h="161332">
                <a:tc>
                  <a:txBody>
                    <a:bodyPr/>
                    <a:lstStyle/>
                    <a:p>
                      <a:pPr algn="l" fontAlgn="b">
                        <a:buNone/>
                      </a:pPr>
                      <a:r>
                        <a:rPr lang="fr-FR" sz="1000" b="0" i="0" u="none" strike="noStrike">
                          <a:solidFill>
                            <a:srgbClr val="000000"/>
                          </a:solidFill>
                          <a:effectLst/>
                          <a:latin typeface="Aptos Narrow" panose="020B0004020202020204" pitchFamily="34" charset="0"/>
                        </a:rPr>
                        <a:t>Terhills Resort, A</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56,2</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FC27C"/>
                    </a:solidFill>
                  </a:tcPr>
                </a:tc>
                <a:tc>
                  <a:txBody>
                    <a:bodyPr/>
                    <a:lstStyle/>
                    <a:p>
                      <a:pPr algn="r" fontAlgn="b">
                        <a:buNone/>
                      </a:pPr>
                      <a:r>
                        <a:rPr lang="fr-FR" sz="1000" b="0" i="0" u="none" strike="noStrike">
                          <a:solidFill>
                            <a:srgbClr val="000000"/>
                          </a:solidFill>
                          <a:effectLst/>
                          <a:latin typeface="Aptos Narrow" panose="020B0004020202020204" pitchFamily="34" charset="0"/>
                        </a:rPr>
                        <a:t>42,7</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9CE7F"/>
                    </a:solidFill>
                  </a:tcPr>
                </a:tc>
                <a:tc>
                  <a:txBody>
                    <a:bodyPr/>
                    <a:lstStyle/>
                    <a:p>
                      <a:pPr algn="r" fontAlgn="b">
                        <a:buNone/>
                      </a:pPr>
                      <a:r>
                        <a:rPr lang="fr-FR" sz="1000" b="0" i="0" u="none" strike="noStrike">
                          <a:solidFill>
                            <a:srgbClr val="00B050"/>
                          </a:solidFill>
                          <a:effectLst/>
                          <a:latin typeface="Aptos Narrow" panose="020B0004020202020204" pitchFamily="34" charset="0"/>
                        </a:rPr>
                        <a:t>13,5</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93505281"/>
                  </a:ext>
                </a:extLst>
              </a:tr>
              <a:tr h="161332">
                <a:tc>
                  <a:txBody>
                    <a:bodyPr/>
                    <a:lstStyle/>
                    <a:p>
                      <a:pPr algn="l" fontAlgn="b">
                        <a:buNone/>
                      </a:pPr>
                      <a:r>
                        <a:rPr lang="fr-FR" sz="1000" b="0" i="0" u="none" strike="noStrike">
                          <a:solidFill>
                            <a:srgbClr val="000000"/>
                          </a:solidFill>
                          <a:effectLst/>
                          <a:latin typeface="Aptos Narrow" panose="020B0004020202020204" pitchFamily="34" charset="0"/>
                        </a:rPr>
                        <a:t>Terhills Resort, R</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55,5</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1C37C"/>
                    </a:solidFill>
                  </a:tcPr>
                </a:tc>
                <a:tc>
                  <a:txBody>
                    <a:bodyPr/>
                    <a:lstStyle/>
                    <a:p>
                      <a:pPr algn="r" fontAlgn="b">
                        <a:buNone/>
                      </a:pPr>
                      <a:r>
                        <a:rPr lang="fr-FR" sz="1000" b="0" i="0" u="none" strike="noStrike">
                          <a:solidFill>
                            <a:srgbClr val="000000"/>
                          </a:solidFill>
                          <a:effectLst/>
                          <a:latin typeface="Aptos Narrow" panose="020B0004020202020204" pitchFamily="34" charset="0"/>
                        </a:rPr>
                        <a:t>50,9</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0C77D"/>
                    </a:solidFill>
                  </a:tcPr>
                </a:tc>
                <a:tc>
                  <a:txBody>
                    <a:bodyPr/>
                    <a:lstStyle/>
                    <a:p>
                      <a:pPr algn="r" fontAlgn="b">
                        <a:buNone/>
                      </a:pPr>
                      <a:r>
                        <a:rPr lang="fr-FR" sz="1000" b="0" i="0" u="none" strike="noStrike">
                          <a:solidFill>
                            <a:srgbClr val="00B050"/>
                          </a:solidFill>
                          <a:effectLst/>
                          <a:latin typeface="Aptos Narrow" panose="020B0004020202020204" pitchFamily="34" charset="0"/>
                        </a:rPr>
                        <a:t>4,6</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22343010"/>
                  </a:ext>
                </a:extLst>
              </a:tr>
              <a:tr h="161332">
                <a:tc>
                  <a:txBody>
                    <a:bodyPr/>
                    <a:lstStyle/>
                    <a:p>
                      <a:pPr algn="l" fontAlgn="b">
                        <a:buNone/>
                      </a:pPr>
                      <a:r>
                        <a:rPr lang="fr-FR" sz="1000" b="0" i="0" u="none" strike="noStrike">
                          <a:solidFill>
                            <a:srgbClr val="000000"/>
                          </a:solidFill>
                          <a:effectLst/>
                          <a:latin typeface="Aptos Narrow" panose="020B0004020202020204" pitchFamily="34" charset="0"/>
                        </a:rPr>
                        <a:t>Terhills Resort, T</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60,1</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1000" b="0" i="0" u="none" strike="noStrike">
                          <a:solidFill>
                            <a:srgbClr val="000000"/>
                          </a:solidFill>
                          <a:effectLst/>
                          <a:latin typeface="Aptos Narrow" panose="020B0004020202020204" pitchFamily="34" charset="0"/>
                        </a:rPr>
                        <a:t>52,7</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AC57D"/>
                    </a:solidFill>
                  </a:tcPr>
                </a:tc>
                <a:tc>
                  <a:txBody>
                    <a:bodyPr/>
                    <a:lstStyle/>
                    <a:p>
                      <a:pPr algn="r" fontAlgn="b">
                        <a:buNone/>
                      </a:pPr>
                      <a:r>
                        <a:rPr lang="fr-FR" sz="1000" b="0" i="0" u="none" strike="noStrike">
                          <a:solidFill>
                            <a:srgbClr val="00B050"/>
                          </a:solidFill>
                          <a:effectLst/>
                          <a:latin typeface="Aptos Narrow" panose="020B0004020202020204" pitchFamily="34" charset="0"/>
                        </a:rPr>
                        <a:t>7,3</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69052638"/>
                  </a:ext>
                </a:extLst>
              </a:tr>
            </a:tbl>
          </a:graphicData>
        </a:graphic>
      </p:graphicFrame>
      <p:graphicFrame>
        <p:nvGraphicFramePr>
          <p:cNvPr id="12" name="Table 11">
            <a:extLst>
              <a:ext uri="{FF2B5EF4-FFF2-40B4-BE49-F238E27FC236}">
                <a16:creationId xmlns:a16="http://schemas.microsoft.com/office/drawing/2014/main" id="{0FE1D02A-9084-5BFF-3A3C-B23DA43DD860}"/>
              </a:ext>
            </a:extLst>
          </p:cNvPr>
          <p:cNvGraphicFramePr>
            <a:graphicFrameLocks noGrp="1"/>
          </p:cNvGraphicFramePr>
          <p:nvPr/>
        </p:nvGraphicFramePr>
        <p:xfrm>
          <a:off x="7658100" y="867473"/>
          <a:ext cx="3181352" cy="1350601"/>
        </p:xfrm>
        <a:graphic>
          <a:graphicData uri="http://schemas.openxmlformats.org/drawingml/2006/table">
            <a:tbl>
              <a:tblPr/>
              <a:tblGrid>
                <a:gridCol w="795338">
                  <a:extLst>
                    <a:ext uri="{9D8B030D-6E8A-4147-A177-3AD203B41FA5}">
                      <a16:colId xmlns:a16="http://schemas.microsoft.com/office/drawing/2014/main" val="3806262675"/>
                    </a:ext>
                  </a:extLst>
                </a:gridCol>
                <a:gridCol w="795338">
                  <a:extLst>
                    <a:ext uri="{9D8B030D-6E8A-4147-A177-3AD203B41FA5}">
                      <a16:colId xmlns:a16="http://schemas.microsoft.com/office/drawing/2014/main" val="2321093382"/>
                    </a:ext>
                  </a:extLst>
                </a:gridCol>
                <a:gridCol w="795338">
                  <a:extLst>
                    <a:ext uri="{9D8B030D-6E8A-4147-A177-3AD203B41FA5}">
                      <a16:colId xmlns:a16="http://schemas.microsoft.com/office/drawing/2014/main" val="2797815230"/>
                    </a:ext>
                  </a:extLst>
                </a:gridCol>
                <a:gridCol w="795338">
                  <a:extLst>
                    <a:ext uri="{9D8B030D-6E8A-4147-A177-3AD203B41FA5}">
                      <a16:colId xmlns:a16="http://schemas.microsoft.com/office/drawing/2014/main" val="171385681"/>
                    </a:ext>
                  </a:extLst>
                </a:gridCol>
              </a:tblGrid>
              <a:tr h="377497">
                <a:tc>
                  <a:txBody>
                    <a:bodyPr/>
                    <a:lstStyle/>
                    <a:p>
                      <a:pPr algn="l" fontAlgn="b">
                        <a:buNone/>
                      </a:pPr>
                      <a:endParaRPr lang="fr-FR" sz="18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a:noFill/>
                    </a:lnB>
                    <a:noFill/>
                  </a:tcPr>
                </a:tc>
                <a:tc>
                  <a:txBody>
                    <a:bodyPr/>
                    <a:lstStyle/>
                    <a:p>
                      <a:pPr algn="l" rtl="0" fontAlgn="b">
                        <a:buNone/>
                      </a:pPr>
                      <a:r>
                        <a:rPr lang="fr-FR" sz="1050" b="1" i="0" u="none" strike="noStrike">
                          <a:solidFill>
                            <a:srgbClr val="000000"/>
                          </a:solidFill>
                          <a:effectLst/>
                          <a:latin typeface="Aptos Narrow" panose="020B0004020202020204" pitchFamily="34" charset="0"/>
                        </a:rPr>
                        <a:t>FY25</a:t>
                      </a:r>
                    </a:p>
                  </a:txBody>
                  <a:tcPr marL="6350" marR="6350" marT="6350" marB="0" anchor="b">
                    <a:lnL>
                      <a:noFill/>
                    </a:lnL>
                    <a:lnR>
                      <a:noFill/>
                    </a:lnR>
                    <a:lnT>
                      <a:noFill/>
                    </a:lnT>
                    <a:lnB>
                      <a:noFill/>
                    </a:lnB>
                    <a:noFill/>
                  </a:tcPr>
                </a:tc>
                <a:tc>
                  <a:txBody>
                    <a:bodyPr/>
                    <a:lstStyle/>
                    <a:p>
                      <a:pPr algn="l" rtl="0" fontAlgn="b">
                        <a:buNone/>
                      </a:pPr>
                      <a:r>
                        <a:rPr lang="fr-FR" sz="1050" b="1" i="0" u="none" strike="noStrike">
                          <a:solidFill>
                            <a:srgbClr val="000000"/>
                          </a:solidFill>
                          <a:effectLst/>
                          <a:latin typeface="Aptos Narrow" panose="020B0004020202020204" pitchFamily="34" charset="0"/>
                        </a:rPr>
                        <a:t>FY24</a:t>
                      </a:r>
                    </a:p>
                  </a:txBody>
                  <a:tcPr marL="6350" marR="6350" marT="6350" marB="0" anchor="b">
                    <a:lnL>
                      <a:noFill/>
                    </a:lnL>
                    <a:lnR>
                      <a:noFill/>
                    </a:lnR>
                    <a:lnT>
                      <a:noFill/>
                    </a:lnT>
                    <a:lnB>
                      <a:noFill/>
                    </a:lnB>
                    <a:noFill/>
                  </a:tcPr>
                </a:tc>
                <a:tc>
                  <a:txBody>
                    <a:bodyPr/>
                    <a:lstStyle/>
                    <a:p>
                      <a:pPr algn="l" rtl="0" fontAlgn="b">
                        <a:buNone/>
                      </a:pPr>
                      <a:r>
                        <a:rPr lang="fr-FR" sz="1050" b="1" i="0" u="none" strike="noStrike">
                          <a:solidFill>
                            <a:srgbClr val="000000"/>
                          </a:solidFill>
                          <a:effectLst/>
                          <a:latin typeface="Aptos Narrow" panose="020B0004020202020204" pitchFamily="34" charset="0"/>
                        </a:rPr>
                        <a:t>Evol </a:t>
                      </a:r>
                    </a:p>
                  </a:txBody>
                  <a:tcPr marL="6350" marR="6350" marT="6350" marB="0" anchor="b">
                    <a:lnL>
                      <a:noFill/>
                    </a:lnL>
                    <a:lnR>
                      <a:noFill/>
                    </a:lnR>
                    <a:lnT>
                      <a:noFill/>
                    </a:lnT>
                    <a:lnB>
                      <a:noFill/>
                    </a:lnB>
                    <a:noFill/>
                  </a:tcPr>
                </a:tc>
                <a:extLst>
                  <a:ext uri="{0D108BD9-81ED-4DB2-BD59-A6C34878D82A}">
                    <a16:rowId xmlns:a16="http://schemas.microsoft.com/office/drawing/2014/main" val="2819732752"/>
                  </a:ext>
                </a:extLst>
              </a:tr>
              <a:tr h="243276">
                <a:tc>
                  <a:txBody>
                    <a:bodyPr/>
                    <a:lstStyle/>
                    <a:p>
                      <a:pPr algn="l" fontAlgn="b">
                        <a:buNone/>
                      </a:pPr>
                      <a:r>
                        <a:rPr lang="fr-FR" sz="1100" b="0" i="0" u="none" strike="noStrike">
                          <a:solidFill>
                            <a:srgbClr val="000000"/>
                          </a:solidFill>
                          <a:effectLst/>
                          <a:latin typeface="Aptos Narrow" panose="020B0004020202020204" pitchFamily="34" charset="0"/>
                        </a:rPr>
                        <a:t>R</a:t>
                      </a:r>
                    </a:p>
                  </a:txBody>
                  <a:tcPr marL="6350" marR="6350" marT="6350" marB="0" anchor="b">
                    <a:lnL>
                      <a:noFill/>
                    </a:lnL>
                    <a:lnR>
                      <a:noFill/>
                    </a:lnR>
                    <a:lnT>
                      <a:noFill/>
                    </a:lnT>
                    <a:lnB>
                      <a:noFill/>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28,2</a:t>
                      </a:r>
                    </a:p>
                  </a:txBody>
                  <a:tcPr marL="6350" marR="6350" marT="6350" marB="0" anchor="b">
                    <a:lnL>
                      <a:noFill/>
                    </a:lnL>
                    <a:lnR>
                      <a:noFill/>
                    </a:lnR>
                    <a:lnT>
                      <a:noFill/>
                    </a:lnT>
                    <a:lnB>
                      <a:noFill/>
                    </a:lnB>
                    <a:solidFill>
                      <a:srgbClr val="63BE7B"/>
                    </a:solidFill>
                  </a:tcPr>
                </a:tc>
                <a:tc>
                  <a:txBody>
                    <a:bodyPr/>
                    <a:lstStyle/>
                    <a:p>
                      <a:pPr algn="r" fontAlgn="b">
                        <a:buNone/>
                      </a:pPr>
                      <a:r>
                        <a:rPr lang="fr-FR" sz="1100" b="0" i="0" u="none" strike="noStrike">
                          <a:solidFill>
                            <a:srgbClr val="000000"/>
                          </a:solidFill>
                          <a:effectLst/>
                          <a:latin typeface="Aptos Narrow" panose="020B0004020202020204" pitchFamily="34" charset="0"/>
                        </a:rPr>
                        <a:t>24,3</a:t>
                      </a:r>
                    </a:p>
                  </a:txBody>
                  <a:tcPr marL="6350" marR="6350" marT="6350" marB="0" anchor="b">
                    <a:lnL>
                      <a:noFill/>
                    </a:lnL>
                    <a:lnR>
                      <a:noFill/>
                    </a:lnR>
                    <a:lnT>
                      <a:noFill/>
                    </a:lnT>
                    <a:lnB>
                      <a:noFill/>
                    </a:lnB>
                    <a:solidFill>
                      <a:srgbClr val="85C983"/>
                    </a:solidFill>
                  </a:tcPr>
                </a:tc>
                <a:tc>
                  <a:txBody>
                    <a:bodyPr/>
                    <a:lstStyle/>
                    <a:p>
                      <a:pPr algn="r" fontAlgn="b">
                        <a:buNone/>
                      </a:pPr>
                      <a:r>
                        <a:rPr lang="fr-FR" sz="1100" b="0" i="0" u="none" strike="noStrike">
                          <a:solidFill>
                            <a:srgbClr val="00B050"/>
                          </a:solidFill>
                          <a:effectLst/>
                          <a:latin typeface="Aptos Narrow" panose="020B0004020202020204" pitchFamily="34" charset="0"/>
                        </a:rPr>
                        <a:t>3,9</a:t>
                      </a:r>
                    </a:p>
                  </a:txBody>
                  <a:tcPr marL="6350" marR="6350" marT="6350" marB="0" anchor="b">
                    <a:lnL>
                      <a:noFill/>
                    </a:lnL>
                    <a:lnR>
                      <a:noFill/>
                    </a:lnR>
                    <a:lnT>
                      <a:noFill/>
                    </a:lnT>
                    <a:lnB>
                      <a:noFill/>
                    </a:lnB>
                    <a:noFill/>
                  </a:tcPr>
                </a:tc>
                <a:extLst>
                  <a:ext uri="{0D108BD9-81ED-4DB2-BD59-A6C34878D82A}">
                    <a16:rowId xmlns:a16="http://schemas.microsoft.com/office/drawing/2014/main" val="3923953861"/>
                  </a:ext>
                </a:extLst>
              </a:tr>
              <a:tr h="243276">
                <a:tc>
                  <a:txBody>
                    <a:bodyPr/>
                    <a:lstStyle/>
                    <a:p>
                      <a:pPr algn="l" fontAlgn="b">
                        <a:buNone/>
                      </a:pPr>
                      <a:r>
                        <a:rPr lang="fr-FR" sz="1100" b="1" i="0" u="none" strike="noStrike">
                          <a:solidFill>
                            <a:srgbClr val="000000"/>
                          </a:solidFill>
                          <a:effectLst/>
                          <a:latin typeface="Aptos Narrow" panose="020B0004020202020204" pitchFamily="34" charset="0"/>
                        </a:rPr>
                        <a:t>Total</a:t>
                      </a:r>
                    </a:p>
                  </a:txBody>
                  <a:tcPr marL="6350" marR="6350" marT="6350" marB="0" anchor="b">
                    <a:lnL>
                      <a:noFill/>
                    </a:lnL>
                    <a:lnR>
                      <a:noFill/>
                    </a:lnR>
                    <a:lnT>
                      <a:noFill/>
                    </a:lnT>
                    <a:lnB>
                      <a:noFill/>
                    </a:lnB>
                    <a:noFill/>
                  </a:tcPr>
                </a:tc>
                <a:tc>
                  <a:txBody>
                    <a:bodyPr/>
                    <a:lstStyle/>
                    <a:p>
                      <a:pPr algn="r" fontAlgn="b">
                        <a:buNone/>
                      </a:pPr>
                      <a:r>
                        <a:rPr lang="fr-FR" sz="1100" b="1" i="0" u="none" strike="noStrike">
                          <a:solidFill>
                            <a:srgbClr val="000000"/>
                          </a:solidFill>
                          <a:effectLst/>
                          <a:latin typeface="Aptos Narrow" panose="020B0004020202020204" pitchFamily="34" charset="0"/>
                        </a:rPr>
                        <a:t>21,7</a:t>
                      </a:r>
                    </a:p>
                  </a:txBody>
                  <a:tcPr marL="6350" marR="6350" marT="6350" marB="0" anchor="b">
                    <a:lnL>
                      <a:noFill/>
                    </a:lnL>
                    <a:lnR>
                      <a:noFill/>
                    </a:lnR>
                    <a:lnT>
                      <a:noFill/>
                    </a:lnT>
                    <a:lnB>
                      <a:noFill/>
                    </a:lnB>
                    <a:solidFill>
                      <a:srgbClr val="9CD087"/>
                    </a:solidFill>
                  </a:tcPr>
                </a:tc>
                <a:tc>
                  <a:txBody>
                    <a:bodyPr/>
                    <a:lstStyle/>
                    <a:p>
                      <a:pPr algn="r" fontAlgn="b">
                        <a:buNone/>
                      </a:pPr>
                      <a:r>
                        <a:rPr lang="fr-FR" sz="1100" b="1" i="0" u="none" strike="noStrike">
                          <a:solidFill>
                            <a:srgbClr val="000000"/>
                          </a:solidFill>
                          <a:effectLst/>
                          <a:latin typeface="Aptos Narrow" panose="020B0004020202020204" pitchFamily="34" charset="0"/>
                        </a:rPr>
                        <a:t>18</a:t>
                      </a:r>
                    </a:p>
                  </a:txBody>
                  <a:tcPr marL="6350" marR="6350" marT="6350" marB="0" anchor="b">
                    <a:lnL>
                      <a:noFill/>
                    </a:lnL>
                    <a:lnR>
                      <a:noFill/>
                    </a:lnR>
                    <a:lnT>
                      <a:noFill/>
                    </a:lnT>
                    <a:lnB>
                      <a:noFill/>
                    </a:lnB>
                    <a:solidFill>
                      <a:srgbClr val="BCDA8E"/>
                    </a:solidFill>
                  </a:tcPr>
                </a:tc>
                <a:tc>
                  <a:txBody>
                    <a:bodyPr/>
                    <a:lstStyle/>
                    <a:p>
                      <a:pPr algn="r" fontAlgn="b">
                        <a:buNone/>
                      </a:pPr>
                      <a:r>
                        <a:rPr lang="fr-FR" sz="1100" b="1" i="0" u="none" strike="noStrike">
                          <a:solidFill>
                            <a:srgbClr val="00B050"/>
                          </a:solidFill>
                          <a:effectLst/>
                          <a:latin typeface="Aptos Narrow" panose="020B0004020202020204" pitchFamily="34" charset="0"/>
                        </a:rPr>
                        <a:t>3,7</a:t>
                      </a:r>
                    </a:p>
                  </a:txBody>
                  <a:tcPr marL="6350" marR="6350" marT="6350" marB="0" anchor="b">
                    <a:lnL>
                      <a:noFill/>
                    </a:lnL>
                    <a:lnR>
                      <a:noFill/>
                    </a:lnR>
                    <a:lnT>
                      <a:noFill/>
                    </a:lnT>
                    <a:lnB>
                      <a:noFill/>
                    </a:lnB>
                    <a:noFill/>
                  </a:tcPr>
                </a:tc>
                <a:extLst>
                  <a:ext uri="{0D108BD9-81ED-4DB2-BD59-A6C34878D82A}">
                    <a16:rowId xmlns:a16="http://schemas.microsoft.com/office/drawing/2014/main" val="1407636215"/>
                  </a:ext>
                </a:extLst>
              </a:tr>
              <a:tr h="243276">
                <a:tc>
                  <a:txBody>
                    <a:bodyPr/>
                    <a:lstStyle/>
                    <a:p>
                      <a:pPr algn="l" fontAlgn="b">
                        <a:buNone/>
                      </a:pPr>
                      <a:r>
                        <a:rPr lang="fr-FR" sz="1100" b="0" i="0" u="none" strike="noStrike">
                          <a:solidFill>
                            <a:srgbClr val="000000"/>
                          </a:solidFill>
                          <a:effectLst/>
                          <a:latin typeface="Aptos Narrow" panose="020B0004020202020204" pitchFamily="34" charset="0"/>
                        </a:rPr>
                        <a:t>A</a:t>
                      </a:r>
                    </a:p>
                  </a:txBody>
                  <a:tcPr marL="6350" marR="6350" marT="6350" marB="0" anchor="b">
                    <a:lnL>
                      <a:noFill/>
                    </a:lnL>
                    <a:lnR>
                      <a:noFill/>
                    </a:lnR>
                    <a:lnT>
                      <a:noFill/>
                    </a:lnT>
                    <a:lnB>
                      <a:noFill/>
                    </a:lnB>
                    <a:noFill/>
                  </a:tcPr>
                </a:tc>
                <a:tc>
                  <a:txBody>
                    <a:bodyPr/>
                    <a:lstStyle/>
                    <a:p>
                      <a:pPr algn="r" fontAlgn="b">
                        <a:buNone/>
                      </a:pPr>
                      <a:r>
                        <a:rPr lang="fr-FR" sz="1100" b="0" i="0" u="none" strike="noStrike">
                          <a:solidFill>
                            <a:srgbClr val="000000"/>
                          </a:solidFill>
                          <a:effectLst/>
                          <a:latin typeface="Aptos Narrow" panose="020B0004020202020204" pitchFamily="34" charset="0"/>
                        </a:rPr>
                        <a:t>14,6</a:t>
                      </a:r>
                    </a:p>
                  </a:txBody>
                  <a:tcPr marL="6350" marR="6350" marT="6350" marB="0" anchor="b">
                    <a:lnL>
                      <a:noFill/>
                    </a:lnL>
                    <a:lnR>
                      <a:noFill/>
                    </a:lnR>
                    <a:lnT>
                      <a:noFill/>
                    </a:lnT>
                    <a:lnB>
                      <a:noFill/>
                    </a:lnB>
                    <a:solidFill>
                      <a:srgbClr val="D9E494"/>
                    </a:solidFill>
                  </a:tcPr>
                </a:tc>
                <a:tc>
                  <a:txBody>
                    <a:bodyPr/>
                    <a:lstStyle/>
                    <a:p>
                      <a:pPr algn="r" fontAlgn="b">
                        <a:buNone/>
                      </a:pPr>
                      <a:r>
                        <a:rPr lang="fr-FR" sz="1100" b="0" i="0" u="none" strike="noStrike">
                          <a:solidFill>
                            <a:srgbClr val="000000"/>
                          </a:solidFill>
                          <a:effectLst/>
                          <a:latin typeface="Aptos Narrow" panose="020B0004020202020204" pitchFamily="34" charset="0"/>
                        </a:rPr>
                        <a:t>12,3</a:t>
                      </a:r>
                    </a:p>
                  </a:txBody>
                  <a:tcPr marL="6350" marR="6350" marT="6350" marB="0" anchor="b">
                    <a:lnL>
                      <a:noFill/>
                    </a:lnL>
                    <a:lnR>
                      <a:noFill/>
                    </a:lnR>
                    <a:lnT>
                      <a:noFill/>
                    </a:lnT>
                    <a:lnB>
                      <a:noFill/>
                    </a:lnB>
                    <a:solidFill>
                      <a:srgbClr val="EDEA99"/>
                    </a:solidFill>
                  </a:tcPr>
                </a:tc>
                <a:tc>
                  <a:txBody>
                    <a:bodyPr/>
                    <a:lstStyle/>
                    <a:p>
                      <a:pPr algn="r" fontAlgn="b">
                        <a:buNone/>
                      </a:pPr>
                      <a:r>
                        <a:rPr lang="fr-FR" sz="1100" b="0" i="0" u="none" strike="noStrike">
                          <a:solidFill>
                            <a:srgbClr val="00B050"/>
                          </a:solidFill>
                          <a:effectLst/>
                          <a:latin typeface="Aptos Narrow" panose="020B0004020202020204" pitchFamily="34" charset="0"/>
                        </a:rPr>
                        <a:t>2,3</a:t>
                      </a:r>
                    </a:p>
                  </a:txBody>
                  <a:tcPr marL="6350" marR="6350" marT="6350" marB="0" anchor="b">
                    <a:lnL>
                      <a:noFill/>
                    </a:lnL>
                    <a:lnR>
                      <a:noFill/>
                    </a:lnR>
                    <a:lnT>
                      <a:noFill/>
                    </a:lnT>
                    <a:lnB>
                      <a:noFill/>
                    </a:lnB>
                    <a:noFill/>
                  </a:tcPr>
                </a:tc>
                <a:extLst>
                  <a:ext uri="{0D108BD9-81ED-4DB2-BD59-A6C34878D82A}">
                    <a16:rowId xmlns:a16="http://schemas.microsoft.com/office/drawing/2014/main" val="758806113"/>
                  </a:ext>
                </a:extLst>
              </a:tr>
              <a:tr h="243276">
                <a:tc>
                  <a:txBody>
                    <a:bodyPr/>
                    <a:lstStyle/>
                    <a:p>
                      <a:pPr algn="l" fontAlgn="b">
                        <a:buNone/>
                      </a:pPr>
                      <a:r>
                        <a:rPr lang="fr-FR" sz="1100" b="0" i="0" u="none" strike="noStrike">
                          <a:solidFill>
                            <a:srgbClr val="000000"/>
                          </a:solidFill>
                          <a:effectLst/>
                          <a:latin typeface="Aptos Narrow" panose="020B0004020202020204" pitchFamily="34" charset="0"/>
                        </a:rPr>
                        <a:t>T</a:t>
                      </a:r>
                    </a:p>
                  </a:txBody>
                  <a:tcPr marL="6350" marR="6350" marT="6350" marB="0" anchor="b">
                    <a:lnL>
                      <a:noFill/>
                    </a:lnL>
                    <a:lnR>
                      <a:noFill/>
                    </a:lnR>
                    <a:lnT>
                      <a:noFill/>
                    </a:lnT>
                    <a:lnB>
                      <a:noFill/>
                    </a:lnB>
                    <a:noFill/>
                  </a:tcPr>
                </a:tc>
                <a:tc>
                  <a:txBody>
                    <a:bodyPr/>
                    <a:lstStyle/>
                    <a:p>
                      <a:pPr algn="r" fontAlgn="b">
                        <a:buNone/>
                      </a:pPr>
                      <a:r>
                        <a:rPr lang="fr-FR" sz="1100" b="0" i="0" u="none" strike="noStrike">
                          <a:solidFill>
                            <a:srgbClr val="000000"/>
                          </a:solidFill>
                          <a:effectLst/>
                          <a:latin typeface="Aptos Narrow" panose="020B0004020202020204" pitchFamily="34" charset="0"/>
                        </a:rPr>
                        <a:t>13,1</a:t>
                      </a:r>
                    </a:p>
                  </a:txBody>
                  <a:tcPr marL="6350" marR="6350" marT="6350" marB="0" anchor="b">
                    <a:lnL>
                      <a:noFill/>
                    </a:lnL>
                    <a:lnR>
                      <a:noFill/>
                    </a:lnR>
                    <a:lnT>
                      <a:noFill/>
                    </a:lnT>
                    <a:lnB>
                      <a:noFill/>
                    </a:lnB>
                    <a:solidFill>
                      <a:srgbClr val="E6E897"/>
                    </a:solidFill>
                  </a:tcPr>
                </a:tc>
                <a:tc>
                  <a:txBody>
                    <a:bodyPr/>
                    <a:lstStyle/>
                    <a:p>
                      <a:pPr algn="r" fontAlgn="b">
                        <a:buNone/>
                      </a:pPr>
                      <a:r>
                        <a:rPr lang="fr-FR" sz="1100" b="0" i="0" u="none" strike="noStrike">
                          <a:solidFill>
                            <a:srgbClr val="000000"/>
                          </a:solidFill>
                          <a:effectLst/>
                          <a:latin typeface="Aptos Narrow" panose="020B0004020202020204" pitchFamily="34" charset="0"/>
                        </a:rPr>
                        <a:t>10,2</a:t>
                      </a:r>
                    </a:p>
                  </a:txBody>
                  <a:tcPr marL="6350" marR="6350" marT="6350" marB="0" anchor="b">
                    <a:lnL>
                      <a:noFill/>
                    </a:lnL>
                    <a:lnR>
                      <a:noFill/>
                    </a:lnR>
                    <a:lnT>
                      <a:noFill/>
                    </a:lnT>
                    <a:lnB>
                      <a:noFill/>
                    </a:lnB>
                    <a:solidFill>
                      <a:srgbClr val="FFEF9C"/>
                    </a:solidFill>
                  </a:tcPr>
                </a:tc>
                <a:tc>
                  <a:txBody>
                    <a:bodyPr/>
                    <a:lstStyle/>
                    <a:p>
                      <a:pPr algn="r" fontAlgn="b">
                        <a:buNone/>
                      </a:pPr>
                      <a:r>
                        <a:rPr lang="fr-FR" sz="1100" b="0" i="0" u="none" strike="noStrike">
                          <a:solidFill>
                            <a:srgbClr val="00B050"/>
                          </a:solidFill>
                          <a:effectLst/>
                          <a:latin typeface="Aptos Narrow" panose="020B0004020202020204" pitchFamily="34" charset="0"/>
                        </a:rPr>
                        <a:t>2,9</a:t>
                      </a:r>
                    </a:p>
                  </a:txBody>
                  <a:tcPr marL="6350" marR="6350" marT="6350" marB="0" anchor="b">
                    <a:lnL>
                      <a:noFill/>
                    </a:lnL>
                    <a:lnR>
                      <a:noFill/>
                    </a:lnR>
                    <a:lnT>
                      <a:noFill/>
                    </a:lnT>
                    <a:lnB>
                      <a:noFill/>
                    </a:lnB>
                    <a:noFill/>
                  </a:tcPr>
                </a:tc>
                <a:extLst>
                  <a:ext uri="{0D108BD9-81ED-4DB2-BD59-A6C34878D82A}">
                    <a16:rowId xmlns:a16="http://schemas.microsoft.com/office/drawing/2014/main" val="601197383"/>
                  </a:ext>
                </a:extLst>
              </a:tr>
            </a:tbl>
          </a:graphicData>
        </a:graphic>
      </p:graphicFrame>
      <p:graphicFrame>
        <p:nvGraphicFramePr>
          <p:cNvPr id="13" name="Table 12">
            <a:extLst>
              <a:ext uri="{FF2B5EF4-FFF2-40B4-BE49-F238E27FC236}">
                <a16:creationId xmlns:a16="http://schemas.microsoft.com/office/drawing/2014/main" id="{BB3656BD-8655-DDD6-2F41-4C45E175B7DF}"/>
              </a:ext>
            </a:extLst>
          </p:cNvPr>
          <p:cNvGraphicFramePr>
            <a:graphicFrameLocks noGrp="1"/>
          </p:cNvGraphicFramePr>
          <p:nvPr/>
        </p:nvGraphicFramePr>
        <p:xfrm>
          <a:off x="5723510" y="2861744"/>
          <a:ext cx="4544185" cy="2246647"/>
        </p:xfrm>
        <a:graphic>
          <a:graphicData uri="http://schemas.openxmlformats.org/drawingml/2006/table">
            <a:tbl>
              <a:tblPr/>
              <a:tblGrid>
                <a:gridCol w="2318461">
                  <a:extLst>
                    <a:ext uri="{9D8B030D-6E8A-4147-A177-3AD203B41FA5}">
                      <a16:colId xmlns:a16="http://schemas.microsoft.com/office/drawing/2014/main" val="3745037977"/>
                    </a:ext>
                  </a:extLst>
                </a:gridCol>
                <a:gridCol w="741908">
                  <a:extLst>
                    <a:ext uri="{9D8B030D-6E8A-4147-A177-3AD203B41FA5}">
                      <a16:colId xmlns:a16="http://schemas.microsoft.com/office/drawing/2014/main" val="2998287970"/>
                    </a:ext>
                  </a:extLst>
                </a:gridCol>
                <a:gridCol w="741908">
                  <a:extLst>
                    <a:ext uri="{9D8B030D-6E8A-4147-A177-3AD203B41FA5}">
                      <a16:colId xmlns:a16="http://schemas.microsoft.com/office/drawing/2014/main" val="58602962"/>
                    </a:ext>
                  </a:extLst>
                </a:gridCol>
                <a:gridCol w="741908">
                  <a:extLst>
                    <a:ext uri="{9D8B030D-6E8A-4147-A177-3AD203B41FA5}">
                      <a16:colId xmlns:a16="http://schemas.microsoft.com/office/drawing/2014/main" val="2012867096"/>
                    </a:ext>
                  </a:extLst>
                </a:gridCol>
              </a:tblGrid>
              <a:tr h="172819">
                <a:tc>
                  <a:txBody>
                    <a:bodyPr/>
                    <a:lstStyle/>
                    <a:p>
                      <a:pPr algn="l" fontAlgn="b">
                        <a:buNone/>
                      </a:pPr>
                      <a:r>
                        <a:rPr lang="fr-FR" sz="1000" b="0" i="0" u="none" strike="noStrike">
                          <a:solidFill>
                            <a:srgbClr val="000000"/>
                          </a:solidFill>
                          <a:effectLst/>
                          <a:latin typeface="Arial" panose="020B0604020202020204" pitchFamily="34" charset="0"/>
                        </a:rPr>
                        <a:t>NPS</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FY25</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FY24</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Evol </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28342044"/>
                  </a:ext>
                </a:extLst>
              </a:tr>
              <a:tr h="172819">
                <a:tc>
                  <a:txBody>
                    <a:bodyPr/>
                    <a:lstStyle/>
                    <a:p>
                      <a:pPr algn="l" fontAlgn="b">
                        <a:buNone/>
                      </a:pPr>
                      <a:r>
                        <a:rPr lang="fr-FR" sz="1000" b="1" i="0" u="none" strike="noStrike" err="1">
                          <a:solidFill>
                            <a:srgbClr val="000000"/>
                          </a:solidFill>
                          <a:effectLst/>
                          <a:latin typeface="Aptos Narrow" panose="020B0004020202020204" pitchFamily="34" charset="0"/>
                        </a:rPr>
                        <a:t>Oostduinkerke</a:t>
                      </a:r>
                      <a:r>
                        <a:rPr lang="fr-FR" sz="1000" b="1" i="0" u="none" strike="noStrike">
                          <a:solidFill>
                            <a:srgbClr val="000000"/>
                          </a:solidFill>
                          <a:effectLst/>
                          <a:latin typeface="Aptos Narrow" panose="020B0004020202020204" pitchFamily="34" charset="0"/>
                        </a:rPr>
                        <a:t> </a:t>
                      </a:r>
                      <a:r>
                        <a:rPr lang="fr-FR" sz="1000" b="1" i="0" u="none" strike="noStrike" err="1">
                          <a:solidFill>
                            <a:srgbClr val="000000"/>
                          </a:solidFill>
                          <a:effectLst/>
                          <a:latin typeface="Aptos Narrow" panose="020B0004020202020204" pitchFamily="34" charset="0"/>
                        </a:rPr>
                        <a:t>aan</a:t>
                      </a:r>
                      <a:r>
                        <a:rPr lang="fr-FR" sz="1000" b="1" i="0" u="none" strike="noStrike">
                          <a:solidFill>
                            <a:srgbClr val="000000"/>
                          </a:solidFill>
                          <a:effectLst/>
                          <a:latin typeface="Aptos Narrow" panose="020B0004020202020204" pitchFamily="34" charset="0"/>
                        </a:rPr>
                        <a:t> </a:t>
                      </a:r>
                      <a:r>
                        <a:rPr lang="fr-FR" sz="1000" b="1" i="0" u="none" strike="noStrike" err="1">
                          <a:solidFill>
                            <a:srgbClr val="000000"/>
                          </a:solidFill>
                          <a:effectLst/>
                          <a:latin typeface="Aptos Narrow" panose="020B0004020202020204" pitchFamily="34" charset="0"/>
                        </a:rPr>
                        <a:t>zee</a:t>
                      </a:r>
                      <a:r>
                        <a:rPr lang="fr-FR" sz="1000" b="1" i="0" u="none" strike="noStrike">
                          <a:solidFill>
                            <a:srgbClr val="000000"/>
                          </a:solidFill>
                          <a:effectLst/>
                          <a:latin typeface="Aptos Narrow" panose="020B0004020202020204" pitchFamily="34" charset="0"/>
                        </a:rPr>
                        <a:t>, Subtotal</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-10,1</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A075"/>
                    </a:solidFill>
                  </a:tcPr>
                </a:tc>
                <a:tc>
                  <a:txBody>
                    <a:bodyPr/>
                    <a:lstStyle/>
                    <a:p>
                      <a:pPr algn="r" fontAlgn="b">
                        <a:buNone/>
                      </a:pPr>
                      <a:r>
                        <a:rPr lang="fr-FR" sz="1000" b="1" i="0" u="none" strike="noStrike">
                          <a:solidFill>
                            <a:srgbClr val="000000"/>
                          </a:solidFill>
                          <a:effectLst/>
                          <a:latin typeface="Aptos Narrow" panose="020B0004020202020204" pitchFamily="34" charset="0"/>
                        </a:rPr>
                        <a:t>-4,0</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87A"/>
                    </a:solidFill>
                  </a:tcPr>
                </a:tc>
                <a:tc>
                  <a:txBody>
                    <a:bodyPr/>
                    <a:lstStyle/>
                    <a:p>
                      <a:pPr algn="r" fontAlgn="b">
                        <a:buNone/>
                      </a:pPr>
                      <a:r>
                        <a:rPr lang="fr-FR" sz="1000" b="1" i="0" u="none" strike="noStrike">
                          <a:solidFill>
                            <a:srgbClr val="FF0000"/>
                          </a:solidFill>
                          <a:effectLst/>
                          <a:latin typeface="Aptos Narrow" panose="020B0004020202020204" pitchFamily="34" charset="0"/>
                        </a:rPr>
                        <a:t>-6,1</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90838262"/>
                  </a:ext>
                </a:extLst>
              </a:tr>
              <a:tr h="172819">
                <a:tc>
                  <a:txBody>
                    <a:bodyPr/>
                    <a:lstStyle/>
                    <a:p>
                      <a:pPr algn="l" fontAlgn="b">
                        <a:buNone/>
                      </a:pPr>
                      <a:r>
                        <a:rPr lang="fr-FR" sz="1000" b="0" i="0" u="none" strike="noStrike">
                          <a:solidFill>
                            <a:srgbClr val="000000"/>
                          </a:solidFill>
                          <a:effectLst/>
                          <a:latin typeface="Aptos Narrow" panose="020B0004020202020204" pitchFamily="34" charset="0"/>
                        </a:rPr>
                        <a:t>Oostduinkerke aan zee, A</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-16,8</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570"/>
                    </a:solidFill>
                  </a:tcPr>
                </a:tc>
                <a:tc>
                  <a:txBody>
                    <a:bodyPr/>
                    <a:lstStyle/>
                    <a:p>
                      <a:pPr algn="r" fontAlgn="b">
                        <a:buNone/>
                      </a:pPr>
                      <a:r>
                        <a:rPr lang="fr-FR" sz="1000" b="0" i="0" u="none" strike="noStrike">
                          <a:solidFill>
                            <a:srgbClr val="000000"/>
                          </a:solidFill>
                          <a:effectLst/>
                          <a:latin typeface="Aptos Narrow" panose="020B0004020202020204" pitchFamily="34" charset="0"/>
                        </a:rPr>
                        <a:t>1,1</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B7E"/>
                    </a:solidFill>
                  </a:tcPr>
                </a:tc>
                <a:tc>
                  <a:txBody>
                    <a:bodyPr/>
                    <a:lstStyle/>
                    <a:p>
                      <a:pPr algn="r" fontAlgn="b">
                        <a:buNone/>
                      </a:pPr>
                      <a:r>
                        <a:rPr lang="fr-FR" sz="1000" b="0" i="0" u="none" strike="noStrike">
                          <a:solidFill>
                            <a:srgbClr val="FF0000"/>
                          </a:solidFill>
                          <a:effectLst/>
                          <a:latin typeface="Aptos Narrow" panose="020B0004020202020204" pitchFamily="34" charset="0"/>
                        </a:rPr>
                        <a:t>-17,8</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2369286"/>
                  </a:ext>
                </a:extLst>
              </a:tr>
              <a:tr h="172819">
                <a:tc>
                  <a:txBody>
                    <a:bodyPr/>
                    <a:lstStyle/>
                    <a:p>
                      <a:pPr algn="l" fontAlgn="b">
                        <a:buNone/>
                      </a:pPr>
                      <a:r>
                        <a:rPr lang="fr-FR" sz="1000" b="0" i="0" u="none" strike="noStrike">
                          <a:solidFill>
                            <a:srgbClr val="000000"/>
                          </a:solidFill>
                          <a:effectLst/>
                          <a:latin typeface="Aptos Narrow" panose="020B0004020202020204" pitchFamily="34" charset="0"/>
                        </a:rPr>
                        <a:t>Oostduinkerke aan zee, R</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5,4</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D81"/>
                    </a:solidFill>
                  </a:tcPr>
                </a:tc>
                <a:tc>
                  <a:txBody>
                    <a:bodyPr/>
                    <a:lstStyle/>
                    <a:p>
                      <a:pPr algn="r" fontAlgn="b">
                        <a:buNone/>
                      </a:pPr>
                      <a:r>
                        <a:rPr lang="fr-FR" sz="1000" b="0" i="0" u="none" strike="noStrike">
                          <a:solidFill>
                            <a:srgbClr val="000000"/>
                          </a:solidFill>
                          <a:effectLst/>
                          <a:latin typeface="Aptos Narrow" panose="020B0004020202020204" pitchFamily="34" charset="0"/>
                        </a:rPr>
                        <a:t>8,7</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983"/>
                    </a:solidFill>
                  </a:tcPr>
                </a:tc>
                <a:tc>
                  <a:txBody>
                    <a:bodyPr/>
                    <a:lstStyle/>
                    <a:p>
                      <a:pPr algn="r" fontAlgn="b">
                        <a:buNone/>
                      </a:pPr>
                      <a:r>
                        <a:rPr lang="fr-FR" sz="1000" b="0" i="0" u="none" strike="noStrike">
                          <a:solidFill>
                            <a:srgbClr val="FF0000"/>
                          </a:solidFill>
                          <a:effectLst/>
                          <a:latin typeface="Aptos Narrow" panose="020B0004020202020204" pitchFamily="34" charset="0"/>
                        </a:rPr>
                        <a:t>-3,3</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31357833"/>
                  </a:ext>
                </a:extLst>
              </a:tr>
              <a:tr h="172819">
                <a:tc>
                  <a:txBody>
                    <a:bodyPr/>
                    <a:lstStyle/>
                    <a:p>
                      <a:pPr algn="l" fontAlgn="b">
                        <a:buNone/>
                      </a:pPr>
                      <a:r>
                        <a:rPr lang="fr-FR" sz="1000" b="0" i="0" u="none" strike="noStrike">
                          <a:solidFill>
                            <a:srgbClr val="000000"/>
                          </a:solidFill>
                          <a:effectLst/>
                          <a:latin typeface="Aptos Narrow" panose="020B0004020202020204" pitchFamily="34" charset="0"/>
                        </a:rPr>
                        <a:t>Oostduinkerke aan zee, T</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-20,2</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86D"/>
                    </a:solidFill>
                  </a:tcPr>
                </a:tc>
                <a:tc>
                  <a:txBody>
                    <a:bodyPr/>
                    <a:lstStyle/>
                    <a:p>
                      <a:pPr algn="r" fontAlgn="b">
                        <a:buNone/>
                      </a:pPr>
                      <a:r>
                        <a:rPr lang="fr-FR" sz="1000" b="0" i="0" u="none" strike="noStrike">
                          <a:solidFill>
                            <a:srgbClr val="000000"/>
                          </a:solidFill>
                          <a:effectLst/>
                          <a:latin typeface="Aptos Narrow" panose="020B0004020202020204" pitchFamily="34" charset="0"/>
                        </a:rPr>
                        <a:t>-12,4</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773"/>
                    </a:solidFill>
                  </a:tcPr>
                </a:tc>
                <a:tc>
                  <a:txBody>
                    <a:bodyPr/>
                    <a:lstStyle/>
                    <a:p>
                      <a:pPr algn="r" fontAlgn="b">
                        <a:buNone/>
                      </a:pPr>
                      <a:r>
                        <a:rPr lang="fr-FR" sz="1000" b="0" i="0" u="none" strike="noStrike">
                          <a:solidFill>
                            <a:srgbClr val="FF0000"/>
                          </a:solidFill>
                          <a:effectLst/>
                          <a:latin typeface="Aptos Narrow" panose="020B0004020202020204" pitchFamily="34" charset="0"/>
                        </a:rPr>
                        <a:t>-7,8</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61470760"/>
                  </a:ext>
                </a:extLst>
              </a:tr>
              <a:tr h="172819">
                <a:tc>
                  <a:txBody>
                    <a:bodyPr/>
                    <a:lstStyle/>
                    <a:p>
                      <a:pPr algn="l" fontAlgn="b">
                        <a:buNone/>
                      </a:pPr>
                      <a:r>
                        <a:rPr lang="fr-FR" sz="1000" b="1" i="0" u="none" strike="noStrike">
                          <a:solidFill>
                            <a:srgbClr val="000000"/>
                          </a:solidFill>
                          <a:effectLst/>
                          <a:latin typeface="Aptos Narrow" panose="020B0004020202020204" pitchFamily="34" charset="0"/>
                        </a:rPr>
                        <a:t>Park De Haan, Subtotal</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7,7</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683"/>
                    </a:solidFill>
                  </a:tcPr>
                </a:tc>
                <a:tc>
                  <a:txBody>
                    <a:bodyPr/>
                    <a:lstStyle/>
                    <a:p>
                      <a:pPr algn="r" fontAlgn="b">
                        <a:buNone/>
                      </a:pPr>
                      <a:r>
                        <a:rPr lang="fr-FR" sz="1000" b="1" i="0" u="none" strike="noStrike">
                          <a:solidFill>
                            <a:srgbClr val="000000"/>
                          </a:solidFill>
                          <a:effectLst/>
                          <a:latin typeface="Aptos Narrow" panose="020B0004020202020204" pitchFamily="34" charset="0"/>
                        </a:rPr>
                        <a:t>-1,0</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37C"/>
                    </a:solidFill>
                  </a:tcPr>
                </a:tc>
                <a:tc>
                  <a:txBody>
                    <a:bodyPr/>
                    <a:lstStyle/>
                    <a:p>
                      <a:pPr algn="r" fontAlgn="b">
                        <a:buNone/>
                      </a:pPr>
                      <a:r>
                        <a:rPr lang="fr-FR" sz="1000" b="1" i="0" u="none" strike="noStrike">
                          <a:solidFill>
                            <a:srgbClr val="00B050"/>
                          </a:solidFill>
                          <a:effectLst/>
                          <a:latin typeface="Aptos Narrow" panose="020B0004020202020204" pitchFamily="34" charset="0"/>
                        </a:rPr>
                        <a:t>8,7</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79637693"/>
                  </a:ext>
                </a:extLst>
              </a:tr>
              <a:tr h="172819">
                <a:tc>
                  <a:txBody>
                    <a:bodyPr/>
                    <a:lstStyle/>
                    <a:p>
                      <a:pPr algn="l" fontAlgn="b">
                        <a:buNone/>
                      </a:pPr>
                      <a:r>
                        <a:rPr lang="fr-FR" sz="1000" b="0" i="0" u="none" strike="noStrike">
                          <a:solidFill>
                            <a:srgbClr val="000000"/>
                          </a:solidFill>
                          <a:effectLst/>
                          <a:latin typeface="Aptos Narrow" panose="020B0004020202020204" pitchFamily="34" charset="0"/>
                        </a:rPr>
                        <a:t>Park De Haan, A</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1,3</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C7E"/>
                    </a:solidFill>
                  </a:tcPr>
                </a:tc>
                <a:tc>
                  <a:txBody>
                    <a:bodyPr/>
                    <a:lstStyle/>
                    <a:p>
                      <a:pPr algn="r" fontAlgn="b">
                        <a:buNone/>
                      </a:pPr>
                      <a:r>
                        <a:rPr lang="fr-FR" sz="1000" b="0" i="0" u="none" strike="noStrike">
                          <a:solidFill>
                            <a:srgbClr val="000000"/>
                          </a:solidFill>
                          <a:effectLst/>
                          <a:latin typeface="Aptos Narrow" panose="020B0004020202020204" pitchFamily="34" charset="0"/>
                        </a:rPr>
                        <a:t>-5,6</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B179"/>
                    </a:solidFill>
                  </a:tcPr>
                </a:tc>
                <a:tc>
                  <a:txBody>
                    <a:bodyPr/>
                    <a:lstStyle/>
                    <a:p>
                      <a:pPr algn="r" fontAlgn="b">
                        <a:buNone/>
                      </a:pPr>
                      <a:r>
                        <a:rPr lang="fr-FR" sz="1000" b="0" i="0" u="none" strike="noStrike">
                          <a:solidFill>
                            <a:srgbClr val="00B050"/>
                          </a:solidFill>
                          <a:effectLst/>
                          <a:latin typeface="Aptos Narrow" panose="020B0004020202020204" pitchFamily="34" charset="0"/>
                        </a:rPr>
                        <a:t>6,9</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68427413"/>
                  </a:ext>
                </a:extLst>
              </a:tr>
              <a:tr h="172819">
                <a:tc>
                  <a:txBody>
                    <a:bodyPr/>
                    <a:lstStyle/>
                    <a:p>
                      <a:pPr algn="l" fontAlgn="b">
                        <a:buNone/>
                      </a:pPr>
                      <a:r>
                        <a:rPr lang="fr-FR" sz="1000" b="0" i="0" u="none" strike="noStrike">
                          <a:solidFill>
                            <a:srgbClr val="000000"/>
                          </a:solidFill>
                          <a:effectLst/>
                          <a:latin typeface="Aptos Narrow" panose="020B0004020202020204" pitchFamily="34" charset="0"/>
                        </a:rPr>
                        <a:t>Park De Haan, R</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9,2</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B84"/>
                    </a:solidFill>
                  </a:tcPr>
                </a:tc>
                <a:tc>
                  <a:txBody>
                    <a:bodyPr/>
                    <a:lstStyle/>
                    <a:p>
                      <a:pPr algn="r" fontAlgn="b">
                        <a:buNone/>
                      </a:pPr>
                      <a:r>
                        <a:rPr lang="fr-FR" sz="1000" b="0" i="0" u="none" strike="noStrike">
                          <a:solidFill>
                            <a:srgbClr val="000000"/>
                          </a:solidFill>
                          <a:effectLst/>
                          <a:latin typeface="Aptos Narrow" panose="020B0004020202020204" pitchFamily="34" charset="0"/>
                        </a:rPr>
                        <a:t>-0,1</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77D"/>
                    </a:solidFill>
                  </a:tcPr>
                </a:tc>
                <a:tc>
                  <a:txBody>
                    <a:bodyPr/>
                    <a:lstStyle/>
                    <a:p>
                      <a:pPr algn="r" fontAlgn="b">
                        <a:buNone/>
                      </a:pPr>
                      <a:r>
                        <a:rPr lang="fr-FR" sz="1000" b="0" i="0" u="none" strike="noStrike">
                          <a:solidFill>
                            <a:srgbClr val="00B050"/>
                          </a:solidFill>
                          <a:effectLst/>
                          <a:latin typeface="Aptos Narrow" panose="020B0004020202020204" pitchFamily="34" charset="0"/>
                        </a:rPr>
                        <a:t>9,3</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62451643"/>
                  </a:ext>
                </a:extLst>
              </a:tr>
              <a:tr h="172819">
                <a:tc>
                  <a:txBody>
                    <a:bodyPr/>
                    <a:lstStyle/>
                    <a:p>
                      <a:pPr algn="l" fontAlgn="b">
                        <a:buNone/>
                      </a:pPr>
                      <a:r>
                        <a:rPr lang="fr-FR" sz="1000" b="0" i="0" u="none" strike="noStrike">
                          <a:solidFill>
                            <a:srgbClr val="000000"/>
                          </a:solidFill>
                          <a:effectLst/>
                          <a:latin typeface="Aptos Narrow" panose="020B0004020202020204" pitchFamily="34" charset="0"/>
                        </a:rPr>
                        <a:t>Park De Haan, T</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6,1</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F81"/>
                    </a:solidFill>
                  </a:tcPr>
                </a:tc>
                <a:tc>
                  <a:txBody>
                    <a:bodyPr/>
                    <a:lstStyle/>
                    <a:p>
                      <a:pPr algn="r" fontAlgn="b">
                        <a:buNone/>
                      </a:pPr>
                      <a:r>
                        <a:rPr lang="fr-FR" sz="1000" b="0" i="0" u="none" strike="noStrike">
                          <a:solidFill>
                            <a:srgbClr val="000000"/>
                          </a:solidFill>
                          <a:effectLst/>
                          <a:latin typeface="Aptos Narrow" panose="020B0004020202020204" pitchFamily="34" charset="0"/>
                        </a:rPr>
                        <a:t>-1,7</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17B"/>
                    </a:solidFill>
                  </a:tcPr>
                </a:tc>
                <a:tc>
                  <a:txBody>
                    <a:bodyPr/>
                    <a:lstStyle/>
                    <a:p>
                      <a:pPr algn="r" fontAlgn="b">
                        <a:buNone/>
                      </a:pPr>
                      <a:r>
                        <a:rPr lang="fr-FR" sz="1000" b="0" i="0" u="none" strike="noStrike">
                          <a:solidFill>
                            <a:srgbClr val="00B050"/>
                          </a:solidFill>
                          <a:effectLst/>
                          <a:latin typeface="Aptos Narrow" panose="020B0004020202020204" pitchFamily="34" charset="0"/>
                        </a:rPr>
                        <a:t>7,8</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22598387"/>
                  </a:ext>
                </a:extLst>
              </a:tr>
              <a:tr h="172819">
                <a:tc>
                  <a:txBody>
                    <a:bodyPr/>
                    <a:lstStyle/>
                    <a:p>
                      <a:pPr algn="l" fontAlgn="b">
                        <a:buNone/>
                      </a:pPr>
                      <a:r>
                        <a:rPr lang="fr-FR" sz="1000" b="1" i="0" u="none" strike="noStrike">
                          <a:solidFill>
                            <a:srgbClr val="000000"/>
                          </a:solidFill>
                          <a:effectLst/>
                          <a:latin typeface="Aptos Narrow" panose="020B0004020202020204" pitchFamily="34" charset="0"/>
                        </a:rPr>
                        <a:t>Terhills Resort, Subtotal</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57,4</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CC17C"/>
                    </a:solidFill>
                  </a:tcPr>
                </a:tc>
                <a:tc>
                  <a:txBody>
                    <a:bodyPr/>
                    <a:lstStyle/>
                    <a:p>
                      <a:pPr algn="r" fontAlgn="b">
                        <a:buNone/>
                      </a:pPr>
                      <a:r>
                        <a:rPr lang="fr-FR" sz="1000" b="1" i="0" u="none" strike="noStrike">
                          <a:solidFill>
                            <a:srgbClr val="000000"/>
                          </a:solidFill>
                          <a:effectLst/>
                          <a:latin typeface="Aptos Narrow" panose="020B0004020202020204" pitchFamily="34" charset="0"/>
                        </a:rPr>
                        <a:t>51,3</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EC67D"/>
                    </a:solidFill>
                  </a:tcPr>
                </a:tc>
                <a:tc>
                  <a:txBody>
                    <a:bodyPr/>
                    <a:lstStyle/>
                    <a:p>
                      <a:pPr algn="r" fontAlgn="b">
                        <a:buNone/>
                      </a:pPr>
                      <a:r>
                        <a:rPr lang="fr-FR" sz="1000" b="1" i="0" u="none" strike="noStrike">
                          <a:solidFill>
                            <a:srgbClr val="00B050"/>
                          </a:solidFill>
                          <a:effectLst/>
                          <a:latin typeface="Aptos Narrow" panose="020B0004020202020204" pitchFamily="34" charset="0"/>
                        </a:rPr>
                        <a:t>6,1</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1214911"/>
                  </a:ext>
                </a:extLst>
              </a:tr>
              <a:tr h="172819">
                <a:tc>
                  <a:txBody>
                    <a:bodyPr/>
                    <a:lstStyle/>
                    <a:p>
                      <a:pPr algn="l" fontAlgn="b">
                        <a:buNone/>
                      </a:pPr>
                      <a:r>
                        <a:rPr lang="fr-FR" sz="1000" b="0" i="0" u="none" strike="noStrike">
                          <a:solidFill>
                            <a:srgbClr val="000000"/>
                          </a:solidFill>
                          <a:effectLst/>
                          <a:latin typeface="Aptos Narrow" panose="020B0004020202020204" pitchFamily="34" charset="0"/>
                        </a:rPr>
                        <a:t>Terhills Resort, A</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56,2</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FC27C"/>
                    </a:solidFill>
                  </a:tcPr>
                </a:tc>
                <a:tc>
                  <a:txBody>
                    <a:bodyPr/>
                    <a:lstStyle/>
                    <a:p>
                      <a:pPr algn="r" fontAlgn="b">
                        <a:buNone/>
                      </a:pPr>
                      <a:r>
                        <a:rPr lang="fr-FR" sz="1000" b="0" i="0" u="none" strike="noStrike">
                          <a:solidFill>
                            <a:srgbClr val="000000"/>
                          </a:solidFill>
                          <a:effectLst/>
                          <a:latin typeface="Aptos Narrow" panose="020B0004020202020204" pitchFamily="34" charset="0"/>
                        </a:rPr>
                        <a:t>42,7</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9CE7F"/>
                    </a:solidFill>
                  </a:tcPr>
                </a:tc>
                <a:tc>
                  <a:txBody>
                    <a:bodyPr/>
                    <a:lstStyle/>
                    <a:p>
                      <a:pPr algn="r" fontAlgn="b">
                        <a:buNone/>
                      </a:pPr>
                      <a:r>
                        <a:rPr lang="fr-FR" sz="1000" b="0" i="0" u="none" strike="noStrike">
                          <a:solidFill>
                            <a:srgbClr val="00B050"/>
                          </a:solidFill>
                          <a:effectLst/>
                          <a:latin typeface="Aptos Narrow" panose="020B0004020202020204" pitchFamily="34" charset="0"/>
                        </a:rPr>
                        <a:t>13,5</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93505281"/>
                  </a:ext>
                </a:extLst>
              </a:tr>
              <a:tr h="172819">
                <a:tc>
                  <a:txBody>
                    <a:bodyPr/>
                    <a:lstStyle/>
                    <a:p>
                      <a:pPr algn="l" fontAlgn="b">
                        <a:buNone/>
                      </a:pPr>
                      <a:r>
                        <a:rPr lang="fr-FR" sz="1000" b="0" i="0" u="none" strike="noStrike">
                          <a:solidFill>
                            <a:srgbClr val="000000"/>
                          </a:solidFill>
                          <a:effectLst/>
                          <a:latin typeface="Aptos Narrow" panose="020B0004020202020204" pitchFamily="34" charset="0"/>
                        </a:rPr>
                        <a:t>Terhills Resort, R</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55,5</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1C37C"/>
                    </a:solidFill>
                  </a:tcPr>
                </a:tc>
                <a:tc>
                  <a:txBody>
                    <a:bodyPr/>
                    <a:lstStyle/>
                    <a:p>
                      <a:pPr algn="r" fontAlgn="b">
                        <a:buNone/>
                      </a:pPr>
                      <a:r>
                        <a:rPr lang="fr-FR" sz="1000" b="0" i="0" u="none" strike="noStrike">
                          <a:solidFill>
                            <a:srgbClr val="000000"/>
                          </a:solidFill>
                          <a:effectLst/>
                          <a:latin typeface="Aptos Narrow" panose="020B0004020202020204" pitchFamily="34" charset="0"/>
                        </a:rPr>
                        <a:t>50,9</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0C77D"/>
                    </a:solidFill>
                  </a:tcPr>
                </a:tc>
                <a:tc>
                  <a:txBody>
                    <a:bodyPr/>
                    <a:lstStyle/>
                    <a:p>
                      <a:pPr algn="r" fontAlgn="b">
                        <a:buNone/>
                      </a:pPr>
                      <a:r>
                        <a:rPr lang="fr-FR" sz="1000" b="0" i="0" u="none" strike="noStrike">
                          <a:solidFill>
                            <a:srgbClr val="00B050"/>
                          </a:solidFill>
                          <a:effectLst/>
                          <a:latin typeface="Aptos Narrow" panose="020B0004020202020204" pitchFamily="34" charset="0"/>
                        </a:rPr>
                        <a:t>4,6</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22343010"/>
                  </a:ext>
                </a:extLst>
              </a:tr>
              <a:tr h="172819">
                <a:tc>
                  <a:txBody>
                    <a:bodyPr/>
                    <a:lstStyle/>
                    <a:p>
                      <a:pPr algn="l" fontAlgn="b">
                        <a:buNone/>
                      </a:pPr>
                      <a:r>
                        <a:rPr lang="fr-FR" sz="1000" b="0" i="0" u="none" strike="noStrike">
                          <a:solidFill>
                            <a:srgbClr val="000000"/>
                          </a:solidFill>
                          <a:effectLst/>
                          <a:latin typeface="Aptos Narrow" panose="020B0004020202020204" pitchFamily="34" charset="0"/>
                        </a:rPr>
                        <a:t>Terhills Resort, T</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60,1</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1000" b="0" i="0" u="none" strike="noStrike">
                          <a:solidFill>
                            <a:srgbClr val="000000"/>
                          </a:solidFill>
                          <a:effectLst/>
                          <a:latin typeface="Aptos Narrow" panose="020B0004020202020204" pitchFamily="34" charset="0"/>
                        </a:rPr>
                        <a:t>52,7</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AC57D"/>
                    </a:solidFill>
                  </a:tcPr>
                </a:tc>
                <a:tc>
                  <a:txBody>
                    <a:bodyPr/>
                    <a:lstStyle/>
                    <a:p>
                      <a:pPr algn="r" fontAlgn="b">
                        <a:buNone/>
                      </a:pPr>
                      <a:r>
                        <a:rPr lang="fr-FR" sz="1000" b="0" i="0" u="none" strike="noStrike">
                          <a:solidFill>
                            <a:srgbClr val="00B050"/>
                          </a:solidFill>
                          <a:effectLst/>
                          <a:latin typeface="Aptos Narrow" panose="020B0004020202020204" pitchFamily="34" charset="0"/>
                        </a:rPr>
                        <a:t>7,3</a:t>
                      </a:r>
                    </a:p>
                  </a:txBody>
                  <a:tcPr marL="4911" marR="4911" marT="491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69052638"/>
                  </a:ext>
                </a:extLst>
              </a:tr>
            </a:tbl>
          </a:graphicData>
        </a:graphic>
      </p:graphicFrame>
    </p:spTree>
    <p:extLst>
      <p:ext uri="{BB962C8B-B14F-4D97-AF65-F5344CB8AC3E}">
        <p14:creationId xmlns:p14="http://schemas.microsoft.com/office/powerpoint/2010/main" val="2365391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5BA4D-0B9C-3810-8F26-17771C736CB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524E5F-F00B-B5CF-D43E-9AA2BCD6547F}"/>
              </a:ext>
            </a:extLst>
          </p:cNvPr>
          <p:cNvSpPr>
            <a:spLocks noGrp="1"/>
          </p:cNvSpPr>
          <p:nvPr>
            <p:ph type="sldNum" sz="quarter" idx="12"/>
          </p:nvPr>
        </p:nvSpPr>
        <p:spPr/>
        <p:txBody>
          <a:bodyPr/>
          <a:lstStyle/>
          <a:p>
            <a:fld id="{0D2E6A04-B99A-6C4D-8942-945F97C9E705}" type="slidenum">
              <a:rPr lang="en-US" smtClean="0"/>
              <a:pPr/>
              <a:t>19</a:t>
            </a:fld>
            <a:endParaRPr lang="en-US"/>
          </a:p>
        </p:txBody>
      </p:sp>
      <p:sp>
        <p:nvSpPr>
          <p:cNvPr id="3" name="Date Placeholder 2">
            <a:extLst>
              <a:ext uri="{FF2B5EF4-FFF2-40B4-BE49-F238E27FC236}">
                <a16:creationId xmlns:a16="http://schemas.microsoft.com/office/drawing/2014/main" id="{0C204E13-A58A-11F2-8E58-EFC4AB2D1C37}"/>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6D2E0C6B-AF03-8351-760C-6CE9812EADA9}"/>
              </a:ext>
            </a:extLst>
          </p:cNvPr>
          <p:cNvSpPr>
            <a:spLocks noGrp="1"/>
          </p:cNvSpPr>
          <p:nvPr>
            <p:ph type="title"/>
          </p:nvPr>
        </p:nvSpPr>
        <p:spPr/>
        <p:txBody>
          <a:bodyPr/>
          <a:lstStyle/>
          <a:p>
            <a:r>
              <a:rPr lang="fr-FR"/>
              <a:t>Belgium – NPS per </a:t>
            </a:r>
            <a:r>
              <a:rPr lang="fr-FR" err="1"/>
              <a:t>household</a:t>
            </a:r>
            <a:r>
              <a:rPr lang="fr-FR"/>
              <a:t> structure</a:t>
            </a:r>
          </a:p>
        </p:txBody>
      </p:sp>
      <p:sp>
        <p:nvSpPr>
          <p:cNvPr id="7" name="Rechthoek 4">
            <a:extLst>
              <a:ext uri="{FF2B5EF4-FFF2-40B4-BE49-F238E27FC236}">
                <a16:creationId xmlns:a16="http://schemas.microsoft.com/office/drawing/2014/main" id="{F1146DA2-8FDA-EE52-0E30-D1B34E420A4B}"/>
              </a:ext>
            </a:extLst>
          </p:cNvPr>
          <p:cNvSpPr/>
          <p:nvPr/>
        </p:nvSpPr>
        <p:spPr>
          <a:xfrm>
            <a:off x="-1" y="978100"/>
            <a:ext cx="6934201" cy="1696720"/>
          </a:xfrm>
          <a:prstGeom prst="rect">
            <a:avLst/>
          </a:prstGeom>
          <a:solidFill>
            <a:schemeClr val="bg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Data are slightly different because a part of total booking don’t get household structure information.</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Belgium parks increased on all household structure.</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Only De Vossemeren lost few points on 5-17 years old.</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Seniors and family with 3;11 are the highest NPS.</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0;2 and 12;17 are the lowest NPS.</a:t>
            </a:r>
            <a:endParaRPr lang="en-US" sz="1200">
              <a:solidFill>
                <a:schemeClr val="tx2"/>
              </a:solidFill>
              <a:latin typeface="+mj-lt"/>
              <a:ea typeface="Calibri"/>
              <a:cs typeface="Calibri"/>
            </a:endParaRPr>
          </a:p>
        </p:txBody>
      </p:sp>
      <p:sp>
        <p:nvSpPr>
          <p:cNvPr id="8" name="Rectangle 7">
            <a:extLst>
              <a:ext uri="{FF2B5EF4-FFF2-40B4-BE49-F238E27FC236}">
                <a16:creationId xmlns:a16="http://schemas.microsoft.com/office/drawing/2014/main" id="{9BBCB8AD-1575-C9F2-6EE6-ED0012AA4BA3}"/>
              </a:ext>
            </a:extLst>
          </p:cNvPr>
          <p:cNvSpPr/>
          <p:nvPr/>
        </p:nvSpPr>
        <p:spPr>
          <a:xfrm rot="16200000">
            <a:off x="-617105" y="1646060"/>
            <a:ext cx="1656000"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bg2"/>
                </a:solidFill>
                <a:ea typeface="Calibri"/>
                <a:cs typeface="Calibri"/>
              </a:rPr>
              <a:t>Analysis</a:t>
            </a:r>
            <a:endParaRPr lang="en-US" sz="1100">
              <a:solidFill>
                <a:schemeClr val="bg2"/>
              </a:solidFill>
            </a:endParaRPr>
          </a:p>
        </p:txBody>
      </p:sp>
      <p:graphicFrame>
        <p:nvGraphicFramePr>
          <p:cNvPr id="15" name="Table 14">
            <a:extLst>
              <a:ext uri="{FF2B5EF4-FFF2-40B4-BE49-F238E27FC236}">
                <a16:creationId xmlns:a16="http://schemas.microsoft.com/office/drawing/2014/main" id="{6BCC626F-A4B5-247E-EC21-53785A0F898C}"/>
              </a:ext>
            </a:extLst>
          </p:cNvPr>
          <p:cNvGraphicFramePr>
            <a:graphicFrameLocks noGrp="1"/>
          </p:cNvGraphicFramePr>
          <p:nvPr>
            <p:extLst>
              <p:ext uri="{D42A27DB-BD31-4B8C-83A1-F6EECF244321}">
                <p14:modId xmlns:p14="http://schemas.microsoft.com/office/powerpoint/2010/main" val="1624991534"/>
              </p:ext>
            </p:extLst>
          </p:nvPr>
        </p:nvGraphicFramePr>
        <p:xfrm>
          <a:off x="357482" y="3108233"/>
          <a:ext cx="3496012" cy="2939452"/>
        </p:xfrm>
        <a:graphic>
          <a:graphicData uri="http://schemas.openxmlformats.org/drawingml/2006/table">
            <a:tbl>
              <a:tblPr/>
              <a:tblGrid>
                <a:gridCol w="2238229">
                  <a:extLst>
                    <a:ext uri="{9D8B030D-6E8A-4147-A177-3AD203B41FA5}">
                      <a16:colId xmlns:a16="http://schemas.microsoft.com/office/drawing/2014/main" val="1484187195"/>
                    </a:ext>
                  </a:extLst>
                </a:gridCol>
                <a:gridCol w="419261">
                  <a:extLst>
                    <a:ext uri="{9D8B030D-6E8A-4147-A177-3AD203B41FA5}">
                      <a16:colId xmlns:a16="http://schemas.microsoft.com/office/drawing/2014/main" val="4032238798"/>
                    </a:ext>
                  </a:extLst>
                </a:gridCol>
                <a:gridCol w="419261">
                  <a:extLst>
                    <a:ext uri="{9D8B030D-6E8A-4147-A177-3AD203B41FA5}">
                      <a16:colId xmlns:a16="http://schemas.microsoft.com/office/drawing/2014/main" val="889950018"/>
                    </a:ext>
                  </a:extLst>
                </a:gridCol>
                <a:gridCol w="419261">
                  <a:extLst>
                    <a:ext uri="{9D8B030D-6E8A-4147-A177-3AD203B41FA5}">
                      <a16:colId xmlns:a16="http://schemas.microsoft.com/office/drawing/2014/main" val="1347582527"/>
                    </a:ext>
                  </a:extLst>
                </a:gridCol>
              </a:tblGrid>
              <a:tr h="111356">
                <a:tc>
                  <a:txBody>
                    <a:bodyPr/>
                    <a:lstStyle/>
                    <a:p>
                      <a:pPr algn="l" fontAlgn="b">
                        <a:buNone/>
                      </a:pPr>
                      <a:r>
                        <a:rPr lang="fr-FR" sz="1000" b="0" i="0" u="none" strike="noStrike">
                          <a:solidFill>
                            <a:srgbClr val="000000"/>
                          </a:solidFill>
                          <a:effectLst/>
                          <a:latin typeface="Aptos Narrow" panose="020B0004020202020204" pitchFamily="34" charset="0"/>
                        </a:rPr>
                        <a:t>NPS</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1000" b="1" i="0" u="none" strike="noStrike">
                          <a:solidFill>
                            <a:srgbClr val="000000"/>
                          </a:solidFill>
                          <a:effectLst/>
                          <a:latin typeface="Aptos Narrow" panose="020B0004020202020204" pitchFamily="34" charset="0"/>
                        </a:rPr>
                        <a:t>FY25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1000" b="1" i="0" u="none" strike="noStrike">
                          <a:solidFill>
                            <a:srgbClr val="000000"/>
                          </a:solidFill>
                          <a:effectLst/>
                          <a:latin typeface="Aptos Narrow" panose="020B0004020202020204" pitchFamily="34" charset="0"/>
                        </a:rPr>
                        <a:t>FY24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1000" b="1" i="0" u="none" strike="noStrike">
                          <a:solidFill>
                            <a:srgbClr val="000000"/>
                          </a:solidFill>
                          <a:effectLst/>
                          <a:latin typeface="Aptos Narrow" panose="020B0004020202020204" pitchFamily="34" charset="0"/>
                        </a:rPr>
                        <a:t>Evol</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48335577"/>
                  </a:ext>
                </a:extLst>
              </a:tr>
              <a:tr h="111356">
                <a:tc>
                  <a:txBody>
                    <a:bodyPr/>
                    <a:lstStyle/>
                    <a:p>
                      <a:pPr algn="l" fontAlgn="b">
                        <a:buNone/>
                      </a:pPr>
                      <a:r>
                        <a:rPr lang="fr-FR" sz="1000" b="1" i="0" u="none" strike="noStrike">
                          <a:solidFill>
                            <a:srgbClr val="000000"/>
                          </a:solidFill>
                          <a:effectLst/>
                          <a:latin typeface="Aptos Narrow" panose="020B0004020202020204" pitchFamily="34" charset="0"/>
                        </a:rPr>
                        <a:t>De Vossemeren, Subtotal</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34,0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EA84"/>
                    </a:solidFill>
                  </a:tcPr>
                </a:tc>
                <a:tc>
                  <a:txBody>
                    <a:bodyPr/>
                    <a:lstStyle/>
                    <a:p>
                      <a:pPr algn="r" fontAlgn="b">
                        <a:buNone/>
                      </a:pPr>
                      <a:r>
                        <a:rPr lang="fr-FR" sz="1000" b="1" i="0" u="none" strike="noStrike">
                          <a:solidFill>
                            <a:srgbClr val="000000"/>
                          </a:solidFill>
                          <a:effectLst/>
                          <a:latin typeface="Aptos Narrow" panose="020B0004020202020204" pitchFamily="34" charset="0"/>
                        </a:rPr>
                        <a:t>34,3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E984"/>
                    </a:solidFill>
                  </a:tcPr>
                </a:tc>
                <a:tc>
                  <a:txBody>
                    <a:bodyPr/>
                    <a:lstStyle/>
                    <a:p>
                      <a:pPr algn="r" fontAlgn="b">
                        <a:buNone/>
                      </a:pPr>
                      <a:r>
                        <a:rPr lang="fr-FR" sz="1000" b="1" i="0" u="none" strike="noStrike">
                          <a:solidFill>
                            <a:srgbClr val="FF0000"/>
                          </a:solidFill>
                          <a:effectLst/>
                          <a:latin typeface="Aptos Narrow" panose="020B0004020202020204" pitchFamily="34" charset="0"/>
                        </a:rPr>
                        <a:t>-0,3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64568750"/>
                  </a:ext>
                </a:extLst>
              </a:tr>
              <a:tr h="111356">
                <a:tc>
                  <a:txBody>
                    <a:bodyPr/>
                    <a:lstStyle/>
                    <a:p>
                      <a:pPr algn="l" fontAlgn="b">
                        <a:buNone/>
                      </a:pPr>
                      <a:r>
                        <a:rPr lang="fr-FR" sz="1000" b="0" i="0" u="none" strike="noStrike">
                          <a:solidFill>
                            <a:srgbClr val="000000"/>
                          </a:solidFill>
                          <a:effectLst/>
                          <a:latin typeface="Aptos Narrow" panose="020B0004020202020204" pitchFamily="34" charset="0"/>
                        </a:rPr>
                        <a:t>De Vossemeren, </a:t>
                      </a:r>
                      <a:r>
                        <a:rPr lang="fr-FR" sz="1000" b="0" i="0" u="none" strike="noStrike" err="1">
                          <a:solidFill>
                            <a:srgbClr val="000000"/>
                          </a:solidFill>
                          <a:effectLst/>
                          <a:latin typeface="Aptos Narrow" panose="020B0004020202020204" pitchFamily="34" charset="0"/>
                        </a:rPr>
                        <a:t>Adults</a:t>
                      </a:r>
                      <a:r>
                        <a:rPr lang="fr-FR" sz="1000" b="0" i="0" u="none" strike="noStrike">
                          <a:solidFill>
                            <a:srgbClr val="000000"/>
                          </a:solidFill>
                          <a:effectLst/>
                          <a:latin typeface="Aptos Narrow" panose="020B0004020202020204" pitchFamily="34" charset="0"/>
                        </a:rPr>
                        <a:t> 35-54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35,9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1E784"/>
                    </a:solidFill>
                  </a:tcPr>
                </a:tc>
                <a:tc>
                  <a:txBody>
                    <a:bodyPr/>
                    <a:lstStyle/>
                    <a:p>
                      <a:pPr algn="r" fontAlgn="b">
                        <a:buNone/>
                      </a:pPr>
                      <a:r>
                        <a:rPr lang="fr-FR" sz="1000" b="0" i="0" u="none" strike="noStrike">
                          <a:solidFill>
                            <a:srgbClr val="000000"/>
                          </a:solidFill>
                          <a:effectLst/>
                          <a:latin typeface="Aptos Narrow" panose="020B0004020202020204" pitchFamily="34" charset="0"/>
                        </a:rPr>
                        <a:t>33,6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EA84"/>
                    </a:solidFill>
                  </a:tcPr>
                </a:tc>
                <a:tc>
                  <a:txBody>
                    <a:bodyPr/>
                    <a:lstStyle/>
                    <a:p>
                      <a:pPr algn="r" fontAlgn="b">
                        <a:buNone/>
                      </a:pPr>
                      <a:r>
                        <a:rPr lang="fr-FR" sz="1000" b="0" i="0" u="none" strike="noStrike">
                          <a:solidFill>
                            <a:srgbClr val="00B050"/>
                          </a:solidFill>
                          <a:effectLst/>
                          <a:latin typeface="Aptos Narrow" panose="020B0004020202020204" pitchFamily="34" charset="0"/>
                        </a:rPr>
                        <a:t>2,3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52526943"/>
                  </a:ext>
                </a:extLst>
              </a:tr>
              <a:tr h="111356">
                <a:tc>
                  <a:txBody>
                    <a:bodyPr/>
                    <a:lstStyle/>
                    <a:p>
                      <a:pPr algn="l" fontAlgn="b">
                        <a:buNone/>
                      </a:pPr>
                      <a:r>
                        <a:rPr lang="en-US" sz="1000" b="0" i="0" u="none" strike="noStrike">
                          <a:solidFill>
                            <a:srgbClr val="000000"/>
                          </a:solidFill>
                          <a:effectLst/>
                          <a:latin typeface="Aptos Narrow" panose="020B0004020202020204" pitchFamily="34" charset="0"/>
                        </a:rPr>
                        <a:t>De Vossemeren, Family with Children 0-2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27,9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B81"/>
                    </a:solidFill>
                  </a:tcPr>
                </a:tc>
                <a:tc>
                  <a:txBody>
                    <a:bodyPr/>
                    <a:lstStyle/>
                    <a:p>
                      <a:pPr algn="r" fontAlgn="b">
                        <a:buNone/>
                      </a:pPr>
                      <a:r>
                        <a:rPr lang="fr-FR" sz="1000" b="0" i="0" u="none" strike="noStrike">
                          <a:solidFill>
                            <a:srgbClr val="000000"/>
                          </a:solidFill>
                          <a:effectLst/>
                          <a:latin typeface="Aptos Narrow" panose="020B0004020202020204" pitchFamily="34" charset="0"/>
                        </a:rPr>
                        <a:t>27,8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B81"/>
                    </a:solidFill>
                  </a:tcPr>
                </a:tc>
                <a:tc>
                  <a:txBody>
                    <a:bodyPr/>
                    <a:lstStyle/>
                    <a:p>
                      <a:pPr algn="r" fontAlgn="b">
                        <a:buNone/>
                      </a:pPr>
                      <a:r>
                        <a:rPr lang="fr-FR" sz="1000" b="0" i="0" u="none" strike="noStrike">
                          <a:solidFill>
                            <a:srgbClr val="00B050"/>
                          </a:solidFill>
                          <a:effectLst/>
                          <a:latin typeface="Aptos Narrow" panose="020B0004020202020204" pitchFamily="34" charset="0"/>
                        </a:rPr>
                        <a:t>0,1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0151912"/>
                  </a:ext>
                </a:extLst>
              </a:tr>
              <a:tr h="111356">
                <a:tc>
                  <a:txBody>
                    <a:bodyPr/>
                    <a:lstStyle/>
                    <a:p>
                      <a:pPr algn="l" fontAlgn="b">
                        <a:buNone/>
                      </a:pPr>
                      <a:r>
                        <a:rPr lang="en-US" sz="1000" b="0" i="0" u="none" strike="noStrike">
                          <a:solidFill>
                            <a:srgbClr val="000000"/>
                          </a:solidFill>
                          <a:effectLst/>
                          <a:latin typeface="Aptos Narrow" panose="020B0004020202020204" pitchFamily="34" charset="0"/>
                        </a:rPr>
                        <a:t>De Vossemeren, Family with Children 12-17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31,3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683"/>
                    </a:solidFill>
                  </a:tcPr>
                </a:tc>
                <a:tc>
                  <a:txBody>
                    <a:bodyPr/>
                    <a:lstStyle/>
                    <a:p>
                      <a:pPr algn="r" fontAlgn="b">
                        <a:buNone/>
                      </a:pPr>
                      <a:r>
                        <a:rPr lang="fr-FR" sz="1000" b="0" i="0" u="none" strike="noStrike">
                          <a:solidFill>
                            <a:srgbClr val="000000"/>
                          </a:solidFill>
                          <a:effectLst/>
                          <a:latin typeface="Aptos Narrow" panose="020B0004020202020204" pitchFamily="34" charset="0"/>
                        </a:rPr>
                        <a:t>33,0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B84"/>
                    </a:solidFill>
                  </a:tcPr>
                </a:tc>
                <a:tc>
                  <a:txBody>
                    <a:bodyPr/>
                    <a:lstStyle/>
                    <a:p>
                      <a:pPr algn="r" fontAlgn="b">
                        <a:buNone/>
                      </a:pPr>
                      <a:r>
                        <a:rPr lang="fr-FR" sz="1000" b="0" i="0" u="none" strike="noStrike">
                          <a:solidFill>
                            <a:srgbClr val="FF0000"/>
                          </a:solidFill>
                          <a:effectLst/>
                          <a:latin typeface="Aptos Narrow" panose="020B0004020202020204" pitchFamily="34" charset="0"/>
                        </a:rPr>
                        <a:t>-1,6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26236348"/>
                  </a:ext>
                </a:extLst>
              </a:tr>
              <a:tr h="111356">
                <a:tc>
                  <a:txBody>
                    <a:bodyPr/>
                    <a:lstStyle/>
                    <a:p>
                      <a:pPr algn="l" fontAlgn="b">
                        <a:buNone/>
                      </a:pPr>
                      <a:r>
                        <a:rPr lang="en-US" sz="1000" b="0" i="0" u="none" strike="noStrike">
                          <a:solidFill>
                            <a:srgbClr val="000000"/>
                          </a:solidFill>
                          <a:effectLst/>
                          <a:latin typeface="Aptos Narrow" panose="020B0004020202020204" pitchFamily="34" charset="0"/>
                        </a:rPr>
                        <a:t>De Vossemeren, Family with Children 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30,3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382"/>
                    </a:solidFill>
                  </a:tcPr>
                </a:tc>
                <a:tc>
                  <a:txBody>
                    <a:bodyPr/>
                    <a:lstStyle/>
                    <a:p>
                      <a:pPr algn="r" fontAlgn="b">
                        <a:buNone/>
                      </a:pPr>
                      <a:r>
                        <a:rPr lang="fr-FR" sz="1000" b="0" i="0" u="none" strike="noStrike">
                          <a:solidFill>
                            <a:srgbClr val="000000"/>
                          </a:solidFill>
                          <a:effectLst/>
                          <a:latin typeface="Aptos Narrow" panose="020B0004020202020204" pitchFamily="34" charset="0"/>
                        </a:rPr>
                        <a:t>28,9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E81"/>
                    </a:solidFill>
                  </a:tcPr>
                </a:tc>
                <a:tc>
                  <a:txBody>
                    <a:bodyPr/>
                    <a:lstStyle/>
                    <a:p>
                      <a:pPr algn="r" fontAlgn="b">
                        <a:buNone/>
                      </a:pPr>
                      <a:r>
                        <a:rPr lang="fr-FR" sz="1000" b="0" i="0" u="none" strike="noStrike">
                          <a:solidFill>
                            <a:srgbClr val="00B050"/>
                          </a:solidFill>
                          <a:effectLst/>
                          <a:latin typeface="Aptos Narrow" panose="020B0004020202020204" pitchFamily="34" charset="0"/>
                        </a:rPr>
                        <a:t>1,4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02246440"/>
                  </a:ext>
                </a:extLst>
              </a:tr>
              <a:tr h="111356">
                <a:tc>
                  <a:txBody>
                    <a:bodyPr/>
                    <a:lstStyle/>
                    <a:p>
                      <a:pPr algn="l" fontAlgn="b">
                        <a:buNone/>
                      </a:pPr>
                      <a:r>
                        <a:rPr lang="en-US" sz="1000" b="0" i="0" u="none" strike="noStrike">
                          <a:solidFill>
                            <a:srgbClr val="000000"/>
                          </a:solidFill>
                          <a:effectLst/>
                          <a:latin typeface="Aptos Narrow" panose="020B0004020202020204" pitchFamily="34" charset="0"/>
                        </a:rPr>
                        <a:t>De Vossemeren, Family with Children 5-11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36,0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0E784"/>
                    </a:solidFill>
                  </a:tcPr>
                </a:tc>
                <a:tc>
                  <a:txBody>
                    <a:bodyPr/>
                    <a:lstStyle/>
                    <a:p>
                      <a:pPr algn="r" fontAlgn="b">
                        <a:buNone/>
                      </a:pPr>
                      <a:r>
                        <a:rPr lang="fr-FR" sz="1000" b="0" i="0" u="none" strike="noStrike">
                          <a:solidFill>
                            <a:srgbClr val="000000"/>
                          </a:solidFill>
                          <a:effectLst/>
                          <a:latin typeface="Aptos Narrow" panose="020B0004020202020204" pitchFamily="34" charset="0"/>
                        </a:rPr>
                        <a:t>36,2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0E784"/>
                    </a:solidFill>
                  </a:tcPr>
                </a:tc>
                <a:tc>
                  <a:txBody>
                    <a:bodyPr/>
                    <a:lstStyle/>
                    <a:p>
                      <a:pPr algn="r" fontAlgn="b">
                        <a:buNone/>
                      </a:pPr>
                      <a:r>
                        <a:rPr lang="fr-FR" sz="1000" b="0" i="0" u="none" strike="noStrike">
                          <a:solidFill>
                            <a:srgbClr val="FF0000"/>
                          </a:solidFill>
                          <a:effectLst/>
                          <a:latin typeface="Aptos Narrow" panose="020B0004020202020204" pitchFamily="34" charset="0"/>
                        </a:rPr>
                        <a:t>-0,2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52623689"/>
                  </a:ext>
                </a:extLst>
              </a:tr>
              <a:tr h="111356">
                <a:tc>
                  <a:txBody>
                    <a:bodyPr/>
                    <a:lstStyle/>
                    <a:p>
                      <a:pPr algn="l" fontAlgn="b">
                        <a:buNone/>
                      </a:pPr>
                      <a:r>
                        <a:rPr lang="fr-FR" sz="1000" b="0" i="0" u="none" strike="noStrike">
                          <a:solidFill>
                            <a:srgbClr val="000000"/>
                          </a:solidFill>
                          <a:effectLst/>
                          <a:latin typeface="Aptos Narrow" panose="020B0004020202020204" pitchFamily="34" charset="0"/>
                        </a:rPr>
                        <a:t>De Vossemeren, Seniors active 55-74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35,1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5E884"/>
                    </a:solidFill>
                  </a:tcPr>
                </a:tc>
                <a:tc>
                  <a:txBody>
                    <a:bodyPr/>
                    <a:lstStyle/>
                    <a:p>
                      <a:pPr algn="r" fontAlgn="b">
                        <a:buNone/>
                      </a:pPr>
                      <a:r>
                        <a:rPr lang="fr-FR" sz="1000" b="0" i="0" u="none" strike="noStrike">
                          <a:solidFill>
                            <a:srgbClr val="000000"/>
                          </a:solidFill>
                          <a:effectLst/>
                          <a:latin typeface="Aptos Narrow" panose="020B0004020202020204" pitchFamily="34" charset="0"/>
                        </a:rPr>
                        <a:t>37,8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9E583"/>
                    </a:solidFill>
                  </a:tcPr>
                </a:tc>
                <a:tc>
                  <a:txBody>
                    <a:bodyPr/>
                    <a:lstStyle/>
                    <a:p>
                      <a:pPr algn="r" fontAlgn="b">
                        <a:buNone/>
                      </a:pPr>
                      <a:r>
                        <a:rPr lang="fr-FR" sz="1000" b="0" i="0" u="none" strike="noStrike">
                          <a:solidFill>
                            <a:srgbClr val="FF0000"/>
                          </a:solidFill>
                          <a:effectLst/>
                          <a:latin typeface="Aptos Narrow" panose="020B0004020202020204" pitchFamily="34" charset="0"/>
                        </a:rPr>
                        <a:t>-2,7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68577395"/>
                  </a:ext>
                </a:extLst>
              </a:tr>
              <a:tr h="111356">
                <a:tc>
                  <a:txBody>
                    <a:bodyPr/>
                    <a:lstStyle/>
                    <a:p>
                      <a:pPr algn="l" fontAlgn="b">
                        <a:buNone/>
                      </a:pPr>
                      <a:r>
                        <a:rPr lang="fr-FR" sz="1000" b="0" i="0" u="none" strike="noStrike">
                          <a:solidFill>
                            <a:srgbClr val="000000"/>
                          </a:solidFill>
                          <a:effectLst/>
                          <a:latin typeface="Aptos Narrow" panose="020B0004020202020204" pitchFamily="34" charset="0"/>
                        </a:rPr>
                        <a:t>De Vossemeren, Seniors&gt;75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41,7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7E082"/>
                    </a:solidFill>
                  </a:tcPr>
                </a:tc>
                <a:tc>
                  <a:txBody>
                    <a:bodyPr/>
                    <a:lstStyle/>
                    <a:p>
                      <a:pPr algn="r" fontAlgn="b">
                        <a:buNone/>
                      </a:pPr>
                      <a:r>
                        <a:rPr lang="fr-FR" sz="1000" b="0" i="0" u="none" strike="noStrike">
                          <a:solidFill>
                            <a:srgbClr val="000000"/>
                          </a:solidFill>
                          <a:effectLst/>
                          <a:latin typeface="Aptos Narrow" panose="020B0004020202020204" pitchFamily="34" charset="0"/>
                        </a:rPr>
                        <a:t>38,5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6E483"/>
                    </a:solidFill>
                  </a:tcPr>
                </a:tc>
                <a:tc>
                  <a:txBody>
                    <a:bodyPr/>
                    <a:lstStyle/>
                    <a:p>
                      <a:pPr algn="r" fontAlgn="b">
                        <a:buNone/>
                      </a:pPr>
                      <a:r>
                        <a:rPr lang="fr-FR" sz="1000" b="0" i="0" u="none" strike="noStrike">
                          <a:solidFill>
                            <a:srgbClr val="00B050"/>
                          </a:solidFill>
                          <a:effectLst/>
                          <a:latin typeface="Aptos Narrow" panose="020B0004020202020204" pitchFamily="34" charset="0"/>
                        </a:rPr>
                        <a:t>3,2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07329770"/>
                  </a:ext>
                </a:extLst>
              </a:tr>
              <a:tr h="111356">
                <a:tc>
                  <a:txBody>
                    <a:bodyPr/>
                    <a:lstStyle/>
                    <a:p>
                      <a:pPr algn="l" fontAlgn="b">
                        <a:buNone/>
                      </a:pPr>
                      <a:r>
                        <a:rPr lang="fr-FR" sz="1000" b="0" i="0" u="none" strike="noStrike">
                          <a:solidFill>
                            <a:srgbClr val="000000"/>
                          </a:solidFill>
                          <a:effectLst/>
                          <a:latin typeface="Aptos Narrow" panose="020B0004020202020204" pitchFamily="34" charset="0"/>
                        </a:rPr>
                        <a:t>De Vossemeren, Young Adults 18-34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34,3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E984"/>
                    </a:solidFill>
                  </a:tcPr>
                </a:tc>
                <a:tc>
                  <a:txBody>
                    <a:bodyPr/>
                    <a:lstStyle/>
                    <a:p>
                      <a:pPr algn="r" fontAlgn="b">
                        <a:buNone/>
                      </a:pPr>
                      <a:r>
                        <a:rPr lang="fr-FR" sz="1000" b="0" i="0" u="none" strike="noStrike">
                          <a:solidFill>
                            <a:srgbClr val="000000"/>
                          </a:solidFill>
                          <a:effectLst/>
                          <a:latin typeface="Aptos Narrow" panose="020B0004020202020204" pitchFamily="34" charset="0"/>
                        </a:rPr>
                        <a:t>30,7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482"/>
                    </a:solidFill>
                  </a:tcPr>
                </a:tc>
                <a:tc>
                  <a:txBody>
                    <a:bodyPr/>
                    <a:lstStyle/>
                    <a:p>
                      <a:pPr algn="r" fontAlgn="b">
                        <a:buNone/>
                      </a:pPr>
                      <a:r>
                        <a:rPr lang="fr-FR" sz="1000" b="0" i="0" u="none" strike="noStrike">
                          <a:solidFill>
                            <a:srgbClr val="00B050"/>
                          </a:solidFill>
                          <a:effectLst/>
                          <a:latin typeface="Aptos Narrow" panose="020B0004020202020204" pitchFamily="34" charset="0"/>
                        </a:rPr>
                        <a:t>3,6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1362014"/>
                  </a:ext>
                </a:extLst>
              </a:tr>
              <a:tr h="111356">
                <a:tc>
                  <a:txBody>
                    <a:bodyPr/>
                    <a:lstStyle/>
                    <a:p>
                      <a:pPr algn="l" fontAlgn="b">
                        <a:buNone/>
                      </a:pPr>
                      <a:r>
                        <a:rPr lang="fr-FR" sz="1000" b="1" i="0" u="none" strike="noStrike">
                          <a:solidFill>
                            <a:srgbClr val="000000"/>
                          </a:solidFill>
                          <a:effectLst/>
                          <a:latin typeface="Aptos Narrow" panose="020B0004020202020204" pitchFamily="34" charset="0"/>
                        </a:rPr>
                        <a:t>Erperheide, Subtotal</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42,2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5DF82"/>
                    </a:solidFill>
                  </a:tcPr>
                </a:tc>
                <a:tc>
                  <a:txBody>
                    <a:bodyPr/>
                    <a:lstStyle/>
                    <a:p>
                      <a:pPr algn="r" fontAlgn="b">
                        <a:buNone/>
                      </a:pPr>
                      <a:r>
                        <a:rPr lang="fr-FR" sz="1000" b="1" i="0" u="none" strike="noStrike">
                          <a:solidFill>
                            <a:srgbClr val="000000"/>
                          </a:solidFill>
                          <a:effectLst/>
                          <a:latin typeface="Aptos Narrow" panose="020B0004020202020204" pitchFamily="34" charset="0"/>
                        </a:rPr>
                        <a:t>38,1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7E483"/>
                    </a:solidFill>
                  </a:tcPr>
                </a:tc>
                <a:tc>
                  <a:txBody>
                    <a:bodyPr/>
                    <a:lstStyle/>
                    <a:p>
                      <a:pPr algn="r" fontAlgn="b">
                        <a:buNone/>
                      </a:pPr>
                      <a:r>
                        <a:rPr lang="fr-FR" sz="1000" b="1" i="0" u="none" strike="noStrike">
                          <a:solidFill>
                            <a:srgbClr val="00B050"/>
                          </a:solidFill>
                          <a:effectLst/>
                          <a:latin typeface="Aptos Narrow" panose="020B0004020202020204" pitchFamily="34" charset="0"/>
                        </a:rPr>
                        <a:t>4,1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710812"/>
                  </a:ext>
                </a:extLst>
              </a:tr>
              <a:tr h="111356">
                <a:tc>
                  <a:txBody>
                    <a:bodyPr/>
                    <a:lstStyle/>
                    <a:p>
                      <a:pPr algn="l" fontAlgn="b">
                        <a:buNone/>
                      </a:pPr>
                      <a:r>
                        <a:rPr lang="fr-FR" sz="1000" b="0" i="0" u="none" strike="noStrike">
                          <a:solidFill>
                            <a:srgbClr val="000000"/>
                          </a:solidFill>
                          <a:effectLst/>
                          <a:latin typeface="Aptos Narrow" panose="020B0004020202020204" pitchFamily="34" charset="0"/>
                        </a:rPr>
                        <a:t>Erperheide, Adults 35-54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39,1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3E383"/>
                    </a:solidFill>
                  </a:tcPr>
                </a:tc>
                <a:tc>
                  <a:txBody>
                    <a:bodyPr/>
                    <a:lstStyle/>
                    <a:p>
                      <a:pPr algn="r" fontAlgn="b">
                        <a:buNone/>
                      </a:pPr>
                      <a:r>
                        <a:rPr lang="fr-FR" sz="1000" b="0" i="0" u="none" strike="noStrike">
                          <a:solidFill>
                            <a:srgbClr val="000000"/>
                          </a:solidFill>
                          <a:effectLst/>
                          <a:latin typeface="Aptos Narrow" panose="020B0004020202020204" pitchFamily="34" charset="0"/>
                        </a:rPr>
                        <a:t>32,4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A83"/>
                    </a:solidFill>
                  </a:tcPr>
                </a:tc>
                <a:tc>
                  <a:txBody>
                    <a:bodyPr/>
                    <a:lstStyle/>
                    <a:p>
                      <a:pPr algn="r" fontAlgn="b">
                        <a:buNone/>
                      </a:pPr>
                      <a:r>
                        <a:rPr lang="fr-FR" sz="1000" b="0" i="0" u="none" strike="noStrike">
                          <a:solidFill>
                            <a:srgbClr val="00B050"/>
                          </a:solidFill>
                          <a:effectLst/>
                          <a:latin typeface="Aptos Narrow" panose="020B0004020202020204" pitchFamily="34" charset="0"/>
                        </a:rPr>
                        <a:t>6,8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6648738"/>
                  </a:ext>
                </a:extLst>
              </a:tr>
              <a:tr h="111356">
                <a:tc>
                  <a:txBody>
                    <a:bodyPr/>
                    <a:lstStyle/>
                    <a:p>
                      <a:pPr algn="l" fontAlgn="b">
                        <a:buNone/>
                      </a:pPr>
                      <a:r>
                        <a:rPr lang="en-US" sz="1000" b="0" i="0" u="none" strike="noStrike">
                          <a:solidFill>
                            <a:srgbClr val="000000"/>
                          </a:solidFill>
                          <a:effectLst/>
                          <a:latin typeface="Aptos Narrow" panose="020B0004020202020204" pitchFamily="34" charset="0"/>
                        </a:rPr>
                        <a:t>Erperheide, Family with Children 0-2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39,3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2E383"/>
                    </a:solidFill>
                  </a:tcPr>
                </a:tc>
                <a:tc>
                  <a:txBody>
                    <a:bodyPr/>
                    <a:lstStyle/>
                    <a:p>
                      <a:pPr algn="r" fontAlgn="b">
                        <a:buNone/>
                      </a:pPr>
                      <a:r>
                        <a:rPr lang="fr-FR" sz="1000" b="0" i="0" u="none" strike="noStrike">
                          <a:solidFill>
                            <a:srgbClr val="000000"/>
                          </a:solidFill>
                          <a:effectLst/>
                          <a:latin typeface="Aptos Narrow" panose="020B0004020202020204" pitchFamily="34" charset="0"/>
                        </a:rPr>
                        <a:t>34,0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EA84"/>
                    </a:solidFill>
                  </a:tcPr>
                </a:tc>
                <a:tc>
                  <a:txBody>
                    <a:bodyPr/>
                    <a:lstStyle/>
                    <a:p>
                      <a:pPr algn="r" fontAlgn="b">
                        <a:buNone/>
                      </a:pPr>
                      <a:r>
                        <a:rPr lang="fr-FR" sz="1000" b="0" i="0" u="none" strike="noStrike">
                          <a:solidFill>
                            <a:srgbClr val="00B050"/>
                          </a:solidFill>
                          <a:effectLst/>
                          <a:latin typeface="Aptos Narrow" panose="020B0004020202020204" pitchFamily="34" charset="0"/>
                        </a:rPr>
                        <a:t>5,3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21652110"/>
                  </a:ext>
                </a:extLst>
              </a:tr>
              <a:tr h="111356">
                <a:tc>
                  <a:txBody>
                    <a:bodyPr/>
                    <a:lstStyle/>
                    <a:p>
                      <a:pPr algn="l" fontAlgn="b">
                        <a:buNone/>
                      </a:pPr>
                      <a:r>
                        <a:rPr lang="en-US" sz="1000" b="0" i="0" u="none" strike="noStrike">
                          <a:solidFill>
                            <a:srgbClr val="000000"/>
                          </a:solidFill>
                          <a:effectLst/>
                          <a:latin typeface="Aptos Narrow" panose="020B0004020202020204" pitchFamily="34" charset="0"/>
                        </a:rPr>
                        <a:t>Erperheide, Family with Children 12-17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34,6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7E984"/>
                    </a:solidFill>
                  </a:tcPr>
                </a:tc>
                <a:tc>
                  <a:txBody>
                    <a:bodyPr/>
                    <a:lstStyle/>
                    <a:p>
                      <a:pPr algn="r" fontAlgn="b">
                        <a:buNone/>
                      </a:pPr>
                      <a:r>
                        <a:rPr lang="fr-FR" sz="1000" b="0" i="0" u="none" strike="noStrike">
                          <a:solidFill>
                            <a:srgbClr val="000000"/>
                          </a:solidFill>
                          <a:effectLst/>
                          <a:latin typeface="Aptos Narrow" panose="020B0004020202020204" pitchFamily="34" charset="0"/>
                        </a:rPr>
                        <a:t>31,3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683"/>
                    </a:solidFill>
                  </a:tcPr>
                </a:tc>
                <a:tc>
                  <a:txBody>
                    <a:bodyPr/>
                    <a:lstStyle/>
                    <a:p>
                      <a:pPr algn="r" fontAlgn="b">
                        <a:buNone/>
                      </a:pPr>
                      <a:r>
                        <a:rPr lang="fr-FR" sz="1000" b="0" i="0" u="none" strike="noStrike">
                          <a:solidFill>
                            <a:srgbClr val="00B050"/>
                          </a:solidFill>
                          <a:effectLst/>
                          <a:latin typeface="Aptos Narrow" panose="020B0004020202020204" pitchFamily="34" charset="0"/>
                        </a:rPr>
                        <a:t>3,3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24421581"/>
                  </a:ext>
                </a:extLst>
              </a:tr>
              <a:tr h="111356">
                <a:tc>
                  <a:txBody>
                    <a:bodyPr/>
                    <a:lstStyle/>
                    <a:p>
                      <a:pPr algn="l" fontAlgn="b">
                        <a:buNone/>
                      </a:pPr>
                      <a:r>
                        <a:rPr lang="en-US" sz="1000" b="0" i="0" u="none" strike="noStrike">
                          <a:solidFill>
                            <a:srgbClr val="000000"/>
                          </a:solidFill>
                          <a:effectLst/>
                          <a:latin typeface="Aptos Narrow" panose="020B0004020202020204" pitchFamily="34" charset="0"/>
                        </a:rPr>
                        <a:t>Erperheide, Family with Children 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44,9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9DC81"/>
                    </a:solidFill>
                  </a:tcPr>
                </a:tc>
                <a:tc>
                  <a:txBody>
                    <a:bodyPr/>
                    <a:lstStyle/>
                    <a:p>
                      <a:pPr algn="r" fontAlgn="b">
                        <a:buNone/>
                      </a:pPr>
                      <a:r>
                        <a:rPr lang="fr-FR" sz="1000" b="0" i="0" u="none" strike="noStrike">
                          <a:solidFill>
                            <a:srgbClr val="000000"/>
                          </a:solidFill>
                          <a:effectLst/>
                          <a:latin typeface="Aptos Narrow" panose="020B0004020202020204" pitchFamily="34" charset="0"/>
                        </a:rPr>
                        <a:t>40,9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BE182"/>
                    </a:solidFill>
                  </a:tcPr>
                </a:tc>
                <a:tc>
                  <a:txBody>
                    <a:bodyPr/>
                    <a:lstStyle/>
                    <a:p>
                      <a:pPr algn="r" fontAlgn="b">
                        <a:buNone/>
                      </a:pPr>
                      <a:r>
                        <a:rPr lang="fr-FR" sz="1000" b="0" i="0" u="none" strike="noStrike">
                          <a:solidFill>
                            <a:srgbClr val="00B050"/>
                          </a:solidFill>
                          <a:effectLst/>
                          <a:latin typeface="Aptos Narrow" panose="020B0004020202020204" pitchFamily="34" charset="0"/>
                        </a:rPr>
                        <a:t>4,0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47826242"/>
                  </a:ext>
                </a:extLst>
              </a:tr>
              <a:tr h="111356">
                <a:tc>
                  <a:txBody>
                    <a:bodyPr/>
                    <a:lstStyle/>
                    <a:p>
                      <a:pPr algn="l" fontAlgn="b">
                        <a:buNone/>
                      </a:pPr>
                      <a:r>
                        <a:rPr lang="en-US" sz="1000" b="0" i="0" u="none" strike="noStrike">
                          <a:solidFill>
                            <a:srgbClr val="000000"/>
                          </a:solidFill>
                          <a:effectLst/>
                          <a:latin typeface="Aptos Narrow" panose="020B0004020202020204" pitchFamily="34" charset="0"/>
                        </a:rPr>
                        <a:t>Erperheide, Family with Children 5-11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44,4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BDC81"/>
                    </a:solidFill>
                  </a:tcPr>
                </a:tc>
                <a:tc>
                  <a:txBody>
                    <a:bodyPr/>
                    <a:lstStyle/>
                    <a:p>
                      <a:pPr algn="r" fontAlgn="b">
                        <a:buNone/>
                      </a:pPr>
                      <a:r>
                        <a:rPr lang="fr-FR" sz="1000" b="0" i="0" u="none" strike="noStrike">
                          <a:solidFill>
                            <a:srgbClr val="000000"/>
                          </a:solidFill>
                          <a:effectLst/>
                          <a:latin typeface="Aptos Narrow" panose="020B0004020202020204" pitchFamily="34" charset="0"/>
                        </a:rPr>
                        <a:t>41,5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8E082"/>
                    </a:solidFill>
                  </a:tcPr>
                </a:tc>
                <a:tc>
                  <a:txBody>
                    <a:bodyPr/>
                    <a:lstStyle/>
                    <a:p>
                      <a:pPr algn="r" fontAlgn="b">
                        <a:buNone/>
                      </a:pPr>
                      <a:r>
                        <a:rPr lang="fr-FR" sz="1000" b="0" i="0" u="none" strike="noStrike">
                          <a:solidFill>
                            <a:srgbClr val="00B050"/>
                          </a:solidFill>
                          <a:effectLst/>
                          <a:latin typeface="Aptos Narrow" panose="020B0004020202020204" pitchFamily="34" charset="0"/>
                        </a:rPr>
                        <a:t>2,8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86926870"/>
                  </a:ext>
                </a:extLst>
              </a:tr>
              <a:tr h="111356">
                <a:tc>
                  <a:txBody>
                    <a:bodyPr/>
                    <a:lstStyle/>
                    <a:p>
                      <a:pPr algn="l" fontAlgn="b">
                        <a:buNone/>
                      </a:pPr>
                      <a:r>
                        <a:rPr lang="fr-FR" sz="1000" b="0" i="0" u="none" strike="noStrike">
                          <a:solidFill>
                            <a:srgbClr val="000000"/>
                          </a:solidFill>
                          <a:effectLst/>
                          <a:latin typeface="Aptos Narrow" panose="020B0004020202020204" pitchFamily="34" charset="0"/>
                        </a:rPr>
                        <a:t>Erperheide, Seniors active 55-74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45,0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8DC81"/>
                    </a:solidFill>
                  </a:tcPr>
                </a:tc>
                <a:tc>
                  <a:txBody>
                    <a:bodyPr/>
                    <a:lstStyle/>
                    <a:p>
                      <a:pPr algn="r" fontAlgn="b">
                        <a:buNone/>
                      </a:pPr>
                      <a:r>
                        <a:rPr lang="fr-FR" sz="1000" b="0" i="0" u="none" strike="noStrike">
                          <a:solidFill>
                            <a:srgbClr val="000000"/>
                          </a:solidFill>
                          <a:effectLst/>
                          <a:latin typeface="Aptos Narrow" panose="020B0004020202020204" pitchFamily="34" charset="0"/>
                        </a:rPr>
                        <a:t>41,9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6E082"/>
                    </a:solidFill>
                  </a:tcPr>
                </a:tc>
                <a:tc>
                  <a:txBody>
                    <a:bodyPr/>
                    <a:lstStyle/>
                    <a:p>
                      <a:pPr algn="r" fontAlgn="b">
                        <a:buNone/>
                      </a:pPr>
                      <a:r>
                        <a:rPr lang="fr-FR" sz="1000" b="0" i="0" u="none" strike="noStrike">
                          <a:solidFill>
                            <a:srgbClr val="00B050"/>
                          </a:solidFill>
                          <a:effectLst/>
                          <a:latin typeface="Aptos Narrow" panose="020B0004020202020204" pitchFamily="34" charset="0"/>
                        </a:rPr>
                        <a:t>3,1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67605700"/>
                  </a:ext>
                </a:extLst>
              </a:tr>
              <a:tr h="111356">
                <a:tc>
                  <a:txBody>
                    <a:bodyPr/>
                    <a:lstStyle/>
                    <a:p>
                      <a:pPr algn="l" fontAlgn="b">
                        <a:buNone/>
                      </a:pPr>
                      <a:r>
                        <a:rPr lang="fr-FR" sz="1000" b="0" i="0" u="none" strike="noStrike">
                          <a:solidFill>
                            <a:srgbClr val="000000"/>
                          </a:solidFill>
                          <a:effectLst/>
                          <a:latin typeface="Aptos Narrow" panose="020B0004020202020204" pitchFamily="34" charset="0"/>
                        </a:rPr>
                        <a:t>Erperheide, Seniors&gt;75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43,9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DDD82"/>
                    </a:solidFill>
                  </a:tcPr>
                </a:tc>
                <a:tc>
                  <a:txBody>
                    <a:bodyPr/>
                    <a:lstStyle/>
                    <a:p>
                      <a:pPr algn="r" fontAlgn="b">
                        <a:buNone/>
                      </a:pPr>
                      <a:r>
                        <a:rPr lang="fr-FR" sz="1000" b="0" i="0" u="none" strike="noStrike">
                          <a:solidFill>
                            <a:srgbClr val="000000"/>
                          </a:solidFill>
                          <a:effectLst/>
                          <a:latin typeface="Aptos Narrow" panose="020B0004020202020204" pitchFamily="34" charset="0"/>
                        </a:rPr>
                        <a:t>38,2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7E483"/>
                    </a:solidFill>
                  </a:tcPr>
                </a:tc>
                <a:tc>
                  <a:txBody>
                    <a:bodyPr/>
                    <a:lstStyle/>
                    <a:p>
                      <a:pPr algn="r" fontAlgn="b">
                        <a:buNone/>
                      </a:pPr>
                      <a:r>
                        <a:rPr lang="fr-FR" sz="1000" b="0" i="0" u="none" strike="noStrike">
                          <a:solidFill>
                            <a:srgbClr val="00B050"/>
                          </a:solidFill>
                          <a:effectLst/>
                          <a:latin typeface="Aptos Narrow" panose="020B0004020202020204" pitchFamily="34" charset="0"/>
                        </a:rPr>
                        <a:t>5,6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60644074"/>
                  </a:ext>
                </a:extLst>
              </a:tr>
              <a:tr h="111356">
                <a:tc>
                  <a:txBody>
                    <a:bodyPr/>
                    <a:lstStyle/>
                    <a:p>
                      <a:pPr algn="l" fontAlgn="b">
                        <a:buNone/>
                      </a:pPr>
                      <a:r>
                        <a:rPr lang="fr-FR" sz="1000" b="0" i="0" u="none" strike="noStrike">
                          <a:solidFill>
                            <a:srgbClr val="000000"/>
                          </a:solidFill>
                          <a:effectLst/>
                          <a:latin typeface="Aptos Narrow" panose="020B0004020202020204" pitchFamily="34" charset="0"/>
                        </a:rPr>
                        <a:t>Erperheide, Young Adults 18-34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43,0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1DE82"/>
                    </a:solidFill>
                  </a:tcPr>
                </a:tc>
                <a:tc>
                  <a:txBody>
                    <a:bodyPr/>
                    <a:lstStyle/>
                    <a:p>
                      <a:pPr algn="r" fontAlgn="b">
                        <a:buNone/>
                      </a:pPr>
                      <a:r>
                        <a:rPr lang="fr-FR" sz="1000" b="0" i="0" u="none" strike="noStrike">
                          <a:solidFill>
                            <a:srgbClr val="000000"/>
                          </a:solidFill>
                          <a:effectLst/>
                          <a:latin typeface="Aptos Narrow" panose="020B0004020202020204" pitchFamily="34" charset="0"/>
                        </a:rPr>
                        <a:t>33,7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EA84"/>
                    </a:solidFill>
                  </a:tcPr>
                </a:tc>
                <a:tc>
                  <a:txBody>
                    <a:bodyPr/>
                    <a:lstStyle/>
                    <a:p>
                      <a:pPr algn="r" fontAlgn="b">
                        <a:buNone/>
                      </a:pPr>
                      <a:r>
                        <a:rPr lang="fr-FR" sz="1000" b="0" i="0" u="none" strike="noStrike">
                          <a:solidFill>
                            <a:srgbClr val="00B050"/>
                          </a:solidFill>
                          <a:effectLst/>
                          <a:latin typeface="Aptos Narrow" panose="020B0004020202020204" pitchFamily="34" charset="0"/>
                        </a:rPr>
                        <a:t>9,4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70260375"/>
                  </a:ext>
                </a:extLst>
              </a:tr>
            </a:tbl>
          </a:graphicData>
        </a:graphic>
      </p:graphicFrame>
      <p:graphicFrame>
        <p:nvGraphicFramePr>
          <p:cNvPr id="16" name="Table 15">
            <a:extLst>
              <a:ext uri="{FF2B5EF4-FFF2-40B4-BE49-F238E27FC236}">
                <a16:creationId xmlns:a16="http://schemas.microsoft.com/office/drawing/2014/main" id="{9ECF88A2-623C-BC30-551A-84CAB75589BE}"/>
              </a:ext>
            </a:extLst>
          </p:cNvPr>
          <p:cNvGraphicFramePr>
            <a:graphicFrameLocks noGrp="1"/>
          </p:cNvGraphicFramePr>
          <p:nvPr>
            <p:extLst>
              <p:ext uri="{D42A27DB-BD31-4B8C-83A1-F6EECF244321}">
                <p14:modId xmlns:p14="http://schemas.microsoft.com/office/powerpoint/2010/main" val="4052968287"/>
              </p:ext>
            </p:extLst>
          </p:nvPr>
        </p:nvGraphicFramePr>
        <p:xfrm>
          <a:off x="4153235" y="3108233"/>
          <a:ext cx="3384887" cy="2939452"/>
        </p:xfrm>
        <a:graphic>
          <a:graphicData uri="http://schemas.openxmlformats.org/drawingml/2006/table">
            <a:tbl>
              <a:tblPr/>
              <a:tblGrid>
                <a:gridCol w="2127104">
                  <a:extLst>
                    <a:ext uri="{9D8B030D-6E8A-4147-A177-3AD203B41FA5}">
                      <a16:colId xmlns:a16="http://schemas.microsoft.com/office/drawing/2014/main" val="1484187195"/>
                    </a:ext>
                  </a:extLst>
                </a:gridCol>
                <a:gridCol w="419261">
                  <a:extLst>
                    <a:ext uri="{9D8B030D-6E8A-4147-A177-3AD203B41FA5}">
                      <a16:colId xmlns:a16="http://schemas.microsoft.com/office/drawing/2014/main" val="4032238798"/>
                    </a:ext>
                  </a:extLst>
                </a:gridCol>
                <a:gridCol w="419261">
                  <a:extLst>
                    <a:ext uri="{9D8B030D-6E8A-4147-A177-3AD203B41FA5}">
                      <a16:colId xmlns:a16="http://schemas.microsoft.com/office/drawing/2014/main" val="889950018"/>
                    </a:ext>
                  </a:extLst>
                </a:gridCol>
                <a:gridCol w="419261">
                  <a:extLst>
                    <a:ext uri="{9D8B030D-6E8A-4147-A177-3AD203B41FA5}">
                      <a16:colId xmlns:a16="http://schemas.microsoft.com/office/drawing/2014/main" val="1347582527"/>
                    </a:ext>
                  </a:extLst>
                </a:gridCol>
              </a:tblGrid>
              <a:tr h="111356">
                <a:tc>
                  <a:txBody>
                    <a:bodyPr/>
                    <a:lstStyle/>
                    <a:p>
                      <a:pPr algn="l" fontAlgn="b">
                        <a:buNone/>
                      </a:pPr>
                      <a:r>
                        <a:rPr lang="fr-FR" sz="1000" b="0" i="0" u="none" strike="noStrike">
                          <a:solidFill>
                            <a:srgbClr val="000000"/>
                          </a:solidFill>
                          <a:effectLst/>
                          <a:latin typeface="Aptos Narrow" panose="020B0004020202020204" pitchFamily="34" charset="0"/>
                        </a:rPr>
                        <a:t>NPS</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1000" b="1" i="0" u="none" strike="noStrike">
                          <a:solidFill>
                            <a:srgbClr val="000000"/>
                          </a:solidFill>
                          <a:effectLst/>
                          <a:latin typeface="Aptos Narrow" panose="020B0004020202020204" pitchFamily="34" charset="0"/>
                        </a:rPr>
                        <a:t>FY25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1000" b="1" i="0" u="none" strike="noStrike">
                          <a:solidFill>
                            <a:srgbClr val="000000"/>
                          </a:solidFill>
                          <a:effectLst/>
                          <a:latin typeface="Aptos Narrow" panose="020B0004020202020204" pitchFamily="34" charset="0"/>
                        </a:rPr>
                        <a:t>FY24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1000" b="1" i="0" u="none" strike="noStrike">
                          <a:solidFill>
                            <a:srgbClr val="000000"/>
                          </a:solidFill>
                          <a:effectLst/>
                          <a:latin typeface="Aptos Narrow" panose="020B0004020202020204" pitchFamily="34" charset="0"/>
                        </a:rPr>
                        <a:t>Evol</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48335577"/>
                  </a:ext>
                </a:extLst>
              </a:tr>
              <a:tr h="111356">
                <a:tc>
                  <a:txBody>
                    <a:bodyPr/>
                    <a:lstStyle/>
                    <a:p>
                      <a:pPr algn="l" fontAlgn="b">
                        <a:buNone/>
                      </a:pPr>
                      <a:r>
                        <a:rPr lang="fr-FR" sz="1000" b="1" i="0" u="none" strike="noStrike">
                          <a:solidFill>
                            <a:srgbClr val="000000"/>
                          </a:solidFill>
                          <a:effectLst/>
                          <a:latin typeface="Aptos Narrow" panose="020B0004020202020204" pitchFamily="34" charset="0"/>
                        </a:rPr>
                        <a:t>Les Ardennes, Subtotal</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9,4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F75"/>
                    </a:solidFill>
                  </a:tcPr>
                </a:tc>
                <a:tc>
                  <a:txBody>
                    <a:bodyPr/>
                    <a:lstStyle/>
                    <a:p>
                      <a:pPr algn="r" fontAlgn="b">
                        <a:buNone/>
                      </a:pPr>
                      <a:r>
                        <a:rPr lang="fr-FR" sz="1000" b="1" i="0" u="none" strike="noStrike">
                          <a:solidFill>
                            <a:srgbClr val="000000"/>
                          </a:solidFill>
                          <a:effectLst/>
                          <a:latin typeface="Aptos Narrow" panose="020B0004020202020204" pitchFamily="34" charset="0"/>
                        </a:rPr>
                        <a:t>4,1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8F72"/>
                    </a:solidFill>
                  </a:tcPr>
                </a:tc>
                <a:tc>
                  <a:txBody>
                    <a:bodyPr/>
                    <a:lstStyle/>
                    <a:p>
                      <a:pPr algn="r" fontAlgn="b">
                        <a:buNone/>
                      </a:pPr>
                      <a:r>
                        <a:rPr lang="fr-FR" sz="1000" b="0" i="0" u="none" strike="noStrike">
                          <a:solidFill>
                            <a:srgbClr val="00B050"/>
                          </a:solidFill>
                          <a:effectLst/>
                          <a:latin typeface="Aptos Narrow" panose="020B0004020202020204" pitchFamily="34" charset="0"/>
                        </a:rPr>
                        <a:t>5,3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11353972"/>
                  </a:ext>
                </a:extLst>
              </a:tr>
              <a:tr h="111356">
                <a:tc>
                  <a:txBody>
                    <a:bodyPr/>
                    <a:lstStyle/>
                    <a:p>
                      <a:pPr algn="l" fontAlgn="b">
                        <a:buNone/>
                      </a:pPr>
                      <a:r>
                        <a:rPr lang="fr-FR" sz="1000" b="0" i="0" u="none" strike="noStrike">
                          <a:solidFill>
                            <a:srgbClr val="000000"/>
                          </a:solidFill>
                          <a:effectLst/>
                          <a:latin typeface="Aptos Narrow" panose="020B0004020202020204" pitchFamily="34" charset="0"/>
                        </a:rPr>
                        <a:t>Les Ardennes, Adults 35-54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5,7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473"/>
                    </a:solidFill>
                  </a:tcPr>
                </a:tc>
                <a:tc>
                  <a:txBody>
                    <a:bodyPr/>
                    <a:lstStyle/>
                    <a:p>
                      <a:pPr algn="r" fontAlgn="b">
                        <a:buNone/>
                      </a:pPr>
                      <a:r>
                        <a:rPr lang="fr-FR" sz="1000" b="0" i="0" u="none" strike="noStrike">
                          <a:solidFill>
                            <a:srgbClr val="000000"/>
                          </a:solidFill>
                          <a:effectLst/>
                          <a:latin typeface="Aptos Narrow" panose="020B0004020202020204" pitchFamily="34" charset="0"/>
                        </a:rPr>
                        <a:t>2,9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B71"/>
                    </a:solidFill>
                  </a:tcPr>
                </a:tc>
                <a:tc>
                  <a:txBody>
                    <a:bodyPr/>
                    <a:lstStyle/>
                    <a:p>
                      <a:pPr algn="r" fontAlgn="b">
                        <a:buNone/>
                      </a:pPr>
                      <a:r>
                        <a:rPr lang="fr-FR" sz="1000" b="0" i="0" u="none" strike="noStrike">
                          <a:solidFill>
                            <a:srgbClr val="00B050"/>
                          </a:solidFill>
                          <a:effectLst/>
                          <a:latin typeface="Aptos Narrow" panose="020B0004020202020204" pitchFamily="34" charset="0"/>
                        </a:rPr>
                        <a:t>2,8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06537991"/>
                  </a:ext>
                </a:extLst>
              </a:tr>
              <a:tr h="111356">
                <a:tc>
                  <a:txBody>
                    <a:bodyPr/>
                    <a:lstStyle/>
                    <a:p>
                      <a:pPr algn="l" fontAlgn="b">
                        <a:buNone/>
                      </a:pPr>
                      <a:r>
                        <a:rPr lang="en-US" sz="1000" b="0" i="0" u="none" strike="noStrike">
                          <a:solidFill>
                            <a:srgbClr val="000000"/>
                          </a:solidFill>
                          <a:effectLst/>
                          <a:latin typeface="Aptos Narrow" panose="020B0004020202020204" pitchFamily="34" charset="0"/>
                        </a:rPr>
                        <a:t>Les Ardennes, Family with Children 0-2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11,5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676"/>
                    </a:solidFill>
                  </a:tcPr>
                </a:tc>
                <a:tc>
                  <a:txBody>
                    <a:bodyPr/>
                    <a:lstStyle/>
                    <a:p>
                      <a:pPr algn="r" fontAlgn="b">
                        <a:buNone/>
                      </a:pPr>
                      <a:r>
                        <a:rPr lang="fr-FR" sz="1000" b="0" i="0" u="none" strike="noStrike">
                          <a:solidFill>
                            <a:srgbClr val="000000"/>
                          </a:solidFill>
                          <a:effectLst/>
                          <a:latin typeface="Aptos Narrow" panose="020B0004020202020204" pitchFamily="34" charset="0"/>
                        </a:rPr>
                        <a:t>-4,2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46D"/>
                    </a:solidFill>
                  </a:tcPr>
                </a:tc>
                <a:tc>
                  <a:txBody>
                    <a:bodyPr/>
                    <a:lstStyle/>
                    <a:p>
                      <a:pPr algn="r" fontAlgn="b">
                        <a:buNone/>
                      </a:pPr>
                      <a:r>
                        <a:rPr lang="fr-FR" sz="1000" b="0" i="0" u="none" strike="noStrike">
                          <a:solidFill>
                            <a:srgbClr val="00B050"/>
                          </a:solidFill>
                          <a:effectLst/>
                          <a:latin typeface="Aptos Narrow" panose="020B0004020202020204" pitchFamily="34" charset="0"/>
                        </a:rPr>
                        <a:t>15,7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87778423"/>
                  </a:ext>
                </a:extLst>
              </a:tr>
              <a:tr h="111356">
                <a:tc>
                  <a:txBody>
                    <a:bodyPr/>
                    <a:lstStyle/>
                    <a:p>
                      <a:pPr algn="l" fontAlgn="b">
                        <a:buNone/>
                      </a:pPr>
                      <a:r>
                        <a:rPr lang="en-US" sz="1000" b="0" i="0" u="none" strike="noStrike">
                          <a:solidFill>
                            <a:srgbClr val="000000"/>
                          </a:solidFill>
                          <a:effectLst/>
                          <a:latin typeface="Aptos Narrow" panose="020B0004020202020204" pitchFamily="34" charset="0"/>
                        </a:rPr>
                        <a:t>Les Ardennes, Family with Children 12-17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971"/>
                    </a:solidFill>
                  </a:tcPr>
                </a:tc>
                <a:tc>
                  <a:txBody>
                    <a:bodyPr/>
                    <a:lstStyle/>
                    <a:p>
                      <a:pPr algn="r" fontAlgn="b">
                        <a:buNone/>
                      </a:pPr>
                      <a:r>
                        <a:rPr lang="fr-FR" sz="1000" b="0" i="0" u="none" strike="noStrike">
                          <a:solidFill>
                            <a:srgbClr val="000000"/>
                          </a:solidFill>
                          <a:effectLst/>
                          <a:latin typeface="Aptos Narrow" panose="020B0004020202020204" pitchFamily="34" charset="0"/>
                        </a:rPr>
                        <a:t>-1,2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7D6F"/>
                    </a:solidFill>
                  </a:tcPr>
                </a:tc>
                <a:tc>
                  <a:txBody>
                    <a:bodyPr/>
                    <a:lstStyle/>
                    <a:p>
                      <a:pPr algn="r" fontAlgn="b">
                        <a:buNone/>
                      </a:pPr>
                      <a:r>
                        <a:rPr lang="fr-FR" sz="1000" b="0" i="0" u="none" strike="noStrike">
                          <a:solidFill>
                            <a:srgbClr val="00B050"/>
                          </a:solidFill>
                          <a:effectLst/>
                          <a:latin typeface="Aptos Narrow" panose="020B0004020202020204" pitchFamily="34" charset="0"/>
                        </a:rPr>
                        <a:t>3,6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06472998"/>
                  </a:ext>
                </a:extLst>
              </a:tr>
              <a:tr h="111356">
                <a:tc>
                  <a:txBody>
                    <a:bodyPr/>
                    <a:lstStyle/>
                    <a:p>
                      <a:pPr algn="l" fontAlgn="b">
                        <a:buNone/>
                      </a:pPr>
                      <a:r>
                        <a:rPr lang="en-US" sz="1000" b="0" i="0" u="none" strike="noStrike">
                          <a:solidFill>
                            <a:srgbClr val="000000"/>
                          </a:solidFill>
                          <a:effectLst/>
                          <a:latin typeface="Aptos Narrow" panose="020B0004020202020204" pitchFamily="34" charset="0"/>
                        </a:rPr>
                        <a:t>Les Ardennes, Family with Children 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12,8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A77"/>
                    </a:solidFill>
                  </a:tcPr>
                </a:tc>
                <a:tc>
                  <a:txBody>
                    <a:bodyPr/>
                    <a:lstStyle/>
                    <a:p>
                      <a:pPr algn="r" fontAlgn="b">
                        <a:buNone/>
                      </a:pPr>
                      <a:r>
                        <a:rPr lang="fr-FR" sz="1000" b="0" i="0" u="none" strike="noStrike">
                          <a:solidFill>
                            <a:srgbClr val="000000"/>
                          </a:solidFill>
                          <a:effectLst/>
                          <a:latin typeface="Aptos Narrow" panose="020B0004020202020204" pitchFamily="34" charset="0"/>
                        </a:rPr>
                        <a:t>7,0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874"/>
                    </a:solidFill>
                  </a:tcPr>
                </a:tc>
                <a:tc>
                  <a:txBody>
                    <a:bodyPr/>
                    <a:lstStyle/>
                    <a:p>
                      <a:pPr algn="r" fontAlgn="b">
                        <a:buNone/>
                      </a:pPr>
                      <a:r>
                        <a:rPr lang="fr-FR" sz="1000" b="0" i="0" u="none" strike="noStrike">
                          <a:solidFill>
                            <a:srgbClr val="00B050"/>
                          </a:solidFill>
                          <a:effectLst/>
                          <a:latin typeface="Aptos Narrow" panose="020B0004020202020204" pitchFamily="34" charset="0"/>
                        </a:rPr>
                        <a:t>5,7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14262676"/>
                  </a:ext>
                </a:extLst>
              </a:tr>
              <a:tr h="111356">
                <a:tc>
                  <a:txBody>
                    <a:bodyPr/>
                    <a:lstStyle/>
                    <a:p>
                      <a:pPr algn="l" fontAlgn="b">
                        <a:buNone/>
                      </a:pPr>
                      <a:r>
                        <a:rPr lang="en-US" sz="1000" b="0" i="0" u="none" strike="noStrike">
                          <a:solidFill>
                            <a:srgbClr val="000000"/>
                          </a:solidFill>
                          <a:effectLst/>
                          <a:latin typeface="Aptos Narrow" panose="020B0004020202020204" pitchFamily="34" charset="0"/>
                        </a:rPr>
                        <a:t>Les Ardennes, Family with Children 5-11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14,6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B078"/>
                    </a:solidFill>
                  </a:tcPr>
                </a:tc>
                <a:tc>
                  <a:txBody>
                    <a:bodyPr/>
                    <a:lstStyle/>
                    <a:p>
                      <a:pPr algn="r" fontAlgn="b">
                        <a:buNone/>
                      </a:pPr>
                      <a:r>
                        <a:rPr lang="fr-FR" sz="1000" b="0" i="0" u="none" strike="noStrike">
                          <a:solidFill>
                            <a:srgbClr val="000000"/>
                          </a:solidFill>
                          <a:effectLst/>
                          <a:latin typeface="Aptos Narrow" panose="020B0004020202020204" pitchFamily="34" charset="0"/>
                        </a:rPr>
                        <a:t>7,0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874"/>
                    </a:solidFill>
                  </a:tcPr>
                </a:tc>
                <a:tc>
                  <a:txBody>
                    <a:bodyPr/>
                    <a:lstStyle/>
                    <a:p>
                      <a:pPr algn="r" fontAlgn="b">
                        <a:buNone/>
                      </a:pPr>
                      <a:r>
                        <a:rPr lang="fr-FR" sz="1000" b="0" i="0" u="none" strike="noStrike">
                          <a:solidFill>
                            <a:srgbClr val="00B050"/>
                          </a:solidFill>
                          <a:effectLst/>
                          <a:latin typeface="Aptos Narrow" panose="020B0004020202020204" pitchFamily="34" charset="0"/>
                        </a:rPr>
                        <a:t>7,7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91385022"/>
                  </a:ext>
                </a:extLst>
              </a:tr>
              <a:tr h="111356">
                <a:tc>
                  <a:txBody>
                    <a:bodyPr/>
                    <a:lstStyle/>
                    <a:p>
                      <a:pPr algn="l" fontAlgn="b">
                        <a:buNone/>
                      </a:pPr>
                      <a:r>
                        <a:rPr lang="fr-FR" sz="1000" b="0" i="0" u="none" strike="noStrike">
                          <a:solidFill>
                            <a:srgbClr val="000000"/>
                          </a:solidFill>
                          <a:effectLst/>
                          <a:latin typeface="Aptos Narrow" panose="020B0004020202020204" pitchFamily="34" charset="0"/>
                        </a:rPr>
                        <a:t>Les Ardennes, Seniors active 55-74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12,9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B77"/>
                    </a:solidFill>
                  </a:tcPr>
                </a:tc>
                <a:tc>
                  <a:txBody>
                    <a:bodyPr/>
                    <a:lstStyle/>
                    <a:p>
                      <a:pPr algn="r" fontAlgn="b">
                        <a:buNone/>
                      </a:pPr>
                      <a:r>
                        <a:rPr lang="fr-FR" sz="1000" b="0" i="0" u="none" strike="noStrike">
                          <a:solidFill>
                            <a:srgbClr val="000000"/>
                          </a:solidFill>
                          <a:effectLst/>
                          <a:latin typeface="Aptos Narrow" panose="020B0004020202020204" pitchFamily="34" charset="0"/>
                        </a:rPr>
                        <a:t>9,5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A075"/>
                    </a:solidFill>
                  </a:tcPr>
                </a:tc>
                <a:tc>
                  <a:txBody>
                    <a:bodyPr/>
                    <a:lstStyle/>
                    <a:p>
                      <a:pPr algn="r" fontAlgn="b">
                        <a:buNone/>
                      </a:pPr>
                      <a:r>
                        <a:rPr lang="fr-FR" sz="1000" b="0" i="0" u="none" strike="noStrike">
                          <a:solidFill>
                            <a:srgbClr val="00B050"/>
                          </a:solidFill>
                          <a:effectLst/>
                          <a:latin typeface="Aptos Narrow" panose="020B0004020202020204" pitchFamily="34" charset="0"/>
                        </a:rPr>
                        <a:t>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3032712"/>
                  </a:ext>
                </a:extLst>
              </a:tr>
              <a:tr h="111356">
                <a:tc>
                  <a:txBody>
                    <a:bodyPr/>
                    <a:lstStyle/>
                    <a:p>
                      <a:pPr algn="l" fontAlgn="b">
                        <a:buNone/>
                      </a:pPr>
                      <a:r>
                        <a:rPr lang="fr-FR" sz="1000" b="0" i="0" u="none" strike="noStrike">
                          <a:solidFill>
                            <a:srgbClr val="000000"/>
                          </a:solidFill>
                          <a:effectLst/>
                          <a:latin typeface="Aptos Narrow" panose="020B0004020202020204" pitchFamily="34" charset="0"/>
                        </a:rPr>
                        <a:t>Les Ardennes, Seniors&gt;75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-4,1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46D"/>
                    </a:solidFill>
                  </a:tcPr>
                </a:tc>
                <a:tc>
                  <a:txBody>
                    <a:bodyPr/>
                    <a:lstStyle/>
                    <a:p>
                      <a:pPr algn="r" fontAlgn="b">
                        <a:buNone/>
                      </a:pPr>
                      <a:r>
                        <a:rPr lang="fr-FR" sz="1000" b="0" i="0" u="none" strike="noStrike">
                          <a:solidFill>
                            <a:srgbClr val="000000"/>
                          </a:solidFill>
                          <a:effectLst/>
                          <a:latin typeface="Aptos Narrow" panose="020B0004020202020204" pitchFamily="34" charset="0"/>
                        </a:rPr>
                        <a:t>-7,7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96B"/>
                    </a:solidFill>
                  </a:tcPr>
                </a:tc>
                <a:tc>
                  <a:txBody>
                    <a:bodyPr/>
                    <a:lstStyle/>
                    <a:p>
                      <a:pPr algn="r" fontAlgn="b">
                        <a:buNone/>
                      </a:pPr>
                      <a:r>
                        <a:rPr lang="fr-FR" sz="1000" b="0" i="0" u="none" strike="noStrike">
                          <a:solidFill>
                            <a:srgbClr val="00B050"/>
                          </a:solidFill>
                          <a:effectLst/>
                          <a:latin typeface="Aptos Narrow" panose="020B0004020202020204" pitchFamily="34" charset="0"/>
                        </a:rPr>
                        <a:t>3,6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61812392"/>
                  </a:ext>
                </a:extLst>
              </a:tr>
              <a:tr h="111356">
                <a:tc>
                  <a:txBody>
                    <a:bodyPr/>
                    <a:lstStyle/>
                    <a:p>
                      <a:pPr algn="l" fontAlgn="b">
                        <a:buNone/>
                      </a:pPr>
                      <a:r>
                        <a:rPr lang="fr-FR" sz="1000" b="0" i="0" u="none" strike="noStrike">
                          <a:solidFill>
                            <a:srgbClr val="000000"/>
                          </a:solidFill>
                          <a:effectLst/>
                          <a:latin typeface="Aptos Narrow" panose="020B0004020202020204" pitchFamily="34" charset="0"/>
                        </a:rPr>
                        <a:t>Les Ardennes, Young Adults 18-34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7D6E"/>
                    </a:solidFill>
                  </a:tcPr>
                </a:tc>
                <a:tc>
                  <a:txBody>
                    <a:bodyPr/>
                    <a:lstStyle/>
                    <a:p>
                      <a:pPr algn="r" fontAlgn="b">
                        <a:buNone/>
                      </a:pPr>
                      <a:r>
                        <a:rPr lang="fr-FR" sz="1000" b="0" i="0" u="none" strike="noStrike">
                          <a:solidFill>
                            <a:srgbClr val="000000"/>
                          </a:solidFill>
                          <a:effectLst/>
                          <a:latin typeface="Aptos Narrow" panose="020B0004020202020204" pitchFamily="34" charset="0"/>
                        </a:rPr>
                        <a:t>-1,4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7D6E"/>
                    </a:solidFill>
                  </a:tcPr>
                </a:tc>
                <a:tc>
                  <a:txBody>
                    <a:bodyPr/>
                    <a:lstStyle/>
                    <a:p>
                      <a:pPr algn="r" fontAlgn="b">
                        <a:buNone/>
                      </a:pPr>
                      <a:r>
                        <a:rPr lang="fr-FR" sz="1000" b="0" i="0" u="none" strike="noStrike">
                          <a:solidFill>
                            <a:srgbClr val="FF0000"/>
                          </a:solidFill>
                          <a:effectLst/>
                          <a:latin typeface="Aptos Narrow" panose="020B0004020202020204" pitchFamily="34" charset="0"/>
                        </a:rPr>
                        <a:t>0,0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06209025"/>
                  </a:ext>
                </a:extLst>
              </a:tr>
              <a:tr h="111356">
                <a:tc>
                  <a:txBody>
                    <a:bodyPr/>
                    <a:lstStyle/>
                    <a:p>
                      <a:pPr algn="l" fontAlgn="b">
                        <a:buNone/>
                      </a:pPr>
                      <a:r>
                        <a:rPr lang="fr-FR" sz="1000" b="1" i="0" u="none" strike="noStrike">
                          <a:solidFill>
                            <a:srgbClr val="000000"/>
                          </a:solidFill>
                          <a:effectLst/>
                          <a:latin typeface="Aptos Narrow" panose="020B0004020202020204" pitchFamily="34" charset="0"/>
                        </a:rPr>
                        <a:t>Park De Haan, Subtotal</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7,5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A74"/>
                    </a:solidFill>
                  </a:tcPr>
                </a:tc>
                <a:tc>
                  <a:txBody>
                    <a:bodyPr/>
                    <a:lstStyle/>
                    <a:p>
                      <a:pPr algn="r" fontAlgn="b">
                        <a:buNone/>
                      </a:pPr>
                      <a:r>
                        <a:rPr lang="fr-FR" sz="1000" b="1" i="0" u="none" strike="noStrike">
                          <a:solidFill>
                            <a:srgbClr val="000000"/>
                          </a:solidFill>
                          <a:effectLst/>
                          <a:latin typeface="Aptos Narrow" panose="020B0004020202020204" pitchFamily="34" charset="0"/>
                        </a:rPr>
                        <a:t>-0,4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06F"/>
                    </a:solidFill>
                  </a:tcPr>
                </a:tc>
                <a:tc>
                  <a:txBody>
                    <a:bodyPr/>
                    <a:lstStyle/>
                    <a:p>
                      <a:pPr algn="r" fontAlgn="b">
                        <a:buNone/>
                      </a:pPr>
                      <a:r>
                        <a:rPr lang="fr-FR" sz="1000" b="0" i="0" u="none" strike="noStrike">
                          <a:solidFill>
                            <a:srgbClr val="00B050"/>
                          </a:solidFill>
                          <a:effectLst/>
                          <a:latin typeface="Aptos Narrow" panose="020B0004020202020204" pitchFamily="34" charset="0"/>
                        </a:rPr>
                        <a:t>8,0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53626263"/>
                  </a:ext>
                </a:extLst>
              </a:tr>
              <a:tr h="111356">
                <a:tc>
                  <a:txBody>
                    <a:bodyPr/>
                    <a:lstStyle/>
                    <a:p>
                      <a:pPr algn="l" fontAlgn="b">
                        <a:buNone/>
                      </a:pPr>
                      <a:r>
                        <a:rPr lang="nl-NL" sz="1000" b="0" i="0" u="none" strike="noStrike">
                          <a:solidFill>
                            <a:srgbClr val="000000"/>
                          </a:solidFill>
                          <a:effectLst/>
                          <a:latin typeface="Aptos Narrow" panose="020B0004020202020204" pitchFamily="34" charset="0"/>
                        </a:rPr>
                        <a:t>Park De Haan, Adults 35-54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6,0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473"/>
                    </a:solidFill>
                  </a:tcPr>
                </a:tc>
                <a:tc>
                  <a:txBody>
                    <a:bodyPr/>
                    <a:lstStyle/>
                    <a:p>
                      <a:pPr algn="r" fontAlgn="b">
                        <a:buNone/>
                      </a:pPr>
                      <a:r>
                        <a:rPr lang="fr-FR" sz="1000" b="0" i="0" u="none" strike="noStrike">
                          <a:solidFill>
                            <a:srgbClr val="000000"/>
                          </a:solidFill>
                          <a:effectLst/>
                          <a:latin typeface="Aptos Narrow" panose="020B0004020202020204" pitchFamily="34" charset="0"/>
                        </a:rPr>
                        <a:t>-3,0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86D"/>
                    </a:solidFill>
                  </a:tcPr>
                </a:tc>
                <a:tc>
                  <a:txBody>
                    <a:bodyPr/>
                    <a:lstStyle/>
                    <a:p>
                      <a:pPr algn="r" fontAlgn="b">
                        <a:buNone/>
                      </a:pPr>
                      <a:r>
                        <a:rPr lang="fr-FR" sz="1000" b="0" i="0" u="none" strike="noStrike">
                          <a:solidFill>
                            <a:srgbClr val="00B050"/>
                          </a:solidFill>
                          <a:effectLst/>
                          <a:latin typeface="Aptos Narrow" panose="020B0004020202020204" pitchFamily="34" charset="0"/>
                        </a:rPr>
                        <a:t>9,0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16917474"/>
                  </a:ext>
                </a:extLst>
              </a:tr>
              <a:tr h="111356">
                <a:tc>
                  <a:txBody>
                    <a:bodyPr/>
                    <a:lstStyle/>
                    <a:p>
                      <a:pPr algn="l" fontAlgn="b">
                        <a:buNone/>
                      </a:pPr>
                      <a:r>
                        <a:rPr lang="en-US" sz="1000" b="0" i="0" u="none" strike="noStrike">
                          <a:solidFill>
                            <a:srgbClr val="000000"/>
                          </a:solidFill>
                          <a:effectLst/>
                          <a:latin typeface="Aptos Narrow" panose="020B0004020202020204" pitchFamily="34" charset="0"/>
                        </a:rPr>
                        <a:t>Park De Haan, Family with Children 0-2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76D"/>
                    </a:solidFill>
                  </a:tcPr>
                </a:tc>
                <a:tc>
                  <a:txBody>
                    <a:bodyPr/>
                    <a:lstStyle/>
                    <a:p>
                      <a:pPr algn="r" fontAlgn="b">
                        <a:buNone/>
                      </a:pPr>
                      <a:r>
                        <a:rPr lang="fr-FR" sz="1000" b="0" i="0" u="none" strike="noStrike">
                          <a:solidFill>
                            <a:srgbClr val="000000"/>
                          </a:solidFill>
                          <a:effectLst/>
                          <a:latin typeface="Aptos Narrow" panose="020B0004020202020204" pitchFamily="34" charset="0"/>
                        </a:rPr>
                        <a:t>-5,5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06C"/>
                    </a:solidFill>
                  </a:tcPr>
                </a:tc>
                <a:tc>
                  <a:txBody>
                    <a:bodyPr/>
                    <a:lstStyle/>
                    <a:p>
                      <a:pPr algn="r" fontAlgn="b">
                        <a:buNone/>
                      </a:pPr>
                      <a:r>
                        <a:rPr lang="fr-FR" sz="1000" b="0" i="0" u="none" strike="noStrike">
                          <a:solidFill>
                            <a:srgbClr val="00B050"/>
                          </a:solidFill>
                          <a:effectLst/>
                          <a:latin typeface="Aptos Narrow" panose="020B0004020202020204" pitchFamily="34" charset="0"/>
                        </a:rPr>
                        <a:t>2,3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85086695"/>
                  </a:ext>
                </a:extLst>
              </a:tr>
              <a:tr h="111356">
                <a:tc>
                  <a:txBody>
                    <a:bodyPr/>
                    <a:lstStyle/>
                    <a:p>
                      <a:pPr algn="l" fontAlgn="b">
                        <a:buNone/>
                      </a:pPr>
                      <a:r>
                        <a:rPr lang="en-US" sz="1000" b="0" i="0" u="none" strike="noStrike">
                          <a:solidFill>
                            <a:srgbClr val="000000"/>
                          </a:solidFill>
                          <a:effectLst/>
                          <a:latin typeface="Aptos Narrow" panose="020B0004020202020204" pitchFamily="34" charset="0"/>
                        </a:rPr>
                        <a:t>Park De Haan, Family with Children 12-17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7E6F"/>
                    </a:solidFill>
                  </a:tcPr>
                </a:tc>
                <a:tc>
                  <a:txBody>
                    <a:bodyPr/>
                    <a:lstStyle/>
                    <a:p>
                      <a:pPr algn="r" fontAlgn="b">
                        <a:buNone/>
                      </a:pPr>
                      <a:r>
                        <a:rPr lang="fr-FR" sz="1000" b="0" i="0" u="none" strike="noStrike">
                          <a:solidFill>
                            <a:srgbClr val="000000"/>
                          </a:solidFill>
                          <a:effectLst/>
                          <a:latin typeface="Aptos Narrow" panose="020B0004020202020204" pitchFamily="34" charset="0"/>
                        </a:rPr>
                        <a:t>-3,9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56D"/>
                    </a:solidFill>
                  </a:tcPr>
                </a:tc>
                <a:tc>
                  <a:txBody>
                    <a:bodyPr/>
                    <a:lstStyle/>
                    <a:p>
                      <a:pPr algn="r" fontAlgn="b">
                        <a:buNone/>
                      </a:pPr>
                      <a:r>
                        <a:rPr lang="fr-FR" sz="1000" b="0" i="0" u="none" strike="noStrike">
                          <a:solidFill>
                            <a:srgbClr val="00B050"/>
                          </a:solidFill>
                          <a:effectLst/>
                          <a:latin typeface="Aptos Narrow" panose="020B0004020202020204" pitchFamily="34" charset="0"/>
                        </a:rPr>
                        <a:t>2,7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65141539"/>
                  </a:ext>
                </a:extLst>
              </a:tr>
              <a:tr h="111356">
                <a:tc>
                  <a:txBody>
                    <a:bodyPr/>
                    <a:lstStyle/>
                    <a:p>
                      <a:pPr algn="l" fontAlgn="b">
                        <a:buNone/>
                      </a:pPr>
                      <a:r>
                        <a:rPr lang="en-US" sz="1000" b="0" i="0" u="none" strike="noStrike">
                          <a:solidFill>
                            <a:srgbClr val="000000"/>
                          </a:solidFill>
                          <a:effectLst/>
                          <a:latin typeface="Aptos Narrow" panose="020B0004020202020204" pitchFamily="34" charset="0"/>
                        </a:rPr>
                        <a:t>Park De Haan, Family with Children 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10,1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276"/>
                    </a:solidFill>
                  </a:tcPr>
                </a:tc>
                <a:tc>
                  <a:txBody>
                    <a:bodyPr/>
                    <a:lstStyle/>
                    <a:p>
                      <a:pPr algn="r" fontAlgn="b">
                        <a:buNone/>
                      </a:pPr>
                      <a:r>
                        <a:rPr lang="fr-FR" sz="1000" b="0" i="0" u="none" strike="noStrike">
                          <a:solidFill>
                            <a:srgbClr val="000000"/>
                          </a:solidFill>
                          <a:effectLst/>
                          <a:latin typeface="Aptos Narrow" panose="020B0004020202020204" pitchFamily="34" charset="0"/>
                        </a:rPr>
                        <a:t>-5,6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F6C"/>
                    </a:solidFill>
                  </a:tcPr>
                </a:tc>
                <a:tc>
                  <a:txBody>
                    <a:bodyPr/>
                    <a:lstStyle/>
                    <a:p>
                      <a:pPr algn="r" fontAlgn="b">
                        <a:buNone/>
                      </a:pPr>
                      <a:r>
                        <a:rPr lang="fr-FR" sz="1000" b="0" i="0" u="none" strike="noStrike">
                          <a:solidFill>
                            <a:srgbClr val="00B050"/>
                          </a:solidFill>
                          <a:effectLst/>
                          <a:latin typeface="Aptos Narrow" panose="020B0004020202020204" pitchFamily="34" charset="0"/>
                        </a:rPr>
                        <a:t>15,7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28341278"/>
                  </a:ext>
                </a:extLst>
              </a:tr>
              <a:tr h="111356">
                <a:tc>
                  <a:txBody>
                    <a:bodyPr/>
                    <a:lstStyle/>
                    <a:p>
                      <a:pPr algn="l" fontAlgn="b">
                        <a:buNone/>
                      </a:pPr>
                      <a:r>
                        <a:rPr lang="en-US" sz="1000" b="0" i="0" u="none" strike="noStrike">
                          <a:solidFill>
                            <a:srgbClr val="000000"/>
                          </a:solidFill>
                          <a:effectLst/>
                          <a:latin typeface="Aptos Narrow" panose="020B0004020202020204" pitchFamily="34" charset="0"/>
                        </a:rPr>
                        <a:t>Park De Haan, Family with Children 5-11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9,0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E75"/>
                    </a:solidFill>
                  </a:tcPr>
                </a:tc>
                <a:tc>
                  <a:txBody>
                    <a:bodyPr/>
                    <a:lstStyle/>
                    <a:p>
                      <a:pPr algn="r" fontAlgn="b">
                        <a:buNone/>
                      </a:pPr>
                      <a:r>
                        <a:rPr lang="fr-FR" sz="1000" b="0" i="0" u="none" strike="noStrike">
                          <a:solidFill>
                            <a:srgbClr val="000000"/>
                          </a:solidFill>
                          <a:effectLst/>
                          <a:latin typeface="Aptos Narrow" panose="020B0004020202020204" pitchFamily="34" charset="0"/>
                        </a:rPr>
                        <a:t>0,3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26F"/>
                    </a:solidFill>
                  </a:tcPr>
                </a:tc>
                <a:tc>
                  <a:txBody>
                    <a:bodyPr/>
                    <a:lstStyle/>
                    <a:p>
                      <a:pPr algn="r" fontAlgn="b">
                        <a:buNone/>
                      </a:pPr>
                      <a:r>
                        <a:rPr lang="fr-FR" sz="1000" b="0" i="0" u="none" strike="noStrike">
                          <a:solidFill>
                            <a:srgbClr val="00B050"/>
                          </a:solidFill>
                          <a:effectLst/>
                          <a:latin typeface="Aptos Narrow" panose="020B0004020202020204" pitchFamily="34" charset="0"/>
                        </a:rPr>
                        <a:t>8,7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66015172"/>
                  </a:ext>
                </a:extLst>
              </a:tr>
              <a:tr h="111356">
                <a:tc>
                  <a:txBody>
                    <a:bodyPr/>
                    <a:lstStyle/>
                    <a:p>
                      <a:pPr algn="l" fontAlgn="b">
                        <a:buNone/>
                      </a:pPr>
                      <a:r>
                        <a:rPr lang="fr-FR" sz="1000" b="0" i="0" u="none" strike="noStrike">
                          <a:solidFill>
                            <a:srgbClr val="000000"/>
                          </a:solidFill>
                          <a:effectLst/>
                          <a:latin typeface="Aptos Narrow" panose="020B0004020202020204" pitchFamily="34" charset="0"/>
                        </a:rPr>
                        <a:t>Park De Haan, Seniors active 55-74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15,3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B279"/>
                    </a:solidFill>
                  </a:tcPr>
                </a:tc>
                <a:tc>
                  <a:txBody>
                    <a:bodyPr/>
                    <a:lstStyle/>
                    <a:p>
                      <a:pPr algn="r" fontAlgn="b">
                        <a:buNone/>
                      </a:pPr>
                      <a:r>
                        <a:rPr lang="fr-FR" sz="1000" b="0" i="0" u="none" strike="noStrike">
                          <a:solidFill>
                            <a:srgbClr val="000000"/>
                          </a:solidFill>
                          <a:effectLst/>
                          <a:latin typeface="Aptos Narrow" panose="020B0004020202020204" pitchFamily="34" charset="0"/>
                        </a:rPr>
                        <a:t>7,0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874"/>
                    </a:solidFill>
                  </a:tcPr>
                </a:tc>
                <a:tc>
                  <a:txBody>
                    <a:bodyPr/>
                    <a:lstStyle/>
                    <a:p>
                      <a:pPr algn="r" fontAlgn="b">
                        <a:buNone/>
                      </a:pPr>
                      <a:r>
                        <a:rPr lang="fr-FR" sz="1000" b="0" i="0" u="none" strike="noStrike">
                          <a:solidFill>
                            <a:srgbClr val="00B050"/>
                          </a:solidFill>
                          <a:effectLst/>
                          <a:latin typeface="Aptos Narrow" panose="020B0004020202020204" pitchFamily="34" charset="0"/>
                        </a:rPr>
                        <a:t>8,3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10376885"/>
                  </a:ext>
                </a:extLst>
              </a:tr>
              <a:tr h="111356">
                <a:tc>
                  <a:txBody>
                    <a:bodyPr/>
                    <a:lstStyle/>
                    <a:p>
                      <a:pPr algn="l" fontAlgn="b">
                        <a:buNone/>
                      </a:pPr>
                      <a:r>
                        <a:rPr lang="fr-FR" sz="1000" b="0" i="0" u="none" strike="noStrike">
                          <a:solidFill>
                            <a:srgbClr val="000000"/>
                          </a:solidFill>
                          <a:effectLst/>
                          <a:latin typeface="Aptos Narrow" panose="020B0004020202020204" pitchFamily="34" charset="0"/>
                        </a:rPr>
                        <a:t>Park De Haan, Seniors&gt;75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20,0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27C"/>
                    </a:solidFill>
                  </a:tcPr>
                </a:tc>
                <a:tc>
                  <a:txBody>
                    <a:bodyPr/>
                    <a:lstStyle/>
                    <a:p>
                      <a:pPr algn="r" fontAlgn="b">
                        <a:buNone/>
                      </a:pPr>
                      <a:r>
                        <a:rPr lang="fr-FR" sz="1000" b="0" i="0" u="none" strike="noStrike">
                          <a:solidFill>
                            <a:srgbClr val="000000"/>
                          </a:solidFill>
                          <a:effectLst/>
                          <a:latin typeface="Aptos Narrow" panose="020B0004020202020204" pitchFamily="34" charset="0"/>
                        </a:rPr>
                        <a:t>5,3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273"/>
                    </a:solidFill>
                  </a:tcPr>
                </a:tc>
                <a:tc>
                  <a:txBody>
                    <a:bodyPr/>
                    <a:lstStyle/>
                    <a:p>
                      <a:pPr algn="r" fontAlgn="b">
                        <a:buNone/>
                      </a:pPr>
                      <a:r>
                        <a:rPr lang="fr-FR" sz="1000" b="0" i="0" u="none" strike="noStrike">
                          <a:solidFill>
                            <a:srgbClr val="00B050"/>
                          </a:solidFill>
                          <a:effectLst/>
                          <a:latin typeface="Aptos Narrow" panose="020B0004020202020204" pitchFamily="34" charset="0"/>
                        </a:rPr>
                        <a:t>14,7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58859048"/>
                  </a:ext>
                </a:extLst>
              </a:tr>
              <a:tr h="111356">
                <a:tc>
                  <a:txBody>
                    <a:bodyPr/>
                    <a:lstStyle/>
                    <a:p>
                      <a:pPr algn="l" fontAlgn="b">
                        <a:buNone/>
                      </a:pPr>
                      <a:r>
                        <a:rPr lang="en-US" sz="1000" b="0" i="0" u="none" strike="noStrike">
                          <a:solidFill>
                            <a:srgbClr val="000000"/>
                          </a:solidFill>
                          <a:effectLst/>
                          <a:latin typeface="Aptos Narrow" panose="020B0004020202020204" pitchFamily="34" charset="0"/>
                        </a:rPr>
                        <a:t>Park De Haan, Young Adults 18-34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6,1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573"/>
                    </a:solidFill>
                  </a:tcPr>
                </a:tc>
                <a:tc>
                  <a:txBody>
                    <a:bodyPr/>
                    <a:lstStyle/>
                    <a:p>
                      <a:pPr algn="r" fontAlgn="b">
                        <a:buNone/>
                      </a:pPr>
                      <a:r>
                        <a:rPr lang="fr-FR" sz="1000" b="0" i="0" u="none" strike="noStrike">
                          <a:solidFill>
                            <a:srgbClr val="000000"/>
                          </a:solidFill>
                          <a:effectLst/>
                          <a:latin typeface="Aptos Narrow" panose="020B0004020202020204" pitchFamily="34" charset="0"/>
                        </a:rPr>
                        <a:t>-3,5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66D"/>
                    </a:solidFill>
                  </a:tcPr>
                </a:tc>
                <a:tc>
                  <a:txBody>
                    <a:bodyPr/>
                    <a:lstStyle/>
                    <a:p>
                      <a:pPr algn="r" fontAlgn="b">
                        <a:buNone/>
                      </a:pPr>
                      <a:r>
                        <a:rPr lang="fr-FR" sz="1000" b="0" i="0" u="none" strike="noStrike">
                          <a:solidFill>
                            <a:srgbClr val="00B050"/>
                          </a:solidFill>
                          <a:effectLst/>
                          <a:latin typeface="Aptos Narrow" panose="020B0004020202020204" pitchFamily="34" charset="0"/>
                        </a:rPr>
                        <a:t>9,6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09084833"/>
                  </a:ext>
                </a:extLst>
              </a:tr>
            </a:tbl>
          </a:graphicData>
        </a:graphic>
      </p:graphicFrame>
      <p:graphicFrame>
        <p:nvGraphicFramePr>
          <p:cNvPr id="18" name="Table 17">
            <a:extLst>
              <a:ext uri="{FF2B5EF4-FFF2-40B4-BE49-F238E27FC236}">
                <a16:creationId xmlns:a16="http://schemas.microsoft.com/office/drawing/2014/main" id="{0B75DEFD-59B0-462D-9DB1-90EEDC05977E}"/>
              </a:ext>
            </a:extLst>
          </p:cNvPr>
          <p:cNvGraphicFramePr>
            <a:graphicFrameLocks noGrp="1"/>
          </p:cNvGraphicFramePr>
          <p:nvPr>
            <p:extLst>
              <p:ext uri="{D42A27DB-BD31-4B8C-83A1-F6EECF244321}">
                <p14:modId xmlns:p14="http://schemas.microsoft.com/office/powerpoint/2010/main" val="2108007867"/>
              </p:ext>
            </p:extLst>
          </p:nvPr>
        </p:nvGraphicFramePr>
        <p:xfrm>
          <a:off x="7860089" y="3108234"/>
          <a:ext cx="3592455" cy="1547080"/>
        </p:xfrm>
        <a:graphic>
          <a:graphicData uri="http://schemas.openxmlformats.org/drawingml/2006/table">
            <a:tbl>
              <a:tblPr/>
              <a:tblGrid>
                <a:gridCol w="2160441">
                  <a:extLst>
                    <a:ext uri="{9D8B030D-6E8A-4147-A177-3AD203B41FA5}">
                      <a16:colId xmlns:a16="http://schemas.microsoft.com/office/drawing/2014/main" val="1484187195"/>
                    </a:ext>
                  </a:extLst>
                </a:gridCol>
                <a:gridCol w="477338">
                  <a:extLst>
                    <a:ext uri="{9D8B030D-6E8A-4147-A177-3AD203B41FA5}">
                      <a16:colId xmlns:a16="http://schemas.microsoft.com/office/drawing/2014/main" val="4032238798"/>
                    </a:ext>
                  </a:extLst>
                </a:gridCol>
                <a:gridCol w="477338">
                  <a:extLst>
                    <a:ext uri="{9D8B030D-6E8A-4147-A177-3AD203B41FA5}">
                      <a16:colId xmlns:a16="http://schemas.microsoft.com/office/drawing/2014/main" val="889950018"/>
                    </a:ext>
                  </a:extLst>
                </a:gridCol>
                <a:gridCol w="477338">
                  <a:extLst>
                    <a:ext uri="{9D8B030D-6E8A-4147-A177-3AD203B41FA5}">
                      <a16:colId xmlns:a16="http://schemas.microsoft.com/office/drawing/2014/main" val="1347582527"/>
                    </a:ext>
                  </a:extLst>
                </a:gridCol>
              </a:tblGrid>
              <a:tr h="111356">
                <a:tc>
                  <a:txBody>
                    <a:bodyPr/>
                    <a:lstStyle/>
                    <a:p>
                      <a:pPr algn="l" fontAlgn="b">
                        <a:buNone/>
                      </a:pPr>
                      <a:r>
                        <a:rPr lang="fr-FR" sz="1000" b="0" i="0" u="none" strike="noStrike">
                          <a:solidFill>
                            <a:srgbClr val="000000"/>
                          </a:solidFill>
                          <a:effectLst/>
                          <a:latin typeface="Aptos Narrow" panose="020B0004020202020204" pitchFamily="34" charset="0"/>
                        </a:rPr>
                        <a:t>NPS</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1000" b="1" i="0" u="none" strike="noStrike">
                          <a:solidFill>
                            <a:srgbClr val="000000"/>
                          </a:solidFill>
                          <a:effectLst/>
                          <a:latin typeface="Aptos Narrow" panose="020B0004020202020204" pitchFamily="34" charset="0"/>
                        </a:rPr>
                        <a:t>FY25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1000" b="1" i="0" u="none" strike="noStrike">
                          <a:solidFill>
                            <a:srgbClr val="000000"/>
                          </a:solidFill>
                          <a:effectLst/>
                          <a:latin typeface="Aptos Narrow" panose="020B0004020202020204" pitchFamily="34" charset="0"/>
                        </a:rPr>
                        <a:t>FY24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1000" b="1" i="0" u="none" strike="noStrike">
                          <a:solidFill>
                            <a:srgbClr val="000000"/>
                          </a:solidFill>
                          <a:effectLst/>
                          <a:latin typeface="Aptos Narrow" panose="020B0004020202020204" pitchFamily="34" charset="0"/>
                        </a:rPr>
                        <a:t>Evol</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48335577"/>
                  </a:ext>
                </a:extLst>
              </a:tr>
              <a:tr h="111356">
                <a:tc>
                  <a:txBody>
                    <a:bodyPr/>
                    <a:lstStyle/>
                    <a:p>
                      <a:pPr algn="l" fontAlgn="b">
                        <a:buNone/>
                      </a:pPr>
                      <a:r>
                        <a:rPr lang="fr-FR" sz="1000" b="1" i="0" u="none" strike="noStrike">
                          <a:solidFill>
                            <a:srgbClr val="000000"/>
                          </a:solidFill>
                          <a:effectLst/>
                          <a:latin typeface="Aptos Narrow" panose="020B0004020202020204" pitchFamily="34" charset="0"/>
                        </a:rPr>
                        <a:t>Terhills Resort, Subtotal</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57,2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2CC7E"/>
                    </a:solidFill>
                  </a:tcPr>
                </a:tc>
                <a:tc>
                  <a:txBody>
                    <a:bodyPr/>
                    <a:lstStyle/>
                    <a:p>
                      <a:pPr algn="r" fontAlgn="b">
                        <a:buNone/>
                      </a:pPr>
                      <a:r>
                        <a:rPr lang="fr-FR" sz="1000" b="1" i="0" u="none" strike="noStrike">
                          <a:solidFill>
                            <a:srgbClr val="000000"/>
                          </a:solidFill>
                          <a:effectLst/>
                          <a:latin typeface="Aptos Narrow" panose="020B0004020202020204" pitchFamily="34" charset="0"/>
                        </a:rPr>
                        <a:t>51,8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AD380"/>
                    </a:solidFill>
                  </a:tcPr>
                </a:tc>
                <a:tc>
                  <a:txBody>
                    <a:bodyPr/>
                    <a:lstStyle/>
                    <a:p>
                      <a:pPr algn="r" fontAlgn="b">
                        <a:buNone/>
                      </a:pPr>
                      <a:r>
                        <a:rPr lang="fr-FR" sz="1000" b="0" i="0" u="none" strike="noStrike">
                          <a:solidFill>
                            <a:srgbClr val="00B050"/>
                          </a:solidFill>
                          <a:effectLst/>
                          <a:latin typeface="Aptos Narrow" panose="020B0004020202020204" pitchFamily="34" charset="0"/>
                        </a:rPr>
                        <a:t>5,4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19523593"/>
                  </a:ext>
                </a:extLst>
              </a:tr>
              <a:tr h="111356">
                <a:tc>
                  <a:txBody>
                    <a:bodyPr/>
                    <a:lstStyle/>
                    <a:p>
                      <a:pPr algn="l" fontAlgn="b">
                        <a:buNone/>
                      </a:pPr>
                      <a:r>
                        <a:rPr lang="fr-FR" sz="1000" b="0" i="0" u="none" strike="noStrike">
                          <a:solidFill>
                            <a:srgbClr val="000000"/>
                          </a:solidFill>
                          <a:effectLst/>
                          <a:latin typeface="Aptos Narrow" panose="020B0004020202020204" pitchFamily="34" charset="0"/>
                        </a:rPr>
                        <a:t>Terhills Resort, Adults 35-54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57,1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2CC7E"/>
                    </a:solidFill>
                  </a:tcPr>
                </a:tc>
                <a:tc>
                  <a:txBody>
                    <a:bodyPr/>
                    <a:lstStyle/>
                    <a:p>
                      <a:pPr algn="r" fontAlgn="b">
                        <a:buNone/>
                      </a:pPr>
                      <a:r>
                        <a:rPr lang="fr-FR" sz="1000" b="0" i="0" u="none" strike="noStrike">
                          <a:solidFill>
                            <a:srgbClr val="000000"/>
                          </a:solidFill>
                          <a:effectLst/>
                          <a:latin typeface="Aptos Narrow" panose="020B0004020202020204" pitchFamily="34" charset="0"/>
                        </a:rPr>
                        <a:t>52,6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6D27F"/>
                    </a:solidFill>
                  </a:tcPr>
                </a:tc>
                <a:tc>
                  <a:txBody>
                    <a:bodyPr/>
                    <a:lstStyle/>
                    <a:p>
                      <a:pPr algn="r" fontAlgn="b">
                        <a:buNone/>
                      </a:pPr>
                      <a:r>
                        <a:rPr lang="fr-FR" sz="1000" b="0" i="0" u="none" strike="noStrike">
                          <a:solidFill>
                            <a:srgbClr val="00B050"/>
                          </a:solidFill>
                          <a:effectLst/>
                          <a:latin typeface="Aptos Narrow" panose="020B0004020202020204" pitchFamily="34" charset="0"/>
                        </a:rPr>
                        <a:t>4,5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51084646"/>
                  </a:ext>
                </a:extLst>
              </a:tr>
              <a:tr h="135915">
                <a:tc>
                  <a:txBody>
                    <a:bodyPr/>
                    <a:lstStyle/>
                    <a:p>
                      <a:pPr algn="l" fontAlgn="b">
                        <a:buNone/>
                      </a:pPr>
                      <a:r>
                        <a:rPr lang="en-US" sz="1000" b="0" i="0" u="none" strike="noStrike">
                          <a:solidFill>
                            <a:srgbClr val="000000"/>
                          </a:solidFill>
                          <a:effectLst/>
                          <a:latin typeface="Aptos Narrow" panose="020B0004020202020204" pitchFamily="34" charset="0"/>
                        </a:rPr>
                        <a:t>Terhills Resort, Family with Children 0-2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54,3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FD07F"/>
                    </a:solidFill>
                  </a:tcPr>
                </a:tc>
                <a:tc>
                  <a:txBody>
                    <a:bodyPr/>
                    <a:lstStyle/>
                    <a:p>
                      <a:pPr algn="r" fontAlgn="b">
                        <a:buNone/>
                      </a:pPr>
                      <a:r>
                        <a:rPr lang="fr-FR" sz="1000" b="0" i="0" u="none" strike="noStrike">
                          <a:solidFill>
                            <a:srgbClr val="000000"/>
                          </a:solidFill>
                          <a:effectLst/>
                          <a:latin typeface="Aptos Narrow" panose="020B0004020202020204" pitchFamily="34" charset="0"/>
                        </a:rPr>
                        <a:t>48,1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BD881"/>
                    </a:solidFill>
                  </a:tcPr>
                </a:tc>
                <a:tc>
                  <a:txBody>
                    <a:bodyPr/>
                    <a:lstStyle/>
                    <a:p>
                      <a:pPr algn="r" fontAlgn="b">
                        <a:buNone/>
                      </a:pPr>
                      <a:r>
                        <a:rPr lang="fr-FR" sz="1000" b="0" i="0" u="none" strike="noStrike">
                          <a:solidFill>
                            <a:srgbClr val="00B050"/>
                          </a:solidFill>
                          <a:effectLst/>
                          <a:latin typeface="Aptos Narrow" panose="020B0004020202020204" pitchFamily="34" charset="0"/>
                        </a:rPr>
                        <a:t>6,2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91168063"/>
                  </a:ext>
                </a:extLst>
              </a:tr>
              <a:tr h="135915">
                <a:tc>
                  <a:txBody>
                    <a:bodyPr/>
                    <a:lstStyle/>
                    <a:p>
                      <a:pPr algn="l" fontAlgn="b">
                        <a:buNone/>
                      </a:pPr>
                      <a:r>
                        <a:rPr lang="en-US" sz="1000" b="0" i="0" u="none" strike="noStrike">
                          <a:solidFill>
                            <a:srgbClr val="000000"/>
                          </a:solidFill>
                          <a:effectLst/>
                          <a:latin typeface="Aptos Narrow" panose="020B0004020202020204" pitchFamily="34" charset="0"/>
                        </a:rPr>
                        <a:t>Terhills Resort, Family with Children 12-17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49,3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5D680"/>
                    </a:solidFill>
                  </a:tcPr>
                </a:tc>
                <a:tc>
                  <a:txBody>
                    <a:bodyPr/>
                    <a:lstStyle/>
                    <a:p>
                      <a:pPr algn="r" fontAlgn="b">
                        <a:buNone/>
                      </a:pPr>
                      <a:r>
                        <a:rPr lang="fr-FR" sz="1000" b="0" i="0" u="none" strike="noStrike">
                          <a:solidFill>
                            <a:srgbClr val="000000"/>
                          </a:solidFill>
                          <a:effectLst/>
                          <a:latin typeface="Aptos Narrow" panose="020B0004020202020204" pitchFamily="34" charset="0"/>
                        </a:rPr>
                        <a:t>42,7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3DF82"/>
                    </a:solidFill>
                  </a:tcPr>
                </a:tc>
                <a:tc>
                  <a:txBody>
                    <a:bodyPr/>
                    <a:lstStyle/>
                    <a:p>
                      <a:pPr algn="r" fontAlgn="b">
                        <a:buNone/>
                      </a:pPr>
                      <a:r>
                        <a:rPr lang="fr-FR" sz="1000" b="0" i="0" u="none" strike="noStrike">
                          <a:solidFill>
                            <a:srgbClr val="00B050"/>
                          </a:solidFill>
                          <a:effectLst/>
                          <a:latin typeface="Aptos Narrow" panose="020B0004020202020204" pitchFamily="34" charset="0"/>
                        </a:rPr>
                        <a:t>6,6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42723721"/>
                  </a:ext>
                </a:extLst>
              </a:tr>
              <a:tr h="135915">
                <a:tc>
                  <a:txBody>
                    <a:bodyPr/>
                    <a:lstStyle/>
                    <a:p>
                      <a:pPr algn="l" fontAlgn="b">
                        <a:buNone/>
                      </a:pPr>
                      <a:r>
                        <a:rPr lang="en-US" sz="1000" b="0" i="0" u="none" strike="noStrike">
                          <a:solidFill>
                            <a:srgbClr val="000000"/>
                          </a:solidFill>
                          <a:effectLst/>
                          <a:latin typeface="Aptos Narrow" panose="020B0004020202020204" pitchFamily="34" charset="0"/>
                        </a:rPr>
                        <a:t>Terhills Resort, Family with Children 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53,2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4D17F"/>
                    </a:solidFill>
                  </a:tcPr>
                </a:tc>
                <a:tc>
                  <a:txBody>
                    <a:bodyPr/>
                    <a:lstStyle/>
                    <a:p>
                      <a:pPr algn="r" fontAlgn="b">
                        <a:buNone/>
                      </a:pPr>
                      <a:r>
                        <a:rPr lang="fr-FR" sz="1000" b="0" i="0" u="none" strike="noStrike">
                          <a:solidFill>
                            <a:srgbClr val="000000"/>
                          </a:solidFill>
                          <a:effectLst/>
                          <a:latin typeface="Aptos Narrow" panose="020B0004020202020204" pitchFamily="34" charset="0"/>
                        </a:rPr>
                        <a:t>50,2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1D580"/>
                    </a:solidFill>
                  </a:tcPr>
                </a:tc>
                <a:tc>
                  <a:txBody>
                    <a:bodyPr/>
                    <a:lstStyle/>
                    <a:p>
                      <a:pPr algn="r" fontAlgn="b">
                        <a:buNone/>
                      </a:pPr>
                      <a:r>
                        <a:rPr lang="fr-FR" sz="1000" b="0" i="0" u="none" strike="noStrike">
                          <a:solidFill>
                            <a:srgbClr val="00B050"/>
                          </a:solidFill>
                          <a:effectLst/>
                          <a:latin typeface="Aptos Narrow" panose="020B0004020202020204" pitchFamily="34" charset="0"/>
                        </a:rPr>
                        <a:t>3,0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80701558"/>
                  </a:ext>
                </a:extLst>
              </a:tr>
              <a:tr h="135915">
                <a:tc>
                  <a:txBody>
                    <a:bodyPr/>
                    <a:lstStyle/>
                    <a:p>
                      <a:pPr algn="l" fontAlgn="b">
                        <a:buNone/>
                      </a:pPr>
                      <a:r>
                        <a:rPr lang="en-US" sz="1000" b="0" i="0" u="none" strike="noStrike">
                          <a:solidFill>
                            <a:srgbClr val="000000"/>
                          </a:solidFill>
                          <a:effectLst/>
                          <a:latin typeface="Aptos Narrow" panose="020B0004020202020204" pitchFamily="34" charset="0"/>
                        </a:rPr>
                        <a:t>Terhills Resort, Family with Children 5-11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50,9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ED480"/>
                    </a:solidFill>
                  </a:tcPr>
                </a:tc>
                <a:tc>
                  <a:txBody>
                    <a:bodyPr/>
                    <a:lstStyle/>
                    <a:p>
                      <a:pPr algn="r" fontAlgn="b">
                        <a:buNone/>
                      </a:pPr>
                      <a:r>
                        <a:rPr lang="fr-FR" sz="1000" b="0" i="0" u="none" strike="noStrike">
                          <a:solidFill>
                            <a:srgbClr val="000000"/>
                          </a:solidFill>
                          <a:effectLst/>
                          <a:latin typeface="Aptos Narrow" panose="020B0004020202020204" pitchFamily="34" charset="0"/>
                        </a:rPr>
                        <a:t>51,9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AD380"/>
                    </a:solidFill>
                  </a:tcPr>
                </a:tc>
                <a:tc>
                  <a:txBody>
                    <a:bodyPr/>
                    <a:lstStyle/>
                    <a:p>
                      <a:pPr algn="r" fontAlgn="b">
                        <a:buNone/>
                      </a:pPr>
                      <a:r>
                        <a:rPr lang="fr-FR" sz="1000" b="0" i="0" u="none" strike="noStrike">
                          <a:solidFill>
                            <a:srgbClr val="FF0000"/>
                          </a:solidFill>
                          <a:effectLst/>
                          <a:latin typeface="Aptos Narrow" panose="020B0004020202020204" pitchFamily="34" charset="0"/>
                        </a:rPr>
                        <a:t>-1,0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75696623"/>
                  </a:ext>
                </a:extLst>
              </a:tr>
              <a:tr h="135915">
                <a:tc>
                  <a:txBody>
                    <a:bodyPr/>
                    <a:lstStyle/>
                    <a:p>
                      <a:pPr algn="l" fontAlgn="b">
                        <a:buNone/>
                      </a:pPr>
                      <a:r>
                        <a:rPr lang="en-US" sz="1000" b="0" i="0" u="none" strike="noStrike">
                          <a:solidFill>
                            <a:srgbClr val="000000"/>
                          </a:solidFill>
                          <a:effectLst/>
                          <a:latin typeface="Aptos Narrow" panose="020B0004020202020204" pitchFamily="34" charset="0"/>
                        </a:rPr>
                        <a:t>Terhills Resort, Seniors active 55-74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61,8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DC67D"/>
                    </a:solidFill>
                  </a:tcPr>
                </a:tc>
                <a:tc>
                  <a:txBody>
                    <a:bodyPr/>
                    <a:lstStyle/>
                    <a:p>
                      <a:pPr algn="r" fontAlgn="b">
                        <a:buNone/>
                      </a:pPr>
                      <a:r>
                        <a:rPr lang="fr-FR" sz="1000" b="0" i="0" u="none" strike="noStrike">
                          <a:solidFill>
                            <a:srgbClr val="000000"/>
                          </a:solidFill>
                          <a:effectLst/>
                          <a:latin typeface="Aptos Narrow" panose="020B0004020202020204" pitchFamily="34" charset="0"/>
                        </a:rPr>
                        <a:t>57,1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2CC7E"/>
                    </a:solidFill>
                  </a:tcPr>
                </a:tc>
                <a:tc>
                  <a:txBody>
                    <a:bodyPr/>
                    <a:lstStyle/>
                    <a:p>
                      <a:pPr algn="r" fontAlgn="b">
                        <a:buNone/>
                      </a:pPr>
                      <a:r>
                        <a:rPr lang="fr-FR" sz="1000" b="0" i="0" u="none" strike="noStrike">
                          <a:solidFill>
                            <a:srgbClr val="00B050"/>
                          </a:solidFill>
                          <a:effectLst/>
                          <a:latin typeface="Aptos Narrow" panose="020B0004020202020204" pitchFamily="34" charset="0"/>
                        </a:rPr>
                        <a:t>4,8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66447854"/>
                  </a:ext>
                </a:extLst>
              </a:tr>
              <a:tr h="111356">
                <a:tc>
                  <a:txBody>
                    <a:bodyPr/>
                    <a:lstStyle/>
                    <a:p>
                      <a:pPr algn="l" fontAlgn="b">
                        <a:buNone/>
                      </a:pPr>
                      <a:r>
                        <a:rPr lang="fr-FR" sz="1000" b="0" i="0" u="none" strike="noStrike">
                          <a:solidFill>
                            <a:srgbClr val="000000"/>
                          </a:solidFill>
                          <a:effectLst/>
                          <a:latin typeface="Aptos Narrow" panose="020B0004020202020204" pitchFamily="34" charset="0"/>
                        </a:rPr>
                        <a:t>Terhills Resort, Seniors&gt;75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67,6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4BF7C"/>
                    </a:solidFill>
                  </a:tcPr>
                </a:tc>
                <a:tc>
                  <a:txBody>
                    <a:bodyPr/>
                    <a:lstStyle/>
                    <a:p>
                      <a:pPr algn="r" fontAlgn="b">
                        <a:buNone/>
                      </a:pPr>
                      <a:r>
                        <a:rPr lang="fr-FR" sz="1000" b="0" i="0" u="none" strike="noStrike">
                          <a:solidFill>
                            <a:srgbClr val="000000"/>
                          </a:solidFill>
                          <a:effectLst/>
                          <a:latin typeface="Aptos Narrow" panose="020B0004020202020204" pitchFamily="34" charset="0"/>
                        </a:rPr>
                        <a:t>57,2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2CC7E"/>
                    </a:solidFill>
                  </a:tcPr>
                </a:tc>
                <a:tc>
                  <a:txBody>
                    <a:bodyPr/>
                    <a:lstStyle/>
                    <a:p>
                      <a:pPr algn="r" fontAlgn="b">
                        <a:buNone/>
                      </a:pPr>
                      <a:r>
                        <a:rPr lang="fr-FR" sz="1000" b="0" i="0" u="none" strike="noStrike">
                          <a:solidFill>
                            <a:srgbClr val="00B050"/>
                          </a:solidFill>
                          <a:effectLst/>
                          <a:latin typeface="Aptos Narrow" panose="020B0004020202020204" pitchFamily="34" charset="0"/>
                        </a:rPr>
                        <a:t>10,4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85726873"/>
                  </a:ext>
                </a:extLst>
              </a:tr>
              <a:tr h="111356">
                <a:tc>
                  <a:txBody>
                    <a:bodyPr/>
                    <a:lstStyle/>
                    <a:p>
                      <a:pPr algn="l" fontAlgn="b">
                        <a:buNone/>
                      </a:pPr>
                      <a:r>
                        <a:rPr lang="en-US" sz="1000" b="0" i="0" u="none" strike="noStrike">
                          <a:solidFill>
                            <a:srgbClr val="000000"/>
                          </a:solidFill>
                          <a:effectLst/>
                          <a:latin typeface="Aptos Narrow" panose="020B0004020202020204" pitchFamily="34" charset="0"/>
                        </a:rPr>
                        <a:t>Terhills Resort, Young Adults 18-34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58,1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ECB7E"/>
                    </a:solidFill>
                  </a:tcPr>
                </a:tc>
                <a:tc>
                  <a:txBody>
                    <a:bodyPr/>
                    <a:lstStyle/>
                    <a:p>
                      <a:pPr algn="r" fontAlgn="b">
                        <a:buNone/>
                      </a:pPr>
                      <a:r>
                        <a:rPr lang="fr-FR" sz="1000" b="0" i="0" u="none" strike="noStrike">
                          <a:solidFill>
                            <a:srgbClr val="000000"/>
                          </a:solidFill>
                          <a:effectLst/>
                          <a:latin typeface="Aptos Narrow" panose="020B0004020202020204" pitchFamily="34" charset="0"/>
                        </a:rPr>
                        <a:t>46,3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3DA81"/>
                    </a:solidFill>
                  </a:tcPr>
                </a:tc>
                <a:tc>
                  <a:txBody>
                    <a:bodyPr/>
                    <a:lstStyle/>
                    <a:p>
                      <a:pPr algn="r" fontAlgn="b">
                        <a:buNone/>
                      </a:pPr>
                      <a:r>
                        <a:rPr lang="fr-FR" sz="1000" b="0" i="0" u="none" strike="noStrike">
                          <a:solidFill>
                            <a:srgbClr val="00B050"/>
                          </a:solidFill>
                          <a:effectLst/>
                          <a:latin typeface="Aptos Narrow" panose="020B0004020202020204" pitchFamily="34" charset="0"/>
                        </a:rPr>
                        <a:t>11,9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55414578"/>
                  </a:ext>
                </a:extLst>
              </a:tr>
            </a:tbl>
          </a:graphicData>
        </a:graphic>
      </p:graphicFrame>
      <p:graphicFrame>
        <p:nvGraphicFramePr>
          <p:cNvPr id="20" name="Table 19">
            <a:extLst>
              <a:ext uri="{FF2B5EF4-FFF2-40B4-BE49-F238E27FC236}">
                <a16:creationId xmlns:a16="http://schemas.microsoft.com/office/drawing/2014/main" id="{CDB9BC4E-D264-EB67-F00F-5904DB11C513}"/>
              </a:ext>
            </a:extLst>
          </p:cNvPr>
          <p:cNvGraphicFramePr>
            <a:graphicFrameLocks noGrp="1"/>
          </p:cNvGraphicFramePr>
          <p:nvPr>
            <p:extLst>
              <p:ext uri="{D42A27DB-BD31-4B8C-83A1-F6EECF244321}">
                <p14:modId xmlns:p14="http://schemas.microsoft.com/office/powerpoint/2010/main" val="3537252592"/>
              </p:ext>
            </p:extLst>
          </p:nvPr>
        </p:nvGraphicFramePr>
        <p:xfrm>
          <a:off x="7221646" y="978100"/>
          <a:ext cx="3818412" cy="1683700"/>
        </p:xfrm>
        <a:graphic>
          <a:graphicData uri="http://schemas.openxmlformats.org/drawingml/2006/table">
            <a:tbl>
              <a:tblPr/>
              <a:tblGrid>
                <a:gridCol w="1759044">
                  <a:extLst>
                    <a:ext uri="{9D8B030D-6E8A-4147-A177-3AD203B41FA5}">
                      <a16:colId xmlns:a16="http://schemas.microsoft.com/office/drawing/2014/main" val="1520225261"/>
                    </a:ext>
                  </a:extLst>
                </a:gridCol>
                <a:gridCol w="686456">
                  <a:extLst>
                    <a:ext uri="{9D8B030D-6E8A-4147-A177-3AD203B41FA5}">
                      <a16:colId xmlns:a16="http://schemas.microsoft.com/office/drawing/2014/main" val="1335891326"/>
                    </a:ext>
                  </a:extLst>
                </a:gridCol>
                <a:gridCol w="686456">
                  <a:extLst>
                    <a:ext uri="{9D8B030D-6E8A-4147-A177-3AD203B41FA5}">
                      <a16:colId xmlns:a16="http://schemas.microsoft.com/office/drawing/2014/main" val="1230455035"/>
                    </a:ext>
                  </a:extLst>
                </a:gridCol>
                <a:gridCol w="686456">
                  <a:extLst>
                    <a:ext uri="{9D8B030D-6E8A-4147-A177-3AD203B41FA5}">
                      <a16:colId xmlns:a16="http://schemas.microsoft.com/office/drawing/2014/main" val="3817902469"/>
                    </a:ext>
                  </a:extLst>
                </a:gridCol>
              </a:tblGrid>
              <a:tr h="168370">
                <a:tc>
                  <a:txBody>
                    <a:bodyPr/>
                    <a:lstStyle/>
                    <a:p>
                      <a:pPr algn="l" fontAlgn="b">
                        <a:buNone/>
                      </a:pPr>
                      <a:endParaRPr lang="fr-FR" sz="1050" b="0" i="0" u="none" strike="noStrike">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buNone/>
                      </a:pPr>
                      <a:r>
                        <a:rPr lang="fr-FR" sz="1050" b="1" i="0" u="none" strike="noStrike">
                          <a:solidFill>
                            <a:srgbClr val="000000"/>
                          </a:solidFill>
                          <a:effectLst/>
                          <a:latin typeface="Aptos Narrow" panose="020B0004020202020204" pitchFamily="34" charset="0"/>
                        </a:rPr>
                        <a:t>FY25</a:t>
                      </a:r>
                    </a:p>
                  </a:txBody>
                  <a:tcPr marL="6350" marR="6350" marT="6350" marB="0" anchor="b">
                    <a:lnL>
                      <a:noFill/>
                    </a:lnL>
                    <a:lnR>
                      <a:noFill/>
                    </a:lnR>
                    <a:lnT>
                      <a:noFill/>
                    </a:lnT>
                    <a:lnB>
                      <a:noFill/>
                    </a:lnB>
                    <a:noFill/>
                  </a:tcPr>
                </a:tc>
                <a:tc>
                  <a:txBody>
                    <a:bodyPr/>
                    <a:lstStyle/>
                    <a:p>
                      <a:pPr algn="l" fontAlgn="b">
                        <a:buNone/>
                      </a:pPr>
                      <a:r>
                        <a:rPr lang="fr-FR" sz="1050" b="1" i="0" u="none" strike="noStrike">
                          <a:solidFill>
                            <a:srgbClr val="000000"/>
                          </a:solidFill>
                          <a:effectLst/>
                          <a:latin typeface="Aptos Narrow" panose="020B0004020202020204" pitchFamily="34" charset="0"/>
                        </a:rPr>
                        <a:t>FY24</a:t>
                      </a:r>
                    </a:p>
                  </a:txBody>
                  <a:tcPr marL="6350" marR="6350" marT="6350" marB="0" anchor="b">
                    <a:lnL>
                      <a:noFill/>
                    </a:lnL>
                    <a:lnR>
                      <a:noFill/>
                    </a:lnR>
                    <a:lnT>
                      <a:noFill/>
                    </a:lnT>
                    <a:lnB>
                      <a:noFill/>
                    </a:lnB>
                    <a:noFill/>
                  </a:tcPr>
                </a:tc>
                <a:tc>
                  <a:txBody>
                    <a:bodyPr/>
                    <a:lstStyle/>
                    <a:p>
                      <a:pPr algn="l" fontAlgn="b">
                        <a:buNone/>
                      </a:pPr>
                      <a:r>
                        <a:rPr lang="fr-FR" sz="1050" b="1" i="0" u="none" strike="noStrike">
                          <a:solidFill>
                            <a:srgbClr val="000000"/>
                          </a:solidFill>
                          <a:effectLst/>
                          <a:latin typeface="Aptos Narrow" panose="020B0004020202020204" pitchFamily="34" charset="0"/>
                        </a:rPr>
                        <a:t>Evol</a:t>
                      </a:r>
                    </a:p>
                  </a:txBody>
                  <a:tcPr marL="6350" marR="6350" marT="6350" marB="0" anchor="b">
                    <a:lnL>
                      <a:noFill/>
                    </a:lnL>
                    <a:lnR>
                      <a:noFill/>
                    </a:lnR>
                    <a:lnT>
                      <a:noFill/>
                    </a:lnT>
                    <a:lnB>
                      <a:noFill/>
                    </a:lnB>
                    <a:noFill/>
                  </a:tcPr>
                </a:tc>
                <a:extLst>
                  <a:ext uri="{0D108BD9-81ED-4DB2-BD59-A6C34878D82A}">
                    <a16:rowId xmlns:a16="http://schemas.microsoft.com/office/drawing/2014/main" val="2807290150"/>
                  </a:ext>
                </a:extLst>
              </a:tr>
              <a:tr h="168370">
                <a:tc>
                  <a:txBody>
                    <a:bodyPr/>
                    <a:lstStyle/>
                    <a:p>
                      <a:pPr algn="l" fontAlgn="b">
                        <a:buNone/>
                      </a:pPr>
                      <a:r>
                        <a:rPr lang="fr-FR" sz="1050" b="0" i="0" u="none" strike="noStrike">
                          <a:solidFill>
                            <a:srgbClr val="000000"/>
                          </a:solidFill>
                          <a:effectLst/>
                          <a:latin typeface="Aptos Narrow" panose="020B0004020202020204" pitchFamily="34" charset="0"/>
                        </a:rPr>
                        <a:t>Seniors&gt;75</a:t>
                      </a:r>
                    </a:p>
                  </a:txBody>
                  <a:tcPr marL="6350" marR="6350" marT="6350" marB="0" anchor="b">
                    <a:lnL>
                      <a:noFill/>
                    </a:lnL>
                    <a:lnR>
                      <a:noFill/>
                    </a:lnR>
                    <a:lnT>
                      <a:noFill/>
                    </a:lnT>
                    <a:lnB>
                      <a:noFill/>
                    </a:lnB>
                    <a:noFill/>
                  </a:tcPr>
                </a:tc>
                <a:tc>
                  <a:txBody>
                    <a:bodyPr/>
                    <a:lstStyle/>
                    <a:p>
                      <a:pPr algn="r" fontAlgn="b">
                        <a:buNone/>
                      </a:pPr>
                      <a:r>
                        <a:rPr lang="fr-FR" sz="1050" b="0" i="0" u="none" strike="noStrike">
                          <a:solidFill>
                            <a:srgbClr val="000000"/>
                          </a:solidFill>
                          <a:effectLst/>
                          <a:latin typeface="Aptos Narrow" panose="020B0004020202020204" pitchFamily="34" charset="0"/>
                        </a:rPr>
                        <a:t>39,8</a:t>
                      </a:r>
                    </a:p>
                  </a:txBody>
                  <a:tcPr marL="6350" marR="6350" marT="6350" marB="0" anchor="b">
                    <a:lnL>
                      <a:noFill/>
                    </a:lnL>
                    <a:lnR>
                      <a:noFill/>
                    </a:lnR>
                    <a:lnT>
                      <a:noFill/>
                    </a:lnT>
                    <a:lnB>
                      <a:noFill/>
                    </a:lnB>
                    <a:solidFill>
                      <a:srgbClr val="63BE7B"/>
                    </a:solidFill>
                  </a:tcPr>
                </a:tc>
                <a:tc>
                  <a:txBody>
                    <a:bodyPr/>
                    <a:lstStyle/>
                    <a:p>
                      <a:pPr algn="r" fontAlgn="b">
                        <a:buNone/>
                      </a:pPr>
                      <a:r>
                        <a:rPr lang="fr-FR" sz="1050" b="0" i="0" u="none" strike="noStrike">
                          <a:solidFill>
                            <a:srgbClr val="000000"/>
                          </a:solidFill>
                          <a:effectLst/>
                          <a:latin typeface="Aptos Narrow" panose="020B0004020202020204" pitchFamily="34" charset="0"/>
                        </a:rPr>
                        <a:t>31,1</a:t>
                      </a:r>
                    </a:p>
                  </a:txBody>
                  <a:tcPr marL="6350" marR="6350" marT="6350" marB="0" anchor="b">
                    <a:lnL>
                      <a:noFill/>
                    </a:lnL>
                    <a:lnR>
                      <a:noFill/>
                    </a:lnR>
                    <a:lnT>
                      <a:noFill/>
                    </a:lnT>
                    <a:lnB>
                      <a:noFill/>
                    </a:lnB>
                    <a:solidFill>
                      <a:srgbClr val="A6D38A"/>
                    </a:solidFill>
                  </a:tcPr>
                </a:tc>
                <a:tc>
                  <a:txBody>
                    <a:bodyPr/>
                    <a:lstStyle/>
                    <a:p>
                      <a:pPr algn="r" fontAlgn="b">
                        <a:buNone/>
                      </a:pPr>
                      <a:r>
                        <a:rPr lang="fr-FR" sz="1050" b="0" i="0" u="none" strike="noStrike">
                          <a:solidFill>
                            <a:srgbClr val="00B050"/>
                          </a:solidFill>
                          <a:effectLst/>
                          <a:latin typeface="Aptos Narrow" panose="020B0004020202020204" pitchFamily="34" charset="0"/>
                        </a:rPr>
                        <a:t>8,7</a:t>
                      </a:r>
                    </a:p>
                  </a:txBody>
                  <a:tcPr marL="6350" marR="6350" marT="6350" marB="0" anchor="b">
                    <a:lnL>
                      <a:noFill/>
                    </a:lnL>
                    <a:lnR>
                      <a:noFill/>
                    </a:lnR>
                    <a:lnT>
                      <a:noFill/>
                    </a:lnT>
                    <a:lnB>
                      <a:noFill/>
                    </a:lnB>
                    <a:noFill/>
                  </a:tcPr>
                </a:tc>
                <a:extLst>
                  <a:ext uri="{0D108BD9-81ED-4DB2-BD59-A6C34878D82A}">
                    <a16:rowId xmlns:a16="http://schemas.microsoft.com/office/drawing/2014/main" val="3415133660"/>
                  </a:ext>
                </a:extLst>
              </a:tr>
              <a:tr h="168370">
                <a:tc>
                  <a:txBody>
                    <a:bodyPr/>
                    <a:lstStyle/>
                    <a:p>
                      <a:pPr algn="l" fontAlgn="b">
                        <a:buNone/>
                      </a:pPr>
                      <a:r>
                        <a:rPr lang="fr-FR" sz="1050" b="0" i="0" u="none" strike="noStrike">
                          <a:solidFill>
                            <a:srgbClr val="000000"/>
                          </a:solidFill>
                          <a:effectLst/>
                          <a:latin typeface="Aptos Narrow" panose="020B0004020202020204" pitchFamily="34" charset="0"/>
                        </a:rPr>
                        <a:t>Seniors active 55-74</a:t>
                      </a:r>
                    </a:p>
                  </a:txBody>
                  <a:tcPr marL="6350" marR="6350" marT="6350" marB="0" anchor="b">
                    <a:lnL>
                      <a:noFill/>
                    </a:lnL>
                    <a:lnR>
                      <a:noFill/>
                    </a:lnR>
                    <a:lnT>
                      <a:noFill/>
                    </a:lnT>
                    <a:lnB>
                      <a:noFill/>
                    </a:lnB>
                    <a:noFill/>
                  </a:tcPr>
                </a:tc>
                <a:tc>
                  <a:txBody>
                    <a:bodyPr/>
                    <a:lstStyle/>
                    <a:p>
                      <a:pPr algn="r" fontAlgn="b">
                        <a:buNone/>
                      </a:pPr>
                      <a:r>
                        <a:rPr lang="fr-FR" sz="1050" b="0" i="0" u="none" strike="noStrike">
                          <a:solidFill>
                            <a:srgbClr val="000000"/>
                          </a:solidFill>
                          <a:effectLst/>
                          <a:latin typeface="Aptos Narrow" panose="020B0004020202020204" pitchFamily="34" charset="0"/>
                        </a:rPr>
                        <a:t>35,9</a:t>
                      </a:r>
                    </a:p>
                  </a:txBody>
                  <a:tcPr marL="6350" marR="6350" marT="6350" marB="0" anchor="b">
                    <a:lnL>
                      <a:noFill/>
                    </a:lnL>
                    <a:lnR>
                      <a:noFill/>
                    </a:lnR>
                    <a:lnT>
                      <a:noFill/>
                    </a:lnT>
                    <a:lnB>
                      <a:noFill/>
                    </a:lnB>
                    <a:solidFill>
                      <a:srgbClr val="82C882"/>
                    </a:solidFill>
                  </a:tcPr>
                </a:tc>
                <a:tc>
                  <a:txBody>
                    <a:bodyPr/>
                    <a:lstStyle/>
                    <a:p>
                      <a:pPr algn="r" fontAlgn="b">
                        <a:buNone/>
                      </a:pPr>
                      <a:r>
                        <a:rPr lang="fr-FR" sz="1050" b="0" i="0" u="none" strike="noStrike">
                          <a:solidFill>
                            <a:srgbClr val="000000"/>
                          </a:solidFill>
                          <a:effectLst/>
                          <a:latin typeface="Aptos Narrow" panose="020B0004020202020204" pitchFamily="34" charset="0"/>
                        </a:rPr>
                        <a:t>31,5</a:t>
                      </a:r>
                    </a:p>
                  </a:txBody>
                  <a:tcPr marL="6350" marR="6350" marT="6350" marB="0" anchor="b">
                    <a:lnL>
                      <a:noFill/>
                    </a:lnL>
                    <a:lnR>
                      <a:noFill/>
                    </a:lnR>
                    <a:lnT>
                      <a:noFill/>
                    </a:lnT>
                    <a:lnB>
                      <a:noFill/>
                    </a:lnB>
                    <a:solidFill>
                      <a:srgbClr val="A3D389"/>
                    </a:solidFill>
                  </a:tcPr>
                </a:tc>
                <a:tc>
                  <a:txBody>
                    <a:bodyPr/>
                    <a:lstStyle/>
                    <a:p>
                      <a:pPr algn="r" fontAlgn="b">
                        <a:buNone/>
                      </a:pPr>
                      <a:r>
                        <a:rPr lang="fr-FR" sz="1050" b="0" i="0" u="none" strike="noStrike">
                          <a:solidFill>
                            <a:srgbClr val="00B050"/>
                          </a:solidFill>
                          <a:effectLst/>
                          <a:latin typeface="Aptos Narrow" panose="020B0004020202020204" pitchFamily="34" charset="0"/>
                        </a:rPr>
                        <a:t>4,4</a:t>
                      </a:r>
                    </a:p>
                  </a:txBody>
                  <a:tcPr marL="6350" marR="6350" marT="6350" marB="0" anchor="b">
                    <a:lnL>
                      <a:noFill/>
                    </a:lnL>
                    <a:lnR>
                      <a:noFill/>
                    </a:lnR>
                    <a:lnT>
                      <a:noFill/>
                    </a:lnT>
                    <a:lnB>
                      <a:noFill/>
                    </a:lnB>
                    <a:noFill/>
                  </a:tcPr>
                </a:tc>
                <a:extLst>
                  <a:ext uri="{0D108BD9-81ED-4DB2-BD59-A6C34878D82A}">
                    <a16:rowId xmlns:a16="http://schemas.microsoft.com/office/drawing/2014/main" val="1281197732"/>
                  </a:ext>
                </a:extLst>
              </a:tr>
              <a:tr h="168370">
                <a:tc>
                  <a:txBody>
                    <a:bodyPr/>
                    <a:lstStyle/>
                    <a:p>
                      <a:pPr algn="l" fontAlgn="b">
                        <a:buNone/>
                      </a:pPr>
                      <a:r>
                        <a:rPr lang="fr-FR" sz="1050" b="0" i="0" u="none" strike="noStrike">
                          <a:solidFill>
                            <a:srgbClr val="000000"/>
                          </a:solidFill>
                          <a:effectLst/>
                          <a:latin typeface="Aptos Narrow" panose="020B0004020202020204" pitchFamily="34" charset="0"/>
                        </a:rPr>
                        <a:t>Family with Children 3-4</a:t>
                      </a:r>
                    </a:p>
                  </a:txBody>
                  <a:tcPr marL="6350" marR="6350" marT="6350" marB="0" anchor="b">
                    <a:lnL>
                      <a:noFill/>
                    </a:lnL>
                    <a:lnR>
                      <a:noFill/>
                    </a:lnR>
                    <a:lnT>
                      <a:noFill/>
                    </a:lnT>
                    <a:lnB>
                      <a:noFill/>
                    </a:lnB>
                    <a:noFill/>
                  </a:tcPr>
                </a:tc>
                <a:tc>
                  <a:txBody>
                    <a:bodyPr/>
                    <a:lstStyle/>
                    <a:p>
                      <a:pPr algn="r" fontAlgn="b">
                        <a:buNone/>
                      </a:pPr>
                      <a:r>
                        <a:rPr lang="fr-FR" sz="1050" b="0" i="0" u="none" strike="noStrike">
                          <a:solidFill>
                            <a:srgbClr val="000000"/>
                          </a:solidFill>
                          <a:effectLst/>
                          <a:latin typeface="Aptos Narrow" panose="020B0004020202020204" pitchFamily="34" charset="0"/>
                        </a:rPr>
                        <a:t>31,6</a:t>
                      </a:r>
                    </a:p>
                  </a:txBody>
                  <a:tcPr marL="6350" marR="6350" marT="6350" marB="0" anchor="b">
                    <a:lnL>
                      <a:noFill/>
                    </a:lnL>
                    <a:lnR>
                      <a:noFill/>
                    </a:lnR>
                    <a:lnT>
                      <a:noFill/>
                    </a:lnT>
                    <a:lnB>
                      <a:noFill/>
                    </a:lnB>
                    <a:solidFill>
                      <a:srgbClr val="A3D289"/>
                    </a:solidFill>
                  </a:tcPr>
                </a:tc>
                <a:tc>
                  <a:txBody>
                    <a:bodyPr/>
                    <a:lstStyle/>
                    <a:p>
                      <a:pPr algn="r" fontAlgn="b">
                        <a:buNone/>
                      </a:pPr>
                      <a:r>
                        <a:rPr lang="fr-FR" sz="1050" b="0" i="0" u="none" strike="noStrike">
                          <a:solidFill>
                            <a:srgbClr val="000000"/>
                          </a:solidFill>
                          <a:effectLst/>
                          <a:latin typeface="Aptos Narrow" panose="020B0004020202020204" pitchFamily="34" charset="0"/>
                        </a:rPr>
                        <a:t>24,5</a:t>
                      </a:r>
                    </a:p>
                  </a:txBody>
                  <a:tcPr marL="6350" marR="6350" marT="6350" marB="0" anchor="b">
                    <a:lnL>
                      <a:noFill/>
                    </a:lnL>
                    <a:lnR>
                      <a:noFill/>
                    </a:lnR>
                    <a:lnT>
                      <a:noFill/>
                    </a:lnT>
                    <a:lnB>
                      <a:noFill/>
                    </a:lnB>
                    <a:solidFill>
                      <a:srgbClr val="D9E394"/>
                    </a:solidFill>
                  </a:tcPr>
                </a:tc>
                <a:tc>
                  <a:txBody>
                    <a:bodyPr/>
                    <a:lstStyle/>
                    <a:p>
                      <a:pPr algn="r" fontAlgn="b">
                        <a:buNone/>
                      </a:pPr>
                      <a:r>
                        <a:rPr lang="fr-FR" sz="1050" b="0" i="0" u="none" strike="noStrike">
                          <a:solidFill>
                            <a:srgbClr val="00B050"/>
                          </a:solidFill>
                          <a:effectLst/>
                          <a:latin typeface="Aptos Narrow" panose="020B0004020202020204" pitchFamily="34" charset="0"/>
                        </a:rPr>
                        <a:t>7,2</a:t>
                      </a:r>
                    </a:p>
                  </a:txBody>
                  <a:tcPr marL="6350" marR="6350" marT="6350" marB="0" anchor="b">
                    <a:lnL>
                      <a:noFill/>
                    </a:lnL>
                    <a:lnR>
                      <a:noFill/>
                    </a:lnR>
                    <a:lnT>
                      <a:noFill/>
                    </a:lnT>
                    <a:lnB>
                      <a:noFill/>
                    </a:lnB>
                    <a:noFill/>
                  </a:tcPr>
                </a:tc>
                <a:extLst>
                  <a:ext uri="{0D108BD9-81ED-4DB2-BD59-A6C34878D82A}">
                    <a16:rowId xmlns:a16="http://schemas.microsoft.com/office/drawing/2014/main" val="181111111"/>
                  </a:ext>
                </a:extLst>
              </a:tr>
              <a:tr h="168370">
                <a:tc>
                  <a:txBody>
                    <a:bodyPr/>
                    <a:lstStyle/>
                    <a:p>
                      <a:pPr algn="l" fontAlgn="b">
                        <a:buNone/>
                      </a:pPr>
                      <a:r>
                        <a:rPr lang="fr-FR" sz="1050" b="0" i="0" u="none" strike="noStrike">
                          <a:solidFill>
                            <a:srgbClr val="000000"/>
                          </a:solidFill>
                          <a:effectLst/>
                          <a:latin typeface="Aptos Narrow" panose="020B0004020202020204" pitchFamily="34" charset="0"/>
                        </a:rPr>
                        <a:t>Family with Children 5-11</a:t>
                      </a:r>
                    </a:p>
                  </a:txBody>
                  <a:tcPr marL="6350" marR="6350" marT="6350" marB="0" anchor="b">
                    <a:lnL>
                      <a:noFill/>
                    </a:lnL>
                    <a:lnR>
                      <a:noFill/>
                    </a:lnR>
                    <a:lnT>
                      <a:noFill/>
                    </a:lnT>
                    <a:lnB>
                      <a:noFill/>
                    </a:lnB>
                    <a:noFill/>
                  </a:tcPr>
                </a:tc>
                <a:tc>
                  <a:txBody>
                    <a:bodyPr/>
                    <a:lstStyle/>
                    <a:p>
                      <a:pPr algn="r" fontAlgn="b">
                        <a:buNone/>
                      </a:pPr>
                      <a:r>
                        <a:rPr lang="fr-FR" sz="1050" b="0" i="0" u="none" strike="noStrike">
                          <a:solidFill>
                            <a:srgbClr val="000000"/>
                          </a:solidFill>
                          <a:effectLst/>
                          <a:latin typeface="Aptos Narrow" panose="020B0004020202020204" pitchFamily="34" charset="0"/>
                        </a:rPr>
                        <a:t>31,2</a:t>
                      </a:r>
                    </a:p>
                  </a:txBody>
                  <a:tcPr marL="6350" marR="6350" marT="6350" marB="0" anchor="b">
                    <a:lnL>
                      <a:noFill/>
                    </a:lnL>
                    <a:lnR>
                      <a:noFill/>
                    </a:lnR>
                    <a:lnT>
                      <a:noFill/>
                    </a:lnT>
                    <a:lnB>
                      <a:noFill/>
                    </a:lnB>
                    <a:solidFill>
                      <a:srgbClr val="A6D389"/>
                    </a:solidFill>
                  </a:tcPr>
                </a:tc>
                <a:tc>
                  <a:txBody>
                    <a:bodyPr/>
                    <a:lstStyle/>
                    <a:p>
                      <a:pPr algn="r" fontAlgn="b">
                        <a:buNone/>
                      </a:pPr>
                      <a:r>
                        <a:rPr lang="fr-FR" sz="1050" b="0" i="0" u="none" strike="noStrike">
                          <a:solidFill>
                            <a:srgbClr val="000000"/>
                          </a:solidFill>
                          <a:effectLst/>
                          <a:latin typeface="Aptos Narrow" panose="020B0004020202020204" pitchFamily="34" charset="0"/>
                        </a:rPr>
                        <a:t>27,1</a:t>
                      </a:r>
                    </a:p>
                  </a:txBody>
                  <a:tcPr marL="6350" marR="6350" marT="6350" marB="0" anchor="b">
                    <a:lnL>
                      <a:noFill/>
                    </a:lnL>
                    <a:lnR>
                      <a:noFill/>
                    </a:lnR>
                    <a:lnT>
                      <a:noFill/>
                    </a:lnT>
                    <a:lnB>
                      <a:noFill/>
                    </a:lnB>
                    <a:solidFill>
                      <a:srgbClr val="C5DD90"/>
                    </a:solidFill>
                  </a:tcPr>
                </a:tc>
                <a:tc>
                  <a:txBody>
                    <a:bodyPr/>
                    <a:lstStyle/>
                    <a:p>
                      <a:pPr algn="r" fontAlgn="b">
                        <a:buNone/>
                      </a:pPr>
                      <a:r>
                        <a:rPr lang="fr-FR" sz="1050" b="0" i="0" u="none" strike="noStrike">
                          <a:solidFill>
                            <a:srgbClr val="00B050"/>
                          </a:solidFill>
                          <a:effectLst/>
                          <a:latin typeface="Aptos Narrow" panose="020B0004020202020204" pitchFamily="34" charset="0"/>
                        </a:rPr>
                        <a:t>4,1</a:t>
                      </a:r>
                    </a:p>
                  </a:txBody>
                  <a:tcPr marL="6350" marR="6350" marT="6350" marB="0" anchor="b">
                    <a:lnL>
                      <a:noFill/>
                    </a:lnL>
                    <a:lnR>
                      <a:noFill/>
                    </a:lnR>
                    <a:lnT>
                      <a:noFill/>
                    </a:lnT>
                    <a:lnB>
                      <a:noFill/>
                    </a:lnB>
                    <a:noFill/>
                  </a:tcPr>
                </a:tc>
                <a:extLst>
                  <a:ext uri="{0D108BD9-81ED-4DB2-BD59-A6C34878D82A}">
                    <a16:rowId xmlns:a16="http://schemas.microsoft.com/office/drawing/2014/main" val="2016525181"/>
                  </a:ext>
                </a:extLst>
              </a:tr>
              <a:tr h="168370">
                <a:tc>
                  <a:txBody>
                    <a:bodyPr/>
                    <a:lstStyle/>
                    <a:p>
                      <a:pPr algn="l" fontAlgn="b">
                        <a:buNone/>
                      </a:pPr>
                      <a:r>
                        <a:rPr lang="fr-FR" sz="1050" b="1" i="0" u="none" strike="noStrike">
                          <a:solidFill>
                            <a:srgbClr val="000000"/>
                          </a:solidFill>
                          <a:effectLst/>
                          <a:latin typeface="Aptos Narrow" panose="020B0004020202020204" pitchFamily="34" charset="0"/>
                        </a:rPr>
                        <a:t>Total</a:t>
                      </a:r>
                    </a:p>
                  </a:txBody>
                  <a:tcPr marL="6350" marR="6350" marT="6350" marB="0" anchor="b">
                    <a:lnL>
                      <a:noFill/>
                    </a:lnL>
                    <a:lnR>
                      <a:noFill/>
                    </a:lnR>
                    <a:lnT>
                      <a:noFill/>
                    </a:lnT>
                    <a:lnB>
                      <a:noFill/>
                    </a:lnB>
                    <a:noFill/>
                  </a:tcPr>
                </a:tc>
                <a:tc>
                  <a:txBody>
                    <a:bodyPr/>
                    <a:lstStyle/>
                    <a:p>
                      <a:pPr algn="r" fontAlgn="b">
                        <a:buNone/>
                      </a:pPr>
                      <a:r>
                        <a:rPr lang="fr-FR" sz="1050" b="1" i="0" u="none" strike="noStrike">
                          <a:solidFill>
                            <a:srgbClr val="000000"/>
                          </a:solidFill>
                          <a:effectLst/>
                          <a:latin typeface="Aptos Narrow" panose="020B0004020202020204" pitchFamily="34" charset="0"/>
                        </a:rPr>
                        <a:t>30,5</a:t>
                      </a:r>
                    </a:p>
                  </a:txBody>
                  <a:tcPr marL="6350" marR="6350" marT="6350" marB="0" anchor="b">
                    <a:lnL>
                      <a:noFill/>
                    </a:lnL>
                    <a:lnR>
                      <a:noFill/>
                    </a:lnR>
                    <a:lnT>
                      <a:noFill/>
                    </a:lnT>
                    <a:lnB>
                      <a:noFill/>
                    </a:lnB>
                    <a:solidFill>
                      <a:srgbClr val="ABD58B"/>
                    </a:solidFill>
                  </a:tcPr>
                </a:tc>
                <a:tc>
                  <a:txBody>
                    <a:bodyPr/>
                    <a:lstStyle/>
                    <a:p>
                      <a:pPr algn="r" fontAlgn="b">
                        <a:buNone/>
                      </a:pPr>
                      <a:r>
                        <a:rPr lang="fr-FR" sz="1050" b="1" i="0" u="none" strike="noStrike">
                          <a:solidFill>
                            <a:srgbClr val="000000"/>
                          </a:solidFill>
                          <a:effectLst/>
                          <a:latin typeface="Aptos Narrow" panose="020B0004020202020204" pitchFamily="34" charset="0"/>
                        </a:rPr>
                        <a:t>25,6</a:t>
                      </a:r>
                    </a:p>
                  </a:txBody>
                  <a:tcPr marL="6350" marR="6350" marT="6350" marB="0" anchor="b">
                    <a:lnL>
                      <a:noFill/>
                    </a:lnL>
                    <a:lnR>
                      <a:noFill/>
                    </a:lnR>
                    <a:lnT>
                      <a:noFill/>
                    </a:lnT>
                    <a:lnB>
                      <a:noFill/>
                    </a:lnB>
                    <a:solidFill>
                      <a:srgbClr val="D1E193"/>
                    </a:solidFill>
                  </a:tcPr>
                </a:tc>
                <a:tc>
                  <a:txBody>
                    <a:bodyPr/>
                    <a:lstStyle/>
                    <a:p>
                      <a:pPr algn="r" fontAlgn="b">
                        <a:buNone/>
                      </a:pPr>
                      <a:r>
                        <a:rPr lang="fr-FR" sz="1050" b="1" i="0" u="none" strike="noStrike">
                          <a:solidFill>
                            <a:srgbClr val="00B050"/>
                          </a:solidFill>
                          <a:effectLst/>
                          <a:latin typeface="Aptos Narrow" panose="020B0004020202020204" pitchFamily="34" charset="0"/>
                        </a:rPr>
                        <a:t>4,9</a:t>
                      </a:r>
                    </a:p>
                  </a:txBody>
                  <a:tcPr marL="6350" marR="6350" marT="6350" marB="0" anchor="b">
                    <a:lnL>
                      <a:noFill/>
                    </a:lnL>
                    <a:lnR>
                      <a:noFill/>
                    </a:lnR>
                    <a:lnT>
                      <a:noFill/>
                    </a:lnT>
                    <a:lnB>
                      <a:noFill/>
                    </a:lnB>
                    <a:noFill/>
                  </a:tcPr>
                </a:tc>
                <a:extLst>
                  <a:ext uri="{0D108BD9-81ED-4DB2-BD59-A6C34878D82A}">
                    <a16:rowId xmlns:a16="http://schemas.microsoft.com/office/drawing/2014/main" val="73912066"/>
                  </a:ext>
                </a:extLst>
              </a:tr>
              <a:tr h="168370">
                <a:tc>
                  <a:txBody>
                    <a:bodyPr/>
                    <a:lstStyle/>
                    <a:p>
                      <a:pPr algn="l" fontAlgn="b">
                        <a:buNone/>
                      </a:pPr>
                      <a:r>
                        <a:rPr lang="fr-FR" sz="1050" b="0" i="0" u="none" strike="noStrike">
                          <a:solidFill>
                            <a:srgbClr val="000000"/>
                          </a:solidFill>
                          <a:effectLst/>
                          <a:latin typeface="Aptos Narrow" panose="020B0004020202020204" pitchFamily="34" charset="0"/>
                        </a:rPr>
                        <a:t>Adults 35-54</a:t>
                      </a:r>
                    </a:p>
                  </a:txBody>
                  <a:tcPr marL="6350" marR="6350" marT="6350" marB="0" anchor="b">
                    <a:lnL>
                      <a:noFill/>
                    </a:lnL>
                    <a:lnR>
                      <a:noFill/>
                    </a:lnR>
                    <a:lnT>
                      <a:noFill/>
                    </a:lnT>
                    <a:lnB>
                      <a:noFill/>
                    </a:lnB>
                    <a:noFill/>
                  </a:tcPr>
                </a:tc>
                <a:tc>
                  <a:txBody>
                    <a:bodyPr/>
                    <a:lstStyle/>
                    <a:p>
                      <a:pPr algn="r" fontAlgn="b">
                        <a:buNone/>
                      </a:pPr>
                      <a:r>
                        <a:rPr lang="fr-FR" sz="1050" b="0" i="0" u="none" strike="noStrike">
                          <a:solidFill>
                            <a:srgbClr val="000000"/>
                          </a:solidFill>
                          <a:effectLst/>
                          <a:latin typeface="Aptos Narrow" panose="020B0004020202020204" pitchFamily="34" charset="0"/>
                        </a:rPr>
                        <a:t>30,3</a:t>
                      </a:r>
                    </a:p>
                  </a:txBody>
                  <a:tcPr marL="6350" marR="6350" marT="6350" marB="0" anchor="b">
                    <a:lnL>
                      <a:noFill/>
                    </a:lnL>
                    <a:lnR>
                      <a:noFill/>
                    </a:lnR>
                    <a:lnT>
                      <a:noFill/>
                    </a:lnT>
                    <a:lnB>
                      <a:noFill/>
                    </a:lnB>
                    <a:solidFill>
                      <a:srgbClr val="ACD58B"/>
                    </a:solidFill>
                  </a:tcPr>
                </a:tc>
                <a:tc>
                  <a:txBody>
                    <a:bodyPr/>
                    <a:lstStyle/>
                    <a:p>
                      <a:pPr algn="r" fontAlgn="b">
                        <a:buNone/>
                      </a:pPr>
                      <a:r>
                        <a:rPr lang="fr-FR" sz="1050" b="0" i="0" u="none" strike="noStrike">
                          <a:solidFill>
                            <a:srgbClr val="000000"/>
                          </a:solidFill>
                          <a:effectLst/>
                          <a:latin typeface="Aptos Narrow" panose="020B0004020202020204" pitchFamily="34" charset="0"/>
                        </a:rPr>
                        <a:t>24,4</a:t>
                      </a:r>
                    </a:p>
                  </a:txBody>
                  <a:tcPr marL="6350" marR="6350" marT="6350" marB="0" anchor="b">
                    <a:lnL>
                      <a:noFill/>
                    </a:lnL>
                    <a:lnR>
                      <a:noFill/>
                    </a:lnR>
                    <a:lnT>
                      <a:noFill/>
                    </a:lnT>
                    <a:lnB>
                      <a:noFill/>
                    </a:lnB>
                    <a:solidFill>
                      <a:srgbClr val="D9E494"/>
                    </a:solidFill>
                  </a:tcPr>
                </a:tc>
                <a:tc>
                  <a:txBody>
                    <a:bodyPr/>
                    <a:lstStyle/>
                    <a:p>
                      <a:pPr algn="r" fontAlgn="b">
                        <a:buNone/>
                      </a:pPr>
                      <a:r>
                        <a:rPr lang="fr-FR" sz="1050" b="0" i="0" u="none" strike="noStrike">
                          <a:solidFill>
                            <a:srgbClr val="00B050"/>
                          </a:solidFill>
                          <a:effectLst/>
                          <a:latin typeface="Aptos Narrow" panose="020B0004020202020204" pitchFamily="34" charset="0"/>
                        </a:rPr>
                        <a:t>5,9</a:t>
                      </a:r>
                    </a:p>
                  </a:txBody>
                  <a:tcPr marL="6350" marR="6350" marT="6350" marB="0" anchor="b">
                    <a:lnL>
                      <a:noFill/>
                    </a:lnL>
                    <a:lnR>
                      <a:noFill/>
                    </a:lnR>
                    <a:lnT>
                      <a:noFill/>
                    </a:lnT>
                    <a:lnB>
                      <a:noFill/>
                    </a:lnB>
                    <a:noFill/>
                  </a:tcPr>
                </a:tc>
                <a:extLst>
                  <a:ext uri="{0D108BD9-81ED-4DB2-BD59-A6C34878D82A}">
                    <a16:rowId xmlns:a16="http://schemas.microsoft.com/office/drawing/2014/main" val="86637684"/>
                  </a:ext>
                </a:extLst>
              </a:tr>
              <a:tr h="168370">
                <a:tc>
                  <a:txBody>
                    <a:bodyPr/>
                    <a:lstStyle/>
                    <a:p>
                      <a:pPr algn="l" fontAlgn="b">
                        <a:buNone/>
                      </a:pPr>
                      <a:r>
                        <a:rPr lang="fr-FR" sz="1050" b="0" i="0" u="none" strike="noStrike">
                          <a:solidFill>
                            <a:srgbClr val="000000"/>
                          </a:solidFill>
                          <a:effectLst/>
                          <a:latin typeface="Aptos Narrow" panose="020B0004020202020204" pitchFamily="34" charset="0"/>
                        </a:rPr>
                        <a:t>Young Adults 18-34</a:t>
                      </a:r>
                    </a:p>
                  </a:txBody>
                  <a:tcPr marL="6350" marR="6350" marT="6350" marB="0" anchor="b">
                    <a:lnL>
                      <a:noFill/>
                    </a:lnL>
                    <a:lnR>
                      <a:noFill/>
                    </a:lnR>
                    <a:lnT>
                      <a:noFill/>
                    </a:lnT>
                    <a:lnB>
                      <a:noFill/>
                    </a:lnB>
                    <a:noFill/>
                  </a:tcPr>
                </a:tc>
                <a:tc>
                  <a:txBody>
                    <a:bodyPr/>
                    <a:lstStyle/>
                    <a:p>
                      <a:pPr algn="r" fontAlgn="b">
                        <a:buNone/>
                      </a:pPr>
                      <a:r>
                        <a:rPr lang="fr-FR" sz="1050" b="0" i="0" u="none" strike="noStrike">
                          <a:solidFill>
                            <a:srgbClr val="000000"/>
                          </a:solidFill>
                          <a:effectLst/>
                          <a:latin typeface="Aptos Narrow" panose="020B0004020202020204" pitchFamily="34" charset="0"/>
                        </a:rPr>
                        <a:t>29,6</a:t>
                      </a:r>
                    </a:p>
                  </a:txBody>
                  <a:tcPr marL="6350" marR="6350" marT="6350" marB="0" anchor="b">
                    <a:lnL>
                      <a:noFill/>
                    </a:lnL>
                    <a:lnR>
                      <a:noFill/>
                    </a:lnR>
                    <a:lnT>
                      <a:noFill/>
                    </a:lnT>
                    <a:lnB>
                      <a:noFill/>
                    </a:lnB>
                    <a:solidFill>
                      <a:srgbClr val="B2D78C"/>
                    </a:solidFill>
                  </a:tcPr>
                </a:tc>
                <a:tc>
                  <a:txBody>
                    <a:bodyPr/>
                    <a:lstStyle/>
                    <a:p>
                      <a:pPr algn="r" fontAlgn="b">
                        <a:buNone/>
                      </a:pPr>
                      <a:r>
                        <a:rPr lang="fr-FR" sz="1050" b="0" i="0" u="none" strike="noStrike">
                          <a:solidFill>
                            <a:srgbClr val="000000"/>
                          </a:solidFill>
                          <a:effectLst/>
                          <a:latin typeface="Aptos Narrow" panose="020B0004020202020204" pitchFamily="34" charset="0"/>
                        </a:rPr>
                        <a:t>22,7</a:t>
                      </a:r>
                    </a:p>
                  </a:txBody>
                  <a:tcPr marL="6350" marR="6350" marT="6350" marB="0" anchor="b">
                    <a:lnL>
                      <a:noFill/>
                    </a:lnL>
                    <a:lnR>
                      <a:noFill/>
                    </a:lnR>
                    <a:lnT>
                      <a:noFill/>
                    </a:lnT>
                    <a:lnB>
                      <a:noFill/>
                    </a:lnB>
                    <a:solidFill>
                      <a:srgbClr val="E6E897"/>
                    </a:solidFill>
                  </a:tcPr>
                </a:tc>
                <a:tc>
                  <a:txBody>
                    <a:bodyPr/>
                    <a:lstStyle/>
                    <a:p>
                      <a:pPr algn="r" fontAlgn="b">
                        <a:buNone/>
                      </a:pPr>
                      <a:r>
                        <a:rPr lang="fr-FR" sz="1050" b="0" i="0" u="none" strike="noStrike">
                          <a:solidFill>
                            <a:srgbClr val="00B050"/>
                          </a:solidFill>
                          <a:effectLst/>
                          <a:latin typeface="Aptos Narrow" panose="020B0004020202020204" pitchFamily="34" charset="0"/>
                        </a:rPr>
                        <a:t>6,8</a:t>
                      </a:r>
                    </a:p>
                  </a:txBody>
                  <a:tcPr marL="6350" marR="6350" marT="6350" marB="0" anchor="b">
                    <a:lnL>
                      <a:noFill/>
                    </a:lnL>
                    <a:lnR>
                      <a:noFill/>
                    </a:lnR>
                    <a:lnT>
                      <a:noFill/>
                    </a:lnT>
                    <a:lnB>
                      <a:noFill/>
                    </a:lnB>
                    <a:noFill/>
                  </a:tcPr>
                </a:tc>
                <a:extLst>
                  <a:ext uri="{0D108BD9-81ED-4DB2-BD59-A6C34878D82A}">
                    <a16:rowId xmlns:a16="http://schemas.microsoft.com/office/drawing/2014/main" val="2739575021"/>
                  </a:ext>
                </a:extLst>
              </a:tr>
              <a:tr h="168370">
                <a:tc>
                  <a:txBody>
                    <a:bodyPr/>
                    <a:lstStyle/>
                    <a:p>
                      <a:pPr algn="l" fontAlgn="b">
                        <a:buNone/>
                      </a:pPr>
                      <a:r>
                        <a:rPr lang="fr-FR" sz="1050" b="0" i="0" u="none" strike="noStrike">
                          <a:solidFill>
                            <a:srgbClr val="000000"/>
                          </a:solidFill>
                          <a:effectLst/>
                          <a:latin typeface="Aptos Narrow" panose="020B0004020202020204" pitchFamily="34" charset="0"/>
                        </a:rPr>
                        <a:t>Family with Children 0-2</a:t>
                      </a:r>
                    </a:p>
                  </a:txBody>
                  <a:tcPr marL="6350" marR="6350" marT="6350" marB="0" anchor="b">
                    <a:lnL>
                      <a:noFill/>
                    </a:lnL>
                    <a:lnR>
                      <a:noFill/>
                    </a:lnR>
                    <a:lnT>
                      <a:noFill/>
                    </a:lnT>
                    <a:lnB>
                      <a:noFill/>
                    </a:lnB>
                    <a:noFill/>
                  </a:tcPr>
                </a:tc>
                <a:tc>
                  <a:txBody>
                    <a:bodyPr/>
                    <a:lstStyle/>
                    <a:p>
                      <a:pPr algn="r" fontAlgn="b">
                        <a:buNone/>
                      </a:pPr>
                      <a:r>
                        <a:rPr lang="fr-FR" sz="1050" b="0" i="0" u="none" strike="noStrike">
                          <a:solidFill>
                            <a:srgbClr val="000000"/>
                          </a:solidFill>
                          <a:effectLst/>
                          <a:latin typeface="Aptos Narrow" panose="020B0004020202020204" pitchFamily="34" charset="0"/>
                        </a:rPr>
                        <a:t>27,1</a:t>
                      </a:r>
                    </a:p>
                  </a:txBody>
                  <a:tcPr marL="6350" marR="6350" marT="6350" marB="0" anchor="b">
                    <a:lnL>
                      <a:noFill/>
                    </a:lnL>
                    <a:lnR>
                      <a:noFill/>
                    </a:lnR>
                    <a:lnT>
                      <a:noFill/>
                    </a:lnT>
                    <a:lnB>
                      <a:noFill/>
                    </a:lnB>
                    <a:solidFill>
                      <a:srgbClr val="C5DD90"/>
                    </a:solidFill>
                  </a:tcPr>
                </a:tc>
                <a:tc>
                  <a:txBody>
                    <a:bodyPr/>
                    <a:lstStyle/>
                    <a:p>
                      <a:pPr algn="r" fontAlgn="b">
                        <a:buNone/>
                      </a:pPr>
                      <a:r>
                        <a:rPr lang="fr-FR" sz="1050" b="0" i="0" u="none" strike="noStrike">
                          <a:solidFill>
                            <a:srgbClr val="000000"/>
                          </a:solidFill>
                          <a:effectLst/>
                          <a:latin typeface="Aptos Narrow" panose="020B0004020202020204" pitchFamily="34" charset="0"/>
                        </a:rPr>
                        <a:t>21,7</a:t>
                      </a:r>
                    </a:p>
                  </a:txBody>
                  <a:tcPr marL="6350" marR="6350" marT="6350" marB="0" anchor="b">
                    <a:lnL>
                      <a:noFill/>
                    </a:lnL>
                    <a:lnR>
                      <a:noFill/>
                    </a:lnR>
                    <a:lnT>
                      <a:noFill/>
                    </a:lnT>
                    <a:lnB>
                      <a:noFill/>
                    </a:lnB>
                    <a:solidFill>
                      <a:srgbClr val="EEEA99"/>
                    </a:solidFill>
                  </a:tcPr>
                </a:tc>
                <a:tc>
                  <a:txBody>
                    <a:bodyPr/>
                    <a:lstStyle/>
                    <a:p>
                      <a:pPr algn="r" fontAlgn="b">
                        <a:buNone/>
                      </a:pPr>
                      <a:r>
                        <a:rPr lang="fr-FR" sz="1050" b="0" i="0" u="none" strike="noStrike">
                          <a:solidFill>
                            <a:srgbClr val="00B050"/>
                          </a:solidFill>
                          <a:effectLst/>
                          <a:latin typeface="Aptos Narrow" panose="020B0004020202020204" pitchFamily="34" charset="0"/>
                        </a:rPr>
                        <a:t>5,4</a:t>
                      </a:r>
                    </a:p>
                  </a:txBody>
                  <a:tcPr marL="6350" marR="6350" marT="6350" marB="0" anchor="b">
                    <a:lnL>
                      <a:noFill/>
                    </a:lnL>
                    <a:lnR>
                      <a:noFill/>
                    </a:lnR>
                    <a:lnT>
                      <a:noFill/>
                    </a:lnT>
                    <a:lnB>
                      <a:noFill/>
                    </a:lnB>
                    <a:noFill/>
                  </a:tcPr>
                </a:tc>
                <a:extLst>
                  <a:ext uri="{0D108BD9-81ED-4DB2-BD59-A6C34878D82A}">
                    <a16:rowId xmlns:a16="http://schemas.microsoft.com/office/drawing/2014/main" val="564121172"/>
                  </a:ext>
                </a:extLst>
              </a:tr>
              <a:tr h="168370">
                <a:tc>
                  <a:txBody>
                    <a:bodyPr/>
                    <a:lstStyle/>
                    <a:p>
                      <a:pPr algn="l" fontAlgn="b">
                        <a:buNone/>
                      </a:pPr>
                      <a:r>
                        <a:rPr lang="fr-FR" sz="1050" b="0" i="0" u="none" strike="noStrike">
                          <a:solidFill>
                            <a:srgbClr val="000000"/>
                          </a:solidFill>
                          <a:effectLst/>
                          <a:latin typeface="Aptos Narrow" panose="020B0004020202020204" pitchFamily="34" charset="0"/>
                        </a:rPr>
                        <a:t>Family with Children 12-17</a:t>
                      </a:r>
                    </a:p>
                  </a:txBody>
                  <a:tcPr marL="6350" marR="6350" marT="6350" marB="0" anchor="b">
                    <a:lnL>
                      <a:noFill/>
                    </a:lnL>
                    <a:lnR>
                      <a:noFill/>
                    </a:lnR>
                    <a:lnT>
                      <a:noFill/>
                    </a:lnT>
                    <a:lnB>
                      <a:noFill/>
                    </a:lnB>
                    <a:noFill/>
                  </a:tcPr>
                </a:tc>
                <a:tc>
                  <a:txBody>
                    <a:bodyPr/>
                    <a:lstStyle/>
                    <a:p>
                      <a:pPr algn="r" fontAlgn="b">
                        <a:buNone/>
                      </a:pPr>
                      <a:r>
                        <a:rPr lang="fr-FR" sz="1050" b="0" i="0" u="none" strike="noStrike">
                          <a:solidFill>
                            <a:srgbClr val="000000"/>
                          </a:solidFill>
                          <a:effectLst/>
                          <a:latin typeface="Aptos Narrow" panose="020B0004020202020204" pitchFamily="34" charset="0"/>
                        </a:rPr>
                        <a:t>22,3</a:t>
                      </a:r>
                    </a:p>
                  </a:txBody>
                  <a:tcPr marL="6350" marR="6350" marT="6350" marB="0" anchor="b">
                    <a:lnL>
                      <a:noFill/>
                    </a:lnL>
                    <a:lnR>
                      <a:noFill/>
                    </a:lnR>
                    <a:lnT>
                      <a:noFill/>
                    </a:lnT>
                    <a:lnB>
                      <a:noFill/>
                    </a:lnB>
                    <a:solidFill>
                      <a:srgbClr val="EAE998"/>
                    </a:solidFill>
                  </a:tcPr>
                </a:tc>
                <a:tc>
                  <a:txBody>
                    <a:bodyPr/>
                    <a:lstStyle/>
                    <a:p>
                      <a:pPr algn="r" fontAlgn="b">
                        <a:buNone/>
                      </a:pPr>
                      <a:r>
                        <a:rPr lang="fr-FR" sz="1050" b="0" i="0" u="none" strike="noStrike">
                          <a:solidFill>
                            <a:srgbClr val="000000"/>
                          </a:solidFill>
                          <a:effectLst/>
                          <a:latin typeface="Aptos Narrow" panose="020B0004020202020204" pitchFamily="34" charset="0"/>
                        </a:rPr>
                        <a:t>19,4</a:t>
                      </a:r>
                    </a:p>
                  </a:txBody>
                  <a:tcPr marL="6350" marR="6350" marT="6350" marB="0" anchor="b">
                    <a:lnL>
                      <a:noFill/>
                    </a:lnL>
                    <a:lnR>
                      <a:noFill/>
                    </a:lnR>
                    <a:lnT>
                      <a:noFill/>
                    </a:lnT>
                    <a:lnB>
                      <a:noFill/>
                    </a:lnB>
                    <a:solidFill>
                      <a:srgbClr val="FFEF9C"/>
                    </a:solidFill>
                  </a:tcPr>
                </a:tc>
                <a:tc>
                  <a:txBody>
                    <a:bodyPr/>
                    <a:lstStyle/>
                    <a:p>
                      <a:pPr algn="r" fontAlgn="b">
                        <a:buNone/>
                      </a:pPr>
                      <a:r>
                        <a:rPr lang="fr-FR" sz="1050" b="0" i="0" u="none" strike="noStrike">
                          <a:solidFill>
                            <a:srgbClr val="00B050"/>
                          </a:solidFill>
                          <a:effectLst/>
                          <a:latin typeface="Aptos Narrow" panose="020B0004020202020204" pitchFamily="34" charset="0"/>
                        </a:rPr>
                        <a:t>2,8</a:t>
                      </a:r>
                    </a:p>
                  </a:txBody>
                  <a:tcPr marL="6350" marR="6350" marT="6350" marB="0" anchor="b">
                    <a:lnL>
                      <a:noFill/>
                    </a:lnL>
                    <a:lnR>
                      <a:noFill/>
                    </a:lnR>
                    <a:lnT>
                      <a:noFill/>
                    </a:lnT>
                    <a:lnB>
                      <a:noFill/>
                    </a:lnB>
                    <a:noFill/>
                  </a:tcPr>
                </a:tc>
                <a:extLst>
                  <a:ext uri="{0D108BD9-81ED-4DB2-BD59-A6C34878D82A}">
                    <a16:rowId xmlns:a16="http://schemas.microsoft.com/office/drawing/2014/main" val="2068059938"/>
                  </a:ext>
                </a:extLst>
              </a:tr>
            </a:tbl>
          </a:graphicData>
        </a:graphic>
      </p:graphicFrame>
      <p:sp>
        <p:nvSpPr>
          <p:cNvPr id="22" name="TextBox 21">
            <a:extLst>
              <a:ext uri="{FF2B5EF4-FFF2-40B4-BE49-F238E27FC236}">
                <a16:creationId xmlns:a16="http://schemas.microsoft.com/office/drawing/2014/main" id="{D22F0AF7-299B-0EB7-A133-357B84ABC48C}"/>
              </a:ext>
            </a:extLst>
          </p:cNvPr>
          <p:cNvSpPr txBox="1"/>
          <p:nvPr/>
        </p:nvSpPr>
        <p:spPr>
          <a:xfrm>
            <a:off x="7964596" y="5151871"/>
            <a:ext cx="3170129" cy="224164"/>
          </a:xfrm>
          <a:prstGeom prst="rect">
            <a:avLst/>
          </a:prstGeom>
          <a:noFill/>
        </p:spPr>
        <p:txBody>
          <a:bodyPr wrap="square">
            <a:spAutoFit/>
          </a:bodyPr>
          <a:lstStyle/>
          <a:p>
            <a:pPr marL="558800" lvl="2" algn="ctr">
              <a:lnSpc>
                <a:spcPct val="120000"/>
              </a:lnSpc>
            </a:pPr>
            <a:r>
              <a:rPr lang="en-US" sz="800">
                <a:solidFill>
                  <a:schemeClr val="tx2"/>
                </a:solidFill>
                <a:latin typeface="+mj-lt"/>
                <a:ea typeface="Calibri"/>
                <a:cs typeface="Calibri"/>
              </a:rPr>
              <a:t>No household structure info on Sunparks.8</a:t>
            </a:r>
          </a:p>
        </p:txBody>
      </p:sp>
    </p:spTree>
    <p:extLst>
      <p:ext uri="{BB962C8B-B14F-4D97-AF65-F5344CB8AC3E}">
        <p14:creationId xmlns:p14="http://schemas.microsoft.com/office/powerpoint/2010/main" val="2806297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EC2EA-0278-430D-BFCF-15E0B5C505F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0F0A1F-F78D-DB6F-DC51-8039ECC84B64}"/>
              </a:ext>
            </a:extLst>
          </p:cNvPr>
          <p:cNvSpPr>
            <a:spLocks noGrp="1"/>
          </p:cNvSpPr>
          <p:nvPr>
            <p:ph type="sldNum" sz="quarter" idx="12"/>
          </p:nvPr>
        </p:nvSpPr>
        <p:spPr/>
        <p:txBody>
          <a:bodyPr/>
          <a:lstStyle/>
          <a:p>
            <a:fld id="{0D2E6A04-B99A-6C4D-8942-945F97C9E705}" type="slidenum">
              <a:rPr lang="en-US" smtClean="0"/>
              <a:pPr/>
              <a:t>20</a:t>
            </a:fld>
            <a:endParaRPr lang="en-US"/>
          </a:p>
        </p:txBody>
      </p:sp>
      <p:sp>
        <p:nvSpPr>
          <p:cNvPr id="3" name="Date Placeholder 2">
            <a:extLst>
              <a:ext uri="{FF2B5EF4-FFF2-40B4-BE49-F238E27FC236}">
                <a16:creationId xmlns:a16="http://schemas.microsoft.com/office/drawing/2014/main" id="{73CD0BC3-F633-E74B-A801-87638B69A788}"/>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A14F2FAD-3D52-24E4-6198-5C2EC4940786}"/>
              </a:ext>
            </a:extLst>
          </p:cNvPr>
          <p:cNvSpPr>
            <a:spLocks noGrp="1"/>
          </p:cNvSpPr>
          <p:nvPr>
            <p:ph type="title"/>
          </p:nvPr>
        </p:nvSpPr>
        <p:spPr/>
        <p:txBody>
          <a:bodyPr/>
          <a:lstStyle/>
          <a:p>
            <a:r>
              <a:rPr lang="fr-FR"/>
              <a:t>Belgium – NPS per </a:t>
            </a:r>
            <a:r>
              <a:rPr lang="fr-FR" err="1"/>
              <a:t>customer</a:t>
            </a:r>
            <a:r>
              <a:rPr lang="fr-FR"/>
              <a:t> country</a:t>
            </a:r>
          </a:p>
        </p:txBody>
      </p:sp>
      <p:sp>
        <p:nvSpPr>
          <p:cNvPr id="7" name="Rechthoek 4">
            <a:extLst>
              <a:ext uri="{FF2B5EF4-FFF2-40B4-BE49-F238E27FC236}">
                <a16:creationId xmlns:a16="http://schemas.microsoft.com/office/drawing/2014/main" id="{E2C95B41-974F-34CD-0D4E-62E013363A5E}"/>
              </a:ext>
            </a:extLst>
          </p:cNvPr>
          <p:cNvSpPr/>
          <p:nvPr/>
        </p:nvSpPr>
        <p:spPr>
          <a:xfrm>
            <a:off x="-1" y="978100"/>
            <a:ext cx="6934201" cy="1696720"/>
          </a:xfrm>
          <a:prstGeom prst="rect">
            <a:avLst/>
          </a:prstGeom>
          <a:solidFill>
            <a:schemeClr val="bg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GB and BE origin are the highest NPS.</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FR, CH and NL are the lowest NPS below average.</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Increase of all origin in all parks in Belgium.</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Excepted at </a:t>
            </a:r>
            <a:r>
              <a:rPr lang="en-US" sz="1200" b="1" err="1">
                <a:solidFill>
                  <a:schemeClr val="tx2"/>
                </a:solidFill>
                <a:latin typeface="+mj-lt"/>
                <a:ea typeface="Calibri"/>
                <a:cs typeface="Calibri"/>
              </a:rPr>
              <a:t>Oostduinkerke</a:t>
            </a:r>
            <a:r>
              <a:rPr lang="en-US" sz="1200" b="1">
                <a:solidFill>
                  <a:schemeClr val="tx2"/>
                </a:solidFill>
                <a:latin typeface="+mj-lt"/>
                <a:ea typeface="Calibri"/>
                <a:cs typeface="Calibri"/>
              </a:rPr>
              <a:t> with decrease on all main origin BNGF.</a:t>
            </a:r>
            <a:endParaRPr lang="en-US" sz="1200">
              <a:solidFill>
                <a:schemeClr val="tx2"/>
              </a:solidFill>
              <a:latin typeface="+mj-lt"/>
              <a:ea typeface="Calibri"/>
              <a:cs typeface="Calibri"/>
            </a:endParaRPr>
          </a:p>
        </p:txBody>
      </p:sp>
      <p:sp>
        <p:nvSpPr>
          <p:cNvPr id="8" name="Rectangle 7">
            <a:extLst>
              <a:ext uri="{FF2B5EF4-FFF2-40B4-BE49-F238E27FC236}">
                <a16:creationId xmlns:a16="http://schemas.microsoft.com/office/drawing/2014/main" id="{64A136C9-51DB-132C-8A16-EA65E812E02C}"/>
              </a:ext>
            </a:extLst>
          </p:cNvPr>
          <p:cNvSpPr/>
          <p:nvPr/>
        </p:nvSpPr>
        <p:spPr>
          <a:xfrm rot="16200000">
            <a:off x="-617105" y="1646060"/>
            <a:ext cx="1656000"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bg2"/>
                </a:solidFill>
                <a:ea typeface="Calibri"/>
                <a:cs typeface="Calibri"/>
              </a:rPr>
              <a:t>Analysis</a:t>
            </a:r>
            <a:endParaRPr lang="en-US" sz="1100">
              <a:solidFill>
                <a:schemeClr val="bg2"/>
              </a:solidFill>
            </a:endParaRPr>
          </a:p>
        </p:txBody>
      </p:sp>
      <p:graphicFrame>
        <p:nvGraphicFramePr>
          <p:cNvPr id="6" name="Table 5">
            <a:extLst>
              <a:ext uri="{FF2B5EF4-FFF2-40B4-BE49-F238E27FC236}">
                <a16:creationId xmlns:a16="http://schemas.microsoft.com/office/drawing/2014/main" id="{AE0D0E5A-2413-D306-666B-763E5BC414C8}"/>
              </a:ext>
            </a:extLst>
          </p:cNvPr>
          <p:cNvGraphicFramePr>
            <a:graphicFrameLocks noGrp="1"/>
          </p:cNvGraphicFramePr>
          <p:nvPr>
            <p:extLst>
              <p:ext uri="{D42A27DB-BD31-4B8C-83A1-F6EECF244321}">
                <p14:modId xmlns:p14="http://schemas.microsoft.com/office/powerpoint/2010/main" val="946513586"/>
              </p:ext>
            </p:extLst>
          </p:nvPr>
        </p:nvGraphicFramePr>
        <p:xfrm>
          <a:off x="210895" y="2826385"/>
          <a:ext cx="3835400" cy="1148080"/>
        </p:xfrm>
        <a:graphic>
          <a:graphicData uri="http://schemas.openxmlformats.org/drawingml/2006/table">
            <a:tbl>
              <a:tblPr/>
              <a:tblGrid>
                <a:gridCol w="2006600">
                  <a:extLst>
                    <a:ext uri="{9D8B030D-6E8A-4147-A177-3AD203B41FA5}">
                      <a16:colId xmlns:a16="http://schemas.microsoft.com/office/drawing/2014/main" val="1331048242"/>
                    </a:ext>
                  </a:extLst>
                </a:gridCol>
                <a:gridCol w="609600">
                  <a:extLst>
                    <a:ext uri="{9D8B030D-6E8A-4147-A177-3AD203B41FA5}">
                      <a16:colId xmlns:a16="http://schemas.microsoft.com/office/drawing/2014/main" val="368512835"/>
                    </a:ext>
                  </a:extLst>
                </a:gridCol>
                <a:gridCol w="609600">
                  <a:extLst>
                    <a:ext uri="{9D8B030D-6E8A-4147-A177-3AD203B41FA5}">
                      <a16:colId xmlns:a16="http://schemas.microsoft.com/office/drawing/2014/main" val="388633927"/>
                    </a:ext>
                  </a:extLst>
                </a:gridCol>
                <a:gridCol w="609600">
                  <a:extLst>
                    <a:ext uri="{9D8B030D-6E8A-4147-A177-3AD203B41FA5}">
                      <a16:colId xmlns:a16="http://schemas.microsoft.com/office/drawing/2014/main" val="1156154572"/>
                    </a:ext>
                  </a:extLst>
                </a:gridCol>
              </a:tblGrid>
              <a:tr h="123737">
                <a:tc>
                  <a:txBody>
                    <a:bodyPr/>
                    <a:lstStyle/>
                    <a:p>
                      <a:pPr algn="l" fontAlgn="b">
                        <a:buNone/>
                      </a:pPr>
                      <a:r>
                        <a:rPr lang="fr-FR" sz="900" b="0" i="0" u="none" strike="noStrike">
                          <a:solidFill>
                            <a:srgbClr val="000000"/>
                          </a:solidFill>
                          <a:effectLst/>
                          <a:latin typeface="Aptos Narrow" panose="020B0004020202020204" pitchFamily="34" charset="0"/>
                        </a:rPr>
                        <a:t>NPS</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68176889"/>
                  </a:ext>
                </a:extLst>
              </a:tr>
              <a:tr h="123737">
                <a:tc>
                  <a:txBody>
                    <a:bodyPr/>
                    <a:lstStyle/>
                    <a:p>
                      <a:pPr algn="l" fontAlgn="b">
                        <a:buNone/>
                      </a:pPr>
                      <a:r>
                        <a:rPr lang="fr-FR" sz="900" b="0" i="0" u="none" strike="noStrike">
                          <a:solidFill>
                            <a:srgbClr val="000000"/>
                          </a:solidFill>
                          <a:effectLst/>
                          <a:latin typeface="Aptos Narrow" panose="020B0004020202020204" pitchFamily="34" charset="0"/>
                        </a:rPr>
                        <a:t>De Vossemeren, Subtotal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34,0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7E082"/>
                    </a:solidFill>
                  </a:tcPr>
                </a:tc>
                <a:tc>
                  <a:txBody>
                    <a:bodyPr/>
                    <a:lstStyle/>
                    <a:p>
                      <a:pPr algn="r" fontAlgn="b">
                        <a:buNone/>
                      </a:pPr>
                      <a:r>
                        <a:rPr lang="fr-FR" sz="900" b="0" i="0" u="none" strike="noStrike">
                          <a:solidFill>
                            <a:srgbClr val="000000"/>
                          </a:solidFill>
                          <a:effectLst/>
                          <a:latin typeface="Aptos Narrow" panose="020B0004020202020204" pitchFamily="34" charset="0"/>
                        </a:rPr>
                        <a:t>34,1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7E082"/>
                    </a:solidFill>
                  </a:tcPr>
                </a:tc>
                <a:tc>
                  <a:txBody>
                    <a:bodyPr/>
                    <a:lstStyle/>
                    <a:p>
                      <a:pPr algn="r" fontAlgn="b">
                        <a:buNone/>
                      </a:pPr>
                      <a:r>
                        <a:rPr lang="fr-FR" sz="900" b="0" i="0" u="none" strike="noStrike">
                          <a:solidFill>
                            <a:srgbClr val="FF0000"/>
                          </a:solidFill>
                          <a:effectLst/>
                          <a:latin typeface="Aptos Narrow" panose="020B0004020202020204" pitchFamily="34" charset="0"/>
                        </a:rPr>
                        <a:t>-0,1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01824008"/>
                  </a:ext>
                </a:extLst>
              </a:tr>
              <a:tr h="123737">
                <a:tc>
                  <a:txBody>
                    <a:bodyPr/>
                    <a:lstStyle/>
                    <a:p>
                      <a:pPr algn="l" fontAlgn="b">
                        <a:buNone/>
                      </a:pPr>
                      <a:r>
                        <a:rPr lang="fr-FR" sz="900" b="0" i="0" u="none" strike="noStrike">
                          <a:solidFill>
                            <a:srgbClr val="000000"/>
                          </a:solidFill>
                          <a:effectLst/>
                          <a:latin typeface="Aptos Narrow" panose="020B0004020202020204" pitchFamily="34" charset="0"/>
                        </a:rPr>
                        <a:t>De Vossemeren, BE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38,3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DDD82"/>
                    </a:solidFill>
                  </a:tcPr>
                </a:tc>
                <a:tc>
                  <a:txBody>
                    <a:bodyPr/>
                    <a:lstStyle/>
                    <a:p>
                      <a:pPr algn="r" fontAlgn="b">
                        <a:buNone/>
                      </a:pPr>
                      <a:r>
                        <a:rPr lang="fr-FR" sz="900" b="0" i="0" u="none" strike="noStrike">
                          <a:solidFill>
                            <a:srgbClr val="000000"/>
                          </a:solidFill>
                          <a:effectLst/>
                          <a:latin typeface="Aptos Narrow" panose="020B0004020202020204" pitchFamily="34" charset="0"/>
                        </a:rPr>
                        <a:t>37,3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FDE82"/>
                    </a:solidFill>
                  </a:tcPr>
                </a:tc>
                <a:tc>
                  <a:txBody>
                    <a:bodyPr/>
                    <a:lstStyle/>
                    <a:p>
                      <a:pPr algn="r" fontAlgn="b">
                        <a:buNone/>
                      </a:pPr>
                      <a:r>
                        <a:rPr lang="fr-FR" sz="900" b="0" i="0" u="none" strike="noStrike">
                          <a:solidFill>
                            <a:srgbClr val="00B050"/>
                          </a:solidFill>
                          <a:effectLst/>
                          <a:latin typeface="Aptos Narrow" panose="020B0004020202020204" pitchFamily="34" charset="0"/>
                        </a:rPr>
                        <a:t>1,1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42527712"/>
                  </a:ext>
                </a:extLst>
              </a:tr>
              <a:tr h="123737">
                <a:tc>
                  <a:txBody>
                    <a:bodyPr/>
                    <a:lstStyle/>
                    <a:p>
                      <a:pPr algn="l" fontAlgn="b">
                        <a:buNone/>
                      </a:pPr>
                      <a:r>
                        <a:rPr lang="fr-FR" sz="900" b="0" i="0" u="none" strike="noStrike">
                          <a:solidFill>
                            <a:srgbClr val="000000"/>
                          </a:solidFill>
                          <a:effectLst/>
                          <a:latin typeface="Aptos Narrow" panose="020B0004020202020204" pitchFamily="34" charset="0"/>
                        </a:rPr>
                        <a:t>De Vossemeren, DE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34,1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7E082"/>
                    </a:solidFill>
                  </a:tcPr>
                </a:tc>
                <a:tc>
                  <a:txBody>
                    <a:bodyPr/>
                    <a:lstStyle/>
                    <a:p>
                      <a:pPr algn="r" fontAlgn="b">
                        <a:buNone/>
                      </a:pPr>
                      <a:r>
                        <a:rPr lang="fr-FR" sz="900" b="0" i="0" u="none" strike="noStrike">
                          <a:solidFill>
                            <a:srgbClr val="000000"/>
                          </a:solidFill>
                          <a:effectLst/>
                          <a:latin typeface="Aptos Narrow" panose="020B0004020202020204" pitchFamily="34" charset="0"/>
                        </a:rPr>
                        <a:t>34,5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6DF82"/>
                    </a:solidFill>
                  </a:tcPr>
                </a:tc>
                <a:tc>
                  <a:txBody>
                    <a:bodyPr/>
                    <a:lstStyle/>
                    <a:p>
                      <a:pPr algn="r" fontAlgn="b">
                        <a:buNone/>
                      </a:pPr>
                      <a:r>
                        <a:rPr lang="fr-FR" sz="900" b="0" i="0" u="none" strike="noStrike">
                          <a:solidFill>
                            <a:srgbClr val="FF0000"/>
                          </a:solidFill>
                          <a:effectLst/>
                          <a:latin typeface="Aptos Narrow" panose="020B0004020202020204" pitchFamily="34" charset="0"/>
                        </a:rPr>
                        <a:t>-0,4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09283203"/>
                  </a:ext>
                </a:extLst>
              </a:tr>
              <a:tr h="123737">
                <a:tc>
                  <a:txBody>
                    <a:bodyPr/>
                    <a:lstStyle/>
                    <a:p>
                      <a:pPr algn="l" fontAlgn="b">
                        <a:buNone/>
                      </a:pPr>
                      <a:r>
                        <a:rPr lang="fr-FR" sz="900" b="0" i="0" u="none" strike="noStrike">
                          <a:solidFill>
                            <a:srgbClr val="000000"/>
                          </a:solidFill>
                          <a:effectLst/>
                          <a:latin typeface="Aptos Narrow" panose="020B0004020202020204" pitchFamily="34" charset="0"/>
                        </a:rPr>
                        <a:t>De Vossemeren, FR</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44,3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ED981"/>
                    </a:solidFill>
                  </a:tcPr>
                </a:tc>
                <a:tc>
                  <a:txBody>
                    <a:bodyPr/>
                    <a:lstStyle/>
                    <a:p>
                      <a:pPr algn="r" fontAlgn="b">
                        <a:buNone/>
                      </a:pPr>
                      <a:r>
                        <a:rPr lang="fr-FR" sz="900" b="0" i="0" u="none" strike="noStrike">
                          <a:solidFill>
                            <a:srgbClr val="000000"/>
                          </a:solidFill>
                          <a:effectLst/>
                          <a:latin typeface="Aptos Narrow" panose="020B0004020202020204" pitchFamily="34" charset="0"/>
                        </a:rPr>
                        <a:t>43,1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1D981"/>
                    </a:solidFill>
                  </a:tcPr>
                </a:tc>
                <a:tc>
                  <a:txBody>
                    <a:bodyPr/>
                    <a:lstStyle/>
                    <a:p>
                      <a:pPr algn="r" fontAlgn="b">
                        <a:buNone/>
                      </a:pPr>
                      <a:r>
                        <a:rPr lang="fr-FR" sz="900" b="0" i="0" u="none" strike="noStrike">
                          <a:solidFill>
                            <a:srgbClr val="00B050"/>
                          </a:solidFill>
                          <a:effectLst/>
                          <a:latin typeface="Aptos Narrow" panose="020B0004020202020204" pitchFamily="34" charset="0"/>
                        </a:rPr>
                        <a:t>1,2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7393060"/>
                  </a:ext>
                </a:extLst>
              </a:tr>
              <a:tr h="123737">
                <a:tc>
                  <a:txBody>
                    <a:bodyPr/>
                    <a:lstStyle/>
                    <a:p>
                      <a:pPr algn="l" fontAlgn="b">
                        <a:buNone/>
                      </a:pPr>
                      <a:r>
                        <a:rPr lang="fr-FR" sz="900" b="0" i="0" u="none" strike="noStrike">
                          <a:solidFill>
                            <a:srgbClr val="000000"/>
                          </a:solidFill>
                          <a:effectLst/>
                          <a:latin typeface="Aptos Narrow" panose="020B0004020202020204" pitchFamily="34" charset="0"/>
                        </a:rPr>
                        <a:t>De Vossemeren, GB</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58,2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DCF7F"/>
                    </a:solidFill>
                  </a:tcPr>
                </a:tc>
                <a:tc>
                  <a:txBody>
                    <a:bodyPr/>
                    <a:lstStyle/>
                    <a:p>
                      <a:pPr algn="r" fontAlgn="b">
                        <a:buNone/>
                      </a:pPr>
                      <a:r>
                        <a:rPr lang="fr-FR" sz="900" b="0" i="0" u="none" strike="noStrike">
                          <a:solidFill>
                            <a:srgbClr val="000000"/>
                          </a:solidFill>
                          <a:effectLst/>
                          <a:latin typeface="Aptos Narrow" panose="020B0004020202020204" pitchFamily="34" charset="0"/>
                        </a:rPr>
                        <a:t>58,7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BCF7F"/>
                    </a:solidFill>
                  </a:tcPr>
                </a:tc>
                <a:tc>
                  <a:txBody>
                    <a:bodyPr/>
                    <a:lstStyle/>
                    <a:p>
                      <a:pPr algn="r" fontAlgn="b">
                        <a:buNone/>
                      </a:pPr>
                      <a:r>
                        <a:rPr lang="fr-FR" sz="900" b="0" i="0" u="none" strike="noStrike">
                          <a:solidFill>
                            <a:srgbClr val="FF0000"/>
                          </a:solidFill>
                          <a:effectLst/>
                          <a:latin typeface="Aptos Narrow" panose="020B0004020202020204" pitchFamily="34" charset="0"/>
                        </a:rPr>
                        <a:t>-0,5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93079245"/>
                  </a:ext>
                </a:extLst>
              </a:tr>
              <a:tr h="123737">
                <a:tc>
                  <a:txBody>
                    <a:bodyPr/>
                    <a:lstStyle/>
                    <a:p>
                      <a:pPr algn="l" fontAlgn="b">
                        <a:buNone/>
                      </a:pPr>
                      <a:r>
                        <a:rPr lang="fr-FR" sz="900" b="0" i="0" u="none" strike="noStrike">
                          <a:solidFill>
                            <a:srgbClr val="000000"/>
                          </a:solidFill>
                          <a:effectLst/>
                          <a:latin typeface="Aptos Narrow" panose="020B0004020202020204" pitchFamily="34" charset="0"/>
                        </a:rPr>
                        <a:t>De Vossemeren, LU</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27,7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6E483"/>
                    </a:solidFill>
                  </a:tcPr>
                </a:tc>
                <a:tc>
                  <a:txBody>
                    <a:bodyPr/>
                    <a:lstStyle/>
                    <a:p>
                      <a:pPr algn="r" fontAlgn="b">
                        <a:buNone/>
                      </a:pPr>
                      <a:r>
                        <a:rPr lang="fr-FR" sz="900" b="0" i="0" u="none" strike="noStrike">
                          <a:solidFill>
                            <a:srgbClr val="000000"/>
                          </a:solidFill>
                          <a:effectLst/>
                          <a:latin typeface="Aptos Narrow" panose="020B0004020202020204" pitchFamily="34" charset="0"/>
                        </a:rPr>
                        <a:t>36,3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2DE82"/>
                    </a:solidFill>
                  </a:tcPr>
                </a:tc>
                <a:tc>
                  <a:txBody>
                    <a:bodyPr/>
                    <a:lstStyle/>
                    <a:p>
                      <a:pPr algn="r" fontAlgn="b">
                        <a:buNone/>
                      </a:pPr>
                      <a:r>
                        <a:rPr lang="fr-FR" sz="900" b="0" i="0" u="none" strike="noStrike">
                          <a:solidFill>
                            <a:srgbClr val="FF0000"/>
                          </a:solidFill>
                          <a:effectLst/>
                          <a:latin typeface="Aptos Narrow" panose="020B0004020202020204" pitchFamily="34" charset="0"/>
                        </a:rPr>
                        <a:t>-8,6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59719676"/>
                  </a:ext>
                </a:extLst>
              </a:tr>
              <a:tr h="123737">
                <a:tc>
                  <a:txBody>
                    <a:bodyPr/>
                    <a:lstStyle/>
                    <a:p>
                      <a:pPr algn="l" fontAlgn="b">
                        <a:buNone/>
                      </a:pPr>
                      <a:r>
                        <a:rPr lang="fr-FR" sz="900" b="0" i="0" u="none" strike="noStrike">
                          <a:solidFill>
                            <a:srgbClr val="000000"/>
                          </a:solidFill>
                          <a:effectLst/>
                          <a:latin typeface="Aptos Narrow" panose="020B0004020202020204" pitchFamily="34" charset="0"/>
                        </a:rPr>
                        <a:t>De Vossemeren, NL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21,4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5E984"/>
                    </a:solidFill>
                  </a:tcPr>
                </a:tc>
                <a:tc>
                  <a:txBody>
                    <a:bodyPr/>
                    <a:lstStyle/>
                    <a:p>
                      <a:pPr algn="r" fontAlgn="b">
                        <a:buNone/>
                      </a:pPr>
                      <a:r>
                        <a:rPr lang="fr-FR" sz="900" b="0" i="0" u="none" strike="noStrike">
                          <a:solidFill>
                            <a:srgbClr val="000000"/>
                          </a:solidFill>
                          <a:effectLst/>
                          <a:latin typeface="Aptos Narrow" panose="020B0004020202020204" pitchFamily="34" charset="0"/>
                        </a:rPr>
                        <a:t>22,4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3E884"/>
                    </a:solidFill>
                  </a:tcPr>
                </a:tc>
                <a:tc>
                  <a:txBody>
                    <a:bodyPr/>
                    <a:lstStyle/>
                    <a:p>
                      <a:pPr algn="r" fontAlgn="b">
                        <a:buNone/>
                      </a:pPr>
                      <a:r>
                        <a:rPr lang="fr-FR" sz="900" b="0" i="0" u="none" strike="noStrike">
                          <a:solidFill>
                            <a:srgbClr val="FF0000"/>
                          </a:solidFill>
                          <a:effectLst/>
                          <a:latin typeface="Aptos Narrow" panose="020B0004020202020204" pitchFamily="34" charset="0"/>
                        </a:rPr>
                        <a:t>-1,0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23051665"/>
                  </a:ext>
                </a:extLst>
              </a:tr>
            </a:tbl>
          </a:graphicData>
        </a:graphic>
      </p:graphicFrame>
      <p:graphicFrame>
        <p:nvGraphicFramePr>
          <p:cNvPr id="9" name="Table 8">
            <a:extLst>
              <a:ext uri="{FF2B5EF4-FFF2-40B4-BE49-F238E27FC236}">
                <a16:creationId xmlns:a16="http://schemas.microsoft.com/office/drawing/2014/main" id="{34BD9A15-70CC-AF3D-597B-8D69CCBDA18C}"/>
              </a:ext>
            </a:extLst>
          </p:cNvPr>
          <p:cNvGraphicFramePr>
            <a:graphicFrameLocks noGrp="1"/>
          </p:cNvGraphicFramePr>
          <p:nvPr>
            <p:extLst>
              <p:ext uri="{D42A27DB-BD31-4B8C-83A1-F6EECF244321}">
                <p14:modId xmlns:p14="http://schemas.microsoft.com/office/powerpoint/2010/main" val="3731432208"/>
              </p:ext>
            </p:extLst>
          </p:nvPr>
        </p:nvGraphicFramePr>
        <p:xfrm>
          <a:off x="206574" y="4031907"/>
          <a:ext cx="3835400" cy="1148080"/>
        </p:xfrm>
        <a:graphic>
          <a:graphicData uri="http://schemas.openxmlformats.org/drawingml/2006/table">
            <a:tbl>
              <a:tblPr/>
              <a:tblGrid>
                <a:gridCol w="2006600">
                  <a:extLst>
                    <a:ext uri="{9D8B030D-6E8A-4147-A177-3AD203B41FA5}">
                      <a16:colId xmlns:a16="http://schemas.microsoft.com/office/drawing/2014/main" val="1160574095"/>
                    </a:ext>
                  </a:extLst>
                </a:gridCol>
                <a:gridCol w="609600">
                  <a:extLst>
                    <a:ext uri="{9D8B030D-6E8A-4147-A177-3AD203B41FA5}">
                      <a16:colId xmlns:a16="http://schemas.microsoft.com/office/drawing/2014/main" val="2582762824"/>
                    </a:ext>
                  </a:extLst>
                </a:gridCol>
                <a:gridCol w="609600">
                  <a:extLst>
                    <a:ext uri="{9D8B030D-6E8A-4147-A177-3AD203B41FA5}">
                      <a16:colId xmlns:a16="http://schemas.microsoft.com/office/drawing/2014/main" val="1239020543"/>
                    </a:ext>
                  </a:extLst>
                </a:gridCol>
                <a:gridCol w="609600">
                  <a:extLst>
                    <a:ext uri="{9D8B030D-6E8A-4147-A177-3AD203B41FA5}">
                      <a16:colId xmlns:a16="http://schemas.microsoft.com/office/drawing/2014/main" val="1175704955"/>
                    </a:ext>
                  </a:extLst>
                </a:gridCol>
              </a:tblGrid>
              <a:tr h="134228">
                <a:tc>
                  <a:txBody>
                    <a:bodyPr/>
                    <a:lstStyle/>
                    <a:p>
                      <a:pPr algn="l" fontAlgn="b">
                        <a:buNone/>
                      </a:pPr>
                      <a:r>
                        <a:rPr lang="fr-FR" sz="900" b="0" i="0" u="none" strike="noStrike">
                          <a:solidFill>
                            <a:srgbClr val="000000"/>
                          </a:solidFill>
                          <a:effectLst/>
                          <a:latin typeface="Aptos Narrow" panose="020B0004020202020204" pitchFamily="34" charset="0"/>
                        </a:rPr>
                        <a:t>NPS</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08658609"/>
                  </a:ext>
                </a:extLst>
              </a:tr>
              <a:tr h="134228">
                <a:tc>
                  <a:txBody>
                    <a:bodyPr/>
                    <a:lstStyle/>
                    <a:p>
                      <a:pPr algn="l" fontAlgn="b">
                        <a:buNone/>
                      </a:pPr>
                      <a:r>
                        <a:rPr lang="fr-FR" sz="900" b="0" i="0" u="none" strike="noStrike" err="1">
                          <a:solidFill>
                            <a:srgbClr val="000000"/>
                          </a:solidFill>
                          <a:effectLst/>
                          <a:latin typeface="Aptos Narrow" panose="020B0004020202020204" pitchFamily="34" charset="0"/>
                        </a:rPr>
                        <a:t>Erperheide</a:t>
                      </a:r>
                      <a:r>
                        <a:rPr lang="fr-FR" sz="900" b="0" i="0" u="none" strike="noStrike">
                          <a:solidFill>
                            <a:srgbClr val="000000"/>
                          </a:solidFill>
                          <a:effectLst/>
                          <a:latin typeface="Aptos Narrow" panose="020B0004020202020204" pitchFamily="34" charset="0"/>
                        </a:rPr>
                        <a:t>, Subtotal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42,1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3DA81"/>
                    </a:solidFill>
                  </a:tcPr>
                </a:tc>
                <a:tc>
                  <a:txBody>
                    <a:bodyPr/>
                    <a:lstStyle/>
                    <a:p>
                      <a:pPr algn="r" fontAlgn="b">
                        <a:buNone/>
                      </a:pPr>
                      <a:r>
                        <a:rPr lang="fr-FR" sz="900" b="0" i="0" u="none" strike="noStrike">
                          <a:solidFill>
                            <a:srgbClr val="000000"/>
                          </a:solidFill>
                          <a:effectLst/>
                          <a:latin typeface="Aptos Narrow" panose="020B0004020202020204" pitchFamily="34" charset="0"/>
                        </a:rPr>
                        <a:t>37,3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FDE82"/>
                    </a:solidFill>
                  </a:tcPr>
                </a:tc>
                <a:tc>
                  <a:txBody>
                    <a:bodyPr/>
                    <a:lstStyle/>
                    <a:p>
                      <a:pPr algn="r" fontAlgn="b">
                        <a:buNone/>
                      </a:pPr>
                      <a:r>
                        <a:rPr lang="fr-FR" sz="900" b="0" i="0" u="none" strike="noStrike">
                          <a:solidFill>
                            <a:srgbClr val="00B050"/>
                          </a:solidFill>
                          <a:effectLst/>
                          <a:latin typeface="Aptos Narrow" panose="020B0004020202020204" pitchFamily="34" charset="0"/>
                        </a:rPr>
                        <a:t>4,8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54669516"/>
                  </a:ext>
                </a:extLst>
              </a:tr>
              <a:tr h="134228">
                <a:tc>
                  <a:txBody>
                    <a:bodyPr/>
                    <a:lstStyle/>
                    <a:p>
                      <a:pPr algn="l" fontAlgn="b">
                        <a:buNone/>
                      </a:pPr>
                      <a:r>
                        <a:rPr lang="fr-FR" sz="900" b="0" i="0" u="none" strike="noStrike">
                          <a:solidFill>
                            <a:srgbClr val="000000"/>
                          </a:solidFill>
                          <a:effectLst/>
                          <a:latin typeface="Aptos Narrow" panose="020B0004020202020204" pitchFamily="34" charset="0"/>
                        </a:rPr>
                        <a:t>Erperheide, BE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44,6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DD881"/>
                    </a:solidFill>
                  </a:tcPr>
                </a:tc>
                <a:tc>
                  <a:txBody>
                    <a:bodyPr/>
                    <a:lstStyle/>
                    <a:p>
                      <a:pPr algn="r" fontAlgn="b">
                        <a:buNone/>
                      </a:pPr>
                      <a:r>
                        <a:rPr lang="fr-FR" sz="900" b="0" i="0" u="none" strike="noStrike">
                          <a:solidFill>
                            <a:srgbClr val="000000"/>
                          </a:solidFill>
                          <a:effectLst/>
                          <a:latin typeface="Aptos Narrow" panose="020B0004020202020204" pitchFamily="34" charset="0"/>
                        </a:rPr>
                        <a:t>41,4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5DB81"/>
                    </a:solidFill>
                  </a:tcPr>
                </a:tc>
                <a:tc>
                  <a:txBody>
                    <a:bodyPr/>
                    <a:lstStyle/>
                    <a:p>
                      <a:pPr algn="r" fontAlgn="b">
                        <a:buNone/>
                      </a:pPr>
                      <a:r>
                        <a:rPr lang="fr-FR" sz="900" b="0" i="0" u="none" strike="noStrike">
                          <a:solidFill>
                            <a:srgbClr val="00B050"/>
                          </a:solidFill>
                          <a:effectLst/>
                          <a:latin typeface="Aptos Narrow" panose="020B0004020202020204" pitchFamily="34" charset="0"/>
                        </a:rPr>
                        <a:t>3,2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08530634"/>
                  </a:ext>
                </a:extLst>
              </a:tr>
              <a:tr h="134228">
                <a:tc>
                  <a:txBody>
                    <a:bodyPr/>
                    <a:lstStyle/>
                    <a:p>
                      <a:pPr algn="l" fontAlgn="b">
                        <a:buNone/>
                      </a:pPr>
                      <a:r>
                        <a:rPr lang="fr-FR" sz="900" b="0" i="0" u="none" strike="noStrike">
                          <a:solidFill>
                            <a:srgbClr val="000000"/>
                          </a:solidFill>
                          <a:effectLst/>
                          <a:latin typeface="Aptos Narrow" panose="020B0004020202020204" pitchFamily="34" charset="0"/>
                        </a:rPr>
                        <a:t>Erperheide, DE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46,9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8D780"/>
                    </a:solidFill>
                  </a:tcPr>
                </a:tc>
                <a:tc>
                  <a:txBody>
                    <a:bodyPr/>
                    <a:lstStyle/>
                    <a:p>
                      <a:pPr algn="r" fontAlgn="b">
                        <a:buNone/>
                      </a:pPr>
                      <a:r>
                        <a:rPr lang="fr-FR" sz="900" b="0" i="0" u="none" strike="noStrike">
                          <a:solidFill>
                            <a:srgbClr val="000000"/>
                          </a:solidFill>
                          <a:effectLst/>
                          <a:latin typeface="Aptos Narrow" panose="020B0004020202020204" pitchFamily="34" charset="0"/>
                        </a:rPr>
                        <a:t>41,9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4DA81"/>
                    </a:solidFill>
                  </a:tcPr>
                </a:tc>
                <a:tc>
                  <a:txBody>
                    <a:bodyPr/>
                    <a:lstStyle/>
                    <a:p>
                      <a:pPr algn="r" fontAlgn="b">
                        <a:buNone/>
                      </a:pPr>
                      <a:r>
                        <a:rPr lang="fr-FR" sz="900" b="0" i="0" u="none" strike="noStrike">
                          <a:solidFill>
                            <a:srgbClr val="00B050"/>
                          </a:solidFill>
                          <a:effectLst/>
                          <a:latin typeface="Aptos Narrow" panose="020B0004020202020204" pitchFamily="34" charset="0"/>
                        </a:rPr>
                        <a:t>5,0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03494171"/>
                  </a:ext>
                </a:extLst>
              </a:tr>
              <a:tr h="134228">
                <a:tc>
                  <a:txBody>
                    <a:bodyPr/>
                    <a:lstStyle/>
                    <a:p>
                      <a:pPr algn="l" fontAlgn="b">
                        <a:buNone/>
                      </a:pPr>
                      <a:r>
                        <a:rPr lang="fr-FR" sz="900" b="0" i="0" u="none" strike="noStrike">
                          <a:solidFill>
                            <a:srgbClr val="000000"/>
                          </a:solidFill>
                          <a:effectLst/>
                          <a:latin typeface="Aptos Narrow" panose="020B0004020202020204" pitchFamily="34" charset="0"/>
                        </a:rPr>
                        <a:t>Erperheide, FR</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48,3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5D680"/>
                    </a:solidFill>
                  </a:tcPr>
                </a:tc>
                <a:tc>
                  <a:txBody>
                    <a:bodyPr/>
                    <a:lstStyle/>
                    <a:p>
                      <a:pPr algn="r" fontAlgn="b">
                        <a:buNone/>
                      </a:pPr>
                      <a:r>
                        <a:rPr lang="fr-FR" sz="900" b="0" i="0" u="none" strike="noStrike">
                          <a:solidFill>
                            <a:srgbClr val="000000"/>
                          </a:solidFill>
                          <a:effectLst/>
                          <a:latin typeface="Aptos Narrow" panose="020B0004020202020204" pitchFamily="34" charset="0"/>
                        </a:rPr>
                        <a:t>48,3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4D680"/>
                    </a:solidFill>
                  </a:tcPr>
                </a:tc>
                <a:tc>
                  <a:txBody>
                    <a:bodyPr/>
                    <a:lstStyle/>
                    <a:p>
                      <a:pPr algn="r" fontAlgn="b">
                        <a:buNone/>
                      </a:pPr>
                      <a:r>
                        <a:rPr lang="fr-FR" sz="900" b="0" i="0" u="none" strike="noStrike">
                          <a:solidFill>
                            <a:srgbClr val="FF0000"/>
                          </a:solidFill>
                          <a:effectLst/>
                          <a:latin typeface="Aptos Narrow" panose="020B0004020202020204" pitchFamily="34" charset="0"/>
                        </a:rPr>
                        <a:t>-0,1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50838138"/>
                  </a:ext>
                </a:extLst>
              </a:tr>
              <a:tr h="134228">
                <a:tc>
                  <a:txBody>
                    <a:bodyPr/>
                    <a:lstStyle/>
                    <a:p>
                      <a:pPr algn="l" fontAlgn="b">
                        <a:buNone/>
                      </a:pPr>
                      <a:r>
                        <a:rPr lang="fr-FR" sz="900" b="0" i="0" u="none" strike="noStrike">
                          <a:solidFill>
                            <a:srgbClr val="000000"/>
                          </a:solidFill>
                          <a:effectLst/>
                          <a:latin typeface="Aptos Narrow" panose="020B0004020202020204" pitchFamily="34" charset="0"/>
                        </a:rPr>
                        <a:t>Erperheide, GB</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61,7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4CC7E"/>
                    </a:solidFill>
                  </a:tcPr>
                </a:tc>
                <a:tc>
                  <a:txBody>
                    <a:bodyPr/>
                    <a:lstStyle/>
                    <a:p>
                      <a:pPr algn="r" fontAlgn="b">
                        <a:buNone/>
                      </a:pPr>
                      <a:r>
                        <a:rPr lang="fr-FR" sz="900" b="0" i="0" u="none" strike="noStrike">
                          <a:solidFill>
                            <a:srgbClr val="000000"/>
                          </a:solidFill>
                          <a:effectLst/>
                          <a:latin typeface="Aptos Narrow" panose="020B0004020202020204" pitchFamily="34" charset="0"/>
                        </a:rPr>
                        <a:t>54,6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5D17F"/>
                    </a:solidFill>
                  </a:tcPr>
                </a:tc>
                <a:tc>
                  <a:txBody>
                    <a:bodyPr/>
                    <a:lstStyle/>
                    <a:p>
                      <a:pPr algn="r" fontAlgn="b">
                        <a:buNone/>
                      </a:pPr>
                      <a:r>
                        <a:rPr lang="fr-FR" sz="900" b="0" i="0" u="none" strike="noStrike">
                          <a:solidFill>
                            <a:srgbClr val="00B050"/>
                          </a:solidFill>
                          <a:effectLst/>
                          <a:latin typeface="Aptos Narrow" panose="020B0004020202020204" pitchFamily="34" charset="0"/>
                        </a:rPr>
                        <a:t>7,1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80558879"/>
                  </a:ext>
                </a:extLst>
              </a:tr>
              <a:tr h="134228">
                <a:tc>
                  <a:txBody>
                    <a:bodyPr/>
                    <a:lstStyle/>
                    <a:p>
                      <a:pPr algn="l" fontAlgn="b">
                        <a:buNone/>
                      </a:pPr>
                      <a:r>
                        <a:rPr lang="fr-FR" sz="900" b="0" i="0" u="none" strike="noStrike">
                          <a:solidFill>
                            <a:srgbClr val="000000"/>
                          </a:solidFill>
                          <a:effectLst/>
                          <a:latin typeface="Aptos Narrow" panose="020B0004020202020204" pitchFamily="34" charset="0"/>
                        </a:rPr>
                        <a:t>Erperheide, LU</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50,0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0D580"/>
                    </a:solidFill>
                  </a:tcPr>
                </a:tc>
                <a:tc>
                  <a:txBody>
                    <a:bodyPr/>
                    <a:lstStyle/>
                    <a:p>
                      <a:pPr algn="r" fontAlgn="b">
                        <a:buNone/>
                      </a:pPr>
                      <a:r>
                        <a:rPr lang="fr-FR" sz="900" b="0" i="0" u="none" strike="noStrike">
                          <a:solidFill>
                            <a:srgbClr val="000000"/>
                          </a:solidFill>
                          <a:effectLst/>
                          <a:latin typeface="Aptos Narrow" panose="020B0004020202020204" pitchFamily="34" charset="0"/>
                        </a:rPr>
                        <a:t>29,9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1E383"/>
                    </a:solidFill>
                  </a:tcPr>
                </a:tc>
                <a:tc>
                  <a:txBody>
                    <a:bodyPr/>
                    <a:lstStyle/>
                    <a:p>
                      <a:pPr algn="r" fontAlgn="b">
                        <a:buNone/>
                      </a:pPr>
                      <a:r>
                        <a:rPr lang="fr-FR" sz="900" b="0" i="0" u="none" strike="noStrike">
                          <a:solidFill>
                            <a:srgbClr val="00B050"/>
                          </a:solidFill>
                          <a:effectLst/>
                          <a:latin typeface="Aptos Narrow" panose="020B0004020202020204" pitchFamily="34" charset="0"/>
                        </a:rPr>
                        <a:t>20,1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478400"/>
                  </a:ext>
                </a:extLst>
              </a:tr>
              <a:tr h="134228">
                <a:tc>
                  <a:txBody>
                    <a:bodyPr/>
                    <a:lstStyle/>
                    <a:p>
                      <a:pPr algn="l" fontAlgn="b">
                        <a:buNone/>
                      </a:pPr>
                      <a:r>
                        <a:rPr lang="fr-FR" sz="900" b="0" i="0" u="none" strike="noStrike" err="1">
                          <a:solidFill>
                            <a:srgbClr val="000000"/>
                          </a:solidFill>
                          <a:effectLst/>
                          <a:latin typeface="Aptos Narrow" panose="020B0004020202020204" pitchFamily="34" charset="0"/>
                        </a:rPr>
                        <a:t>Erperheide</a:t>
                      </a:r>
                      <a:r>
                        <a:rPr lang="fr-FR" sz="900" b="0" i="0" u="none" strike="noStrike">
                          <a:solidFill>
                            <a:srgbClr val="000000"/>
                          </a:solidFill>
                          <a:effectLst/>
                          <a:latin typeface="Aptos Narrow" panose="020B0004020202020204" pitchFamily="34" charset="0"/>
                        </a:rPr>
                        <a:t>, NL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29,3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3E383"/>
                    </a:solidFill>
                  </a:tcPr>
                </a:tc>
                <a:tc>
                  <a:txBody>
                    <a:bodyPr/>
                    <a:lstStyle/>
                    <a:p>
                      <a:pPr algn="r" fontAlgn="b">
                        <a:buNone/>
                      </a:pPr>
                      <a:r>
                        <a:rPr lang="fr-FR" sz="900" b="0" i="0" u="none" strike="noStrike">
                          <a:solidFill>
                            <a:srgbClr val="000000"/>
                          </a:solidFill>
                          <a:effectLst/>
                          <a:latin typeface="Aptos Narrow" panose="020B0004020202020204" pitchFamily="34" charset="0"/>
                        </a:rPr>
                        <a:t>21,2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6E984"/>
                    </a:solidFill>
                  </a:tcPr>
                </a:tc>
                <a:tc>
                  <a:txBody>
                    <a:bodyPr/>
                    <a:lstStyle/>
                    <a:p>
                      <a:pPr algn="r" fontAlgn="b">
                        <a:buNone/>
                      </a:pPr>
                      <a:r>
                        <a:rPr lang="fr-FR" sz="900" b="0" i="0" u="none" strike="noStrike">
                          <a:solidFill>
                            <a:srgbClr val="00B050"/>
                          </a:solidFill>
                          <a:effectLst/>
                          <a:latin typeface="Aptos Narrow" panose="020B0004020202020204" pitchFamily="34" charset="0"/>
                        </a:rPr>
                        <a:t>8,0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83894828"/>
                  </a:ext>
                </a:extLst>
              </a:tr>
            </a:tbl>
          </a:graphicData>
        </a:graphic>
      </p:graphicFrame>
      <p:graphicFrame>
        <p:nvGraphicFramePr>
          <p:cNvPr id="10" name="Table 9">
            <a:extLst>
              <a:ext uri="{FF2B5EF4-FFF2-40B4-BE49-F238E27FC236}">
                <a16:creationId xmlns:a16="http://schemas.microsoft.com/office/drawing/2014/main" id="{67514F8D-123C-FD9C-B130-C2762AC79541}"/>
              </a:ext>
            </a:extLst>
          </p:cNvPr>
          <p:cNvGraphicFramePr>
            <a:graphicFrameLocks noGrp="1"/>
          </p:cNvGraphicFramePr>
          <p:nvPr>
            <p:extLst>
              <p:ext uri="{D42A27DB-BD31-4B8C-83A1-F6EECF244321}">
                <p14:modId xmlns:p14="http://schemas.microsoft.com/office/powerpoint/2010/main" val="4081314802"/>
              </p:ext>
            </p:extLst>
          </p:nvPr>
        </p:nvGraphicFramePr>
        <p:xfrm>
          <a:off x="7764704" y="3322943"/>
          <a:ext cx="3835400" cy="1004570"/>
        </p:xfrm>
        <a:graphic>
          <a:graphicData uri="http://schemas.openxmlformats.org/drawingml/2006/table">
            <a:tbl>
              <a:tblPr/>
              <a:tblGrid>
                <a:gridCol w="2006600">
                  <a:extLst>
                    <a:ext uri="{9D8B030D-6E8A-4147-A177-3AD203B41FA5}">
                      <a16:colId xmlns:a16="http://schemas.microsoft.com/office/drawing/2014/main" val="141285277"/>
                    </a:ext>
                  </a:extLst>
                </a:gridCol>
                <a:gridCol w="609600">
                  <a:extLst>
                    <a:ext uri="{9D8B030D-6E8A-4147-A177-3AD203B41FA5}">
                      <a16:colId xmlns:a16="http://schemas.microsoft.com/office/drawing/2014/main" val="4290850417"/>
                    </a:ext>
                  </a:extLst>
                </a:gridCol>
                <a:gridCol w="609600">
                  <a:extLst>
                    <a:ext uri="{9D8B030D-6E8A-4147-A177-3AD203B41FA5}">
                      <a16:colId xmlns:a16="http://schemas.microsoft.com/office/drawing/2014/main" val="2617190856"/>
                    </a:ext>
                  </a:extLst>
                </a:gridCol>
                <a:gridCol w="609600">
                  <a:extLst>
                    <a:ext uri="{9D8B030D-6E8A-4147-A177-3AD203B41FA5}">
                      <a16:colId xmlns:a16="http://schemas.microsoft.com/office/drawing/2014/main" val="860990064"/>
                    </a:ext>
                  </a:extLst>
                </a:gridCol>
              </a:tblGrid>
              <a:tr h="124055">
                <a:tc>
                  <a:txBody>
                    <a:bodyPr/>
                    <a:lstStyle/>
                    <a:p>
                      <a:pPr algn="l" fontAlgn="b">
                        <a:buNone/>
                      </a:pPr>
                      <a:r>
                        <a:rPr lang="fr-FR" sz="900" b="0" i="0" u="none" strike="noStrike">
                          <a:solidFill>
                            <a:srgbClr val="000000"/>
                          </a:solidFill>
                          <a:effectLst/>
                          <a:latin typeface="Aptos Narrow" panose="020B0004020202020204" pitchFamily="34" charset="0"/>
                        </a:rPr>
                        <a:t>NPS</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46556906"/>
                  </a:ext>
                </a:extLst>
              </a:tr>
              <a:tr h="124055">
                <a:tc>
                  <a:txBody>
                    <a:bodyPr/>
                    <a:lstStyle/>
                    <a:p>
                      <a:pPr algn="l" fontAlgn="b">
                        <a:buNone/>
                      </a:pPr>
                      <a:r>
                        <a:rPr lang="fr-FR" sz="900" b="0" i="0" u="none" strike="noStrike">
                          <a:solidFill>
                            <a:srgbClr val="000000"/>
                          </a:solidFill>
                          <a:effectLst/>
                          <a:latin typeface="Aptos Narrow" panose="020B0004020202020204" pitchFamily="34" charset="0"/>
                        </a:rPr>
                        <a:t>Kempense Meren, Subtotal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-14,0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E78"/>
                    </a:solidFill>
                  </a:tcPr>
                </a:tc>
                <a:tc>
                  <a:txBody>
                    <a:bodyPr/>
                    <a:lstStyle/>
                    <a:p>
                      <a:pPr algn="r" fontAlgn="b">
                        <a:buNone/>
                      </a:pPr>
                      <a:r>
                        <a:rPr lang="fr-FR" sz="900" b="0" i="0" u="none" strike="noStrike">
                          <a:solidFill>
                            <a:srgbClr val="000000"/>
                          </a:solidFill>
                          <a:effectLst/>
                          <a:latin typeface="Aptos Narrow" panose="020B0004020202020204" pitchFamily="34" charset="0"/>
                        </a:rPr>
                        <a:t>-15,9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A77"/>
                    </a:solidFill>
                  </a:tcPr>
                </a:tc>
                <a:tc>
                  <a:txBody>
                    <a:bodyPr/>
                    <a:lstStyle/>
                    <a:p>
                      <a:pPr algn="r" fontAlgn="b">
                        <a:buNone/>
                      </a:pPr>
                      <a:r>
                        <a:rPr lang="fr-FR" sz="900" b="0" i="0" u="none" strike="noStrike">
                          <a:solidFill>
                            <a:srgbClr val="00B050"/>
                          </a:solidFill>
                          <a:effectLst/>
                          <a:latin typeface="Aptos Narrow" panose="020B0004020202020204" pitchFamily="34" charset="0"/>
                        </a:rPr>
                        <a:t>1,8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41389688"/>
                  </a:ext>
                </a:extLst>
              </a:tr>
              <a:tr h="124055">
                <a:tc>
                  <a:txBody>
                    <a:bodyPr/>
                    <a:lstStyle/>
                    <a:p>
                      <a:pPr algn="l" fontAlgn="b">
                        <a:buNone/>
                      </a:pPr>
                      <a:r>
                        <a:rPr lang="fr-FR" sz="900" b="0" i="0" u="none" strike="noStrike">
                          <a:solidFill>
                            <a:srgbClr val="000000"/>
                          </a:solidFill>
                          <a:effectLst/>
                          <a:latin typeface="Aptos Narrow" panose="020B0004020202020204" pitchFamily="34" charset="0"/>
                        </a:rPr>
                        <a:t>Kempense Meren, BE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-10,7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479"/>
                    </a:solidFill>
                  </a:tcPr>
                </a:tc>
                <a:tc>
                  <a:txBody>
                    <a:bodyPr/>
                    <a:lstStyle/>
                    <a:p>
                      <a:pPr algn="r" fontAlgn="b">
                        <a:buNone/>
                      </a:pPr>
                      <a:r>
                        <a:rPr lang="fr-FR" sz="900" b="0" i="0" u="none" strike="noStrike">
                          <a:solidFill>
                            <a:srgbClr val="000000"/>
                          </a:solidFill>
                          <a:effectLst/>
                          <a:latin typeface="Aptos Narrow" panose="020B0004020202020204" pitchFamily="34" charset="0"/>
                        </a:rPr>
                        <a:t>-11,2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379"/>
                    </a:solidFill>
                  </a:tcPr>
                </a:tc>
                <a:tc>
                  <a:txBody>
                    <a:bodyPr/>
                    <a:lstStyle/>
                    <a:p>
                      <a:pPr algn="r" fontAlgn="b">
                        <a:buNone/>
                      </a:pPr>
                      <a:r>
                        <a:rPr lang="fr-FR" sz="900" b="0" i="0" u="none" strike="noStrike">
                          <a:solidFill>
                            <a:srgbClr val="00B050"/>
                          </a:solidFill>
                          <a:effectLst/>
                          <a:latin typeface="Aptos Narrow" panose="020B0004020202020204" pitchFamily="34" charset="0"/>
                        </a:rPr>
                        <a:t>0,5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23059734"/>
                  </a:ext>
                </a:extLst>
              </a:tr>
              <a:tr h="124055">
                <a:tc>
                  <a:txBody>
                    <a:bodyPr/>
                    <a:lstStyle/>
                    <a:p>
                      <a:pPr algn="l" fontAlgn="b">
                        <a:buNone/>
                      </a:pPr>
                      <a:r>
                        <a:rPr lang="fr-FR" sz="900" b="0" i="0" u="none" strike="noStrike">
                          <a:solidFill>
                            <a:srgbClr val="000000"/>
                          </a:solidFill>
                          <a:effectLst/>
                          <a:latin typeface="Aptos Narrow" panose="020B0004020202020204" pitchFamily="34" charset="0"/>
                        </a:rPr>
                        <a:t>Kempense Meren, DE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-26,2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673"/>
                    </a:solidFill>
                  </a:tcPr>
                </a:tc>
                <a:tc>
                  <a:txBody>
                    <a:bodyPr/>
                    <a:lstStyle/>
                    <a:p>
                      <a:pPr algn="r" fontAlgn="b">
                        <a:buNone/>
                      </a:pPr>
                      <a:r>
                        <a:rPr lang="fr-FR" sz="900" b="0" i="0" u="none" strike="noStrike">
                          <a:solidFill>
                            <a:srgbClr val="000000"/>
                          </a:solidFill>
                          <a:effectLst/>
                          <a:latin typeface="Aptos Narrow" panose="020B0004020202020204" pitchFamily="34" charset="0"/>
                        </a:rPr>
                        <a:t>-28,4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272"/>
                    </a:solidFill>
                  </a:tcPr>
                </a:tc>
                <a:tc>
                  <a:txBody>
                    <a:bodyPr/>
                    <a:lstStyle/>
                    <a:p>
                      <a:pPr algn="r" fontAlgn="b">
                        <a:buNone/>
                      </a:pPr>
                      <a:r>
                        <a:rPr lang="fr-FR" sz="900" b="0" i="0" u="none" strike="noStrike">
                          <a:solidFill>
                            <a:srgbClr val="00B050"/>
                          </a:solidFill>
                          <a:effectLst/>
                          <a:latin typeface="Aptos Narrow" panose="020B0004020202020204" pitchFamily="34" charset="0"/>
                        </a:rPr>
                        <a:t>2,2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04759571"/>
                  </a:ext>
                </a:extLst>
              </a:tr>
              <a:tr h="124055">
                <a:tc>
                  <a:txBody>
                    <a:bodyPr/>
                    <a:lstStyle/>
                    <a:p>
                      <a:pPr algn="l" fontAlgn="b">
                        <a:buNone/>
                      </a:pPr>
                      <a:r>
                        <a:rPr lang="fr-FR" sz="900" b="0" i="0" u="none" strike="noStrike">
                          <a:solidFill>
                            <a:srgbClr val="000000"/>
                          </a:solidFill>
                          <a:effectLst/>
                          <a:latin typeface="Aptos Narrow" panose="020B0004020202020204" pitchFamily="34" charset="0"/>
                        </a:rPr>
                        <a:t>Kempense Meren, FR</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-0,1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97D"/>
                    </a:solidFill>
                  </a:tcPr>
                </a:tc>
                <a:tc>
                  <a:txBody>
                    <a:bodyPr/>
                    <a:lstStyle/>
                    <a:p>
                      <a:pPr algn="r" fontAlgn="b">
                        <a:buNone/>
                      </a:pPr>
                      <a:r>
                        <a:rPr lang="fr-FR" sz="900" b="0" i="0" u="none" strike="noStrike">
                          <a:solidFill>
                            <a:srgbClr val="000000"/>
                          </a:solidFill>
                          <a:effectLst/>
                          <a:latin typeface="Aptos Narrow" panose="020B0004020202020204" pitchFamily="34" charset="0"/>
                        </a:rPr>
                        <a:t>-3,3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27C"/>
                    </a:solidFill>
                  </a:tcPr>
                </a:tc>
                <a:tc>
                  <a:txBody>
                    <a:bodyPr/>
                    <a:lstStyle/>
                    <a:p>
                      <a:pPr algn="r" fontAlgn="b">
                        <a:buNone/>
                      </a:pPr>
                      <a:r>
                        <a:rPr lang="fr-FR" sz="900" b="0" i="0" u="none" strike="noStrike">
                          <a:solidFill>
                            <a:srgbClr val="00B050"/>
                          </a:solidFill>
                          <a:effectLst/>
                          <a:latin typeface="Aptos Narrow" panose="020B0004020202020204" pitchFamily="34" charset="0"/>
                        </a:rPr>
                        <a:t>3,2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59560761"/>
                  </a:ext>
                </a:extLst>
              </a:tr>
              <a:tr h="124055">
                <a:tc>
                  <a:txBody>
                    <a:bodyPr/>
                    <a:lstStyle/>
                    <a:p>
                      <a:pPr algn="l" fontAlgn="b">
                        <a:buNone/>
                      </a:pPr>
                      <a:r>
                        <a:rPr lang="fr-FR" sz="900" b="0" i="0" u="none" strike="noStrike">
                          <a:solidFill>
                            <a:srgbClr val="000000"/>
                          </a:solidFill>
                          <a:effectLst/>
                          <a:latin typeface="Aptos Narrow" panose="020B0004020202020204" pitchFamily="34" charset="0"/>
                        </a:rPr>
                        <a:t>Kempense Meren, GB</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8,5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980"/>
                    </a:solidFill>
                  </a:tcPr>
                </a:tc>
                <a:tc>
                  <a:txBody>
                    <a:bodyPr/>
                    <a:lstStyle/>
                    <a:p>
                      <a:pPr algn="r" fontAlgn="b">
                        <a:buNone/>
                      </a:pPr>
                      <a:r>
                        <a:rPr lang="fr-FR" sz="900" b="0" i="0" u="none" strike="noStrike">
                          <a:solidFill>
                            <a:srgbClr val="000000"/>
                          </a:solidFill>
                          <a:effectLst/>
                          <a:latin typeface="Aptos Narrow" panose="020B0004020202020204" pitchFamily="34" charset="0"/>
                        </a:rPr>
                        <a:t>-6,7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C7B"/>
                    </a:solidFill>
                  </a:tcPr>
                </a:tc>
                <a:tc>
                  <a:txBody>
                    <a:bodyPr/>
                    <a:lstStyle/>
                    <a:p>
                      <a:pPr algn="r" fontAlgn="b">
                        <a:buNone/>
                      </a:pPr>
                      <a:r>
                        <a:rPr lang="fr-FR" sz="900" b="0" i="0" u="none" strike="noStrike">
                          <a:solidFill>
                            <a:srgbClr val="00B050"/>
                          </a:solidFill>
                          <a:effectLst/>
                          <a:latin typeface="Aptos Narrow" panose="020B0004020202020204" pitchFamily="34" charset="0"/>
                        </a:rPr>
                        <a:t>15,2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01159263"/>
                  </a:ext>
                </a:extLst>
              </a:tr>
              <a:tr h="124055">
                <a:tc>
                  <a:txBody>
                    <a:bodyPr/>
                    <a:lstStyle/>
                    <a:p>
                      <a:pPr algn="l" fontAlgn="b">
                        <a:buNone/>
                      </a:pPr>
                      <a:r>
                        <a:rPr lang="fr-FR" sz="900" b="0" i="0" u="none" strike="noStrike">
                          <a:solidFill>
                            <a:srgbClr val="000000"/>
                          </a:solidFill>
                          <a:effectLst/>
                          <a:latin typeface="Aptos Narrow" panose="020B0004020202020204" pitchFamily="34" charset="0"/>
                        </a:rPr>
                        <a:t>Kempense Meren, NL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-33,9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770"/>
                    </a:solidFill>
                  </a:tcPr>
                </a:tc>
                <a:tc>
                  <a:txBody>
                    <a:bodyPr/>
                    <a:lstStyle/>
                    <a:p>
                      <a:pPr algn="r" fontAlgn="b">
                        <a:buNone/>
                      </a:pPr>
                      <a:r>
                        <a:rPr lang="fr-FR" sz="900" b="0" i="0" u="none" strike="noStrike">
                          <a:solidFill>
                            <a:srgbClr val="000000"/>
                          </a:solidFill>
                          <a:effectLst/>
                          <a:latin typeface="Aptos Narrow" panose="020B0004020202020204" pitchFamily="34" charset="0"/>
                        </a:rPr>
                        <a:t>-36,1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370"/>
                    </a:solidFill>
                  </a:tcPr>
                </a:tc>
                <a:tc>
                  <a:txBody>
                    <a:bodyPr/>
                    <a:lstStyle/>
                    <a:p>
                      <a:pPr algn="r" fontAlgn="b">
                        <a:buNone/>
                      </a:pPr>
                      <a:r>
                        <a:rPr lang="fr-FR" sz="900" b="0" i="0" u="none" strike="noStrike">
                          <a:solidFill>
                            <a:srgbClr val="00B050"/>
                          </a:solidFill>
                          <a:effectLst/>
                          <a:latin typeface="Aptos Narrow" panose="020B0004020202020204" pitchFamily="34" charset="0"/>
                        </a:rPr>
                        <a:t>2,2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64472543"/>
                  </a:ext>
                </a:extLst>
              </a:tr>
            </a:tbl>
          </a:graphicData>
        </a:graphic>
      </p:graphicFrame>
      <p:graphicFrame>
        <p:nvGraphicFramePr>
          <p:cNvPr id="11" name="Table 10">
            <a:extLst>
              <a:ext uri="{FF2B5EF4-FFF2-40B4-BE49-F238E27FC236}">
                <a16:creationId xmlns:a16="http://schemas.microsoft.com/office/drawing/2014/main" id="{2F550829-0590-5AFC-C8F0-94A20381E584}"/>
              </a:ext>
            </a:extLst>
          </p:cNvPr>
          <p:cNvGraphicFramePr>
            <a:graphicFrameLocks noGrp="1"/>
          </p:cNvGraphicFramePr>
          <p:nvPr>
            <p:extLst>
              <p:ext uri="{D42A27DB-BD31-4B8C-83A1-F6EECF244321}">
                <p14:modId xmlns:p14="http://schemas.microsoft.com/office/powerpoint/2010/main" val="3989525190"/>
              </p:ext>
            </p:extLst>
          </p:nvPr>
        </p:nvGraphicFramePr>
        <p:xfrm>
          <a:off x="4304851" y="3322943"/>
          <a:ext cx="3125097" cy="1153400"/>
        </p:xfrm>
        <a:graphic>
          <a:graphicData uri="http://schemas.openxmlformats.org/drawingml/2006/table">
            <a:tbl>
              <a:tblPr/>
              <a:tblGrid>
                <a:gridCol w="1634985">
                  <a:extLst>
                    <a:ext uri="{9D8B030D-6E8A-4147-A177-3AD203B41FA5}">
                      <a16:colId xmlns:a16="http://schemas.microsoft.com/office/drawing/2014/main" val="2866751294"/>
                    </a:ext>
                  </a:extLst>
                </a:gridCol>
                <a:gridCol w="496704">
                  <a:extLst>
                    <a:ext uri="{9D8B030D-6E8A-4147-A177-3AD203B41FA5}">
                      <a16:colId xmlns:a16="http://schemas.microsoft.com/office/drawing/2014/main" val="3776887940"/>
                    </a:ext>
                  </a:extLst>
                </a:gridCol>
                <a:gridCol w="496704">
                  <a:extLst>
                    <a:ext uri="{9D8B030D-6E8A-4147-A177-3AD203B41FA5}">
                      <a16:colId xmlns:a16="http://schemas.microsoft.com/office/drawing/2014/main" val="1164933102"/>
                    </a:ext>
                  </a:extLst>
                </a:gridCol>
                <a:gridCol w="496704">
                  <a:extLst>
                    <a:ext uri="{9D8B030D-6E8A-4147-A177-3AD203B41FA5}">
                      <a16:colId xmlns:a16="http://schemas.microsoft.com/office/drawing/2014/main" val="2903284992"/>
                    </a:ext>
                  </a:extLst>
                </a:gridCol>
              </a:tblGrid>
              <a:tr h="137014">
                <a:tc>
                  <a:txBody>
                    <a:bodyPr/>
                    <a:lstStyle/>
                    <a:p>
                      <a:pPr algn="l" fontAlgn="b">
                        <a:buNone/>
                      </a:pPr>
                      <a:r>
                        <a:rPr lang="fr-FR" sz="900" b="0" i="0" u="none" strike="noStrike">
                          <a:solidFill>
                            <a:srgbClr val="000000"/>
                          </a:solidFill>
                          <a:effectLst/>
                          <a:latin typeface="Aptos Narrow" panose="020B0004020202020204" pitchFamily="34" charset="0"/>
                        </a:rPr>
                        <a:t>NPS</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51377378"/>
                  </a:ext>
                </a:extLst>
              </a:tr>
              <a:tr h="144438">
                <a:tc>
                  <a:txBody>
                    <a:bodyPr/>
                    <a:lstStyle/>
                    <a:p>
                      <a:pPr algn="l" fontAlgn="b">
                        <a:buNone/>
                      </a:pPr>
                      <a:r>
                        <a:rPr lang="fr-FR" sz="900" b="0" i="0" u="none" strike="noStrike">
                          <a:solidFill>
                            <a:srgbClr val="000000"/>
                          </a:solidFill>
                          <a:effectLst/>
                          <a:latin typeface="Aptos Narrow" panose="020B0004020202020204" pitchFamily="34" charset="0"/>
                        </a:rPr>
                        <a:t>Les Ardennes, Subtotal</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9,5</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B81"/>
                    </a:solidFill>
                  </a:tcPr>
                </a:tc>
                <a:tc>
                  <a:txBody>
                    <a:bodyPr/>
                    <a:lstStyle/>
                    <a:p>
                      <a:pPr algn="r" fontAlgn="b">
                        <a:buNone/>
                      </a:pPr>
                      <a:r>
                        <a:rPr lang="fr-FR" sz="900" b="0" i="0" u="none" strike="noStrike">
                          <a:solidFill>
                            <a:srgbClr val="000000"/>
                          </a:solidFill>
                          <a:effectLst/>
                          <a:latin typeface="Aptos Narrow" panose="020B0004020202020204" pitchFamily="34" charset="0"/>
                        </a:rPr>
                        <a:t>4,2</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17F"/>
                    </a:solidFill>
                  </a:tcPr>
                </a:tc>
                <a:tc>
                  <a:txBody>
                    <a:bodyPr/>
                    <a:lstStyle/>
                    <a:p>
                      <a:pPr algn="r" fontAlgn="b">
                        <a:buNone/>
                      </a:pPr>
                      <a:r>
                        <a:rPr lang="fr-FR" sz="900" b="0" i="0" u="none" strike="noStrike">
                          <a:solidFill>
                            <a:srgbClr val="00B050"/>
                          </a:solidFill>
                          <a:effectLst/>
                          <a:latin typeface="Aptos Narrow" panose="020B0004020202020204" pitchFamily="34" charset="0"/>
                        </a:rPr>
                        <a:t>5,3</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61386061"/>
                  </a:ext>
                </a:extLst>
              </a:tr>
              <a:tr h="144438">
                <a:tc>
                  <a:txBody>
                    <a:bodyPr/>
                    <a:lstStyle/>
                    <a:p>
                      <a:pPr algn="l" fontAlgn="b">
                        <a:buNone/>
                      </a:pPr>
                      <a:r>
                        <a:rPr lang="fr-FR" sz="900" b="0" i="0" u="none" strike="noStrike">
                          <a:solidFill>
                            <a:srgbClr val="000000"/>
                          </a:solidFill>
                          <a:effectLst/>
                          <a:latin typeface="Aptos Narrow" panose="020B0004020202020204" pitchFamily="34" charset="0"/>
                        </a:rPr>
                        <a:t>Les Ardennes, BE</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21,2</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6E984"/>
                    </a:solidFill>
                  </a:tcPr>
                </a:tc>
                <a:tc>
                  <a:txBody>
                    <a:bodyPr/>
                    <a:lstStyle/>
                    <a:p>
                      <a:pPr algn="r" fontAlgn="b">
                        <a:buNone/>
                      </a:pPr>
                      <a:r>
                        <a:rPr lang="fr-FR" sz="900" b="0" i="0" u="none" strike="noStrike">
                          <a:solidFill>
                            <a:srgbClr val="000000"/>
                          </a:solidFill>
                          <a:effectLst/>
                          <a:latin typeface="Aptos Narrow" panose="020B0004020202020204" pitchFamily="34" charset="0"/>
                        </a:rPr>
                        <a:t>15,9</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883"/>
                    </a:solidFill>
                  </a:tcPr>
                </a:tc>
                <a:tc>
                  <a:txBody>
                    <a:bodyPr/>
                    <a:lstStyle/>
                    <a:p>
                      <a:pPr algn="r" fontAlgn="b">
                        <a:buNone/>
                      </a:pPr>
                      <a:r>
                        <a:rPr lang="fr-FR" sz="900" b="0" i="0" u="none" strike="noStrike">
                          <a:solidFill>
                            <a:srgbClr val="00B050"/>
                          </a:solidFill>
                          <a:effectLst/>
                          <a:latin typeface="Aptos Narrow" panose="020B0004020202020204" pitchFamily="34" charset="0"/>
                        </a:rPr>
                        <a:t>5,2</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95402320"/>
                  </a:ext>
                </a:extLst>
              </a:tr>
              <a:tr h="144438">
                <a:tc>
                  <a:txBody>
                    <a:bodyPr/>
                    <a:lstStyle/>
                    <a:p>
                      <a:pPr algn="l" fontAlgn="b">
                        <a:buNone/>
                      </a:pPr>
                      <a:r>
                        <a:rPr lang="fr-FR" sz="900" b="0" i="0" u="none" strike="noStrike">
                          <a:solidFill>
                            <a:srgbClr val="000000"/>
                          </a:solidFill>
                          <a:effectLst/>
                          <a:latin typeface="Aptos Narrow" panose="020B0004020202020204" pitchFamily="34" charset="0"/>
                        </a:rPr>
                        <a:t>Les Ardennes, DE</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7,6</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880"/>
                    </a:solidFill>
                  </a:tcPr>
                </a:tc>
                <a:tc>
                  <a:txBody>
                    <a:bodyPr/>
                    <a:lstStyle/>
                    <a:p>
                      <a:pPr algn="r" fontAlgn="b">
                        <a:buNone/>
                      </a:pPr>
                      <a:r>
                        <a:rPr lang="fr-FR" sz="900" b="0" i="0" u="none" strike="noStrike">
                          <a:solidFill>
                            <a:srgbClr val="000000"/>
                          </a:solidFill>
                          <a:effectLst/>
                          <a:latin typeface="Aptos Narrow" panose="020B0004020202020204" pitchFamily="34" charset="0"/>
                        </a:rPr>
                        <a:t>3,6</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07E"/>
                    </a:solidFill>
                  </a:tcPr>
                </a:tc>
                <a:tc>
                  <a:txBody>
                    <a:bodyPr/>
                    <a:lstStyle/>
                    <a:p>
                      <a:pPr algn="r" fontAlgn="b">
                        <a:buNone/>
                      </a:pPr>
                      <a:r>
                        <a:rPr lang="fr-FR" sz="900" b="0" i="0" u="none" strike="noStrike">
                          <a:solidFill>
                            <a:srgbClr val="00B050"/>
                          </a:solidFill>
                          <a:effectLst/>
                          <a:latin typeface="Aptos Narrow" panose="020B0004020202020204" pitchFamily="34" charset="0"/>
                        </a:rPr>
                        <a:t>4,0</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09342034"/>
                  </a:ext>
                </a:extLst>
              </a:tr>
              <a:tr h="144438">
                <a:tc>
                  <a:txBody>
                    <a:bodyPr/>
                    <a:lstStyle/>
                    <a:p>
                      <a:pPr algn="l" fontAlgn="b">
                        <a:buNone/>
                      </a:pPr>
                      <a:r>
                        <a:rPr lang="fr-FR" sz="900" b="0" i="0" u="none" strike="noStrike">
                          <a:solidFill>
                            <a:srgbClr val="000000"/>
                          </a:solidFill>
                          <a:effectLst/>
                          <a:latin typeface="Aptos Narrow" panose="020B0004020202020204" pitchFamily="34" charset="0"/>
                        </a:rPr>
                        <a:t>Les Ardennes, FR</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16,5</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983"/>
                    </a:solidFill>
                  </a:tcPr>
                </a:tc>
                <a:tc>
                  <a:txBody>
                    <a:bodyPr/>
                    <a:lstStyle/>
                    <a:p>
                      <a:pPr algn="r" fontAlgn="b">
                        <a:buNone/>
                      </a:pPr>
                      <a:r>
                        <a:rPr lang="fr-FR" sz="900" b="0" i="0" u="none" strike="noStrike">
                          <a:solidFill>
                            <a:srgbClr val="000000"/>
                          </a:solidFill>
                          <a:effectLst/>
                          <a:latin typeface="Aptos Narrow" panose="020B0004020202020204" pitchFamily="34" charset="0"/>
                        </a:rPr>
                        <a:t>5,5</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47F"/>
                    </a:solidFill>
                  </a:tcPr>
                </a:tc>
                <a:tc>
                  <a:txBody>
                    <a:bodyPr/>
                    <a:lstStyle/>
                    <a:p>
                      <a:pPr algn="r" fontAlgn="b">
                        <a:buNone/>
                      </a:pPr>
                      <a:r>
                        <a:rPr lang="fr-FR" sz="900" b="0" i="0" u="none" strike="noStrike">
                          <a:solidFill>
                            <a:srgbClr val="00B050"/>
                          </a:solidFill>
                          <a:effectLst/>
                          <a:latin typeface="Aptos Narrow" panose="020B0004020202020204" pitchFamily="34" charset="0"/>
                        </a:rPr>
                        <a:t>11,0</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69109029"/>
                  </a:ext>
                </a:extLst>
              </a:tr>
              <a:tr h="144438">
                <a:tc>
                  <a:txBody>
                    <a:bodyPr/>
                    <a:lstStyle/>
                    <a:p>
                      <a:pPr algn="l" fontAlgn="b">
                        <a:buNone/>
                      </a:pPr>
                      <a:r>
                        <a:rPr lang="fr-FR" sz="900" b="0" i="0" u="none" strike="noStrike">
                          <a:solidFill>
                            <a:srgbClr val="000000"/>
                          </a:solidFill>
                          <a:effectLst/>
                          <a:latin typeface="Aptos Narrow" panose="020B0004020202020204" pitchFamily="34" charset="0"/>
                        </a:rPr>
                        <a:t>Les Ardennes, GB</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11,1</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F81"/>
                    </a:solidFill>
                  </a:tcPr>
                </a:tc>
                <a:tc>
                  <a:txBody>
                    <a:bodyPr/>
                    <a:lstStyle/>
                    <a:p>
                      <a:pPr algn="r" fontAlgn="b">
                        <a:buNone/>
                      </a:pPr>
                      <a:r>
                        <a:rPr lang="fr-FR" sz="900" b="0" i="0" u="none" strike="noStrike">
                          <a:solidFill>
                            <a:srgbClr val="000000"/>
                          </a:solidFill>
                          <a:effectLst/>
                          <a:latin typeface="Aptos Narrow" panose="020B0004020202020204" pitchFamily="34" charset="0"/>
                        </a:rPr>
                        <a:t>14,3</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582"/>
                    </a:solidFill>
                  </a:tcPr>
                </a:tc>
                <a:tc>
                  <a:txBody>
                    <a:bodyPr/>
                    <a:lstStyle/>
                    <a:p>
                      <a:pPr algn="r" fontAlgn="b">
                        <a:buNone/>
                      </a:pPr>
                      <a:r>
                        <a:rPr lang="fr-FR" sz="900" b="0" i="0" u="none" strike="noStrike">
                          <a:solidFill>
                            <a:srgbClr val="FF0000"/>
                          </a:solidFill>
                          <a:effectLst/>
                          <a:latin typeface="Aptos Narrow" panose="020B0004020202020204" pitchFamily="34" charset="0"/>
                        </a:rPr>
                        <a:t>-3,2</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40994609"/>
                  </a:ext>
                </a:extLst>
              </a:tr>
              <a:tr h="144438">
                <a:tc>
                  <a:txBody>
                    <a:bodyPr/>
                    <a:lstStyle/>
                    <a:p>
                      <a:pPr algn="l" fontAlgn="b">
                        <a:buNone/>
                      </a:pPr>
                      <a:r>
                        <a:rPr lang="fr-FR" sz="900" b="0" i="0" u="none" strike="noStrike">
                          <a:solidFill>
                            <a:srgbClr val="000000"/>
                          </a:solidFill>
                          <a:effectLst/>
                          <a:latin typeface="Aptos Narrow" panose="020B0004020202020204" pitchFamily="34" charset="0"/>
                        </a:rPr>
                        <a:t>Les Ardennes, LU</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28,0</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6E483"/>
                    </a:solidFill>
                  </a:tcPr>
                </a:tc>
                <a:tc>
                  <a:txBody>
                    <a:bodyPr/>
                    <a:lstStyle/>
                    <a:p>
                      <a:pPr algn="r" fontAlgn="b">
                        <a:buNone/>
                      </a:pPr>
                      <a:r>
                        <a:rPr lang="fr-FR" sz="900" b="0" i="0" u="none" strike="noStrike">
                          <a:solidFill>
                            <a:srgbClr val="000000"/>
                          </a:solidFill>
                          <a:effectLst/>
                          <a:latin typeface="Aptos Narrow" panose="020B0004020202020204" pitchFamily="34" charset="0"/>
                        </a:rPr>
                        <a:t>12,6</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282"/>
                    </a:solidFill>
                  </a:tcPr>
                </a:tc>
                <a:tc>
                  <a:txBody>
                    <a:bodyPr/>
                    <a:lstStyle/>
                    <a:p>
                      <a:pPr algn="r" fontAlgn="b">
                        <a:buNone/>
                      </a:pPr>
                      <a:r>
                        <a:rPr lang="fr-FR" sz="900" b="0" i="0" u="none" strike="noStrike">
                          <a:solidFill>
                            <a:srgbClr val="00B050"/>
                          </a:solidFill>
                          <a:effectLst/>
                          <a:latin typeface="Aptos Narrow" panose="020B0004020202020204" pitchFamily="34" charset="0"/>
                        </a:rPr>
                        <a:t>15,4</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401882"/>
                  </a:ext>
                </a:extLst>
              </a:tr>
              <a:tr h="144438">
                <a:tc>
                  <a:txBody>
                    <a:bodyPr/>
                    <a:lstStyle/>
                    <a:p>
                      <a:pPr algn="l" fontAlgn="b">
                        <a:buNone/>
                      </a:pPr>
                      <a:r>
                        <a:rPr lang="fr-FR" sz="900" b="0" i="0" u="none" strike="noStrike">
                          <a:solidFill>
                            <a:srgbClr val="000000"/>
                          </a:solidFill>
                          <a:effectLst/>
                          <a:latin typeface="Aptos Narrow" panose="020B0004020202020204" pitchFamily="34" charset="0"/>
                        </a:rPr>
                        <a:t>Les Ardennes, NL</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-12,9</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B078"/>
                    </a:solidFill>
                  </a:tcPr>
                </a:tc>
                <a:tc>
                  <a:txBody>
                    <a:bodyPr/>
                    <a:lstStyle/>
                    <a:p>
                      <a:pPr algn="r" fontAlgn="b">
                        <a:buNone/>
                      </a:pPr>
                      <a:r>
                        <a:rPr lang="fr-FR" sz="900" b="0" i="0" u="none" strike="noStrike">
                          <a:solidFill>
                            <a:srgbClr val="000000"/>
                          </a:solidFill>
                          <a:effectLst/>
                          <a:latin typeface="Aptos Narrow" panose="020B0004020202020204" pitchFamily="34" charset="0"/>
                        </a:rPr>
                        <a:t>-17,1</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877"/>
                    </a:solidFill>
                  </a:tcPr>
                </a:tc>
                <a:tc>
                  <a:txBody>
                    <a:bodyPr/>
                    <a:lstStyle/>
                    <a:p>
                      <a:pPr algn="r" fontAlgn="b">
                        <a:buNone/>
                      </a:pPr>
                      <a:r>
                        <a:rPr lang="fr-FR" sz="900" b="0" i="0" u="none" strike="noStrike">
                          <a:solidFill>
                            <a:srgbClr val="00B050"/>
                          </a:solidFill>
                          <a:effectLst/>
                          <a:latin typeface="Aptos Narrow" panose="020B0004020202020204" pitchFamily="34" charset="0"/>
                        </a:rPr>
                        <a:t>4,2</a:t>
                      </a:r>
                    </a:p>
                  </a:txBody>
                  <a:tcPr marL="5174" marR="5174" marT="5174"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36417108"/>
                  </a:ext>
                </a:extLst>
              </a:tr>
            </a:tbl>
          </a:graphicData>
        </a:graphic>
      </p:graphicFrame>
      <p:graphicFrame>
        <p:nvGraphicFramePr>
          <p:cNvPr id="12" name="Table 11">
            <a:extLst>
              <a:ext uri="{FF2B5EF4-FFF2-40B4-BE49-F238E27FC236}">
                <a16:creationId xmlns:a16="http://schemas.microsoft.com/office/drawing/2014/main" id="{BB48EFA9-08F8-9723-334F-B456381C99C8}"/>
              </a:ext>
            </a:extLst>
          </p:cNvPr>
          <p:cNvGraphicFramePr>
            <a:graphicFrameLocks noGrp="1"/>
          </p:cNvGraphicFramePr>
          <p:nvPr>
            <p:extLst>
              <p:ext uri="{D42A27DB-BD31-4B8C-83A1-F6EECF244321}">
                <p14:modId xmlns:p14="http://schemas.microsoft.com/office/powerpoint/2010/main" val="1135334693"/>
              </p:ext>
            </p:extLst>
          </p:nvPr>
        </p:nvGraphicFramePr>
        <p:xfrm>
          <a:off x="7764704" y="4550755"/>
          <a:ext cx="3835401" cy="1121155"/>
        </p:xfrm>
        <a:graphic>
          <a:graphicData uri="http://schemas.openxmlformats.org/drawingml/2006/table">
            <a:tbl>
              <a:tblPr/>
              <a:tblGrid>
                <a:gridCol w="2006601">
                  <a:extLst>
                    <a:ext uri="{9D8B030D-6E8A-4147-A177-3AD203B41FA5}">
                      <a16:colId xmlns:a16="http://schemas.microsoft.com/office/drawing/2014/main" val="3221830255"/>
                    </a:ext>
                  </a:extLst>
                </a:gridCol>
                <a:gridCol w="609600">
                  <a:extLst>
                    <a:ext uri="{9D8B030D-6E8A-4147-A177-3AD203B41FA5}">
                      <a16:colId xmlns:a16="http://schemas.microsoft.com/office/drawing/2014/main" val="420119175"/>
                    </a:ext>
                  </a:extLst>
                </a:gridCol>
                <a:gridCol w="609600">
                  <a:extLst>
                    <a:ext uri="{9D8B030D-6E8A-4147-A177-3AD203B41FA5}">
                      <a16:colId xmlns:a16="http://schemas.microsoft.com/office/drawing/2014/main" val="4098148690"/>
                    </a:ext>
                  </a:extLst>
                </a:gridCol>
                <a:gridCol w="609600">
                  <a:extLst>
                    <a:ext uri="{9D8B030D-6E8A-4147-A177-3AD203B41FA5}">
                      <a16:colId xmlns:a16="http://schemas.microsoft.com/office/drawing/2014/main" val="2121427849"/>
                    </a:ext>
                  </a:extLst>
                </a:gridCol>
              </a:tblGrid>
              <a:tr h="160165">
                <a:tc>
                  <a:txBody>
                    <a:bodyPr/>
                    <a:lstStyle/>
                    <a:p>
                      <a:pPr algn="l" fontAlgn="b">
                        <a:buNone/>
                      </a:pPr>
                      <a:r>
                        <a:rPr lang="fr-FR" sz="900" b="0" i="0" u="none" strike="noStrike">
                          <a:solidFill>
                            <a:srgbClr val="000000"/>
                          </a:solidFill>
                          <a:effectLst/>
                          <a:latin typeface="Aptos Narrow" panose="020B0004020202020204" pitchFamily="34" charset="0"/>
                        </a:rPr>
                        <a:t>NPS</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28442409"/>
                  </a:ext>
                </a:extLst>
              </a:tr>
              <a:tr h="160165">
                <a:tc>
                  <a:txBody>
                    <a:bodyPr/>
                    <a:lstStyle/>
                    <a:p>
                      <a:pPr algn="l" fontAlgn="b">
                        <a:buNone/>
                      </a:pPr>
                      <a:r>
                        <a:rPr lang="fr-FR" sz="900" b="0" i="0" u="none" strike="noStrike" err="1">
                          <a:solidFill>
                            <a:srgbClr val="000000"/>
                          </a:solidFill>
                          <a:effectLst/>
                          <a:latin typeface="Aptos Narrow" panose="020B0004020202020204" pitchFamily="34" charset="0"/>
                        </a:rPr>
                        <a:t>Oostduinkerke</a:t>
                      </a:r>
                      <a:r>
                        <a:rPr lang="fr-FR" sz="900" b="0" i="0" u="none" strike="noStrike">
                          <a:solidFill>
                            <a:srgbClr val="000000"/>
                          </a:solidFill>
                          <a:effectLst/>
                          <a:latin typeface="Aptos Narrow" panose="020B0004020202020204" pitchFamily="34" charset="0"/>
                        </a:rPr>
                        <a:t> </a:t>
                      </a:r>
                      <a:r>
                        <a:rPr lang="fr-FR" sz="900" b="0" i="0" u="none" strike="noStrike" err="1">
                          <a:solidFill>
                            <a:srgbClr val="000000"/>
                          </a:solidFill>
                          <a:effectLst/>
                          <a:latin typeface="Aptos Narrow" panose="020B0004020202020204" pitchFamily="34" charset="0"/>
                        </a:rPr>
                        <a:t>aan</a:t>
                      </a:r>
                      <a:r>
                        <a:rPr lang="fr-FR" sz="900" b="0" i="0" u="none" strike="noStrike">
                          <a:solidFill>
                            <a:srgbClr val="000000"/>
                          </a:solidFill>
                          <a:effectLst/>
                          <a:latin typeface="Aptos Narrow" panose="020B0004020202020204" pitchFamily="34" charset="0"/>
                        </a:rPr>
                        <a:t> </a:t>
                      </a:r>
                      <a:r>
                        <a:rPr lang="fr-FR" sz="900" b="0" i="0" u="none" strike="noStrike" err="1">
                          <a:solidFill>
                            <a:srgbClr val="000000"/>
                          </a:solidFill>
                          <a:effectLst/>
                          <a:latin typeface="Aptos Narrow" panose="020B0004020202020204" pitchFamily="34" charset="0"/>
                        </a:rPr>
                        <a:t>zee</a:t>
                      </a:r>
                      <a:r>
                        <a:rPr lang="fr-FR" sz="900" b="0" i="0" u="none" strike="noStrike">
                          <a:solidFill>
                            <a:srgbClr val="000000"/>
                          </a:solidFill>
                          <a:effectLst/>
                          <a:latin typeface="Aptos Narrow" panose="020B0004020202020204" pitchFamily="34" charset="0"/>
                        </a:rPr>
                        <a:t>, Subtotal</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-10,1</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579"/>
                    </a:solidFill>
                  </a:tcPr>
                </a:tc>
                <a:tc>
                  <a:txBody>
                    <a:bodyPr/>
                    <a:lstStyle/>
                    <a:p>
                      <a:pPr algn="r" fontAlgn="b">
                        <a:buNone/>
                      </a:pPr>
                      <a:r>
                        <a:rPr lang="fr-FR" sz="900" b="0" i="0" u="none" strike="noStrike">
                          <a:solidFill>
                            <a:srgbClr val="000000"/>
                          </a:solidFill>
                          <a:effectLst/>
                          <a:latin typeface="Aptos Narrow" panose="020B0004020202020204" pitchFamily="34" charset="0"/>
                        </a:rPr>
                        <a:t>-4,0</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17C"/>
                    </a:solidFill>
                  </a:tcPr>
                </a:tc>
                <a:tc>
                  <a:txBody>
                    <a:bodyPr/>
                    <a:lstStyle/>
                    <a:p>
                      <a:pPr algn="r" fontAlgn="b">
                        <a:buNone/>
                      </a:pPr>
                      <a:r>
                        <a:rPr lang="fr-FR" sz="900" b="0" i="0" u="none" strike="noStrike">
                          <a:solidFill>
                            <a:srgbClr val="FF0000"/>
                          </a:solidFill>
                          <a:effectLst/>
                          <a:latin typeface="Aptos Narrow" panose="020B0004020202020204" pitchFamily="34" charset="0"/>
                        </a:rPr>
                        <a:t>-6,1</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50435315"/>
                  </a:ext>
                </a:extLst>
              </a:tr>
              <a:tr h="160165">
                <a:tc>
                  <a:txBody>
                    <a:bodyPr/>
                    <a:lstStyle/>
                    <a:p>
                      <a:pPr algn="l" fontAlgn="b">
                        <a:buNone/>
                      </a:pPr>
                      <a:r>
                        <a:rPr lang="fr-FR" sz="900" b="0" i="0" u="none" strike="noStrike" err="1">
                          <a:solidFill>
                            <a:srgbClr val="000000"/>
                          </a:solidFill>
                          <a:effectLst/>
                          <a:latin typeface="Aptos Narrow" panose="020B0004020202020204" pitchFamily="34" charset="0"/>
                        </a:rPr>
                        <a:t>Oostduinkerke</a:t>
                      </a:r>
                      <a:r>
                        <a:rPr lang="fr-FR" sz="900" b="0" i="0" u="none" strike="noStrike">
                          <a:solidFill>
                            <a:srgbClr val="000000"/>
                          </a:solidFill>
                          <a:effectLst/>
                          <a:latin typeface="Aptos Narrow" panose="020B0004020202020204" pitchFamily="34" charset="0"/>
                        </a:rPr>
                        <a:t> </a:t>
                      </a:r>
                      <a:r>
                        <a:rPr lang="fr-FR" sz="900" b="0" i="0" u="none" strike="noStrike" err="1">
                          <a:solidFill>
                            <a:srgbClr val="000000"/>
                          </a:solidFill>
                          <a:effectLst/>
                          <a:latin typeface="Aptos Narrow" panose="020B0004020202020204" pitchFamily="34" charset="0"/>
                        </a:rPr>
                        <a:t>aan</a:t>
                      </a:r>
                      <a:r>
                        <a:rPr lang="fr-FR" sz="900" b="0" i="0" u="none" strike="noStrike">
                          <a:solidFill>
                            <a:srgbClr val="000000"/>
                          </a:solidFill>
                          <a:effectLst/>
                          <a:latin typeface="Aptos Narrow" panose="020B0004020202020204" pitchFamily="34" charset="0"/>
                        </a:rPr>
                        <a:t> </a:t>
                      </a:r>
                      <a:r>
                        <a:rPr lang="fr-FR" sz="900" b="0" i="0" u="none" strike="noStrike" err="1">
                          <a:solidFill>
                            <a:srgbClr val="000000"/>
                          </a:solidFill>
                          <a:effectLst/>
                          <a:latin typeface="Aptos Narrow" panose="020B0004020202020204" pitchFamily="34" charset="0"/>
                        </a:rPr>
                        <a:t>zee</a:t>
                      </a:r>
                      <a:r>
                        <a:rPr lang="fr-FR" sz="900" b="0" i="0" u="none" strike="noStrike">
                          <a:solidFill>
                            <a:srgbClr val="000000"/>
                          </a:solidFill>
                          <a:effectLst/>
                          <a:latin typeface="Aptos Narrow" panose="020B0004020202020204" pitchFamily="34" charset="0"/>
                        </a:rPr>
                        <a:t>, BE</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-10,8</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479"/>
                    </a:solidFill>
                  </a:tcPr>
                </a:tc>
                <a:tc>
                  <a:txBody>
                    <a:bodyPr/>
                    <a:lstStyle/>
                    <a:p>
                      <a:pPr algn="r" fontAlgn="b">
                        <a:buNone/>
                      </a:pPr>
                      <a:r>
                        <a:rPr lang="fr-FR" sz="900" b="0" i="0" u="none" strike="noStrike">
                          <a:solidFill>
                            <a:srgbClr val="000000"/>
                          </a:solidFill>
                          <a:effectLst/>
                          <a:latin typeface="Aptos Narrow" panose="020B0004020202020204" pitchFamily="34" charset="0"/>
                        </a:rPr>
                        <a:t>-2,4</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47C"/>
                    </a:solidFill>
                  </a:tcPr>
                </a:tc>
                <a:tc>
                  <a:txBody>
                    <a:bodyPr/>
                    <a:lstStyle/>
                    <a:p>
                      <a:pPr algn="r" fontAlgn="b">
                        <a:buNone/>
                      </a:pPr>
                      <a:r>
                        <a:rPr lang="fr-FR" sz="900" b="0" i="0" u="none" strike="noStrike">
                          <a:solidFill>
                            <a:srgbClr val="FF0000"/>
                          </a:solidFill>
                          <a:effectLst/>
                          <a:latin typeface="Aptos Narrow" panose="020B0004020202020204" pitchFamily="34" charset="0"/>
                        </a:rPr>
                        <a:t>-8,4</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28616229"/>
                  </a:ext>
                </a:extLst>
              </a:tr>
              <a:tr h="160165">
                <a:tc>
                  <a:txBody>
                    <a:bodyPr/>
                    <a:lstStyle/>
                    <a:p>
                      <a:pPr algn="l" fontAlgn="b">
                        <a:buNone/>
                      </a:pPr>
                      <a:r>
                        <a:rPr lang="fr-FR" sz="900" b="0" i="0" u="none" strike="noStrike">
                          <a:solidFill>
                            <a:srgbClr val="000000"/>
                          </a:solidFill>
                          <a:effectLst/>
                          <a:latin typeface="Aptos Narrow" panose="020B0004020202020204" pitchFamily="34" charset="0"/>
                        </a:rPr>
                        <a:t>Oostduinkerke aan zee, DE</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-25,2</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874"/>
                    </a:solidFill>
                  </a:tcPr>
                </a:tc>
                <a:tc>
                  <a:txBody>
                    <a:bodyPr/>
                    <a:lstStyle/>
                    <a:p>
                      <a:pPr algn="r" fontAlgn="b">
                        <a:buNone/>
                      </a:pPr>
                      <a:r>
                        <a:rPr lang="fr-FR" sz="900" b="0" i="0" u="none" strike="noStrike">
                          <a:solidFill>
                            <a:srgbClr val="000000"/>
                          </a:solidFill>
                          <a:effectLst/>
                          <a:latin typeface="Aptos Narrow" panose="020B0004020202020204" pitchFamily="34" charset="0"/>
                        </a:rPr>
                        <a:t>-21,7</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F75"/>
                    </a:solidFill>
                  </a:tcPr>
                </a:tc>
                <a:tc>
                  <a:txBody>
                    <a:bodyPr/>
                    <a:lstStyle/>
                    <a:p>
                      <a:pPr algn="r" fontAlgn="b">
                        <a:buNone/>
                      </a:pPr>
                      <a:r>
                        <a:rPr lang="fr-FR" sz="900" b="0" i="0" u="none" strike="noStrike">
                          <a:solidFill>
                            <a:srgbClr val="FF0000"/>
                          </a:solidFill>
                          <a:effectLst/>
                          <a:latin typeface="Aptos Narrow" panose="020B0004020202020204" pitchFamily="34" charset="0"/>
                        </a:rPr>
                        <a:t>-3,5</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64416824"/>
                  </a:ext>
                </a:extLst>
              </a:tr>
              <a:tr h="160165">
                <a:tc>
                  <a:txBody>
                    <a:bodyPr/>
                    <a:lstStyle/>
                    <a:p>
                      <a:pPr algn="l" fontAlgn="b">
                        <a:buNone/>
                      </a:pPr>
                      <a:r>
                        <a:rPr lang="fr-FR" sz="900" b="0" i="0" u="none" strike="noStrike">
                          <a:solidFill>
                            <a:srgbClr val="000000"/>
                          </a:solidFill>
                          <a:effectLst/>
                          <a:latin typeface="Aptos Narrow" panose="020B0004020202020204" pitchFamily="34" charset="0"/>
                        </a:rPr>
                        <a:t>Oostduinkerke aan zee, FR</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0,7</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A7D"/>
                    </a:solidFill>
                  </a:tcPr>
                </a:tc>
                <a:tc>
                  <a:txBody>
                    <a:bodyPr/>
                    <a:lstStyle/>
                    <a:p>
                      <a:pPr algn="r" fontAlgn="b">
                        <a:buNone/>
                      </a:pPr>
                      <a:r>
                        <a:rPr lang="fr-FR" sz="900" b="0" i="0" u="none" strike="noStrike">
                          <a:solidFill>
                            <a:srgbClr val="000000"/>
                          </a:solidFill>
                          <a:effectLst/>
                          <a:latin typeface="Aptos Narrow" panose="020B0004020202020204" pitchFamily="34" charset="0"/>
                        </a:rPr>
                        <a:t>5,1</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37F"/>
                    </a:solidFill>
                  </a:tcPr>
                </a:tc>
                <a:tc>
                  <a:txBody>
                    <a:bodyPr/>
                    <a:lstStyle/>
                    <a:p>
                      <a:pPr algn="r" fontAlgn="b">
                        <a:buNone/>
                      </a:pPr>
                      <a:r>
                        <a:rPr lang="fr-FR" sz="900" b="0" i="0" u="none" strike="noStrike">
                          <a:solidFill>
                            <a:srgbClr val="FF0000"/>
                          </a:solidFill>
                          <a:effectLst/>
                          <a:latin typeface="Aptos Narrow" panose="020B0004020202020204" pitchFamily="34" charset="0"/>
                        </a:rPr>
                        <a:t>-4,3</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35994102"/>
                  </a:ext>
                </a:extLst>
              </a:tr>
              <a:tr h="160165">
                <a:tc>
                  <a:txBody>
                    <a:bodyPr/>
                    <a:lstStyle/>
                    <a:p>
                      <a:pPr algn="l" fontAlgn="b">
                        <a:buNone/>
                      </a:pPr>
                      <a:r>
                        <a:rPr lang="fr-FR" sz="900" b="0" i="0" u="none" strike="noStrike" err="1">
                          <a:solidFill>
                            <a:srgbClr val="000000"/>
                          </a:solidFill>
                          <a:effectLst/>
                          <a:latin typeface="Aptos Narrow" panose="020B0004020202020204" pitchFamily="34" charset="0"/>
                        </a:rPr>
                        <a:t>Oostduinkerke</a:t>
                      </a:r>
                      <a:r>
                        <a:rPr lang="fr-FR" sz="900" b="0" i="0" u="none" strike="noStrike">
                          <a:solidFill>
                            <a:srgbClr val="000000"/>
                          </a:solidFill>
                          <a:effectLst/>
                          <a:latin typeface="Aptos Narrow" panose="020B0004020202020204" pitchFamily="34" charset="0"/>
                        </a:rPr>
                        <a:t> </a:t>
                      </a:r>
                      <a:r>
                        <a:rPr lang="fr-FR" sz="900" b="0" i="0" u="none" strike="noStrike" err="1">
                          <a:solidFill>
                            <a:srgbClr val="000000"/>
                          </a:solidFill>
                          <a:effectLst/>
                          <a:latin typeface="Aptos Narrow" panose="020B0004020202020204" pitchFamily="34" charset="0"/>
                        </a:rPr>
                        <a:t>aan</a:t>
                      </a:r>
                      <a:r>
                        <a:rPr lang="fr-FR" sz="900" b="0" i="0" u="none" strike="noStrike">
                          <a:solidFill>
                            <a:srgbClr val="000000"/>
                          </a:solidFill>
                          <a:effectLst/>
                          <a:latin typeface="Aptos Narrow" panose="020B0004020202020204" pitchFamily="34" charset="0"/>
                        </a:rPr>
                        <a:t> </a:t>
                      </a:r>
                      <a:r>
                        <a:rPr lang="fr-FR" sz="900" b="0" i="0" u="none" strike="noStrike" err="1">
                          <a:solidFill>
                            <a:srgbClr val="000000"/>
                          </a:solidFill>
                          <a:effectLst/>
                          <a:latin typeface="Aptos Narrow" panose="020B0004020202020204" pitchFamily="34" charset="0"/>
                        </a:rPr>
                        <a:t>zee</a:t>
                      </a:r>
                      <a:r>
                        <a:rPr lang="fr-FR" sz="900" b="0" i="0" u="none" strike="noStrike">
                          <a:solidFill>
                            <a:srgbClr val="000000"/>
                          </a:solidFill>
                          <a:effectLst/>
                          <a:latin typeface="Aptos Narrow" panose="020B0004020202020204" pitchFamily="34" charset="0"/>
                        </a:rPr>
                        <a:t>, GB</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6,7</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680"/>
                    </a:solidFill>
                  </a:tcPr>
                </a:tc>
                <a:tc>
                  <a:txBody>
                    <a:bodyPr/>
                    <a:lstStyle/>
                    <a:p>
                      <a:pPr algn="r" fontAlgn="b">
                        <a:buNone/>
                      </a:pPr>
                      <a:r>
                        <a:rPr lang="fr-FR" sz="900" b="0" i="0" u="none" strike="noStrike">
                          <a:solidFill>
                            <a:srgbClr val="000000"/>
                          </a:solidFill>
                          <a:effectLst/>
                          <a:latin typeface="Aptos Narrow" panose="020B0004020202020204" pitchFamily="34" charset="0"/>
                        </a:rPr>
                        <a:t>6,3</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57F"/>
                    </a:solidFill>
                  </a:tcPr>
                </a:tc>
                <a:tc>
                  <a:txBody>
                    <a:bodyPr/>
                    <a:lstStyle/>
                    <a:p>
                      <a:pPr algn="r" fontAlgn="b">
                        <a:buNone/>
                      </a:pPr>
                      <a:r>
                        <a:rPr lang="fr-FR" sz="900" b="0" i="0" u="none" strike="noStrike">
                          <a:solidFill>
                            <a:srgbClr val="00B050"/>
                          </a:solidFill>
                          <a:effectLst/>
                          <a:latin typeface="Aptos Narrow" panose="020B0004020202020204" pitchFamily="34" charset="0"/>
                        </a:rPr>
                        <a:t>0,5</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1547703"/>
                  </a:ext>
                </a:extLst>
              </a:tr>
              <a:tr h="160165">
                <a:tc>
                  <a:txBody>
                    <a:bodyPr/>
                    <a:lstStyle/>
                    <a:p>
                      <a:pPr algn="l" fontAlgn="b">
                        <a:buNone/>
                      </a:pPr>
                      <a:r>
                        <a:rPr lang="fr-FR" sz="900" b="0" i="0" u="none" strike="noStrike">
                          <a:solidFill>
                            <a:srgbClr val="000000"/>
                          </a:solidFill>
                          <a:effectLst/>
                          <a:latin typeface="Aptos Narrow" panose="020B0004020202020204" pitchFamily="34" charset="0"/>
                        </a:rPr>
                        <a:t>Oostduinkerke aan zee, NL</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-49,7</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96B"/>
                    </a:solidFill>
                  </a:tcPr>
                </a:tc>
                <a:tc>
                  <a:txBody>
                    <a:bodyPr/>
                    <a:lstStyle/>
                    <a:p>
                      <a:pPr algn="r" fontAlgn="b">
                        <a:buNone/>
                      </a:pPr>
                      <a:r>
                        <a:rPr lang="fr-FR" sz="900" b="0" i="0" u="none" strike="noStrike">
                          <a:solidFill>
                            <a:srgbClr val="000000"/>
                          </a:solidFill>
                          <a:effectLst/>
                          <a:latin typeface="Aptos Narrow" panose="020B0004020202020204" pitchFamily="34" charset="0"/>
                        </a:rPr>
                        <a:t>-48,2</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B6B"/>
                    </a:solidFill>
                  </a:tcPr>
                </a:tc>
                <a:tc>
                  <a:txBody>
                    <a:bodyPr/>
                    <a:lstStyle/>
                    <a:p>
                      <a:pPr algn="r" fontAlgn="b">
                        <a:buNone/>
                      </a:pPr>
                      <a:r>
                        <a:rPr lang="fr-FR" sz="900" b="0" i="0" u="none" strike="noStrike">
                          <a:solidFill>
                            <a:srgbClr val="FF0000"/>
                          </a:solidFill>
                          <a:effectLst/>
                          <a:latin typeface="Aptos Narrow" panose="020B0004020202020204" pitchFamily="34" charset="0"/>
                        </a:rPr>
                        <a:t>-1,5</a:t>
                      </a:r>
                    </a:p>
                  </a:txBody>
                  <a:tcPr marL="4287" marR="4287" marT="4287"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00755556"/>
                  </a:ext>
                </a:extLst>
              </a:tr>
            </a:tbl>
          </a:graphicData>
        </a:graphic>
      </p:graphicFrame>
      <p:graphicFrame>
        <p:nvGraphicFramePr>
          <p:cNvPr id="14" name="Table 13">
            <a:extLst>
              <a:ext uri="{FF2B5EF4-FFF2-40B4-BE49-F238E27FC236}">
                <a16:creationId xmlns:a16="http://schemas.microsoft.com/office/drawing/2014/main" id="{3846FE87-96F5-0B26-D44B-1D1C40AF8C13}"/>
              </a:ext>
            </a:extLst>
          </p:cNvPr>
          <p:cNvGraphicFramePr>
            <a:graphicFrameLocks noGrp="1"/>
          </p:cNvGraphicFramePr>
          <p:nvPr>
            <p:extLst>
              <p:ext uri="{D42A27DB-BD31-4B8C-83A1-F6EECF244321}">
                <p14:modId xmlns:p14="http://schemas.microsoft.com/office/powerpoint/2010/main" val="3589346486"/>
              </p:ext>
            </p:extLst>
          </p:nvPr>
        </p:nvGraphicFramePr>
        <p:xfrm>
          <a:off x="4304851" y="4546042"/>
          <a:ext cx="3125096" cy="1125864"/>
        </p:xfrm>
        <a:graphic>
          <a:graphicData uri="http://schemas.openxmlformats.org/drawingml/2006/table">
            <a:tbl>
              <a:tblPr/>
              <a:tblGrid>
                <a:gridCol w="1634984">
                  <a:extLst>
                    <a:ext uri="{9D8B030D-6E8A-4147-A177-3AD203B41FA5}">
                      <a16:colId xmlns:a16="http://schemas.microsoft.com/office/drawing/2014/main" val="1922429986"/>
                    </a:ext>
                  </a:extLst>
                </a:gridCol>
                <a:gridCol w="496704">
                  <a:extLst>
                    <a:ext uri="{9D8B030D-6E8A-4147-A177-3AD203B41FA5}">
                      <a16:colId xmlns:a16="http://schemas.microsoft.com/office/drawing/2014/main" val="526692613"/>
                    </a:ext>
                  </a:extLst>
                </a:gridCol>
                <a:gridCol w="496704">
                  <a:extLst>
                    <a:ext uri="{9D8B030D-6E8A-4147-A177-3AD203B41FA5}">
                      <a16:colId xmlns:a16="http://schemas.microsoft.com/office/drawing/2014/main" val="2747478715"/>
                    </a:ext>
                  </a:extLst>
                </a:gridCol>
                <a:gridCol w="496704">
                  <a:extLst>
                    <a:ext uri="{9D8B030D-6E8A-4147-A177-3AD203B41FA5}">
                      <a16:colId xmlns:a16="http://schemas.microsoft.com/office/drawing/2014/main" val="68941636"/>
                    </a:ext>
                  </a:extLst>
                </a:gridCol>
              </a:tblGrid>
              <a:tr h="125571">
                <a:tc>
                  <a:txBody>
                    <a:bodyPr/>
                    <a:lstStyle/>
                    <a:p>
                      <a:pPr algn="l" fontAlgn="b">
                        <a:buNone/>
                      </a:pPr>
                      <a:r>
                        <a:rPr lang="fr-FR" sz="900" b="0" i="0" u="none" strike="noStrike">
                          <a:solidFill>
                            <a:srgbClr val="000000"/>
                          </a:solidFill>
                          <a:effectLst/>
                          <a:latin typeface="Aptos Narrow" panose="020B0004020202020204" pitchFamily="34" charset="0"/>
                        </a:rPr>
                        <a:t>NPS</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56292342"/>
                  </a:ext>
                </a:extLst>
              </a:tr>
              <a:tr h="125571">
                <a:tc>
                  <a:txBody>
                    <a:bodyPr/>
                    <a:lstStyle/>
                    <a:p>
                      <a:pPr algn="l" fontAlgn="b">
                        <a:buNone/>
                      </a:pPr>
                      <a:r>
                        <a:rPr lang="fr-FR" sz="900" b="0" i="0" u="none" strike="noStrike">
                          <a:solidFill>
                            <a:srgbClr val="000000"/>
                          </a:solidFill>
                          <a:effectLst/>
                          <a:latin typeface="Aptos Narrow" panose="020B0004020202020204" pitchFamily="34" charset="0"/>
                        </a:rPr>
                        <a:t>Park De Haan, Subtotal</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7,7</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880"/>
                    </a:solidFill>
                  </a:tcPr>
                </a:tc>
                <a:tc>
                  <a:txBody>
                    <a:bodyPr/>
                    <a:lstStyle/>
                    <a:p>
                      <a:pPr algn="r" fontAlgn="b">
                        <a:buNone/>
                      </a:pPr>
                      <a:r>
                        <a:rPr lang="fr-FR" sz="900" b="0" i="0" u="none" strike="noStrike">
                          <a:solidFill>
                            <a:srgbClr val="000000"/>
                          </a:solidFill>
                          <a:effectLst/>
                          <a:latin typeface="Aptos Narrow" panose="020B0004020202020204" pitchFamily="34" charset="0"/>
                        </a:rPr>
                        <a:t>-1,0</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77D"/>
                    </a:solidFill>
                  </a:tcPr>
                </a:tc>
                <a:tc>
                  <a:txBody>
                    <a:bodyPr/>
                    <a:lstStyle/>
                    <a:p>
                      <a:pPr algn="r" fontAlgn="b">
                        <a:buNone/>
                      </a:pPr>
                      <a:r>
                        <a:rPr lang="fr-FR" sz="900" b="0" i="0" u="none" strike="noStrike">
                          <a:solidFill>
                            <a:srgbClr val="00B050"/>
                          </a:solidFill>
                          <a:effectLst/>
                          <a:latin typeface="Aptos Narrow" panose="020B0004020202020204" pitchFamily="34" charset="0"/>
                        </a:rPr>
                        <a:t>8,7</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99785787"/>
                  </a:ext>
                </a:extLst>
              </a:tr>
              <a:tr h="125571">
                <a:tc>
                  <a:txBody>
                    <a:bodyPr/>
                    <a:lstStyle/>
                    <a:p>
                      <a:pPr algn="l" fontAlgn="b">
                        <a:buNone/>
                      </a:pPr>
                      <a:r>
                        <a:rPr lang="fr-FR" sz="900" b="0" i="0" u="none" strike="noStrike">
                          <a:solidFill>
                            <a:srgbClr val="000000"/>
                          </a:solidFill>
                          <a:effectLst/>
                          <a:latin typeface="Aptos Narrow" panose="020B0004020202020204" pitchFamily="34" charset="0"/>
                        </a:rPr>
                        <a:t>Park De Haan, BE</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13,1</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282"/>
                    </a:solidFill>
                  </a:tcPr>
                </a:tc>
                <a:tc>
                  <a:txBody>
                    <a:bodyPr/>
                    <a:lstStyle/>
                    <a:p>
                      <a:pPr algn="r" fontAlgn="b">
                        <a:buNone/>
                      </a:pPr>
                      <a:r>
                        <a:rPr lang="fr-FR" sz="900" b="0" i="0" u="none" strike="noStrike">
                          <a:solidFill>
                            <a:srgbClr val="000000"/>
                          </a:solidFill>
                          <a:effectLst/>
                          <a:latin typeface="Aptos Narrow" panose="020B0004020202020204" pitchFamily="34" charset="0"/>
                        </a:rPr>
                        <a:t>2,9</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F7E"/>
                    </a:solidFill>
                  </a:tcPr>
                </a:tc>
                <a:tc>
                  <a:txBody>
                    <a:bodyPr/>
                    <a:lstStyle/>
                    <a:p>
                      <a:pPr algn="r" fontAlgn="b">
                        <a:buNone/>
                      </a:pPr>
                      <a:r>
                        <a:rPr lang="fr-FR" sz="900" b="0" i="0" u="none" strike="noStrike">
                          <a:solidFill>
                            <a:srgbClr val="00B050"/>
                          </a:solidFill>
                          <a:effectLst/>
                          <a:latin typeface="Aptos Narrow" panose="020B0004020202020204" pitchFamily="34" charset="0"/>
                        </a:rPr>
                        <a:t>10,2</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90827914"/>
                  </a:ext>
                </a:extLst>
              </a:tr>
              <a:tr h="125571">
                <a:tc>
                  <a:txBody>
                    <a:bodyPr/>
                    <a:lstStyle/>
                    <a:p>
                      <a:pPr algn="l" fontAlgn="b">
                        <a:buNone/>
                      </a:pPr>
                      <a:r>
                        <a:rPr lang="fr-FR" sz="900" b="0" i="0" u="none" strike="noStrike">
                          <a:solidFill>
                            <a:srgbClr val="000000"/>
                          </a:solidFill>
                          <a:effectLst/>
                          <a:latin typeface="Aptos Narrow" panose="020B0004020202020204" pitchFamily="34" charset="0"/>
                        </a:rPr>
                        <a:t>Park De Haan, DE</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-2,5</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47C"/>
                    </a:solidFill>
                  </a:tcPr>
                </a:tc>
                <a:tc>
                  <a:txBody>
                    <a:bodyPr/>
                    <a:lstStyle/>
                    <a:p>
                      <a:pPr algn="r" fontAlgn="b">
                        <a:buNone/>
                      </a:pPr>
                      <a:r>
                        <a:rPr lang="fr-FR" sz="900" b="0" i="0" u="none" strike="noStrike">
                          <a:solidFill>
                            <a:srgbClr val="000000"/>
                          </a:solidFill>
                          <a:effectLst/>
                          <a:latin typeface="Aptos Narrow" panose="020B0004020202020204" pitchFamily="34" charset="0"/>
                        </a:rPr>
                        <a:t>-8,2</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97A"/>
                    </a:solidFill>
                  </a:tcPr>
                </a:tc>
                <a:tc>
                  <a:txBody>
                    <a:bodyPr/>
                    <a:lstStyle/>
                    <a:p>
                      <a:pPr algn="r" fontAlgn="b">
                        <a:buNone/>
                      </a:pPr>
                      <a:r>
                        <a:rPr lang="fr-FR" sz="900" b="0" i="0" u="none" strike="noStrike">
                          <a:solidFill>
                            <a:srgbClr val="00B050"/>
                          </a:solidFill>
                          <a:effectLst/>
                          <a:latin typeface="Aptos Narrow" panose="020B0004020202020204" pitchFamily="34" charset="0"/>
                        </a:rPr>
                        <a:t>5,8</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96569573"/>
                  </a:ext>
                </a:extLst>
              </a:tr>
              <a:tr h="125571">
                <a:tc>
                  <a:txBody>
                    <a:bodyPr/>
                    <a:lstStyle/>
                    <a:p>
                      <a:pPr algn="l" fontAlgn="b">
                        <a:buNone/>
                      </a:pPr>
                      <a:r>
                        <a:rPr lang="fr-FR" sz="900" b="0" i="0" u="none" strike="noStrike">
                          <a:solidFill>
                            <a:srgbClr val="000000"/>
                          </a:solidFill>
                          <a:effectLst/>
                          <a:latin typeface="Aptos Narrow" panose="020B0004020202020204" pitchFamily="34" charset="0"/>
                        </a:rPr>
                        <a:t>Park De Haan, FR</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12,0</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082"/>
                    </a:solidFill>
                  </a:tcPr>
                </a:tc>
                <a:tc>
                  <a:txBody>
                    <a:bodyPr/>
                    <a:lstStyle/>
                    <a:p>
                      <a:pPr algn="r" fontAlgn="b">
                        <a:buNone/>
                      </a:pPr>
                      <a:r>
                        <a:rPr lang="fr-FR" sz="900" b="0" i="0" u="none" strike="noStrike">
                          <a:solidFill>
                            <a:srgbClr val="000000"/>
                          </a:solidFill>
                          <a:effectLst/>
                          <a:latin typeface="Aptos Narrow" panose="020B0004020202020204" pitchFamily="34" charset="0"/>
                        </a:rPr>
                        <a:t>3,8</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07E"/>
                    </a:solidFill>
                  </a:tcPr>
                </a:tc>
                <a:tc>
                  <a:txBody>
                    <a:bodyPr/>
                    <a:lstStyle/>
                    <a:p>
                      <a:pPr algn="r" fontAlgn="b">
                        <a:buNone/>
                      </a:pPr>
                      <a:r>
                        <a:rPr lang="fr-FR" sz="900" b="0" i="0" u="none" strike="noStrike">
                          <a:solidFill>
                            <a:srgbClr val="00B050"/>
                          </a:solidFill>
                          <a:effectLst/>
                          <a:latin typeface="Aptos Narrow" panose="020B0004020202020204" pitchFamily="34" charset="0"/>
                        </a:rPr>
                        <a:t>8,2</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95035961"/>
                  </a:ext>
                </a:extLst>
              </a:tr>
              <a:tr h="125571">
                <a:tc>
                  <a:txBody>
                    <a:bodyPr/>
                    <a:lstStyle/>
                    <a:p>
                      <a:pPr algn="l" fontAlgn="b">
                        <a:buNone/>
                      </a:pPr>
                      <a:r>
                        <a:rPr lang="fr-FR" sz="900" b="0" i="0" u="none" strike="noStrike">
                          <a:solidFill>
                            <a:srgbClr val="000000"/>
                          </a:solidFill>
                          <a:effectLst/>
                          <a:latin typeface="Aptos Narrow" panose="020B0004020202020204" pitchFamily="34" charset="0"/>
                        </a:rPr>
                        <a:t>Park De Haan, GB</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24,8</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DE683"/>
                    </a:solidFill>
                  </a:tcPr>
                </a:tc>
                <a:tc>
                  <a:txBody>
                    <a:bodyPr/>
                    <a:lstStyle/>
                    <a:p>
                      <a:pPr algn="r" fontAlgn="b">
                        <a:buNone/>
                      </a:pPr>
                      <a:r>
                        <a:rPr lang="fr-FR" sz="900" b="0" i="0" u="none" strike="noStrike">
                          <a:solidFill>
                            <a:srgbClr val="000000"/>
                          </a:solidFill>
                          <a:effectLst/>
                          <a:latin typeface="Aptos Narrow" panose="020B0004020202020204" pitchFamily="34" charset="0"/>
                        </a:rPr>
                        <a:t>20,2</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E984"/>
                    </a:solidFill>
                  </a:tcPr>
                </a:tc>
                <a:tc>
                  <a:txBody>
                    <a:bodyPr/>
                    <a:lstStyle/>
                    <a:p>
                      <a:pPr algn="r" fontAlgn="b">
                        <a:buNone/>
                      </a:pPr>
                      <a:r>
                        <a:rPr lang="fr-FR" sz="900" b="0" i="0" u="none" strike="noStrike">
                          <a:solidFill>
                            <a:srgbClr val="00B050"/>
                          </a:solidFill>
                          <a:effectLst/>
                          <a:latin typeface="Aptos Narrow" panose="020B0004020202020204" pitchFamily="34" charset="0"/>
                        </a:rPr>
                        <a:t>4,6</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54884732"/>
                  </a:ext>
                </a:extLst>
              </a:tr>
              <a:tr h="125571">
                <a:tc>
                  <a:txBody>
                    <a:bodyPr/>
                    <a:lstStyle/>
                    <a:p>
                      <a:pPr algn="l" fontAlgn="b">
                        <a:buNone/>
                      </a:pPr>
                      <a:r>
                        <a:rPr lang="fr-FR" sz="900" b="0" i="0" u="none" strike="noStrike">
                          <a:solidFill>
                            <a:srgbClr val="000000"/>
                          </a:solidFill>
                          <a:effectLst/>
                          <a:latin typeface="Aptos Narrow" panose="020B0004020202020204" pitchFamily="34" charset="0"/>
                        </a:rPr>
                        <a:t>Park De Haan, LU</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0,0</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97D"/>
                    </a:solidFill>
                  </a:tcPr>
                </a:tc>
                <a:tc>
                  <a:txBody>
                    <a:bodyPr/>
                    <a:lstStyle/>
                    <a:p>
                      <a:pPr algn="r" fontAlgn="b">
                        <a:buNone/>
                      </a:pPr>
                      <a:r>
                        <a:rPr lang="fr-FR" sz="900" b="0" i="0" u="none" strike="noStrike">
                          <a:solidFill>
                            <a:srgbClr val="000000"/>
                          </a:solidFill>
                          <a:effectLst/>
                          <a:latin typeface="Aptos Narrow" panose="020B0004020202020204" pitchFamily="34" charset="0"/>
                        </a:rPr>
                        <a:t>-25,6</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773"/>
                    </a:solidFill>
                  </a:tcPr>
                </a:tc>
                <a:tc>
                  <a:txBody>
                    <a:bodyPr/>
                    <a:lstStyle/>
                    <a:p>
                      <a:pPr algn="r" fontAlgn="b">
                        <a:buNone/>
                      </a:pPr>
                      <a:r>
                        <a:rPr lang="fr-FR" sz="900" b="0" i="0" u="none" strike="noStrike">
                          <a:solidFill>
                            <a:srgbClr val="00B050"/>
                          </a:solidFill>
                          <a:effectLst/>
                          <a:latin typeface="Aptos Narrow" panose="020B0004020202020204" pitchFamily="34" charset="0"/>
                        </a:rPr>
                        <a:t>25,6</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32848804"/>
                  </a:ext>
                </a:extLst>
              </a:tr>
              <a:tr h="125571">
                <a:tc>
                  <a:txBody>
                    <a:bodyPr/>
                    <a:lstStyle/>
                    <a:p>
                      <a:pPr algn="l" fontAlgn="b">
                        <a:buNone/>
                      </a:pPr>
                      <a:r>
                        <a:rPr lang="fr-FR" sz="900" b="0" i="0" u="none" strike="noStrike">
                          <a:solidFill>
                            <a:srgbClr val="000000"/>
                          </a:solidFill>
                          <a:effectLst/>
                          <a:latin typeface="Aptos Narrow" panose="020B0004020202020204" pitchFamily="34" charset="0"/>
                        </a:rPr>
                        <a:t>Park De Haan, NL</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-18,2</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676"/>
                    </a:solidFill>
                  </a:tcPr>
                </a:tc>
                <a:tc>
                  <a:txBody>
                    <a:bodyPr/>
                    <a:lstStyle/>
                    <a:p>
                      <a:pPr algn="r" fontAlgn="b">
                        <a:buNone/>
                      </a:pPr>
                      <a:r>
                        <a:rPr lang="fr-FR" sz="900" b="0" i="0" u="none" strike="noStrike">
                          <a:solidFill>
                            <a:srgbClr val="000000"/>
                          </a:solidFill>
                          <a:effectLst/>
                          <a:latin typeface="Aptos Narrow" panose="020B0004020202020204" pitchFamily="34" charset="0"/>
                        </a:rPr>
                        <a:t>-23,9</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A74"/>
                    </a:solidFill>
                  </a:tcPr>
                </a:tc>
                <a:tc>
                  <a:txBody>
                    <a:bodyPr/>
                    <a:lstStyle/>
                    <a:p>
                      <a:pPr algn="r" fontAlgn="b">
                        <a:buNone/>
                      </a:pPr>
                      <a:r>
                        <a:rPr lang="fr-FR" sz="900" b="0" i="0" u="none" strike="noStrike">
                          <a:solidFill>
                            <a:srgbClr val="00B050"/>
                          </a:solidFill>
                          <a:effectLst/>
                          <a:latin typeface="Aptos Narrow" panose="020B0004020202020204" pitchFamily="34" charset="0"/>
                        </a:rPr>
                        <a:t>5,7</a:t>
                      </a:r>
                    </a:p>
                  </a:txBody>
                  <a:tcPr marL="3573" marR="3573" marT="3573"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11616277"/>
                  </a:ext>
                </a:extLst>
              </a:tr>
            </a:tbl>
          </a:graphicData>
        </a:graphic>
      </p:graphicFrame>
      <p:graphicFrame>
        <p:nvGraphicFramePr>
          <p:cNvPr id="17" name="Table 16">
            <a:extLst>
              <a:ext uri="{FF2B5EF4-FFF2-40B4-BE49-F238E27FC236}">
                <a16:creationId xmlns:a16="http://schemas.microsoft.com/office/drawing/2014/main" id="{16D66DBA-544B-1965-D6A5-D04A0C7C7035}"/>
              </a:ext>
            </a:extLst>
          </p:cNvPr>
          <p:cNvGraphicFramePr>
            <a:graphicFrameLocks noGrp="1"/>
          </p:cNvGraphicFramePr>
          <p:nvPr>
            <p:extLst>
              <p:ext uri="{D42A27DB-BD31-4B8C-83A1-F6EECF244321}">
                <p14:modId xmlns:p14="http://schemas.microsoft.com/office/powerpoint/2010/main" val="2250228106"/>
              </p:ext>
            </p:extLst>
          </p:nvPr>
        </p:nvGraphicFramePr>
        <p:xfrm>
          <a:off x="206574" y="5216586"/>
          <a:ext cx="3835399" cy="1121776"/>
        </p:xfrm>
        <a:graphic>
          <a:graphicData uri="http://schemas.openxmlformats.org/drawingml/2006/table">
            <a:tbl>
              <a:tblPr/>
              <a:tblGrid>
                <a:gridCol w="2006599">
                  <a:extLst>
                    <a:ext uri="{9D8B030D-6E8A-4147-A177-3AD203B41FA5}">
                      <a16:colId xmlns:a16="http://schemas.microsoft.com/office/drawing/2014/main" val="1174625677"/>
                    </a:ext>
                  </a:extLst>
                </a:gridCol>
                <a:gridCol w="609600">
                  <a:extLst>
                    <a:ext uri="{9D8B030D-6E8A-4147-A177-3AD203B41FA5}">
                      <a16:colId xmlns:a16="http://schemas.microsoft.com/office/drawing/2014/main" val="3830742782"/>
                    </a:ext>
                  </a:extLst>
                </a:gridCol>
                <a:gridCol w="609600">
                  <a:extLst>
                    <a:ext uri="{9D8B030D-6E8A-4147-A177-3AD203B41FA5}">
                      <a16:colId xmlns:a16="http://schemas.microsoft.com/office/drawing/2014/main" val="1957736373"/>
                    </a:ext>
                  </a:extLst>
                </a:gridCol>
                <a:gridCol w="609600">
                  <a:extLst>
                    <a:ext uri="{9D8B030D-6E8A-4147-A177-3AD203B41FA5}">
                      <a16:colId xmlns:a16="http://schemas.microsoft.com/office/drawing/2014/main" val="1990490212"/>
                    </a:ext>
                  </a:extLst>
                </a:gridCol>
              </a:tblGrid>
              <a:tr h="125571">
                <a:tc>
                  <a:txBody>
                    <a:bodyPr/>
                    <a:lstStyle/>
                    <a:p>
                      <a:pPr algn="l" fontAlgn="b">
                        <a:buNone/>
                      </a:pPr>
                      <a:r>
                        <a:rPr lang="fr-FR" sz="900" b="0" i="0" u="none" strike="noStrike">
                          <a:solidFill>
                            <a:srgbClr val="000000"/>
                          </a:solidFill>
                          <a:effectLst/>
                          <a:latin typeface="Aptos Narrow" panose="020B0004020202020204" pitchFamily="34" charset="0"/>
                        </a:rPr>
                        <a:t>NPS</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9495602"/>
                  </a:ext>
                </a:extLst>
              </a:tr>
              <a:tr h="125571">
                <a:tc>
                  <a:txBody>
                    <a:bodyPr/>
                    <a:lstStyle/>
                    <a:p>
                      <a:pPr algn="l" fontAlgn="b">
                        <a:buNone/>
                      </a:pPr>
                      <a:r>
                        <a:rPr lang="fr-FR" sz="900" b="0" i="0" u="none" strike="noStrike">
                          <a:solidFill>
                            <a:srgbClr val="000000"/>
                          </a:solidFill>
                          <a:effectLst/>
                          <a:latin typeface="Aptos Narrow" panose="020B0004020202020204" pitchFamily="34" charset="0"/>
                        </a:rPr>
                        <a:t>Terhills Resort, Subtotal</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57,4</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FD07F"/>
                    </a:solidFill>
                  </a:tcPr>
                </a:tc>
                <a:tc>
                  <a:txBody>
                    <a:bodyPr/>
                    <a:lstStyle/>
                    <a:p>
                      <a:pPr algn="r" fontAlgn="b">
                        <a:buNone/>
                      </a:pPr>
                      <a:r>
                        <a:rPr lang="fr-FR" sz="900" b="0" i="0" u="none" strike="noStrike">
                          <a:solidFill>
                            <a:srgbClr val="000000"/>
                          </a:solidFill>
                          <a:effectLst/>
                          <a:latin typeface="Aptos Narrow" panose="020B0004020202020204" pitchFamily="34" charset="0"/>
                        </a:rPr>
                        <a:t>51,3</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DD480"/>
                    </a:solidFill>
                  </a:tcPr>
                </a:tc>
                <a:tc>
                  <a:txBody>
                    <a:bodyPr/>
                    <a:lstStyle/>
                    <a:p>
                      <a:pPr algn="r" fontAlgn="b">
                        <a:buNone/>
                      </a:pPr>
                      <a:r>
                        <a:rPr lang="fr-FR" sz="900" b="0" i="0" u="none" strike="noStrike">
                          <a:solidFill>
                            <a:srgbClr val="00B050"/>
                          </a:solidFill>
                          <a:effectLst/>
                          <a:latin typeface="Aptos Narrow" panose="020B0004020202020204" pitchFamily="34" charset="0"/>
                        </a:rPr>
                        <a:t>6,0</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98513868"/>
                  </a:ext>
                </a:extLst>
              </a:tr>
              <a:tr h="125571">
                <a:tc>
                  <a:txBody>
                    <a:bodyPr/>
                    <a:lstStyle/>
                    <a:p>
                      <a:pPr algn="l" fontAlgn="b">
                        <a:buNone/>
                      </a:pPr>
                      <a:r>
                        <a:rPr lang="fr-FR" sz="900" b="0" i="0" u="none" strike="noStrike">
                          <a:solidFill>
                            <a:srgbClr val="000000"/>
                          </a:solidFill>
                          <a:effectLst/>
                          <a:latin typeface="Aptos Narrow" panose="020B0004020202020204" pitchFamily="34" charset="0"/>
                        </a:rPr>
                        <a:t>Terhills Resort, BE</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61,9</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4CC7E"/>
                    </a:solidFill>
                  </a:tcPr>
                </a:tc>
                <a:tc>
                  <a:txBody>
                    <a:bodyPr/>
                    <a:lstStyle/>
                    <a:p>
                      <a:pPr algn="r" fontAlgn="b">
                        <a:buNone/>
                      </a:pPr>
                      <a:r>
                        <a:rPr lang="fr-FR" sz="900" b="0" i="0" u="none" strike="noStrike">
                          <a:solidFill>
                            <a:srgbClr val="000000"/>
                          </a:solidFill>
                          <a:effectLst/>
                          <a:latin typeface="Aptos Narrow" panose="020B0004020202020204" pitchFamily="34" charset="0"/>
                        </a:rPr>
                        <a:t>54,6</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5D17F"/>
                    </a:solidFill>
                  </a:tcPr>
                </a:tc>
                <a:tc>
                  <a:txBody>
                    <a:bodyPr/>
                    <a:lstStyle/>
                    <a:p>
                      <a:pPr algn="r" fontAlgn="b">
                        <a:buNone/>
                      </a:pPr>
                      <a:r>
                        <a:rPr lang="fr-FR" sz="900" b="0" i="0" u="none" strike="noStrike">
                          <a:solidFill>
                            <a:srgbClr val="00B050"/>
                          </a:solidFill>
                          <a:effectLst/>
                          <a:latin typeface="Aptos Narrow" panose="020B0004020202020204" pitchFamily="34" charset="0"/>
                        </a:rPr>
                        <a:t>7,3</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28314389"/>
                  </a:ext>
                </a:extLst>
              </a:tr>
              <a:tr h="125571">
                <a:tc>
                  <a:txBody>
                    <a:bodyPr/>
                    <a:lstStyle/>
                    <a:p>
                      <a:pPr algn="l" fontAlgn="b">
                        <a:buNone/>
                      </a:pPr>
                      <a:r>
                        <a:rPr lang="fr-FR" sz="900" b="0" i="0" u="none" strike="noStrike">
                          <a:solidFill>
                            <a:srgbClr val="000000"/>
                          </a:solidFill>
                          <a:effectLst/>
                          <a:latin typeface="Aptos Narrow" panose="020B0004020202020204" pitchFamily="34" charset="0"/>
                        </a:rPr>
                        <a:t>Terhills Resort, DE</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60,6</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7CD7E"/>
                    </a:solidFill>
                  </a:tcPr>
                </a:tc>
                <a:tc>
                  <a:txBody>
                    <a:bodyPr/>
                    <a:lstStyle/>
                    <a:p>
                      <a:pPr algn="r" fontAlgn="b">
                        <a:buNone/>
                      </a:pPr>
                      <a:r>
                        <a:rPr lang="fr-FR" sz="900" b="0" i="0" u="none" strike="noStrike">
                          <a:solidFill>
                            <a:srgbClr val="000000"/>
                          </a:solidFill>
                          <a:effectLst/>
                          <a:latin typeface="Aptos Narrow" panose="020B0004020202020204" pitchFamily="34" charset="0"/>
                        </a:rPr>
                        <a:t>53,0</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9D380"/>
                    </a:solidFill>
                  </a:tcPr>
                </a:tc>
                <a:tc>
                  <a:txBody>
                    <a:bodyPr/>
                    <a:lstStyle/>
                    <a:p>
                      <a:pPr algn="r" fontAlgn="b">
                        <a:buNone/>
                      </a:pPr>
                      <a:r>
                        <a:rPr lang="fr-FR" sz="900" b="0" i="0" u="none" strike="noStrike">
                          <a:solidFill>
                            <a:srgbClr val="00B050"/>
                          </a:solidFill>
                          <a:effectLst/>
                          <a:latin typeface="Aptos Narrow" panose="020B0004020202020204" pitchFamily="34" charset="0"/>
                        </a:rPr>
                        <a:t>7,6</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00442587"/>
                  </a:ext>
                </a:extLst>
              </a:tr>
              <a:tr h="125571">
                <a:tc>
                  <a:txBody>
                    <a:bodyPr/>
                    <a:lstStyle/>
                    <a:p>
                      <a:pPr algn="l" fontAlgn="b">
                        <a:buNone/>
                      </a:pPr>
                      <a:r>
                        <a:rPr lang="fr-FR" sz="900" b="0" i="0" u="none" strike="noStrike">
                          <a:solidFill>
                            <a:srgbClr val="000000"/>
                          </a:solidFill>
                          <a:effectLst/>
                          <a:latin typeface="Aptos Narrow" panose="020B0004020202020204" pitchFamily="34" charset="0"/>
                        </a:rPr>
                        <a:t>Terhills Resort, FR</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53,4</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8D27F"/>
                    </a:solidFill>
                  </a:tcPr>
                </a:tc>
                <a:tc>
                  <a:txBody>
                    <a:bodyPr/>
                    <a:lstStyle/>
                    <a:p>
                      <a:pPr algn="r" fontAlgn="b">
                        <a:buNone/>
                      </a:pPr>
                      <a:r>
                        <a:rPr lang="fr-FR" sz="900" b="0" i="0" u="none" strike="noStrike">
                          <a:solidFill>
                            <a:srgbClr val="000000"/>
                          </a:solidFill>
                          <a:effectLst/>
                          <a:latin typeface="Aptos Narrow" panose="020B0004020202020204" pitchFamily="34" charset="0"/>
                        </a:rPr>
                        <a:t>48,9</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3D580"/>
                    </a:solidFill>
                  </a:tcPr>
                </a:tc>
                <a:tc>
                  <a:txBody>
                    <a:bodyPr/>
                    <a:lstStyle/>
                    <a:p>
                      <a:pPr algn="r" fontAlgn="b">
                        <a:buNone/>
                      </a:pPr>
                      <a:r>
                        <a:rPr lang="fr-FR" sz="900" b="0" i="0" u="none" strike="noStrike">
                          <a:solidFill>
                            <a:srgbClr val="00B050"/>
                          </a:solidFill>
                          <a:effectLst/>
                          <a:latin typeface="Aptos Narrow" panose="020B0004020202020204" pitchFamily="34" charset="0"/>
                        </a:rPr>
                        <a:t>4,5</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95516860"/>
                  </a:ext>
                </a:extLst>
              </a:tr>
              <a:tr h="125571">
                <a:tc>
                  <a:txBody>
                    <a:bodyPr/>
                    <a:lstStyle/>
                    <a:p>
                      <a:pPr algn="l" fontAlgn="b">
                        <a:buNone/>
                      </a:pPr>
                      <a:r>
                        <a:rPr lang="fr-FR" sz="900" b="0" i="0" u="none" strike="noStrike">
                          <a:solidFill>
                            <a:srgbClr val="000000"/>
                          </a:solidFill>
                          <a:effectLst/>
                          <a:latin typeface="Aptos Narrow" panose="020B0004020202020204" pitchFamily="34" charset="0"/>
                        </a:rPr>
                        <a:t>Terhills Resort, GB</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81,8</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900" b="0" i="0" u="none" strike="noStrike">
                          <a:solidFill>
                            <a:srgbClr val="000000"/>
                          </a:solidFill>
                          <a:effectLst/>
                          <a:latin typeface="Aptos Narrow" panose="020B0004020202020204" pitchFamily="34" charset="0"/>
                        </a:rPr>
                        <a:t>52,9</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9D380"/>
                    </a:solidFill>
                  </a:tcPr>
                </a:tc>
                <a:tc>
                  <a:txBody>
                    <a:bodyPr/>
                    <a:lstStyle/>
                    <a:p>
                      <a:pPr algn="r" fontAlgn="b">
                        <a:buNone/>
                      </a:pPr>
                      <a:r>
                        <a:rPr lang="fr-FR" sz="900" b="0" i="0" u="none" strike="noStrike">
                          <a:solidFill>
                            <a:srgbClr val="00B050"/>
                          </a:solidFill>
                          <a:effectLst/>
                          <a:latin typeface="Aptos Narrow" panose="020B0004020202020204" pitchFamily="34" charset="0"/>
                        </a:rPr>
                        <a:t>28,9</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43372596"/>
                  </a:ext>
                </a:extLst>
              </a:tr>
              <a:tr h="125571">
                <a:tc>
                  <a:txBody>
                    <a:bodyPr/>
                    <a:lstStyle/>
                    <a:p>
                      <a:pPr algn="l" fontAlgn="b">
                        <a:buNone/>
                      </a:pPr>
                      <a:r>
                        <a:rPr lang="fr-FR" sz="900" b="0" i="0" u="none" strike="noStrike">
                          <a:solidFill>
                            <a:srgbClr val="000000"/>
                          </a:solidFill>
                          <a:effectLst/>
                          <a:latin typeface="Aptos Narrow" panose="020B0004020202020204" pitchFamily="34" charset="0"/>
                        </a:rPr>
                        <a:t>Terhills Resort, LU</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60,6</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7CD7E"/>
                    </a:solidFill>
                  </a:tcPr>
                </a:tc>
                <a:tc>
                  <a:txBody>
                    <a:bodyPr/>
                    <a:lstStyle/>
                    <a:p>
                      <a:pPr algn="r" fontAlgn="b">
                        <a:buNone/>
                      </a:pPr>
                      <a:r>
                        <a:rPr lang="fr-FR" sz="900" b="0" i="0" u="none" strike="noStrike">
                          <a:solidFill>
                            <a:srgbClr val="000000"/>
                          </a:solidFill>
                          <a:effectLst/>
                          <a:latin typeface="Aptos Narrow" panose="020B0004020202020204" pitchFamily="34" charset="0"/>
                        </a:rPr>
                        <a:t>51,2</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DD480"/>
                    </a:solidFill>
                  </a:tcPr>
                </a:tc>
                <a:tc>
                  <a:txBody>
                    <a:bodyPr/>
                    <a:lstStyle/>
                    <a:p>
                      <a:pPr algn="r" fontAlgn="b">
                        <a:buNone/>
                      </a:pPr>
                      <a:r>
                        <a:rPr lang="fr-FR" sz="900" b="0" i="0" u="none" strike="noStrike">
                          <a:solidFill>
                            <a:srgbClr val="00B050"/>
                          </a:solidFill>
                          <a:effectLst/>
                          <a:latin typeface="Aptos Narrow" panose="020B0004020202020204" pitchFamily="34" charset="0"/>
                        </a:rPr>
                        <a:t>9,4</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70615364"/>
                  </a:ext>
                </a:extLst>
              </a:tr>
              <a:tr h="125571">
                <a:tc>
                  <a:txBody>
                    <a:bodyPr/>
                    <a:lstStyle/>
                    <a:p>
                      <a:pPr algn="l" fontAlgn="b">
                        <a:buNone/>
                      </a:pPr>
                      <a:r>
                        <a:rPr lang="fr-FR" sz="900" b="0" i="0" u="none" strike="noStrike">
                          <a:solidFill>
                            <a:srgbClr val="000000"/>
                          </a:solidFill>
                          <a:effectLst/>
                          <a:latin typeface="Aptos Narrow" panose="020B0004020202020204" pitchFamily="34" charset="0"/>
                        </a:rPr>
                        <a:t>Terhills Resort, NL</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44,4</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ED981"/>
                    </a:solidFill>
                  </a:tcPr>
                </a:tc>
                <a:tc>
                  <a:txBody>
                    <a:bodyPr/>
                    <a:lstStyle/>
                    <a:p>
                      <a:pPr algn="r" fontAlgn="b">
                        <a:buNone/>
                      </a:pPr>
                      <a:r>
                        <a:rPr lang="fr-FR" sz="900" b="0" i="0" u="none" strike="noStrike">
                          <a:solidFill>
                            <a:srgbClr val="000000"/>
                          </a:solidFill>
                          <a:effectLst/>
                          <a:latin typeface="Aptos Narrow" panose="020B0004020202020204" pitchFamily="34" charset="0"/>
                        </a:rPr>
                        <a:t>42,0</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4DA81"/>
                    </a:solidFill>
                  </a:tcPr>
                </a:tc>
                <a:tc>
                  <a:txBody>
                    <a:bodyPr/>
                    <a:lstStyle/>
                    <a:p>
                      <a:pPr algn="r" fontAlgn="b">
                        <a:buNone/>
                      </a:pPr>
                      <a:r>
                        <a:rPr lang="fr-FR" sz="900" b="0" i="0" u="none" strike="noStrike">
                          <a:solidFill>
                            <a:srgbClr val="00B050"/>
                          </a:solidFill>
                          <a:effectLst/>
                          <a:latin typeface="Aptos Narrow" panose="020B0004020202020204" pitchFamily="34" charset="0"/>
                        </a:rPr>
                        <a:t>2,3</a:t>
                      </a:r>
                    </a:p>
                  </a:txBody>
                  <a:tcPr marL="3062" marR="3062" marT="306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0943548"/>
                  </a:ext>
                </a:extLst>
              </a:tr>
            </a:tbl>
          </a:graphicData>
        </a:graphic>
      </p:graphicFrame>
      <p:graphicFrame>
        <p:nvGraphicFramePr>
          <p:cNvPr id="20" name="Table 19">
            <a:extLst>
              <a:ext uri="{FF2B5EF4-FFF2-40B4-BE49-F238E27FC236}">
                <a16:creationId xmlns:a16="http://schemas.microsoft.com/office/drawing/2014/main" id="{72872D4C-CE82-F3E1-15E2-F9B87292F051}"/>
              </a:ext>
            </a:extLst>
          </p:cNvPr>
          <p:cNvGraphicFramePr>
            <a:graphicFrameLocks noGrp="1"/>
          </p:cNvGraphicFramePr>
          <p:nvPr>
            <p:extLst>
              <p:ext uri="{D42A27DB-BD31-4B8C-83A1-F6EECF244321}">
                <p14:modId xmlns:p14="http://schemas.microsoft.com/office/powerpoint/2010/main" val="1850235355"/>
              </p:ext>
            </p:extLst>
          </p:nvPr>
        </p:nvGraphicFramePr>
        <p:xfrm>
          <a:off x="7763582" y="978100"/>
          <a:ext cx="3835400" cy="1657350"/>
        </p:xfrm>
        <a:graphic>
          <a:graphicData uri="http://schemas.openxmlformats.org/drawingml/2006/table">
            <a:tbl>
              <a:tblPr/>
              <a:tblGrid>
                <a:gridCol w="958850">
                  <a:extLst>
                    <a:ext uri="{9D8B030D-6E8A-4147-A177-3AD203B41FA5}">
                      <a16:colId xmlns:a16="http://schemas.microsoft.com/office/drawing/2014/main" val="1885186244"/>
                    </a:ext>
                  </a:extLst>
                </a:gridCol>
                <a:gridCol w="958850">
                  <a:extLst>
                    <a:ext uri="{9D8B030D-6E8A-4147-A177-3AD203B41FA5}">
                      <a16:colId xmlns:a16="http://schemas.microsoft.com/office/drawing/2014/main" val="3553702022"/>
                    </a:ext>
                  </a:extLst>
                </a:gridCol>
                <a:gridCol w="958850">
                  <a:extLst>
                    <a:ext uri="{9D8B030D-6E8A-4147-A177-3AD203B41FA5}">
                      <a16:colId xmlns:a16="http://schemas.microsoft.com/office/drawing/2014/main" val="2324773189"/>
                    </a:ext>
                  </a:extLst>
                </a:gridCol>
                <a:gridCol w="958850">
                  <a:extLst>
                    <a:ext uri="{9D8B030D-6E8A-4147-A177-3AD203B41FA5}">
                      <a16:colId xmlns:a16="http://schemas.microsoft.com/office/drawing/2014/main" val="3644479733"/>
                    </a:ext>
                  </a:extLst>
                </a:gridCol>
              </a:tblGrid>
              <a:tr h="184150">
                <a:tc>
                  <a:txBody>
                    <a:bodyPr/>
                    <a:lstStyle/>
                    <a:p>
                      <a:pPr algn="l" fontAlgn="b">
                        <a:buNone/>
                      </a:pPr>
                      <a:endParaRPr lang="fr-FR" sz="1100" b="0" i="0" u="none" strike="noStrike">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rtl="0" fontAlgn="b">
                        <a:buNone/>
                      </a:pPr>
                      <a:r>
                        <a:rPr lang="fr-FR" sz="1050" b="1" i="0" u="none" strike="noStrike">
                          <a:solidFill>
                            <a:srgbClr val="000000"/>
                          </a:solidFill>
                          <a:effectLst/>
                          <a:latin typeface="Aptos Narrow" panose="020B0004020202020204" pitchFamily="34" charset="0"/>
                        </a:rPr>
                        <a:t>FY25</a:t>
                      </a:r>
                    </a:p>
                  </a:txBody>
                  <a:tcPr marL="6350" marR="6350" marT="6350" marB="0" anchor="b">
                    <a:lnL>
                      <a:noFill/>
                    </a:lnL>
                    <a:lnR>
                      <a:noFill/>
                    </a:lnR>
                    <a:lnT>
                      <a:noFill/>
                    </a:lnT>
                    <a:lnB>
                      <a:noFill/>
                    </a:lnB>
                    <a:noFill/>
                  </a:tcPr>
                </a:tc>
                <a:tc>
                  <a:txBody>
                    <a:bodyPr/>
                    <a:lstStyle/>
                    <a:p>
                      <a:pPr algn="l" rtl="0" fontAlgn="b">
                        <a:buNone/>
                      </a:pPr>
                      <a:r>
                        <a:rPr lang="fr-FR" sz="1050" b="1" i="0" u="none" strike="noStrike">
                          <a:solidFill>
                            <a:srgbClr val="000000"/>
                          </a:solidFill>
                          <a:effectLst/>
                          <a:latin typeface="Aptos Narrow" panose="020B0004020202020204" pitchFamily="34" charset="0"/>
                        </a:rPr>
                        <a:t>FY24</a:t>
                      </a:r>
                    </a:p>
                  </a:txBody>
                  <a:tcPr marL="6350" marR="6350" marT="6350" marB="0" anchor="b">
                    <a:lnL>
                      <a:noFill/>
                    </a:lnL>
                    <a:lnR>
                      <a:noFill/>
                    </a:lnR>
                    <a:lnT>
                      <a:noFill/>
                    </a:lnT>
                    <a:lnB>
                      <a:noFill/>
                    </a:lnB>
                    <a:noFill/>
                  </a:tcPr>
                </a:tc>
                <a:tc>
                  <a:txBody>
                    <a:bodyPr/>
                    <a:lstStyle/>
                    <a:p>
                      <a:pPr algn="l" rtl="0" fontAlgn="b">
                        <a:buNone/>
                      </a:pPr>
                      <a:r>
                        <a:rPr lang="fr-FR" sz="1050" b="1" i="0" u="none" strike="noStrike">
                          <a:solidFill>
                            <a:srgbClr val="000000"/>
                          </a:solidFill>
                          <a:effectLst/>
                          <a:latin typeface="Aptos Narrow" panose="020B0004020202020204" pitchFamily="34" charset="0"/>
                        </a:rPr>
                        <a:t>Evol </a:t>
                      </a:r>
                    </a:p>
                  </a:txBody>
                  <a:tcPr marL="6350" marR="6350" marT="6350" marB="0" anchor="b">
                    <a:lnL>
                      <a:noFill/>
                    </a:lnL>
                    <a:lnR>
                      <a:noFill/>
                    </a:lnR>
                    <a:lnT>
                      <a:noFill/>
                    </a:lnT>
                    <a:lnB>
                      <a:noFill/>
                    </a:lnB>
                    <a:noFill/>
                  </a:tcPr>
                </a:tc>
                <a:extLst>
                  <a:ext uri="{0D108BD9-81ED-4DB2-BD59-A6C34878D82A}">
                    <a16:rowId xmlns:a16="http://schemas.microsoft.com/office/drawing/2014/main" val="3861160902"/>
                  </a:ext>
                </a:extLst>
              </a:tr>
              <a:tr h="184150">
                <a:tc>
                  <a:txBody>
                    <a:bodyPr/>
                    <a:lstStyle/>
                    <a:p>
                      <a:pPr algn="l" fontAlgn="b">
                        <a:buNone/>
                      </a:pPr>
                      <a:r>
                        <a:rPr lang="fr-FR" sz="1100" b="0" i="0" u="none" strike="noStrike">
                          <a:solidFill>
                            <a:srgbClr val="000000"/>
                          </a:solidFill>
                          <a:effectLst/>
                          <a:latin typeface="Aptos Narrow" panose="020B0004020202020204" pitchFamily="34" charset="0"/>
                        </a:rPr>
                        <a:t>GB</a:t>
                      </a:r>
                    </a:p>
                  </a:txBody>
                  <a:tcPr marL="6350" marR="6350" marT="6350" marB="0" anchor="b">
                    <a:lnL>
                      <a:noFill/>
                    </a:lnL>
                    <a:lnR>
                      <a:noFill/>
                    </a:lnR>
                    <a:lnT>
                      <a:noFill/>
                    </a:lnT>
                    <a:lnB>
                      <a:noFill/>
                    </a:lnB>
                    <a:noFill/>
                  </a:tcPr>
                </a:tc>
                <a:tc>
                  <a:txBody>
                    <a:bodyPr/>
                    <a:lstStyle/>
                    <a:p>
                      <a:pPr algn="r" fontAlgn="b">
                        <a:buNone/>
                      </a:pPr>
                      <a:r>
                        <a:rPr lang="fr-FR" sz="1100" b="0" i="0" u="none" strike="noStrike">
                          <a:solidFill>
                            <a:srgbClr val="000000"/>
                          </a:solidFill>
                          <a:effectLst/>
                          <a:latin typeface="Aptos Narrow" panose="020B0004020202020204" pitchFamily="34" charset="0"/>
                        </a:rPr>
                        <a:t>41,2</a:t>
                      </a:r>
                    </a:p>
                  </a:txBody>
                  <a:tcPr marL="6350" marR="6350" marT="6350" marB="0" anchor="b">
                    <a:lnL>
                      <a:noFill/>
                    </a:lnL>
                    <a:lnR>
                      <a:noFill/>
                    </a:lnR>
                    <a:lnT>
                      <a:noFill/>
                    </a:lnT>
                    <a:lnB>
                      <a:noFill/>
                    </a:lnB>
                    <a:solidFill>
                      <a:srgbClr val="63BE7B"/>
                    </a:solidFill>
                  </a:tcPr>
                </a:tc>
                <a:tc>
                  <a:txBody>
                    <a:bodyPr/>
                    <a:lstStyle/>
                    <a:p>
                      <a:pPr algn="r" fontAlgn="b">
                        <a:buNone/>
                      </a:pPr>
                      <a:r>
                        <a:rPr lang="fr-FR" sz="1100" b="0" i="0" u="none" strike="noStrike">
                          <a:solidFill>
                            <a:srgbClr val="000000"/>
                          </a:solidFill>
                          <a:effectLst/>
                          <a:latin typeface="Aptos Narrow" panose="020B0004020202020204" pitchFamily="34" charset="0"/>
                        </a:rPr>
                        <a:t>39,5</a:t>
                      </a:r>
                    </a:p>
                  </a:txBody>
                  <a:tcPr marL="6350" marR="6350" marT="6350" marB="0" anchor="b">
                    <a:lnL>
                      <a:noFill/>
                    </a:lnL>
                    <a:lnR>
                      <a:noFill/>
                    </a:lnR>
                    <a:lnT>
                      <a:noFill/>
                    </a:lnT>
                    <a:lnB>
                      <a:noFill/>
                    </a:lnB>
                    <a:solidFill>
                      <a:srgbClr val="6CC17D"/>
                    </a:solidFill>
                  </a:tcPr>
                </a:tc>
                <a:tc>
                  <a:txBody>
                    <a:bodyPr/>
                    <a:lstStyle/>
                    <a:p>
                      <a:pPr algn="r" fontAlgn="b">
                        <a:buNone/>
                      </a:pPr>
                      <a:r>
                        <a:rPr lang="fr-FR" sz="1100" b="0" i="0" u="none" strike="noStrike">
                          <a:solidFill>
                            <a:srgbClr val="00B050"/>
                          </a:solidFill>
                          <a:effectLst/>
                          <a:latin typeface="Aptos Narrow" panose="020B0004020202020204" pitchFamily="34" charset="0"/>
                        </a:rPr>
                        <a:t>1,7</a:t>
                      </a:r>
                    </a:p>
                  </a:txBody>
                  <a:tcPr marL="6350" marR="6350" marT="6350" marB="0" anchor="b">
                    <a:lnL>
                      <a:noFill/>
                    </a:lnL>
                    <a:lnR>
                      <a:noFill/>
                    </a:lnR>
                    <a:lnT>
                      <a:noFill/>
                    </a:lnT>
                    <a:lnB>
                      <a:noFill/>
                    </a:lnB>
                    <a:noFill/>
                  </a:tcPr>
                </a:tc>
                <a:extLst>
                  <a:ext uri="{0D108BD9-81ED-4DB2-BD59-A6C34878D82A}">
                    <a16:rowId xmlns:a16="http://schemas.microsoft.com/office/drawing/2014/main" val="168458131"/>
                  </a:ext>
                </a:extLst>
              </a:tr>
              <a:tr h="184150">
                <a:tc>
                  <a:txBody>
                    <a:bodyPr/>
                    <a:lstStyle/>
                    <a:p>
                      <a:pPr algn="l" fontAlgn="b">
                        <a:buNone/>
                      </a:pPr>
                      <a:r>
                        <a:rPr lang="fr-FR" sz="1100" b="0" i="0" u="none" strike="noStrike">
                          <a:solidFill>
                            <a:srgbClr val="000000"/>
                          </a:solidFill>
                          <a:effectLst/>
                          <a:latin typeface="Aptos Narrow" panose="020B0004020202020204" pitchFamily="34" charset="0"/>
                        </a:rPr>
                        <a:t>BE</a:t>
                      </a:r>
                    </a:p>
                  </a:txBody>
                  <a:tcPr marL="6350" marR="6350" marT="6350" marB="0" anchor="b">
                    <a:lnL>
                      <a:noFill/>
                    </a:lnL>
                    <a:lnR>
                      <a:noFill/>
                    </a:lnR>
                    <a:lnT>
                      <a:noFill/>
                    </a:lnT>
                    <a:lnB>
                      <a:noFill/>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36,0</a:t>
                      </a:r>
                    </a:p>
                  </a:txBody>
                  <a:tcPr marL="6350" marR="6350" marT="6350" marB="0" anchor="b">
                    <a:lnL>
                      <a:noFill/>
                    </a:lnL>
                    <a:lnR>
                      <a:noFill/>
                    </a:lnR>
                    <a:lnT>
                      <a:noFill/>
                    </a:lnT>
                    <a:lnB>
                      <a:noFill/>
                    </a:lnB>
                    <a:solidFill>
                      <a:srgbClr val="7FC781"/>
                    </a:solidFill>
                  </a:tcPr>
                </a:tc>
                <a:tc>
                  <a:txBody>
                    <a:bodyPr/>
                    <a:lstStyle/>
                    <a:p>
                      <a:pPr algn="r" fontAlgn="b">
                        <a:buNone/>
                      </a:pPr>
                      <a:r>
                        <a:rPr lang="fr-FR" sz="1100" b="0" i="0" u="none" strike="noStrike">
                          <a:solidFill>
                            <a:srgbClr val="000000"/>
                          </a:solidFill>
                          <a:effectLst/>
                          <a:latin typeface="Aptos Narrow" panose="020B0004020202020204" pitchFamily="34" charset="0"/>
                        </a:rPr>
                        <a:t>30,2</a:t>
                      </a:r>
                    </a:p>
                  </a:txBody>
                  <a:tcPr marL="6350" marR="6350" marT="6350" marB="0" anchor="b">
                    <a:lnL>
                      <a:noFill/>
                    </a:lnL>
                    <a:lnR>
                      <a:noFill/>
                    </a:lnR>
                    <a:lnT>
                      <a:noFill/>
                    </a:lnT>
                    <a:lnB>
                      <a:noFill/>
                    </a:lnB>
                    <a:solidFill>
                      <a:srgbClr val="9DD188"/>
                    </a:solidFill>
                  </a:tcPr>
                </a:tc>
                <a:tc>
                  <a:txBody>
                    <a:bodyPr/>
                    <a:lstStyle/>
                    <a:p>
                      <a:pPr algn="r" fontAlgn="b">
                        <a:buNone/>
                      </a:pPr>
                      <a:r>
                        <a:rPr lang="fr-FR" sz="1100" b="0" i="0" u="none" strike="noStrike">
                          <a:solidFill>
                            <a:srgbClr val="00B050"/>
                          </a:solidFill>
                          <a:effectLst/>
                          <a:latin typeface="Aptos Narrow" panose="020B0004020202020204" pitchFamily="34" charset="0"/>
                        </a:rPr>
                        <a:t>5,8</a:t>
                      </a:r>
                    </a:p>
                  </a:txBody>
                  <a:tcPr marL="6350" marR="6350" marT="6350" marB="0" anchor="b">
                    <a:lnL>
                      <a:noFill/>
                    </a:lnL>
                    <a:lnR>
                      <a:noFill/>
                    </a:lnR>
                    <a:lnT>
                      <a:noFill/>
                    </a:lnT>
                    <a:lnB>
                      <a:noFill/>
                    </a:lnB>
                    <a:noFill/>
                  </a:tcPr>
                </a:tc>
                <a:extLst>
                  <a:ext uri="{0D108BD9-81ED-4DB2-BD59-A6C34878D82A}">
                    <a16:rowId xmlns:a16="http://schemas.microsoft.com/office/drawing/2014/main" val="350405863"/>
                  </a:ext>
                </a:extLst>
              </a:tr>
              <a:tr h="184150">
                <a:tc>
                  <a:txBody>
                    <a:bodyPr/>
                    <a:lstStyle/>
                    <a:p>
                      <a:pPr algn="l" fontAlgn="b">
                        <a:buNone/>
                      </a:pPr>
                      <a:r>
                        <a:rPr lang="fr-FR" sz="1100" b="0" i="0" u="none" strike="noStrike">
                          <a:solidFill>
                            <a:srgbClr val="000000"/>
                          </a:solidFill>
                          <a:effectLst/>
                          <a:latin typeface="Aptos Narrow" panose="020B0004020202020204" pitchFamily="34" charset="0"/>
                        </a:rPr>
                        <a:t>DE</a:t>
                      </a:r>
                    </a:p>
                  </a:txBody>
                  <a:tcPr marL="6350" marR="6350" marT="6350" marB="0" anchor="b">
                    <a:lnL>
                      <a:noFill/>
                    </a:lnL>
                    <a:lnR>
                      <a:noFill/>
                    </a:lnR>
                    <a:lnT>
                      <a:noFill/>
                    </a:lnT>
                    <a:lnB>
                      <a:noFill/>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31,8</a:t>
                      </a:r>
                    </a:p>
                  </a:txBody>
                  <a:tcPr marL="6350" marR="6350" marT="6350" marB="0" anchor="b">
                    <a:lnL>
                      <a:noFill/>
                    </a:lnL>
                    <a:lnR>
                      <a:noFill/>
                    </a:lnR>
                    <a:lnT>
                      <a:noFill/>
                    </a:lnT>
                    <a:lnB>
                      <a:noFill/>
                    </a:lnB>
                    <a:solidFill>
                      <a:srgbClr val="94CE86"/>
                    </a:solidFill>
                  </a:tcPr>
                </a:tc>
                <a:tc>
                  <a:txBody>
                    <a:bodyPr/>
                    <a:lstStyle/>
                    <a:p>
                      <a:pPr algn="r" fontAlgn="b">
                        <a:buNone/>
                      </a:pPr>
                      <a:r>
                        <a:rPr lang="fr-FR" sz="1100" b="0" i="0" u="none" strike="noStrike">
                          <a:solidFill>
                            <a:srgbClr val="000000"/>
                          </a:solidFill>
                          <a:effectLst/>
                          <a:latin typeface="Aptos Narrow" panose="020B0004020202020204" pitchFamily="34" charset="0"/>
                        </a:rPr>
                        <a:t>26,6</a:t>
                      </a:r>
                    </a:p>
                  </a:txBody>
                  <a:tcPr marL="6350" marR="6350" marT="6350" marB="0" anchor="b">
                    <a:lnL>
                      <a:noFill/>
                    </a:lnL>
                    <a:lnR>
                      <a:noFill/>
                    </a:lnR>
                    <a:lnT>
                      <a:noFill/>
                    </a:lnT>
                    <a:lnB>
                      <a:noFill/>
                    </a:lnB>
                    <a:solidFill>
                      <a:srgbClr val="B0D68C"/>
                    </a:solidFill>
                  </a:tcPr>
                </a:tc>
                <a:tc>
                  <a:txBody>
                    <a:bodyPr/>
                    <a:lstStyle/>
                    <a:p>
                      <a:pPr algn="r" fontAlgn="b">
                        <a:buNone/>
                      </a:pPr>
                      <a:r>
                        <a:rPr lang="fr-FR" sz="1100" b="0" i="0" u="none" strike="noStrike">
                          <a:solidFill>
                            <a:srgbClr val="00B050"/>
                          </a:solidFill>
                          <a:effectLst/>
                          <a:latin typeface="Aptos Narrow" panose="020B0004020202020204" pitchFamily="34" charset="0"/>
                        </a:rPr>
                        <a:t>5,2</a:t>
                      </a:r>
                    </a:p>
                  </a:txBody>
                  <a:tcPr marL="6350" marR="6350" marT="6350" marB="0" anchor="b">
                    <a:lnL>
                      <a:noFill/>
                    </a:lnL>
                    <a:lnR>
                      <a:noFill/>
                    </a:lnR>
                    <a:lnT>
                      <a:noFill/>
                    </a:lnT>
                    <a:lnB>
                      <a:noFill/>
                    </a:lnB>
                    <a:noFill/>
                  </a:tcPr>
                </a:tc>
                <a:extLst>
                  <a:ext uri="{0D108BD9-81ED-4DB2-BD59-A6C34878D82A}">
                    <a16:rowId xmlns:a16="http://schemas.microsoft.com/office/drawing/2014/main" val="3599263963"/>
                  </a:ext>
                </a:extLst>
              </a:tr>
              <a:tr h="184150">
                <a:tc>
                  <a:txBody>
                    <a:bodyPr/>
                    <a:lstStyle/>
                    <a:p>
                      <a:pPr algn="l" fontAlgn="b">
                        <a:buNone/>
                      </a:pPr>
                      <a:r>
                        <a:rPr lang="fr-FR" sz="1100" b="0" i="0" u="none" strike="noStrike">
                          <a:solidFill>
                            <a:srgbClr val="000000"/>
                          </a:solidFill>
                          <a:effectLst/>
                          <a:latin typeface="Aptos Narrow" panose="020B0004020202020204" pitchFamily="34" charset="0"/>
                        </a:rPr>
                        <a:t>LU</a:t>
                      </a:r>
                    </a:p>
                  </a:txBody>
                  <a:tcPr marL="6350" marR="6350" marT="6350" marB="0" anchor="b">
                    <a:lnL>
                      <a:noFill/>
                    </a:lnL>
                    <a:lnR>
                      <a:noFill/>
                    </a:lnR>
                    <a:lnT>
                      <a:noFill/>
                    </a:lnT>
                    <a:lnB>
                      <a:noFill/>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30,4</a:t>
                      </a:r>
                    </a:p>
                  </a:txBody>
                  <a:tcPr marL="6350" marR="6350" marT="6350" marB="0" anchor="b">
                    <a:lnL>
                      <a:noFill/>
                    </a:lnL>
                    <a:lnR>
                      <a:noFill/>
                    </a:lnR>
                    <a:lnT>
                      <a:noFill/>
                    </a:lnT>
                    <a:lnB>
                      <a:noFill/>
                    </a:lnB>
                    <a:solidFill>
                      <a:srgbClr val="9CD087"/>
                    </a:solidFill>
                  </a:tcPr>
                </a:tc>
                <a:tc>
                  <a:txBody>
                    <a:bodyPr/>
                    <a:lstStyle/>
                    <a:p>
                      <a:pPr algn="r" fontAlgn="b">
                        <a:buNone/>
                      </a:pPr>
                      <a:r>
                        <a:rPr lang="fr-FR" sz="1100" b="0" i="0" u="none" strike="noStrike">
                          <a:solidFill>
                            <a:srgbClr val="000000"/>
                          </a:solidFill>
                          <a:effectLst/>
                          <a:latin typeface="Aptos Narrow" panose="020B0004020202020204" pitchFamily="34" charset="0"/>
                        </a:rPr>
                        <a:t>17,5</a:t>
                      </a:r>
                    </a:p>
                  </a:txBody>
                  <a:tcPr marL="6350" marR="6350" marT="6350" marB="0" anchor="b">
                    <a:lnL>
                      <a:noFill/>
                    </a:lnL>
                    <a:lnR>
                      <a:noFill/>
                    </a:lnR>
                    <a:lnT>
                      <a:noFill/>
                    </a:lnT>
                    <a:lnB>
                      <a:noFill/>
                    </a:lnB>
                    <a:solidFill>
                      <a:srgbClr val="DFE596"/>
                    </a:solidFill>
                  </a:tcPr>
                </a:tc>
                <a:tc>
                  <a:txBody>
                    <a:bodyPr/>
                    <a:lstStyle/>
                    <a:p>
                      <a:pPr algn="r" fontAlgn="b">
                        <a:buNone/>
                      </a:pPr>
                      <a:r>
                        <a:rPr lang="fr-FR" sz="1100" b="0" i="0" u="none" strike="noStrike">
                          <a:solidFill>
                            <a:srgbClr val="00B050"/>
                          </a:solidFill>
                          <a:effectLst/>
                          <a:latin typeface="Aptos Narrow" panose="020B0004020202020204" pitchFamily="34" charset="0"/>
                        </a:rPr>
                        <a:t>12,9</a:t>
                      </a:r>
                    </a:p>
                  </a:txBody>
                  <a:tcPr marL="6350" marR="6350" marT="6350" marB="0" anchor="b">
                    <a:lnL>
                      <a:noFill/>
                    </a:lnL>
                    <a:lnR>
                      <a:noFill/>
                    </a:lnR>
                    <a:lnT>
                      <a:noFill/>
                    </a:lnT>
                    <a:lnB>
                      <a:noFill/>
                    </a:lnB>
                    <a:noFill/>
                  </a:tcPr>
                </a:tc>
                <a:extLst>
                  <a:ext uri="{0D108BD9-81ED-4DB2-BD59-A6C34878D82A}">
                    <a16:rowId xmlns:a16="http://schemas.microsoft.com/office/drawing/2014/main" val="3860998832"/>
                  </a:ext>
                </a:extLst>
              </a:tr>
              <a:tr h="184150">
                <a:tc>
                  <a:txBody>
                    <a:bodyPr/>
                    <a:lstStyle/>
                    <a:p>
                      <a:pPr algn="l" fontAlgn="b">
                        <a:buNone/>
                      </a:pPr>
                      <a:r>
                        <a:rPr lang="fr-FR" sz="1100" b="1" i="0" u="none" strike="noStrike">
                          <a:solidFill>
                            <a:srgbClr val="000000"/>
                          </a:solidFill>
                          <a:effectLst/>
                          <a:latin typeface="Aptos Narrow" panose="020B0004020202020204" pitchFamily="34" charset="0"/>
                        </a:rPr>
                        <a:t>Total</a:t>
                      </a:r>
                    </a:p>
                  </a:txBody>
                  <a:tcPr marL="6350" marR="6350" marT="6350" marB="0" anchor="b">
                    <a:lnL>
                      <a:noFill/>
                    </a:lnL>
                    <a:lnR>
                      <a:noFill/>
                    </a:lnR>
                    <a:lnT>
                      <a:noFill/>
                    </a:lnT>
                    <a:lnB>
                      <a:noFill/>
                    </a:lnB>
                    <a:noFill/>
                  </a:tcPr>
                </a:tc>
                <a:tc>
                  <a:txBody>
                    <a:bodyPr/>
                    <a:lstStyle/>
                    <a:p>
                      <a:pPr algn="r" fontAlgn="b">
                        <a:buNone/>
                      </a:pPr>
                      <a:r>
                        <a:rPr lang="fr-FR" sz="1100" b="1" i="0" u="none" strike="noStrike">
                          <a:solidFill>
                            <a:srgbClr val="000000"/>
                          </a:solidFill>
                          <a:effectLst/>
                          <a:latin typeface="Aptos Narrow" panose="020B0004020202020204" pitchFamily="34" charset="0"/>
                        </a:rPr>
                        <a:t>30,2</a:t>
                      </a:r>
                    </a:p>
                  </a:txBody>
                  <a:tcPr marL="6350" marR="6350" marT="6350" marB="0" anchor="b">
                    <a:lnL>
                      <a:noFill/>
                    </a:lnL>
                    <a:lnR>
                      <a:noFill/>
                    </a:lnR>
                    <a:lnT>
                      <a:noFill/>
                    </a:lnT>
                    <a:lnB>
                      <a:noFill/>
                    </a:lnB>
                    <a:solidFill>
                      <a:srgbClr val="9DD188"/>
                    </a:solidFill>
                  </a:tcPr>
                </a:tc>
                <a:tc>
                  <a:txBody>
                    <a:bodyPr/>
                    <a:lstStyle/>
                    <a:p>
                      <a:pPr algn="r" fontAlgn="b">
                        <a:buNone/>
                      </a:pPr>
                      <a:r>
                        <a:rPr lang="fr-FR" sz="1100" b="1" i="0" u="none" strike="noStrike">
                          <a:solidFill>
                            <a:srgbClr val="000000"/>
                          </a:solidFill>
                          <a:effectLst/>
                          <a:latin typeface="Aptos Narrow" panose="020B0004020202020204" pitchFamily="34" charset="0"/>
                        </a:rPr>
                        <a:t>24,9</a:t>
                      </a:r>
                    </a:p>
                  </a:txBody>
                  <a:tcPr marL="6350" marR="6350" marT="6350" marB="0" anchor="b">
                    <a:lnL>
                      <a:noFill/>
                    </a:lnL>
                    <a:lnR>
                      <a:noFill/>
                    </a:lnR>
                    <a:lnT>
                      <a:noFill/>
                    </a:lnT>
                    <a:lnB>
                      <a:noFill/>
                    </a:lnB>
                    <a:solidFill>
                      <a:srgbClr val="B9D98D"/>
                    </a:solidFill>
                  </a:tcPr>
                </a:tc>
                <a:tc>
                  <a:txBody>
                    <a:bodyPr/>
                    <a:lstStyle/>
                    <a:p>
                      <a:pPr algn="r" fontAlgn="b">
                        <a:buNone/>
                      </a:pPr>
                      <a:r>
                        <a:rPr lang="fr-FR" sz="1100" b="1" i="0" u="none" strike="noStrike">
                          <a:solidFill>
                            <a:srgbClr val="00B050"/>
                          </a:solidFill>
                          <a:effectLst/>
                          <a:latin typeface="Aptos Narrow" panose="020B0004020202020204" pitchFamily="34" charset="0"/>
                        </a:rPr>
                        <a:t>5,3</a:t>
                      </a:r>
                    </a:p>
                  </a:txBody>
                  <a:tcPr marL="6350" marR="6350" marT="6350" marB="0" anchor="b">
                    <a:lnL>
                      <a:noFill/>
                    </a:lnL>
                    <a:lnR>
                      <a:noFill/>
                    </a:lnR>
                    <a:lnT>
                      <a:noFill/>
                    </a:lnT>
                    <a:lnB>
                      <a:noFill/>
                    </a:lnB>
                    <a:noFill/>
                  </a:tcPr>
                </a:tc>
                <a:extLst>
                  <a:ext uri="{0D108BD9-81ED-4DB2-BD59-A6C34878D82A}">
                    <a16:rowId xmlns:a16="http://schemas.microsoft.com/office/drawing/2014/main" val="4100910812"/>
                  </a:ext>
                </a:extLst>
              </a:tr>
              <a:tr h="184150">
                <a:tc>
                  <a:txBody>
                    <a:bodyPr/>
                    <a:lstStyle/>
                    <a:p>
                      <a:pPr algn="l" fontAlgn="b">
                        <a:buNone/>
                      </a:pPr>
                      <a:r>
                        <a:rPr lang="fr-FR" sz="1100" b="0" i="0" u="none" strike="noStrike">
                          <a:solidFill>
                            <a:srgbClr val="000000"/>
                          </a:solidFill>
                          <a:effectLst/>
                          <a:latin typeface="Aptos Narrow" panose="020B0004020202020204" pitchFamily="34" charset="0"/>
                        </a:rPr>
                        <a:t>FR</a:t>
                      </a:r>
                    </a:p>
                  </a:txBody>
                  <a:tcPr marL="6350" marR="6350" marT="6350" marB="0" anchor="b">
                    <a:lnL>
                      <a:noFill/>
                    </a:lnL>
                    <a:lnR>
                      <a:noFill/>
                    </a:lnR>
                    <a:lnT>
                      <a:noFill/>
                    </a:lnT>
                    <a:lnB>
                      <a:noFill/>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27,0</a:t>
                      </a:r>
                    </a:p>
                  </a:txBody>
                  <a:tcPr marL="6350" marR="6350" marT="6350" marB="0" anchor="b">
                    <a:lnL>
                      <a:noFill/>
                    </a:lnL>
                    <a:lnR>
                      <a:noFill/>
                    </a:lnR>
                    <a:lnT>
                      <a:noFill/>
                    </a:lnT>
                    <a:lnB>
                      <a:noFill/>
                    </a:lnB>
                    <a:solidFill>
                      <a:srgbClr val="AED68B"/>
                    </a:solidFill>
                  </a:tcPr>
                </a:tc>
                <a:tc>
                  <a:txBody>
                    <a:bodyPr/>
                    <a:lstStyle/>
                    <a:p>
                      <a:pPr algn="r" fontAlgn="b">
                        <a:buNone/>
                      </a:pPr>
                      <a:r>
                        <a:rPr lang="fr-FR" sz="1100" b="0" i="0" u="none" strike="noStrike">
                          <a:solidFill>
                            <a:srgbClr val="000000"/>
                          </a:solidFill>
                          <a:effectLst/>
                          <a:latin typeface="Aptos Narrow" panose="020B0004020202020204" pitchFamily="34" charset="0"/>
                        </a:rPr>
                        <a:t>21,8</a:t>
                      </a:r>
                    </a:p>
                  </a:txBody>
                  <a:tcPr marL="6350" marR="6350" marT="6350" marB="0" anchor="b">
                    <a:lnL>
                      <a:noFill/>
                    </a:lnL>
                    <a:lnR>
                      <a:noFill/>
                    </a:lnR>
                    <a:lnT>
                      <a:noFill/>
                    </a:lnT>
                    <a:lnB>
                      <a:noFill/>
                    </a:lnB>
                    <a:solidFill>
                      <a:srgbClr val="C9DE91"/>
                    </a:solidFill>
                  </a:tcPr>
                </a:tc>
                <a:tc>
                  <a:txBody>
                    <a:bodyPr/>
                    <a:lstStyle/>
                    <a:p>
                      <a:pPr algn="r" fontAlgn="b">
                        <a:buNone/>
                      </a:pPr>
                      <a:r>
                        <a:rPr lang="fr-FR" sz="1100" b="0" i="0" u="none" strike="noStrike">
                          <a:solidFill>
                            <a:srgbClr val="00B050"/>
                          </a:solidFill>
                          <a:effectLst/>
                          <a:latin typeface="Aptos Narrow" panose="020B0004020202020204" pitchFamily="34" charset="0"/>
                        </a:rPr>
                        <a:t>5,2</a:t>
                      </a:r>
                    </a:p>
                  </a:txBody>
                  <a:tcPr marL="6350" marR="6350" marT="6350" marB="0" anchor="b">
                    <a:lnL>
                      <a:noFill/>
                    </a:lnL>
                    <a:lnR>
                      <a:noFill/>
                    </a:lnR>
                    <a:lnT>
                      <a:noFill/>
                    </a:lnT>
                    <a:lnB>
                      <a:noFill/>
                    </a:lnB>
                    <a:noFill/>
                  </a:tcPr>
                </a:tc>
                <a:extLst>
                  <a:ext uri="{0D108BD9-81ED-4DB2-BD59-A6C34878D82A}">
                    <a16:rowId xmlns:a16="http://schemas.microsoft.com/office/drawing/2014/main" val="3286830982"/>
                  </a:ext>
                </a:extLst>
              </a:tr>
              <a:tr h="184150">
                <a:tc>
                  <a:txBody>
                    <a:bodyPr/>
                    <a:lstStyle/>
                    <a:p>
                      <a:pPr algn="l" fontAlgn="b">
                        <a:buNone/>
                      </a:pPr>
                      <a:r>
                        <a:rPr lang="fr-FR" sz="1100" b="0" i="0" u="none" strike="noStrike">
                          <a:solidFill>
                            <a:srgbClr val="000000"/>
                          </a:solidFill>
                          <a:effectLst/>
                          <a:latin typeface="Aptos Narrow" panose="020B0004020202020204" pitchFamily="34" charset="0"/>
                        </a:rPr>
                        <a:t>CH</a:t>
                      </a:r>
                    </a:p>
                  </a:txBody>
                  <a:tcPr marL="6350" marR="6350" marT="6350" marB="0" anchor="b">
                    <a:lnL>
                      <a:noFill/>
                    </a:lnL>
                    <a:lnR>
                      <a:noFill/>
                    </a:lnR>
                    <a:lnT>
                      <a:noFill/>
                    </a:lnT>
                    <a:lnB>
                      <a:noFill/>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25,8</a:t>
                      </a:r>
                    </a:p>
                  </a:txBody>
                  <a:tcPr marL="6350" marR="6350" marT="6350" marB="0" anchor="b">
                    <a:lnL>
                      <a:noFill/>
                    </a:lnL>
                    <a:lnR>
                      <a:noFill/>
                    </a:lnR>
                    <a:lnT>
                      <a:noFill/>
                    </a:lnT>
                    <a:lnB>
                      <a:noFill/>
                    </a:lnB>
                    <a:solidFill>
                      <a:srgbClr val="B4D88D"/>
                    </a:solidFill>
                  </a:tcPr>
                </a:tc>
                <a:tc>
                  <a:txBody>
                    <a:bodyPr/>
                    <a:lstStyle/>
                    <a:p>
                      <a:pPr algn="r" fontAlgn="b">
                        <a:buNone/>
                      </a:pPr>
                      <a:r>
                        <a:rPr lang="fr-FR" sz="1100" b="0" i="0" u="none" strike="noStrike">
                          <a:solidFill>
                            <a:srgbClr val="000000"/>
                          </a:solidFill>
                          <a:effectLst/>
                          <a:latin typeface="Aptos Narrow" panose="020B0004020202020204" pitchFamily="34" charset="0"/>
                        </a:rPr>
                        <a:t>11,2</a:t>
                      </a:r>
                    </a:p>
                  </a:txBody>
                  <a:tcPr marL="6350" marR="6350" marT="6350" marB="0" anchor="b">
                    <a:lnL>
                      <a:noFill/>
                    </a:lnL>
                    <a:lnR>
                      <a:noFill/>
                    </a:lnR>
                    <a:lnT>
                      <a:noFill/>
                    </a:lnT>
                    <a:lnB>
                      <a:noFill/>
                    </a:lnB>
                    <a:solidFill>
                      <a:srgbClr val="FFEF9C"/>
                    </a:solidFill>
                  </a:tcPr>
                </a:tc>
                <a:tc>
                  <a:txBody>
                    <a:bodyPr/>
                    <a:lstStyle/>
                    <a:p>
                      <a:pPr algn="r" fontAlgn="b">
                        <a:buNone/>
                      </a:pPr>
                      <a:r>
                        <a:rPr lang="fr-FR" sz="1100" b="0" i="0" u="none" strike="noStrike">
                          <a:solidFill>
                            <a:srgbClr val="00B050"/>
                          </a:solidFill>
                          <a:effectLst/>
                          <a:latin typeface="Aptos Narrow" panose="020B0004020202020204" pitchFamily="34" charset="0"/>
                        </a:rPr>
                        <a:t>14,5</a:t>
                      </a:r>
                    </a:p>
                  </a:txBody>
                  <a:tcPr marL="6350" marR="6350" marT="6350" marB="0" anchor="b">
                    <a:lnL>
                      <a:noFill/>
                    </a:lnL>
                    <a:lnR>
                      <a:noFill/>
                    </a:lnR>
                    <a:lnT>
                      <a:noFill/>
                    </a:lnT>
                    <a:lnB>
                      <a:noFill/>
                    </a:lnB>
                    <a:noFill/>
                  </a:tcPr>
                </a:tc>
                <a:extLst>
                  <a:ext uri="{0D108BD9-81ED-4DB2-BD59-A6C34878D82A}">
                    <a16:rowId xmlns:a16="http://schemas.microsoft.com/office/drawing/2014/main" val="3391470972"/>
                  </a:ext>
                </a:extLst>
              </a:tr>
              <a:tr h="184150">
                <a:tc>
                  <a:txBody>
                    <a:bodyPr/>
                    <a:lstStyle/>
                    <a:p>
                      <a:pPr algn="l" fontAlgn="b">
                        <a:buNone/>
                      </a:pPr>
                      <a:r>
                        <a:rPr lang="fr-FR" sz="1100" b="0" i="0" u="none" strike="noStrike">
                          <a:solidFill>
                            <a:srgbClr val="000000"/>
                          </a:solidFill>
                          <a:effectLst/>
                          <a:latin typeface="Aptos Narrow" panose="020B0004020202020204" pitchFamily="34" charset="0"/>
                        </a:rPr>
                        <a:t>NL</a:t>
                      </a:r>
                    </a:p>
                  </a:txBody>
                  <a:tcPr marL="6350" marR="6350" marT="6350" marB="0" anchor="b">
                    <a:lnL>
                      <a:noFill/>
                    </a:lnL>
                    <a:lnR>
                      <a:noFill/>
                    </a:lnR>
                    <a:lnT>
                      <a:noFill/>
                    </a:lnT>
                    <a:lnB>
                      <a:noFill/>
                    </a:lnB>
                    <a:noFill/>
                  </a:tcPr>
                </a:tc>
                <a:tc>
                  <a:txBody>
                    <a:bodyPr/>
                    <a:lstStyle/>
                    <a:p>
                      <a:pPr algn="r" fontAlgn="b">
                        <a:buNone/>
                      </a:pPr>
                      <a:r>
                        <a:rPr lang="fr-FR" sz="1100" b="0" i="0" u="none" strike="noStrike">
                          <a:solidFill>
                            <a:srgbClr val="000000"/>
                          </a:solidFill>
                          <a:effectLst/>
                          <a:latin typeface="Aptos Narrow" panose="020B0004020202020204" pitchFamily="34" charset="0"/>
                        </a:rPr>
                        <a:t>16,4</a:t>
                      </a:r>
                    </a:p>
                  </a:txBody>
                  <a:tcPr marL="6350" marR="6350" marT="6350" marB="0" anchor="b">
                    <a:lnL>
                      <a:noFill/>
                    </a:lnL>
                    <a:lnR>
                      <a:noFill/>
                    </a:lnR>
                    <a:lnT>
                      <a:noFill/>
                    </a:lnT>
                    <a:lnB>
                      <a:noFill/>
                    </a:lnB>
                    <a:solidFill>
                      <a:srgbClr val="E5E797"/>
                    </a:solidFill>
                  </a:tcPr>
                </a:tc>
                <a:tc>
                  <a:txBody>
                    <a:bodyPr/>
                    <a:lstStyle/>
                    <a:p>
                      <a:pPr algn="r" fontAlgn="b">
                        <a:buNone/>
                      </a:pPr>
                      <a:r>
                        <a:rPr lang="fr-FR" sz="1100" b="0" i="0" u="none" strike="noStrike">
                          <a:solidFill>
                            <a:srgbClr val="000000"/>
                          </a:solidFill>
                          <a:effectLst/>
                          <a:latin typeface="Aptos Narrow" panose="020B0004020202020204" pitchFamily="34" charset="0"/>
                        </a:rPr>
                        <a:t>12,1</a:t>
                      </a:r>
                    </a:p>
                  </a:txBody>
                  <a:tcPr marL="6350" marR="6350" marT="6350" marB="0" anchor="b">
                    <a:lnL>
                      <a:noFill/>
                    </a:lnL>
                    <a:lnR>
                      <a:noFill/>
                    </a:lnR>
                    <a:lnT>
                      <a:noFill/>
                    </a:lnT>
                    <a:lnB>
                      <a:noFill/>
                    </a:lnB>
                    <a:solidFill>
                      <a:srgbClr val="FBEE9C"/>
                    </a:solidFill>
                  </a:tcPr>
                </a:tc>
                <a:tc>
                  <a:txBody>
                    <a:bodyPr/>
                    <a:lstStyle/>
                    <a:p>
                      <a:pPr algn="r" fontAlgn="b">
                        <a:buNone/>
                      </a:pPr>
                      <a:r>
                        <a:rPr lang="fr-FR" sz="1100" b="0" i="0" u="none" strike="noStrike">
                          <a:solidFill>
                            <a:srgbClr val="00B050"/>
                          </a:solidFill>
                          <a:effectLst/>
                          <a:latin typeface="Aptos Narrow" panose="020B0004020202020204" pitchFamily="34" charset="0"/>
                        </a:rPr>
                        <a:t>4,3</a:t>
                      </a:r>
                    </a:p>
                  </a:txBody>
                  <a:tcPr marL="6350" marR="6350" marT="6350" marB="0" anchor="b">
                    <a:lnL>
                      <a:noFill/>
                    </a:lnL>
                    <a:lnR>
                      <a:noFill/>
                    </a:lnR>
                    <a:lnT>
                      <a:noFill/>
                    </a:lnT>
                    <a:lnB>
                      <a:noFill/>
                    </a:lnB>
                    <a:noFill/>
                  </a:tcPr>
                </a:tc>
                <a:extLst>
                  <a:ext uri="{0D108BD9-81ED-4DB2-BD59-A6C34878D82A}">
                    <a16:rowId xmlns:a16="http://schemas.microsoft.com/office/drawing/2014/main" val="125944867"/>
                  </a:ext>
                </a:extLst>
              </a:tr>
            </a:tbl>
          </a:graphicData>
        </a:graphic>
      </p:graphicFrame>
    </p:spTree>
    <p:extLst>
      <p:ext uri="{BB962C8B-B14F-4D97-AF65-F5344CB8AC3E}">
        <p14:creationId xmlns:p14="http://schemas.microsoft.com/office/powerpoint/2010/main" val="6170813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15600-E4FB-8A87-CA57-0905A200859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06C16CA-CBEB-186E-BA37-52C445A675AF}"/>
              </a:ext>
            </a:extLst>
          </p:cNvPr>
          <p:cNvSpPr>
            <a:spLocks noGrp="1"/>
          </p:cNvSpPr>
          <p:nvPr>
            <p:ph type="sldNum" sz="quarter" idx="12"/>
          </p:nvPr>
        </p:nvSpPr>
        <p:spPr/>
        <p:txBody>
          <a:bodyPr/>
          <a:lstStyle/>
          <a:p>
            <a:fld id="{0D2E6A04-B99A-6C4D-8942-945F97C9E705}" type="slidenum">
              <a:rPr lang="en-US" smtClean="0"/>
              <a:pPr/>
              <a:t>21</a:t>
            </a:fld>
            <a:endParaRPr lang="en-US"/>
          </a:p>
        </p:txBody>
      </p:sp>
      <p:sp>
        <p:nvSpPr>
          <p:cNvPr id="3" name="Date Placeholder 2">
            <a:extLst>
              <a:ext uri="{FF2B5EF4-FFF2-40B4-BE49-F238E27FC236}">
                <a16:creationId xmlns:a16="http://schemas.microsoft.com/office/drawing/2014/main" id="{6CDE4BCB-1616-D6D0-95F1-CEB50693547A}"/>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81425D85-50BC-9BCF-139A-EE88CA6A34F1}"/>
              </a:ext>
            </a:extLst>
          </p:cNvPr>
          <p:cNvSpPr>
            <a:spLocks noGrp="1"/>
          </p:cNvSpPr>
          <p:nvPr>
            <p:ph type="title"/>
          </p:nvPr>
        </p:nvSpPr>
        <p:spPr/>
        <p:txBody>
          <a:bodyPr/>
          <a:lstStyle/>
          <a:p>
            <a:r>
              <a:rPr lang="fr-FR"/>
              <a:t>Belgium – NPS per villa </a:t>
            </a:r>
            <a:r>
              <a:rPr lang="fr-FR" err="1"/>
              <a:t>category</a:t>
            </a:r>
            <a:r>
              <a:rPr lang="fr-FR"/>
              <a:t> (</a:t>
            </a:r>
            <a:r>
              <a:rPr lang="fr-FR" err="1"/>
              <a:t>comfort</a:t>
            </a:r>
            <a:r>
              <a:rPr lang="fr-FR"/>
              <a:t> </a:t>
            </a:r>
            <a:r>
              <a:rPr lang="fr-FR" err="1"/>
              <a:t>level</a:t>
            </a:r>
            <a:r>
              <a:rPr lang="fr-FR"/>
              <a:t>)</a:t>
            </a:r>
          </a:p>
        </p:txBody>
      </p:sp>
      <p:sp>
        <p:nvSpPr>
          <p:cNvPr id="7" name="Rechthoek 4">
            <a:extLst>
              <a:ext uri="{FF2B5EF4-FFF2-40B4-BE49-F238E27FC236}">
                <a16:creationId xmlns:a16="http://schemas.microsoft.com/office/drawing/2014/main" id="{0C1DD79D-BDB3-C7A4-8B94-EF58E6FA0062}"/>
              </a:ext>
            </a:extLst>
          </p:cNvPr>
          <p:cNvSpPr/>
          <p:nvPr/>
        </p:nvSpPr>
        <p:spPr>
          <a:xfrm>
            <a:off x="-1" y="978100"/>
            <a:ext cx="6934201" cy="1696720"/>
          </a:xfrm>
          <a:prstGeom prst="rect">
            <a:avLst/>
          </a:prstGeom>
          <a:solidFill>
            <a:schemeClr val="bg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NPS of all villa types increased vs </a:t>
            </a:r>
            <a:r>
              <a:rPr lang="en-US" sz="1200" b="1" err="1">
                <a:solidFill>
                  <a:schemeClr val="tx2"/>
                </a:solidFill>
                <a:latin typeface="+mj-lt"/>
                <a:ea typeface="Calibri"/>
                <a:cs typeface="Calibri"/>
              </a:rPr>
              <a:t>ly</a:t>
            </a:r>
            <a:r>
              <a:rPr lang="en-US" sz="1200" b="1">
                <a:solidFill>
                  <a:schemeClr val="tx2"/>
                </a:solidFill>
                <a:latin typeface="+mj-lt"/>
                <a:ea typeface="Calibri"/>
                <a:cs typeface="Calibri"/>
              </a:rPr>
              <a:t>.</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Overall, the NPS increase with the increase of range from Comfort as lowest NPS to VIP and Exclusive in top NPS.</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Top villa categories are VIP and Exclusive (Terhills), Lakeside (Terhills).</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NPS of both Exclusive and Select are negative at </a:t>
            </a:r>
            <a:r>
              <a:rPr lang="en-US" sz="1200" b="1" err="1">
                <a:solidFill>
                  <a:schemeClr val="tx2"/>
                </a:solidFill>
                <a:latin typeface="+mj-lt"/>
                <a:ea typeface="Calibri"/>
                <a:cs typeface="Calibri"/>
              </a:rPr>
              <a:t>Sunparks</a:t>
            </a:r>
            <a:r>
              <a:rPr lang="en-US" sz="1200" b="1">
                <a:solidFill>
                  <a:schemeClr val="tx2"/>
                </a:solidFill>
                <a:latin typeface="+mj-lt"/>
                <a:ea typeface="Calibri"/>
                <a:cs typeface="Calibri"/>
              </a:rPr>
              <a:t>.</a:t>
            </a:r>
            <a:endParaRPr lang="en-US" sz="1200">
              <a:solidFill>
                <a:schemeClr val="tx2"/>
              </a:solidFill>
              <a:latin typeface="+mj-lt"/>
              <a:ea typeface="Calibri"/>
              <a:cs typeface="Calibri"/>
            </a:endParaRPr>
          </a:p>
        </p:txBody>
      </p:sp>
      <p:sp>
        <p:nvSpPr>
          <p:cNvPr id="8" name="Rectangle 7">
            <a:extLst>
              <a:ext uri="{FF2B5EF4-FFF2-40B4-BE49-F238E27FC236}">
                <a16:creationId xmlns:a16="http://schemas.microsoft.com/office/drawing/2014/main" id="{681F7A2A-59AA-B836-2F82-51A91C2E7B31}"/>
              </a:ext>
            </a:extLst>
          </p:cNvPr>
          <p:cNvSpPr/>
          <p:nvPr/>
        </p:nvSpPr>
        <p:spPr>
          <a:xfrm rot="16200000">
            <a:off x="-617105" y="1646060"/>
            <a:ext cx="1656000"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bg2"/>
                </a:solidFill>
                <a:ea typeface="Calibri"/>
                <a:cs typeface="Calibri"/>
              </a:rPr>
              <a:t>Analysis</a:t>
            </a:r>
            <a:endParaRPr lang="en-US" sz="1100">
              <a:solidFill>
                <a:schemeClr val="bg2"/>
              </a:solidFill>
            </a:endParaRPr>
          </a:p>
        </p:txBody>
      </p:sp>
      <p:graphicFrame>
        <p:nvGraphicFramePr>
          <p:cNvPr id="15" name="Table 14">
            <a:extLst>
              <a:ext uri="{FF2B5EF4-FFF2-40B4-BE49-F238E27FC236}">
                <a16:creationId xmlns:a16="http://schemas.microsoft.com/office/drawing/2014/main" id="{EDF5BB8D-8A2F-1E93-89E3-00EDAB1E9AF4}"/>
              </a:ext>
            </a:extLst>
          </p:cNvPr>
          <p:cNvGraphicFramePr>
            <a:graphicFrameLocks noGrp="1"/>
          </p:cNvGraphicFramePr>
          <p:nvPr>
            <p:extLst>
              <p:ext uri="{D42A27DB-BD31-4B8C-83A1-F6EECF244321}">
                <p14:modId xmlns:p14="http://schemas.microsoft.com/office/powerpoint/2010/main" val="1129378803"/>
              </p:ext>
            </p:extLst>
          </p:nvPr>
        </p:nvGraphicFramePr>
        <p:xfrm>
          <a:off x="7400925" y="978100"/>
          <a:ext cx="4076701" cy="2296160"/>
        </p:xfrm>
        <a:graphic>
          <a:graphicData uri="http://schemas.openxmlformats.org/drawingml/2006/table">
            <a:tbl>
              <a:tblPr/>
              <a:tblGrid>
                <a:gridCol w="1972597">
                  <a:extLst>
                    <a:ext uri="{9D8B030D-6E8A-4147-A177-3AD203B41FA5}">
                      <a16:colId xmlns:a16="http://schemas.microsoft.com/office/drawing/2014/main" val="3645831684"/>
                    </a:ext>
                  </a:extLst>
                </a:gridCol>
                <a:gridCol w="701368">
                  <a:extLst>
                    <a:ext uri="{9D8B030D-6E8A-4147-A177-3AD203B41FA5}">
                      <a16:colId xmlns:a16="http://schemas.microsoft.com/office/drawing/2014/main" val="2630123448"/>
                    </a:ext>
                  </a:extLst>
                </a:gridCol>
                <a:gridCol w="701368">
                  <a:extLst>
                    <a:ext uri="{9D8B030D-6E8A-4147-A177-3AD203B41FA5}">
                      <a16:colId xmlns:a16="http://schemas.microsoft.com/office/drawing/2014/main" val="322030728"/>
                    </a:ext>
                  </a:extLst>
                </a:gridCol>
                <a:gridCol w="701368">
                  <a:extLst>
                    <a:ext uri="{9D8B030D-6E8A-4147-A177-3AD203B41FA5}">
                      <a16:colId xmlns:a16="http://schemas.microsoft.com/office/drawing/2014/main" val="238485635"/>
                    </a:ext>
                  </a:extLst>
                </a:gridCol>
              </a:tblGrid>
              <a:tr h="106045">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buNone/>
                      </a:pPr>
                      <a:r>
                        <a:rPr lang="fr-FR" sz="900" b="1" i="0" u="none" strike="noStrike">
                          <a:solidFill>
                            <a:srgbClr val="000000"/>
                          </a:solidFill>
                          <a:effectLst/>
                          <a:latin typeface="Aptos Narrow" panose="020B0004020202020204" pitchFamily="34" charset="0"/>
                        </a:rPr>
                        <a:t>FY25</a:t>
                      </a:r>
                    </a:p>
                  </a:txBody>
                  <a:tcPr marL="6350" marR="6350" marT="6350" marB="0" anchor="b">
                    <a:lnL>
                      <a:noFill/>
                    </a:lnL>
                    <a:lnR>
                      <a:noFill/>
                    </a:lnR>
                    <a:lnT>
                      <a:noFill/>
                    </a:lnT>
                    <a:lnB>
                      <a:noFill/>
                    </a:lnB>
                    <a:noFill/>
                  </a:tcPr>
                </a:tc>
                <a:tc>
                  <a:txBody>
                    <a:bodyPr/>
                    <a:lstStyle/>
                    <a:p>
                      <a:pPr algn="l" fontAlgn="b">
                        <a:buNone/>
                      </a:pPr>
                      <a:r>
                        <a:rPr lang="fr-FR" sz="900" b="1" i="0" u="none" strike="noStrike">
                          <a:solidFill>
                            <a:srgbClr val="000000"/>
                          </a:solidFill>
                          <a:effectLst/>
                          <a:latin typeface="Aptos Narrow" panose="020B0004020202020204" pitchFamily="34" charset="0"/>
                        </a:rPr>
                        <a:t>FY24</a:t>
                      </a:r>
                    </a:p>
                  </a:txBody>
                  <a:tcPr marL="6350" marR="6350" marT="6350" marB="0" anchor="b">
                    <a:lnL>
                      <a:noFill/>
                    </a:lnL>
                    <a:lnR>
                      <a:noFill/>
                    </a:lnR>
                    <a:lnT>
                      <a:noFill/>
                    </a:lnT>
                    <a:lnB>
                      <a:noFill/>
                    </a:lnB>
                    <a:noFill/>
                  </a:tcPr>
                </a:tc>
                <a:tc>
                  <a:txBody>
                    <a:bodyPr/>
                    <a:lstStyle/>
                    <a:p>
                      <a:pPr algn="l" fontAlgn="b">
                        <a:buNone/>
                      </a:pPr>
                      <a:r>
                        <a:rPr lang="fr-FR" sz="900" b="1" i="0" u="none" strike="noStrike">
                          <a:solidFill>
                            <a:srgbClr val="000000"/>
                          </a:solidFill>
                          <a:effectLst/>
                          <a:latin typeface="Aptos Narrow" panose="020B0004020202020204" pitchFamily="34" charset="0"/>
                        </a:rPr>
                        <a:t>Evol</a:t>
                      </a:r>
                    </a:p>
                  </a:txBody>
                  <a:tcPr marL="6350" marR="6350" marT="6350" marB="0" anchor="b">
                    <a:lnL>
                      <a:noFill/>
                    </a:lnL>
                    <a:lnR>
                      <a:noFill/>
                    </a:lnR>
                    <a:lnT>
                      <a:noFill/>
                    </a:lnT>
                    <a:lnB>
                      <a:noFill/>
                    </a:lnB>
                    <a:noFill/>
                  </a:tcPr>
                </a:tc>
                <a:extLst>
                  <a:ext uri="{0D108BD9-81ED-4DB2-BD59-A6C34878D82A}">
                    <a16:rowId xmlns:a16="http://schemas.microsoft.com/office/drawing/2014/main" val="1542053664"/>
                  </a:ext>
                </a:extLst>
              </a:tr>
              <a:tr h="106045">
                <a:tc>
                  <a:txBody>
                    <a:bodyPr/>
                    <a:lstStyle/>
                    <a:p>
                      <a:pPr algn="l" fontAlgn="b">
                        <a:buNone/>
                      </a:pPr>
                      <a:r>
                        <a:rPr lang="fr-FR" sz="900" b="0" i="0" u="none" strike="noStrike">
                          <a:solidFill>
                            <a:srgbClr val="000000"/>
                          </a:solidFill>
                          <a:effectLst/>
                          <a:latin typeface="Aptos Narrow" panose="020B0004020202020204" pitchFamily="34" charset="0"/>
                        </a:rPr>
                        <a:t>Vip Lake side</a:t>
                      </a:r>
                    </a:p>
                  </a:txBody>
                  <a:tcPr marL="6350" marR="6350" marT="6350" marB="0" anchor="b">
                    <a:lnL>
                      <a:noFill/>
                    </a:lnL>
                    <a:lnR>
                      <a:noFill/>
                    </a:lnR>
                    <a:lnT>
                      <a:noFill/>
                    </a:lnT>
                    <a:lnB>
                      <a:noFill/>
                    </a:lnB>
                    <a:noFill/>
                  </a:tcPr>
                </a:tc>
                <a:tc>
                  <a:txBody>
                    <a:bodyPr/>
                    <a:lstStyle/>
                    <a:p>
                      <a:pPr algn="r" fontAlgn="b">
                        <a:buNone/>
                      </a:pPr>
                      <a:r>
                        <a:rPr lang="fr-FR" sz="900" b="0" i="0" u="none" strike="noStrike">
                          <a:solidFill>
                            <a:srgbClr val="000000"/>
                          </a:solidFill>
                          <a:effectLst/>
                          <a:latin typeface="Aptos Narrow" panose="020B0004020202020204" pitchFamily="34" charset="0"/>
                        </a:rPr>
                        <a:t>66,9</a:t>
                      </a:r>
                    </a:p>
                  </a:txBody>
                  <a:tcPr marL="6350" marR="6350" marT="6350" marB="0" anchor="b">
                    <a:lnL>
                      <a:noFill/>
                    </a:lnL>
                    <a:lnR>
                      <a:noFill/>
                    </a:lnR>
                    <a:lnT>
                      <a:noFill/>
                    </a:lnT>
                    <a:lnB>
                      <a:noFill/>
                    </a:lnB>
                    <a:solidFill>
                      <a:srgbClr val="63BE7B"/>
                    </a:solidFill>
                  </a:tcPr>
                </a:tc>
                <a:tc>
                  <a:txBody>
                    <a:bodyPr/>
                    <a:lstStyle/>
                    <a:p>
                      <a:pPr algn="r" fontAlgn="b">
                        <a:buNone/>
                      </a:pPr>
                      <a:r>
                        <a:rPr lang="fr-FR" sz="900" b="0" i="0" u="none" strike="noStrike">
                          <a:solidFill>
                            <a:srgbClr val="000000"/>
                          </a:solidFill>
                          <a:effectLst/>
                          <a:latin typeface="Aptos Narrow" panose="020B0004020202020204" pitchFamily="34" charset="0"/>
                        </a:rPr>
                        <a:t>64,0</a:t>
                      </a:r>
                    </a:p>
                  </a:txBody>
                  <a:tcPr marL="6350" marR="6350" marT="6350" marB="0" anchor="b">
                    <a:lnL>
                      <a:noFill/>
                    </a:lnL>
                    <a:lnR>
                      <a:noFill/>
                    </a:lnR>
                    <a:lnT>
                      <a:noFill/>
                    </a:lnT>
                    <a:lnB>
                      <a:noFill/>
                    </a:lnB>
                    <a:solidFill>
                      <a:srgbClr val="71C27C"/>
                    </a:solidFill>
                  </a:tcPr>
                </a:tc>
                <a:tc>
                  <a:txBody>
                    <a:bodyPr/>
                    <a:lstStyle/>
                    <a:p>
                      <a:pPr algn="r" fontAlgn="b">
                        <a:buNone/>
                      </a:pPr>
                      <a:r>
                        <a:rPr lang="fr-FR" sz="900" b="0" i="0" u="none" strike="noStrike">
                          <a:solidFill>
                            <a:srgbClr val="00B050"/>
                          </a:solidFill>
                          <a:effectLst/>
                          <a:latin typeface="Aptos Narrow" panose="020B0004020202020204" pitchFamily="34" charset="0"/>
                        </a:rPr>
                        <a:t>2,9</a:t>
                      </a:r>
                    </a:p>
                  </a:txBody>
                  <a:tcPr marL="6350" marR="6350" marT="6350" marB="0" anchor="b">
                    <a:lnL>
                      <a:noFill/>
                    </a:lnL>
                    <a:lnR>
                      <a:noFill/>
                    </a:lnR>
                    <a:lnT>
                      <a:noFill/>
                    </a:lnT>
                    <a:lnB>
                      <a:noFill/>
                    </a:lnB>
                    <a:noFill/>
                  </a:tcPr>
                </a:tc>
                <a:extLst>
                  <a:ext uri="{0D108BD9-81ED-4DB2-BD59-A6C34878D82A}">
                    <a16:rowId xmlns:a16="http://schemas.microsoft.com/office/drawing/2014/main" val="3161480793"/>
                  </a:ext>
                </a:extLst>
              </a:tr>
              <a:tr h="106045">
                <a:tc>
                  <a:txBody>
                    <a:bodyPr/>
                    <a:lstStyle/>
                    <a:p>
                      <a:pPr algn="l" fontAlgn="b">
                        <a:buNone/>
                      </a:pPr>
                      <a:r>
                        <a:rPr lang="fr-FR" sz="900" b="0" i="0" u="none" strike="noStrike">
                          <a:solidFill>
                            <a:srgbClr val="000000"/>
                          </a:solidFill>
                          <a:effectLst/>
                          <a:latin typeface="Aptos Narrow" panose="020B0004020202020204" pitchFamily="34" charset="0"/>
                        </a:rPr>
                        <a:t>Exclusive Lakeside cottage</a:t>
                      </a:r>
                    </a:p>
                  </a:txBody>
                  <a:tcPr marL="6350" marR="6350" marT="6350" marB="0" anchor="b">
                    <a:lnL>
                      <a:noFill/>
                    </a:lnL>
                    <a:lnR>
                      <a:noFill/>
                    </a:lnR>
                    <a:lnT>
                      <a:noFill/>
                    </a:lnT>
                    <a:lnB>
                      <a:noFill/>
                    </a:lnB>
                    <a:noFill/>
                  </a:tcPr>
                </a:tc>
                <a:tc>
                  <a:txBody>
                    <a:bodyPr/>
                    <a:lstStyle/>
                    <a:p>
                      <a:pPr algn="r" fontAlgn="b">
                        <a:buNone/>
                      </a:pPr>
                      <a:r>
                        <a:rPr lang="fr-FR" sz="900" b="0" i="0" u="none" strike="noStrike">
                          <a:solidFill>
                            <a:srgbClr val="000000"/>
                          </a:solidFill>
                          <a:effectLst/>
                          <a:latin typeface="Aptos Narrow" panose="020B0004020202020204" pitchFamily="34" charset="0"/>
                        </a:rPr>
                        <a:t>57,6</a:t>
                      </a:r>
                    </a:p>
                  </a:txBody>
                  <a:tcPr marL="6350" marR="6350" marT="6350" marB="0" anchor="b">
                    <a:lnL>
                      <a:noFill/>
                    </a:lnL>
                    <a:lnR>
                      <a:noFill/>
                    </a:lnR>
                    <a:lnT>
                      <a:noFill/>
                    </a:lnT>
                    <a:lnB>
                      <a:noFill/>
                    </a:lnB>
                    <a:solidFill>
                      <a:srgbClr val="8DCB7E"/>
                    </a:solidFill>
                  </a:tcPr>
                </a:tc>
                <a:tc>
                  <a:txBody>
                    <a:bodyPr/>
                    <a:lstStyle/>
                    <a:p>
                      <a:pPr algn="r" fontAlgn="b">
                        <a:buNone/>
                      </a:pPr>
                      <a:r>
                        <a:rPr lang="fr-FR" sz="900" b="0" i="0" u="none" strike="noStrike">
                          <a:solidFill>
                            <a:srgbClr val="000000"/>
                          </a:solidFill>
                          <a:effectLst/>
                          <a:latin typeface="Aptos Narrow" panose="020B0004020202020204" pitchFamily="34" charset="0"/>
                        </a:rPr>
                        <a:t>48,8</a:t>
                      </a:r>
                    </a:p>
                  </a:txBody>
                  <a:tcPr marL="6350" marR="6350" marT="6350" marB="0" anchor="b">
                    <a:lnL>
                      <a:noFill/>
                    </a:lnL>
                    <a:lnR>
                      <a:noFill/>
                    </a:lnR>
                    <a:lnT>
                      <a:noFill/>
                    </a:lnT>
                    <a:lnB>
                      <a:noFill/>
                    </a:lnB>
                    <a:solidFill>
                      <a:srgbClr val="B5D680"/>
                    </a:solidFill>
                  </a:tcPr>
                </a:tc>
                <a:tc>
                  <a:txBody>
                    <a:bodyPr/>
                    <a:lstStyle/>
                    <a:p>
                      <a:pPr algn="r" fontAlgn="b">
                        <a:buNone/>
                      </a:pPr>
                      <a:r>
                        <a:rPr lang="fr-FR" sz="900" b="0" i="0" u="none" strike="noStrike">
                          <a:solidFill>
                            <a:srgbClr val="00B050"/>
                          </a:solidFill>
                          <a:effectLst/>
                          <a:latin typeface="Aptos Narrow" panose="020B0004020202020204" pitchFamily="34" charset="0"/>
                        </a:rPr>
                        <a:t>8,8</a:t>
                      </a:r>
                    </a:p>
                  </a:txBody>
                  <a:tcPr marL="6350" marR="6350" marT="6350" marB="0" anchor="b">
                    <a:lnL>
                      <a:noFill/>
                    </a:lnL>
                    <a:lnR>
                      <a:noFill/>
                    </a:lnR>
                    <a:lnT>
                      <a:noFill/>
                    </a:lnT>
                    <a:lnB>
                      <a:noFill/>
                    </a:lnB>
                    <a:noFill/>
                  </a:tcPr>
                </a:tc>
                <a:extLst>
                  <a:ext uri="{0D108BD9-81ED-4DB2-BD59-A6C34878D82A}">
                    <a16:rowId xmlns:a16="http://schemas.microsoft.com/office/drawing/2014/main" val="905996584"/>
                  </a:ext>
                </a:extLst>
              </a:tr>
              <a:tr h="106045">
                <a:tc>
                  <a:txBody>
                    <a:bodyPr/>
                    <a:lstStyle/>
                    <a:p>
                      <a:pPr algn="l" fontAlgn="b">
                        <a:buNone/>
                      </a:pPr>
                      <a:r>
                        <a:rPr lang="fr-FR" sz="900" b="0" i="0" u="none" strike="noStrike">
                          <a:solidFill>
                            <a:srgbClr val="000000"/>
                          </a:solidFill>
                          <a:effectLst/>
                          <a:latin typeface="Aptos Narrow" panose="020B0004020202020204" pitchFamily="34" charset="0"/>
                        </a:rPr>
                        <a:t>Disabled VIP</a:t>
                      </a:r>
                    </a:p>
                  </a:txBody>
                  <a:tcPr marL="6350" marR="6350" marT="6350" marB="0" anchor="b">
                    <a:lnL>
                      <a:noFill/>
                    </a:lnL>
                    <a:lnR>
                      <a:noFill/>
                    </a:lnR>
                    <a:lnT>
                      <a:noFill/>
                    </a:lnT>
                    <a:lnB>
                      <a:noFill/>
                    </a:lnB>
                    <a:noFill/>
                  </a:tcPr>
                </a:tc>
                <a:tc>
                  <a:txBody>
                    <a:bodyPr/>
                    <a:lstStyle/>
                    <a:p>
                      <a:pPr algn="r" fontAlgn="b">
                        <a:buNone/>
                      </a:pPr>
                      <a:r>
                        <a:rPr lang="fr-FR" sz="900" b="0" i="0" u="none" strike="noStrike">
                          <a:solidFill>
                            <a:srgbClr val="000000"/>
                          </a:solidFill>
                          <a:effectLst/>
                          <a:latin typeface="Aptos Narrow" panose="020B0004020202020204" pitchFamily="34" charset="0"/>
                        </a:rPr>
                        <a:t>55,2</a:t>
                      </a:r>
                    </a:p>
                  </a:txBody>
                  <a:tcPr marL="6350" marR="6350" marT="6350" marB="0" anchor="b">
                    <a:lnL>
                      <a:noFill/>
                    </a:lnL>
                    <a:lnR>
                      <a:noFill/>
                    </a:lnR>
                    <a:lnT>
                      <a:noFill/>
                    </a:lnT>
                    <a:lnB>
                      <a:noFill/>
                    </a:lnB>
                    <a:solidFill>
                      <a:srgbClr val="98CE7F"/>
                    </a:solidFill>
                  </a:tcPr>
                </a:tc>
                <a:tc>
                  <a:txBody>
                    <a:bodyPr/>
                    <a:lstStyle/>
                    <a:p>
                      <a:pPr algn="r" fontAlgn="b">
                        <a:buNone/>
                      </a:pPr>
                      <a:r>
                        <a:rPr lang="fr-FR" sz="900" b="0" i="0" u="none" strike="noStrike">
                          <a:solidFill>
                            <a:srgbClr val="000000"/>
                          </a:solidFill>
                          <a:effectLst/>
                          <a:latin typeface="Aptos Narrow" panose="020B0004020202020204" pitchFamily="34" charset="0"/>
                        </a:rPr>
                        <a:t>51,9</a:t>
                      </a:r>
                    </a:p>
                  </a:txBody>
                  <a:tcPr marL="6350" marR="6350" marT="6350" marB="0" anchor="b">
                    <a:lnL>
                      <a:noFill/>
                    </a:lnL>
                    <a:lnR>
                      <a:noFill/>
                    </a:lnR>
                    <a:lnT>
                      <a:noFill/>
                    </a:lnT>
                    <a:lnB>
                      <a:noFill/>
                    </a:lnB>
                    <a:solidFill>
                      <a:srgbClr val="A7D27F"/>
                    </a:solidFill>
                  </a:tcPr>
                </a:tc>
                <a:tc>
                  <a:txBody>
                    <a:bodyPr/>
                    <a:lstStyle/>
                    <a:p>
                      <a:pPr algn="r" fontAlgn="b">
                        <a:buNone/>
                      </a:pPr>
                      <a:r>
                        <a:rPr lang="fr-FR" sz="900" b="0" i="0" u="none" strike="noStrike">
                          <a:solidFill>
                            <a:srgbClr val="00B050"/>
                          </a:solidFill>
                          <a:effectLst/>
                          <a:latin typeface="Aptos Narrow" panose="020B0004020202020204" pitchFamily="34" charset="0"/>
                        </a:rPr>
                        <a:t>3,3</a:t>
                      </a:r>
                    </a:p>
                  </a:txBody>
                  <a:tcPr marL="6350" marR="6350" marT="6350" marB="0" anchor="b">
                    <a:lnL>
                      <a:noFill/>
                    </a:lnL>
                    <a:lnR>
                      <a:noFill/>
                    </a:lnR>
                    <a:lnT>
                      <a:noFill/>
                    </a:lnT>
                    <a:lnB>
                      <a:noFill/>
                    </a:lnB>
                    <a:noFill/>
                  </a:tcPr>
                </a:tc>
                <a:extLst>
                  <a:ext uri="{0D108BD9-81ED-4DB2-BD59-A6C34878D82A}">
                    <a16:rowId xmlns:a16="http://schemas.microsoft.com/office/drawing/2014/main" val="512207772"/>
                  </a:ext>
                </a:extLst>
              </a:tr>
              <a:tr h="106045">
                <a:tc>
                  <a:txBody>
                    <a:bodyPr/>
                    <a:lstStyle/>
                    <a:p>
                      <a:pPr algn="l" fontAlgn="b">
                        <a:buNone/>
                      </a:pPr>
                      <a:r>
                        <a:rPr lang="fr-FR" sz="900" b="0" i="0" u="none" strike="noStrike">
                          <a:solidFill>
                            <a:srgbClr val="000000"/>
                          </a:solidFill>
                          <a:effectLst/>
                          <a:latin typeface="Aptos Narrow" panose="020B0004020202020204" pitchFamily="34" charset="0"/>
                        </a:rPr>
                        <a:t>Premium Apartment</a:t>
                      </a:r>
                    </a:p>
                  </a:txBody>
                  <a:tcPr marL="6350" marR="6350" marT="6350" marB="0" anchor="b">
                    <a:lnL>
                      <a:noFill/>
                    </a:lnL>
                    <a:lnR>
                      <a:noFill/>
                    </a:lnR>
                    <a:lnT>
                      <a:noFill/>
                    </a:lnT>
                    <a:lnB>
                      <a:noFill/>
                    </a:lnB>
                    <a:noFill/>
                  </a:tcPr>
                </a:tc>
                <a:tc>
                  <a:txBody>
                    <a:bodyPr/>
                    <a:lstStyle/>
                    <a:p>
                      <a:pPr algn="r" fontAlgn="b">
                        <a:buNone/>
                      </a:pPr>
                      <a:r>
                        <a:rPr lang="fr-FR" sz="900" b="0" i="0" u="none" strike="noStrike">
                          <a:solidFill>
                            <a:srgbClr val="000000"/>
                          </a:solidFill>
                          <a:effectLst/>
                          <a:latin typeface="Aptos Narrow" panose="020B0004020202020204" pitchFamily="34" charset="0"/>
                        </a:rPr>
                        <a:t>49,4</a:t>
                      </a:r>
                    </a:p>
                  </a:txBody>
                  <a:tcPr marL="6350" marR="6350" marT="6350" marB="0" anchor="b">
                    <a:lnL>
                      <a:noFill/>
                    </a:lnL>
                    <a:lnR>
                      <a:noFill/>
                    </a:lnR>
                    <a:lnT>
                      <a:noFill/>
                    </a:lnT>
                    <a:lnB>
                      <a:noFill/>
                    </a:lnB>
                    <a:solidFill>
                      <a:srgbClr val="B2D580"/>
                    </a:solidFill>
                  </a:tcPr>
                </a:tc>
                <a:tc>
                  <a:txBody>
                    <a:bodyPr/>
                    <a:lstStyle/>
                    <a:p>
                      <a:pPr algn="r" fontAlgn="b">
                        <a:buNone/>
                      </a:pPr>
                      <a:r>
                        <a:rPr lang="fr-FR" sz="900" b="0" i="0" u="none" strike="noStrike">
                          <a:solidFill>
                            <a:srgbClr val="000000"/>
                          </a:solidFill>
                          <a:effectLst/>
                          <a:latin typeface="Aptos Narrow" panose="020B0004020202020204" pitchFamily="34" charset="0"/>
                        </a:rPr>
                        <a:t>47,4</a:t>
                      </a:r>
                    </a:p>
                  </a:txBody>
                  <a:tcPr marL="6350" marR="6350" marT="6350" marB="0" anchor="b">
                    <a:lnL>
                      <a:noFill/>
                    </a:lnL>
                    <a:lnR>
                      <a:noFill/>
                    </a:lnR>
                    <a:lnT>
                      <a:noFill/>
                    </a:lnT>
                    <a:lnB>
                      <a:noFill/>
                    </a:lnB>
                    <a:solidFill>
                      <a:srgbClr val="BBD881"/>
                    </a:solidFill>
                  </a:tcPr>
                </a:tc>
                <a:tc>
                  <a:txBody>
                    <a:bodyPr/>
                    <a:lstStyle/>
                    <a:p>
                      <a:pPr algn="r" fontAlgn="b">
                        <a:buNone/>
                      </a:pPr>
                      <a:r>
                        <a:rPr lang="fr-FR" sz="900" b="0" i="0" u="none" strike="noStrike">
                          <a:solidFill>
                            <a:srgbClr val="00B050"/>
                          </a:solidFill>
                          <a:effectLst/>
                          <a:latin typeface="Aptos Narrow" panose="020B0004020202020204" pitchFamily="34" charset="0"/>
                        </a:rPr>
                        <a:t>2,0</a:t>
                      </a:r>
                    </a:p>
                  </a:txBody>
                  <a:tcPr marL="6350" marR="6350" marT="6350" marB="0" anchor="b">
                    <a:lnL>
                      <a:noFill/>
                    </a:lnL>
                    <a:lnR>
                      <a:noFill/>
                    </a:lnR>
                    <a:lnT>
                      <a:noFill/>
                    </a:lnT>
                    <a:lnB>
                      <a:noFill/>
                    </a:lnB>
                    <a:noFill/>
                  </a:tcPr>
                </a:tc>
                <a:extLst>
                  <a:ext uri="{0D108BD9-81ED-4DB2-BD59-A6C34878D82A}">
                    <a16:rowId xmlns:a16="http://schemas.microsoft.com/office/drawing/2014/main" val="44886"/>
                  </a:ext>
                </a:extLst>
              </a:tr>
              <a:tr h="106045">
                <a:tc>
                  <a:txBody>
                    <a:bodyPr/>
                    <a:lstStyle/>
                    <a:p>
                      <a:pPr algn="l" fontAlgn="b">
                        <a:buNone/>
                      </a:pPr>
                      <a:r>
                        <a:rPr lang="fr-FR" sz="900" b="0" i="0" u="none" strike="noStrike">
                          <a:solidFill>
                            <a:srgbClr val="000000"/>
                          </a:solidFill>
                          <a:effectLst/>
                          <a:latin typeface="Aptos Narrow" panose="020B0004020202020204" pitchFamily="34" charset="0"/>
                        </a:rPr>
                        <a:t>Exclusive cottage</a:t>
                      </a:r>
                    </a:p>
                  </a:txBody>
                  <a:tcPr marL="6350" marR="6350" marT="6350" marB="0" anchor="b">
                    <a:lnL>
                      <a:noFill/>
                    </a:lnL>
                    <a:lnR>
                      <a:noFill/>
                    </a:lnR>
                    <a:lnT>
                      <a:noFill/>
                    </a:lnT>
                    <a:lnB>
                      <a:noFill/>
                    </a:lnB>
                    <a:noFill/>
                  </a:tcPr>
                </a:tc>
                <a:tc>
                  <a:txBody>
                    <a:bodyPr/>
                    <a:lstStyle/>
                    <a:p>
                      <a:pPr algn="r" fontAlgn="b">
                        <a:buNone/>
                      </a:pPr>
                      <a:r>
                        <a:rPr lang="fr-FR" sz="900" b="0" i="0" u="none" strike="noStrike">
                          <a:solidFill>
                            <a:srgbClr val="000000"/>
                          </a:solidFill>
                          <a:effectLst/>
                          <a:latin typeface="Aptos Narrow" panose="020B0004020202020204" pitchFamily="34" charset="0"/>
                        </a:rPr>
                        <a:t>47,3</a:t>
                      </a:r>
                    </a:p>
                  </a:txBody>
                  <a:tcPr marL="6350" marR="6350" marT="6350" marB="0" anchor="b">
                    <a:lnL>
                      <a:noFill/>
                    </a:lnL>
                    <a:lnR>
                      <a:noFill/>
                    </a:lnR>
                    <a:lnT>
                      <a:noFill/>
                    </a:lnT>
                    <a:lnB>
                      <a:noFill/>
                    </a:lnB>
                    <a:solidFill>
                      <a:srgbClr val="BCD881"/>
                    </a:solidFill>
                  </a:tcPr>
                </a:tc>
                <a:tc>
                  <a:txBody>
                    <a:bodyPr/>
                    <a:lstStyle/>
                    <a:p>
                      <a:pPr algn="r" fontAlgn="b">
                        <a:buNone/>
                      </a:pPr>
                      <a:r>
                        <a:rPr lang="fr-FR" sz="900" b="0" i="0" u="none" strike="noStrike">
                          <a:solidFill>
                            <a:srgbClr val="000000"/>
                          </a:solidFill>
                          <a:effectLst/>
                          <a:latin typeface="Aptos Narrow" panose="020B0004020202020204" pitchFamily="34" charset="0"/>
                        </a:rPr>
                        <a:t>45,7</a:t>
                      </a:r>
                    </a:p>
                  </a:txBody>
                  <a:tcPr marL="6350" marR="6350" marT="6350" marB="0" anchor="b">
                    <a:lnL>
                      <a:noFill/>
                    </a:lnL>
                    <a:lnR>
                      <a:noFill/>
                    </a:lnR>
                    <a:lnT>
                      <a:noFill/>
                    </a:lnT>
                    <a:lnB>
                      <a:noFill/>
                    </a:lnB>
                    <a:solidFill>
                      <a:srgbClr val="C3DA81"/>
                    </a:solidFill>
                  </a:tcPr>
                </a:tc>
                <a:tc>
                  <a:txBody>
                    <a:bodyPr/>
                    <a:lstStyle/>
                    <a:p>
                      <a:pPr algn="r" fontAlgn="b">
                        <a:buNone/>
                      </a:pPr>
                      <a:r>
                        <a:rPr lang="fr-FR" sz="900" b="0" i="0" u="none" strike="noStrike">
                          <a:solidFill>
                            <a:srgbClr val="00B050"/>
                          </a:solidFill>
                          <a:effectLst/>
                          <a:latin typeface="Aptos Narrow" panose="020B0004020202020204" pitchFamily="34" charset="0"/>
                        </a:rPr>
                        <a:t>1,6</a:t>
                      </a:r>
                    </a:p>
                  </a:txBody>
                  <a:tcPr marL="6350" marR="6350" marT="6350" marB="0" anchor="b">
                    <a:lnL>
                      <a:noFill/>
                    </a:lnL>
                    <a:lnR>
                      <a:noFill/>
                    </a:lnR>
                    <a:lnT>
                      <a:noFill/>
                    </a:lnT>
                    <a:lnB>
                      <a:noFill/>
                    </a:lnB>
                    <a:noFill/>
                  </a:tcPr>
                </a:tc>
                <a:extLst>
                  <a:ext uri="{0D108BD9-81ED-4DB2-BD59-A6C34878D82A}">
                    <a16:rowId xmlns:a16="http://schemas.microsoft.com/office/drawing/2014/main" val="2241737026"/>
                  </a:ext>
                </a:extLst>
              </a:tr>
              <a:tr h="106045">
                <a:tc>
                  <a:txBody>
                    <a:bodyPr/>
                    <a:lstStyle/>
                    <a:p>
                      <a:pPr algn="l" fontAlgn="b">
                        <a:buNone/>
                      </a:pPr>
                      <a:r>
                        <a:rPr lang="fr-FR" sz="900" b="0" i="0" u="none" strike="noStrike">
                          <a:solidFill>
                            <a:srgbClr val="000000"/>
                          </a:solidFill>
                          <a:effectLst/>
                          <a:latin typeface="Aptos Narrow" panose="020B0004020202020204" pitchFamily="34" charset="0"/>
                        </a:rPr>
                        <a:t>Premium Hotel</a:t>
                      </a:r>
                    </a:p>
                  </a:txBody>
                  <a:tcPr marL="6350" marR="6350" marT="6350" marB="0" anchor="b">
                    <a:lnL>
                      <a:noFill/>
                    </a:lnL>
                    <a:lnR>
                      <a:noFill/>
                    </a:lnR>
                    <a:lnT>
                      <a:noFill/>
                    </a:lnT>
                    <a:lnB>
                      <a:noFill/>
                    </a:lnB>
                    <a:noFill/>
                  </a:tcPr>
                </a:tc>
                <a:tc>
                  <a:txBody>
                    <a:bodyPr/>
                    <a:lstStyle/>
                    <a:p>
                      <a:pPr algn="r" fontAlgn="b">
                        <a:buNone/>
                      </a:pPr>
                      <a:r>
                        <a:rPr lang="fr-FR" sz="900" b="0" i="0" u="none" strike="noStrike">
                          <a:solidFill>
                            <a:srgbClr val="000000"/>
                          </a:solidFill>
                          <a:effectLst/>
                          <a:latin typeface="Aptos Narrow" panose="020B0004020202020204" pitchFamily="34" charset="0"/>
                        </a:rPr>
                        <a:t>44,0</a:t>
                      </a:r>
                    </a:p>
                  </a:txBody>
                  <a:tcPr marL="6350" marR="6350" marT="6350" marB="0" anchor="b">
                    <a:lnL>
                      <a:noFill/>
                    </a:lnL>
                    <a:lnR>
                      <a:noFill/>
                    </a:lnR>
                    <a:lnT>
                      <a:noFill/>
                    </a:lnT>
                    <a:lnB>
                      <a:noFill/>
                    </a:lnB>
                    <a:solidFill>
                      <a:srgbClr val="CBDC81"/>
                    </a:solidFill>
                  </a:tcPr>
                </a:tc>
                <a:tc>
                  <a:txBody>
                    <a:bodyPr/>
                    <a:lstStyle/>
                    <a:p>
                      <a:pPr algn="r" fontAlgn="b">
                        <a:buNone/>
                      </a:pPr>
                      <a:r>
                        <a:rPr lang="fr-FR" sz="900" b="0" i="0" u="none" strike="noStrike">
                          <a:solidFill>
                            <a:srgbClr val="000000"/>
                          </a:solidFill>
                          <a:effectLst/>
                          <a:latin typeface="Aptos Narrow" panose="020B0004020202020204" pitchFamily="34" charset="0"/>
                        </a:rPr>
                        <a:t>41,0</a:t>
                      </a:r>
                    </a:p>
                  </a:txBody>
                  <a:tcPr marL="6350" marR="6350" marT="6350" marB="0" anchor="b">
                    <a:lnL>
                      <a:noFill/>
                    </a:lnL>
                    <a:lnR>
                      <a:noFill/>
                    </a:lnR>
                    <a:lnT>
                      <a:noFill/>
                    </a:lnT>
                    <a:lnB>
                      <a:noFill/>
                    </a:lnB>
                    <a:solidFill>
                      <a:srgbClr val="D8E082"/>
                    </a:solidFill>
                  </a:tcPr>
                </a:tc>
                <a:tc>
                  <a:txBody>
                    <a:bodyPr/>
                    <a:lstStyle/>
                    <a:p>
                      <a:pPr algn="r" fontAlgn="b">
                        <a:buNone/>
                      </a:pPr>
                      <a:r>
                        <a:rPr lang="fr-FR" sz="900" b="0" i="0" u="none" strike="noStrike">
                          <a:solidFill>
                            <a:srgbClr val="00B050"/>
                          </a:solidFill>
                          <a:effectLst/>
                          <a:latin typeface="Aptos Narrow" panose="020B0004020202020204" pitchFamily="34" charset="0"/>
                        </a:rPr>
                        <a:t>3,0</a:t>
                      </a:r>
                    </a:p>
                  </a:txBody>
                  <a:tcPr marL="6350" marR="6350" marT="6350" marB="0" anchor="b">
                    <a:lnL>
                      <a:noFill/>
                    </a:lnL>
                    <a:lnR>
                      <a:noFill/>
                    </a:lnR>
                    <a:lnT>
                      <a:noFill/>
                    </a:lnT>
                    <a:lnB>
                      <a:noFill/>
                    </a:lnB>
                    <a:noFill/>
                  </a:tcPr>
                </a:tc>
                <a:extLst>
                  <a:ext uri="{0D108BD9-81ED-4DB2-BD59-A6C34878D82A}">
                    <a16:rowId xmlns:a16="http://schemas.microsoft.com/office/drawing/2014/main" val="247489714"/>
                  </a:ext>
                </a:extLst>
              </a:tr>
              <a:tr h="106045">
                <a:tc>
                  <a:txBody>
                    <a:bodyPr/>
                    <a:lstStyle/>
                    <a:p>
                      <a:pPr algn="l" fontAlgn="b">
                        <a:buNone/>
                      </a:pPr>
                      <a:r>
                        <a:rPr lang="fr-FR" sz="900" b="0" i="0" u="none" strike="noStrike">
                          <a:solidFill>
                            <a:srgbClr val="000000"/>
                          </a:solidFill>
                          <a:effectLst/>
                          <a:latin typeface="Aptos Narrow" panose="020B0004020202020204" pitchFamily="34" charset="0"/>
                        </a:rPr>
                        <a:t>Kids cottage, new generation</a:t>
                      </a:r>
                    </a:p>
                  </a:txBody>
                  <a:tcPr marL="6350" marR="6350" marT="6350" marB="0" anchor="b">
                    <a:lnL>
                      <a:noFill/>
                    </a:lnL>
                    <a:lnR>
                      <a:noFill/>
                    </a:lnR>
                    <a:lnT>
                      <a:noFill/>
                    </a:lnT>
                    <a:lnB>
                      <a:noFill/>
                    </a:lnB>
                    <a:noFill/>
                  </a:tcPr>
                </a:tc>
                <a:tc>
                  <a:txBody>
                    <a:bodyPr/>
                    <a:lstStyle/>
                    <a:p>
                      <a:pPr algn="r" fontAlgn="b">
                        <a:buNone/>
                      </a:pPr>
                      <a:r>
                        <a:rPr lang="fr-FR" sz="900" b="0" i="0" u="none" strike="noStrike">
                          <a:solidFill>
                            <a:srgbClr val="000000"/>
                          </a:solidFill>
                          <a:effectLst/>
                          <a:latin typeface="Aptos Narrow" panose="020B0004020202020204" pitchFamily="34" charset="0"/>
                        </a:rPr>
                        <a:t>36,4</a:t>
                      </a:r>
                    </a:p>
                  </a:txBody>
                  <a:tcPr marL="6350" marR="6350" marT="6350" marB="0" anchor="b">
                    <a:lnL>
                      <a:noFill/>
                    </a:lnL>
                    <a:lnR>
                      <a:noFill/>
                    </a:lnR>
                    <a:lnT>
                      <a:noFill/>
                    </a:lnT>
                    <a:lnB>
                      <a:noFill/>
                    </a:lnB>
                    <a:solidFill>
                      <a:srgbClr val="EDE683"/>
                    </a:solidFill>
                  </a:tcPr>
                </a:tc>
                <a:tc>
                  <a:txBody>
                    <a:bodyPr/>
                    <a:lstStyle/>
                    <a:p>
                      <a:pPr algn="r" fontAlgn="b">
                        <a:buNone/>
                      </a:pPr>
                      <a:r>
                        <a:rPr lang="fr-FR" sz="900" b="0" i="0" u="none" strike="noStrike">
                          <a:solidFill>
                            <a:srgbClr val="000000"/>
                          </a:solidFill>
                          <a:effectLst/>
                          <a:latin typeface="Aptos Narrow" panose="020B0004020202020204" pitchFamily="34" charset="0"/>
                        </a:rPr>
                        <a:t>31,7</a:t>
                      </a:r>
                    </a:p>
                  </a:txBody>
                  <a:tcPr marL="6350" marR="6350" marT="6350" marB="0" anchor="b">
                    <a:lnL>
                      <a:noFill/>
                    </a:lnL>
                    <a:lnR>
                      <a:noFill/>
                    </a:lnR>
                    <a:lnT>
                      <a:noFill/>
                    </a:lnT>
                    <a:lnB>
                      <a:noFill/>
                    </a:lnB>
                    <a:solidFill>
                      <a:srgbClr val="FEE983"/>
                    </a:solidFill>
                  </a:tcPr>
                </a:tc>
                <a:tc>
                  <a:txBody>
                    <a:bodyPr/>
                    <a:lstStyle/>
                    <a:p>
                      <a:pPr algn="r" fontAlgn="b">
                        <a:buNone/>
                      </a:pPr>
                      <a:r>
                        <a:rPr lang="fr-FR" sz="900" b="0" i="0" u="none" strike="noStrike">
                          <a:solidFill>
                            <a:srgbClr val="00B050"/>
                          </a:solidFill>
                          <a:effectLst/>
                          <a:latin typeface="Aptos Narrow" panose="020B0004020202020204" pitchFamily="34" charset="0"/>
                        </a:rPr>
                        <a:t>4,6</a:t>
                      </a:r>
                    </a:p>
                  </a:txBody>
                  <a:tcPr marL="6350" marR="6350" marT="6350" marB="0" anchor="b">
                    <a:lnL>
                      <a:noFill/>
                    </a:lnL>
                    <a:lnR>
                      <a:noFill/>
                    </a:lnR>
                    <a:lnT>
                      <a:noFill/>
                    </a:lnT>
                    <a:lnB>
                      <a:noFill/>
                    </a:lnB>
                    <a:noFill/>
                  </a:tcPr>
                </a:tc>
                <a:extLst>
                  <a:ext uri="{0D108BD9-81ED-4DB2-BD59-A6C34878D82A}">
                    <a16:rowId xmlns:a16="http://schemas.microsoft.com/office/drawing/2014/main" val="174376258"/>
                  </a:ext>
                </a:extLst>
              </a:tr>
              <a:tr h="106045">
                <a:tc>
                  <a:txBody>
                    <a:bodyPr/>
                    <a:lstStyle/>
                    <a:p>
                      <a:pPr algn="l" fontAlgn="b">
                        <a:buNone/>
                      </a:pPr>
                      <a:r>
                        <a:rPr lang="fr-FR" sz="900" b="0" i="0" u="none" strike="noStrike">
                          <a:solidFill>
                            <a:srgbClr val="000000"/>
                          </a:solidFill>
                          <a:effectLst/>
                          <a:latin typeface="Aptos Narrow" panose="020B0004020202020204" pitchFamily="34" charset="0"/>
                        </a:rPr>
                        <a:t>VIP cottage</a:t>
                      </a:r>
                    </a:p>
                  </a:txBody>
                  <a:tcPr marL="6350" marR="6350" marT="6350" marB="0" anchor="b">
                    <a:lnL>
                      <a:noFill/>
                    </a:lnL>
                    <a:lnR>
                      <a:noFill/>
                    </a:lnR>
                    <a:lnT>
                      <a:noFill/>
                    </a:lnT>
                    <a:lnB>
                      <a:noFill/>
                    </a:lnB>
                    <a:noFill/>
                  </a:tcPr>
                </a:tc>
                <a:tc>
                  <a:txBody>
                    <a:bodyPr/>
                    <a:lstStyle/>
                    <a:p>
                      <a:pPr algn="r" fontAlgn="b">
                        <a:buNone/>
                      </a:pPr>
                      <a:r>
                        <a:rPr lang="fr-FR" sz="900" b="0" i="0" u="none" strike="noStrike">
                          <a:solidFill>
                            <a:srgbClr val="000000"/>
                          </a:solidFill>
                          <a:effectLst/>
                          <a:latin typeface="Aptos Narrow" panose="020B0004020202020204" pitchFamily="34" charset="0"/>
                        </a:rPr>
                        <a:t>32,6</a:t>
                      </a:r>
                    </a:p>
                  </a:txBody>
                  <a:tcPr marL="6350" marR="6350" marT="6350" marB="0" anchor="b">
                    <a:lnL>
                      <a:noFill/>
                    </a:lnL>
                    <a:lnR>
                      <a:noFill/>
                    </a:lnR>
                    <a:lnT>
                      <a:noFill/>
                    </a:lnT>
                    <a:lnB>
                      <a:noFill/>
                    </a:lnB>
                    <a:solidFill>
                      <a:srgbClr val="FEEB84"/>
                    </a:solidFill>
                  </a:tcPr>
                </a:tc>
                <a:tc>
                  <a:txBody>
                    <a:bodyPr/>
                    <a:lstStyle/>
                    <a:p>
                      <a:pPr algn="r" fontAlgn="b">
                        <a:buNone/>
                      </a:pPr>
                      <a:r>
                        <a:rPr lang="fr-FR" sz="900" b="0" i="0" u="none" strike="noStrike">
                          <a:solidFill>
                            <a:srgbClr val="000000"/>
                          </a:solidFill>
                          <a:effectLst/>
                          <a:latin typeface="Aptos Narrow" panose="020B0004020202020204" pitchFamily="34" charset="0"/>
                        </a:rPr>
                        <a:t>27,0</a:t>
                      </a:r>
                    </a:p>
                  </a:txBody>
                  <a:tcPr marL="6350" marR="6350" marT="6350" marB="0" anchor="b">
                    <a:lnL>
                      <a:noFill/>
                    </a:lnL>
                    <a:lnR>
                      <a:noFill/>
                    </a:lnR>
                    <a:lnT>
                      <a:noFill/>
                    </a:lnT>
                    <a:lnB>
                      <a:noFill/>
                    </a:lnB>
                    <a:solidFill>
                      <a:srgbClr val="FEDC81"/>
                    </a:solidFill>
                  </a:tcPr>
                </a:tc>
                <a:tc>
                  <a:txBody>
                    <a:bodyPr/>
                    <a:lstStyle/>
                    <a:p>
                      <a:pPr algn="r" fontAlgn="b">
                        <a:buNone/>
                      </a:pPr>
                      <a:r>
                        <a:rPr lang="fr-FR" sz="900" b="0" i="0" u="none" strike="noStrike">
                          <a:solidFill>
                            <a:srgbClr val="00B050"/>
                          </a:solidFill>
                          <a:effectLst/>
                          <a:latin typeface="Aptos Narrow" panose="020B0004020202020204" pitchFamily="34" charset="0"/>
                        </a:rPr>
                        <a:t>5,6</a:t>
                      </a:r>
                    </a:p>
                  </a:txBody>
                  <a:tcPr marL="6350" marR="6350" marT="6350" marB="0" anchor="b">
                    <a:lnL>
                      <a:noFill/>
                    </a:lnL>
                    <a:lnR>
                      <a:noFill/>
                    </a:lnR>
                    <a:lnT>
                      <a:noFill/>
                    </a:lnT>
                    <a:lnB>
                      <a:noFill/>
                    </a:lnB>
                    <a:noFill/>
                  </a:tcPr>
                </a:tc>
                <a:extLst>
                  <a:ext uri="{0D108BD9-81ED-4DB2-BD59-A6C34878D82A}">
                    <a16:rowId xmlns:a16="http://schemas.microsoft.com/office/drawing/2014/main" val="2413839297"/>
                  </a:ext>
                </a:extLst>
              </a:tr>
              <a:tr h="106045">
                <a:tc>
                  <a:txBody>
                    <a:bodyPr/>
                    <a:lstStyle/>
                    <a:p>
                      <a:pPr algn="l" fontAlgn="b">
                        <a:buNone/>
                      </a:pPr>
                      <a:r>
                        <a:rPr lang="fr-FR" sz="900" b="0" i="0" u="none" strike="noStrike">
                          <a:solidFill>
                            <a:srgbClr val="000000"/>
                          </a:solidFill>
                          <a:effectLst/>
                          <a:latin typeface="Aptos Narrow" panose="020B0004020202020204" pitchFamily="34" charset="0"/>
                        </a:rPr>
                        <a:t>Premium cottage Wheelchair</a:t>
                      </a:r>
                    </a:p>
                  </a:txBody>
                  <a:tcPr marL="6350" marR="6350" marT="6350" marB="0" anchor="b">
                    <a:lnL>
                      <a:noFill/>
                    </a:lnL>
                    <a:lnR>
                      <a:noFill/>
                    </a:lnR>
                    <a:lnT>
                      <a:noFill/>
                    </a:lnT>
                    <a:lnB>
                      <a:noFill/>
                    </a:lnB>
                    <a:noFill/>
                  </a:tcPr>
                </a:tc>
                <a:tc>
                  <a:txBody>
                    <a:bodyPr/>
                    <a:lstStyle/>
                    <a:p>
                      <a:pPr algn="r" fontAlgn="b">
                        <a:buNone/>
                      </a:pPr>
                      <a:r>
                        <a:rPr lang="fr-FR" sz="900" b="0" i="0" u="none" strike="noStrike">
                          <a:solidFill>
                            <a:srgbClr val="000000"/>
                          </a:solidFill>
                          <a:effectLst/>
                          <a:latin typeface="Aptos Narrow" panose="020B0004020202020204" pitchFamily="34" charset="0"/>
                        </a:rPr>
                        <a:t>31,9</a:t>
                      </a:r>
                    </a:p>
                  </a:txBody>
                  <a:tcPr marL="6350" marR="6350" marT="6350" marB="0" anchor="b">
                    <a:lnL>
                      <a:noFill/>
                    </a:lnL>
                    <a:lnR>
                      <a:noFill/>
                    </a:lnR>
                    <a:lnT>
                      <a:noFill/>
                    </a:lnT>
                    <a:lnB>
                      <a:noFill/>
                    </a:lnB>
                    <a:solidFill>
                      <a:srgbClr val="FEE983"/>
                    </a:solidFill>
                  </a:tcPr>
                </a:tc>
                <a:tc>
                  <a:txBody>
                    <a:bodyPr/>
                    <a:lstStyle/>
                    <a:p>
                      <a:pPr algn="r" fontAlgn="b">
                        <a:buNone/>
                      </a:pPr>
                      <a:r>
                        <a:rPr lang="fr-FR" sz="900" b="0" i="0" u="none" strike="noStrike">
                          <a:solidFill>
                            <a:srgbClr val="000000"/>
                          </a:solidFill>
                          <a:effectLst/>
                          <a:latin typeface="Aptos Narrow" panose="020B0004020202020204" pitchFamily="34" charset="0"/>
                        </a:rPr>
                        <a:t>39,8</a:t>
                      </a:r>
                    </a:p>
                  </a:txBody>
                  <a:tcPr marL="6350" marR="6350" marT="6350" marB="0" anchor="b">
                    <a:lnL>
                      <a:noFill/>
                    </a:lnL>
                    <a:lnR>
                      <a:noFill/>
                    </a:lnR>
                    <a:lnT>
                      <a:noFill/>
                    </a:lnT>
                    <a:lnB>
                      <a:noFill/>
                    </a:lnB>
                    <a:solidFill>
                      <a:srgbClr val="DDE283"/>
                    </a:solidFill>
                  </a:tcPr>
                </a:tc>
                <a:tc>
                  <a:txBody>
                    <a:bodyPr/>
                    <a:lstStyle/>
                    <a:p>
                      <a:pPr algn="r" fontAlgn="b">
                        <a:buNone/>
                      </a:pPr>
                      <a:r>
                        <a:rPr lang="fr-FR" sz="900" b="0" i="0" u="none" strike="noStrike">
                          <a:solidFill>
                            <a:srgbClr val="FF0000"/>
                          </a:solidFill>
                          <a:effectLst/>
                          <a:latin typeface="Aptos Narrow" panose="020B0004020202020204" pitchFamily="34" charset="0"/>
                        </a:rPr>
                        <a:t>-7,9</a:t>
                      </a:r>
                    </a:p>
                  </a:txBody>
                  <a:tcPr marL="6350" marR="6350" marT="6350" marB="0" anchor="b">
                    <a:lnL>
                      <a:noFill/>
                    </a:lnL>
                    <a:lnR>
                      <a:noFill/>
                    </a:lnR>
                    <a:lnT>
                      <a:noFill/>
                    </a:lnT>
                    <a:lnB>
                      <a:noFill/>
                    </a:lnB>
                    <a:noFill/>
                  </a:tcPr>
                </a:tc>
                <a:extLst>
                  <a:ext uri="{0D108BD9-81ED-4DB2-BD59-A6C34878D82A}">
                    <a16:rowId xmlns:a16="http://schemas.microsoft.com/office/drawing/2014/main" val="1854856261"/>
                  </a:ext>
                </a:extLst>
              </a:tr>
              <a:tr h="106045">
                <a:tc>
                  <a:txBody>
                    <a:bodyPr/>
                    <a:lstStyle/>
                    <a:p>
                      <a:pPr algn="l" fontAlgn="b">
                        <a:buNone/>
                      </a:pPr>
                      <a:r>
                        <a:rPr lang="fr-FR" sz="900" b="0" i="0" u="none" strike="noStrike">
                          <a:solidFill>
                            <a:srgbClr val="000000"/>
                          </a:solidFill>
                          <a:effectLst/>
                          <a:latin typeface="Aptos Narrow" panose="020B0004020202020204" pitchFamily="34" charset="0"/>
                        </a:rPr>
                        <a:t>Premium cottage</a:t>
                      </a:r>
                    </a:p>
                  </a:txBody>
                  <a:tcPr marL="6350" marR="6350" marT="6350" marB="0" anchor="b">
                    <a:lnL>
                      <a:noFill/>
                    </a:lnL>
                    <a:lnR>
                      <a:noFill/>
                    </a:lnR>
                    <a:lnT>
                      <a:noFill/>
                    </a:lnT>
                    <a:lnB>
                      <a:noFill/>
                    </a:lnB>
                    <a:noFill/>
                  </a:tcPr>
                </a:tc>
                <a:tc>
                  <a:txBody>
                    <a:bodyPr/>
                    <a:lstStyle/>
                    <a:p>
                      <a:pPr algn="r" fontAlgn="b">
                        <a:buNone/>
                      </a:pPr>
                      <a:r>
                        <a:rPr lang="fr-FR" sz="900" b="0" i="0" u="none" strike="noStrike">
                          <a:solidFill>
                            <a:srgbClr val="000000"/>
                          </a:solidFill>
                          <a:effectLst/>
                          <a:latin typeface="Aptos Narrow" panose="020B0004020202020204" pitchFamily="34" charset="0"/>
                        </a:rPr>
                        <a:t>26,8</a:t>
                      </a:r>
                    </a:p>
                  </a:txBody>
                  <a:tcPr marL="6350" marR="6350" marT="6350" marB="0" anchor="b">
                    <a:lnL>
                      <a:noFill/>
                    </a:lnL>
                    <a:lnR>
                      <a:noFill/>
                    </a:lnR>
                    <a:lnT>
                      <a:noFill/>
                    </a:lnT>
                    <a:lnB>
                      <a:noFill/>
                    </a:lnB>
                    <a:solidFill>
                      <a:srgbClr val="FEDC81"/>
                    </a:solidFill>
                  </a:tcPr>
                </a:tc>
                <a:tc>
                  <a:txBody>
                    <a:bodyPr/>
                    <a:lstStyle/>
                    <a:p>
                      <a:pPr algn="r" fontAlgn="b">
                        <a:buNone/>
                      </a:pPr>
                      <a:r>
                        <a:rPr lang="fr-FR" sz="900" b="0" i="0" u="none" strike="noStrike">
                          <a:solidFill>
                            <a:srgbClr val="000000"/>
                          </a:solidFill>
                          <a:effectLst/>
                          <a:latin typeface="Aptos Narrow" panose="020B0004020202020204" pitchFamily="34" charset="0"/>
                        </a:rPr>
                        <a:t>20,5</a:t>
                      </a:r>
                    </a:p>
                  </a:txBody>
                  <a:tcPr marL="6350" marR="6350" marT="6350" marB="0" anchor="b">
                    <a:lnL>
                      <a:noFill/>
                    </a:lnL>
                    <a:lnR>
                      <a:noFill/>
                    </a:lnR>
                    <a:lnT>
                      <a:noFill/>
                    </a:lnT>
                    <a:lnB>
                      <a:noFill/>
                    </a:lnB>
                    <a:solidFill>
                      <a:srgbClr val="FDCA7D"/>
                    </a:solidFill>
                  </a:tcPr>
                </a:tc>
                <a:tc>
                  <a:txBody>
                    <a:bodyPr/>
                    <a:lstStyle/>
                    <a:p>
                      <a:pPr algn="r" fontAlgn="b">
                        <a:buNone/>
                      </a:pPr>
                      <a:r>
                        <a:rPr lang="fr-FR" sz="900" b="0" i="0" u="none" strike="noStrike">
                          <a:solidFill>
                            <a:srgbClr val="00B050"/>
                          </a:solidFill>
                          <a:effectLst/>
                          <a:latin typeface="Aptos Narrow" panose="020B0004020202020204" pitchFamily="34" charset="0"/>
                        </a:rPr>
                        <a:t>6,3</a:t>
                      </a:r>
                    </a:p>
                  </a:txBody>
                  <a:tcPr marL="6350" marR="6350" marT="6350" marB="0" anchor="b">
                    <a:lnL>
                      <a:noFill/>
                    </a:lnL>
                    <a:lnR>
                      <a:noFill/>
                    </a:lnR>
                    <a:lnT>
                      <a:noFill/>
                    </a:lnT>
                    <a:lnB>
                      <a:noFill/>
                    </a:lnB>
                    <a:noFill/>
                  </a:tcPr>
                </a:tc>
                <a:extLst>
                  <a:ext uri="{0D108BD9-81ED-4DB2-BD59-A6C34878D82A}">
                    <a16:rowId xmlns:a16="http://schemas.microsoft.com/office/drawing/2014/main" val="2628314019"/>
                  </a:ext>
                </a:extLst>
              </a:tr>
              <a:tr h="106045">
                <a:tc>
                  <a:txBody>
                    <a:bodyPr/>
                    <a:lstStyle/>
                    <a:p>
                      <a:pPr algn="l" fontAlgn="b">
                        <a:buNone/>
                      </a:pPr>
                      <a:r>
                        <a:rPr lang="fr-FR" sz="900" b="0" i="0" u="none" strike="noStrike">
                          <a:solidFill>
                            <a:srgbClr val="000000"/>
                          </a:solidFill>
                          <a:effectLst/>
                          <a:latin typeface="Aptos Narrow" panose="020B0004020202020204" pitchFamily="34" charset="0"/>
                        </a:rPr>
                        <a:t>Comfort cottage</a:t>
                      </a:r>
                    </a:p>
                  </a:txBody>
                  <a:tcPr marL="6350" marR="6350" marT="6350" marB="0" anchor="b">
                    <a:lnL>
                      <a:noFill/>
                    </a:lnL>
                    <a:lnR>
                      <a:noFill/>
                    </a:lnR>
                    <a:lnT>
                      <a:noFill/>
                    </a:lnT>
                    <a:lnB>
                      <a:noFill/>
                    </a:lnB>
                    <a:noFill/>
                  </a:tcPr>
                </a:tc>
                <a:tc>
                  <a:txBody>
                    <a:bodyPr/>
                    <a:lstStyle/>
                    <a:p>
                      <a:pPr algn="r" fontAlgn="b">
                        <a:buNone/>
                      </a:pPr>
                      <a:r>
                        <a:rPr lang="fr-FR" sz="900" b="0" i="0" u="none" strike="noStrike">
                          <a:solidFill>
                            <a:srgbClr val="000000"/>
                          </a:solidFill>
                          <a:effectLst/>
                          <a:latin typeface="Aptos Narrow" panose="020B0004020202020204" pitchFamily="34" charset="0"/>
                        </a:rPr>
                        <a:t>25,1</a:t>
                      </a:r>
                    </a:p>
                  </a:txBody>
                  <a:tcPr marL="6350" marR="6350" marT="6350" marB="0" anchor="b">
                    <a:lnL>
                      <a:noFill/>
                    </a:lnL>
                    <a:lnR>
                      <a:noFill/>
                    </a:lnR>
                    <a:lnT>
                      <a:noFill/>
                    </a:lnT>
                    <a:lnB>
                      <a:noFill/>
                    </a:lnB>
                    <a:solidFill>
                      <a:srgbClr val="FDD780"/>
                    </a:solidFill>
                  </a:tcPr>
                </a:tc>
                <a:tc>
                  <a:txBody>
                    <a:bodyPr/>
                    <a:lstStyle/>
                    <a:p>
                      <a:pPr algn="r" fontAlgn="b">
                        <a:buNone/>
                      </a:pPr>
                      <a:r>
                        <a:rPr lang="fr-FR" sz="900" b="0" i="0" u="none" strike="noStrike">
                          <a:solidFill>
                            <a:srgbClr val="000000"/>
                          </a:solidFill>
                          <a:effectLst/>
                          <a:latin typeface="Aptos Narrow" panose="020B0004020202020204" pitchFamily="34" charset="0"/>
                        </a:rPr>
                        <a:t>20,9</a:t>
                      </a:r>
                    </a:p>
                  </a:txBody>
                  <a:tcPr marL="6350" marR="6350" marT="6350" marB="0" anchor="b">
                    <a:lnL>
                      <a:noFill/>
                    </a:lnL>
                    <a:lnR>
                      <a:noFill/>
                    </a:lnR>
                    <a:lnT>
                      <a:noFill/>
                    </a:lnT>
                    <a:lnB>
                      <a:noFill/>
                    </a:lnB>
                    <a:solidFill>
                      <a:srgbClr val="FDCB7E"/>
                    </a:solidFill>
                  </a:tcPr>
                </a:tc>
                <a:tc>
                  <a:txBody>
                    <a:bodyPr/>
                    <a:lstStyle/>
                    <a:p>
                      <a:pPr algn="r" fontAlgn="b">
                        <a:buNone/>
                      </a:pPr>
                      <a:r>
                        <a:rPr lang="fr-FR" sz="900" b="0" i="0" u="none" strike="noStrike">
                          <a:solidFill>
                            <a:srgbClr val="00B050"/>
                          </a:solidFill>
                          <a:effectLst/>
                          <a:latin typeface="Aptos Narrow" panose="020B0004020202020204" pitchFamily="34" charset="0"/>
                        </a:rPr>
                        <a:t>4,3</a:t>
                      </a:r>
                    </a:p>
                  </a:txBody>
                  <a:tcPr marL="6350" marR="6350" marT="6350" marB="0" anchor="b">
                    <a:lnL>
                      <a:noFill/>
                    </a:lnL>
                    <a:lnR>
                      <a:noFill/>
                    </a:lnR>
                    <a:lnT>
                      <a:noFill/>
                    </a:lnT>
                    <a:lnB>
                      <a:noFill/>
                    </a:lnB>
                    <a:noFill/>
                  </a:tcPr>
                </a:tc>
                <a:extLst>
                  <a:ext uri="{0D108BD9-81ED-4DB2-BD59-A6C34878D82A}">
                    <a16:rowId xmlns:a16="http://schemas.microsoft.com/office/drawing/2014/main" val="4234793768"/>
                  </a:ext>
                </a:extLst>
              </a:tr>
              <a:tr h="106045">
                <a:tc>
                  <a:txBody>
                    <a:bodyPr/>
                    <a:lstStyle/>
                    <a:p>
                      <a:pPr algn="l" fontAlgn="b">
                        <a:buNone/>
                      </a:pPr>
                      <a:r>
                        <a:rPr lang="fr-FR" sz="900" b="1" i="0" u="none" strike="noStrike">
                          <a:solidFill>
                            <a:srgbClr val="000000"/>
                          </a:solidFill>
                          <a:effectLst/>
                          <a:latin typeface="Aptos Narrow" panose="020B0004020202020204" pitchFamily="34" charset="0"/>
                        </a:rPr>
                        <a:t>Total</a:t>
                      </a:r>
                    </a:p>
                  </a:txBody>
                  <a:tcPr marL="6350" marR="6350" marT="6350" marB="0" anchor="b">
                    <a:lnL>
                      <a:noFill/>
                    </a:lnL>
                    <a:lnR>
                      <a:noFill/>
                    </a:lnR>
                    <a:lnT>
                      <a:noFill/>
                    </a:lnT>
                    <a:lnB>
                      <a:noFill/>
                    </a:lnB>
                    <a:noFill/>
                  </a:tcPr>
                </a:tc>
                <a:tc>
                  <a:txBody>
                    <a:bodyPr/>
                    <a:lstStyle/>
                    <a:p>
                      <a:pPr algn="r" fontAlgn="b">
                        <a:buNone/>
                      </a:pPr>
                      <a:r>
                        <a:rPr lang="fr-FR" sz="900" b="1" i="0" u="none" strike="noStrike">
                          <a:solidFill>
                            <a:srgbClr val="000000"/>
                          </a:solidFill>
                          <a:effectLst/>
                          <a:latin typeface="Aptos Narrow" panose="020B0004020202020204" pitchFamily="34" charset="0"/>
                        </a:rPr>
                        <a:t>21,7</a:t>
                      </a:r>
                    </a:p>
                  </a:txBody>
                  <a:tcPr marL="6350" marR="6350" marT="6350" marB="0" anchor="b">
                    <a:lnL>
                      <a:noFill/>
                    </a:lnL>
                    <a:lnR>
                      <a:noFill/>
                    </a:lnR>
                    <a:lnT>
                      <a:noFill/>
                    </a:lnT>
                    <a:lnB>
                      <a:noFill/>
                    </a:lnB>
                    <a:solidFill>
                      <a:srgbClr val="FDCE7E"/>
                    </a:solidFill>
                  </a:tcPr>
                </a:tc>
                <a:tc>
                  <a:txBody>
                    <a:bodyPr/>
                    <a:lstStyle/>
                    <a:p>
                      <a:pPr algn="r" fontAlgn="b">
                        <a:buNone/>
                      </a:pPr>
                      <a:r>
                        <a:rPr lang="fr-FR" sz="900" b="1" i="0" u="none" strike="noStrike">
                          <a:solidFill>
                            <a:srgbClr val="000000"/>
                          </a:solidFill>
                          <a:effectLst/>
                          <a:latin typeface="Aptos Narrow" panose="020B0004020202020204" pitchFamily="34" charset="0"/>
                        </a:rPr>
                        <a:t>18,0</a:t>
                      </a:r>
                    </a:p>
                  </a:txBody>
                  <a:tcPr marL="6350" marR="6350" marT="6350" marB="0" anchor="b">
                    <a:lnL>
                      <a:noFill/>
                    </a:lnL>
                    <a:lnR>
                      <a:noFill/>
                    </a:lnR>
                    <a:lnT>
                      <a:noFill/>
                    </a:lnT>
                    <a:lnB>
                      <a:noFill/>
                    </a:lnB>
                    <a:solidFill>
                      <a:srgbClr val="FCC47C"/>
                    </a:solidFill>
                  </a:tcPr>
                </a:tc>
                <a:tc>
                  <a:txBody>
                    <a:bodyPr/>
                    <a:lstStyle/>
                    <a:p>
                      <a:pPr algn="r" fontAlgn="b">
                        <a:buNone/>
                      </a:pPr>
                      <a:r>
                        <a:rPr lang="fr-FR" sz="900" b="1" i="0" u="none" strike="noStrike">
                          <a:solidFill>
                            <a:srgbClr val="00B050"/>
                          </a:solidFill>
                          <a:effectLst/>
                          <a:latin typeface="Aptos Narrow" panose="020B0004020202020204" pitchFamily="34" charset="0"/>
                        </a:rPr>
                        <a:t>3,7</a:t>
                      </a:r>
                    </a:p>
                  </a:txBody>
                  <a:tcPr marL="6350" marR="6350" marT="6350" marB="0" anchor="b">
                    <a:lnL>
                      <a:noFill/>
                    </a:lnL>
                    <a:lnR>
                      <a:noFill/>
                    </a:lnR>
                    <a:lnT>
                      <a:noFill/>
                    </a:lnT>
                    <a:lnB>
                      <a:noFill/>
                    </a:lnB>
                    <a:noFill/>
                  </a:tcPr>
                </a:tc>
                <a:extLst>
                  <a:ext uri="{0D108BD9-81ED-4DB2-BD59-A6C34878D82A}">
                    <a16:rowId xmlns:a16="http://schemas.microsoft.com/office/drawing/2014/main" val="1804687748"/>
                  </a:ext>
                </a:extLst>
              </a:tr>
              <a:tr h="106045">
                <a:tc>
                  <a:txBody>
                    <a:bodyPr/>
                    <a:lstStyle/>
                    <a:p>
                      <a:pPr algn="l" fontAlgn="b">
                        <a:buNone/>
                      </a:pPr>
                      <a:r>
                        <a:rPr lang="fr-FR" sz="900" b="0" i="0" u="none" strike="noStrike">
                          <a:solidFill>
                            <a:srgbClr val="000000"/>
                          </a:solidFill>
                          <a:effectLst/>
                          <a:latin typeface="Aptos Narrow" panose="020B0004020202020204" pitchFamily="34" charset="0"/>
                        </a:rPr>
                        <a:t>Hotelroom</a:t>
                      </a:r>
                    </a:p>
                  </a:txBody>
                  <a:tcPr marL="6350" marR="6350" marT="6350" marB="0" anchor="b">
                    <a:lnL>
                      <a:noFill/>
                    </a:lnL>
                    <a:lnR>
                      <a:noFill/>
                    </a:lnR>
                    <a:lnT>
                      <a:noFill/>
                    </a:lnT>
                    <a:lnB>
                      <a:noFill/>
                    </a:lnB>
                    <a:noFill/>
                  </a:tcPr>
                </a:tc>
                <a:tc>
                  <a:txBody>
                    <a:bodyPr/>
                    <a:lstStyle/>
                    <a:p>
                      <a:pPr algn="r" fontAlgn="b">
                        <a:buNone/>
                      </a:pPr>
                      <a:r>
                        <a:rPr lang="fr-FR" sz="900" b="0" i="0" u="none" strike="noStrike">
                          <a:solidFill>
                            <a:srgbClr val="000000"/>
                          </a:solidFill>
                          <a:effectLst/>
                          <a:latin typeface="Aptos Narrow" panose="020B0004020202020204" pitchFamily="34" charset="0"/>
                        </a:rPr>
                        <a:t>19,7</a:t>
                      </a:r>
                    </a:p>
                  </a:txBody>
                  <a:tcPr marL="6350" marR="6350" marT="6350" marB="0" anchor="b">
                    <a:lnL>
                      <a:noFill/>
                    </a:lnL>
                    <a:lnR>
                      <a:noFill/>
                    </a:lnR>
                    <a:lnT>
                      <a:noFill/>
                    </a:lnT>
                    <a:lnB>
                      <a:noFill/>
                    </a:lnB>
                    <a:solidFill>
                      <a:srgbClr val="FDC87D"/>
                    </a:solidFill>
                  </a:tcPr>
                </a:tc>
                <a:tc>
                  <a:txBody>
                    <a:bodyPr/>
                    <a:lstStyle/>
                    <a:p>
                      <a:pPr algn="r" fontAlgn="b">
                        <a:buNone/>
                      </a:pPr>
                      <a:r>
                        <a:rPr lang="fr-FR" sz="900" b="0" i="0" u="none" strike="noStrike">
                          <a:solidFill>
                            <a:srgbClr val="000000"/>
                          </a:solidFill>
                          <a:effectLst/>
                          <a:latin typeface="Aptos Narrow" panose="020B0004020202020204" pitchFamily="34" charset="0"/>
                        </a:rPr>
                        <a:t>17,7</a:t>
                      </a:r>
                    </a:p>
                  </a:txBody>
                  <a:tcPr marL="6350" marR="6350" marT="6350" marB="0" anchor="b">
                    <a:lnL>
                      <a:noFill/>
                    </a:lnL>
                    <a:lnR>
                      <a:noFill/>
                    </a:lnR>
                    <a:lnT>
                      <a:noFill/>
                    </a:lnT>
                    <a:lnB>
                      <a:noFill/>
                    </a:lnB>
                    <a:solidFill>
                      <a:srgbClr val="FCC37C"/>
                    </a:solidFill>
                  </a:tcPr>
                </a:tc>
                <a:tc>
                  <a:txBody>
                    <a:bodyPr/>
                    <a:lstStyle/>
                    <a:p>
                      <a:pPr algn="r" fontAlgn="b">
                        <a:buNone/>
                      </a:pPr>
                      <a:r>
                        <a:rPr lang="fr-FR" sz="900" b="0" i="0" u="none" strike="noStrike">
                          <a:solidFill>
                            <a:srgbClr val="00B050"/>
                          </a:solidFill>
                          <a:effectLst/>
                          <a:latin typeface="Aptos Narrow" panose="020B0004020202020204" pitchFamily="34" charset="0"/>
                        </a:rPr>
                        <a:t>2,0</a:t>
                      </a:r>
                    </a:p>
                  </a:txBody>
                  <a:tcPr marL="6350" marR="6350" marT="6350" marB="0" anchor="b">
                    <a:lnL>
                      <a:noFill/>
                    </a:lnL>
                    <a:lnR>
                      <a:noFill/>
                    </a:lnR>
                    <a:lnT>
                      <a:noFill/>
                    </a:lnT>
                    <a:lnB>
                      <a:noFill/>
                    </a:lnB>
                    <a:noFill/>
                  </a:tcPr>
                </a:tc>
                <a:extLst>
                  <a:ext uri="{0D108BD9-81ED-4DB2-BD59-A6C34878D82A}">
                    <a16:rowId xmlns:a16="http://schemas.microsoft.com/office/drawing/2014/main" val="2071764993"/>
                  </a:ext>
                </a:extLst>
              </a:tr>
              <a:tr h="106045">
                <a:tc>
                  <a:txBody>
                    <a:bodyPr/>
                    <a:lstStyle/>
                    <a:p>
                      <a:pPr algn="l" fontAlgn="b">
                        <a:buNone/>
                      </a:pPr>
                      <a:r>
                        <a:rPr lang="fr-FR" sz="900" b="0" i="0" u="none" strike="noStrike">
                          <a:solidFill>
                            <a:srgbClr val="000000"/>
                          </a:solidFill>
                          <a:effectLst/>
                          <a:latin typeface="Aptos Narrow" panose="020B0004020202020204" pitchFamily="34" charset="0"/>
                        </a:rPr>
                        <a:t>Exclusive</a:t>
                      </a:r>
                    </a:p>
                  </a:txBody>
                  <a:tcPr marL="6350" marR="6350" marT="6350" marB="0" anchor="b">
                    <a:lnL>
                      <a:noFill/>
                    </a:lnL>
                    <a:lnR>
                      <a:noFill/>
                    </a:lnR>
                    <a:lnT>
                      <a:noFill/>
                    </a:lnT>
                    <a:lnB>
                      <a:noFill/>
                    </a:lnB>
                    <a:noFill/>
                  </a:tcPr>
                </a:tc>
                <a:tc>
                  <a:txBody>
                    <a:bodyPr/>
                    <a:lstStyle/>
                    <a:p>
                      <a:pPr algn="r" fontAlgn="b">
                        <a:buNone/>
                      </a:pPr>
                      <a:r>
                        <a:rPr lang="fr-FR" sz="900" b="0" i="0" u="none" strike="noStrike">
                          <a:solidFill>
                            <a:srgbClr val="000000"/>
                          </a:solidFill>
                          <a:effectLst/>
                          <a:latin typeface="Aptos Narrow" panose="020B0004020202020204" pitchFamily="34" charset="0"/>
                        </a:rPr>
                        <a:t>-4,0</a:t>
                      </a:r>
                    </a:p>
                  </a:txBody>
                  <a:tcPr marL="6350" marR="6350" marT="6350" marB="0" anchor="b">
                    <a:lnL>
                      <a:noFill/>
                    </a:lnL>
                    <a:lnR>
                      <a:noFill/>
                    </a:lnR>
                    <a:lnT>
                      <a:noFill/>
                    </a:lnT>
                    <a:lnB>
                      <a:noFill/>
                    </a:lnB>
                    <a:solidFill>
                      <a:srgbClr val="F98870"/>
                    </a:solidFill>
                  </a:tcPr>
                </a:tc>
                <a:tc>
                  <a:txBody>
                    <a:bodyPr/>
                    <a:lstStyle/>
                    <a:p>
                      <a:pPr algn="r" fontAlgn="b">
                        <a:buNone/>
                      </a:pPr>
                      <a:r>
                        <a:rPr lang="fr-FR" sz="900" b="0" i="0" u="none" strike="noStrike">
                          <a:solidFill>
                            <a:srgbClr val="000000"/>
                          </a:solidFill>
                          <a:effectLst/>
                          <a:latin typeface="Aptos Narrow" panose="020B0004020202020204" pitchFamily="34" charset="0"/>
                        </a:rPr>
                        <a:t>-2,2</a:t>
                      </a:r>
                    </a:p>
                  </a:txBody>
                  <a:tcPr marL="6350" marR="6350" marT="6350" marB="0" anchor="b">
                    <a:lnL>
                      <a:noFill/>
                    </a:lnL>
                    <a:lnR>
                      <a:noFill/>
                    </a:lnR>
                    <a:lnT>
                      <a:noFill/>
                    </a:lnT>
                    <a:lnB>
                      <a:noFill/>
                    </a:lnB>
                    <a:solidFill>
                      <a:srgbClr val="F98C71"/>
                    </a:solidFill>
                  </a:tcPr>
                </a:tc>
                <a:tc>
                  <a:txBody>
                    <a:bodyPr/>
                    <a:lstStyle/>
                    <a:p>
                      <a:pPr algn="r" fontAlgn="b">
                        <a:buNone/>
                      </a:pPr>
                      <a:r>
                        <a:rPr lang="fr-FR" sz="900" b="0" i="0" u="none" strike="noStrike">
                          <a:solidFill>
                            <a:srgbClr val="FF0000"/>
                          </a:solidFill>
                          <a:effectLst/>
                          <a:latin typeface="Aptos Narrow" panose="020B0004020202020204" pitchFamily="34" charset="0"/>
                        </a:rPr>
                        <a:t>-1,8</a:t>
                      </a:r>
                    </a:p>
                  </a:txBody>
                  <a:tcPr marL="6350" marR="6350" marT="6350" marB="0" anchor="b">
                    <a:lnL>
                      <a:noFill/>
                    </a:lnL>
                    <a:lnR>
                      <a:noFill/>
                    </a:lnR>
                    <a:lnT>
                      <a:noFill/>
                    </a:lnT>
                    <a:lnB>
                      <a:noFill/>
                    </a:lnB>
                    <a:noFill/>
                  </a:tcPr>
                </a:tc>
                <a:extLst>
                  <a:ext uri="{0D108BD9-81ED-4DB2-BD59-A6C34878D82A}">
                    <a16:rowId xmlns:a16="http://schemas.microsoft.com/office/drawing/2014/main" val="2557431557"/>
                  </a:ext>
                </a:extLst>
              </a:tr>
              <a:tr h="106045">
                <a:tc>
                  <a:txBody>
                    <a:bodyPr/>
                    <a:lstStyle/>
                    <a:p>
                      <a:pPr algn="l" fontAlgn="b">
                        <a:buNone/>
                      </a:pPr>
                      <a:r>
                        <a:rPr lang="fr-FR" sz="900" b="0" i="0" u="none" strike="noStrike">
                          <a:solidFill>
                            <a:srgbClr val="000000"/>
                          </a:solidFill>
                          <a:effectLst/>
                          <a:latin typeface="Aptos Narrow" panose="020B0004020202020204" pitchFamily="34" charset="0"/>
                        </a:rPr>
                        <a:t>Select</a:t>
                      </a:r>
                    </a:p>
                  </a:txBody>
                  <a:tcPr marL="6350" marR="6350" marT="6350" marB="0" anchor="b">
                    <a:lnL>
                      <a:noFill/>
                    </a:lnL>
                    <a:lnR>
                      <a:noFill/>
                    </a:lnR>
                    <a:lnT>
                      <a:noFill/>
                    </a:lnT>
                    <a:lnB>
                      <a:noFill/>
                    </a:lnB>
                    <a:noFill/>
                  </a:tcPr>
                </a:tc>
                <a:tc>
                  <a:txBody>
                    <a:bodyPr/>
                    <a:lstStyle/>
                    <a:p>
                      <a:pPr algn="r" fontAlgn="b">
                        <a:buNone/>
                      </a:pPr>
                      <a:r>
                        <a:rPr lang="fr-FR" sz="900" b="0" i="0" u="none" strike="noStrike">
                          <a:solidFill>
                            <a:srgbClr val="000000"/>
                          </a:solidFill>
                          <a:effectLst/>
                          <a:latin typeface="Aptos Narrow" panose="020B0004020202020204" pitchFamily="34" charset="0"/>
                        </a:rPr>
                        <a:t>-15,4</a:t>
                      </a:r>
                    </a:p>
                  </a:txBody>
                  <a:tcPr marL="6350" marR="6350" marT="6350" marB="0" anchor="b">
                    <a:lnL>
                      <a:noFill/>
                    </a:lnL>
                    <a:lnR>
                      <a:noFill/>
                    </a:lnR>
                    <a:lnT>
                      <a:noFill/>
                    </a:lnT>
                    <a:lnB>
                      <a:noFill/>
                    </a:lnB>
                    <a:solidFill>
                      <a:srgbClr val="F8696B"/>
                    </a:solidFill>
                  </a:tcPr>
                </a:tc>
                <a:tc>
                  <a:txBody>
                    <a:bodyPr/>
                    <a:lstStyle/>
                    <a:p>
                      <a:pPr algn="r" fontAlgn="b">
                        <a:buNone/>
                      </a:pPr>
                      <a:r>
                        <a:rPr lang="fr-FR" sz="900" b="0" i="0" u="none" strike="noStrike">
                          <a:solidFill>
                            <a:srgbClr val="000000"/>
                          </a:solidFill>
                          <a:effectLst/>
                          <a:latin typeface="Aptos Narrow" panose="020B0004020202020204" pitchFamily="34" charset="0"/>
                        </a:rPr>
                        <a:t>-14,2</a:t>
                      </a:r>
                    </a:p>
                  </a:txBody>
                  <a:tcPr marL="6350" marR="6350" marT="6350" marB="0" anchor="b">
                    <a:lnL>
                      <a:noFill/>
                    </a:lnL>
                    <a:lnR>
                      <a:noFill/>
                    </a:lnR>
                    <a:lnT>
                      <a:noFill/>
                    </a:lnT>
                    <a:lnB>
                      <a:noFill/>
                    </a:lnB>
                    <a:solidFill>
                      <a:srgbClr val="F86C6B"/>
                    </a:solidFill>
                  </a:tcPr>
                </a:tc>
                <a:tc>
                  <a:txBody>
                    <a:bodyPr/>
                    <a:lstStyle/>
                    <a:p>
                      <a:pPr algn="r" fontAlgn="b">
                        <a:buNone/>
                      </a:pPr>
                      <a:r>
                        <a:rPr lang="fr-FR" sz="900" b="0" i="0" u="none" strike="noStrike">
                          <a:solidFill>
                            <a:srgbClr val="FF0000"/>
                          </a:solidFill>
                          <a:effectLst/>
                          <a:latin typeface="Aptos Narrow" panose="020B0004020202020204" pitchFamily="34" charset="0"/>
                        </a:rPr>
                        <a:t>-1,2</a:t>
                      </a:r>
                    </a:p>
                  </a:txBody>
                  <a:tcPr marL="6350" marR="6350" marT="6350" marB="0" anchor="b">
                    <a:lnL>
                      <a:noFill/>
                    </a:lnL>
                    <a:lnR>
                      <a:noFill/>
                    </a:lnR>
                    <a:lnT>
                      <a:noFill/>
                    </a:lnT>
                    <a:lnB>
                      <a:noFill/>
                    </a:lnB>
                    <a:noFill/>
                  </a:tcPr>
                </a:tc>
                <a:extLst>
                  <a:ext uri="{0D108BD9-81ED-4DB2-BD59-A6C34878D82A}">
                    <a16:rowId xmlns:a16="http://schemas.microsoft.com/office/drawing/2014/main" val="3365846164"/>
                  </a:ext>
                </a:extLst>
              </a:tr>
            </a:tbl>
          </a:graphicData>
        </a:graphic>
      </p:graphicFrame>
      <p:graphicFrame>
        <p:nvGraphicFramePr>
          <p:cNvPr id="22" name="Table 21">
            <a:extLst>
              <a:ext uri="{FF2B5EF4-FFF2-40B4-BE49-F238E27FC236}">
                <a16:creationId xmlns:a16="http://schemas.microsoft.com/office/drawing/2014/main" id="{D0B693A3-9545-4899-AB5A-6B4EBE011564}"/>
              </a:ext>
            </a:extLst>
          </p:cNvPr>
          <p:cNvGraphicFramePr>
            <a:graphicFrameLocks noGrp="1"/>
          </p:cNvGraphicFramePr>
          <p:nvPr>
            <p:extLst>
              <p:ext uri="{D42A27DB-BD31-4B8C-83A1-F6EECF244321}">
                <p14:modId xmlns:p14="http://schemas.microsoft.com/office/powerpoint/2010/main" val="914067678"/>
              </p:ext>
            </p:extLst>
          </p:nvPr>
        </p:nvGraphicFramePr>
        <p:xfrm>
          <a:off x="210895" y="2829482"/>
          <a:ext cx="3103805" cy="1148080"/>
        </p:xfrm>
        <a:graphic>
          <a:graphicData uri="http://schemas.openxmlformats.org/drawingml/2006/table">
            <a:tbl>
              <a:tblPr/>
              <a:tblGrid>
                <a:gridCol w="1875926">
                  <a:extLst>
                    <a:ext uri="{9D8B030D-6E8A-4147-A177-3AD203B41FA5}">
                      <a16:colId xmlns:a16="http://schemas.microsoft.com/office/drawing/2014/main" val="2828696994"/>
                    </a:ext>
                  </a:extLst>
                </a:gridCol>
                <a:gridCol w="409293">
                  <a:extLst>
                    <a:ext uri="{9D8B030D-6E8A-4147-A177-3AD203B41FA5}">
                      <a16:colId xmlns:a16="http://schemas.microsoft.com/office/drawing/2014/main" val="1481694505"/>
                    </a:ext>
                  </a:extLst>
                </a:gridCol>
                <a:gridCol w="409293">
                  <a:extLst>
                    <a:ext uri="{9D8B030D-6E8A-4147-A177-3AD203B41FA5}">
                      <a16:colId xmlns:a16="http://schemas.microsoft.com/office/drawing/2014/main" val="4069544507"/>
                    </a:ext>
                  </a:extLst>
                </a:gridCol>
                <a:gridCol w="409293">
                  <a:extLst>
                    <a:ext uri="{9D8B030D-6E8A-4147-A177-3AD203B41FA5}">
                      <a16:colId xmlns:a16="http://schemas.microsoft.com/office/drawing/2014/main" val="2461942523"/>
                    </a:ext>
                  </a:extLst>
                </a:gridCol>
              </a:tblGrid>
              <a:tr h="121374">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90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900" b="1" i="0" u="none" strike="noStrike">
                          <a:solidFill>
                            <a:srgbClr val="000000"/>
                          </a:solidFill>
                          <a:effectLst/>
                          <a:latin typeface="Aptos Narrow" panose="020B0004020202020204" pitchFamily="34" charset="0"/>
                        </a:rPr>
                        <a:t>FY24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900" b="1" i="0" u="none" strike="noStrike">
                          <a:solidFill>
                            <a:srgbClr val="000000"/>
                          </a:solidFill>
                          <a:effectLst/>
                          <a:latin typeface="Aptos Narrow" panose="020B0004020202020204" pitchFamily="34" charset="0"/>
                        </a:rPr>
                        <a:t>Evol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19667036"/>
                  </a:ext>
                </a:extLst>
              </a:tr>
              <a:tr h="121374">
                <a:tc>
                  <a:txBody>
                    <a:bodyPr/>
                    <a:lstStyle/>
                    <a:p>
                      <a:pPr algn="l" fontAlgn="b">
                        <a:buNone/>
                      </a:pPr>
                      <a:r>
                        <a:rPr lang="fr-FR" sz="900" b="1" i="0" u="none" strike="noStrike">
                          <a:solidFill>
                            <a:srgbClr val="000000"/>
                          </a:solidFill>
                          <a:effectLst/>
                          <a:latin typeface="Aptos Narrow" panose="020B0004020202020204" pitchFamily="34" charset="0"/>
                        </a:rPr>
                        <a:t>De Vossemeren</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34,0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4E884"/>
                    </a:solidFill>
                  </a:tcPr>
                </a:tc>
                <a:tc>
                  <a:txBody>
                    <a:bodyPr/>
                    <a:lstStyle/>
                    <a:p>
                      <a:pPr algn="r" fontAlgn="b">
                        <a:buNone/>
                      </a:pPr>
                      <a:r>
                        <a:rPr lang="fr-FR" sz="900" b="1" i="0" u="none" strike="noStrike">
                          <a:solidFill>
                            <a:srgbClr val="000000"/>
                          </a:solidFill>
                          <a:effectLst/>
                          <a:latin typeface="Aptos Narrow" panose="020B0004020202020204" pitchFamily="34" charset="0"/>
                        </a:rPr>
                        <a:t>34,1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4E884"/>
                    </a:solidFill>
                  </a:tcPr>
                </a:tc>
                <a:tc>
                  <a:txBody>
                    <a:bodyPr/>
                    <a:lstStyle/>
                    <a:p>
                      <a:pPr algn="r" fontAlgn="b">
                        <a:buNone/>
                      </a:pPr>
                      <a:r>
                        <a:rPr lang="fr-FR" sz="900" b="1" i="0" u="none" strike="noStrike">
                          <a:solidFill>
                            <a:srgbClr val="FF0000"/>
                          </a:solidFill>
                          <a:effectLst/>
                          <a:latin typeface="Aptos Narrow" panose="020B0004020202020204" pitchFamily="34" charset="0"/>
                        </a:rPr>
                        <a:t>0,0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72000904"/>
                  </a:ext>
                </a:extLst>
              </a:tr>
              <a:tr h="121374">
                <a:tc>
                  <a:txBody>
                    <a:bodyPr/>
                    <a:lstStyle/>
                    <a:p>
                      <a:pPr algn="l" fontAlgn="b">
                        <a:buNone/>
                      </a:pPr>
                      <a:r>
                        <a:rPr lang="fr-FR" sz="900" b="0" i="0" u="none" strike="noStrike">
                          <a:solidFill>
                            <a:srgbClr val="000000"/>
                          </a:solidFill>
                          <a:effectLst/>
                          <a:latin typeface="Aptos Narrow" panose="020B0004020202020204" pitchFamily="34" charset="0"/>
                        </a:rPr>
                        <a:t> Comfort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32,9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EA84"/>
                    </a:solidFill>
                  </a:tcPr>
                </a:tc>
                <a:tc>
                  <a:txBody>
                    <a:bodyPr/>
                    <a:lstStyle/>
                    <a:p>
                      <a:pPr algn="r" fontAlgn="b">
                        <a:buNone/>
                      </a:pPr>
                      <a:r>
                        <a:rPr lang="fr-FR" sz="900" b="0" i="0" u="none" strike="noStrike">
                          <a:solidFill>
                            <a:srgbClr val="000000"/>
                          </a:solidFill>
                          <a:effectLst/>
                          <a:latin typeface="Aptos Narrow" panose="020B0004020202020204" pitchFamily="34" charset="0"/>
                        </a:rPr>
                        <a:t>33,8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6E984"/>
                    </a:solidFill>
                  </a:tcPr>
                </a:tc>
                <a:tc>
                  <a:txBody>
                    <a:bodyPr/>
                    <a:lstStyle/>
                    <a:p>
                      <a:pPr algn="r" fontAlgn="b">
                        <a:buNone/>
                      </a:pPr>
                      <a:r>
                        <a:rPr lang="fr-FR" sz="900" b="0" i="0" u="none" strike="noStrike">
                          <a:solidFill>
                            <a:srgbClr val="FF0000"/>
                          </a:solidFill>
                          <a:effectLst/>
                          <a:latin typeface="Aptos Narrow" panose="020B0004020202020204" pitchFamily="34" charset="0"/>
                        </a:rPr>
                        <a:t>-0,9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26362787"/>
                  </a:ext>
                </a:extLst>
              </a:tr>
              <a:tr h="121374">
                <a:tc>
                  <a:txBody>
                    <a:bodyPr/>
                    <a:lstStyle/>
                    <a:p>
                      <a:pPr algn="l" fontAlgn="b">
                        <a:buNone/>
                      </a:pPr>
                      <a:r>
                        <a:rPr lang="fr-FR" sz="900" b="0" i="0" u="none" strike="noStrike">
                          <a:solidFill>
                            <a:srgbClr val="000000"/>
                          </a:solidFill>
                          <a:effectLst/>
                          <a:latin typeface="Aptos Narrow" panose="020B0004020202020204" pitchFamily="34" charset="0"/>
                        </a:rPr>
                        <a:t> Kids cottage  new generation</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36,4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AE583"/>
                    </a:solidFill>
                  </a:tcPr>
                </a:tc>
                <a:tc>
                  <a:txBody>
                    <a:bodyPr/>
                    <a:lstStyle/>
                    <a:p>
                      <a:pPr algn="r" fontAlgn="b">
                        <a:buNone/>
                      </a:pPr>
                      <a:r>
                        <a:rPr lang="fr-FR" sz="900" b="0" i="0" u="none" strike="noStrike">
                          <a:solidFill>
                            <a:srgbClr val="000000"/>
                          </a:solidFill>
                          <a:effectLst/>
                          <a:latin typeface="Aptos Narrow" panose="020B0004020202020204" pitchFamily="34" charset="0"/>
                        </a:rPr>
                        <a:t>31,7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B84"/>
                    </a:solidFill>
                  </a:tcPr>
                </a:tc>
                <a:tc>
                  <a:txBody>
                    <a:bodyPr/>
                    <a:lstStyle/>
                    <a:p>
                      <a:pPr algn="r" fontAlgn="b">
                        <a:buNone/>
                      </a:pPr>
                      <a:r>
                        <a:rPr lang="fr-FR" sz="900" b="0" i="0" u="none" strike="noStrike">
                          <a:solidFill>
                            <a:srgbClr val="00B050"/>
                          </a:solidFill>
                          <a:effectLst/>
                          <a:latin typeface="Aptos Narrow" panose="020B0004020202020204" pitchFamily="34" charset="0"/>
                        </a:rPr>
                        <a:t>4,6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46554029"/>
                  </a:ext>
                </a:extLst>
              </a:tr>
              <a:tr h="121374">
                <a:tc>
                  <a:txBody>
                    <a:bodyPr/>
                    <a:lstStyle/>
                    <a:p>
                      <a:pPr algn="l" fontAlgn="b">
                        <a:buNone/>
                      </a:pPr>
                      <a:r>
                        <a:rPr lang="fr-FR" sz="900" b="0" i="0" u="none" strike="noStrike">
                          <a:solidFill>
                            <a:srgbClr val="000000"/>
                          </a:solidFill>
                          <a:effectLst/>
                          <a:latin typeface="Aptos Narrow" panose="020B0004020202020204" pitchFamily="34" charset="0"/>
                        </a:rPr>
                        <a:t> Premium Hotel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44,0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8DC81"/>
                    </a:solidFill>
                  </a:tcPr>
                </a:tc>
                <a:tc>
                  <a:txBody>
                    <a:bodyPr/>
                    <a:lstStyle/>
                    <a:p>
                      <a:pPr algn="r" fontAlgn="b">
                        <a:buNone/>
                      </a:pPr>
                      <a:r>
                        <a:rPr lang="fr-FR" sz="900" b="0" i="0" u="none" strike="noStrike">
                          <a:solidFill>
                            <a:srgbClr val="000000"/>
                          </a:solidFill>
                          <a:effectLst/>
                          <a:latin typeface="Aptos Narrow" panose="020B0004020202020204" pitchFamily="34" charset="0"/>
                        </a:rPr>
                        <a:t>41,0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6DF82"/>
                    </a:solidFill>
                  </a:tcPr>
                </a:tc>
                <a:tc>
                  <a:txBody>
                    <a:bodyPr/>
                    <a:lstStyle/>
                    <a:p>
                      <a:pPr algn="r" fontAlgn="b">
                        <a:buNone/>
                      </a:pPr>
                      <a:r>
                        <a:rPr lang="fr-FR" sz="900" b="0" i="0" u="none" strike="noStrike">
                          <a:solidFill>
                            <a:srgbClr val="00B050"/>
                          </a:solidFill>
                          <a:effectLst/>
                          <a:latin typeface="Aptos Narrow" panose="020B0004020202020204" pitchFamily="34" charset="0"/>
                        </a:rPr>
                        <a:t>3,0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50818629"/>
                  </a:ext>
                </a:extLst>
              </a:tr>
              <a:tr h="121374">
                <a:tc>
                  <a:txBody>
                    <a:bodyPr/>
                    <a:lstStyle/>
                    <a:p>
                      <a:pPr algn="l" fontAlgn="b">
                        <a:buNone/>
                      </a:pPr>
                      <a:r>
                        <a:rPr lang="fr-FR" sz="900" b="0" i="0" u="none" strike="noStrike">
                          <a:solidFill>
                            <a:srgbClr val="000000"/>
                          </a:solidFill>
                          <a:effectLst/>
                          <a:latin typeface="Aptos Narrow" panose="020B0004020202020204" pitchFamily="34" charset="0"/>
                        </a:rPr>
                        <a:t> Premium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34,3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3E884"/>
                    </a:solidFill>
                  </a:tcPr>
                </a:tc>
                <a:tc>
                  <a:txBody>
                    <a:bodyPr/>
                    <a:lstStyle/>
                    <a:p>
                      <a:pPr algn="r" fontAlgn="b">
                        <a:buNone/>
                      </a:pPr>
                      <a:r>
                        <a:rPr lang="fr-FR" sz="900" b="0" i="0" u="none" strike="noStrike">
                          <a:solidFill>
                            <a:srgbClr val="000000"/>
                          </a:solidFill>
                          <a:effectLst/>
                          <a:latin typeface="Aptos Narrow" panose="020B0004020202020204" pitchFamily="34" charset="0"/>
                        </a:rPr>
                        <a:t>33,4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7E984"/>
                    </a:solidFill>
                  </a:tcPr>
                </a:tc>
                <a:tc>
                  <a:txBody>
                    <a:bodyPr/>
                    <a:lstStyle/>
                    <a:p>
                      <a:pPr algn="r" fontAlgn="b">
                        <a:buNone/>
                      </a:pPr>
                      <a:r>
                        <a:rPr lang="fr-FR" sz="900" b="0" i="0" u="none" strike="noStrike">
                          <a:solidFill>
                            <a:srgbClr val="00B050"/>
                          </a:solidFill>
                          <a:effectLst/>
                          <a:latin typeface="Aptos Narrow" panose="020B0004020202020204" pitchFamily="34" charset="0"/>
                        </a:rPr>
                        <a:t>0,9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65585314"/>
                  </a:ext>
                </a:extLst>
              </a:tr>
              <a:tr h="121374">
                <a:tc>
                  <a:txBody>
                    <a:bodyPr/>
                    <a:lstStyle/>
                    <a:p>
                      <a:pPr algn="l" fontAlgn="b">
                        <a:buNone/>
                      </a:pPr>
                      <a:r>
                        <a:rPr lang="fr-FR" sz="900" b="0" i="0" u="none" strike="noStrike">
                          <a:solidFill>
                            <a:srgbClr val="000000"/>
                          </a:solidFill>
                          <a:effectLst/>
                          <a:latin typeface="Aptos Narrow" panose="020B0004020202020204" pitchFamily="34" charset="0"/>
                        </a:rPr>
                        <a:t> Premium cottage Wheelchair</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16,3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47C"/>
                    </a:solidFill>
                  </a:tcPr>
                </a:tc>
                <a:tc>
                  <a:txBody>
                    <a:bodyPr/>
                    <a:lstStyle/>
                    <a:p>
                      <a:pPr algn="r" fontAlgn="b">
                        <a:buNone/>
                      </a:pPr>
                      <a:r>
                        <a:rPr lang="fr-FR" sz="900" b="0" i="0" u="none" strike="noStrike">
                          <a:solidFill>
                            <a:srgbClr val="000000"/>
                          </a:solidFill>
                          <a:effectLst/>
                          <a:latin typeface="Aptos Narrow" panose="020B0004020202020204" pitchFamily="34" charset="0"/>
                        </a:rPr>
                        <a:t>44,7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5DB81"/>
                    </a:solidFill>
                  </a:tcPr>
                </a:tc>
                <a:tc>
                  <a:txBody>
                    <a:bodyPr/>
                    <a:lstStyle/>
                    <a:p>
                      <a:pPr algn="r" fontAlgn="b">
                        <a:buNone/>
                      </a:pPr>
                      <a:r>
                        <a:rPr lang="fr-FR" sz="900" b="0" i="0" u="none" strike="noStrike">
                          <a:solidFill>
                            <a:srgbClr val="FF0000"/>
                          </a:solidFill>
                          <a:effectLst/>
                          <a:latin typeface="Aptos Narrow" panose="020B0004020202020204" pitchFamily="34" charset="0"/>
                        </a:rPr>
                        <a:t>-28,5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08011056"/>
                  </a:ext>
                </a:extLst>
              </a:tr>
              <a:tr h="121374">
                <a:tc>
                  <a:txBody>
                    <a:bodyPr/>
                    <a:lstStyle/>
                    <a:p>
                      <a:pPr algn="l" fontAlgn="b">
                        <a:buNone/>
                      </a:pPr>
                      <a:r>
                        <a:rPr lang="fr-FR" sz="900" b="0" i="0" u="none" strike="noStrike">
                          <a:solidFill>
                            <a:srgbClr val="000000"/>
                          </a:solidFill>
                          <a:effectLst/>
                          <a:latin typeface="Aptos Narrow" panose="020B0004020202020204" pitchFamily="34" charset="0"/>
                        </a:rPr>
                        <a:t> VIP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31,3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A83"/>
                    </a:solidFill>
                  </a:tcPr>
                </a:tc>
                <a:tc>
                  <a:txBody>
                    <a:bodyPr/>
                    <a:lstStyle/>
                    <a:p>
                      <a:pPr algn="r" fontAlgn="b">
                        <a:buNone/>
                      </a:pPr>
                      <a:r>
                        <a:rPr lang="fr-FR" sz="900" b="0" i="0" u="none" strike="noStrike">
                          <a:solidFill>
                            <a:srgbClr val="000000"/>
                          </a:solidFill>
                          <a:effectLst/>
                          <a:latin typeface="Aptos Narrow" panose="020B0004020202020204" pitchFamily="34" charset="0"/>
                        </a:rPr>
                        <a:t>32,9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EA84"/>
                    </a:solidFill>
                  </a:tcPr>
                </a:tc>
                <a:tc>
                  <a:txBody>
                    <a:bodyPr/>
                    <a:lstStyle/>
                    <a:p>
                      <a:pPr algn="r" fontAlgn="b">
                        <a:buNone/>
                      </a:pPr>
                      <a:r>
                        <a:rPr lang="fr-FR" sz="900" b="0" i="0" u="none" strike="noStrike">
                          <a:solidFill>
                            <a:srgbClr val="FF0000"/>
                          </a:solidFill>
                          <a:effectLst/>
                          <a:latin typeface="Aptos Narrow" panose="020B0004020202020204" pitchFamily="34" charset="0"/>
                        </a:rPr>
                        <a:t>-1,6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42419122"/>
                  </a:ext>
                </a:extLst>
              </a:tr>
            </a:tbl>
          </a:graphicData>
        </a:graphic>
      </p:graphicFrame>
      <p:graphicFrame>
        <p:nvGraphicFramePr>
          <p:cNvPr id="23" name="Table 22">
            <a:extLst>
              <a:ext uri="{FF2B5EF4-FFF2-40B4-BE49-F238E27FC236}">
                <a16:creationId xmlns:a16="http://schemas.microsoft.com/office/drawing/2014/main" id="{B0464BE9-A23E-3644-16D0-E7EA2ACD0086}"/>
              </a:ext>
            </a:extLst>
          </p:cNvPr>
          <p:cNvGraphicFramePr>
            <a:graphicFrameLocks noGrp="1"/>
          </p:cNvGraphicFramePr>
          <p:nvPr>
            <p:extLst>
              <p:ext uri="{D42A27DB-BD31-4B8C-83A1-F6EECF244321}">
                <p14:modId xmlns:p14="http://schemas.microsoft.com/office/powerpoint/2010/main" val="1691077987"/>
              </p:ext>
            </p:extLst>
          </p:nvPr>
        </p:nvGraphicFramePr>
        <p:xfrm>
          <a:off x="210895" y="4132224"/>
          <a:ext cx="3103805" cy="1049377"/>
        </p:xfrm>
        <a:graphic>
          <a:graphicData uri="http://schemas.openxmlformats.org/drawingml/2006/table">
            <a:tbl>
              <a:tblPr/>
              <a:tblGrid>
                <a:gridCol w="1875926">
                  <a:extLst>
                    <a:ext uri="{9D8B030D-6E8A-4147-A177-3AD203B41FA5}">
                      <a16:colId xmlns:a16="http://schemas.microsoft.com/office/drawing/2014/main" val="2570812050"/>
                    </a:ext>
                  </a:extLst>
                </a:gridCol>
                <a:gridCol w="409293">
                  <a:extLst>
                    <a:ext uri="{9D8B030D-6E8A-4147-A177-3AD203B41FA5}">
                      <a16:colId xmlns:a16="http://schemas.microsoft.com/office/drawing/2014/main" val="4231533987"/>
                    </a:ext>
                  </a:extLst>
                </a:gridCol>
                <a:gridCol w="409293">
                  <a:extLst>
                    <a:ext uri="{9D8B030D-6E8A-4147-A177-3AD203B41FA5}">
                      <a16:colId xmlns:a16="http://schemas.microsoft.com/office/drawing/2014/main" val="2314399153"/>
                    </a:ext>
                  </a:extLst>
                </a:gridCol>
                <a:gridCol w="409293">
                  <a:extLst>
                    <a:ext uri="{9D8B030D-6E8A-4147-A177-3AD203B41FA5}">
                      <a16:colId xmlns:a16="http://schemas.microsoft.com/office/drawing/2014/main" val="3483588938"/>
                    </a:ext>
                  </a:extLst>
                </a:gridCol>
              </a:tblGrid>
              <a:tr h="149911">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90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900" b="1" i="0" u="none" strike="noStrike">
                          <a:solidFill>
                            <a:srgbClr val="000000"/>
                          </a:solidFill>
                          <a:effectLst/>
                          <a:latin typeface="Aptos Narrow" panose="020B0004020202020204" pitchFamily="34" charset="0"/>
                        </a:rPr>
                        <a:t>FY24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900" b="1" i="0" u="none" strike="noStrike">
                          <a:solidFill>
                            <a:srgbClr val="000000"/>
                          </a:solidFill>
                          <a:effectLst/>
                          <a:latin typeface="Aptos Narrow" panose="020B0004020202020204" pitchFamily="34" charset="0"/>
                        </a:rPr>
                        <a:t>Evol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82297353"/>
                  </a:ext>
                </a:extLst>
              </a:tr>
              <a:tr h="149911">
                <a:tc>
                  <a:txBody>
                    <a:bodyPr/>
                    <a:lstStyle/>
                    <a:p>
                      <a:pPr algn="l" fontAlgn="b">
                        <a:buNone/>
                      </a:pPr>
                      <a:r>
                        <a:rPr lang="fr-FR" sz="900" b="1" i="0" u="none" strike="noStrike" err="1">
                          <a:solidFill>
                            <a:srgbClr val="000000"/>
                          </a:solidFill>
                          <a:effectLst/>
                          <a:latin typeface="Aptos Narrow" panose="020B0004020202020204" pitchFamily="34" charset="0"/>
                        </a:rPr>
                        <a:t>Erperheide</a:t>
                      </a:r>
                      <a:endParaRPr lang="fr-FR" sz="900" b="1"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42,1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1DE82"/>
                    </a:solidFill>
                  </a:tcPr>
                </a:tc>
                <a:tc>
                  <a:txBody>
                    <a:bodyPr/>
                    <a:lstStyle/>
                    <a:p>
                      <a:pPr algn="r" fontAlgn="b">
                        <a:buNone/>
                      </a:pPr>
                      <a:r>
                        <a:rPr lang="fr-FR" sz="900" b="1" i="0" u="none" strike="noStrike">
                          <a:solidFill>
                            <a:srgbClr val="000000"/>
                          </a:solidFill>
                          <a:effectLst/>
                          <a:latin typeface="Aptos Narrow" panose="020B0004020202020204" pitchFamily="34" charset="0"/>
                        </a:rPr>
                        <a:t>37,4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6E483"/>
                    </a:solidFill>
                  </a:tcPr>
                </a:tc>
                <a:tc>
                  <a:txBody>
                    <a:bodyPr/>
                    <a:lstStyle/>
                    <a:p>
                      <a:pPr algn="r" fontAlgn="b">
                        <a:buNone/>
                      </a:pPr>
                      <a:r>
                        <a:rPr lang="fr-FR" sz="900" b="1" i="0" u="none" strike="noStrike">
                          <a:solidFill>
                            <a:srgbClr val="00B050"/>
                          </a:solidFill>
                          <a:effectLst/>
                          <a:latin typeface="Aptos Narrow" panose="020B0004020202020204" pitchFamily="34" charset="0"/>
                        </a:rPr>
                        <a:t>4,7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51445590"/>
                  </a:ext>
                </a:extLst>
              </a:tr>
              <a:tr h="149911">
                <a:tc>
                  <a:txBody>
                    <a:bodyPr/>
                    <a:lstStyle/>
                    <a:p>
                      <a:pPr algn="l" fontAlgn="b">
                        <a:buNone/>
                      </a:pPr>
                      <a:r>
                        <a:rPr lang="fr-FR" sz="900" b="0" i="0" u="none" strike="noStrike">
                          <a:solidFill>
                            <a:srgbClr val="000000"/>
                          </a:solidFill>
                          <a:effectLst/>
                          <a:latin typeface="Aptos Narrow" panose="020B0004020202020204" pitchFamily="34" charset="0"/>
                        </a:rPr>
                        <a:t> Comfort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43,8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9DC81"/>
                    </a:solidFill>
                  </a:tcPr>
                </a:tc>
                <a:tc>
                  <a:txBody>
                    <a:bodyPr/>
                    <a:lstStyle/>
                    <a:p>
                      <a:pPr algn="r" fontAlgn="b">
                        <a:buNone/>
                      </a:pPr>
                      <a:r>
                        <a:rPr lang="fr-FR" sz="900" b="0" i="0" u="none" strike="noStrike">
                          <a:solidFill>
                            <a:srgbClr val="000000"/>
                          </a:solidFill>
                          <a:effectLst/>
                          <a:latin typeface="Aptos Narrow" panose="020B0004020202020204" pitchFamily="34" charset="0"/>
                        </a:rPr>
                        <a:t>40,4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8E082"/>
                    </a:solidFill>
                  </a:tcPr>
                </a:tc>
                <a:tc>
                  <a:txBody>
                    <a:bodyPr/>
                    <a:lstStyle/>
                    <a:p>
                      <a:pPr algn="r" fontAlgn="b">
                        <a:buNone/>
                      </a:pPr>
                      <a:r>
                        <a:rPr lang="fr-FR" sz="900" b="0" i="0" u="none" strike="noStrike">
                          <a:solidFill>
                            <a:srgbClr val="00B050"/>
                          </a:solidFill>
                          <a:effectLst/>
                          <a:latin typeface="Aptos Narrow" panose="020B0004020202020204" pitchFamily="34" charset="0"/>
                        </a:rPr>
                        <a:t>3,4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95025370"/>
                  </a:ext>
                </a:extLst>
              </a:tr>
              <a:tr h="149911">
                <a:tc>
                  <a:txBody>
                    <a:bodyPr/>
                    <a:lstStyle/>
                    <a:p>
                      <a:pPr algn="l" fontAlgn="b">
                        <a:buNone/>
                      </a:pPr>
                      <a:r>
                        <a:rPr lang="fr-FR" sz="900" b="0" i="0" u="none" strike="noStrike">
                          <a:solidFill>
                            <a:srgbClr val="000000"/>
                          </a:solidFill>
                          <a:effectLst/>
                          <a:latin typeface="Aptos Narrow" panose="020B0004020202020204" pitchFamily="34" charset="0"/>
                        </a:rPr>
                        <a:t> Premium Apartment</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49,4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1D580"/>
                    </a:solidFill>
                  </a:tcPr>
                </a:tc>
                <a:tc>
                  <a:txBody>
                    <a:bodyPr/>
                    <a:lstStyle/>
                    <a:p>
                      <a:pPr algn="r" fontAlgn="b">
                        <a:buNone/>
                      </a:pPr>
                      <a:r>
                        <a:rPr lang="fr-FR" sz="900" b="0" i="0" u="none" strike="noStrike">
                          <a:solidFill>
                            <a:srgbClr val="000000"/>
                          </a:solidFill>
                          <a:effectLst/>
                          <a:latin typeface="Aptos Narrow" panose="020B0004020202020204" pitchFamily="34" charset="0"/>
                        </a:rPr>
                        <a:t>47,4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AD780"/>
                    </a:solidFill>
                  </a:tcPr>
                </a:tc>
                <a:tc>
                  <a:txBody>
                    <a:bodyPr/>
                    <a:lstStyle/>
                    <a:p>
                      <a:pPr algn="r" fontAlgn="b">
                        <a:buNone/>
                      </a:pPr>
                      <a:r>
                        <a:rPr lang="fr-FR" sz="900" b="0" i="0" u="none" strike="noStrike">
                          <a:solidFill>
                            <a:srgbClr val="00B050"/>
                          </a:solidFill>
                          <a:effectLst/>
                          <a:latin typeface="Aptos Narrow" panose="020B0004020202020204" pitchFamily="34" charset="0"/>
                        </a:rPr>
                        <a:t>2,0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96288192"/>
                  </a:ext>
                </a:extLst>
              </a:tr>
              <a:tr h="149911">
                <a:tc>
                  <a:txBody>
                    <a:bodyPr/>
                    <a:lstStyle/>
                    <a:p>
                      <a:pPr algn="l" fontAlgn="b">
                        <a:buNone/>
                      </a:pPr>
                      <a:r>
                        <a:rPr lang="fr-FR" sz="900" b="0" i="0" u="none" strike="noStrike">
                          <a:solidFill>
                            <a:srgbClr val="000000"/>
                          </a:solidFill>
                          <a:effectLst/>
                          <a:latin typeface="Aptos Narrow" panose="020B0004020202020204" pitchFamily="34" charset="0"/>
                        </a:rPr>
                        <a:t> Premium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41,5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4DF82"/>
                    </a:solidFill>
                  </a:tcPr>
                </a:tc>
                <a:tc>
                  <a:txBody>
                    <a:bodyPr/>
                    <a:lstStyle/>
                    <a:p>
                      <a:pPr algn="r" fontAlgn="b">
                        <a:buNone/>
                      </a:pPr>
                      <a:r>
                        <a:rPr lang="fr-FR" sz="900" b="0" i="0" u="none" strike="noStrike">
                          <a:solidFill>
                            <a:srgbClr val="000000"/>
                          </a:solidFill>
                          <a:effectLst/>
                          <a:latin typeface="Aptos Narrow" panose="020B0004020202020204" pitchFamily="34" charset="0"/>
                        </a:rPr>
                        <a:t>35,2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FE784"/>
                    </a:solidFill>
                  </a:tcPr>
                </a:tc>
                <a:tc>
                  <a:txBody>
                    <a:bodyPr/>
                    <a:lstStyle/>
                    <a:p>
                      <a:pPr algn="r" fontAlgn="b">
                        <a:buNone/>
                      </a:pPr>
                      <a:r>
                        <a:rPr lang="fr-FR" sz="900" b="0" i="0" u="none" strike="noStrike">
                          <a:solidFill>
                            <a:srgbClr val="00B050"/>
                          </a:solidFill>
                          <a:effectLst/>
                          <a:latin typeface="Aptos Narrow" panose="020B0004020202020204" pitchFamily="34" charset="0"/>
                        </a:rPr>
                        <a:t>6,3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5659309"/>
                  </a:ext>
                </a:extLst>
              </a:tr>
              <a:tr h="149911">
                <a:tc>
                  <a:txBody>
                    <a:bodyPr/>
                    <a:lstStyle/>
                    <a:p>
                      <a:pPr algn="l" fontAlgn="b">
                        <a:buNone/>
                      </a:pPr>
                      <a:r>
                        <a:rPr lang="fr-FR" sz="900" b="0" i="0" u="none" strike="noStrike">
                          <a:solidFill>
                            <a:srgbClr val="000000"/>
                          </a:solidFill>
                          <a:effectLst/>
                          <a:latin typeface="Aptos Narrow" panose="020B0004020202020204" pitchFamily="34" charset="0"/>
                        </a:rPr>
                        <a:t> Premium cottage Wheelchair</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41,4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4DF82"/>
                    </a:solidFill>
                  </a:tcPr>
                </a:tc>
                <a:tc>
                  <a:txBody>
                    <a:bodyPr/>
                    <a:lstStyle/>
                    <a:p>
                      <a:pPr algn="r" fontAlgn="b">
                        <a:buNone/>
                      </a:pPr>
                      <a:r>
                        <a:rPr lang="fr-FR" sz="900" b="0" i="0" u="none" strike="noStrike">
                          <a:solidFill>
                            <a:srgbClr val="000000"/>
                          </a:solidFill>
                          <a:effectLst/>
                          <a:latin typeface="Aptos Narrow" panose="020B0004020202020204" pitchFamily="34" charset="0"/>
                        </a:rPr>
                        <a:t>36,7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9E583"/>
                    </a:solidFill>
                  </a:tcPr>
                </a:tc>
                <a:tc>
                  <a:txBody>
                    <a:bodyPr/>
                    <a:lstStyle/>
                    <a:p>
                      <a:pPr algn="r" fontAlgn="b">
                        <a:buNone/>
                      </a:pPr>
                      <a:r>
                        <a:rPr lang="fr-FR" sz="900" b="0" i="0" u="none" strike="noStrike">
                          <a:solidFill>
                            <a:srgbClr val="00B050"/>
                          </a:solidFill>
                          <a:effectLst/>
                          <a:latin typeface="Aptos Narrow" panose="020B0004020202020204" pitchFamily="34" charset="0"/>
                        </a:rPr>
                        <a:t>4,8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16571499"/>
                  </a:ext>
                </a:extLst>
              </a:tr>
              <a:tr h="149911">
                <a:tc>
                  <a:txBody>
                    <a:bodyPr/>
                    <a:lstStyle/>
                    <a:p>
                      <a:pPr algn="l" fontAlgn="b">
                        <a:buNone/>
                      </a:pPr>
                      <a:r>
                        <a:rPr lang="fr-FR" sz="900" b="0" i="0" u="none" strike="noStrike">
                          <a:solidFill>
                            <a:srgbClr val="000000"/>
                          </a:solidFill>
                          <a:effectLst/>
                          <a:latin typeface="Aptos Narrow" panose="020B0004020202020204" pitchFamily="34" charset="0"/>
                        </a:rPr>
                        <a:t> VIP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36,2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BE683"/>
                    </a:solidFill>
                  </a:tcPr>
                </a:tc>
                <a:tc>
                  <a:txBody>
                    <a:bodyPr/>
                    <a:lstStyle/>
                    <a:p>
                      <a:pPr algn="r" fontAlgn="b">
                        <a:buNone/>
                      </a:pPr>
                      <a:r>
                        <a:rPr lang="fr-FR" sz="900" b="0" i="0" u="none" strike="noStrike">
                          <a:solidFill>
                            <a:srgbClr val="000000"/>
                          </a:solidFill>
                          <a:effectLst/>
                          <a:latin typeface="Aptos Narrow" panose="020B0004020202020204" pitchFamily="34" charset="0"/>
                        </a:rPr>
                        <a:t>28,5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382"/>
                    </a:solidFill>
                  </a:tcPr>
                </a:tc>
                <a:tc>
                  <a:txBody>
                    <a:bodyPr/>
                    <a:lstStyle/>
                    <a:p>
                      <a:pPr algn="r" fontAlgn="b">
                        <a:buNone/>
                      </a:pPr>
                      <a:r>
                        <a:rPr lang="fr-FR" sz="900" b="0" i="0" u="none" strike="noStrike">
                          <a:solidFill>
                            <a:srgbClr val="00B050"/>
                          </a:solidFill>
                          <a:effectLst/>
                          <a:latin typeface="Aptos Narrow" panose="020B0004020202020204" pitchFamily="34" charset="0"/>
                        </a:rPr>
                        <a:t>7,6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73492781"/>
                  </a:ext>
                </a:extLst>
              </a:tr>
            </a:tbl>
          </a:graphicData>
        </a:graphic>
      </p:graphicFrame>
      <p:graphicFrame>
        <p:nvGraphicFramePr>
          <p:cNvPr id="24" name="Table 23">
            <a:extLst>
              <a:ext uri="{FF2B5EF4-FFF2-40B4-BE49-F238E27FC236}">
                <a16:creationId xmlns:a16="http://schemas.microsoft.com/office/drawing/2014/main" id="{4E8E6C4E-4D29-DD17-74EE-05E292D28AAA}"/>
              </a:ext>
            </a:extLst>
          </p:cNvPr>
          <p:cNvGraphicFramePr>
            <a:graphicFrameLocks noGrp="1"/>
          </p:cNvGraphicFramePr>
          <p:nvPr>
            <p:extLst>
              <p:ext uri="{D42A27DB-BD31-4B8C-83A1-F6EECF244321}">
                <p14:modId xmlns:p14="http://schemas.microsoft.com/office/powerpoint/2010/main" val="3913043275"/>
              </p:ext>
            </p:extLst>
          </p:nvPr>
        </p:nvGraphicFramePr>
        <p:xfrm>
          <a:off x="7791450" y="3837836"/>
          <a:ext cx="3609977" cy="826575"/>
        </p:xfrm>
        <a:graphic>
          <a:graphicData uri="http://schemas.openxmlformats.org/drawingml/2006/table">
            <a:tbl>
              <a:tblPr/>
              <a:tblGrid>
                <a:gridCol w="2181854">
                  <a:extLst>
                    <a:ext uri="{9D8B030D-6E8A-4147-A177-3AD203B41FA5}">
                      <a16:colId xmlns:a16="http://schemas.microsoft.com/office/drawing/2014/main" val="784604548"/>
                    </a:ext>
                  </a:extLst>
                </a:gridCol>
                <a:gridCol w="476041">
                  <a:extLst>
                    <a:ext uri="{9D8B030D-6E8A-4147-A177-3AD203B41FA5}">
                      <a16:colId xmlns:a16="http://schemas.microsoft.com/office/drawing/2014/main" val="479204193"/>
                    </a:ext>
                  </a:extLst>
                </a:gridCol>
                <a:gridCol w="476041">
                  <a:extLst>
                    <a:ext uri="{9D8B030D-6E8A-4147-A177-3AD203B41FA5}">
                      <a16:colId xmlns:a16="http://schemas.microsoft.com/office/drawing/2014/main" val="3804336732"/>
                    </a:ext>
                  </a:extLst>
                </a:gridCol>
                <a:gridCol w="476041">
                  <a:extLst>
                    <a:ext uri="{9D8B030D-6E8A-4147-A177-3AD203B41FA5}">
                      <a16:colId xmlns:a16="http://schemas.microsoft.com/office/drawing/2014/main" val="1998690070"/>
                    </a:ext>
                  </a:extLst>
                </a:gridCol>
              </a:tblGrid>
              <a:tr h="165315">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90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900" b="1" i="0" u="none" strike="noStrike">
                          <a:solidFill>
                            <a:srgbClr val="000000"/>
                          </a:solidFill>
                          <a:effectLst/>
                          <a:latin typeface="Aptos Narrow" panose="020B0004020202020204" pitchFamily="34" charset="0"/>
                        </a:rPr>
                        <a:t>FY24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900" b="1" i="0" u="none" strike="noStrike">
                          <a:solidFill>
                            <a:srgbClr val="000000"/>
                          </a:solidFill>
                          <a:effectLst/>
                          <a:latin typeface="Aptos Narrow" panose="020B0004020202020204" pitchFamily="34" charset="0"/>
                        </a:rPr>
                        <a:t>Evol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97870894"/>
                  </a:ext>
                </a:extLst>
              </a:tr>
              <a:tr h="165315">
                <a:tc>
                  <a:txBody>
                    <a:bodyPr/>
                    <a:lstStyle/>
                    <a:p>
                      <a:pPr algn="l" fontAlgn="b">
                        <a:buNone/>
                      </a:pPr>
                      <a:r>
                        <a:rPr lang="fr-FR" sz="900" b="1" i="0" u="none" strike="noStrike">
                          <a:solidFill>
                            <a:srgbClr val="000000"/>
                          </a:solidFill>
                          <a:effectLst/>
                          <a:latin typeface="Aptos Narrow" panose="020B0004020202020204" pitchFamily="34" charset="0"/>
                        </a:rPr>
                        <a:t>Kempense Meren</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-14,0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86E"/>
                    </a:solidFill>
                  </a:tcPr>
                </a:tc>
                <a:tc>
                  <a:txBody>
                    <a:bodyPr/>
                    <a:lstStyle/>
                    <a:p>
                      <a:pPr algn="r" fontAlgn="b">
                        <a:buNone/>
                      </a:pPr>
                      <a:r>
                        <a:rPr lang="fr-FR" sz="900" b="1" i="0" u="none" strike="noStrike">
                          <a:solidFill>
                            <a:srgbClr val="000000"/>
                          </a:solidFill>
                          <a:effectLst/>
                          <a:latin typeface="Aptos Narrow" panose="020B0004020202020204" pitchFamily="34" charset="0"/>
                        </a:rPr>
                        <a:t>-15,9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46D"/>
                    </a:solidFill>
                  </a:tcPr>
                </a:tc>
                <a:tc>
                  <a:txBody>
                    <a:bodyPr/>
                    <a:lstStyle/>
                    <a:p>
                      <a:pPr algn="r" fontAlgn="b">
                        <a:buNone/>
                      </a:pPr>
                      <a:r>
                        <a:rPr lang="fr-FR" sz="900" b="1" i="0" u="none" strike="noStrike">
                          <a:solidFill>
                            <a:srgbClr val="00B050"/>
                          </a:solidFill>
                          <a:effectLst/>
                          <a:latin typeface="Aptos Narrow" panose="020B0004020202020204" pitchFamily="34" charset="0"/>
                        </a:rPr>
                        <a:t>1,8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28707870"/>
                  </a:ext>
                </a:extLst>
              </a:tr>
              <a:tr h="165315">
                <a:tc>
                  <a:txBody>
                    <a:bodyPr/>
                    <a:lstStyle/>
                    <a:p>
                      <a:pPr algn="l" fontAlgn="b">
                        <a:buNone/>
                      </a:pPr>
                      <a:r>
                        <a:rPr lang="fr-FR" sz="900" b="0" i="0" u="none" strike="noStrike">
                          <a:solidFill>
                            <a:srgbClr val="000000"/>
                          </a:solidFill>
                          <a:effectLst/>
                          <a:latin typeface="Aptos Narrow" panose="020B0004020202020204" pitchFamily="34" charset="0"/>
                        </a:rPr>
                        <a:t> Exclusive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-6,2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C71"/>
                    </a:solidFill>
                  </a:tcPr>
                </a:tc>
                <a:tc>
                  <a:txBody>
                    <a:bodyPr/>
                    <a:lstStyle/>
                    <a:p>
                      <a:pPr algn="r" fontAlgn="b">
                        <a:buNone/>
                      </a:pPr>
                      <a:r>
                        <a:rPr lang="fr-FR" sz="900" b="0" i="0" u="none" strike="noStrike">
                          <a:solidFill>
                            <a:srgbClr val="000000"/>
                          </a:solidFill>
                          <a:effectLst/>
                          <a:latin typeface="Aptos Narrow" panose="020B0004020202020204" pitchFamily="34" charset="0"/>
                        </a:rPr>
                        <a:t>-6,3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C71"/>
                    </a:solidFill>
                  </a:tcPr>
                </a:tc>
                <a:tc>
                  <a:txBody>
                    <a:bodyPr/>
                    <a:lstStyle/>
                    <a:p>
                      <a:pPr algn="r" fontAlgn="b">
                        <a:buNone/>
                      </a:pPr>
                      <a:r>
                        <a:rPr lang="fr-FR" sz="900" b="0" i="0" u="none" strike="noStrike">
                          <a:solidFill>
                            <a:srgbClr val="00B050"/>
                          </a:solidFill>
                          <a:effectLst/>
                          <a:latin typeface="Aptos Narrow" panose="020B0004020202020204" pitchFamily="34" charset="0"/>
                        </a:rPr>
                        <a:t>0,1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49333826"/>
                  </a:ext>
                </a:extLst>
              </a:tr>
              <a:tr h="165315">
                <a:tc>
                  <a:txBody>
                    <a:bodyPr/>
                    <a:lstStyle/>
                    <a:p>
                      <a:pPr algn="l" fontAlgn="b">
                        <a:buNone/>
                      </a:pPr>
                      <a:r>
                        <a:rPr lang="fr-FR" sz="900" b="0" i="0" u="none" strike="noStrike">
                          <a:solidFill>
                            <a:srgbClr val="000000"/>
                          </a:solidFill>
                          <a:effectLst/>
                          <a:latin typeface="Aptos Narrow" panose="020B0004020202020204" pitchFamily="34" charset="0"/>
                        </a:rPr>
                        <a:t> </a:t>
                      </a:r>
                      <a:r>
                        <a:rPr lang="fr-FR" sz="900" b="0" i="0" u="none" strike="noStrike" err="1">
                          <a:solidFill>
                            <a:srgbClr val="000000"/>
                          </a:solidFill>
                          <a:effectLst/>
                          <a:latin typeface="Aptos Narrow" panose="020B0004020202020204" pitchFamily="34" charset="0"/>
                        </a:rPr>
                        <a:t>Hotelroom</a:t>
                      </a:r>
                      <a:endParaRPr lang="fr-FR" sz="900" b="0"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19,7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D7E"/>
                    </a:solidFill>
                  </a:tcPr>
                </a:tc>
                <a:tc>
                  <a:txBody>
                    <a:bodyPr/>
                    <a:lstStyle/>
                    <a:p>
                      <a:pPr algn="r" fontAlgn="b">
                        <a:buNone/>
                      </a:pPr>
                      <a:r>
                        <a:rPr lang="fr-FR" sz="900" b="0" i="0" u="none" strike="noStrike">
                          <a:solidFill>
                            <a:srgbClr val="000000"/>
                          </a:solidFill>
                          <a:effectLst/>
                          <a:latin typeface="Aptos Narrow" panose="020B0004020202020204" pitchFamily="34" charset="0"/>
                        </a:rPr>
                        <a:t>17,7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87D"/>
                    </a:solidFill>
                  </a:tcPr>
                </a:tc>
                <a:tc>
                  <a:txBody>
                    <a:bodyPr/>
                    <a:lstStyle/>
                    <a:p>
                      <a:pPr algn="r" fontAlgn="b">
                        <a:buNone/>
                      </a:pPr>
                      <a:r>
                        <a:rPr lang="fr-FR" sz="900" b="0" i="0" u="none" strike="noStrike">
                          <a:solidFill>
                            <a:srgbClr val="00B050"/>
                          </a:solidFill>
                          <a:effectLst/>
                          <a:latin typeface="Aptos Narrow" panose="020B0004020202020204" pitchFamily="34" charset="0"/>
                        </a:rPr>
                        <a:t>2,0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94618719"/>
                  </a:ext>
                </a:extLst>
              </a:tr>
              <a:tr h="165315">
                <a:tc>
                  <a:txBody>
                    <a:bodyPr/>
                    <a:lstStyle/>
                    <a:p>
                      <a:pPr algn="l" fontAlgn="b">
                        <a:buNone/>
                      </a:pPr>
                      <a:r>
                        <a:rPr lang="fr-FR" sz="900" b="0" i="0" u="none" strike="noStrike">
                          <a:solidFill>
                            <a:srgbClr val="000000"/>
                          </a:solidFill>
                          <a:effectLst/>
                          <a:latin typeface="Aptos Narrow" panose="020B0004020202020204" pitchFamily="34" charset="0"/>
                        </a:rPr>
                        <a:t> Select</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-17,6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F6C"/>
                    </a:solidFill>
                  </a:tcPr>
                </a:tc>
                <a:tc>
                  <a:txBody>
                    <a:bodyPr/>
                    <a:lstStyle/>
                    <a:p>
                      <a:pPr algn="r" fontAlgn="b">
                        <a:buNone/>
                      </a:pPr>
                      <a:r>
                        <a:rPr lang="fr-FR" sz="900" b="0" i="0" u="none" strike="noStrike">
                          <a:solidFill>
                            <a:srgbClr val="000000"/>
                          </a:solidFill>
                          <a:effectLst/>
                          <a:latin typeface="Aptos Narrow" panose="020B0004020202020204" pitchFamily="34" charset="0"/>
                        </a:rPr>
                        <a:t>-20,3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96B"/>
                    </a:solidFill>
                  </a:tcPr>
                </a:tc>
                <a:tc>
                  <a:txBody>
                    <a:bodyPr/>
                    <a:lstStyle/>
                    <a:p>
                      <a:pPr algn="r" fontAlgn="b">
                        <a:buNone/>
                      </a:pPr>
                      <a:r>
                        <a:rPr lang="fr-FR" sz="900" b="0" i="0" u="none" strike="noStrike">
                          <a:solidFill>
                            <a:srgbClr val="00B050"/>
                          </a:solidFill>
                          <a:effectLst/>
                          <a:latin typeface="Aptos Narrow" panose="020B0004020202020204" pitchFamily="34" charset="0"/>
                        </a:rPr>
                        <a:t>2,7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11815773"/>
                  </a:ext>
                </a:extLst>
              </a:tr>
            </a:tbl>
          </a:graphicData>
        </a:graphic>
      </p:graphicFrame>
      <p:graphicFrame>
        <p:nvGraphicFramePr>
          <p:cNvPr id="25" name="Table 24">
            <a:extLst>
              <a:ext uri="{FF2B5EF4-FFF2-40B4-BE49-F238E27FC236}">
                <a16:creationId xmlns:a16="http://schemas.microsoft.com/office/drawing/2014/main" id="{971CC06B-5705-BD20-9612-C09D46E647E9}"/>
              </a:ext>
            </a:extLst>
          </p:cNvPr>
          <p:cNvGraphicFramePr>
            <a:graphicFrameLocks noGrp="1"/>
          </p:cNvGraphicFramePr>
          <p:nvPr>
            <p:extLst>
              <p:ext uri="{D42A27DB-BD31-4B8C-83A1-F6EECF244321}">
                <p14:modId xmlns:p14="http://schemas.microsoft.com/office/powerpoint/2010/main" val="1790230806"/>
              </p:ext>
            </p:extLst>
          </p:nvPr>
        </p:nvGraphicFramePr>
        <p:xfrm>
          <a:off x="4162425" y="3671849"/>
          <a:ext cx="2771775" cy="920750"/>
        </p:xfrm>
        <a:graphic>
          <a:graphicData uri="http://schemas.openxmlformats.org/drawingml/2006/table">
            <a:tbl>
              <a:tblPr/>
              <a:tblGrid>
                <a:gridCol w="1229985">
                  <a:extLst>
                    <a:ext uri="{9D8B030D-6E8A-4147-A177-3AD203B41FA5}">
                      <a16:colId xmlns:a16="http://schemas.microsoft.com/office/drawing/2014/main" val="2890107022"/>
                    </a:ext>
                  </a:extLst>
                </a:gridCol>
                <a:gridCol w="513930">
                  <a:extLst>
                    <a:ext uri="{9D8B030D-6E8A-4147-A177-3AD203B41FA5}">
                      <a16:colId xmlns:a16="http://schemas.microsoft.com/office/drawing/2014/main" val="3104681526"/>
                    </a:ext>
                  </a:extLst>
                </a:gridCol>
                <a:gridCol w="513930">
                  <a:extLst>
                    <a:ext uri="{9D8B030D-6E8A-4147-A177-3AD203B41FA5}">
                      <a16:colId xmlns:a16="http://schemas.microsoft.com/office/drawing/2014/main" val="3231148900"/>
                    </a:ext>
                  </a:extLst>
                </a:gridCol>
                <a:gridCol w="513930">
                  <a:extLst>
                    <a:ext uri="{9D8B030D-6E8A-4147-A177-3AD203B41FA5}">
                      <a16:colId xmlns:a16="http://schemas.microsoft.com/office/drawing/2014/main" val="1290657692"/>
                    </a:ext>
                  </a:extLst>
                </a:gridCol>
              </a:tblGrid>
              <a:tr h="184150">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90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900" b="1" i="0" u="none" strike="noStrike">
                          <a:solidFill>
                            <a:srgbClr val="000000"/>
                          </a:solidFill>
                          <a:effectLst/>
                          <a:latin typeface="Aptos Narrow" panose="020B0004020202020204" pitchFamily="34" charset="0"/>
                        </a:rPr>
                        <a:t>FY24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900" b="1" i="0" u="none" strike="noStrike">
                          <a:solidFill>
                            <a:srgbClr val="000000"/>
                          </a:solidFill>
                          <a:effectLst/>
                          <a:latin typeface="Aptos Narrow" panose="020B0004020202020204" pitchFamily="34" charset="0"/>
                        </a:rPr>
                        <a:t>Evol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3958886"/>
                  </a:ext>
                </a:extLst>
              </a:tr>
              <a:tr h="184150">
                <a:tc>
                  <a:txBody>
                    <a:bodyPr/>
                    <a:lstStyle/>
                    <a:p>
                      <a:pPr algn="l" fontAlgn="b">
                        <a:buNone/>
                      </a:pPr>
                      <a:r>
                        <a:rPr lang="fr-FR" sz="900" b="1" i="0" u="none" strike="noStrike">
                          <a:solidFill>
                            <a:srgbClr val="000000"/>
                          </a:solidFill>
                          <a:effectLst/>
                          <a:latin typeface="Aptos Narrow" panose="020B0004020202020204" pitchFamily="34" charset="0"/>
                        </a:rPr>
                        <a:t>Les Ardennes</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9,5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379"/>
                    </a:solidFill>
                  </a:tcPr>
                </a:tc>
                <a:tc>
                  <a:txBody>
                    <a:bodyPr/>
                    <a:lstStyle/>
                    <a:p>
                      <a:pPr algn="r" fontAlgn="b">
                        <a:buNone/>
                      </a:pPr>
                      <a:r>
                        <a:rPr lang="fr-FR" sz="900" b="1" i="0" u="none" strike="noStrike">
                          <a:solidFill>
                            <a:srgbClr val="000000"/>
                          </a:solidFill>
                          <a:effectLst/>
                          <a:latin typeface="Aptos Narrow" panose="020B0004020202020204" pitchFamily="34" charset="0"/>
                        </a:rPr>
                        <a:t>4,1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676"/>
                    </a:solidFill>
                  </a:tcPr>
                </a:tc>
                <a:tc>
                  <a:txBody>
                    <a:bodyPr/>
                    <a:lstStyle/>
                    <a:p>
                      <a:pPr algn="r" fontAlgn="b">
                        <a:buNone/>
                      </a:pPr>
                      <a:r>
                        <a:rPr lang="fr-FR" sz="900" b="1" i="0" u="none" strike="noStrike">
                          <a:solidFill>
                            <a:srgbClr val="00B050"/>
                          </a:solidFill>
                          <a:effectLst/>
                          <a:latin typeface="Aptos Narrow" panose="020B0004020202020204" pitchFamily="34" charset="0"/>
                        </a:rPr>
                        <a:t>5,4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36443327"/>
                  </a:ext>
                </a:extLst>
              </a:tr>
              <a:tr h="184150">
                <a:tc>
                  <a:txBody>
                    <a:bodyPr/>
                    <a:lstStyle/>
                    <a:p>
                      <a:pPr algn="l" fontAlgn="b">
                        <a:buNone/>
                      </a:pPr>
                      <a:r>
                        <a:rPr lang="fr-FR" sz="900" b="0" i="0" u="none" strike="noStrike">
                          <a:solidFill>
                            <a:srgbClr val="000000"/>
                          </a:solidFill>
                          <a:effectLst/>
                          <a:latin typeface="Aptos Narrow" panose="020B0004020202020204" pitchFamily="34" charset="0"/>
                        </a:rPr>
                        <a:t> Comfort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6,5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C77"/>
                    </a:solidFill>
                  </a:tcPr>
                </a:tc>
                <a:tc>
                  <a:txBody>
                    <a:bodyPr/>
                    <a:lstStyle/>
                    <a:p>
                      <a:pPr algn="r" fontAlgn="b">
                        <a:buNone/>
                      </a:pPr>
                      <a:r>
                        <a:rPr lang="fr-FR" sz="900" b="0" i="0" u="none" strike="noStrike">
                          <a:solidFill>
                            <a:srgbClr val="000000"/>
                          </a:solidFill>
                          <a:effectLst/>
                          <a:latin typeface="Aptos Narrow" panose="020B0004020202020204" pitchFamily="34" charset="0"/>
                        </a:rPr>
                        <a:t>4,7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777"/>
                    </a:solidFill>
                  </a:tcPr>
                </a:tc>
                <a:tc>
                  <a:txBody>
                    <a:bodyPr/>
                    <a:lstStyle/>
                    <a:p>
                      <a:pPr algn="r" fontAlgn="b">
                        <a:buNone/>
                      </a:pPr>
                      <a:r>
                        <a:rPr lang="fr-FR" sz="900" b="0" i="0" u="none" strike="noStrike">
                          <a:solidFill>
                            <a:srgbClr val="00B050"/>
                          </a:solidFill>
                          <a:effectLst/>
                          <a:latin typeface="Aptos Narrow" panose="020B0004020202020204" pitchFamily="34" charset="0"/>
                        </a:rPr>
                        <a:t>1,8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36431134"/>
                  </a:ext>
                </a:extLst>
              </a:tr>
              <a:tr h="184150">
                <a:tc>
                  <a:txBody>
                    <a:bodyPr/>
                    <a:lstStyle/>
                    <a:p>
                      <a:pPr algn="l" fontAlgn="b">
                        <a:buNone/>
                      </a:pPr>
                      <a:r>
                        <a:rPr lang="fr-FR" sz="900" b="0" i="0" u="none" strike="noStrike">
                          <a:solidFill>
                            <a:srgbClr val="000000"/>
                          </a:solidFill>
                          <a:effectLst/>
                          <a:latin typeface="Aptos Narrow" panose="020B0004020202020204" pitchFamily="34" charset="0"/>
                        </a:rPr>
                        <a:t> Premium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13,1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C7B"/>
                    </a:solidFill>
                  </a:tcPr>
                </a:tc>
                <a:tc>
                  <a:txBody>
                    <a:bodyPr/>
                    <a:lstStyle/>
                    <a:p>
                      <a:pPr algn="r" fontAlgn="b">
                        <a:buNone/>
                      </a:pPr>
                      <a:r>
                        <a:rPr lang="fr-FR" sz="900" b="0" i="0" u="none" strike="noStrike">
                          <a:solidFill>
                            <a:srgbClr val="000000"/>
                          </a:solidFill>
                          <a:effectLst/>
                          <a:latin typeface="Aptos Narrow" panose="020B0004020202020204" pitchFamily="34" charset="0"/>
                        </a:rPr>
                        <a:t>4,5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776"/>
                    </a:solidFill>
                  </a:tcPr>
                </a:tc>
                <a:tc>
                  <a:txBody>
                    <a:bodyPr/>
                    <a:lstStyle/>
                    <a:p>
                      <a:pPr algn="r" fontAlgn="b">
                        <a:buNone/>
                      </a:pPr>
                      <a:r>
                        <a:rPr lang="fr-FR" sz="900" b="0" i="0" u="none" strike="noStrike">
                          <a:solidFill>
                            <a:srgbClr val="00B050"/>
                          </a:solidFill>
                          <a:effectLst/>
                          <a:latin typeface="Aptos Narrow" panose="020B0004020202020204" pitchFamily="34" charset="0"/>
                        </a:rPr>
                        <a:t>8,5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67057419"/>
                  </a:ext>
                </a:extLst>
              </a:tr>
              <a:tr h="184150">
                <a:tc>
                  <a:txBody>
                    <a:bodyPr/>
                    <a:lstStyle/>
                    <a:p>
                      <a:pPr algn="l" fontAlgn="b">
                        <a:buNone/>
                      </a:pPr>
                      <a:r>
                        <a:rPr lang="fr-FR" sz="900" b="0" i="0" u="none" strike="noStrike">
                          <a:solidFill>
                            <a:srgbClr val="000000"/>
                          </a:solidFill>
                          <a:effectLst/>
                          <a:latin typeface="Aptos Narrow" panose="020B0004020202020204" pitchFamily="34" charset="0"/>
                        </a:rPr>
                        <a:t> VIP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5,4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977"/>
                    </a:solidFill>
                  </a:tcPr>
                </a:tc>
                <a:tc>
                  <a:txBody>
                    <a:bodyPr/>
                    <a:lstStyle/>
                    <a:p>
                      <a:pPr algn="r" fontAlgn="b">
                        <a:buNone/>
                      </a:pPr>
                      <a:r>
                        <a:rPr lang="fr-FR" sz="900" b="0" i="0" u="none" strike="noStrike">
                          <a:solidFill>
                            <a:srgbClr val="000000"/>
                          </a:solidFill>
                          <a:effectLst/>
                          <a:latin typeface="Aptos Narrow" panose="020B0004020202020204" pitchFamily="34" charset="0"/>
                        </a:rPr>
                        <a:t>0,7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D75"/>
                    </a:solidFill>
                  </a:tcPr>
                </a:tc>
                <a:tc>
                  <a:txBody>
                    <a:bodyPr/>
                    <a:lstStyle/>
                    <a:p>
                      <a:pPr algn="r" fontAlgn="b">
                        <a:buNone/>
                      </a:pPr>
                      <a:r>
                        <a:rPr lang="fr-FR" sz="900" b="0" i="0" u="none" strike="noStrike">
                          <a:solidFill>
                            <a:srgbClr val="00B050"/>
                          </a:solidFill>
                          <a:effectLst/>
                          <a:latin typeface="Aptos Narrow" panose="020B0004020202020204" pitchFamily="34" charset="0"/>
                        </a:rPr>
                        <a:t>4,8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61543088"/>
                  </a:ext>
                </a:extLst>
              </a:tr>
            </a:tbl>
          </a:graphicData>
        </a:graphic>
      </p:graphicFrame>
      <p:graphicFrame>
        <p:nvGraphicFramePr>
          <p:cNvPr id="26" name="Table 25">
            <a:extLst>
              <a:ext uri="{FF2B5EF4-FFF2-40B4-BE49-F238E27FC236}">
                <a16:creationId xmlns:a16="http://schemas.microsoft.com/office/drawing/2014/main" id="{1FDEB334-477F-CF2C-D6EB-302F47BB6893}"/>
              </a:ext>
            </a:extLst>
          </p:cNvPr>
          <p:cNvGraphicFramePr>
            <a:graphicFrameLocks noGrp="1"/>
          </p:cNvGraphicFramePr>
          <p:nvPr>
            <p:extLst>
              <p:ext uri="{D42A27DB-BD31-4B8C-83A1-F6EECF244321}">
                <p14:modId xmlns:p14="http://schemas.microsoft.com/office/powerpoint/2010/main" val="2085249347"/>
              </p:ext>
            </p:extLst>
          </p:nvPr>
        </p:nvGraphicFramePr>
        <p:xfrm>
          <a:off x="4162424" y="4974591"/>
          <a:ext cx="2771776" cy="826575"/>
        </p:xfrm>
        <a:graphic>
          <a:graphicData uri="http://schemas.openxmlformats.org/drawingml/2006/table">
            <a:tbl>
              <a:tblPr/>
              <a:tblGrid>
                <a:gridCol w="1227754">
                  <a:extLst>
                    <a:ext uri="{9D8B030D-6E8A-4147-A177-3AD203B41FA5}">
                      <a16:colId xmlns:a16="http://schemas.microsoft.com/office/drawing/2014/main" val="2923711596"/>
                    </a:ext>
                  </a:extLst>
                </a:gridCol>
                <a:gridCol w="514674">
                  <a:extLst>
                    <a:ext uri="{9D8B030D-6E8A-4147-A177-3AD203B41FA5}">
                      <a16:colId xmlns:a16="http://schemas.microsoft.com/office/drawing/2014/main" val="3327120361"/>
                    </a:ext>
                  </a:extLst>
                </a:gridCol>
                <a:gridCol w="514674">
                  <a:extLst>
                    <a:ext uri="{9D8B030D-6E8A-4147-A177-3AD203B41FA5}">
                      <a16:colId xmlns:a16="http://schemas.microsoft.com/office/drawing/2014/main" val="3259583327"/>
                    </a:ext>
                  </a:extLst>
                </a:gridCol>
                <a:gridCol w="514674">
                  <a:extLst>
                    <a:ext uri="{9D8B030D-6E8A-4147-A177-3AD203B41FA5}">
                      <a16:colId xmlns:a16="http://schemas.microsoft.com/office/drawing/2014/main" val="4122975339"/>
                    </a:ext>
                  </a:extLst>
                </a:gridCol>
              </a:tblGrid>
              <a:tr h="165315">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900" b="1" i="0" u="none" strike="noStrike">
                          <a:solidFill>
                            <a:srgbClr val="000000"/>
                          </a:solidFill>
                          <a:effectLst/>
                          <a:latin typeface="Aptos Narrow" panose="020B0004020202020204" pitchFamily="34" charset="0"/>
                        </a:rPr>
                        <a:t>FY25</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900" b="1" i="0" u="none" strike="noStrike">
                          <a:solidFill>
                            <a:srgbClr val="000000"/>
                          </a:solidFill>
                          <a:effectLst/>
                          <a:latin typeface="Aptos Narrow" panose="020B0004020202020204" pitchFamily="34" charset="0"/>
                        </a:rPr>
                        <a:t>FY24</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900" b="1" i="0" u="none" strike="noStrike">
                          <a:solidFill>
                            <a:srgbClr val="000000"/>
                          </a:solidFill>
                          <a:effectLst/>
                          <a:latin typeface="Aptos Narrow" panose="020B0004020202020204" pitchFamily="34" charset="0"/>
                        </a:rPr>
                        <a:t>Evol</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7566687"/>
                  </a:ext>
                </a:extLst>
              </a:tr>
              <a:tr h="165315">
                <a:tc>
                  <a:txBody>
                    <a:bodyPr/>
                    <a:lstStyle/>
                    <a:p>
                      <a:pPr algn="l" fontAlgn="b">
                        <a:buNone/>
                      </a:pPr>
                      <a:r>
                        <a:rPr lang="fr-FR" sz="900" b="1" i="0" u="none" strike="noStrike">
                          <a:solidFill>
                            <a:srgbClr val="000000"/>
                          </a:solidFill>
                          <a:effectLst/>
                          <a:latin typeface="Aptos Narrow" panose="020B0004020202020204" pitchFamily="34" charset="0"/>
                        </a:rPr>
                        <a:t>Park De Haan</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7,7</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F78"/>
                    </a:solidFill>
                  </a:tcPr>
                </a:tc>
                <a:tc>
                  <a:txBody>
                    <a:bodyPr/>
                    <a:lstStyle/>
                    <a:p>
                      <a:pPr algn="r" fontAlgn="b">
                        <a:buNone/>
                      </a:pPr>
                      <a:r>
                        <a:rPr lang="fr-FR" sz="900" b="1" i="0" u="none" strike="noStrike">
                          <a:solidFill>
                            <a:srgbClr val="000000"/>
                          </a:solidFill>
                          <a:effectLst/>
                          <a:latin typeface="Aptos Narrow" panose="020B0004020202020204" pitchFamily="34" charset="0"/>
                        </a:rPr>
                        <a:t>-1,0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974"/>
                    </a:solidFill>
                  </a:tcPr>
                </a:tc>
                <a:tc>
                  <a:txBody>
                    <a:bodyPr/>
                    <a:lstStyle/>
                    <a:p>
                      <a:pPr algn="r" fontAlgn="b">
                        <a:buNone/>
                      </a:pPr>
                      <a:r>
                        <a:rPr lang="fr-FR" sz="900" b="1" i="0" u="none" strike="noStrike">
                          <a:solidFill>
                            <a:srgbClr val="00B050"/>
                          </a:solidFill>
                          <a:effectLst/>
                          <a:latin typeface="Aptos Narrow" panose="020B0004020202020204" pitchFamily="34" charset="0"/>
                        </a:rPr>
                        <a:t>8,7</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36843935"/>
                  </a:ext>
                </a:extLst>
              </a:tr>
              <a:tr h="165315">
                <a:tc>
                  <a:txBody>
                    <a:bodyPr/>
                    <a:lstStyle/>
                    <a:p>
                      <a:pPr algn="l" fontAlgn="b">
                        <a:buNone/>
                      </a:pPr>
                      <a:r>
                        <a:rPr lang="fr-FR" sz="900" b="0" i="0" u="none" strike="noStrike">
                          <a:solidFill>
                            <a:srgbClr val="000000"/>
                          </a:solidFill>
                          <a:effectLst/>
                          <a:latin typeface="Aptos Narrow" panose="020B0004020202020204" pitchFamily="34" charset="0"/>
                        </a:rPr>
                        <a:t> Comfort cottage</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6,6</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C77"/>
                    </a:solidFill>
                  </a:tcPr>
                </a:tc>
                <a:tc>
                  <a:txBody>
                    <a:bodyPr/>
                    <a:lstStyle/>
                    <a:p>
                      <a:pPr algn="r" fontAlgn="b">
                        <a:buNone/>
                      </a:pPr>
                      <a:r>
                        <a:rPr lang="fr-FR" sz="900" b="0" i="0" u="none" strike="noStrike">
                          <a:solidFill>
                            <a:srgbClr val="000000"/>
                          </a:solidFill>
                          <a:effectLst/>
                          <a:latin typeface="Aptos Narrow" panose="020B0004020202020204" pitchFamily="34" charset="0"/>
                        </a:rPr>
                        <a:t>-1,2</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874"/>
                    </a:solidFill>
                  </a:tcPr>
                </a:tc>
                <a:tc>
                  <a:txBody>
                    <a:bodyPr/>
                    <a:lstStyle/>
                    <a:p>
                      <a:pPr algn="r" fontAlgn="b">
                        <a:buNone/>
                      </a:pPr>
                      <a:r>
                        <a:rPr lang="fr-FR" sz="900" b="0" i="0" u="none" strike="noStrike">
                          <a:solidFill>
                            <a:srgbClr val="00B050"/>
                          </a:solidFill>
                          <a:effectLst/>
                          <a:latin typeface="Aptos Narrow" panose="020B0004020202020204" pitchFamily="34" charset="0"/>
                        </a:rPr>
                        <a:t>7,8</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51722389"/>
                  </a:ext>
                </a:extLst>
              </a:tr>
              <a:tr h="165315">
                <a:tc>
                  <a:txBody>
                    <a:bodyPr/>
                    <a:lstStyle/>
                    <a:p>
                      <a:pPr algn="l" fontAlgn="b">
                        <a:buNone/>
                      </a:pPr>
                      <a:r>
                        <a:rPr lang="fr-FR" sz="900" b="0" i="0" u="none" strike="noStrike">
                          <a:solidFill>
                            <a:srgbClr val="000000"/>
                          </a:solidFill>
                          <a:effectLst/>
                          <a:latin typeface="Aptos Narrow" panose="020B0004020202020204" pitchFamily="34" charset="0"/>
                        </a:rPr>
                        <a:t> Premium cottage</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10,6</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679"/>
                    </a:solidFill>
                  </a:tcPr>
                </a:tc>
                <a:tc>
                  <a:txBody>
                    <a:bodyPr/>
                    <a:lstStyle/>
                    <a:p>
                      <a:pPr algn="r" fontAlgn="b">
                        <a:buNone/>
                      </a:pPr>
                      <a:r>
                        <a:rPr lang="fr-FR" sz="900" b="0" i="0" u="none" strike="noStrike">
                          <a:solidFill>
                            <a:srgbClr val="000000"/>
                          </a:solidFill>
                          <a:effectLst/>
                          <a:latin typeface="Aptos Narrow" panose="020B0004020202020204" pitchFamily="34" charset="0"/>
                        </a:rPr>
                        <a:t>1,7</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A075"/>
                    </a:solidFill>
                  </a:tcPr>
                </a:tc>
                <a:tc>
                  <a:txBody>
                    <a:bodyPr/>
                    <a:lstStyle/>
                    <a:p>
                      <a:pPr algn="r" fontAlgn="b">
                        <a:buNone/>
                      </a:pPr>
                      <a:r>
                        <a:rPr lang="fr-FR" sz="900" b="0" i="0" u="none" strike="noStrike">
                          <a:solidFill>
                            <a:srgbClr val="00B050"/>
                          </a:solidFill>
                          <a:effectLst/>
                          <a:latin typeface="Aptos Narrow" panose="020B0004020202020204" pitchFamily="34" charset="0"/>
                        </a:rPr>
                        <a:t>8,8</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35304629"/>
                  </a:ext>
                </a:extLst>
              </a:tr>
              <a:tr h="165315">
                <a:tc>
                  <a:txBody>
                    <a:bodyPr/>
                    <a:lstStyle/>
                    <a:p>
                      <a:pPr algn="l" fontAlgn="b">
                        <a:buNone/>
                      </a:pPr>
                      <a:r>
                        <a:rPr lang="fr-FR" sz="900" b="0" i="0" u="none" strike="noStrike">
                          <a:solidFill>
                            <a:srgbClr val="000000"/>
                          </a:solidFill>
                          <a:effectLst/>
                          <a:latin typeface="Aptos Narrow" panose="020B0004020202020204" pitchFamily="34" charset="0"/>
                        </a:rPr>
                        <a:t> VIP cottage</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5,2</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877"/>
                    </a:solidFill>
                  </a:tcPr>
                </a:tc>
                <a:tc>
                  <a:txBody>
                    <a:bodyPr/>
                    <a:lstStyle/>
                    <a:p>
                      <a:pPr algn="r" fontAlgn="b">
                        <a:buNone/>
                      </a:pPr>
                      <a:r>
                        <a:rPr lang="fr-FR" sz="900" b="0" i="0" u="none" strike="noStrike">
                          <a:solidFill>
                            <a:srgbClr val="000000"/>
                          </a:solidFill>
                          <a:effectLst/>
                          <a:latin typeface="Aptos Narrow" panose="020B0004020202020204" pitchFamily="34" charset="0"/>
                        </a:rPr>
                        <a:t>-4,4</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072"/>
                    </a:solidFill>
                  </a:tcPr>
                </a:tc>
                <a:tc>
                  <a:txBody>
                    <a:bodyPr/>
                    <a:lstStyle/>
                    <a:p>
                      <a:pPr algn="r" fontAlgn="b">
                        <a:buNone/>
                      </a:pPr>
                      <a:r>
                        <a:rPr lang="fr-FR" sz="900" b="0" i="0" u="none" strike="noStrike">
                          <a:solidFill>
                            <a:srgbClr val="00B050"/>
                          </a:solidFill>
                          <a:effectLst/>
                          <a:latin typeface="Aptos Narrow" panose="020B0004020202020204" pitchFamily="34" charset="0"/>
                        </a:rPr>
                        <a:t>9,6</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26623596"/>
                  </a:ext>
                </a:extLst>
              </a:tr>
            </a:tbl>
          </a:graphicData>
        </a:graphic>
      </p:graphicFrame>
      <p:graphicFrame>
        <p:nvGraphicFramePr>
          <p:cNvPr id="27" name="Table 26">
            <a:extLst>
              <a:ext uri="{FF2B5EF4-FFF2-40B4-BE49-F238E27FC236}">
                <a16:creationId xmlns:a16="http://schemas.microsoft.com/office/drawing/2014/main" id="{BC5C9821-A20D-5964-8257-8B2B18B4E843}"/>
              </a:ext>
            </a:extLst>
          </p:cNvPr>
          <p:cNvGraphicFramePr>
            <a:graphicFrameLocks noGrp="1"/>
          </p:cNvGraphicFramePr>
          <p:nvPr>
            <p:extLst>
              <p:ext uri="{D42A27DB-BD31-4B8C-83A1-F6EECF244321}">
                <p14:modId xmlns:p14="http://schemas.microsoft.com/office/powerpoint/2010/main" val="3637337776"/>
              </p:ext>
            </p:extLst>
          </p:nvPr>
        </p:nvGraphicFramePr>
        <p:xfrm>
          <a:off x="210894" y="5309549"/>
          <a:ext cx="3103805" cy="989296"/>
        </p:xfrm>
        <a:graphic>
          <a:graphicData uri="http://schemas.openxmlformats.org/drawingml/2006/table">
            <a:tbl>
              <a:tblPr/>
              <a:tblGrid>
                <a:gridCol w="1875926">
                  <a:extLst>
                    <a:ext uri="{9D8B030D-6E8A-4147-A177-3AD203B41FA5}">
                      <a16:colId xmlns:a16="http://schemas.microsoft.com/office/drawing/2014/main" val="334086563"/>
                    </a:ext>
                  </a:extLst>
                </a:gridCol>
                <a:gridCol w="409293">
                  <a:extLst>
                    <a:ext uri="{9D8B030D-6E8A-4147-A177-3AD203B41FA5}">
                      <a16:colId xmlns:a16="http://schemas.microsoft.com/office/drawing/2014/main" val="1432768502"/>
                    </a:ext>
                  </a:extLst>
                </a:gridCol>
                <a:gridCol w="409293">
                  <a:extLst>
                    <a:ext uri="{9D8B030D-6E8A-4147-A177-3AD203B41FA5}">
                      <a16:colId xmlns:a16="http://schemas.microsoft.com/office/drawing/2014/main" val="912143704"/>
                    </a:ext>
                  </a:extLst>
                </a:gridCol>
                <a:gridCol w="409293">
                  <a:extLst>
                    <a:ext uri="{9D8B030D-6E8A-4147-A177-3AD203B41FA5}">
                      <a16:colId xmlns:a16="http://schemas.microsoft.com/office/drawing/2014/main" val="2848692505"/>
                    </a:ext>
                  </a:extLst>
                </a:gridCol>
              </a:tblGrid>
              <a:tr h="126223">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900" b="1" i="0" u="none" strike="noStrike">
                          <a:solidFill>
                            <a:srgbClr val="000000"/>
                          </a:solidFill>
                          <a:effectLst/>
                          <a:latin typeface="Aptos Narrow" panose="020B0004020202020204" pitchFamily="34" charset="0"/>
                        </a:rPr>
                        <a:t>FY25</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900" b="1" i="0" u="none" strike="noStrike">
                          <a:solidFill>
                            <a:srgbClr val="000000"/>
                          </a:solidFill>
                          <a:effectLst/>
                          <a:latin typeface="Aptos Narrow" panose="020B0004020202020204" pitchFamily="34" charset="0"/>
                        </a:rPr>
                        <a:t>FY24</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900" b="1" i="0" u="none" strike="noStrike">
                          <a:solidFill>
                            <a:srgbClr val="000000"/>
                          </a:solidFill>
                          <a:effectLst/>
                          <a:latin typeface="Aptos Narrow" panose="020B0004020202020204" pitchFamily="34" charset="0"/>
                        </a:rPr>
                        <a:t>Evol</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77841465"/>
                  </a:ext>
                </a:extLst>
              </a:tr>
              <a:tr h="126223">
                <a:tc>
                  <a:txBody>
                    <a:bodyPr/>
                    <a:lstStyle/>
                    <a:p>
                      <a:pPr algn="l" fontAlgn="b">
                        <a:buNone/>
                      </a:pPr>
                      <a:r>
                        <a:rPr lang="fr-FR" sz="900" b="1" i="0" u="none" strike="noStrike">
                          <a:solidFill>
                            <a:srgbClr val="000000"/>
                          </a:solidFill>
                          <a:effectLst/>
                          <a:latin typeface="Aptos Narrow" panose="020B0004020202020204" pitchFamily="34" charset="0"/>
                        </a:rPr>
                        <a:t>Terhills Resort</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57,4</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ECB7E"/>
                    </a:solidFill>
                  </a:tcPr>
                </a:tc>
                <a:tc>
                  <a:txBody>
                    <a:bodyPr/>
                    <a:lstStyle/>
                    <a:p>
                      <a:pPr algn="r" fontAlgn="b">
                        <a:buNone/>
                      </a:pPr>
                      <a:r>
                        <a:rPr lang="fr-FR" sz="900" b="1" i="0" u="none" strike="noStrike">
                          <a:solidFill>
                            <a:srgbClr val="000000"/>
                          </a:solidFill>
                          <a:effectLst/>
                          <a:latin typeface="Aptos Narrow" panose="020B0004020202020204" pitchFamily="34" charset="0"/>
                        </a:rPr>
                        <a:t>51,3</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8D27F"/>
                    </a:solidFill>
                  </a:tcPr>
                </a:tc>
                <a:tc>
                  <a:txBody>
                    <a:bodyPr/>
                    <a:lstStyle/>
                    <a:p>
                      <a:pPr algn="r" fontAlgn="b">
                        <a:buNone/>
                      </a:pPr>
                      <a:r>
                        <a:rPr lang="fr-FR" sz="900" b="1" i="0" u="none" strike="noStrike">
                          <a:solidFill>
                            <a:srgbClr val="00B050"/>
                          </a:solidFill>
                          <a:effectLst/>
                          <a:latin typeface="Aptos Narrow" panose="020B0004020202020204" pitchFamily="34" charset="0"/>
                        </a:rPr>
                        <a:t>6,1</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40063525"/>
                  </a:ext>
                </a:extLst>
              </a:tr>
              <a:tr h="126223">
                <a:tc>
                  <a:txBody>
                    <a:bodyPr/>
                    <a:lstStyle/>
                    <a:p>
                      <a:pPr algn="l" fontAlgn="b">
                        <a:buNone/>
                      </a:pPr>
                      <a:r>
                        <a:rPr lang="fr-FR" sz="900" b="0" i="0" u="none" strike="noStrike">
                          <a:solidFill>
                            <a:srgbClr val="000000"/>
                          </a:solidFill>
                          <a:effectLst/>
                          <a:latin typeface="Aptos Narrow" panose="020B0004020202020204" pitchFamily="34" charset="0"/>
                        </a:rPr>
                        <a:t> Disabled VIP</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55,2</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7CD7E"/>
                    </a:solidFill>
                  </a:tcPr>
                </a:tc>
                <a:tc>
                  <a:txBody>
                    <a:bodyPr/>
                    <a:lstStyle/>
                    <a:p>
                      <a:pPr algn="r" fontAlgn="b">
                        <a:buNone/>
                      </a:pPr>
                      <a:r>
                        <a:rPr lang="fr-FR" sz="900" b="0" i="0" u="none" strike="noStrike">
                          <a:solidFill>
                            <a:srgbClr val="000000"/>
                          </a:solidFill>
                          <a:effectLst/>
                          <a:latin typeface="Aptos Narrow" panose="020B0004020202020204" pitchFamily="34" charset="0"/>
                        </a:rPr>
                        <a:t>51,9</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6D27F"/>
                    </a:solidFill>
                  </a:tcPr>
                </a:tc>
                <a:tc>
                  <a:txBody>
                    <a:bodyPr/>
                    <a:lstStyle/>
                    <a:p>
                      <a:pPr algn="r" fontAlgn="b">
                        <a:buNone/>
                      </a:pPr>
                      <a:r>
                        <a:rPr lang="fr-FR" sz="900" b="0" i="0" u="none" strike="noStrike">
                          <a:solidFill>
                            <a:srgbClr val="00B050"/>
                          </a:solidFill>
                          <a:effectLst/>
                          <a:latin typeface="Aptos Narrow" panose="020B0004020202020204" pitchFamily="34" charset="0"/>
                        </a:rPr>
                        <a:t>3,3</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40846670"/>
                  </a:ext>
                </a:extLst>
              </a:tr>
              <a:tr h="126223">
                <a:tc>
                  <a:txBody>
                    <a:bodyPr/>
                    <a:lstStyle/>
                    <a:p>
                      <a:pPr algn="l" fontAlgn="b">
                        <a:buNone/>
                      </a:pPr>
                      <a:r>
                        <a:rPr lang="fr-FR" sz="900" b="0" i="0" u="none" strike="noStrike">
                          <a:solidFill>
                            <a:srgbClr val="000000"/>
                          </a:solidFill>
                          <a:effectLst/>
                          <a:latin typeface="Aptos Narrow" panose="020B0004020202020204" pitchFamily="34" charset="0"/>
                        </a:rPr>
                        <a:t> Exclusive Lakeside cottage</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57,6</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DCA7E"/>
                    </a:solidFill>
                  </a:tcPr>
                </a:tc>
                <a:tc>
                  <a:txBody>
                    <a:bodyPr/>
                    <a:lstStyle/>
                    <a:p>
                      <a:pPr algn="r" fontAlgn="b">
                        <a:buNone/>
                      </a:pPr>
                      <a:r>
                        <a:rPr lang="fr-FR" sz="900" b="0" i="0" u="none" strike="noStrike">
                          <a:solidFill>
                            <a:srgbClr val="000000"/>
                          </a:solidFill>
                          <a:effectLst/>
                          <a:latin typeface="Aptos Narrow" panose="020B0004020202020204" pitchFamily="34" charset="0"/>
                        </a:rPr>
                        <a:t>48,8</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3D680"/>
                    </a:solidFill>
                  </a:tcPr>
                </a:tc>
                <a:tc>
                  <a:txBody>
                    <a:bodyPr/>
                    <a:lstStyle/>
                    <a:p>
                      <a:pPr algn="r" fontAlgn="b">
                        <a:buNone/>
                      </a:pPr>
                      <a:r>
                        <a:rPr lang="fr-FR" sz="900" b="0" i="0" u="none" strike="noStrike">
                          <a:solidFill>
                            <a:srgbClr val="00B050"/>
                          </a:solidFill>
                          <a:effectLst/>
                          <a:latin typeface="Aptos Narrow" panose="020B0004020202020204" pitchFamily="34" charset="0"/>
                        </a:rPr>
                        <a:t>8,8</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95900259"/>
                  </a:ext>
                </a:extLst>
              </a:tr>
              <a:tr h="126223">
                <a:tc>
                  <a:txBody>
                    <a:bodyPr/>
                    <a:lstStyle/>
                    <a:p>
                      <a:pPr algn="l" fontAlgn="b">
                        <a:buNone/>
                      </a:pPr>
                      <a:r>
                        <a:rPr lang="fr-FR" sz="900" b="0" i="0" u="none" strike="noStrike">
                          <a:solidFill>
                            <a:srgbClr val="000000"/>
                          </a:solidFill>
                          <a:effectLst/>
                          <a:latin typeface="Aptos Narrow" panose="020B0004020202020204" pitchFamily="34" charset="0"/>
                        </a:rPr>
                        <a:t> Exclusive cottage</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47,3</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AD780"/>
                    </a:solidFill>
                  </a:tcPr>
                </a:tc>
                <a:tc>
                  <a:txBody>
                    <a:bodyPr/>
                    <a:lstStyle/>
                    <a:p>
                      <a:pPr algn="r" fontAlgn="b">
                        <a:buNone/>
                      </a:pPr>
                      <a:r>
                        <a:rPr lang="fr-FR" sz="900" b="0" i="0" u="none" strike="noStrike">
                          <a:solidFill>
                            <a:srgbClr val="000000"/>
                          </a:solidFill>
                          <a:effectLst/>
                          <a:latin typeface="Aptos Narrow" panose="020B0004020202020204" pitchFamily="34" charset="0"/>
                        </a:rPr>
                        <a:t>45,7</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1DA81"/>
                    </a:solidFill>
                  </a:tcPr>
                </a:tc>
                <a:tc>
                  <a:txBody>
                    <a:bodyPr/>
                    <a:lstStyle/>
                    <a:p>
                      <a:pPr algn="r" fontAlgn="b">
                        <a:buNone/>
                      </a:pPr>
                      <a:r>
                        <a:rPr lang="fr-FR" sz="900" b="0" i="0" u="none" strike="noStrike">
                          <a:solidFill>
                            <a:srgbClr val="00B050"/>
                          </a:solidFill>
                          <a:effectLst/>
                          <a:latin typeface="Aptos Narrow" panose="020B0004020202020204" pitchFamily="34" charset="0"/>
                        </a:rPr>
                        <a:t>1,6</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32832551"/>
                  </a:ext>
                </a:extLst>
              </a:tr>
              <a:tr h="126223">
                <a:tc>
                  <a:txBody>
                    <a:bodyPr/>
                    <a:lstStyle/>
                    <a:p>
                      <a:pPr algn="l" fontAlgn="b">
                        <a:buNone/>
                      </a:pPr>
                      <a:r>
                        <a:rPr lang="fr-FR" sz="900" b="0" i="0" u="none" strike="noStrike">
                          <a:solidFill>
                            <a:srgbClr val="000000"/>
                          </a:solidFill>
                          <a:effectLst/>
                          <a:latin typeface="Aptos Narrow" panose="020B0004020202020204" pitchFamily="34" charset="0"/>
                        </a:rPr>
                        <a:t> VIP cottage</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58,0</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BCA7E"/>
                    </a:solidFill>
                  </a:tcPr>
                </a:tc>
                <a:tc>
                  <a:txBody>
                    <a:bodyPr/>
                    <a:lstStyle/>
                    <a:p>
                      <a:pPr algn="r" fontAlgn="b">
                        <a:buNone/>
                      </a:pPr>
                      <a:r>
                        <a:rPr lang="fr-FR" sz="900" b="0" i="0" u="none" strike="noStrike">
                          <a:solidFill>
                            <a:srgbClr val="000000"/>
                          </a:solidFill>
                          <a:effectLst/>
                          <a:latin typeface="Aptos Narrow" panose="020B0004020202020204" pitchFamily="34" charset="0"/>
                        </a:rPr>
                        <a:t>51,9</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6D27F"/>
                    </a:solidFill>
                  </a:tcPr>
                </a:tc>
                <a:tc>
                  <a:txBody>
                    <a:bodyPr/>
                    <a:lstStyle/>
                    <a:p>
                      <a:pPr algn="r" fontAlgn="b">
                        <a:buNone/>
                      </a:pPr>
                      <a:r>
                        <a:rPr lang="fr-FR" sz="900" b="0" i="0" u="none" strike="noStrike">
                          <a:solidFill>
                            <a:srgbClr val="00B050"/>
                          </a:solidFill>
                          <a:effectLst/>
                          <a:latin typeface="Aptos Narrow" panose="020B0004020202020204" pitchFamily="34" charset="0"/>
                        </a:rPr>
                        <a:t>6,1</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98038158"/>
                  </a:ext>
                </a:extLst>
              </a:tr>
              <a:tr h="126223">
                <a:tc>
                  <a:txBody>
                    <a:bodyPr/>
                    <a:lstStyle/>
                    <a:p>
                      <a:pPr algn="l" fontAlgn="b">
                        <a:buNone/>
                      </a:pPr>
                      <a:r>
                        <a:rPr lang="fr-FR" sz="900" b="0" i="0" u="none" strike="noStrike">
                          <a:solidFill>
                            <a:srgbClr val="000000"/>
                          </a:solidFill>
                          <a:effectLst/>
                          <a:latin typeface="Aptos Narrow" panose="020B0004020202020204" pitchFamily="34" charset="0"/>
                        </a:rPr>
                        <a:t> Vip Lake side</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66,9</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900" b="0" i="0" u="none" strike="noStrike">
                          <a:solidFill>
                            <a:srgbClr val="000000"/>
                          </a:solidFill>
                          <a:effectLst/>
                          <a:latin typeface="Aptos Narrow" panose="020B0004020202020204" pitchFamily="34" charset="0"/>
                        </a:rPr>
                        <a:t>64,0</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0C27C"/>
                    </a:solidFill>
                  </a:tcPr>
                </a:tc>
                <a:tc>
                  <a:txBody>
                    <a:bodyPr/>
                    <a:lstStyle/>
                    <a:p>
                      <a:pPr algn="r" fontAlgn="b">
                        <a:buNone/>
                      </a:pPr>
                      <a:r>
                        <a:rPr lang="fr-FR" sz="900" b="0" i="0" u="none" strike="noStrike">
                          <a:solidFill>
                            <a:srgbClr val="00B050"/>
                          </a:solidFill>
                          <a:effectLst/>
                          <a:latin typeface="Aptos Narrow" panose="020B0004020202020204" pitchFamily="34" charset="0"/>
                        </a:rPr>
                        <a:t>2,9</a:t>
                      </a:r>
                    </a:p>
                  </a:txBody>
                  <a:tcPr marL="4168" marR="4168" marT="416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06493865"/>
                  </a:ext>
                </a:extLst>
              </a:tr>
            </a:tbl>
          </a:graphicData>
        </a:graphic>
      </p:graphicFrame>
      <p:graphicFrame>
        <p:nvGraphicFramePr>
          <p:cNvPr id="28" name="Table 27">
            <a:extLst>
              <a:ext uri="{FF2B5EF4-FFF2-40B4-BE49-F238E27FC236}">
                <a16:creationId xmlns:a16="http://schemas.microsoft.com/office/drawing/2014/main" id="{3B220A7D-3B5F-8A48-0333-A68022A29FF2}"/>
              </a:ext>
            </a:extLst>
          </p:cNvPr>
          <p:cNvGraphicFramePr>
            <a:graphicFrameLocks noGrp="1"/>
          </p:cNvGraphicFramePr>
          <p:nvPr>
            <p:extLst>
              <p:ext uri="{D42A27DB-BD31-4B8C-83A1-F6EECF244321}">
                <p14:modId xmlns:p14="http://schemas.microsoft.com/office/powerpoint/2010/main" val="1109895898"/>
              </p:ext>
            </p:extLst>
          </p:nvPr>
        </p:nvGraphicFramePr>
        <p:xfrm>
          <a:off x="7791448" y="4952976"/>
          <a:ext cx="3609978" cy="826576"/>
        </p:xfrm>
        <a:graphic>
          <a:graphicData uri="http://schemas.openxmlformats.org/drawingml/2006/table">
            <a:tbl>
              <a:tblPr/>
              <a:tblGrid>
                <a:gridCol w="2181855">
                  <a:extLst>
                    <a:ext uri="{9D8B030D-6E8A-4147-A177-3AD203B41FA5}">
                      <a16:colId xmlns:a16="http://schemas.microsoft.com/office/drawing/2014/main" val="3795365757"/>
                    </a:ext>
                  </a:extLst>
                </a:gridCol>
                <a:gridCol w="476041">
                  <a:extLst>
                    <a:ext uri="{9D8B030D-6E8A-4147-A177-3AD203B41FA5}">
                      <a16:colId xmlns:a16="http://schemas.microsoft.com/office/drawing/2014/main" val="22724326"/>
                    </a:ext>
                  </a:extLst>
                </a:gridCol>
                <a:gridCol w="476041">
                  <a:extLst>
                    <a:ext uri="{9D8B030D-6E8A-4147-A177-3AD203B41FA5}">
                      <a16:colId xmlns:a16="http://schemas.microsoft.com/office/drawing/2014/main" val="482380874"/>
                    </a:ext>
                  </a:extLst>
                </a:gridCol>
                <a:gridCol w="476041">
                  <a:extLst>
                    <a:ext uri="{9D8B030D-6E8A-4147-A177-3AD203B41FA5}">
                      <a16:colId xmlns:a16="http://schemas.microsoft.com/office/drawing/2014/main" val="4054248793"/>
                    </a:ext>
                  </a:extLst>
                </a:gridCol>
              </a:tblGrid>
              <a:tr h="206644">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5771" marR="5771" marT="577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900" b="1" i="0" u="none" strike="noStrike">
                          <a:solidFill>
                            <a:srgbClr val="000000"/>
                          </a:solidFill>
                          <a:effectLst/>
                          <a:latin typeface="Aptos Narrow" panose="020B0004020202020204" pitchFamily="34" charset="0"/>
                        </a:rPr>
                        <a:t>FY25</a:t>
                      </a:r>
                    </a:p>
                  </a:txBody>
                  <a:tcPr marL="5771" marR="5771" marT="577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900" b="1" i="0" u="none" strike="noStrike">
                          <a:solidFill>
                            <a:srgbClr val="000000"/>
                          </a:solidFill>
                          <a:effectLst/>
                          <a:latin typeface="Aptos Narrow" panose="020B0004020202020204" pitchFamily="34" charset="0"/>
                        </a:rPr>
                        <a:t>FY24</a:t>
                      </a:r>
                    </a:p>
                  </a:txBody>
                  <a:tcPr marL="5771" marR="5771" marT="577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900" b="1" i="0" u="none" strike="noStrike">
                          <a:solidFill>
                            <a:srgbClr val="000000"/>
                          </a:solidFill>
                          <a:effectLst/>
                          <a:latin typeface="Aptos Narrow" panose="020B0004020202020204" pitchFamily="34" charset="0"/>
                        </a:rPr>
                        <a:t>Evol</a:t>
                      </a:r>
                    </a:p>
                  </a:txBody>
                  <a:tcPr marL="5771" marR="5771" marT="577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57167461"/>
                  </a:ext>
                </a:extLst>
              </a:tr>
              <a:tr h="206644">
                <a:tc>
                  <a:txBody>
                    <a:bodyPr/>
                    <a:lstStyle/>
                    <a:p>
                      <a:pPr algn="l" fontAlgn="b">
                        <a:buNone/>
                      </a:pPr>
                      <a:r>
                        <a:rPr lang="fr-FR" sz="900" b="1" i="0" u="none" strike="noStrike" err="1">
                          <a:solidFill>
                            <a:srgbClr val="000000"/>
                          </a:solidFill>
                          <a:effectLst/>
                          <a:latin typeface="Aptos Narrow" panose="020B0004020202020204" pitchFamily="34" charset="0"/>
                        </a:rPr>
                        <a:t>Oostduinkerke</a:t>
                      </a:r>
                      <a:r>
                        <a:rPr lang="fr-FR" sz="900" b="1" i="0" u="none" strike="noStrike">
                          <a:solidFill>
                            <a:srgbClr val="000000"/>
                          </a:solidFill>
                          <a:effectLst/>
                          <a:latin typeface="Aptos Narrow" panose="020B0004020202020204" pitchFamily="34" charset="0"/>
                        </a:rPr>
                        <a:t> </a:t>
                      </a:r>
                      <a:r>
                        <a:rPr lang="fr-FR" sz="900" b="1" i="0" u="none" strike="noStrike" err="1">
                          <a:solidFill>
                            <a:srgbClr val="000000"/>
                          </a:solidFill>
                          <a:effectLst/>
                          <a:latin typeface="Aptos Narrow" panose="020B0004020202020204" pitchFamily="34" charset="0"/>
                        </a:rPr>
                        <a:t>aan</a:t>
                      </a:r>
                      <a:r>
                        <a:rPr lang="fr-FR" sz="900" b="1" i="0" u="none" strike="noStrike">
                          <a:solidFill>
                            <a:srgbClr val="000000"/>
                          </a:solidFill>
                          <a:effectLst/>
                          <a:latin typeface="Aptos Narrow" panose="020B0004020202020204" pitchFamily="34" charset="0"/>
                        </a:rPr>
                        <a:t> </a:t>
                      </a:r>
                      <a:r>
                        <a:rPr lang="fr-FR" sz="900" b="1" i="0" u="none" strike="noStrike" err="1">
                          <a:solidFill>
                            <a:srgbClr val="000000"/>
                          </a:solidFill>
                          <a:effectLst/>
                          <a:latin typeface="Aptos Narrow" panose="020B0004020202020204" pitchFamily="34" charset="0"/>
                        </a:rPr>
                        <a:t>zee</a:t>
                      </a:r>
                      <a:endParaRPr lang="fr-FR" sz="900" b="1" i="0" u="none" strike="noStrike">
                        <a:solidFill>
                          <a:srgbClr val="000000"/>
                        </a:solidFill>
                        <a:effectLst/>
                        <a:latin typeface="Aptos Narrow" panose="020B0004020202020204" pitchFamily="34" charset="0"/>
                      </a:endParaRPr>
                    </a:p>
                  </a:txBody>
                  <a:tcPr marL="5771" marR="5771" marT="577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-10,1</a:t>
                      </a:r>
                    </a:p>
                  </a:txBody>
                  <a:tcPr marL="5771" marR="5771" marT="577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26F"/>
                    </a:solidFill>
                  </a:tcPr>
                </a:tc>
                <a:tc>
                  <a:txBody>
                    <a:bodyPr/>
                    <a:lstStyle/>
                    <a:p>
                      <a:pPr algn="r" fontAlgn="b">
                        <a:buNone/>
                      </a:pPr>
                      <a:r>
                        <a:rPr lang="fr-FR" sz="900" b="1" i="0" u="none" strike="noStrike">
                          <a:solidFill>
                            <a:srgbClr val="000000"/>
                          </a:solidFill>
                          <a:effectLst/>
                          <a:latin typeface="Aptos Narrow" panose="020B0004020202020204" pitchFamily="34" charset="0"/>
                        </a:rPr>
                        <a:t>-4,0</a:t>
                      </a:r>
                    </a:p>
                  </a:txBody>
                  <a:tcPr marL="5771" marR="5771" marT="577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172"/>
                    </a:solidFill>
                  </a:tcPr>
                </a:tc>
                <a:tc>
                  <a:txBody>
                    <a:bodyPr/>
                    <a:lstStyle/>
                    <a:p>
                      <a:pPr algn="r" fontAlgn="b">
                        <a:buNone/>
                      </a:pPr>
                      <a:r>
                        <a:rPr lang="fr-FR" sz="900" b="1" i="0" u="none" strike="noStrike">
                          <a:solidFill>
                            <a:srgbClr val="FF0000"/>
                          </a:solidFill>
                          <a:effectLst/>
                          <a:latin typeface="Aptos Narrow" panose="020B0004020202020204" pitchFamily="34" charset="0"/>
                        </a:rPr>
                        <a:t>-6,1</a:t>
                      </a:r>
                    </a:p>
                  </a:txBody>
                  <a:tcPr marL="5771" marR="5771" marT="577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13879660"/>
                  </a:ext>
                </a:extLst>
              </a:tr>
              <a:tr h="206644">
                <a:tc>
                  <a:txBody>
                    <a:bodyPr/>
                    <a:lstStyle/>
                    <a:p>
                      <a:pPr algn="l" fontAlgn="b">
                        <a:buNone/>
                      </a:pPr>
                      <a:r>
                        <a:rPr lang="fr-FR" sz="900" b="0" i="0" u="none" strike="noStrike">
                          <a:solidFill>
                            <a:srgbClr val="000000"/>
                          </a:solidFill>
                          <a:effectLst/>
                          <a:latin typeface="Aptos Narrow" panose="020B0004020202020204" pitchFamily="34" charset="0"/>
                        </a:rPr>
                        <a:t> Exclusive</a:t>
                      </a:r>
                    </a:p>
                  </a:txBody>
                  <a:tcPr marL="5771" marR="5771" marT="577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-2,5</a:t>
                      </a:r>
                    </a:p>
                  </a:txBody>
                  <a:tcPr marL="5771" marR="5771" marT="577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573"/>
                    </a:solidFill>
                  </a:tcPr>
                </a:tc>
                <a:tc>
                  <a:txBody>
                    <a:bodyPr/>
                    <a:lstStyle/>
                    <a:p>
                      <a:pPr algn="r" fontAlgn="b">
                        <a:buNone/>
                      </a:pPr>
                      <a:r>
                        <a:rPr lang="fr-FR" sz="900" b="0" i="0" u="none" strike="noStrike">
                          <a:solidFill>
                            <a:srgbClr val="000000"/>
                          </a:solidFill>
                          <a:effectLst/>
                          <a:latin typeface="Aptos Narrow" panose="020B0004020202020204" pitchFamily="34" charset="0"/>
                        </a:rPr>
                        <a:t>1,0</a:t>
                      </a:r>
                    </a:p>
                  </a:txBody>
                  <a:tcPr marL="5771" marR="5771" marT="577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E75"/>
                    </a:solidFill>
                  </a:tcPr>
                </a:tc>
                <a:tc>
                  <a:txBody>
                    <a:bodyPr/>
                    <a:lstStyle/>
                    <a:p>
                      <a:pPr algn="r" fontAlgn="b">
                        <a:buNone/>
                      </a:pPr>
                      <a:r>
                        <a:rPr lang="fr-FR" sz="900" b="0" i="0" u="none" strike="noStrike">
                          <a:solidFill>
                            <a:srgbClr val="FF0000"/>
                          </a:solidFill>
                          <a:effectLst/>
                          <a:latin typeface="Aptos Narrow" panose="020B0004020202020204" pitchFamily="34" charset="0"/>
                        </a:rPr>
                        <a:t>-3,5</a:t>
                      </a:r>
                    </a:p>
                  </a:txBody>
                  <a:tcPr marL="5771" marR="5771" marT="577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67669318"/>
                  </a:ext>
                </a:extLst>
              </a:tr>
              <a:tr h="206644">
                <a:tc>
                  <a:txBody>
                    <a:bodyPr/>
                    <a:lstStyle/>
                    <a:p>
                      <a:pPr algn="l" fontAlgn="b">
                        <a:buNone/>
                      </a:pPr>
                      <a:r>
                        <a:rPr lang="fr-FR" sz="900" b="0" i="0" u="none" strike="noStrike">
                          <a:solidFill>
                            <a:srgbClr val="000000"/>
                          </a:solidFill>
                          <a:effectLst/>
                          <a:latin typeface="Aptos Narrow" panose="020B0004020202020204" pitchFamily="34" charset="0"/>
                        </a:rPr>
                        <a:t> Select</a:t>
                      </a:r>
                    </a:p>
                  </a:txBody>
                  <a:tcPr marL="5771" marR="5771" marT="577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-12,6</a:t>
                      </a:r>
                    </a:p>
                  </a:txBody>
                  <a:tcPr marL="5771" marR="5771" marT="577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7C6E"/>
                    </a:solidFill>
                  </a:tcPr>
                </a:tc>
                <a:tc>
                  <a:txBody>
                    <a:bodyPr/>
                    <a:lstStyle/>
                    <a:p>
                      <a:pPr algn="r" fontAlgn="b">
                        <a:buNone/>
                      </a:pPr>
                      <a:r>
                        <a:rPr lang="fr-FR" sz="900" b="0" i="0" u="none" strike="noStrike">
                          <a:solidFill>
                            <a:srgbClr val="000000"/>
                          </a:solidFill>
                          <a:effectLst/>
                          <a:latin typeface="Aptos Narrow" panose="020B0004020202020204" pitchFamily="34" charset="0"/>
                        </a:rPr>
                        <a:t>-5,5</a:t>
                      </a:r>
                    </a:p>
                  </a:txBody>
                  <a:tcPr marL="5771" marR="5771" marT="577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8E72"/>
                    </a:solidFill>
                  </a:tcPr>
                </a:tc>
                <a:tc>
                  <a:txBody>
                    <a:bodyPr/>
                    <a:lstStyle/>
                    <a:p>
                      <a:pPr algn="r" fontAlgn="b">
                        <a:buNone/>
                      </a:pPr>
                      <a:r>
                        <a:rPr lang="fr-FR" sz="900" b="0" i="0" u="none" strike="noStrike">
                          <a:solidFill>
                            <a:srgbClr val="FF0000"/>
                          </a:solidFill>
                          <a:effectLst/>
                          <a:latin typeface="Aptos Narrow" panose="020B0004020202020204" pitchFamily="34" charset="0"/>
                        </a:rPr>
                        <a:t>-7,1</a:t>
                      </a:r>
                    </a:p>
                  </a:txBody>
                  <a:tcPr marL="5771" marR="5771" marT="577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03536613"/>
                  </a:ext>
                </a:extLst>
              </a:tr>
            </a:tbl>
          </a:graphicData>
        </a:graphic>
      </p:graphicFrame>
    </p:spTree>
    <p:extLst>
      <p:ext uri="{BB962C8B-B14F-4D97-AF65-F5344CB8AC3E}">
        <p14:creationId xmlns:p14="http://schemas.microsoft.com/office/powerpoint/2010/main" val="24015684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70879-31D9-0C91-5A8B-A91147D7C45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403762-930A-353B-5F04-8978B78708C8}"/>
              </a:ext>
            </a:extLst>
          </p:cNvPr>
          <p:cNvSpPr>
            <a:spLocks noGrp="1"/>
          </p:cNvSpPr>
          <p:nvPr>
            <p:ph type="sldNum" sz="quarter" idx="12"/>
          </p:nvPr>
        </p:nvSpPr>
        <p:spPr/>
        <p:txBody>
          <a:bodyPr/>
          <a:lstStyle/>
          <a:p>
            <a:fld id="{0D2E6A04-B99A-6C4D-8942-945F97C9E705}" type="slidenum">
              <a:rPr lang="en-US" smtClean="0"/>
              <a:pPr/>
              <a:t>22</a:t>
            </a:fld>
            <a:endParaRPr lang="en-US"/>
          </a:p>
        </p:txBody>
      </p:sp>
      <p:sp>
        <p:nvSpPr>
          <p:cNvPr id="3" name="Date Placeholder 2">
            <a:extLst>
              <a:ext uri="{FF2B5EF4-FFF2-40B4-BE49-F238E27FC236}">
                <a16:creationId xmlns:a16="http://schemas.microsoft.com/office/drawing/2014/main" id="{19D7A440-C9F4-7EBD-4A1F-9D810B72EB2C}"/>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94EBE87E-B473-DBE4-975C-AD05F0092CE1}"/>
              </a:ext>
            </a:extLst>
          </p:cNvPr>
          <p:cNvSpPr>
            <a:spLocks noGrp="1"/>
          </p:cNvSpPr>
          <p:nvPr>
            <p:ph type="title"/>
          </p:nvPr>
        </p:nvSpPr>
        <p:spPr/>
        <p:txBody>
          <a:bodyPr/>
          <a:lstStyle/>
          <a:p>
            <a:r>
              <a:rPr lang="fr-FR"/>
              <a:t>Belgium – text </a:t>
            </a:r>
            <a:r>
              <a:rPr lang="fr-FR" err="1"/>
              <a:t>analytics</a:t>
            </a:r>
            <a:r>
              <a:rPr lang="fr-FR"/>
              <a:t>, topics </a:t>
            </a:r>
            <a:r>
              <a:rPr lang="fr-FR" err="1"/>
              <a:t>comparision</a:t>
            </a:r>
            <a:r>
              <a:rPr lang="fr-FR"/>
              <a:t> vs N-1</a:t>
            </a:r>
          </a:p>
        </p:txBody>
      </p:sp>
      <p:sp>
        <p:nvSpPr>
          <p:cNvPr id="7" name="Rechthoek 4">
            <a:extLst>
              <a:ext uri="{FF2B5EF4-FFF2-40B4-BE49-F238E27FC236}">
                <a16:creationId xmlns:a16="http://schemas.microsoft.com/office/drawing/2014/main" id="{915DCEBC-D297-BC8B-92ED-1361E669B937}"/>
              </a:ext>
            </a:extLst>
          </p:cNvPr>
          <p:cNvSpPr/>
          <p:nvPr/>
        </p:nvSpPr>
        <p:spPr>
          <a:xfrm>
            <a:off x="-1" y="978100"/>
            <a:ext cx="11858372" cy="999290"/>
          </a:xfrm>
          <a:prstGeom prst="rect">
            <a:avLst/>
          </a:prstGeom>
          <a:solidFill>
            <a:schemeClr val="bg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All categories of topics from open comments improved compared to N-1, which means a decrease in the share of negative comments, and/or an increase in the share of positive comment volumes, explaining the overall improvement in the total NPS.</a:t>
            </a:r>
          </a:p>
        </p:txBody>
      </p:sp>
      <p:sp>
        <p:nvSpPr>
          <p:cNvPr id="8" name="Rectangle 7">
            <a:extLst>
              <a:ext uri="{FF2B5EF4-FFF2-40B4-BE49-F238E27FC236}">
                <a16:creationId xmlns:a16="http://schemas.microsoft.com/office/drawing/2014/main" id="{69813510-83EB-8602-684F-63E8E076BB3E}"/>
              </a:ext>
            </a:extLst>
          </p:cNvPr>
          <p:cNvSpPr/>
          <p:nvPr/>
        </p:nvSpPr>
        <p:spPr>
          <a:xfrm rot="16200000">
            <a:off x="-276759" y="1305716"/>
            <a:ext cx="975311"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bg2"/>
                </a:solidFill>
                <a:ea typeface="Calibri"/>
                <a:cs typeface="Calibri"/>
              </a:rPr>
              <a:t>Analysis</a:t>
            </a:r>
            <a:endParaRPr lang="en-US" sz="1100">
              <a:solidFill>
                <a:schemeClr val="bg2"/>
              </a:solidFill>
            </a:endParaRPr>
          </a:p>
        </p:txBody>
      </p:sp>
      <p:pic>
        <p:nvPicPr>
          <p:cNvPr id="10" name="Picture 9">
            <a:extLst>
              <a:ext uri="{FF2B5EF4-FFF2-40B4-BE49-F238E27FC236}">
                <a16:creationId xmlns:a16="http://schemas.microsoft.com/office/drawing/2014/main" id="{7BDFE196-C488-A9F3-583B-C9750FE49C33}"/>
              </a:ext>
            </a:extLst>
          </p:cNvPr>
          <p:cNvPicPr>
            <a:picLocks noChangeAspect="1"/>
          </p:cNvPicPr>
          <p:nvPr/>
        </p:nvPicPr>
        <p:blipFill>
          <a:blip r:embed="rId2"/>
          <a:stretch>
            <a:fillRect/>
          </a:stretch>
        </p:blipFill>
        <p:spPr>
          <a:xfrm>
            <a:off x="1632585" y="2082547"/>
            <a:ext cx="8926830" cy="4216298"/>
          </a:xfrm>
          <a:prstGeom prst="rect">
            <a:avLst/>
          </a:prstGeom>
        </p:spPr>
      </p:pic>
      <p:sp>
        <p:nvSpPr>
          <p:cNvPr id="11" name="TextBox 10">
            <a:extLst>
              <a:ext uri="{FF2B5EF4-FFF2-40B4-BE49-F238E27FC236}">
                <a16:creationId xmlns:a16="http://schemas.microsoft.com/office/drawing/2014/main" id="{DD312E20-AF2F-A347-1F70-34D67C47C49C}"/>
              </a:ext>
            </a:extLst>
          </p:cNvPr>
          <p:cNvSpPr txBox="1"/>
          <p:nvPr/>
        </p:nvSpPr>
        <p:spPr>
          <a:xfrm>
            <a:off x="858520" y="2783840"/>
            <a:ext cx="704039" cy="369332"/>
          </a:xfrm>
          <a:prstGeom prst="rect">
            <a:avLst/>
          </a:prstGeom>
          <a:noFill/>
        </p:spPr>
        <p:txBody>
          <a:bodyPr wrap="none" rtlCol="0">
            <a:spAutoFit/>
          </a:bodyPr>
          <a:lstStyle/>
          <a:p>
            <a:r>
              <a:rPr lang="fr-FR"/>
              <a:t>CPSP</a:t>
            </a:r>
          </a:p>
        </p:txBody>
      </p:sp>
    </p:spTree>
    <p:extLst>
      <p:ext uri="{BB962C8B-B14F-4D97-AF65-F5344CB8AC3E}">
        <p14:creationId xmlns:p14="http://schemas.microsoft.com/office/powerpoint/2010/main" val="826410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0274B-07CD-EA02-C41E-DF3F5FDB41F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1033CF-1636-5DF6-A2EB-504FEFF5B23F}"/>
              </a:ext>
            </a:extLst>
          </p:cNvPr>
          <p:cNvSpPr>
            <a:spLocks noGrp="1"/>
          </p:cNvSpPr>
          <p:nvPr>
            <p:ph type="sldNum" sz="quarter" idx="12"/>
          </p:nvPr>
        </p:nvSpPr>
        <p:spPr/>
        <p:txBody>
          <a:bodyPr/>
          <a:lstStyle/>
          <a:p>
            <a:fld id="{0D2E6A04-B99A-6C4D-8942-945F97C9E705}" type="slidenum">
              <a:rPr lang="en-US" smtClean="0"/>
              <a:pPr/>
              <a:t>23</a:t>
            </a:fld>
            <a:endParaRPr lang="en-US"/>
          </a:p>
        </p:txBody>
      </p:sp>
      <p:sp>
        <p:nvSpPr>
          <p:cNvPr id="3" name="Date Placeholder 2">
            <a:extLst>
              <a:ext uri="{FF2B5EF4-FFF2-40B4-BE49-F238E27FC236}">
                <a16:creationId xmlns:a16="http://schemas.microsoft.com/office/drawing/2014/main" id="{8253F972-95CE-30FE-866D-2A0FE0B89848}"/>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56BB7FA1-F53D-53AC-C2D4-2C1B1B36E7C4}"/>
              </a:ext>
            </a:extLst>
          </p:cNvPr>
          <p:cNvSpPr>
            <a:spLocks noGrp="1"/>
          </p:cNvSpPr>
          <p:nvPr>
            <p:ph type="title"/>
          </p:nvPr>
        </p:nvSpPr>
        <p:spPr>
          <a:xfrm>
            <a:off x="334963" y="303238"/>
            <a:ext cx="11359197" cy="487938"/>
          </a:xfrm>
        </p:spPr>
        <p:txBody>
          <a:bodyPr/>
          <a:lstStyle/>
          <a:p>
            <a:r>
              <a:rPr lang="fr-FR"/>
              <a:t>Belgium – </a:t>
            </a:r>
            <a:r>
              <a:rPr lang="en-US"/>
              <a:t>text analytics, bottom topics with higher negative impact score on NPS</a:t>
            </a:r>
            <a:endParaRPr lang="fr-FR"/>
          </a:p>
        </p:txBody>
      </p:sp>
      <p:sp>
        <p:nvSpPr>
          <p:cNvPr id="7" name="Rechthoek 4">
            <a:extLst>
              <a:ext uri="{FF2B5EF4-FFF2-40B4-BE49-F238E27FC236}">
                <a16:creationId xmlns:a16="http://schemas.microsoft.com/office/drawing/2014/main" id="{D88DD960-5A27-6BEE-3D59-9158367293A3}"/>
              </a:ext>
            </a:extLst>
          </p:cNvPr>
          <p:cNvSpPr/>
          <p:nvPr/>
        </p:nvSpPr>
        <p:spPr>
          <a:xfrm>
            <a:off x="-1" y="978100"/>
            <a:ext cx="11858372" cy="999290"/>
          </a:xfrm>
          <a:prstGeom prst="rect">
            <a:avLst/>
          </a:prstGeom>
          <a:solidFill>
            <a:schemeClr val="bg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Cottage cleanliness and maintenance issues have the highest negative impact score on NPS, before price and value for money.</a:t>
            </a:r>
          </a:p>
        </p:txBody>
      </p:sp>
      <p:sp>
        <p:nvSpPr>
          <p:cNvPr id="8" name="Rectangle 7">
            <a:extLst>
              <a:ext uri="{FF2B5EF4-FFF2-40B4-BE49-F238E27FC236}">
                <a16:creationId xmlns:a16="http://schemas.microsoft.com/office/drawing/2014/main" id="{9DBA480F-2B38-60C2-306F-EC8C4C4B849D}"/>
              </a:ext>
            </a:extLst>
          </p:cNvPr>
          <p:cNvSpPr/>
          <p:nvPr/>
        </p:nvSpPr>
        <p:spPr>
          <a:xfrm rot="16200000">
            <a:off x="-276759" y="1305716"/>
            <a:ext cx="975311"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bg2"/>
                </a:solidFill>
                <a:ea typeface="Calibri"/>
                <a:cs typeface="Calibri"/>
              </a:rPr>
              <a:t>Analysis</a:t>
            </a:r>
            <a:endParaRPr lang="en-US" sz="1100">
              <a:solidFill>
                <a:schemeClr val="bg2"/>
              </a:solidFill>
            </a:endParaRPr>
          </a:p>
        </p:txBody>
      </p:sp>
      <p:pic>
        <p:nvPicPr>
          <p:cNvPr id="6" name="Picture 5">
            <a:extLst>
              <a:ext uri="{FF2B5EF4-FFF2-40B4-BE49-F238E27FC236}">
                <a16:creationId xmlns:a16="http://schemas.microsoft.com/office/drawing/2014/main" id="{8BBCC001-6E14-6F44-7501-8EC6B96D7419}"/>
              </a:ext>
            </a:extLst>
          </p:cNvPr>
          <p:cNvPicPr>
            <a:picLocks noChangeAspect="1"/>
          </p:cNvPicPr>
          <p:nvPr/>
        </p:nvPicPr>
        <p:blipFill>
          <a:blip r:embed="rId2"/>
          <a:stretch>
            <a:fillRect/>
          </a:stretch>
        </p:blipFill>
        <p:spPr>
          <a:xfrm>
            <a:off x="2206712" y="2275923"/>
            <a:ext cx="7849695" cy="3362794"/>
          </a:xfrm>
          <a:prstGeom prst="rect">
            <a:avLst/>
          </a:prstGeom>
        </p:spPr>
      </p:pic>
      <p:sp>
        <p:nvSpPr>
          <p:cNvPr id="9" name="TextBox 8">
            <a:extLst>
              <a:ext uri="{FF2B5EF4-FFF2-40B4-BE49-F238E27FC236}">
                <a16:creationId xmlns:a16="http://schemas.microsoft.com/office/drawing/2014/main" id="{522D5BD6-60C3-454F-2BFB-A1A43CD19DCE}"/>
              </a:ext>
            </a:extLst>
          </p:cNvPr>
          <p:cNvSpPr txBox="1"/>
          <p:nvPr/>
        </p:nvSpPr>
        <p:spPr>
          <a:xfrm>
            <a:off x="858520" y="2783840"/>
            <a:ext cx="449162" cy="369332"/>
          </a:xfrm>
          <a:prstGeom prst="rect">
            <a:avLst/>
          </a:prstGeom>
          <a:noFill/>
        </p:spPr>
        <p:txBody>
          <a:bodyPr wrap="none" rtlCol="0">
            <a:spAutoFit/>
          </a:bodyPr>
          <a:lstStyle/>
          <a:p>
            <a:r>
              <a:rPr lang="fr-FR"/>
              <a:t>CP</a:t>
            </a:r>
          </a:p>
        </p:txBody>
      </p:sp>
    </p:spTree>
    <p:extLst>
      <p:ext uri="{BB962C8B-B14F-4D97-AF65-F5344CB8AC3E}">
        <p14:creationId xmlns:p14="http://schemas.microsoft.com/office/powerpoint/2010/main" val="21150958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812C6-53EA-2731-F72B-ECD0E122FE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796500-6151-5CB1-DA97-3497AB482336}"/>
              </a:ext>
            </a:extLst>
          </p:cNvPr>
          <p:cNvSpPr>
            <a:spLocks noGrp="1"/>
          </p:cNvSpPr>
          <p:nvPr>
            <p:ph type="sldNum" sz="quarter" idx="12"/>
          </p:nvPr>
        </p:nvSpPr>
        <p:spPr/>
        <p:txBody>
          <a:bodyPr/>
          <a:lstStyle/>
          <a:p>
            <a:fld id="{0D2E6A04-B99A-6C4D-8942-945F97C9E705}" type="slidenum">
              <a:rPr lang="en-US" smtClean="0"/>
              <a:pPr/>
              <a:t>24</a:t>
            </a:fld>
            <a:endParaRPr lang="en-US"/>
          </a:p>
        </p:txBody>
      </p:sp>
      <p:sp>
        <p:nvSpPr>
          <p:cNvPr id="3" name="Date Placeholder 2">
            <a:extLst>
              <a:ext uri="{FF2B5EF4-FFF2-40B4-BE49-F238E27FC236}">
                <a16:creationId xmlns:a16="http://schemas.microsoft.com/office/drawing/2014/main" id="{AC94B0C5-3A5B-7020-C00B-6CA7481E843A}"/>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5C08FA45-EF48-C14C-845F-5BF96663D0DE}"/>
              </a:ext>
            </a:extLst>
          </p:cNvPr>
          <p:cNvSpPr>
            <a:spLocks noGrp="1"/>
          </p:cNvSpPr>
          <p:nvPr>
            <p:ph type="title"/>
          </p:nvPr>
        </p:nvSpPr>
        <p:spPr>
          <a:xfrm>
            <a:off x="334963" y="303238"/>
            <a:ext cx="11523408" cy="487938"/>
          </a:xfrm>
        </p:spPr>
        <p:txBody>
          <a:bodyPr/>
          <a:lstStyle/>
          <a:p>
            <a:r>
              <a:rPr lang="fr-FR"/>
              <a:t>Belgium – </a:t>
            </a:r>
            <a:r>
              <a:rPr lang="en-US"/>
              <a:t>text analytics, bottom topics with higher negative impact score on NPS</a:t>
            </a:r>
            <a:endParaRPr lang="fr-FR"/>
          </a:p>
        </p:txBody>
      </p:sp>
      <p:sp>
        <p:nvSpPr>
          <p:cNvPr id="7" name="Rechthoek 4">
            <a:extLst>
              <a:ext uri="{FF2B5EF4-FFF2-40B4-BE49-F238E27FC236}">
                <a16:creationId xmlns:a16="http://schemas.microsoft.com/office/drawing/2014/main" id="{0088CE8F-66C8-C4E7-A4A9-61297DD8774D}"/>
              </a:ext>
            </a:extLst>
          </p:cNvPr>
          <p:cNvSpPr/>
          <p:nvPr/>
        </p:nvSpPr>
        <p:spPr>
          <a:xfrm>
            <a:off x="-1" y="978100"/>
            <a:ext cx="11858372" cy="999290"/>
          </a:xfrm>
          <a:prstGeom prst="rect">
            <a:avLst/>
          </a:prstGeom>
          <a:solidFill>
            <a:schemeClr val="bg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ea typeface="Calibri"/>
                <a:cs typeface="Calibri"/>
              </a:rPr>
              <a:t>Cottage cleanliness and maintenance issues have the highest negative impact score on NPS, before central facilities and swimming pool.</a:t>
            </a:r>
          </a:p>
        </p:txBody>
      </p:sp>
      <p:sp>
        <p:nvSpPr>
          <p:cNvPr id="8" name="Rectangle 7">
            <a:extLst>
              <a:ext uri="{FF2B5EF4-FFF2-40B4-BE49-F238E27FC236}">
                <a16:creationId xmlns:a16="http://schemas.microsoft.com/office/drawing/2014/main" id="{5B035BB4-5276-1F07-D3CE-61C9C7914153}"/>
              </a:ext>
            </a:extLst>
          </p:cNvPr>
          <p:cNvSpPr/>
          <p:nvPr/>
        </p:nvSpPr>
        <p:spPr>
          <a:xfrm rot="16200000">
            <a:off x="-276759" y="1305716"/>
            <a:ext cx="975311"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bg2"/>
                </a:solidFill>
                <a:ea typeface="Calibri"/>
                <a:cs typeface="Calibri"/>
              </a:rPr>
              <a:t>Analysis</a:t>
            </a:r>
            <a:endParaRPr lang="en-US" sz="1100">
              <a:solidFill>
                <a:schemeClr val="bg2"/>
              </a:solidFill>
            </a:endParaRPr>
          </a:p>
        </p:txBody>
      </p:sp>
      <p:pic>
        <p:nvPicPr>
          <p:cNvPr id="9" name="Picture 8">
            <a:extLst>
              <a:ext uri="{FF2B5EF4-FFF2-40B4-BE49-F238E27FC236}">
                <a16:creationId xmlns:a16="http://schemas.microsoft.com/office/drawing/2014/main" id="{EADCB273-ECF6-4E40-F238-1FE0A728E1A3}"/>
              </a:ext>
            </a:extLst>
          </p:cNvPr>
          <p:cNvPicPr>
            <a:picLocks noChangeAspect="1"/>
          </p:cNvPicPr>
          <p:nvPr/>
        </p:nvPicPr>
        <p:blipFill>
          <a:blip r:embed="rId2"/>
          <a:stretch>
            <a:fillRect/>
          </a:stretch>
        </p:blipFill>
        <p:spPr>
          <a:xfrm>
            <a:off x="2204494" y="2535076"/>
            <a:ext cx="7783011" cy="3248478"/>
          </a:xfrm>
          <a:prstGeom prst="rect">
            <a:avLst/>
          </a:prstGeom>
        </p:spPr>
      </p:pic>
      <p:sp>
        <p:nvSpPr>
          <p:cNvPr id="10" name="TextBox 9">
            <a:extLst>
              <a:ext uri="{FF2B5EF4-FFF2-40B4-BE49-F238E27FC236}">
                <a16:creationId xmlns:a16="http://schemas.microsoft.com/office/drawing/2014/main" id="{CFE163D7-3193-0ABE-1159-ED8256F4A5AB}"/>
              </a:ext>
            </a:extLst>
          </p:cNvPr>
          <p:cNvSpPr txBox="1"/>
          <p:nvPr/>
        </p:nvSpPr>
        <p:spPr>
          <a:xfrm>
            <a:off x="858520" y="2783840"/>
            <a:ext cx="439544" cy="369332"/>
          </a:xfrm>
          <a:prstGeom prst="rect">
            <a:avLst/>
          </a:prstGeom>
          <a:noFill/>
        </p:spPr>
        <p:txBody>
          <a:bodyPr wrap="none" rtlCol="0">
            <a:spAutoFit/>
          </a:bodyPr>
          <a:lstStyle/>
          <a:p>
            <a:r>
              <a:rPr lang="fr-FR"/>
              <a:t>SP</a:t>
            </a:r>
          </a:p>
        </p:txBody>
      </p:sp>
    </p:spTree>
    <p:extLst>
      <p:ext uri="{BB962C8B-B14F-4D97-AF65-F5344CB8AC3E}">
        <p14:creationId xmlns:p14="http://schemas.microsoft.com/office/powerpoint/2010/main" val="25964938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808F2D-8DC3-7F04-BE5B-48BFCE2C284D}"/>
              </a:ext>
            </a:extLst>
          </p:cNvPr>
          <p:cNvSpPr>
            <a:spLocks noGrp="1"/>
          </p:cNvSpPr>
          <p:nvPr>
            <p:ph type="body" sz="quarter" idx="14"/>
          </p:nvPr>
        </p:nvSpPr>
        <p:spPr/>
        <p:txBody>
          <a:bodyPr/>
          <a:lstStyle/>
          <a:p>
            <a:r>
              <a:rPr lang="fr-FR"/>
              <a:t>Netherlands</a:t>
            </a:r>
          </a:p>
        </p:txBody>
      </p:sp>
      <p:sp>
        <p:nvSpPr>
          <p:cNvPr id="3" name="Text Placeholder 2">
            <a:extLst>
              <a:ext uri="{FF2B5EF4-FFF2-40B4-BE49-F238E27FC236}">
                <a16:creationId xmlns:a16="http://schemas.microsoft.com/office/drawing/2014/main" id="{00611621-EB2B-F901-D163-92FD47190015}"/>
              </a:ext>
            </a:extLst>
          </p:cNvPr>
          <p:cNvSpPr>
            <a:spLocks noGrp="1"/>
          </p:cNvSpPr>
          <p:nvPr>
            <p:ph type="body" sz="quarter" idx="13"/>
          </p:nvPr>
        </p:nvSpPr>
        <p:spPr/>
        <p:txBody>
          <a:bodyPr/>
          <a:lstStyle/>
          <a:p>
            <a:r>
              <a:rPr lang="fr-FR"/>
              <a:t>NPS </a:t>
            </a:r>
            <a:r>
              <a:rPr lang="fr-FR" err="1"/>
              <a:t>Review</a:t>
            </a:r>
            <a:endParaRPr lang="fr-FR"/>
          </a:p>
        </p:txBody>
      </p:sp>
    </p:spTree>
    <p:extLst>
      <p:ext uri="{BB962C8B-B14F-4D97-AF65-F5344CB8AC3E}">
        <p14:creationId xmlns:p14="http://schemas.microsoft.com/office/powerpoint/2010/main" val="25747179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59A05-BFEA-143B-AC09-481FCA7060E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E353D5-0C47-693C-DEEA-260D03FED3B4}"/>
              </a:ext>
            </a:extLst>
          </p:cNvPr>
          <p:cNvSpPr>
            <a:spLocks noGrp="1"/>
          </p:cNvSpPr>
          <p:nvPr>
            <p:ph type="sldNum" sz="quarter" idx="12"/>
          </p:nvPr>
        </p:nvSpPr>
        <p:spPr/>
        <p:txBody>
          <a:bodyPr/>
          <a:lstStyle/>
          <a:p>
            <a:fld id="{0D2E6A04-B99A-6C4D-8942-945F97C9E705}" type="slidenum">
              <a:rPr lang="en-US" smtClean="0"/>
              <a:pPr/>
              <a:t>26</a:t>
            </a:fld>
            <a:endParaRPr lang="en-US"/>
          </a:p>
        </p:txBody>
      </p:sp>
      <p:sp>
        <p:nvSpPr>
          <p:cNvPr id="3" name="Date Placeholder 2">
            <a:extLst>
              <a:ext uri="{FF2B5EF4-FFF2-40B4-BE49-F238E27FC236}">
                <a16:creationId xmlns:a16="http://schemas.microsoft.com/office/drawing/2014/main" id="{E9A613C4-EE33-54B6-E8D3-82BF1B37117B}"/>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CEE4627E-B904-427C-573F-411A07342B44}"/>
              </a:ext>
            </a:extLst>
          </p:cNvPr>
          <p:cNvSpPr>
            <a:spLocks noGrp="1"/>
          </p:cNvSpPr>
          <p:nvPr>
            <p:ph type="title"/>
          </p:nvPr>
        </p:nvSpPr>
        <p:spPr/>
        <p:txBody>
          <a:bodyPr/>
          <a:lstStyle/>
          <a:p>
            <a:r>
              <a:rPr lang="fr-FR"/>
              <a:t>Netherlands – </a:t>
            </a:r>
            <a:r>
              <a:rPr lang="fr-FR" err="1"/>
              <a:t>highest</a:t>
            </a:r>
            <a:r>
              <a:rPr lang="fr-FR"/>
              <a:t> contribution to NPS</a:t>
            </a:r>
          </a:p>
        </p:txBody>
      </p:sp>
      <p:sp>
        <p:nvSpPr>
          <p:cNvPr id="6" name="Rechthoek 4">
            <a:extLst>
              <a:ext uri="{FF2B5EF4-FFF2-40B4-BE49-F238E27FC236}">
                <a16:creationId xmlns:a16="http://schemas.microsoft.com/office/drawing/2014/main" id="{DE8758ED-4B05-A55E-E68D-F916521CEE0C}"/>
              </a:ext>
            </a:extLst>
          </p:cNvPr>
          <p:cNvSpPr/>
          <p:nvPr/>
        </p:nvSpPr>
        <p:spPr>
          <a:xfrm>
            <a:off x="-1" y="978100"/>
            <a:ext cx="11858372" cy="1285040"/>
          </a:xfrm>
          <a:prstGeom prst="rect">
            <a:avLst/>
          </a:prstGeom>
          <a:solidFill>
            <a:schemeClr val="accent4">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ea typeface="Calibri"/>
                <a:cs typeface="Calibri"/>
              </a:rPr>
              <a:t>Continuous improvement of monthly NPS vs. N-1.</a:t>
            </a:r>
          </a:p>
        </p:txBody>
      </p:sp>
      <p:sp>
        <p:nvSpPr>
          <p:cNvPr id="7" name="Rectangle 6">
            <a:extLst>
              <a:ext uri="{FF2B5EF4-FFF2-40B4-BE49-F238E27FC236}">
                <a16:creationId xmlns:a16="http://schemas.microsoft.com/office/drawing/2014/main" id="{8ADC6D33-9F34-366B-BF5D-A52E29D24492}"/>
              </a:ext>
            </a:extLst>
          </p:cNvPr>
          <p:cNvSpPr/>
          <p:nvPr/>
        </p:nvSpPr>
        <p:spPr>
          <a:xfrm rot="16200000">
            <a:off x="-416205" y="1445161"/>
            <a:ext cx="1254202"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4"/>
                </a:solidFill>
                <a:ea typeface="Calibri"/>
                <a:cs typeface="Calibri"/>
              </a:rPr>
              <a:t>Analysis</a:t>
            </a:r>
            <a:endParaRPr lang="en-US" sz="1100">
              <a:solidFill>
                <a:schemeClr val="accent4"/>
              </a:solidFill>
            </a:endParaRPr>
          </a:p>
        </p:txBody>
      </p:sp>
      <p:pic>
        <p:nvPicPr>
          <p:cNvPr id="9" name="Picture 8">
            <a:extLst>
              <a:ext uri="{FF2B5EF4-FFF2-40B4-BE49-F238E27FC236}">
                <a16:creationId xmlns:a16="http://schemas.microsoft.com/office/drawing/2014/main" id="{31A91E21-5BE8-4975-4832-974D1902F37A}"/>
              </a:ext>
            </a:extLst>
          </p:cNvPr>
          <p:cNvPicPr>
            <a:picLocks noChangeAspect="1"/>
          </p:cNvPicPr>
          <p:nvPr/>
        </p:nvPicPr>
        <p:blipFill>
          <a:blip r:embed="rId3"/>
          <a:stretch>
            <a:fillRect/>
          </a:stretch>
        </p:blipFill>
        <p:spPr>
          <a:xfrm>
            <a:off x="1592823" y="2450064"/>
            <a:ext cx="9006353" cy="3820086"/>
          </a:xfrm>
          <a:prstGeom prst="rect">
            <a:avLst/>
          </a:prstGeom>
        </p:spPr>
      </p:pic>
    </p:spTree>
    <p:extLst>
      <p:ext uri="{BB962C8B-B14F-4D97-AF65-F5344CB8AC3E}">
        <p14:creationId xmlns:p14="http://schemas.microsoft.com/office/powerpoint/2010/main" val="2152744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F6B1F-77FF-B224-E967-92019D70B26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C4A8E2-01B4-BA4D-7C11-8137048249BD}"/>
              </a:ext>
            </a:extLst>
          </p:cNvPr>
          <p:cNvSpPr>
            <a:spLocks noGrp="1"/>
          </p:cNvSpPr>
          <p:nvPr>
            <p:ph type="sldNum" sz="quarter" idx="12"/>
          </p:nvPr>
        </p:nvSpPr>
        <p:spPr/>
        <p:txBody>
          <a:bodyPr/>
          <a:lstStyle/>
          <a:p>
            <a:fld id="{0D2E6A04-B99A-6C4D-8942-945F97C9E705}" type="slidenum">
              <a:rPr lang="en-US" smtClean="0"/>
              <a:pPr/>
              <a:t>27</a:t>
            </a:fld>
            <a:endParaRPr lang="en-US"/>
          </a:p>
        </p:txBody>
      </p:sp>
      <p:sp>
        <p:nvSpPr>
          <p:cNvPr id="3" name="Date Placeholder 2">
            <a:extLst>
              <a:ext uri="{FF2B5EF4-FFF2-40B4-BE49-F238E27FC236}">
                <a16:creationId xmlns:a16="http://schemas.microsoft.com/office/drawing/2014/main" id="{46B144BE-21B5-5C42-5D42-956FE3537315}"/>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9A51B598-CF40-FFD5-4558-B7C4DEB13A05}"/>
              </a:ext>
            </a:extLst>
          </p:cNvPr>
          <p:cNvSpPr>
            <a:spLocks noGrp="1"/>
          </p:cNvSpPr>
          <p:nvPr>
            <p:ph type="title"/>
          </p:nvPr>
        </p:nvSpPr>
        <p:spPr/>
        <p:txBody>
          <a:bodyPr/>
          <a:lstStyle/>
          <a:p>
            <a:r>
              <a:rPr lang="fr-FR"/>
              <a:t>Netherlands – </a:t>
            </a:r>
            <a:r>
              <a:rPr lang="fr-FR" err="1"/>
              <a:t>highest</a:t>
            </a:r>
            <a:r>
              <a:rPr lang="fr-FR"/>
              <a:t> contribution to NPS</a:t>
            </a:r>
          </a:p>
        </p:txBody>
      </p:sp>
      <p:sp>
        <p:nvSpPr>
          <p:cNvPr id="6" name="Rechthoek 4">
            <a:extLst>
              <a:ext uri="{FF2B5EF4-FFF2-40B4-BE49-F238E27FC236}">
                <a16:creationId xmlns:a16="http://schemas.microsoft.com/office/drawing/2014/main" id="{0C7272D4-B0B6-C9A0-4D8C-F2A702119F39}"/>
              </a:ext>
            </a:extLst>
          </p:cNvPr>
          <p:cNvSpPr/>
          <p:nvPr/>
        </p:nvSpPr>
        <p:spPr>
          <a:xfrm>
            <a:off x="-1" y="978100"/>
            <a:ext cx="4800601" cy="1696720"/>
          </a:xfrm>
          <a:prstGeom prst="rect">
            <a:avLst/>
          </a:prstGeom>
          <a:solidFill>
            <a:schemeClr val="accent4">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ea typeface="Calibri"/>
                <a:cs typeface="Calibri"/>
              </a:rPr>
              <a:t>Main pillars are key on Net Promoter Score.</a:t>
            </a:r>
          </a:p>
          <a:p>
            <a:pPr marL="720725" lvl="2" indent="-161925">
              <a:lnSpc>
                <a:spcPct val="120000"/>
              </a:lnSpc>
              <a:buFont typeface="Arial" panose="020B0604020202020204" pitchFamily="34" charset="0"/>
              <a:buChar char="•"/>
            </a:pPr>
            <a:r>
              <a:rPr lang="en-US" sz="1200" b="1">
                <a:solidFill>
                  <a:schemeClr val="tx2"/>
                </a:solidFill>
                <a:ea typeface="Calibri"/>
                <a:cs typeface="Calibri"/>
              </a:rPr>
              <a:t>Secondary pillars “Village safety”, “quality of the meals” and “catering promptness” are also key to impact Net Promoter Score</a:t>
            </a:r>
          </a:p>
        </p:txBody>
      </p:sp>
      <p:sp>
        <p:nvSpPr>
          <p:cNvPr id="7" name="Rectangle 6">
            <a:extLst>
              <a:ext uri="{FF2B5EF4-FFF2-40B4-BE49-F238E27FC236}">
                <a16:creationId xmlns:a16="http://schemas.microsoft.com/office/drawing/2014/main" id="{4B4DB0D6-F711-FA20-9C71-C9904AC4B443}"/>
              </a:ext>
            </a:extLst>
          </p:cNvPr>
          <p:cNvSpPr/>
          <p:nvPr/>
        </p:nvSpPr>
        <p:spPr>
          <a:xfrm rot="16200000">
            <a:off x="-617105" y="1646060"/>
            <a:ext cx="1656000"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4"/>
                </a:solidFill>
                <a:ea typeface="Calibri"/>
                <a:cs typeface="Calibri"/>
              </a:rPr>
              <a:t>Analysis</a:t>
            </a:r>
            <a:endParaRPr lang="en-US" sz="1100">
              <a:solidFill>
                <a:schemeClr val="accent4"/>
              </a:solidFill>
            </a:endParaRPr>
          </a:p>
        </p:txBody>
      </p:sp>
      <p:pic>
        <p:nvPicPr>
          <p:cNvPr id="12" name="Picture 11">
            <a:extLst>
              <a:ext uri="{FF2B5EF4-FFF2-40B4-BE49-F238E27FC236}">
                <a16:creationId xmlns:a16="http://schemas.microsoft.com/office/drawing/2014/main" id="{C2D01DE9-A3B5-05D6-8A5F-62E0927B942C}"/>
              </a:ext>
            </a:extLst>
          </p:cNvPr>
          <p:cNvPicPr>
            <a:picLocks noChangeAspect="1"/>
          </p:cNvPicPr>
          <p:nvPr/>
        </p:nvPicPr>
        <p:blipFill>
          <a:blip r:embed="rId2"/>
          <a:stretch>
            <a:fillRect/>
          </a:stretch>
        </p:blipFill>
        <p:spPr>
          <a:xfrm>
            <a:off x="4990184" y="978100"/>
            <a:ext cx="6868187" cy="5143300"/>
          </a:xfrm>
          <a:prstGeom prst="rect">
            <a:avLst/>
          </a:prstGeom>
        </p:spPr>
      </p:pic>
    </p:spTree>
    <p:extLst>
      <p:ext uri="{BB962C8B-B14F-4D97-AF65-F5344CB8AC3E}">
        <p14:creationId xmlns:p14="http://schemas.microsoft.com/office/powerpoint/2010/main" val="34580526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3DDD6F-DFC9-6700-EBC5-CA069C031916}"/>
              </a:ext>
            </a:extLst>
          </p:cNvPr>
          <p:cNvSpPr>
            <a:spLocks noGrp="1"/>
          </p:cNvSpPr>
          <p:nvPr>
            <p:ph type="sldNum" sz="quarter" idx="12"/>
          </p:nvPr>
        </p:nvSpPr>
        <p:spPr/>
        <p:txBody>
          <a:bodyPr/>
          <a:lstStyle/>
          <a:p>
            <a:fld id="{0D2E6A04-B99A-6C4D-8942-945F97C9E705}" type="slidenum">
              <a:rPr lang="en-US" smtClean="0"/>
              <a:pPr/>
              <a:t>28</a:t>
            </a:fld>
            <a:endParaRPr lang="en-US"/>
          </a:p>
        </p:txBody>
      </p:sp>
      <p:sp>
        <p:nvSpPr>
          <p:cNvPr id="3" name="Date Placeholder 2">
            <a:extLst>
              <a:ext uri="{FF2B5EF4-FFF2-40B4-BE49-F238E27FC236}">
                <a16:creationId xmlns:a16="http://schemas.microsoft.com/office/drawing/2014/main" id="{CB7DF6BC-58EC-EAC9-CB53-EED7CBA8C7A6}"/>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32591A72-31EA-49E3-638B-4ACEB8A00B3E}"/>
              </a:ext>
            </a:extLst>
          </p:cNvPr>
          <p:cNvSpPr>
            <a:spLocks noGrp="1"/>
          </p:cNvSpPr>
          <p:nvPr>
            <p:ph type="title"/>
          </p:nvPr>
        </p:nvSpPr>
        <p:spPr/>
        <p:txBody>
          <a:bodyPr/>
          <a:lstStyle/>
          <a:p>
            <a:r>
              <a:rPr lang="fr-FR"/>
              <a:t>Netherlands – main </a:t>
            </a:r>
            <a:r>
              <a:rPr lang="fr-FR" err="1"/>
              <a:t>pillars</a:t>
            </a:r>
            <a:r>
              <a:rPr lang="fr-FR"/>
              <a:t> over </a:t>
            </a:r>
            <a:r>
              <a:rPr lang="fr-FR" err="1"/>
              <a:t>months</a:t>
            </a:r>
            <a:endParaRPr lang="fr-FR"/>
          </a:p>
        </p:txBody>
      </p:sp>
      <p:sp>
        <p:nvSpPr>
          <p:cNvPr id="6" name="Rechthoek 4">
            <a:extLst>
              <a:ext uri="{FF2B5EF4-FFF2-40B4-BE49-F238E27FC236}">
                <a16:creationId xmlns:a16="http://schemas.microsoft.com/office/drawing/2014/main" id="{A3690093-CEC1-148B-B270-70F2E72CD38A}"/>
              </a:ext>
            </a:extLst>
          </p:cNvPr>
          <p:cNvSpPr/>
          <p:nvPr/>
        </p:nvSpPr>
        <p:spPr>
          <a:xfrm>
            <a:off x="-1" y="978100"/>
            <a:ext cx="11858372" cy="939600"/>
          </a:xfrm>
          <a:prstGeom prst="rect">
            <a:avLst/>
          </a:prstGeom>
          <a:solidFill>
            <a:schemeClr val="accent4">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Direct impact between cottage general and its main attributes cleanliness and maintenance, with NPS and Overall satisfaction of the stay.</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Improvement of all pillars compared to </a:t>
            </a:r>
            <a:r>
              <a:rPr lang="en-US" sz="1200" b="1" err="1">
                <a:solidFill>
                  <a:schemeClr val="tx2"/>
                </a:solidFill>
                <a:latin typeface="+mj-lt"/>
                <a:ea typeface="Calibri"/>
                <a:cs typeface="Calibri"/>
              </a:rPr>
              <a:t>ly</a:t>
            </a:r>
            <a:r>
              <a:rPr lang="en-US" sz="1200" b="1">
                <a:solidFill>
                  <a:schemeClr val="tx2"/>
                </a:solidFill>
                <a:latin typeface="+mj-lt"/>
                <a:ea typeface="Calibri"/>
                <a:cs typeface="Calibri"/>
              </a:rPr>
              <a:t>. </a:t>
            </a:r>
          </a:p>
        </p:txBody>
      </p:sp>
      <p:sp>
        <p:nvSpPr>
          <p:cNvPr id="7" name="Rectangle 6">
            <a:extLst>
              <a:ext uri="{FF2B5EF4-FFF2-40B4-BE49-F238E27FC236}">
                <a16:creationId xmlns:a16="http://schemas.microsoft.com/office/drawing/2014/main" id="{1C187321-56E7-85D9-8418-74DA00609170}"/>
              </a:ext>
            </a:extLst>
          </p:cNvPr>
          <p:cNvSpPr/>
          <p:nvPr/>
        </p:nvSpPr>
        <p:spPr>
          <a:xfrm rot="16200000">
            <a:off x="-247629" y="1276585"/>
            <a:ext cx="917050"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4"/>
                </a:solidFill>
                <a:ea typeface="Calibri"/>
                <a:cs typeface="Calibri"/>
              </a:rPr>
              <a:t>Analysis</a:t>
            </a:r>
            <a:endParaRPr lang="en-US" sz="1100">
              <a:solidFill>
                <a:schemeClr val="accent4"/>
              </a:solidFill>
            </a:endParaRPr>
          </a:p>
        </p:txBody>
      </p:sp>
      <p:pic>
        <p:nvPicPr>
          <p:cNvPr id="20" name="Picture 19">
            <a:extLst>
              <a:ext uri="{FF2B5EF4-FFF2-40B4-BE49-F238E27FC236}">
                <a16:creationId xmlns:a16="http://schemas.microsoft.com/office/drawing/2014/main" id="{DB373682-2806-FBB0-F6C4-5B1225D0F131}"/>
              </a:ext>
            </a:extLst>
          </p:cNvPr>
          <p:cNvPicPr>
            <a:picLocks noChangeAspect="1"/>
          </p:cNvPicPr>
          <p:nvPr/>
        </p:nvPicPr>
        <p:blipFill>
          <a:blip r:embed="rId2">
            <a:extLst>
              <a:ext uri="{28A0092B-C50C-407E-A947-70E740481C1C}">
                <a14:useLocalDpi xmlns:a14="http://schemas.microsoft.com/office/drawing/2010/main" val="0"/>
              </a:ext>
            </a:extLst>
          </a:blip>
          <a:srcRect b="45556"/>
          <a:stretch>
            <a:fillRect/>
          </a:stretch>
        </p:blipFill>
        <p:spPr>
          <a:xfrm>
            <a:off x="1638581" y="2104624"/>
            <a:ext cx="8973965" cy="4101040"/>
          </a:xfrm>
          <a:prstGeom prst="rect">
            <a:avLst/>
          </a:prstGeom>
        </p:spPr>
      </p:pic>
    </p:spTree>
    <p:extLst>
      <p:ext uri="{BB962C8B-B14F-4D97-AF65-F5344CB8AC3E}">
        <p14:creationId xmlns:p14="http://schemas.microsoft.com/office/powerpoint/2010/main" val="12266122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681EE-5CFB-8A1A-FF74-FF74D51AB12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768122-1C82-95C9-4210-5B91888D191B}"/>
              </a:ext>
            </a:extLst>
          </p:cNvPr>
          <p:cNvSpPr>
            <a:spLocks noGrp="1"/>
          </p:cNvSpPr>
          <p:nvPr>
            <p:ph type="sldNum" sz="quarter" idx="12"/>
          </p:nvPr>
        </p:nvSpPr>
        <p:spPr/>
        <p:txBody>
          <a:bodyPr/>
          <a:lstStyle/>
          <a:p>
            <a:fld id="{0D2E6A04-B99A-6C4D-8942-945F97C9E705}" type="slidenum">
              <a:rPr lang="en-US" smtClean="0"/>
              <a:pPr/>
              <a:t>29</a:t>
            </a:fld>
            <a:endParaRPr lang="en-US"/>
          </a:p>
        </p:txBody>
      </p:sp>
      <p:sp>
        <p:nvSpPr>
          <p:cNvPr id="3" name="Date Placeholder 2">
            <a:extLst>
              <a:ext uri="{FF2B5EF4-FFF2-40B4-BE49-F238E27FC236}">
                <a16:creationId xmlns:a16="http://schemas.microsoft.com/office/drawing/2014/main" id="{3BF7B314-9F0B-2DB4-DBDF-4DBF27B3E074}"/>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996D1595-AB7E-34C7-FFBE-DDABE09D308C}"/>
              </a:ext>
            </a:extLst>
          </p:cNvPr>
          <p:cNvSpPr>
            <a:spLocks noGrp="1"/>
          </p:cNvSpPr>
          <p:nvPr>
            <p:ph type="title"/>
          </p:nvPr>
        </p:nvSpPr>
        <p:spPr/>
        <p:txBody>
          <a:bodyPr/>
          <a:lstStyle/>
          <a:p>
            <a:r>
              <a:rPr lang="fr-FR"/>
              <a:t>Netherlands – main </a:t>
            </a:r>
            <a:r>
              <a:rPr lang="fr-FR" err="1"/>
              <a:t>pillars</a:t>
            </a:r>
            <a:r>
              <a:rPr lang="fr-FR"/>
              <a:t> over </a:t>
            </a:r>
            <a:r>
              <a:rPr lang="fr-FR" err="1"/>
              <a:t>months</a:t>
            </a:r>
            <a:endParaRPr lang="fr-FR"/>
          </a:p>
        </p:txBody>
      </p:sp>
      <p:sp>
        <p:nvSpPr>
          <p:cNvPr id="6" name="Rechthoek 4">
            <a:extLst>
              <a:ext uri="{FF2B5EF4-FFF2-40B4-BE49-F238E27FC236}">
                <a16:creationId xmlns:a16="http://schemas.microsoft.com/office/drawing/2014/main" id="{2F5005C6-A32D-1DA6-DE02-1594FF18BC1A}"/>
              </a:ext>
            </a:extLst>
          </p:cNvPr>
          <p:cNvSpPr/>
          <p:nvPr/>
        </p:nvSpPr>
        <p:spPr>
          <a:xfrm>
            <a:off x="-1" y="978100"/>
            <a:ext cx="11858372" cy="939600"/>
          </a:xfrm>
          <a:prstGeom prst="rect">
            <a:avLst/>
          </a:prstGeom>
          <a:solidFill>
            <a:schemeClr val="accent4">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Improvement of all pillars compared to </a:t>
            </a:r>
            <a:r>
              <a:rPr lang="en-US" sz="1200" b="1" err="1">
                <a:solidFill>
                  <a:schemeClr val="tx2"/>
                </a:solidFill>
                <a:latin typeface="+mj-lt"/>
                <a:ea typeface="Calibri"/>
                <a:cs typeface="Calibri"/>
              </a:rPr>
              <a:t>ly</a:t>
            </a:r>
            <a:r>
              <a:rPr lang="en-US" sz="1200" b="1">
                <a:solidFill>
                  <a:schemeClr val="tx2"/>
                </a:solidFill>
                <a:latin typeface="+mj-lt"/>
                <a:ea typeface="Calibri"/>
                <a:cs typeface="Calibri"/>
              </a:rPr>
              <a:t>.</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NSS of catering offer is still very low.</a:t>
            </a:r>
          </a:p>
        </p:txBody>
      </p:sp>
      <p:sp>
        <p:nvSpPr>
          <p:cNvPr id="7" name="Rectangle 6">
            <a:extLst>
              <a:ext uri="{FF2B5EF4-FFF2-40B4-BE49-F238E27FC236}">
                <a16:creationId xmlns:a16="http://schemas.microsoft.com/office/drawing/2014/main" id="{25267D4C-61BF-8B93-C3CC-7F29BECCBF94}"/>
              </a:ext>
            </a:extLst>
          </p:cNvPr>
          <p:cNvSpPr/>
          <p:nvPr/>
        </p:nvSpPr>
        <p:spPr>
          <a:xfrm rot="16200000">
            <a:off x="-247629" y="1276585"/>
            <a:ext cx="917050"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4"/>
                </a:solidFill>
                <a:ea typeface="Calibri"/>
                <a:cs typeface="Calibri"/>
              </a:rPr>
              <a:t>Analysis</a:t>
            </a:r>
            <a:endParaRPr lang="en-US" sz="1100">
              <a:solidFill>
                <a:schemeClr val="accent4"/>
              </a:solidFill>
            </a:endParaRPr>
          </a:p>
        </p:txBody>
      </p:sp>
      <p:pic>
        <p:nvPicPr>
          <p:cNvPr id="10" name="Picture 9">
            <a:extLst>
              <a:ext uri="{FF2B5EF4-FFF2-40B4-BE49-F238E27FC236}">
                <a16:creationId xmlns:a16="http://schemas.microsoft.com/office/drawing/2014/main" id="{9DDCC05F-9986-37C8-0B20-FF3BA8D17A44}"/>
              </a:ext>
            </a:extLst>
          </p:cNvPr>
          <p:cNvPicPr>
            <a:picLocks noChangeAspect="1"/>
          </p:cNvPicPr>
          <p:nvPr/>
        </p:nvPicPr>
        <p:blipFill>
          <a:blip r:embed="rId2">
            <a:extLst>
              <a:ext uri="{28A0092B-C50C-407E-A947-70E740481C1C}">
                <a14:useLocalDpi xmlns:a14="http://schemas.microsoft.com/office/drawing/2010/main" val="0"/>
              </a:ext>
            </a:extLst>
          </a:blip>
          <a:srcRect b="86295"/>
          <a:stretch>
            <a:fillRect/>
          </a:stretch>
        </p:blipFill>
        <p:spPr>
          <a:xfrm>
            <a:off x="1638581" y="2104624"/>
            <a:ext cx="8973965" cy="1032276"/>
          </a:xfrm>
          <a:prstGeom prst="rect">
            <a:avLst/>
          </a:prstGeom>
        </p:spPr>
      </p:pic>
      <p:pic>
        <p:nvPicPr>
          <p:cNvPr id="11" name="Picture 10">
            <a:extLst>
              <a:ext uri="{FF2B5EF4-FFF2-40B4-BE49-F238E27FC236}">
                <a16:creationId xmlns:a16="http://schemas.microsoft.com/office/drawing/2014/main" id="{1ECC08ED-6814-92CF-D8BC-C1D406910DCC}"/>
              </a:ext>
            </a:extLst>
          </p:cNvPr>
          <p:cNvPicPr>
            <a:picLocks noChangeAspect="1"/>
          </p:cNvPicPr>
          <p:nvPr/>
        </p:nvPicPr>
        <p:blipFill>
          <a:blip r:embed="rId2">
            <a:extLst>
              <a:ext uri="{28A0092B-C50C-407E-A947-70E740481C1C}">
                <a14:useLocalDpi xmlns:a14="http://schemas.microsoft.com/office/drawing/2010/main" val="0"/>
              </a:ext>
            </a:extLst>
          </a:blip>
          <a:srcRect t="55231" b="-1563"/>
          <a:stretch>
            <a:fillRect/>
          </a:stretch>
        </p:blipFill>
        <p:spPr>
          <a:xfrm>
            <a:off x="1638581" y="3087034"/>
            <a:ext cx="8973965" cy="3489802"/>
          </a:xfrm>
          <a:prstGeom prst="rect">
            <a:avLst/>
          </a:prstGeom>
        </p:spPr>
      </p:pic>
    </p:spTree>
    <p:extLst>
      <p:ext uri="{BB962C8B-B14F-4D97-AF65-F5344CB8AC3E}">
        <p14:creationId xmlns:p14="http://schemas.microsoft.com/office/powerpoint/2010/main" val="20430201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286BB-F4DB-973F-DC60-DB749E0BF1E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140CF0-2960-DA04-636D-ACF4B0CA5A81}"/>
              </a:ext>
            </a:extLst>
          </p:cNvPr>
          <p:cNvSpPr>
            <a:spLocks noGrp="1"/>
          </p:cNvSpPr>
          <p:nvPr>
            <p:ph type="sldNum" sz="quarter" idx="12"/>
          </p:nvPr>
        </p:nvSpPr>
        <p:spPr/>
        <p:txBody>
          <a:bodyPr/>
          <a:lstStyle/>
          <a:p>
            <a:fld id="{0D2E6A04-B99A-6C4D-8942-945F97C9E705}" type="slidenum">
              <a:rPr lang="en-US" smtClean="0"/>
              <a:pPr/>
              <a:t>30</a:t>
            </a:fld>
            <a:endParaRPr lang="en-US"/>
          </a:p>
        </p:txBody>
      </p:sp>
      <p:sp>
        <p:nvSpPr>
          <p:cNvPr id="3" name="Date Placeholder 2">
            <a:extLst>
              <a:ext uri="{FF2B5EF4-FFF2-40B4-BE49-F238E27FC236}">
                <a16:creationId xmlns:a16="http://schemas.microsoft.com/office/drawing/2014/main" id="{917FE0A5-5319-01ED-15A4-718C9E654904}"/>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A5612F28-A84B-135C-30E5-64233D76549A}"/>
              </a:ext>
            </a:extLst>
          </p:cNvPr>
          <p:cNvSpPr>
            <a:spLocks noGrp="1"/>
          </p:cNvSpPr>
          <p:nvPr>
            <p:ph type="title"/>
          </p:nvPr>
        </p:nvSpPr>
        <p:spPr/>
        <p:txBody>
          <a:bodyPr/>
          <a:lstStyle/>
          <a:p>
            <a:r>
              <a:rPr lang="fr-FR"/>
              <a:t>Netherlands – </a:t>
            </a:r>
            <a:r>
              <a:rPr lang="fr-FR" err="1"/>
              <a:t>ranking</a:t>
            </a:r>
            <a:r>
              <a:rPr lang="fr-FR"/>
              <a:t> </a:t>
            </a:r>
            <a:r>
              <a:rPr lang="fr-FR" err="1"/>
              <a:t>parks</a:t>
            </a:r>
            <a:r>
              <a:rPr lang="fr-FR"/>
              <a:t> on main </a:t>
            </a:r>
            <a:r>
              <a:rPr lang="fr-FR" err="1"/>
              <a:t>pillars</a:t>
            </a:r>
            <a:endParaRPr lang="fr-FR"/>
          </a:p>
        </p:txBody>
      </p:sp>
      <p:sp>
        <p:nvSpPr>
          <p:cNvPr id="6" name="Rechthoek 4">
            <a:extLst>
              <a:ext uri="{FF2B5EF4-FFF2-40B4-BE49-F238E27FC236}">
                <a16:creationId xmlns:a16="http://schemas.microsoft.com/office/drawing/2014/main" id="{2E69715E-2E39-F8C2-09A2-3A962372F2C3}"/>
              </a:ext>
            </a:extLst>
          </p:cNvPr>
          <p:cNvSpPr/>
          <p:nvPr/>
        </p:nvSpPr>
        <p:spPr>
          <a:xfrm>
            <a:off x="-1" y="978100"/>
            <a:ext cx="11858372" cy="939600"/>
          </a:xfrm>
          <a:prstGeom prst="rect">
            <a:avLst/>
          </a:prstGeom>
          <a:solidFill>
            <a:schemeClr val="accent4">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Het Meerdal is TOP village and cottage experiences.</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Park Sandur is also TOP village for village experience.</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Park Zandvoort is also TOP village for cottage experience.</a:t>
            </a:r>
          </a:p>
        </p:txBody>
      </p:sp>
      <p:sp>
        <p:nvSpPr>
          <p:cNvPr id="7" name="Rectangle 6">
            <a:extLst>
              <a:ext uri="{FF2B5EF4-FFF2-40B4-BE49-F238E27FC236}">
                <a16:creationId xmlns:a16="http://schemas.microsoft.com/office/drawing/2014/main" id="{4B57A9C6-C1F7-B8E6-0E0A-8608433F3852}"/>
              </a:ext>
            </a:extLst>
          </p:cNvPr>
          <p:cNvSpPr/>
          <p:nvPr/>
        </p:nvSpPr>
        <p:spPr>
          <a:xfrm rot="16200000">
            <a:off x="-247629" y="1276585"/>
            <a:ext cx="917050"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4"/>
                </a:solidFill>
                <a:ea typeface="Calibri"/>
                <a:cs typeface="Calibri"/>
              </a:rPr>
              <a:t>Analysis</a:t>
            </a:r>
            <a:endParaRPr lang="en-US" sz="1100">
              <a:solidFill>
                <a:schemeClr val="accent4"/>
              </a:solidFill>
            </a:endParaRPr>
          </a:p>
        </p:txBody>
      </p:sp>
      <p:pic>
        <p:nvPicPr>
          <p:cNvPr id="8" name="Picture 7">
            <a:extLst>
              <a:ext uri="{FF2B5EF4-FFF2-40B4-BE49-F238E27FC236}">
                <a16:creationId xmlns:a16="http://schemas.microsoft.com/office/drawing/2014/main" id="{1FB66C27-DAC3-F154-5DE3-83FA0040153D}"/>
              </a:ext>
            </a:extLst>
          </p:cNvPr>
          <p:cNvPicPr>
            <a:picLocks noChangeAspect="1"/>
          </p:cNvPicPr>
          <p:nvPr/>
        </p:nvPicPr>
        <p:blipFill>
          <a:blip r:embed="rId2"/>
          <a:stretch>
            <a:fillRect/>
          </a:stretch>
        </p:blipFill>
        <p:spPr>
          <a:xfrm>
            <a:off x="156229" y="1945399"/>
            <a:ext cx="3512801" cy="2220136"/>
          </a:xfrm>
          <a:prstGeom prst="rect">
            <a:avLst/>
          </a:prstGeom>
        </p:spPr>
      </p:pic>
      <p:pic>
        <p:nvPicPr>
          <p:cNvPr id="12" name="Picture 11">
            <a:extLst>
              <a:ext uri="{FF2B5EF4-FFF2-40B4-BE49-F238E27FC236}">
                <a16:creationId xmlns:a16="http://schemas.microsoft.com/office/drawing/2014/main" id="{08F50A9D-00A2-F06D-08E7-B09CFDA6BB95}"/>
              </a:ext>
            </a:extLst>
          </p:cNvPr>
          <p:cNvPicPr>
            <a:picLocks noChangeAspect="1"/>
          </p:cNvPicPr>
          <p:nvPr/>
        </p:nvPicPr>
        <p:blipFill>
          <a:blip r:embed="rId3"/>
          <a:stretch>
            <a:fillRect/>
          </a:stretch>
        </p:blipFill>
        <p:spPr>
          <a:xfrm>
            <a:off x="8021534" y="1945399"/>
            <a:ext cx="3626614" cy="2304037"/>
          </a:xfrm>
          <a:prstGeom prst="rect">
            <a:avLst/>
          </a:prstGeom>
        </p:spPr>
      </p:pic>
      <p:pic>
        <p:nvPicPr>
          <p:cNvPr id="14" name="Picture 13">
            <a:extLst>
              <a:ext uri="{FF2B5EF4-FFF2-40B4-BE49-F238E27FC236}">
                <a16:creationId xmlns:a16="http://schemas.microsoft.com/office/drawing/2014/main" id="{EEC6D1F8-5398-1857-F238-4ED58B020CD3}"/>
              </a:ext>
            </a:extLst>
          </p:cNvPr>
          <p:cNvPicPr>
            <a:picLocks noChangeAspect="1"/>
          </p:cNvPicPr>
          <p:nvPr/>
        </p:nvPicPr>
        <p:blipFill>
          <a:blip r:embed="rId4"/>
          <a:stretch>
            <a:fillRect/>
          </a:stretch>
        </p:blipFill>
        <p:spPr>
          <a:xfrm>
            <a:off x="221824" y="4319290"/>
            <a:ext cx="3509073" cy="2234110"/>
          </a:xfrm>
          <a:prstGeom prst="rect">
            <a:avLst/>
          </a:prstGeom>
        </p:spPr>
      </p:pic>
      <p:pic>
        <p:nvPicPr>
          <p:cNvPr id="16" name="Picture 15">
            <a:extLst>
              <a:ext uri="{FF2B5EF4-FFF2-40B4-BE49-F238E27FC236}">
                <a16:creationId xmlns:a16="http://schemas.microsoft.com/office/drawing/2014/main" id="{F4AD826B-B324-A85B-EEC7-5AC3D9B74198}"/>
              </a:ext>
            </a:extLst>
          </p:cNvPr>
          <p:cNvPicPr>
            <a:picLocks noChangeAspect="1"/>
          </p:cNvPicPr>
          <p:nvPr/>
        </p:nvPicPr>
        <p:blipFill>
          <a:blip r:embed="rId5"/>
          <a:stretch>
            <a:fillRect/>
          </a:stretch>
        </p:blipFill>
        <p:spPr>
          <a:xfrm>
            <a:off x="4165955" y="4319291"/>
            <a:ext cx="3509073" cy="2250319"/>
          </a:xfrm>
          <a:prstGeom prst="rect">
            <a:avLst/>
          </a:prstGeom>
        </p:spPr>
      </p:pic>
      <p:pic>
        <p:nvPicPr>
          <p:cNvPr id="18" name="Picture 17">
            <a:extLst>
              <a:ext uri="{FF2B5EF4-FFF2-40B4-BE49-F238E27FC236}">
                <a16:creationId xmlns:a16="http://schemas.microsoft.com/office/drawing/2014/main" id="{A91A5E03-980E-BFE8-63E2-359C14CB295D}"/>
              </a:ext>
            </a:extLst>
          </p:cNvPr>
          <p:cNvPicPr>
            <a:picLocks noChangeAspect="1"/>
          </p:cNvPicPr>
          <p:nvPr/>
        </p:nvPicPr>
        <p:blipFill>
          <a:blip r:embed="rId6"/>
          <a:stretch>
            <a:fillRect/>
          </a:stretch>
        </p:blipFill>
        <p:spPr>
          <a:xfrm>
            <a:off x="8083522" y="4319290"/>
            <a:ext cx="3771721" cy="2214096"/>
          </a:xfrm>
          <a:prstGeom prst="rect">
            <a:avLst/>
          </a:prstGeom>
        </p:spPr>
      </p:pic>
      <p:pic>
        <p:nvPicPr>
          <p:cNvPr id="20" name="Picture 19">
            <a:extLst>
              <a:ext uri="{FF2B5EF4-FFF2-40B4-BE49-F238E27FC236}">
                <a16:creationId xmlns:a16="http://schemas.microsoft.com/office/drawing/2014/main" id="{EA38070F-B266-8F3E-C411-D7EE6AB3D512}"/>
              </a:ext>
            </a:extLst>
          </p:cNvPr>
          <p:cNvPicPr>
            <a:picLocks noChangeAspect="1"/>
          </p:cNvPicPr>
          <p:nvPr/>
        </p:nvPicPr>
        <p:blipFill>
          <a:blip r:embed="rId7"/>
          <a:stretch>
            <a:fillRect/>
          </a:stretch>
        </p:blipFill>
        <p:spPr>
          <a:xfrm>
            <a:off x="4095145" y="1945399"/>
            <a:ext cx="3523647" cy="2220136"/>
          </a:xfrm>
          <a:prstGeom prst="rect">
            <a:avLst/>
          </a:prstGeom>
        </p:spPr>
      </p:pic>
      <p:pic>
        <p:nvPicPr>
          <p:cNvPr id="4" name="Picture 7">
            <a:extLst>
              <a:ext uri="{FF2B5EF4-FFF2-40B4-BE49-F238E27FC236}">
                <a16:creationId xmlns:a16="http://schemas.microsoft.com/office/drawing/2014/main" id="{42BA9054-D4ED-D05E-25D6-A99BEE8C8B92}"/>
              </a:ext>
            </a:extLst>
          </p:cNvPr>
          <p:cNvPicPr>
            <a:picLocks noChangeAspect="1"/>
          </p:cNvPicPr>
          <p:nvPr/>
        </p:nvPicPr>
        <p:blipFill>
          <a:blip r:embed="rId2"/>
          <a:stretch>
            <a:fillRect/>
          </a:stretch>
        </p:blipFill>
        <p:spPr>
          <a:xfrm>
            <a:off x="119653" y="1917700"/>
            <a:ext cx="3512801" cy="2220136"/>
          </a:xfrm>
          <a:prstGeom prst="rect">
            <a:avLst/>
          </a:prstGeom>
        </p:spPr>
      </p:pic>
      <p:pic>
        <p:nvPicPr>
          <p:cNvPr id="9" name="Picture 11">
            <a:extLst>
              <a:ext uri="{FF2B5EF4-FFF2-40B4-BE49-F238E27FC236}">
                <a16:creationId xmlns:a16="http://schemas.microsoft.com/office/drawing/2014/main" id="{A11ED54D-7276-7B8C-8EF5-22FE7CE6781A}"/>
              </a:ext>
            </a:extLst>
          </p:cNvPr>
          <p:cNvPicPr>
            <a:picLocks noChangeAspect="1"/>
          </p:cNvPicPr>
          <p:nvPr/>
        </p:nvPicPr>
        <p:blipFill>
          <a:blip r:embed="rId3"/>
          <a:stretch>
            <a:fillRect/>
          </a:stretch>
        </p:blipFill>
        <p:spPr>
          <a:xfrm>
            <a:off x="7984958" y="1917700"/>
            <a:ext cx="3626614" cy="2304037"/>
          </a:xfrm>
          <a:prstGeom prst="rect">
            <a:avLst/>
          </a:prstGeom>
        </p:spPr>
      </p:pic>
      <p:pic>
        <p:nvPicPr>
          <p:cNvPr id="10" name="Picture 19">
            <a:extLst>
              <a:ext uri="{FF2B5EF4-FFF2-40B4-BE49-F238E27FC236}">
                <a16:creationId xmlns:a16="http://schemas.microsoft.com/office/drawing/2014/main" id="{56B778FF-80F0-C48E-FA0A-EA579761EB78}"/>
              </a:ext>
            </a:extLst>
          </p:cNvPr>
          <p:cNvPicPr>
            <a:picLocks noChangeAspect="1"/>
          </p:cNvPicPr>
          <p:nvPr/>
        </p:nvPicPr>
        <p:blipFill>
          <a:blip r:embed="rId7"/>
          <a:stretch>
            <a:fillRect/>
          </a:stretch>
        </p:blipFill>
        <p:spPr>
          <a:xfrm>
            <a:off x="4058569" y="1917700"/>
            <a:ext cx="3523647" cy="2220136"/>
          </a:xfrm>
          <a:prstGeom prst="rect">
            <a:avLst/>
          </a:prstGeom>
        </p:spPr>
      </p:pic>
    </p:spTree>
    <p:extLst>
      <p:ext uri="{BB962C8B-B14F-4D97-AF65-F5344CB8AC3E}">
        <p14:creationId xmlns:p14="http://schemas.microsoft.com/office/powerpoint/2010/main" val="37655025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D55C5-F5C3-5C14-4F49-CB325DE134E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974002-D27D-78D4-58E3-81184B132A50}"/>
              </a:ext>
            </a:extLst>
          </p:cNvPr>
          <p:cNvSpPr>
            <a:spLocks noGrp="1"/>
          </p:cNvSpPr>
          <p:nvPr>
            <p:ph type="sldNum" sz="quarter" idx="12"/>
          </p:nvPr>
        </p:nvSpPr>
        <p:spPr/>
        <p:txBody>
          <a:bodyPr/>
          <a:lstStyle/>
          <a:p>
            <a:fld id="{0D2E6A04-B99A-6C4D-8942-945F97C9E705}" type="slidenum">
              <a:rPr lang="en-US" smtClean="0"/>
              <a:pPr/>
              <a:t>31</a:t>
            </a:fld>
            <a:endParaRPr lang="en-US"/>
          </a:p>
        </p:txBody>
      </p:sp>
      <p:sp>
        <p:nvSpPr>
          <p:cNvPr id="3" name="Date Placeholder 2">
            <a:extLst>
              <a:ext uri="{FF2B5EF4-FFF2-40B4-BE49-F238E27FC236}">
                <a16:creationId xmlns:a16="http://schemas.microsoft.com/office/drawing/2014/main" id="{5EFEACDF-6999-D32A-614A-D9032284C636}"/>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DEC3E039-83A4-2B96-D79F-62430444F2B1}"/>
              </a:ext>
            </a:extLst>
          </p:cNvPr>
          <p:cNvSpPr>
            <a:spLocks noGrp="1"/>
          </p:cNvSpPr>
          <p:nvPr>
            <p:ph type="title"/>
          </p:nvPr>
        </p:nvSpPr>
        <p:spPr/>
        <p:txBody>
          <a:bodyPr/>
          <a:lstStyle/>
          <a:p>
            <a:r>
              <a:rPr lang="fr-FR"/>
              <a:t>Netherlands – </a:t>
            </a:r>
            <a:r>
              <a:rPr lang="fr-FR" err="1"/>
              <a:t>ranking</a:t>
            </a:r>
            <a:r>
              <a:rPr lang="fr-FR"/>
              <a:t> </a:t>
            </a:r>
            <a:r>
              <a:rPr lang="fr-FR" err="1"/>
              <a:t>parks</a:t>
            </a:r>
            <a:r>
              <a:rPr lang="fr-FR"/>
              <a:t> on main </a:t>
            </a:r>
            <a:r>
              <a:rPr lang="fr-FR" err="1"/>
              <a:t>pillars</a:t>
            </a:r>
            <a:endParaRPr lang="fr-FR"/>
          </a:p>
        </p:txBody>
      </p:sp>
      <p:sp>
        <p:nvSpPr>
          <p:cNvPr id="6" name="Rechthoek 4">
            <a:extLst>
              <a:ext uri="{FF2B5EF4-FFF2-40B4-BE49-F238E27FC236}">
                <a16:creationId xmlns:a16="http://schemas.microsoft.com/office/drawing/2014/main" id="{4FE5A773-9DAF-F9F8-8ED8-9AAC52A661A4}"/>
              </a:ext>
            </a:extLst>
          </p:cNvPr>
          <p:cNvSpPr/>
          <p:nvPr/>
        </p:nvSpPr>
        <p:spPr>
          <a:xfrm>
            <a:off x="-1" y="978100"/>
            <a:ext cx="11858372" cy="939600"/>
          </a:xfrm>
          <a:prstGeom prst="rect">
            <a:avLst/>
          </a:prstGeom>
          <a:solidFill>
            <a:schemeClr val="accent4">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De </a:t>
            </a:r>
            <a:r>
              <a:rPr lang="en-US" sz="1200" b="1" err="1">
                <a:solidFill>
                  <a:schemeClr val="tx2"/>
                </a:solidFill>
                <a:latin typeface="+mj-lt"/>
                <a:ea typeface="Calibri"/>
                <a:cs typeface="Calibri"/>
              </a:rPr>
              <a:t>Huttenheugte</a:t>
            </a:r>
            <a:r>
              <a:rPr lang="en-US" sz="1200" b="1">
                <a:solidFill>
                  <a:schemeClr val="tx2"/>
                </a:solidFill>
                <a:latin typeface="+mj-lt"/>
                <a:ea typeface="Calibri"/>
                <a:cs typeface="Calibri"/>
              </a:rPr>
              <a:t> is TOP village for Aqua Mundo and Farm experience.</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Het Meerdal and De </a:t>
            </a:r>
            <a:r>
              <a:rPr lang="en-US" sz="1200" b="1" err="1">
                <a:solidFill>
                  <a:schemeClr val="tx2"/>
                </a:solidFill>
                <a:latin typeface="+mj-lt"/>
                <a:ea typeface="Calibri"/>
                <a:cs typeface="Calibri"/>
              </a:rPr>
              <a:t>Kempervenen</a:t>
            </a:r>
            <a:r>
              <a:rPr lang="en-US" sz="1200" b="1">
                <a:solidFill>
                  <a:schemeClr val="tx2"/>
                </a:solidFill>
                <a:latin typeface="+mj-lt"/>
                <a:ea typeface="Calibri"/>
                <a:cs typeface="Calibri"/>
              </a:rPr>
              <a:t> are top villages for Leisure and Farm experiences, whereas Limburgse Peel and Port Zélande are at bottom.</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Parc Sandur is clearly above other parks in catering experience but is not in TOP villages for Aqua Mundo and leisure experiences.</a:t>
            </a:r>
          </a:p>
        </p:txBody>
      </p:sp>
      <p:sp>
        <p:nvSpPr>
          <p:cNvPr id="7" name="Rectangle 6">
            <a:extLst>
              <a:ext uri="{FF2B5EF4-FFF2-40B4-BE49-F238E27FC236}">
                <a16:creationId xmlns:a16="http://schemas.microsoft.com/office/drawing/2014/main" id="{2165895A-BCC2-DD90-D69B-DF5CB8D9D25F}"/>
              </a:ext>
            </a:extLst>
          </p:cNvPr>
          <p:cNvSpPr/>
          <p:nvPr/>
        </p:nvSpPr>
        <p:spPr>
          <a:xfrm rot="16200000">
            <a:off x="-247629" y="1276585"/>
            <a:ext cx="917050"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4"/>
                </a:solidFill>
                <a:ea typeface="Calibri"/>
                <a:cs typeface="Calibri"/>
              </a:rPr>
              <a:t>Analysis</a:t>
            </a:r>
            <a:endParaRPr lang="en-US" sz="1100">
              <a:solidFill>
                <a:schemeClr val="accent4"/>
              </a:solidFill>
            </a:endParaRPr>
          </a:p>
        </p:txBody>
      </p:sp>
      <p:pic>
        <p:nvPicPr>
          <p:cNvPr id="9" name="Picture 8">
            <a:extLst>
              <a:ext uri="{FF2B5EF4-FFF2-40B4-BE49-F238E27FC236}">
                <a16:creationId xmlns:a16="http://schemas.microsoft.com/office/drawing/2014/main" id="{10F92EDC-E4E0-3D97-4D51-B66892792CF4}"/>
              </a:ext>
            </a:extLst>
          </p:cNvPr>
          <p:cNvPicPr>
            <a:picLocks noChangeAspect="1"/>
          </p:cNvPicPr>
          <p:nvPr/>
        </p:nvPicPr>
        <p:blipFill>
          <a:blip r:embed="rId2"/>
          <a:stretch>
            <a:fillRect/>
          </a:stretch>
        </p:blipFill>
        <p:spPr>
          <a:xfrm>
            <a:off x="8210832" y="4362974"/>
            <a:ext cx="3697641" cy="2354780"/>
          </a:xfrm>
          <a:prstGeom prst="rect">
            <a:avLst/>
          </a:prstGeom>
        </p:spPr>
      </p:pic>
      <p:pic>
        <p:nvPicPr>
          <p:cNvPr id="11" name="Picture 10">
            <a:extLst>
              <a:ext uri="{FF2B5EF4-FFF2-40B4-BE49-F238E27FC236}">
                <a16:creationId xmlns:a16="http://schemas.microsoft.com/office/drawing/2014/main" id="{54E253CD-DC72-5784-17B7-B92482D31AF9}"/>
              </a:ext>
            </a:extLst>
          </p:cNvPr>
          <p:cNvPicPr>
            <a:picLocks noChangeAspect="1"/>
          </p:cNvPicPr>
          <p:nvPr/>
        </p:nvPicPr>
        <p:blipFill>
          <a:blip r:embed="rId3"/>
          <a:stretch>
            <a:fillRect/>
          </a:stretch>
        </p:blipFill>
        <p:spPr>
          <a:xfrm>
            <a:off x="210896" y="4320384"/>
            <a:ext cx="3591600" cy="2234378"/>
          </a:xfrm>
          <a:prstGeom prst="rect">
            <a:avLst/>
          </a:prstGeom>
        </p:spPr>
      </p:pic>
      <p:pic>
        <p:nvPicPr>
          <p:cNvPr id="13" name="Picture 12">
            <a:extLst>
              <a:ext uri="{FF2B5EF4-FFF2-40B4-BE49-F238E27FC236}">
                <a16:creationId xmlns:a16="http://schemas.microsoft.com/office/drawing/2014/main" id="{FA08DD26-0070-6F37-6235-E9D5CDDEB7CC}"/>
              </a:ext>
            </a:extLst>
          </p:cNvPr>
          <p:cNvPicPr>
            <a:picLocks noChangeAspect="1"/>
          </p:cNvPicPr>
          <p:nvPr/>
        </p:nvPicPr>
        <p:blipFill>
          <a:blip r:embed="rId4"/>
          <a:stretch>
            <a:fillRect/>
          </a:stretch>
        </p:blipFill>
        <p:spPr>
          <a:xfrm>
            <a:off x="276882" y="1917700"/>
            <a:ext cx="3460727" cy="2263471"/>
          </a:xfrm>
          <a:prstGeom prst="rect">
            <a:avLst/>
          </a:prstGeom>
        </p:spPr>
      </p:pic>
      <p:pic>
        <p:nvPicPr>
          <p:cNvPr id="15" name="Picture 14">
            <a:extLst>
              <a:ext uri="{FF2B5EF4-FFF2-40B4-BE49-F238E27FC236}">
                <a16:creationId xmlns:a16="http://schemas.microsoft.com/office/drawing/2014/main" id="{F676FFA6-C731-ED0F-223D-68C07862DD98}"/>
              </a:ext>
            </a:extLst>
          </p:cNvPr>
          <p:cNvPicPr>
            <a:picLocks noChangeAspect="1"/>
          </p:cNvPicPr>
          <p:nvPr/>
        </p:nvPicPr>
        <p:blipFill>
          <a:blip r:embed="rId5"/>
          <a:stretch>
            <a:fillRect/>
          </a:stretch>
        </p:blipFill>
        <p:spPr>
          <a:xfrm>
            <a:off x="4247505" y="1917700"/>
            <a:ext cx="3565327" cy="2282282"/>
          </a:xfrm>
          <a:prstGeom prst="rect">
            <a:avLst/>
          </a:prstGeom>
        </p:spPr>
      </p:pic>
      <p:pic>
        <p:nvPicPr>
          <p:cNvPr id="17" name="Picture 16">
            <a:extLst>
              <a:ext uri="{FF2B5EF4-FFF2-40B4-BE49-F238E27FC236}">
                <a16:creationId xmlns:a16="http://schemas.microsoft.com/office/drawing/2014/main" id="{12EE7785-A325-D145-8CAC-6E852C9EC580}"/>
              </a:ext>
            </a:extLst>
          </p:cNvPr>
          <p:cNvPicPr>
            <a:picLocks noChangeAspect="1"/>
          </p:cNvPicPr>
          <p:nvPr/>
        </p:nvPicPr>
        <p:blipFill>
          <a:blip r:embed="rId6"/>
          <a:stretch>
            <a:fillRect/>
          </a:stretch>
        </p:blipFill>
        <p:spPr>
          <a:xfrm>
            <a:off x="8174155" y="1917700"/>
            <a:ext cx="3770994" cy="2282282"/>
          </a:xfrm>
          <a:prstGeom prst="rect">
            <a:avLst/>
          </a:prstGeom>
        </p:spPr>
      </p:pic>
      <p:pic>
        <p:nvPicPr>
          <p:cNvPr id="19" name="Picture 18">
            <a:extLst>
              <a:ext uri="{FF2B5EF4-FFF2-40B4-BE49-F238E27FC236}">
                <a16:creationId xmlns:a16="http://schemas.microsoft.com/office/drawing/2014/main" id="{4711B38E-1F90-1BAE-144E-EB0D59FEFFC1}"/>
              </a:ext>
            </a:extLst>
          </p:cNvPr>
          <p:cNvPicPr>
            <a:picLocks noChangeAspect="1"/>
          </p:cNvPicPr>
          <p:nvPr/>
        </p:nvPicPr>
        <p:blipFill>
          <a:blip r:embed="rId7"/>
          <a:stretch>
            <a:fillRect/>
          </a:stretch>
        </p:blipFill>
        <p:spPr>
          <a:xfrm>
            <a:off x="4247505" y="4320384"/>
            <a:ext cx="3565327" cy="2348049"/>
          </a:xfrm>
          <a:prstGeom prst="rect">
            <a:avLst/>
          </a:prstGeom>
        </p:spPr>
      </p:pic>
      <p:pic>
        <p:nvPicPr>
          <p:cNvPr id="4" name="Picture 12">
            <a:extLst>
              <a:ext uri="{FF2B5EF4-FFF2-40B4-BE49-F238E27FC236}">
                <a16:creationId xmlns:a16="http://schemas.microsoft.com/office/drawing/2014/main" id="{A062F949-0DEE-6967-004D-D7CB3BC4D355}"/>
              </a:ext>
            </a:extLst>
          </p:cNvPr>
          <p:cNvPicPr>
            <a:picLocks noChangeAspect="1"/>
          </p:cNvPicPr>
          <p:nvPr/>
        </p:nvPicPr>
        <p:blipFill>
          <a:blip r:embed="rId4"/>
          <a:stretch>
            <a:fillRect/>
          </a:stretch>
        </p:blipFill>
        <p:spPr>
          <a:xfrm>
            <a:off x="240206" y="1917700"/>
            <a:ext cx="3460727" cy="2263471"/>
          </a:xfrm>
          <a:prstGeom prst="rect">
            <a:avLst/>
          </a:prstGeom>
        </p:spPr>
      </p:pic>
      <p:pic>
        <p:nvPicPr>
          <p:cNvPr id="8" name="Picture 14">
            <a:extLst>
              <a:ext uri="{FF2B5EF4-FFF2-40B4-BE49-F238E27FC236}">
                <a16:creationId xmlns:a16="http://schemas.microsoft.com/office/drawing/2014/main" id="{39D169FE-3B52-BB6A-7A9C-2FAA04D19D9F}"/>
              </a:ext>
            </a:extLst>
          </p:cNvPr>
          <p:cNvPicPr>
            <a:picLocks noChangeAspect="1"/>
          </p:cNvPicPr>
          <p:nvPr/>
        </p:nvPicPr>
        <p:blipFill>
          <a:blip r:embed="rId5"/>
          <a:stretch>
            <a:fillRect/>
          </a:stretch>
        </p:blipFill>
        <p:spPr>
          <a:xfrm>
            <a:off x="4210829" y="1917700"/>
            <a:ext cx="3565327" cy="2282282"/>
          </a:xfrm>
          <a:prstGeom prst="rect">
            <a:avLst/>
          </a:prstGeom>
        </p:spPr>
      </p:pic>
      <p:pic>
        <p:nvPicPr>
          <p:cNvPr id="10" name="Picture 16">
            <a:extLst>
              <a:ext uri="{FF2B5EF4-FFF2-40B4-BE49-F238E27FC236}">
                <a16:creationId xmlns:a16="http://schemas.microsoft.com/office/drawing/2014/main" id="{5E22DFE4-31A1-9252-2ECB-1E421FC67364}"/>
              </a:ext>
            </a:extLst>
          </p:cNvPr>
          <p:cNvPicPr>
            <a:picLocks noChangeAspect="1"/>
          </p:cNvPicPr>
          <p:nvPr/>
        </p:nvPicPr>
        <p:blipFill>
          <a:blip r:embed="rId6"/>
          <a:stretch>
            <a:fillRect/>
          </a:stretch>
        </p:blipFill>
        <p:spPr>
          <a:xfrm>
            <a:off x="8137479" y="1917700"/>
            <a:ext cx="3770994" cy="2282282"/>
          </a:xfrm>
          <a:prstGeom prst="rect">
            <a:avLst/>
          </a:prstGeom>
        </p:spPr>
      </p:pic>
    </p:spTree>
    <p:extLst>
      <p:ext uri="{BB962C8B-B14F-4D97-AF65-F5344CB8AC3E}">
        <p14:creationId xmlns:p14="http://schemas.microsoft.com/office/powerpoint/2010/main" val="14061385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88DE2-17A9-B6C4-AD9D-50355E27B7B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241510-1956-4236-E290-655543B9E577}"/>
              </a:ext>
            </a:extLst>
          </p:cNvPr>
          <p:cNvSpPr>
            <a:spLocks noGrp="1"/>
          </p:cNvSpPr>
          <p:nvPr>
            <p:ph type="sldNum" sz="quarter" idx="12"/>
          </p:nvPr>
        </p:nvSpPr>
        <p:spPr/>
        <p:txBody>
          <a:bodyPr/>
          <a:lstStyle/>
          <a:p>
            <a:fld id="{0D2E6A04-B99A-6C4D-8942-945F97C9E705}" type="slidenum">
              <a:rPr lang="en-US" smtClean="0"/>
              <a:pPr/>
              <a:t>32</a:t>
            </a:fld>
            <a:endParaRPr lang="en-US"/>
          </a:p>
        </p:txBody>
      </p:sp>
      <p:sp>
        <p:nvSpPr>
          <p:cNvPr id="3" name="Date Placeholder 2">
            <a:extLst>
              <a:ext uri="{FF2B5EF4-FFF2-40B4-BE49-F238E27FC236}">
                <a16:creationId xmlns:a16="http://schemas.microsoft.com/office/drawing/2014/main" id="{75595C0F-E5CB-8571-F164-6AA6A6B9A2FA}"/>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D599CDF5-00CB-8460-AED8-0D9ADE7EB222}"/>
              </a:ext>
            </a:extLst>
          </p:cNvPr>
          <p:cNvSpPr>
            <a:spLocks noGrp="1"/>
          </p:cNvSpPr>
          <p:nvPr>
            <p:ph type="title"/>
          </p:nvPr>
        </p:nvSpPr>
        <p:spPr/>
        <p:txBody>
          <a:bodyPr/>
          <a:lstStyle/>
          <a:p>
            <a:r>
              <a:rPr lang="fr-FR"/>
              <a:t>Netherlands – NPS per </a:t>
            </a:r>
            <a:r>
              <a:rPr lang="fr-FR" err="1"/>
              <a:t>trialist</a:t>
            </a:r>
            <a:r>
              <a:rPr lang="fr-FR"/>
              <a:t>/</a:t>
            </a:r>
            <a:r>
              <a:rPr lang="fr-FR" err="1"/>
              <a:t>repeaters</a:t>
            </a:r>
            <a:r>
              <a:rPr lang="fr-FR"/>
              <a:t>/</a:t>
            </a:r>
            <a:r>
              <a:rPr lang="fr-FR" err="1"/>
              <a:t>reactivated</a:t>
            </a:r>
            <a:endParaRPr lang="fr-FR"/>
          </a:p>
        </p:txBody>
      </p:sp>
      <p:sp>
        <p:nvSpPr>
          <p:cNvPr id="6" name="Rechthoek 4">
            <a:extLst>
              <a:ext uri="{FF2B5EF4-FFF2-40B4-BE49-F238E27FC236}">
                <a16:creationId xmlns:a16="http://schemas.microsoft.com/office/drawing/2014/main" id="{D83F4847-D572-A0BD-D71F-76B94300313F}"/>
              </a:ext>
            </a:extLst>
          </p:cNvPr>
          <p:cNvSpPr/>
          <p:nvPr/>
        </p:nvSpPr>
        <p:spPr>
          <a:xfrm>
            <a:off x="-1" y="978100"/>
            <a:ext cx="6934201" cy="1696720"/>
          </a:xfrm>
          <a:prstGeom prst="rect">
            <a:avLst/>
          </a:prstGeom>
          <a:solidFill>
            <a:schemeClr val="accent4">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NPS Repeaters &gt; NPS Trialist and </a:t>
            </a:r>
            <a:r>
              <a:rPr lang="en-US" sz="1200" b="1" err="1">
                <a:solidFill>
                  <a:schemeClr val="tx2"/>
                </a:solidFill>
                <a:latin typeface="+mj-lt"/>
                <a:ea typeface="Calibri"/>
                <a:cs typeface="Calibri"/>
              </a:rPr>
              <a:t>ReActivated</a:t>
            </a:r>
            <a:r>
              <a:rPr lang="en-US" sz="1200" b="1">
                <a:solidFill>
                  <a:schemeClr val="tx2"/>
                </a:solidFill>
                <a:latin typeface="+mj-lt"/>
                <a:ea typeface="Calibri"/>
                <a:cs typeface="Calibri"/>
              </a:rPr>
              <a:t> guest.</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All segments improved in all parks of Netherlands.</a:t>
            </a:r>
          </a:p>
        </p:txBody>
      </p:sp>
      <p:sp>
        <p:nvSpPr>
          <p:cNvPr id="7" name="Rectangle 6">
            <a:extLst>
              <a:ext uri="{FF2B5EF4-FFF2-40B4-BE49-F238E27FC236}">
                <a16:creationId xmlns:a16="http://schemas.microsoft.com/office/drawing/2014/main" id="{D49F5CA8-B56A-08C6-20C0-EFC1DC4C1999}"/>
              </a:ext>
            </a:extLst>
          </p:cNvPr>
          <p:cNvSpPr/>
          <p:nvPr/>
        </p:nvSpPr>
        <p:spPr>
          <a:xfrm rot="16200000">
            <a:off x="-617105" y="1646060"/>
            <a:ext cx="1656000"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4"/>
                </a:solidFill>
                <a:ea typeface="Calibri"/>
                <a:cs typeface="Calibri"/>
              </a:rPr>
              <a:t>Analysis</a:t>
            </a:r>
            <a:endParaRPr lang="en-US" sz="1100">
              <a:solidFill>
                <a:schemeClr val="accent4"/>
              </a:solidFill>
            </a:endParaRPr>
          </a:p>
        </p:txBody>
      </p:sp>
      <p:graphicFrame>
        <p:nvGraphicFramePr>
          <p:cNvPr id="16" name="Table 15">
            <a:extLst>
              <a:ext uri="{FF2B5EF4-FFF2-40B4-BE49-F238E27FC236}">
                <a16:creationId xmlns:a16="http://schemas.microsoft.com/office/drawing/2014/main" id="{41BA64C9-D0FE-4D2E-1513-FFFE8C4048D9}"/>
              </a:ext>
            </a:extLst>
          </p:cNvPr>
          <p:cNvGraphicFramePr>
            <a:graphicFrameLocks noGrp="1"/>
          </p:cNvGraphicFramePr>
          <p:nvPr/>
        </p:nvGraphicFramePr>
        <p:xfrm>
          <a:off x="7867650" y="1257797"/>
          <a:ext cx="2895600" cy="1137325"/>
        </p:xfrm>
        <a:graphic>
          <a:graphicData uri="http://schemas.openxmlformats.org/drawingml/2006/table">
            <a:tbl>
              <a:tblPr/>
              <a:tblGrid>
                <a:gridCol w="723900">
                  <a:extLst>
                    <a:ext uri="{9D8B030D-6E8A-4147-A177-3AD203B41FA5}">
                      <a16:colId xmlns:a16="http://schemas.microsoft.com/office/drawing/2014/main" val="1042360420"/>
                    </a:ext>
                  </a:extLst>
                </a:gridCol>
                <a:gridCol w="723900">
                  <a:extLst>
                    <a:ext uri="{9D8B030D-6E8A-4147-A177-3AD203B41FA5}">
                      <a16:colId xmlns:a16="http://schemas.microsoft.com/office/drawing/2014/main" val="1094157775"/>
                    </a:ext>
                  </a:extLst>
                </a:gridCol>
                <a:gridCol w="723900">
                  <a:extLst>
                    <a:ext uri="{9D8B030D-6E8A-4147-A177-3AD203B41FA5}">
                      <a16:colId xmlns:a16="http://schemas.microsoft.com/office/drawing/2014/main" val="2484114685"/>
                    </a:ext>
                  </a:extLst>
                </a:gridCol>
                <a:gridCol w="723900">
                  <a:extLst>
                    <a:ext uri="{9D8B030D-6E8A-4147-A177-3AD203B41FA5}">
                      <a16:colId xmlns:a16="http://schemas.microsoft.com/office/drawing/2014/main" val="2692489940"/>
                    </a:ext>
                  </a:extLst>
                </a:gridCol>
              </a:tblGrid>
              <a:tr h="227465">
                <a:tc>
                  <a:txBody>
                    <a:bodyPr/>
                    <a:lstStyle/>
                    <a:p>
                      <a:pPr algn="l" fontAlgn="b">
                        <a:buNone/>
                      </a:pPr>
                      <a:endParaRPr lang="fr-FR" sz="1000" b="0"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Evol </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36665803"/>
                  </a:ext>
                </a:extLst>
              </a:tr>
              <a:tr h="227465">
                <a:tc>
                  <a:txBody>
                    <a:bodyPr/>
                    <a:lstStyle/>
                    <a:p>
                      <a:pPr algn="l" fontAlgn="b">
                        <a:buNone/>
                      </a:pPr>
                      <a:r>
                        <a:rPr lang="fr-FR" sz="1000" b="0" i="0" u="none" strike="noStrike">
                          <a:solidFill>
                            <a:srgbClr val="000000"/>
                          </a:solidFill>
                          <a:effectLst/>
                          <a:latin typeface="Aptos Narrow" panose="020B0004020202020204" pitchFamily="34" charset="0"/>
                        </a:rPr>
                        <a:t>R</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23,4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1000" b="0" i="0" u="none" strike="noStrike">
                          <a:solidFill>
                            <a:srgbClr val="000000"/>
                          </a:solidFill>
                          <a:effectLst/>
                          <a:latin typeface="Aptos Narrow" panose="020B0004020202020204" pitchFamily="34" charset="0"/>
                        </a:rPr>
                        <a:t>17,4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FCC85"/>
                    </a:solidFill>
                  </a:tcPr>
                </a:tc>
                <a:tc>
                  <a:txBody>
                    <a:bodyPr/>
                    <a:lstStyle/>
                    <a:p>
                      <a:pPr algn="r" fontAlgn="b">
                        <a:buNone/>
                      </a:pPr>
                      <a:r>
                        <a:rPr lang="fr-FR" sz="1000" b="0" i="0" u="none" strike="noStrike">
                          <a:solidFill>
                            <a:srgbClr val="00B050"/>
                          </a:solidFill>
                          <a:effectLst/>
                          <a:latin typeface="Aptos Narrow" panose="020B0004020202020204" pitchFamily="34" charset="0"/>
                        </a:rPr>
                        <a:t>6,0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15169989"/>
                  </a:ext>
                </a:extLst>
              </a:tr>
              <a:tr h="227465">
                <a:tc>
                  <a:txBody>
                    <a:bodyPr/>
                    <a:lstStyle/>
                    <a:p>
                      <a:pPr algn="l" fontAlgn="b">
                        <a:buNone/>
                      </a:pPr>
                      <a:r>
                        <a:rPr lang="fr-FR" sz="1000" b="1" i="0" u="none" strike="noStrike">
                          <a:solidFill>
                            <a:srgbClr val="000000"/>
                          </a:solidFill>
                          <a:effectLst/>
                          <a:latin typeface="Aptos Narrow" panose="020B0004020202020204" pitchFamily="34" charset="0"/>
                        </a:rPr>
                        <a:t>Total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18,1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ACB84"/>
                    </a:solidFill>
                  </a:tcPr>
                </a:tc>
                <a:tc>
                  <a:txBody>
                    <a:bodyPr/>
                    <a:lstStyle/>
                    <a:p>
                      <a:pPr algn="r" fontAlgn="b">
                        <a:buNone/>
                      </a:pPr>
                      <a:r>
                        <a:rPr lang="fr-FR" sz="1000" b="1" i="0" u="none" strike="noStrike">
                          <a:solidFill>
                            <a:srgbClr val="000000"/>
                          </a:solidFill>
                          <a:effectLst/>
                          <a:latin typeface="Aptos Narrow" panose="020B0004020202020204" pitchFamily="34" charset="0"/>
                        </a:rPr>
                        <a:t>11,3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CDA8E"/>
                    </a:solidFill>
                  </a:tcPr>
                </a:tc>
                <a:tc>
                  <a:txBody>
                    <a:bodyPr/>
                    <a:lstStyle/>
                    <a:p>
                      <a:pPr algn="r" fontAlgn="b">
                        <a:buNone/>
                      </a:pPr>
                      <a:r>
                        <a:rPr lang="fr-FR" sz="1000" b="1" i="0" u="none" strike="noStrike">
                          <a:solidFill>
                            <a:srgbClr val="00B050"/>
                          </a:solidFill>
                          <a:effectLst/>
                          <a:latin typeface="Aptos Narrow" panose="020B0004020202020204" pitchFamily="34" charset="0"/>
                        </a:rPr>
                        <a:t>6,8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03552027"/>
                  </a:ext>
                </a:extLst>
              </a:tr>
              <a:tr h="227465">
                <a:tc>
                  <a:txBody>
                    <a:bodyPr/>
                    <a:lstStyle/>
                    <a:p>
                      <a:pPr algn="l" fontAlgn="b">
                        <a:buNone/>
                      </a:pPr>
                      <a:r>
                        <a:rPr lang="fr-FR" sz="1000" b="0" i="0" u="none" strike="noStrike">
                          <a:solidFill>
                            <a:srgbClr val="000000"/>
                          </a:solidFill>
                          <a:effectLst/>
                          <a:latin typeface="Aptos Narrow" panose="020B0004020202020204" pitchFamily="34" charset="0"/>
                        </a:rPr>
                        <a:t>A</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11,2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CDA8E"/>
                    </a:solidFill>
                  </a:tcPr>
                </a:tc>
                <a:tc>
                  <a:txBody>
                    <a:bodyPr/>
                    <a:lstStyle/>
                    <a:p>
                      <a:pPr algn="r" fontAlgn="b">
                        <a:buNone/>
                      </a:pPr>
                      <a:r>
                        <a:rPr lang="fr-FR" sz="1000" b="0" i="0" u="none" strike="noStrike">
                          <a:solidFill>
                            <a:srgbClr val="000000"/>
                          </a:solidFill>
                          <a:effectLst/>
                          <a:latin typeface="Aptos Narrow" panose="020B0004020202020204" pitchFamily="34" charset="0"/>
                        </a:rPr>
                        <a:t>6,5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EE595"/>
                    </a:solidFill>
                  </a:tcPr>
                </a:tc>
                <a:tc>
                  <a:txBody>
                    <a:bodyPr/>
                    <a:lstStyle/>
                    <a:p>
                      <a:pPr algn="r" fontAlgn="b">
                        <a:buNone/>
                      </a:pPr>
                      <a:r>
                        <a:rPr lang="fr-FR" sz="1000" b="0" i="0" u="none" strike="noStrike">
                          <a:solidFill>
                            <a:srgbClr val="00B050"/>
                          </a:solidFill>
                          <a:effectLst/>
                          <a:latin typeface="Aptos Narrow" panose="020B0004020202020204" pitchFamily="34" charset="0"/>
                        </a:rPr>
                        <a:t>4,7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42237284"/>
                  </a:ext>
                </a:extLst>
              </a:tr>
              <a:tr h="227465">
                <a:tc>
                  <a:txBody>
                    <a:bodyPr/>
                    <a:lstStyle/>
                    <a:p>
                      <a:pPr algn="l" fontAlgn="b">
                        <a:buNone/>
                      </a:pPr>
                      <a:r>
                        <a:rPr lang="fr-FR" sz="1000" b="0" i="0" u="none" strike="noStrike">
                          <a:solidFill>
                            <a:srgbClr val="000000"/>
                          </a:solidFill>
                          <a:effectLst/>
                          <a:latin typeface="Aptos Narrow" panose="020B0004020202020204" pitchFamily="34" charset="0"/>
                        </a:rPr>
                        <a:t>T</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9,9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5DD90"/>
                    </a:solidFill>
                  </a:tcPr>
                </a:tc>
                <a:tc>
                  <a:txBody>
                    <a:bodyPr/>
                    <a:lstStyle/>
                    <a:p>
                      <a:pPr algn="r" fontAlgn="b">
                        <a:buNone/>
                      </a:pPr>
                      <a:r>
                        <a:rPr lang="fr-FR" sz="1000" b="0" i="0" u="none" strike="noStrike">
                          <a:solidFill>
                            <a:srgbClr val="000000"/>
                          </a:solidFill>
                          <a:effectLst/>
                          <a:latin typeface="Aptos Narrow" panose="020B0004020202020204" pitchFamily="34" charset="0"/>
                        </a:rPr>
                        <a:t>1,9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F9C"/>
                    </a:solidFill>
                  </a:tcPr>
                </a:tc>
                <a:tc>
                  <a:txBody>
                    <a:bodyPr/>
                    <a:lstStyle/>
                    <a:p>
                      <a:pPr algn="r" fontAlgn="b">
                        <a:buNone/>
                      </a:pPr>
                      <a:r>
                        <a:rPr lang="fr-FR" sz="1000" b="0" i="0" u="none" strike="noStrike">
                          <a:solidFill>
                            <a:srgbClr val="00B050"/>
                          </a:solidFill>
                          <a:effectLst/>
                          <a:latin typeface="Aptos Narrow" panose="020B0004020202020204" pitchFamily="34" charset="0"/>
                        </a:rPr>
                        <a:t>8,0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69226518"/>
                  </a:ext>
                </a:extLst>
              </a:tr>
            </a:tbl>
          </a:graphicData>
        </a:graphic>
      </p:graphicFrame>
      <p:graphicFrame>
        <p:nvGraphicFramePr>
          <p:cNvPr id="17" name="Table 16">
            <a:extLst>
              <a:ext uri="{FF2B5EF4-FFF2-40B4-BE49-F238E27FC236}">
                <a16:creationId xmlns:a16="http://schemas.microsoft.com/office/drawing/2014/main" id="{91789809-6BB4-275E-4686-F5F340DDC8AD}"/>
              </a:ext>
            </a:extLst>
          </p:cNvPr>
          <p:cNvGraphicFramePr>
            <a:graphicFrameLocks noGrp="1"/>
          </p:cNvGraphicFramePr>
          <p:nvPr/>
        </p:nvGraphicFramePr>
        <p:xfrm>
          <a:off x="484136" y="3235323"/>
          <a:ext cx="2582914" cy="2188886"/>
        </p:xfrm>
        <a:graphic>
          <a:graphicData uri="http://schemas.openxmlformats.org/drawingml/2006/table">
            <a:tbl>
              <a:tblPr/>
              <a:tblGrid>
                <a:gridCol w="1220497">
                  <a:extLst>
                    <a:ext uri="{9D8B030D-6E8A-4147-A177-3AD203B41FA5}">
                      <a16:colId xmlns:a16="http://schemas.microsoft.com/office/drawing/2014/main" val="2405248911"/>
                    </a:ext>
                  </a:extLst>
                </a:gridCol>
                <a:gridCol w="454139">
                  <a:extLst>
                    <a:ext uri="{9D8B030D-6E8A-4147-A177-3AD203B41FA5}">
                      <a16:colId xmlns:a16="http://schemas.microsoft.com/office/drawing/2014/main" val="3015680143"/>
                    </a:ext>
                  </a:extLst>
                </a:gridCol>
                <a:gridCol w="454139">
                  <a:extLst>
                    <a:ext uri="{9D8B030D-6E8A-4147-A177-3AD203B41FA5}">
                      <a16:colId xmlns:a16="http://schemas.microsoft.com/office/drawing/2014/main" val="2047870995"/>
                    </a:ext>
                  </a:extLst>
                </a:gridCol>
                <a:gridCol w="454139">
                  <a:extLst>
                    <a:ext uri="{9D8B030D-6E8A-4147-A177-3AD203B41FA5}">
                      <a16:colId xmlns:a16="http://schemas.microsoft.com/office/drawing/2014/main" val="719731775"/>
                    </a:ext>
                  </a:extLst>
                </a:gridCol>
              </a:tblGrid>
              <a:tr h="114509">
                <a:tc>
                  <a:txBody>
                    <a:bodyPr/>
                    <a:lstStyle/>
                    <a:p>
                      <a:pPr algn="l" fontAlgn="b">
                        <a:buNone/>
                      </a:pPr>
                      <a:endParaRPr lang="fr-FR" sz="1000" b="0" i="0" u="none" strike="noStrike">
                        <a:solidFill>
                          <a:srgbClr val="000000"/>
                        </a:solidFill>
                        <a:effectLst/>
                        <a:latin typeface="Aptos Narrow" panose="020B0004020202020204" pitchFamily="34" charset="0"/>
                      </a:endParaRP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FY25</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FY24</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Evol </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61311406"/>
                  </a:ext>
                </a:extLst>
              </a:tr>
              <a:tr h="114509">
                <a:tc>
                  <a:txBody>
                    <a:bodyPr/>
                    <a:lstStyle/>
                    <a:p>
                      <a:pPr algn="l" fontAlgn="b">
                        <a:buNone/>
                      </a:pPr>
                      <a:endParaRPr lang="fr-FR" sz="1000" b="0" i="0" u="none" strike="noStrike">
                        <a:solidFill>
                          <a:srgbClr val="000000"/>
                        </a:solidFill>
                        <a:effectLst/>
                        <a:latin typeface="Aptos Narrow" panose="020B0004020202020204" pitchFamily="34" charset="0"/>
                      </a:endParaRP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18,1</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5DF82"/>
                    </a:solidFill>
                  </a:tcPr>
                </a:tc>
                <a:tc>
                  <a:txBody>
                    <a:bodyPr/>
                    <a:lstStyle/>
                    <a:p>
                      <a:pPr algn="r" fontAlgn="b">
                        <a:buNone/>
                      </a:pPr>
                      <a:r>
                        <a:rPr lang="fr-FR" sz="1000" b="0" i="0" u="none" strike="noStrike">
                          <a:solidFill>
                            <a:srgbClr val="000000"/>
                          </a:solidFill>
                          <a:effectLst/>
                          <a:latin typeface="Aptos Narrow" panose="020B0004020202020204" pitchFamily="34" charset="0"/>
                        </a:rPr>
                        <a:t>11,3</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883"/>
                    </a:solidFill>
                  </a:tcPr>
                </a:tc>
                <a:tc>
                  <a:txBody>
                    <a:bodyPr/>
                    <a:lstStyle/>
                    <a:p>
                      <a:pPr algn="r" fontAlgn="b">
                        <a:buNone/>
                      </a:pPr>
                      <a:r>
                        <a:rPr lang="fr-FR" sz="1000" b="0" i="0" u="none" strike="noStrike">
                          <a:solidFill>
                            <a:srgbClr val="00B050"/>
                          </a:solidFill>
                          <a:effectLst/>
                          <a:latin typeface="Aptos Narrow" panose="020B0004020202020204" pitchFamily="34" charset="0"/>
                        </a:rPr>
                        <a:t>6,8</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81338872"/>
                  </a:ext>
                </a:extLst>
              </a:tr>
              <a:tr h="114509">
                <a:tc>
                  <a:txBody>
                    <a:bodyPr/>
                    <a:lstStyle/>
                    <a:p>
                      <a:pPr algn="l" fontAlgn="b">
                        <a:buNone/>
                      </a:pPr>
                      <a:r>
                        <a:rPr lang="fr-FR" sz="1000" b="1" i="0" u="none" strike="noStrike">
                          <a:solidFill>
                            <a:srgbClr val="000000"/>
                          </a:solidFill>
                          <a:effectLst/>
                          <a:latin typeface="Aptos Narrow" panose="020B0004020202020204" pitchFamily="34" charset="0"/>
                        </a:rPr>
                        <a:t>De Eemhof</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13,3</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5E984"/>
                    </a:solidFill>
                  </a:tcPr>
                </a:tc>
                <a:tc>
                  <a:txBody>
                    <a:bodyPr/>
                    <a:lstStyle/>
                    <a:p>
                      <a:pPr algn="r" fontAlgn="b">
                        <a:buNone/>
                      </a:pPr>
                      <a:r>
                        <a:rPr lang="fr-FR" sz="1000" b="1" i="0" u="none" strike="noStrike">
                          <a:solidFill>
                            <a:srgbClr val="000000"/>
                          </a:solidFill>
                          <a:effectLst/>
                          <a:latin typeface="Aptos Narrow" panose="020B0004020202020204" pitchFamily="34" charset="0"/>
                        </a:rPr>
                        <a:t>6,5</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17F"/>
                    </a:solidFill>
                  </a:tcPr>
                </a:tc>
                <a:tc>
                  <a:txBody>
                    <a:bodyPr/>
                    <a:lstStyle/>
                    <a:p>
                      <a:pPr algn="r" fontAlgn="b">
                        <a:buNone/>
                      </a:pPr>
                      <a:r>
                        <a:rPr lang="fr-FR" sz="1000" b="1" i="0" u="none" strike="noStrike">
                          <a:solidFill>
                            <a:srgbClr val="00B050"/>
                          </a:solidFill>
                          <a:effectLst/>
                          <a:latin typeface="Aptos Narrow" panose="020B0004020202020204" pitchFamily="34" charset="0"/>
                        </a:rPr>
                        <a:t>6,8</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25861486"/>
                  </a:ext>
                </a:extLst>
              </a:tr>
              <a:tr h="114509">
                <a:tc>
                  <a:txBody>
                    <a:bodyPr/>
                    <a:lstStyle/>
                    <a:p>
                      <a:pPr algn="l" fontAlgn="b">
                        <a:buNone/>
                      </a:pPr>
                      <a:r>
                        <a:rPr lang="fr-FR" sz="1000" b="0" i="0" u="none" strike="noStrike">
                          <a:solidFill>
                            <a:srgbClr val="000000"/>
                          </a:solidFill>
                          <a:effectLst/>
                          <a:latin typeface="Aptos Narrow" panose="020B0004020202020204" pitchFamily="34" charset="0"/>
                        </a:rPr>
                        <a:t> A</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6,1</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07E"/>
                    </a:solidFill>
                  </a:tcPr>
                </a:tc>
                <a:tc>
                  <a:txBody>
                    <a:bodyPr/>
                    <a:lstStyle/>
                    <a:p>
                      <a:pPr algn="r" fontAlgn="b">
                        <a:buNone/>
                      </a:pPr>
                      <a:r>
                        <a:rPr lang="fr-FR" sz="1000" b="0" i="0" u="none" strike="noStrike">
                          <a:solidFill>
                            <a:srgbClr val="000000"/>
                          </a:solidFill>
                          <a:effectLst/>
                          <a:latin typeface="Aptos Narrow" panose="020B0004020202020204" pitchFamily="34" charset="0"/>
                        </a:rPr>
                        <a:t>3,2</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27C"/>
                    </a:solidFill>
                  </a:tcPr>
                </a:tc>
                <a:tc>
                  <a:txBody>
                    <a:bodyPr/>
                    <a:lstStyle/>
                    <a:p>
                      <a:pPr algn="r" fontAlgn="b">
                        <a:buNone/>
                      </a:pPr>
                      <a:r>
                        <a:rPr lang="fr-FR" sz="1000" b="0" i="0" u="none" strike="noStrike">
                          <a:solidFill>
                            <a:srgbClr val="00B050"/>
                          </a:solidFill>
                          <a:effectLst/>
                          <a:latin typeface="Aptos Narrow" panose="020B0004020202020204" pitchFamily="34" charset="0"/>
                        </a:rPr>
                        <a:t>3,0</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1434260"/>
                  </a:ext>
                </a:extLst>
              </a:tr>
              <a:tr h="114509">
                <a:tc>
                  <a:txBody>
                    <a:bodyPr/>
                    <a:lstStyle/>
                    <a:p>
                      <a:pPr algn="l" fontAlgn="b">
                        <a:buNone/>
                      </a:pPr>
                      <a:r>
                        <a:rPr lang="fr-FR" sz="1000" b="0" i="0" u="none" strike="noStrike">
                          <a:solidFill>
                            <a:srgbClr val="000000"/>
                          </a:solidFill>
                          <a:effectLst/>
                          <a:latin typeface="Aptos Narrow" panose="020B0004020202020204" pitchFamily="34" charset="0"/>
                        </a:rPr>
                        <a:t> R</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17,0</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CE182"/>
                    </a:solidFill>
                  </a:tcPr>
                </a:tc>
                <a:tc>
                  <a:txBody>
                    <a:bodyPr/>
                    <a:lstStyle/>
                    <a:p>
                      <a:pPr algn="r" fontAlgn="b">
                        <a:buNone/>
                      </a:pPr>
                      <a:r>
                        <a:rPr lang="fr-FR" sz="1000" b="0" i="0" u="none" strike="noStrike">
                          <a:solidFill>
                            <a:srgbClr val="000000"/>
                          </a:solidFill>
                          <a:effectLst/>
                          <a:latin typeface="Aptos Narrow" panose="020B0004020202020204" pitchFamily="34" charset="0"/>
                        </a:rPr>
                        <a:t>12,6</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EA84"/>
                    </a:solidFill>
                  </a:tcPr>
                </a:tc>
                <a:tc>
                  <a:txBody>
                    <a:bodyPr/>
                    <a:lstStyle/>
                    <a:p>
                      <a:pPr algn="r" fontAlgn="b">
                        <a:buNone/>
                      </a:pPr>
                      <a:r>
                        <a:rPr lang="fr-FR" sz="1000" b="0" i="0" u="none" strike="noStrike">
                          <a:solidFill>
                            <a:srgbClr val="00B050"/>
                          </a:solidFill>
                          <a:effectLst/>
                          <a:latin typeface="Aptos Narrow" panose="020B0004020202020204" pitchFamily="34" charset="0"/>
                        </a:rPr>
                        <a:t>4,5</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08237363"/>
                  </a:ext>
                </a:extLst>
              </a:tr>
              <a:tr h="114509">
                <a:tc>
                  <a:txBody>
                    <a:bodyPr/>
                    <a:lstStyle/>
                    <a:p>
                      <a:pPr algn="l" fontAlgn="b">
                        <a:buNone/>
                      </a:pPr>
                      <a:r>
                        <a:rPr lang="fr-FR" sz="1000" b="0" i="0" u="none" strike="noStrike">
                          <a:solidFill>
                            <a:srgbClr val="000000"/>
                          </a:solidFill>
                          <a:effectLst/>
                          <a:latin typeface="Aptos Narrow" panose="020B0004020202020204" pitchFamily="34" charset="0"/>
                        </a:rPr>
                        <a:t> T</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8,6</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B81"/>
                    </a:solidFill>
                  </a:tcPr>
                </a:tc>
                <a:tc>
                  <a:txBody>
                    <a:bodyPr/>
                    <a:lstStyle/>
                    <a:p>
                      <a:pPr algn="r" fontAlgn="b">
                        <a:buNone/>
                      </a:pPr>
                      <a:r>
                        <a:rPr lang="fr-FR" sz="1000" b="0" i="0" u="none" strike="noStrike">
                          <a:solidFill>
                            <a:srgbClr val="000000"/>
                          </a:solidFill>
                          <a:effectLst/>
                          <a:latin typeface="Aptos Narrow" panose="020B0004020202020204" pitchFamily="34" charset="0"/>
                        </a:rPr>
                        <a:t>-2,2</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877"/>
                    </a:solidFill>
                  </a:tcPr>
                </a:tc>
                <a:tc>
                  <a:txBody>
                    <a:bodyPr/>
                    <a:lstStyle/>
                    <a:p>
                      <a:pPr algn="r" fontAlgn="b">
                        <a:buNone/>
                      </a:pPr>
                      <a:r>
                        <a:rPr lang="fr-FR" sz="1000" b="0" i="0" u="none" strike="noStrike">
                          <a:solidFill>
                            <a:srgbClr val="00B050"/>
                          </a:solidFill>
                          <a:effectLst/>
                          <a:latin typeface="Aptos Narrow" panose="020B0004020202020204" pitchFamily="34" charset="0"/>
                        </a:rPr>
                        <a:t>10,7</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66770762"/>
                  </a:ext>
                </a:extLst>
              </a:tr>
              <a:tr h="114509">
                <a:tc>
                  <a:txBody>
                    <a:bodyPr/>
                    <a:lstStyle/>
                    <a:p>
                      <a:pPr algn="l" fontAlgn="b">
                        <a:buNone/>
                      </a:pPr>
                      <a:r>
                        <a:rPr lang="fr-FR" sz="1000" b="1" i="0" u="none" strike="noStrike">
                          <a:solidFill>
                            <a:srgbClr val="000000"/>
                          </a:solidFill>
                          <a:effectLst/>
                          <a:latin typeface="Aptos Narrow" panose="020B0004020202020204" pitchFamily="34" charset="0"/>
                        </a:rPr>
                        <a:t>De Huttenheugte</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19,6</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BDC81"/>
                    </a:solidFill>
                  </a:tcPr>
                </a:tc>
                <a:tc>
                  <a:txBody>
                    <a:bodyPr/>
                    <a:lstStyle/>
                    <a:p>
                      <a:pPr algn="r" fontAlgn="b">
                        <a:buNone/>
                      </a:pPr>
                      <a:r>
                        <a:rPr lang="fr-FR" sz="1000" b="1" i="0" u="none" strike="noStrike">
                          <a:solidFill>
                            <a:srgbClr val="000000"/>
                          </a:solidFill>
                          <a:effectLst/>
                          <a:latin typeface="Aptos Narrow" panose="020B0004020202020204" pitchFamily="34" charset="0"/>
                        </a:rPr>
                        <a:t>14,8</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BE683"/>
                    </a:solidFill>
                  </a:tcPr>
                </a:tc>
                <a:tc>
                  <a:txBody>
                    <a:bodyPr/>
                    <a:lstStyle/>
                    <a:p>
                      <a:pPr algn="r" fontAlgn="b">
                        <a:buNone/>
                      </a:pPr>
                      <a:r>
                        <a:rPr lang="fr-FR" sz="1000" b="1" i="0" u="none" strike="noStrike">
                          <a:solidFill>
                            <a:srgbClr val="00B050"/>
                          </a:solidFill>
                          <a:effectLst/>
                          <a:latin typeface="Aptos Narrow" panose="020B0004020202020204" pitchFamily="34" charset="0"/>
                        </a:rPr>
                        <a:t>4,7</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44216659"/>
                  </a:ext>
                </a:extLst>
              </a:tr>
              <a:tr h="114509">
                <a:tc>
                  <a:txBody>
                    <a:bodyPr/>
                    <a:lstStyle/>
                    <a:p>
                      <a:pPr algn="l" fontAlgn="b">
                        <a:buNone/>
                      </a:pPr>
                      <a:r>
                        <a:rPr lang="fr-FR" sz="1000" b="0" i="0" u="none" strike="noStrike">
                          <a:solidFill>
                            <a:srgbClr val="000000"/>
                          </a:solidFill>
                          <a:effectLst/>
                          <a:latin typeface="Aptos Narrow" panose="020B0004020202020204" pitchFamily="34" charset="0"/>
                        </a:rPr>
                        <a:t> A</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9,5</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F81"/>
                    </a:solidFill>
                  </a:tcPr>
                </a:tc>
                <a:tc>
                  <a:txBody>
                    <a:bodyPr/>
                    <a:lstStyle/>
                    <a:p>
                      <a:pPr algn="r" fontAlgn="b">
                        <a:buNone/>
                      </a:pPr>
                      <a:r>
                        <a:rPr lang="fr-FR" sz="1000" b="0" i="0" u="none" strike="noStrike">
                          <a:solidFill>
                            <a:srgbClr val="000000"/>
                          </a:solidFill>
                          <a:effectLst/>
                          <a:latin typeface="Aptos Narrow" panose="020B0004020202020204" pitchFamily="34" charset="0"/>
                        </a:rPr>
                        <a:t>10,1</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382"/>
                    </a:solidFill>
                  </a:tcPr>
                </a:tc>
                <a:tc>
                  <a:txBody>
                    <a:bodyPr/>
                    <a:lstStyle/>
                    <a:p>
                      <a:pPr algn="r" fontAlgn="b">
                        <a:buNone/>
                      </a:pPr>
                      <a:r>
                        <a:rPr lang="fr-FR" sz="1000" b="0" i="0" u="none" strike="noStrike">
                          <a:solidFill>
                            <a:srgbClr val="FF0000"/>
                          </a:solidFill>
                          <a:effectLst/>
                          <a:latin typeface="Aptos Narrow" panose="020B0004020202020204" pitchFamily="34" charset="0"/>
                        </a:rPr>
                        <a:t>-0,7</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3516622"/>
                  </a:ext>
                </a:extLst>
              </a:tr>
              <a:tr h="114509">
                <a:tc>
                  <a:txBody>
                    <a:bodyPr/>
                    <a:lstStyle/>
                    <a:p>
                      <a:pPr algn="l" fontAlgn="b">
                        <a:buNone/>
                      </a:pPr>
                      <a:r>
                        <a:rPr lang="fr-FR" sz="1000" b="0" i="0" u="none" strike="noStrike">
                          <a:solidFill>
                            <a:srgbClr val="000000"/>
                          </a:solidFill>
                          <a:effectLst/>
                          <a:latin typeface="Aptos Narrow" panose="020B0004020202020204" pitchFamily="34" charset="0"/>
                        </a:rPr>
                        <a:t> R</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26,7</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BCE7F"/>
                    </a:solidFill>
                  </a:tcPr>
                </a:tc>
                <a:tc>
                  <a:txBody>
                    <a:bodyPr/>
                    <a:lstStyle/>
                    <a:p>
                      <a:pPr algn="r" fontAlgn="b">
                        <a:buNone/>
                      </a:pPr>
                      <a:r>
                        <a:rPr lang="fr-FR" sz="1000" b="0" i="0" u="none" strike="noStrike">
                          <a:solidFill>
                            <a:srgbClr val="000000"/>
                          </a:solidFill>
                          <a:effectLst/>
                          <a:latin typeface="Aptos Narrow" panose="020B0004020202020204" pitchFamily="34" charset="0"/>
                        </a:rPr>
                        <a:t>20,8</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3DA81"/>
                    </a:solidFill>
                  </a:tcPr>
                </a:tc>
                <a:tc>
                  <a:txBody>
                    <a:bodyPr/>
                    <a:lstStyle/>
                    <a:p>
                      <a:pPr algn="r" fontAlgn="b">
                        <a:buNone/>
                      </a:pPr>
                      <a:r>
                        <a:rPr lang="fr-FR" sz="1000" b="0" i="0" u="none" strike="noStrike">
                          <a:solidFill>
                            <a:srgbClr val="00B050"/>
                          </a:solidFill>
                          <a:effectLst/>
                          <a:latin typeface="Aptos Narrow" panose="020B0004020202020204" pitchFamily="34" charset="0"/>
                        </a:rPr>
                        <a:t>5,9</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52647292"/>
                  </a:ext>
                </a:extLst>
              </a:tr>
              <a:tr h="114509">
                <a:tc>
                  <a:txBody>
                    <a:bodyPr/>
                    <a:lstStyle/>
                    <a:p>
                      <a:pPr algn="l" fontAlgn="b">
                        <a:buNone/>
                      </a:pPr>
                      <a:r>
                        <a:rPr lang="fr-FR" sz="1000" b="0" i="0" u="none" strike="noStrike">
                          <a:solidFill>
                            <a:srgbClr val="000000"/>
                          </a:solidFill>
                          <a:effectLst/>
                          <a:latin typeface="Aptos Narrow" panose="020B0004020202020204" pitchFamily="34" charset="0"/>
                        </a:rPr>
                        <a:t> T</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9,1</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E81"/>
                    </a:solidFill>
                  </a:tcPr>
                </a:tc>
                <a:tc>
                  <a:txBody>
                    <a:bodyPr/>
                    <a:lstStyle/>
                    <a:p>
                      <a:pPr algn="r" fontAlgn="b">
                        <a:buNone/>
                      </a:pPr>
                      <a:r>
                        <a:rPr lang="fr-FR" sz="1000" b="0" i="0" u="none" strike="noStrike">
                          <a:solidFill>
                            <a:srgbClr val="000000"/>
                          </a:solidFill>
                          <a:effectLst/>
                          <a:latin typeface="Aptos Narrow" panose="020B0004020202020204" pitchFamily="34" charset="0"/>
                        </a:rPr>
                        <a:t>5,0</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A7D"/>
                    </a:solidFill>
                  </a:tcPr>
                </a:tc>
                <a:tc>
                  <a:txBody>
                    <a:bodyPr/>
                    <a:lstStyle/>
                    <a:p>
                      <a:pPr algn="r" fontAlgn="b">
                        <a:buNone/>
                      </a:pPr>
                      <a:r>
                        <a:rPr lang="fr-FR" sz="1000" b="0" i="0" u="none" strike="noStrike">
                          <a:solidFill>
                            <a:srgbClr val="00B050"/>
                          </a:solidFill>
                          <a:effectLst/>
                          <a:latin typeface="Aptos Narrow" panose="020B0004020202020204" pitchFamily="34" charset="0"/>
                        </a:rPr>
                        <a:t>4,0</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38753193"/>
                  </a:ext>
                </a:extLst>
              </a:tr>
              <a:tr h="114509">
                <a:tc>
                  <a:txBody>
                    <a:bodyPr/>
                    <a:lstStyle/>
                    <a:p>
                      <a:pPr algn="l" fontAlgn="b">
                        <a:buNone/>
                      </a:pPr>
                      <a:r>
                        <a:rPr lang="fr-FR" sz="1000" b="1" i="0" u="none" strike="noStrike">
                          <a:solidFill>
                            <a:srgbClr val="000000"/>
                          </a:solidFill>
                          <a:effectLst/>
                          <a:latin typeface="Aptos Narrow" panose="020B0004020202020204" pitchFamily="34" charset="0"/>
                        </a:rPr>
                        <a:t>De Kempervennen</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22,7</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6D680"/>
                    </a:solidFill>
                  </a:tcPr>
                </a:tc>
                <a:tc>
                  <a:txBody>
                    <a:bodyPr/>
                    <a:lstStyle/>
                    <a:p>
                      <a:pPr algn="r" fontAlgn="b">
                        <a:buNone/>
                      </a:pPr>
                      <a:r>
                        <a:rPr lang="fr-FR" sz="1000" b="1" i="0" u="none" strike="noStrike">
                          <a:solidFill>
                            <a:srgbClr val="000000"/>
                          </a:solidFill>
                          <a:effectLst/>
                          <a:latin typeface="Aptos Narrow" panose="020B0004020202020204" pitchFamily="34" charset="0"/>
                        </a:rPr>
                        <a:t>16,3</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1E383"/>
                    </a:solidFill>
                  </a:tcPr>
                </a:tc>
                <a:tc>
                  <a:txBody>
                    <a:bodyPr/>
                    <a:lstStyle/>
                    <a:p>
                      <a:pPr algn="r" fontAlgn="b">
                        <a:buNone/>
                      </a:pPr>
                      <a:r>
                        <a:rPr lang="fr-FR" sz="1000" b="1" i="0" u="none" strike="noStrike">
                          <a:solidFill>
                            <a:srgbClr val="00B050"/>
                          </a:solidFill>
                          <a:effectLst/>
                          <a:latin typeface="Aptos Narrow" panose="020B0004020202020204" pitchFamily="34" charset="0"/>
                        </a:rPr>
                        <a:t>6,4</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55928085"/>
                  </a:ext>
                </a:extLst>
              </a:tr>
              <a:tr h="114509">
                <a:tc>
                  <a:txBody>
                    <a:bodyPr/>
                    <a:lstStyle/>
                    <a:p>
                      <a:pPr algn="l" fontAlgn="b">
                        <a:buNone/>
                      </a:pPr>
                      <a:r>
                        <a:rPr lang="fr-FR" sz="1000" b="0" i="0" u="none" strike="noStrike">
                          <a:solidFill>
                            <a:srgbClr val="000000"/>
                          </a:solidFill>
                          <a:effectLst/>
                          <a:latin typeface="Aptos Narrow" panose="020B0004020202020204" pitchFamily="34" charset="0"/>
                        </a:rPr>
                        <a:t> A</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12,9</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E984"/>
                    </a:solidFill>
                  </a:tcPr>
                </a:tc>
                <a:tc>
                  <a:txBody>
                    <a:bodyPr/>
                    <a:lstStyle/>
                    <a:p>
                      <a:pPr algn="r" fontAlgn="b">
                        <a:buNone/>
                      </a:pPr>
                      <a:r>
                        <a:rPr lang="fr-FR" sz="1000" b="0" i="0" u="none" strike="noStrike">
                          <a:solidFill>
                            <a:srgbClr val="000000"/>
                          </a:solidFill>
                          <a:effectLst/>
                          <a:latin typeface="Aptos Narrow" panose="020B0004020202020204" pitchFamily="34" charset="0"/>
                        </a:rPr>
                        <a:t>7,7</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780"/>
                    </a:solidFill>
                  </a:tcPr>
                </a:tc>
                <a:tc>
                  <a:txBody>
                    <a:bodyPr/>
                    <a:lstStyle/>
                    <a:p>
                      <a:pPr algn="r" fontAlgn="b">
                        <a:buNone/>
                      </a:pPr>
                      <a:r>
                        <a:rPr lang="fr-FR" sz="1000" b="0" i="0" u="none" strike="noStrike">
                          <a:solidFill>
                            <a:srgbClr val="00B050"/>
                          </a:solidFill>
                          <a:effectLst/>
                          <a:latin typeface="Aptos Narrow" panose="020B0004020202020204" pitchFamily="34" charset="0"/>
                        </a:rPr>
                        <a:t>5,1</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11495905"/>
                  </a:ext>
                </a:extLst>
              </a:tr>
              <a:tr h="114509">
                <a:tc>
                  <a:txBody>
                    <a:bodyPr/>
                    <a:lstStyle/>
                    <a:p>
                      <a:pPr algn="l" fontAlgn="b">
                        <a:buNone/>
                      </a:pPr>
                      <a:r>
                        <a:rPr lang="fr-FR" sz="1000" b="0" i="0" u="none" strike="noStrike">
                          <a:solidFill>
                            <a:srgbClr val="000000"/>
                          </a:solidFill>
                          <a:effectLst/>
                          <a:latin typeface="Aptos Narrow" panose="020B0004020202020204" pitchFamily="34" charset="0"/>
                        </a:rPr>
                        <a:t> R</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25,4</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4D17F"/>
                    </a:solidFill>
                  </a:tcPr>
                </a:tc>
                <a:tc>
                  <a:txBody>
                    <a:bodyPr/>
                    <a:lstStyle/>
                    <a:p>
                      <a:pPr algn="r" fontAlgn="b">
                        <a:buNone/>
                      </a:pPr>
                      <a:r>
                        <a:rPr lang="fr-FR" sz="1000" b="0" i="0" u="none" strike="noStrike">
                          <a:solidFill>
                            <a:srgbClr val="000000"/>
                          </a:solidFill>
                          <a:effectLst/>
                          <a:latin typeface="Aptos Narrow" panose="020B0004020202020204" pitchFamily="34" charset="0"/>
                        </a:rPr>
                        <a:t>20,2</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6DB81"/>
                    </a:solidFill>
                  </a:tcPr>
                </a:tc>
                <a:tc>
                  <a:txBody>
                    <a:bodyPr/>
                    <a:lstStyle/>
                    <a:p>
                      <a:pPr algn="r" fontAlgn="b">
                        <a:buNone/>
                      </a:pPr>
                      <a:r>
                        <a:rPr lang="fr-FR" sz="1000" b="0" i="0" u="none" strike="noStrike">
                          <a:solidFill>
                            <a:srgbClr val="00B050"/>
                          </a:solidFill>
                          <a:effectLst/>
                          <a:latin typeface="Aptos Narrow" panose="020B0004020202020204" pitchFamily="34" charset="0"/>
                        </a:rPr>
                        <a:t>5,1</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8332833"/>
                  </a:ext>
                </a:extLst>
              </a:tr>
              <a:tr h="114509">
                <a:tc>
                  <a:txBody>
                    <a:bodyPr/>
                    <a:lstStyle/>
                    <a:p>
                      <a:pPr algn="l" fontAlgn="b">
                        <a:buNone/>
                      </a:pPr>
                      <a:r>
                        <a:rPr lang="fr-FR" sz="1000" b="0" i="0" u="none" strike="noStrike">
                          <a:solidFill>
                            <a:srgbClr val="000000"/>
                          </a:solidFill>
                          <a:effectLst/>
                          <a:latin typeface="Aptos Narrow" panose="020B0004020202020204" pitchFamily="34" charset="0"/>
                        </a:rPr>
                        <a:t> T</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18,3</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3DF82"/>
                    </a:solidFill>
                  </a:tcPr>
                </a:tc>
                <a:tc>
                  <a:txBody>
                    <a:bodyPr/>
                    <a:lstStyle/>
                    <a:p>
                      <a:pPr algn="r" fontAlgn="b">
                        <a:buNone/>
                      </a:pPr>
                      <a:r>
                        <a:rPr lang="fr-FR" sz="1000" b="0" i="0" u="none" strike="noStrike">
                          <a:solidFill>
                            <a:srgbClr val="000000"/>
                          </a:solidFill>
                          <a:effectLst/>
                          <a:latin typeface="Aptos Narrow" panose="020B0004020202020204" pitchFamily="34" charset="0"/>
                        </a:rPr>
                        <a:t>9,7</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182"/>
                    </a:solidFill>
                  </a:tcPr>
                </a:tc>
                <a:tc>
                  <a:txBody>
                    <a:bodyPr/>
                    <a:lstStyle/>
                    <a:p>
                      <a:pPr algn="r" fontAlgn="b">
                        <a:buNone/>
                      </a:pPr>
                      <a:r>
                        <a:rPr lang="fr-FR" sz="1000" b="0" i="0" u="none" strike="noStrike">
                          <a:solidFill>
                            <a:srgbClr val="00B050"/>
                          </a:solidFill>
                          <a:effectLst/>
                          <a:latin typeface="Aptos Narrow" panose="020B0004020202020204" pitchFamily="34" charset="0"/>
                        </a:rPr>
                        <a:t>8,6</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52457988"/>
                  </a:ext>
                </a:extLst>
              </a:tr>
            </a:tbl>
          </a:graphicData>
        </a:graphic>
      </p:graphicFrame>
      <p:graphicFrame>
        <p:nvGraphicFramePr>
          <p:cNvPr id="18" name="Table 17">
            <a:extLst>
              <a:ext uri="{FF2B5EF4-FFF2-40B4-BE49-F238E27FC236}">
                <a16:creationId xmlns:a16="http://schemas.microsoft.com/office/drawing/2014/main" id="{857B3EB9-0CBC-0CAA-638B-E1F56A3DFAFE}"/>
              </a:ext>
            </a:extLst>
          </p:cNvPr>
          <p:cNvGraphicFramePr>
            <a:graphicFrameLocks noGrp="1"/>
          </p:cNvGraphicFramePr>
          <p:nvPr/>
        </p:nvGraphicFramePr>
        <p:xfrm>
          <a:off x="3541662" y="3195518"/>
          <a:ext cx="2554337" cy="2228694"/>
        </p:xfrm>
        <a:graphic>
          <a:graphicData uri="http://schemas.openxmlformats.org/drawingml/2006/table">
            <a:tbl>
              <a:tblPr/>
              <a:tblGrid>
                <a:gridCol w="1206995">
                  <a:extLst>
                    <a:ext uri="{9D8B030D-6E8A-4147-A177-3AD203B41FA5}">
                      <a16:colId xmlns:a16="http://schemas.microsoft.com/office/drawing/2014/main" val="468308785"/>
                    </a:ext>
                  </a:extLst>
                </a:gridCol>
                <a:gridCol w="449114">
                  <a:extLst>
                    <a:ext uri="{9D8B030D-6E8A-4147-A177-3AD203B41FA5}">
                      <a16:colId xmlns:a16="http://schemas.microsoft.com/office/drawing/2014/main" val="3321446548"/>
                    </a:ext>
                  </a:extLst>
                </a:gridCol>
                <a:gridCol w="449114">
                  <a:extLst>
                    <a:ext uri="{9D8B030D-6E8A-4147-A177-3AD203B41FA5}">
                      <a16:colId xmlns:a16="http://schemas.microsoft.com/office/drawing/2014/main" val="2138206805"/>
                    </a:ext>
                  </a:extLst>
                </a:gridCol>
                <a:gridCol w="449114">
                  <a:extLst>
                    <a:ext uri="{9D8B030D-6E8A-4147-A177-3AD203B41FA5}">
                      <a16:colId xmlns:a16="http://schemas.microsoft.com/office/drawing/2014/main" val="83486959"/>
                    </a:ext>
                  </a:extLst>
                </a:gridCol>
              </a:tblGrid>
              <a:tr h="171438">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21320387"/>
                  </a:ext>
                </a:extLst>
              </a:tr>
              <a:tr h="171438">
                <a:tc>
                  <a:txBody>
                    <a:bodyPr/>
                    <a:lstStyle/>
                    <a:p>
                      <a:pPr algn="l" fontAlgn="b">
                        <a:buNone/>
                      </a:pPr>
                      <a:r>
                        <a:rPr lang="fr-FR" sz="900" b="1" i="0" u="none" strike="noStrike">
                          <a:solidFill>
                            <a:srgbClr val="000000"/>
                          </a:solidFill>
                          <a:effectLst/>
                          <a:latin typeface="Aptos Narrow" panose="020B0004020202020204" pitchFamily="34" charset="0"/>
                        </a:rPr>
                        <a:t>Het </a:t>
                      </a:r>
                      <a:r>
                        <a:rPr lang="fr-FR" sz="900" b="1" i="0" u="none" strike="noStrike" err="1">
                          <a:solidFill>
                            <a:srgbClr val="000000"/>
                          </a:solidFill>
                          <a:effectLst/>
                          <a:latin typeface="Aptos Narrow" panose="020B0004020202020204" pitchFamily="34" charset="0"/>
                        </a:rPr>
                        <a:t>Heijderbos</a:t>
                      </a:r>
                      <a:endParaRPr lang="fr-FR" sz="900" b="1" i="0" u="none" strike="noStrike">
                        <a:solidFill>
                          <a:srgbClr val="000000"/>
                        </a:solidFill>
                        <a:effectLst/>
                        <a:latin typeface="Aptos Narrow" panose="020B0004020202020204" pitchFamily="34" charset="0"/>
                      </a:endParaRP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16,6</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FE283"/>
                    </a:solidFill>
                  </a:tcPr>
                </a:tc>
                <a:tc>
                  <a:txBody>
                    <a:bodyPr/>
                    <a:lstStyle/>
                    <a:p>
                      <a:pPr algn="r" fontAlgn="b">
                        <a:buNone/>
                      </a:pPr>
                      <a:r>
                        <a:rPr lang="fr-FR" sz="900" b="1" i="0" u="none" strike="noStrike">
                          <a:solidFill>
                            <a:srgbClr val="000000"/>
                          </a:solidFill>
                          <a:effectLst/>
                          <a:latin typeface="Aptos Narrow" panose="020B0004020202020204" pitchFamily="34" charset="0"/>
                        </a:rPr>
                        <a:t>10,1</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282"/>
                    </a:solidFill>
                  </a:tcPr>
                </a:tc>
                <a:tc>
                  <a:txBody>
                    <a:bodyPr/>
                    <a:lstStyle/>
                    <a:p>
                      <a:pPr algn="r" fontAlgn="b">
                        <a:buNone/>
                      </a:pPr>
                      <a:r>
                        <a:rPr lang="fr-FR" sz="900" b="1" i="0" u="none" strike="noStrike">
                          <a:solidFill>
                            <a:srgbClr val="00B050"/>
                          </a:solidFill>
                          <a:effectLst/>
                          <a:latin typeface="Aptos Narrow" panose="020B0004020202020204" pitchFamily="34" charset="0"/>
                        </a:rPr>
                        <a:t>6,5</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62586142"/>
                  </a:ext>
                </a:extLst>
              </a:tr>
              <a:tr h="171438">
                <a:tc>
                  <a:txBody>
                    <a:bodyPr/>
                    <a:lstStyle/>
                    <a:p>
                      <a:pPr algn="l" fontAlgn="b">
                        <a:buNone/>
                      </a:pPr>
                      <a:r>
                        <a:rPr lang="fr-FR" sz="900" b="0" i="0" u="none" strike="noStrike">
                          <a:solidFill>
                            <a:srgbClr val="000000"/>
                          </a:solidFill>
                          <a:effectLst/>
                          <a:latin typeface="Aptos Narrow" panose="020B0004020202020204" pitchFamily="34" charset="0"/>
                        </a:rPr>
                        <a:t> A</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13,1</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7E984"/>
                    </a:solidFill>
                  </a:tcPr>
                </a:tc>
                <a:tc>
                  <a:txBody>
                    <a:bodyPr/>
                    <a:lstStyle/>
                    <a:p>
                      <a:pPr algn="r" fontAlgn="b">
                        <a:buNone/>
                      </a:pPr>
                      <a:r>
                        <a:rPr lang="fr-FR" sz="900" b="0" i="0" u="none" strike="noStrike">
                          <a:solidFill>
                            <a:srgbClr val="000000"/>
                          </a:solidFill>
                          <a:effectLst/>
                          <a:latin typeface="Aptos Narrow" panose="020B0004020202020204" pitchFamily="34" charset="0"/>
                        </a:rPr>
                        <a:t>6,2</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07E"/>
                    </a:solidFill>
                  </a:tcPr>
                </a:tc>
                <a:tc>
                  <a:txBody>
                    <a:bodyPr/>
                    <a:lstStyle/>
                    <a:p>
                      <a:pPr algn="r" fontAlgn="b">
                        <a:buNone/>
                      </a:pPr>
                      <a:r>
                        <a:rPr lang="fr-FR" sz="900" b="0" i="0" u="none" strike="noStrike">
                          <a:solidFill>
                            <a:srgbClr val="00B050"/>
                          </a:solidFill>
                          <a:effectLst/>
                          <a:latin typeface="Aptos Narrow" panose="020B0004020202020204" pitchFamily="34" charset="0"/>
                        </a:rPr>
                        <a:t>6,9</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54003359"/>
                  </a:ext>
                </a:extLst>
              </a:tr>
              <a:tr h="171438">
                <a:tc>
                  <a:txBody>
                    <a:bodyPr/>
                    <a:lstStyle/>
                    <a:p>
                      <a:pPr algn="l" fontAlgn="b">
                        <a:buNone/>
                      </a:pPr>
                      <a:r>
                        <a:rPr lang="fr-FR" sz="900" b="0" i="0" u="none" strike="noStrike">
                          <a:solidFill>
                            <a:srgbClr val="000000"/>
                          </a:solidFill>
                          <a:effectLst/>
                          <a:latin typeface="Aptos Narrow" panose="020B0004020202020204" pitchFamily="34" charset="0"/>
                        </a:rPr>
                        <a:t> R</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21,6</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DD881"/>
                    </a:solidFill>
                  </a:tcPr>
                </a:tc>
                <a:tc>
                  <a:txBody>
                    <a:bodyPr/>
                    <a:lstStyle/>
                    <a:p>
                      <a:pPr algn="r" fontAlgn="b">
                        <a:buNone/>
                      </a:pPr>
                      <a:r>
                        <a:rPr lang="fr-FR" sz="900" b="0" i="0" u="none" strike="noStrike">
                          <a:solidFill>
                            <a:srgbClr val="000000"/>
                          </a:solidFill>
                          <a:effectLst/>
                          <a:latin typeface="Aptos Narrow" panose="020B0004020202020204" pitchFamily="34" charset="0"/>
                        </a:rPr>
                        <a:t>16,4</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0E283"/>
                    </a:solidFill>
                  </a:tcPr>
                </a:tc>
                <a:tc>
                  <a:txBody>
                    <a:bodyPr/>
                    <a:lstStyle/>
                    <a:p>
                      <a:pPr algn="r" fontAlgn="b">
                        <a:buNone/>
                      </a:pPr>
                      <a:r>
                        <a:rPr lang="fr-FR" sz="900" b="0" i="0" u="none" strike="noStrike">
                          <a:solidFill>
                            <a:srgbClr val="00B050"/>
                          </a:solidFill>
                          <a:effectLst/>
                          <a:latin typeface="Aptos Narrow" panose="020B0004020202020204" pitchFamily="34" charset="0"/>
                        </a:rPr>
                        <a:t>5,2</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82705802"/>
                  </a:ext>
                </a:extLst>
              </a:tr>
              <a:tr h="171438">
                <a:tc>
                  <a:txBody>
                    <a:bodyPr/>
                    <a:lstStyle/>
                    <a:p>
                      <a:pPr algn="l" fontAlgn="b">
                        <a:buNone/>
                      </a:pPr>
                      <a:r>
                        <a:rPr lang="fr-FR" sz="900" b="0" i="0" u="none" strike="noStrike">
                          <a:solidFill>
                            <a:srgbClr val="000000"/>
                          </a:solidFill>
                          <a:effectLst/>
                          <a:latin typeface="Aptos Narrow" panose="020B0004020202020204" pitchFamily="34" charset="0"/>
                        </a:rPr>
                        <a:t> T</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8,8</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C81"/>
                    </a:solidFill>
                  </a:tcPr>
                </a:tc>
                <a:tc>
                  <a:txBody>
                    <a:bodyPr/>
                    <a:lstStyle/>
                    <a:p>
                      <a:pPr algn="r" fontAlgn="b">
                        <a:buNone/>
                      </a:pPr>
                      <a:r>
                        <a:rPr lang="fr-FR" sz="900" b="0" i="0" u="none" strike="noStrike">
                          <a:solidFill>
                            <a:srgbClr val="000000"/>
                          </a:solidFill>
                          <a:effectLst/>
                          <a:latin typeface="Aptos Narrow" panose="020B0004020202020204" pitchFamily="34" charset="0"/>
                        </a:rPr>
                        <a:t>0,4</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579"/>
                    </a:solidFill>
                  </a:tcPr>
                </a:tc>
                <a:tc>
                  <a:txBody>
                    <a:bodyPr/>
                    <a:lstStyle/>
                    <a:p>
                      <a:pPr algn="r" fontAlgn="b">
                        <a:buNone/>
                      </a:pPr>
                      <a:r>
                        <a:rPr lang="fr-FR" sz="900" b="0" i="0" u="none" strike="noStrike">
                          <a:solidFill>
                            <a:srgbClr val="00B050"/>
                          </a:solidFill>
                          <a:effectLst/>
                          <a:latin typeface="Aptos Narrow" panose="020B0004020202020204" pitchFamily="34" charset="0"/>
                        </a:rPr>
                        <a:t>8,3</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02901080"/>
                  </a:ext>
                </a:extLst>
              </a:tr>
              <a:tr h="171438">
                <a:tc>
                  <a:txBody>
                    <a:bodyPr/>
                    <a:lstStyle/>
                    <a:p>
                      <a:pPr algn="l" fontAlgn="b">
                        <a:buNone/>
                      </a:pPr>
                      <a:r>
                        <a:rPr lang="fr-FR" sz="900" b="1" i="0" u="none" strike="noStrike">
                          <a:solidFill>
                            <a:srgbClr val="000000"/>
                          </a:solidFill>
                          <a:effectLst/>
                          <a:latin typeface="Aptos Narrow" panose="020B0004020202020204" pitchFamily="34" charset="0"/>
                        </a:rPr>
                        <a:t>Het Meerdal</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31,7</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9C57D"/>
                    </a:solidFill>
                  </a:tcPr>
                </a:tc>
                <a:tc>
                  <a:txBody>
                    <a:bodyPr/>
                    <a:lstStyle/>
                    <a:p>
                      <a:pPr algn="r" fontAlgn="b">
                        <a:buNone/>
                      </a:pPr>
                      <a:r>
                        <a:rPr lang="fr-FR" sz="900" b="1" i="0" u="none" strike="noStrike">
                          <a:solidFill>
                            <a:srgbClr val="000000"/>
                          </a:solidFill>
                          <a:effectLst/>
                          <a:latin typeface="Aptos Narrow" panose="020B0004020202020204" pitchFamily="34" charset="0"/>
                        </a:rPr>
                        <a:t>24,9</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7D27F"/>
                    </a:solidFill>
                  </a:tcPr>
                </a:tc>
                <a:tc>
                  <a:txBody>
                    <a:bodyPr/>
                    <a:lstStyle/>
                    <a:p>
                      <a:pPr algn="r" fontAlgn="b">
                        <a:buNone/>
                      </a:pPr>
                      <a:r>
                        <a:rPr lang="fr-FR" sz="900" b="1" i="0" u="none" strike="noStrike">
                          <a:solidFill>
                            <a:srgbClr val="00B050"/>
                          </a:solidFill>
                          <a:effectLst/>
                          <a:latin typeface="Aptos Narrow" panose="020B0004020202020204" pitchFamily="34" charset="0"/>
                        </a:rPr>
                        <a:t>6,8</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45180716"/>
                  </a:ext>
                </a:extLst>
              </a:tr>
              <a:tr h="171438">
                <a:tc>
                  <a:txBody>
                    <a:bodyPr/>
                    <a:lstStyle/>
                    <a:p>
                      <a:pPr algn="l" fontAlgn="b">
                        <a:buNone/>
                      </a:pPr>
                      <a:r>
                        <a:rPr lang="fr-FR" sz="900" b="0" i="0" u="none" strike="noStrike">
                          <a:solidFill>
                            <a:srgbClr val="000000"/>
                          </a:solidFill>
                          <a:effectLst/>
                          <a:latin typeface="Aptos Narrow" panose="020B0004020202020204" pitchFamily="34" charset="0"/>
                        </a:rPr>
                        <a:t> A</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22,8</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5D680"/>
                    </a:solidFill>
                  </a:tcPr>
                </a:tc>
                <a:tc>
                  <a:txBody>
                    <a:bodyPr/>
                    <a:lstStyle/>
                    <a:p>
                      <a:pPr algn="r" fontAlgn="b">
                        <a:buNone/>
                      </a:pPr>
                      <a:r>
                        <a:rPr lang="fr-FR" sz="900" b="0" i="0" u="none" strike="noStrike">
                          <a:solidFill>
                            <a:srgbClr val="000000"/>
                          </a:solidFill>
                          <a:effectLst/>
                          <a:latin typeface="Aptos Narrow" panose="020B0004020202020204" pitchFamily="34" charset="0"/>
                        </a:rPr>
                        <a:t>21,7</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CD881"/>
                    </a:solidFill>
                  </a:tcPr>
                </a:tc>
                <a:tc>
                  <a:txBody>
                    <a:bodyPr/>
                    <a:lstStyle/>
                    <a:p>
                      <a:pPr algn="r" fontAlgn="b">
                        <a:buNone/>
                      </a:pPr>
                      <a:r>
                        <a:rPr lang="fr-FR" sz="900" b="0" i="0" u="none" strike="noStrike">
                          <a:solidFill>
                            <a:srgbClr val="00B050"/>
                          </a:solidFill>
                          <a:effectLst/>
                          <a:latin typeface="Aptos Narrow" panose="020B0004020202020204" pitchFamily="34" charset="0"/>
                        </a:rPr>
                        <a:t>1,1</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04573792"/>
                  </a:ext>
                </a:extLst>
              </a:tr>
              <a:tr h="171438">
                <a:tc>
                  <a:txBody>
                    <a:bodyPr/>
                    <a:lstStyle/>
                    <a:p>
                      <a:pPr algn="l" fontAlgn="b">
                        <a:buNone/>
                      </a:pPr>
                      <a:r>
                        <a:rPr lang="fr-FR" sz="900" b="0" i="0" u="none" strike="noStrike">
                          <a:solidFill>
                            <a:srgbClr val="000000"/>
                          </a:solidFill>
                          <a:effectLst/>
                          <a:latin typeface="Aptos Narrow" panose="020B0004020202020204" pitchFamily="34" charset="0"/>
                        </a:rPr>
                        <a:t> R</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34,8</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900" b="0" i="0" u="none" strike="noStrike">
                          <a:solidFill>
                            <a:srgbClr val="000000"/>
                          </a:solidFill>
                          <a:effectLst/>
                          <a:latin typeface="Aptos Narrow" panose="020B0004020202020204" pitchFamily="34" charset="0"/>
                        </a:rPr>
                        <a:t>30,0</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4C87D"/>
                    </a:solidFill>
                  </a:tcPr>
                </a:tc>
                <a:tc>
                  <a:txBody>
                    <a:bodyPr/>
                    <a:lstStyle/>
                    <a:p>
                      <a:pPr algn="r" fontAlgn="b">
                        <a:buNone/>
                      </a:pPr>
                      <a:r>
                        <a:rPr lang="fr-FR" sz="900" b="0" i="0" u="none" strike="noStrike">
                          <a:solidFill>
                            <a:srgbClr val="00B050"/>
                          </a:solidFill>
                          <a:effectLst/>
                          <a:latin typeface="Aptos Narrow" panose="020B0004020202020204" pitchFamily="34" charset="0"/>
                        </a:rPr>
                        <a:t>4,8</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9423247"/>
                  </a:ext>
                </a:extLst>
              </a:tr>
              <a:tr h="171438">
                <a:tc>
                  <a:txBody>
                    <a:bodyPr/>
                    <a:lstStyle/>
                    <a:p>
                      <a:pPr algn="l" fontAlgn="b">
                        <a:buNone/>
                      </a:pPr>
                      <a:r>
                        <a:rPr lang="fr-FR" sz="900" b="0" i="0" u="none" strike="noStrike">
                          <a:solidFill>
                            <a:srgbClr val="000000"/>
                          </a:solidFill>
                          <a:effectLst/>
                          <a:latin typeface="Aptos Narrow" panose="020B0004020202020204" pitchFamily="34" charset="0"/>
                        </a:rPr>
                        <a:t> T</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25,7</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2D07F"/>
                    </a:solidFill>
                  </a:tcPr>
                </a:tc>
                <a:tc>
                  <a:txBody>
                    <a:bodyPr/>
                    <a:lstStyle/>
                    <a:p>
                      <a:pPr algn="r" fontAlgn="b">
                        <a:buNone/>
                      </a:pPr>
                      <a:r>
                        <a:rPr lang="fr-FR" sz="900" b="0" i="0" u="none" strike="noStrike">
                          <a:solidFill>
                            <a:srgbClr val="000000"/>
                          </a:solidFill>
                          <a:effectLst/>
                          <a:latin typeface="Aptos Narrow" panose="020B0004020202020204" pitchFamily="34" charset="0"/>
                        </a:rPr>
                        <a:t>14,3</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EE784"/>
                    </a:solidFill>
                  </a:tcPr>
                </a:tc>
                <a:tc>
                  <a:txBody>
                    <a:bodyPr/>
                    <a:lstStyle/>
                    <a:p>
                      <a:pPr algn="r" fontAlgn="b">
                        <a:buNone/>
                      </a:pPr>
                      <a:r>
                        <a:rPr lang="fr-FR" sz="900" b="0" i="0" u="none" strike="noStrike">
                          <a:solidFill>
                            <a:srgbClr val="00B050"/>
                          </a:solidFill>
                          <a:effectLst/>
                          <a:latin typeface="Aptos Narrow" panose="020B0004020202020204" pitchFamily="34" charset="0"/>
                        </a:rPr>
                        <a:t>11,4</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27203235"/>
                  </a:ext>
                </a:extLst>
              </a:tr>
              <a:tr h="171438">
                <a:tc>
                  <a:txBody>
                    <a:bodyPr/>
                    <a:lstStyle/>
                    <a:p>
                      <a:pPr algn="l" fontAlgn="b">
                        <a:buNone/>
                      </a:pPr>
                      <a:r>
                        <a:rPr lang="fr-FR" sz="900" b="1" i="0" u="none" strike="noStrike">
                          <a:solidFill>
                            <a:srgbClr val="000000"/>
                          </a:solidFill>
                          <a:effectLst/>
                          <a:latin typeface="Aptos Narrow" panose="020B0004020202020204" pitchFamily="34" charset="0"/>
                        </a:rPr>
                        <a:t>Limburgse Peel</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2,5</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E7B"/>
                    </a:solidFill>
                  </a:tcPr>
                </a:tc>
                <a:tc>
                  <a:txBody>
                    <a:bodyPr/>
                    <a:lstStyle/>
                    <a:p>
                      <a:pPr algn="r" fontAlgn="b">
                        <a:buNone/>
                      </a:pPr>
                      <a:r>
                        <a:rPr lang="fr-FR" sz="900" b="1" i="0" u="none" strike="noStrike">
                          <a:solidFill>
                            <a:srgbClr val="000000"/>
                          </a:solidFill>
                          <a:effectLst/>
                          <a:latin typeface="Aptos Narrow" panose="020B0004020202020204" pitchFamily="34" charset="0"/>
                        </a:rPr>
                        <a:t>-6,8</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272"/>
                    </a:solidFill>
                  </a:tcPr>
                </a:tc>
                <a:tc>
                  <a:txBody>
                    <a:bodyPr/>
                    <a:lstStyle/>
                    <a:p>
                      <a:pPr algn="r" fontAlgn="b">
                        <a:buNone/>
                      </a:pPr>
                      <a:r>
                        <a:rPr lang="fr-FR" sz="900" b="1" i="0" u="none" strike="noStrike">
                          <a:solidFill>
                            <a:srgbClr val="00B050"/>
                          </a:solidFill>
                          <a:effectLst/>
                          <a:latin typeface="Aptos Narrow" panose="020B0004020202020204" pitchFamily="34" charset="0"/>
                        </a:rPr>
                        <a:t>9,3</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2173560"/>
                  </a:ext>
                </a:extLst>
              </a:tr>
              <a:tr h="171438">
                <a:tc>
                  <a:txBody>
                    <a:bodyPr/>
                    <a:lstStyle/>
                    <a:p>
                      <a:pPr algn="l" fontAlgn="b">
                        <a:buNone/>
                      </a:pPr>
                      <a:r>
                        <a:rPr lang="fr-FR" sz="900" b="0" i="0" u="none" strike="noStrike">
                          <a:solidFill>
                            <a:srgbClr val="000000"/>
                          </a:solidFill>
                          <a:effectLst/>
                          <a:latin typeface="Aptos Narrow" panose="020B0004020202020204" pitchFamily="34" charset="0"/>
                        </a:rPr>
                        <a:t> A</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-6,7</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373"/>
                    </a:solidFill>
                  </a:tcPr>
                </a:tc>
                <a:tc>
                  <a:txBody>
                    <a:bodyPr/>
                    <a:lstStyle/>
                    <a:p>
                      <a:pPr algn="r" fontAlgn="b">
                        <a:buNone/>
                      </a:pPr>
                      <a:r>
                        <a:rPr lang="fr-FR" sz="900" b="0" i="0" u="none" strike="noStrike">
                          <a:solidFill>
                            <a:srgbClr val="000000"/>
                          </a:solidFill>
                          <a:effectLst/>
                          <a:latin typeface="Aptos Narrow" panose="020B0004020202020204" pitchFamily="34" charset="0"/>
                        </a:rPr>
                        <a:t>-10,8</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7F6F"/>
                    </a:solidFill>
                  </a:tcPr>
                </a:tc>
                <a:tc>
                  <a:txBody>
                    <a:bodyPr/>
                    <a:lstStyle/>
                    <a:p>
                      <a:pPr algn="r" fontAlgn="b">
                        <a:buNone/>
                      </a:pPr>
                      <a:r>
                        <a:rPr lang="fr-FR" sz="900" b="0" i="0" u="none" strike="noStrike">
                          <a:solidFill>
                            <a:srgbClr val="00B050"/>
                          </a:solidFill>
                          <a:effectLst/>
                          <a:latin typeface="Aptos Narrow" panose="020B0004020202020204" pitchFamily="34" charset="0"/>
                        </a:rPr>
                        <a:t>4,1</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35471444"/>
                  </a:ext>
                </a:extLst>
              </a:tr>
              <a:tr h="171438">
                <a:tc>
                  <a:txBody>
                    <a:bodyPr/>
                    <a:lstStyle/>
                    <a:p>
                      <a:pPr algn="l" fontAlgn="b">
                        <a:buNone/>
                      </a:pPr>
                      <a:r>
                        <a:rPr lang="fr-FR" sz="900" b="0" i="0" u="none" strike="noStrike">
                          <a:solidFill>
                            <a:srgbClr val="000000"/>
                          </a:solidFill>
                          <a:effectLst/>
                          <a:latin typeface="Aptos Narrow" panose="020B0004020202020204" pitchFamily="34" charset="0"/>
                        </a:rPr>
                        <a:t> R</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9,8</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182"/>
                    </a:solidFill>
                  </a:tcPr>
                </a:tc>
                <a:tc>
                  <a:txBody>
                    <a:bodyPr/>
                    <a:lstStyle/>
                    <a:p>
                      <a:pPr algn="r" fontAlgn="b">
                        <a:buNone/>
                      </a:pPr>
                      <a:r>
                        <a:rPr lang="fr-FR" sz="900" b="0" i="0" u="none" strike="noStrike">
                          <a:solidFill>
                            <a:srgbClr val="000000"/>
                          </a:solidFill>
                          <a:effectLst/>
                          <a:latin typeface="Aptos Narrow" panose="020B0004020202020204" pitchFamily="34" charset="0"/>
                        </a:rPr>
                        <a:t>0,7</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679"/>
                    </a:solidFill>
                  </a:tcPr>
                </a:tc>
                <a:tc>
                  <a:txBody>
                    <a:bodyPr/>
                    <a:lstStyle/>
                    <a:p>
                      <a:pPr algn="r" fontAlgn="b">
                        <a:buNone/>
                      </a:pPr>
                      <a:r>
                        <a:rPr lang="fr-FR" sz="900" b="0" i="0" u="none" strike="noStrike">
                          <a:solidFill>
                            <a:srgbClr val="00B050"/>
                          </a:solidFill>
                          <a:effectLst/>
                          <a:latin typeface="Aptos Narrow" panose="020B0004020202020204" pitchFamily="34" charset="0"/>
                        </a:rPr>
                        <a:t>9,1</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41408324"/>
                  </a:ext>
                </a:extLst>
              </a:tr>
              <a:tr h="171438">
                <a:tc>
                  <a:txBody>
                    <a:bodyPr/>
                    <a:lstStyle/>
                    <a:p>
                      <a:pPr algn="l" fontAlgn="b">
                        <a:buNone/>
                      </a:pPr>
                      <a:r>
                        <a:rPr lang="fr-FR" sz="900" b="0" i="0" u="none" strike="noStrike">
                          <a:solidFill>
                            <a:srgbClr val="000000"/>
                          </a:solidFill>
                          <a:effectLst/>
                          <a:latin typeface="Aptos Narrow" panose="020B0004020202020204" pitchFamily="34" charset="0"/>
                        </a:rPr>
                        <a:t> T</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-6,5</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473"/>
                    </a:solidFill>
                  </a:tcPr>
                </a:tc>
                <a:tc>
                  <a:txBody>
                    <a:bodyPr/>
                    <a:lstStyle/>
                    <a:p>
                      <a:pPr algn="r" fontAlgn="b">
                        <a:buNone/>
                      </a:pPr>
                      <a:r>
                        <a:rPr lang="fr-FR" sz="900" b="0" i="0" u="none" strike="noStrike">
                          <a:solidFill>
                            <a:srgbClr val="000000"/>
                          </a:solidFill>
                          <a:effectLst/>
                          <a:latin typeface="Aptos Narrow" panose="020B0004020202020204" pitchFamily="34" charset="0"/>
                        </a:rPr>
                        <a:t>-15,5</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96B"/>
                    </a:solidFill>
                  </a:tcPr>
                </a:tc>
                <a:tc>
                  <a:txBody>
                    <a:bodyPr/>
                    <a:lstStyle/>
                    <a:p>
                      <a:pPr algn="r" fontAlgn="b">
                        <a:buNone/>
                      </a:pPr>
                      <a:r>
                        <a:rPr lang="fr-FR" sz="900" b="0" i="0" u="none" strike="noStrike">
                          <a:solidFill>
                            <a:srgbClr val="00B050"/>
                          </a:solidFill>
                          <a:effectLst/>
                          <a:latin typeface="Aptos Narrow" panose="020B0004020202020204" pitchFamily="34" charset="0"/>
                        </a:rPr>
                        <a:t>9,0</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86849169"/>
                  </a:ext>
                </a:extLst>
              </a:tr>
            </a:tbl>
          </a:graphicData>
        </a:graphic>
      </p:graphicFrame>
      <p:graphicFrame>
        <p:nvGraphicFramePr>
          <p:cNvPr id="19" name="Table 18">
            <a:extLst>
              <a:ext uri="{FF2B5EF4-FFF2-40B4-BE49-F238E27FC236}">
                <a16:creationId xmlns:a16="http://schemas.microsoft.com/office/drawing/2014/main" id="{2A74A9D0-F6EF-DCF4-83D7-E1A1F80531A8}"/>
              </a:ext>
            </a:extLst>
          </p:cNvPr>
          <p:cNvGraphicFramePr>
            <a:graphicFrameLocks noGrp="1"/>
          </p:cNvGraphicFramePr>
          <p:nvPr/>
        </p:nvGraphicFramePr>
        <p:xfrm>
          <a:off x="6694437" y="3195518"/>
          <a:ext cx="2554336" cy="2228694"/>
        </p:xfrm>
        <a:graphic>
          <a:graphicData uri="http://schemas.openxmlformats.org/drawingml/2006/table">
            <a:tbl>
              <a:tblPr/>
              <a:tblGrid>
                <a:gridCol w="1206994">
                  <a:extLst>
                    <a:ext uri="{9D8B030D-6E8A-4147-A177-3AD203B41FA5}">
                      <a16:colId xmlns:a16="http://schemas.microsoft.com/office/drawing/2014/main" val="3510494993"/>
                    </a:ext>
                  </a:extLst>
                </a:gridCol>
                <a:gridCol w="449114">
                  <a:extLst>
                    <a:ext uri="{9D8B030D-6E8A-4147-A177-3AD203B41FA5}">
                      <a16:colId xmlns:a16="http://schemas.microsoft.com/office/drawing/2014/main" val="2279042975"/>
                    </a:ext>
                  </a:extLst>
                </a:gridCol>
                <a:gridCol w="449114">
                  <a:extLst>
                    <a:ext uri="{9D8B030D-6E8A-4147-A177-3AD203B41FA5}">
                      <a16:colId xmlns:a16="http://schemas.microsoft.com/office/drawing/2014/main" val="1672283271"/>
                    </a:ext>
                  </a:extLst>
                </a:gridCol>
                <a:gridCol w="449114">
                  <a:extLst>
                    <a:ext uri="{9D8B030D-6E8A-4147-A177-3AD203B41FA5}">
                      <a16:colId xmlns:a16="http://schemas.microsoft.com/office/drawing/2014/main" val="4094793083"/>
                    </a:ext>
                  </a:extLst>
                </a:gridCol>
              </a:tblGrid>
              <a:tr h="171438">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41277685"/>
                  </a:ext>
                </a:extLst>
              </a:tr>
              <a:tr h="171438">
                <a:tc>
                  <a:txBody>
                    <a:bodyPr/>
                    <a:lstStyle/>
                    <a:p>
                      <a:pPr algn="l" fontAlgn="b">
                        <a:buNone/>
                      </a:pPr>
                      <a:r>
                        <a:rPr lang="fr-FR" sz="900" b="1" i="0" u="none" strike="noStrike">
                          <a:solidFill>
                            <a:srgbClr val="000000"/>
                          </a:solidFill>
                          <a:effectLst/>
                          <a:latin typeface="Aptos Narrow" panose="020B0004020202020204" pitchFamily="34" charset="0"/>
                        </a:rPr>
                        <a:t>Parc Sandur</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19,3</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DDD82"/>
                    </a:solidFill>
                  </a:tcPr>
                </a:tc>
                <a:tc>
                  <a:txBody>
                    <a:bodyPr/>
                    <a:lstStyle/>
                    <a:p>
                      <a:pPr algn="r" fontAlgn="b">
                        <a:buNone/>
                      </a:pPr>
                      <a:r>
                        <a:rPr lang="fr-FR" sz="900" b="1" i="0" u="none" strike="noStrike">
                          <a:solidFill>
                            <a:srgbClr val="000000"/>
                          </a:solidFill>
                          <a:effectLst/>
                          <a:latin typeface="Aptos Narrow" panose="020B0004020202020204" pitchFamily="34" charset="0"/>
                        </a:rPr>
                        <a:t>9,7</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082"/>
                    </a:solidFill>
                  </a:tcPr>
                </a:tc>
                <a:tc>
                  <a:txBody>
                    <a:bodyPr/>
                    <a:lstStyle/>
                    <a:p>
                      <a:pPr algn="r" fontAlgn="b">
                        <a:buNone/>
                      </a:pPr>
                      <a:r>
                        <a:rPr lang="fr-FR" sz="900" b="1" i="0" u="none" strike="noStrike">
                          <a:solidFill>
                            <a:srgbClr val="00B050"/>
                          </a:solidFill>
                          <a:effectLst/>
                          <a:latin typeface="Aptos Narrow" panose="020B0004020202020204" pitchFamily="34" charset="0"/>
                        </a:rPr>
                        <a:t>9,6</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27752194"/>
                  </a:ext>
                </a:extLst>
              </a:tr>
              <a:tr h="171438">
                <a:tc>
                  <a:txBody>
                    <a:bodyPr/>
                    <a:lstStyle/>
                    <a:p>
                      <a:pPr algn="l" fontAlgn="b">
                        <a:buNone/>
                      </a:pPr>
                      <a:r>
                        <a:rPr lang="fr-FR" sz="900" b="0" i="0" u="none" strike="noStrike">
                          <a:solidFill>
                            <a:srgbClr val="000000"/>
                          </a:solidFill>
                          <a:effectLst/>
                          <a:latin typeface="Aptos Narrow" panose="020B0004020202020204" pitchFamily="34" charset="0"/>
                        </a:rPr>
                        <a:t> A</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11,1</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783"/>
                    </a:solidFill>
                  </a:tcPr>
                </a:tc>
                <a:tc>
                  <a:txBody>
                    <a:bodyPr/>
                    <a:lstStyle/>
                    <a:p>
                      <a:pPr algn="r" fontAlgn="b">
                        <a:buNone/>
                      </a:pPr>
                      <a:r>
                        <a:rPr lang="fr-FR" sz="900" b="0" i="0" u="none" strike="noStrike">
                          <a:solidFill>
                            <a:srgbClr val="000000"/>
                          </a:solidFill>
                          <a:effectLst/>
                          <a:latin typeface="Aptos Narrow" panose="020B0004020202020204" pitchFamily="34" charset="0"/>
                        </a:rPr>
                        <a:t>1,6</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A7A"/>
                    </a:solidFill>
                  </a:tcPr>
                </a:tc>
                <a:tc>
                  <a:txBody>
                    <a:bodyPr/>
                    <a:lstStyle/>
                    <a:p>
                      <a:pPr algn="r" fontAlgn="b">
                        <a:buNone/>
                      </a:pPr>
                      <a:r>
                        <a:rPr lang="fr-FR" sz="900" b="0" i="0" u="none" strike="noStrike">
                          <a:solidFill>
                            <a:srgbClr val="00B050"/>
                          </a:solidFill>
                          <a:effectLst/>
                          <a:latin typeface="Aptos Narrow" panose="020B0004020202020204" pitchFamily="34" charset="0"/>
                        </a:rPr>
                        <a:t>9,5</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8342957"/>
                  </a:ext>
                </a:extLst>
              </a:tr>
              <a:tr h="171438">
                <a:tc>
                  <a:txBody>
                    <a:bodyPr/>
                    <a:lstStyle/>
                    <a:p>
                      <a:pPr algn="l" fontAlgn="b">
                        <a:buNone/>
                      </a:pPr>
                      <a:r>
                        <a:rPr lang="fr-FR" sz="900" b="0" i="0" u="none" strike="noStrike">
                          <a:solidFill>
                            <a:srgbClr val="000000"/>
                          </a:solidFill>
                          <a:effectLst/>
                          <a:latin typeface="Aptos Narrow" panose="020B0004020202020204" pitchFamily="34" charset="0"/>
                        </a:rPr>
                        <a:t> R</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25,7</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1D07F"/>
                    </a:solidFill>
                  </a:tcPr>
                </a:tc>
                <a:tc>
                  <a:txBody>
                    <a:bodyPr/>
                    <a:lstStyle/>
                    <a:p>
                      <a:pPr algn="r" fontAlgn="b">
                        <a:buNone/>
                      </a:pPr>
                      <a:r>
                        <a:rPr lang="fr-FR" sz="900" b="0" i="0" u="none" strike="noStrike">
                          <a:solidFill>
                            <a:srgbClr val="000000"/>
                          </a:solidFill>
                          <a:effectLst/>
                          <a:latin typeface="Aptos Narrow" panose="020B0004020202020204" pitchFamily="34" charset="0"/>
                        </a:rPr>
                        <a:t>14,4</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EE683"/>
                    </a:solidFill>
                  </a:tcPr>
                </a:tc>
                <a:tc>
                  <a:txBody>
                    <a:bodyPr/>
                    <a:lstStyle/>
                    <a:p>
                      <a:pPr algn="r" fontAlgn="b">
                        <a:buNone/>
                      </a:pPr>
                      <a:r>
                        <a:rPr lang="fr-FR" sz="900" b="0" i="0" u="none" strike="noStrike">
                          <a:solidFill>
                            <a:srgbClr val="00B050"/>
                          </a:solidFill>
                          <a:effectLst/>
                          <a:latin typeface="Aptos Narrow" panose="020B0004020202020204" pitchFamily="34" charset="0"/>
                        </a:rPr>
                        <a:t>11,3</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74846030"/>
                  </a:ext>
                </a:extLst>
              </a:tr>
              <a:tr h="171438">
                <a:tc>
                  <a:txBody>
                    <a:bodyPr/>
                    <a:lstStyle/>
                    <a:p>
                      <a:pPr algn="l" fontAlgn="b">
                        <a:buNone/>
                      </a:pPr>
                      <a:r>
                        <a:rPr lang="fr-FR" sz="900" b="0" i="0" u="none" strike="noStrike">
                          <a:solidFill>
                            <a:srgbClr val="000000"/>
                          </a:solidFill>
                          <a:effectLst/>
                          <a:latin typeface="Aptos Narrow" panose="020B0004020202020204" pitchFamily="34" charset="0"/>
                        </a:rPr>
                        <a:t> T</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11,0</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783"/>
                    </a:solidFill>
                  </a:tcPr>
                </a:tc>
                <a:tc>
                  <a:txBody>
                    <a:bodyPr/>
                    <a:lstStyle/>
                    <a:p>
                      <a:pPr algn="r" fontAlgn="b">
                        <a:buNone/>
                      </a:pPr>
                      <a:r>
                        <a:rPr lang="fr-FR" sz="900" b="0" i="0" u="none" strike="noStrike">
                          <a:solidFill>
                            <a:srgbClr val="000000"/>
                          </a:solidFill>
                          <a:effectLst/>
                          <a:latin typeface="Aptos Narrow" panose="020B0004020202020204" pitchFamily="34" charset="0"/>
                        </a:rPr>
                        <a:t>4,0</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57C"/>
                    </a:solidFill>
                  </a:tcPr>
                </a:tc>
                <a:tc>
                  <a:txBody>
                    <a:bodyPr/>
                    <a:lstStyle/>
                    <a:p>
                      <a:pPr algn="r" fontAlgn="b">
                        <a:buNone/>
                      </a:pPr>
                      <a:r>
                        <a:rPr lang="fr-FR" sz="900" b="0" i="0" u="none" strike="noStrike">
                          <a:solidFill>
                            <a:srgbClr val="00B050"/>
                          </a:solidFill>
                          <a:effectLst/>
                          <a:latin typeface="Aptos Narrow" panose="020B0004020202020204" pitchFamily="34" charset="0"/>
                        </a:rPr>
                        <a:t>7,0</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58366756"/>
                  </a:ext>
                </a:extLst>
              </a:tr>
              <a:tr h="171438">
                <a:tc>
                  <a:txBody>
                    <a:bodyPr/>
                    <a:lstStyle/>
                    <a:p>
                      <a:pPr algn="l" fontAlgn="b">
                        <a:buNone/>
                      </a:pPr>
                      <a:r>
                        <a:rPr lang="fr-FR" sz="900" b="1" i="0" u="none" strike="noStrike">
                          <a:solidFill>
                            <a:srgbClr val="000000"/>
                          </a:solidFill>
                          <a:effectLst/>
                          <a:latin typeface="Aptos Narrow" panose="020B0004020202020204" pitchFamily="34" charset="0"/>
                        </a:rPr>
                        <a:t>Park Zandvoort</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22,6</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7D680"/>
                    </a:solidFill>
                  </a:tcPr>
                </a:tc>
                <a:tc>
                  <a:txBody>
                    <a:bodyPr/>
                    <a:lstStyle/>
                    <a:p>
                      <a:pPr algn="r" fontAlgn="b">
                        <a:buNone/>
                      </a:pPr>
                      <a:r>
                        <a:rPr lang="fr-FR" sz="900" b="1" i="0" u="none" strike="noStrike">
                          <a:solidFill>
                            <a:srgbClr val="000000"/>
                          </a:solidFill>
                          <a:effectLst/>
                          <a:latin typeface="Aptos Narrow" panose="020B0004020202020204" pitchFamily="34" charset="0"/>
                        </a:rPr>
                        <a:t>17,8</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6E082"/>
                    </a:solidFill>
                  </a:tcPr>
                </a:tc>
                <a:tc>
                  <a:txBody>
                    <a:bodyPr/>
                    <a:lstStyle/>
                    <a:p>
                      <a:pPr algn="r" fontAlgn="b">
                        <a:buNone/>
                      </a:pPr>
                      <a:r>
                        <a:rPr lang="fr-FR" sz="900" b="1" i="0" u="none" strike="noStrike">
                          <a:solidFill>
                            <a:srgbClr val="00B050"/>
                          </a:solidFill>
                          <a:effectLst/>
                          <a:latin typeface="Aptos Narrow" panose="020B0004020202020204" pitchFamily="34" charset="0"/>
                        </a:rPr>
                        <a:t>4,7</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19195349"/>
                  </a:ext>
                </a:extLst>
              </a:tr>
              <a:tr h="171438">
                <a:tc>
                  <a:txBody>
                    <a:bodyPr/>
                    <a:lstStyle/>
                    <a:p>
                      <a:pPr algn="l" fontAlgn="b">
                        <a:buNone/>
                      </a:pPr>
                      <a:r>
                        <a:rPr lang="fr-FR" sz="900" b="0" i="0" u="none" strike="noStrike">
                          <a:solidFill>
                            <a:srgbClr val="000000"/>
                          </a:solidFill>
                          <a:effectLst/>
                          <a:latin typeface="Aptos Narrow" panose="020B0004020202020204" pitchFamily="34" charset="0"/>
                        </a:rPr>
                        <a:t> A</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20,5</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4DA81"/>
                    </a:solidFill>
                  </a:tcPr>
                </a:tc>
                <a:tc>
                  <a:txBody>
                    <a:bodyPr/>
                    <a:lstStyle/>
                    <a:p>
                      <a:pPr algn="r" fontAlgn="b">
                        <a:buNone/>
                      </a:pPr>
                      <a:r>
                        <a:rPr lang="fr-FR" sz="900" b="0" i="0" u="none" strike="noStrike">
                          <a:solidFill>
                            <a:srgbClr val="000000"/>
                          </a:solidFill>
                          <a:effectLst/>
                          <a:latin typeface="Aptos Narrow" panose="020B0004020202020204" pitchFamily="34" charset="0"/>
                        </a:rPr>
                        <a:t>14,2</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FE784"/>
                    </a:solidFill>
                  </a:tcPr>
                </a:tc>
                <a:tc>
                  <a:txBody>
                    <a:bodyPr/>
                    <a:lstStyle/>
                    <a:p>
                      <a:pPr algn="r" fontAlgn="b">
                        <a:buNone/>
                      </a:pPr>
                      <a:r>
                        <a:rPr lang="fr-FR" sz="900" b="0" i="0" u="none" strike="noStrike">
                          <a:solidFill>
                            <a:srgbClr val="00B050"/>
                          </a:solidFill>
                          <a:effectLst/>
                          <a:latin typeface="Aptos Narrow" panose="020B0004020202020204" pitchFamily="34" charset="0"/>
                        </a:rPr>
                        <a:t>6,3</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41835456"/>
                  </a:ext>
                </a:extLst>
              </a:tr>
              <a:tr h="171438">
                <a:tc>
                  <a:txBody>
                    <a:bodyPr/>
                    <a:lstStyle/>
                    <a:p>
                      <a:pPr algn="l" fontAlgn="b">
                        <a:buNone/>
                      </a:pPr>
                      <a:r>
                        <a:rPr lang="fr-FR" sz="900" b="0" i="0" u="none" strike="noStrike">
                          <a:solidFill>
                            <a:srgbClr val="000000"/>
                          </a:solidFill>
                          <a:effectLst/>
                          <a:latin typeface="Aptos Narrow" panose="020B0004020202020204" pitchFamily="34" charset="0"/>
                        </a:rPr>
                        <a:t> R</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29,6</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7C97E"/>
                    </a:solidFill>
                  </a:tcPr>
                </a:tc>
                <a:tc>
                  <a:txBody>
                    <a:bodyPr/>
                    <a:lstStyle/>
                    <a:p>
                      <a:pPr algn="r" fontAlgn="b">
                        <a:buNone/>
                      </a:pPr>
                      <a:r>
                        <a:rPr lang="fr-FR" sz="900" b="0" i="0" u="none" strike="noStrike">
                          <a:solidFill>
                            <a:srgbClr val="000000"/>
                          </a:solidFill>
                          <a:effectLst/>
                          <a:latin typeface="Aptos Narrow" panose="020B0004020202020204" pitchFamily="34" charset="0"/>
                        </a:rPr>
                        <a:t>24,4</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AD380"/>
                    </a:solidFill>
                  </a:tcPr>
                </a:tc>
                <a:tc>
                  <a:txBody>
                    <a:bodyPr/>
                    <a:lstStyle/>
                    <a:p>
                      <a:pPr algn="r" fontAlgn="b">
                        <a:buNone/>
                      </a:pPr>
                      <a:r>
                        <a:rPr lang="fr-FR" sz="900" b="0" i="0" u="none" strike="noStrike">
                          <a:solidFill>
                            <a:srgbClr val="00B050"/>
                          </a:solidFill>
                          <a:effectLst/>
                          <a:latin typeface="Aptos Narrow" panose="020B0004020202020204" pitchFamily="34" charset="0"/>
                        </a:rPr>
                        <a:t>5,2</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83381214"/>
                  </a:ext>
                </a:extLst>
              </a:tr>
              <a:tr h="171438">
                <a:tc>
                  <a:txBody>
                    <a:bodyPr/>
                    <a:lstStyle/>
                    <a:p>
                      <a:pPr algn="l" fontAlgn="b">
                        <a:buNone/>
                      </a:pPr>
                      <a:r>
                        <a:rPr lang="fr-FR" sz="900" b="0" i="0" u="none" strike="noStrike">
                          <a:solidFill>
                            <a:srgbClr val="000000"/>
                          </a:solidFill>
                          <a:effectLst/>
                          <a:latin typeface="Aptos Narrow" panose="020B0004020202020204" pitchFamily="34" charset="0"/>
                        </a:rPr>
                        <a:t> T</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11,8</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B84"/>
                    </a:solidFill>
                  </a:tcPr>
                </a:tc>
                <a:tc>
                  <a:txBody>
                    <a:bodyPr/>
                    <a:lstStyle/>
                    <a:p>
                      <a:pPr algn="r" fontAlgn="b">
                        <a:buNone/>
                      </a:pPr>
                      <a:r>
                        <a:rPr lang="fr-FR" sz="900" b="0" i="0" u="none" strike="noStrike">
                          <a:solidFill>
                            <a:srgbClr val="000000"/>
                          </a:solidFill>
                          <a:effectLst/>
                          <a:latin typeface="Aptos Narrow" panose="020B0004020202020204" pitchFamily="34" charset="0"/>
                        </a:rPr>
                        <a:t>9,5</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081"/>
                    </a:solidFill>
                  </a:tcPr>
                </a:tc>
                <a:tc>
                  <a:txBody>
                    <a:bodyPr/>
                    <a:lstStyle/>
                    <a:p>
                      <a:pPr algn="r" fontAlgn="b">
                        <a:buNone/>
                      </a:pPr>
                      <a:r>
                        <a:rPr lang="fr-FR" sz="900" b="0" i="0" u="none" strike="noStrike">
                          <a:solidFill>
                            <a:srgbClr val="00B050"/>
                          </a:solidFill>
                          <a:effectLst/>
                          <a:latin typeface="Aptos Narrow" panose="020B0004020202020204" pitchFamily="34" charset="0"/>
                        </a:rPr>
                        <a:t>2,4</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55792641"/>
                  </a:ext>
                </a:extLst>
              </a:tr>
              <a:tr h="171438">
                <a:tc>
                  <a:txBody>
                    <a:bodyPr/>
                    <a:lstStyle/>
                    <a:p>
                      <a:pPr algn="l" fontAlgn="b">
                        <a:buNone/>
                      </a:pPr>
                      <a:r>
                        <a:rPr lang="fr-FR" sz="900" b="1" i="0" u="none" strike="noStrike">
                          <a:solidFill>
                            <a:srgbClr val="000000"/>
                          </a:solidFill>
                          <a:effectLst/>
                          <a:latin typeface="Aptos Narrow" panose="020B0004020202020204" pitchFamily="34" charset="0"/>
                        </a:rPr>
                        <a:t>Port Zélande</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11,7</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A83"/>
                    </a:solidFill>
                  </a:tcPr>
                </a:tc>
                <a:tc>
                  <a:txBody>
                    <a:bodyPr/>
                    <a:lstStyle/>
                    <a:p>
                      <a:pPr algn="r" fontAlgn="b">
                        <a:buNone/>
                      </a:pPr>
                      <a:r>
                        <a:rPr lang="fr-FR" sz="900" b="1" i="0" u="none" strike="noStrike">
                          <a:solidFill>
                            <a:srgbClr val="000000"/>
                          </a:solidFill>
                          <a:effectLst/>
                          <a:latin typeface="Aptos Narrow" panose="020B0004020202020204" pitchFamily="34" charset="0"/>
                        </a:rPr>
                        <a:t>4,9</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A7D"/>
                    </a:solidFill>
                  </a:tcPr>
                </a:tc>
                <a:tc>
                  <a:txBody>
                    <a:bodyPr/>
                    <a:lstStyle/>
                    <a:p>
                      <a:pPr algn="r" fontAlgn="b">
                        <a:buNone/>
                      </a:pPr>
                      <a:r>
                        <a:rPr lang="fr-FR" sz="900" b="1" i="0" u="none" strike="noStrike">
                          <a:solidFill>
                            <a:srgbClr val="00B050"/>
                          </a:solidFill>
                          <a:effectLst/>
                          <a:latin typeface="Aptos Narrow" panose="020B0004020202020204" pitchFamily="34" charset="0"/>
                        </a:rPr>
                        <a:t>6,8</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6985410"/>
                  </a:ext>
                </a:extLst>
              </a:tr>
              <a:tr h="171438">
                <a:tc>
                  <a:txBody>
                    <a:bodyPr/>
                    <a:lstStyle/>
                    <a:p>
                      <a:pPr algn="l" fontAlgn="b">
                        <a:buNone/>
                      </a:pPr>
                      <a:r>
                        <a:rPr lang="fr-FR" sz="900" b="0" i="0" u="none" strike="noStrike">
                          <a:solidFill>
                            <a:srgbClr val="000000"/>
                          </a:solidFill>
                          <a:effectLst/>
                          <a:latin typeface="Aptos Narrow" panose="020B0004020202020204" pitchFamily="34" charset="0"/>
                        </a:rPr>
                        <a:t> A</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10,4</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482"/>
                    </a:solidFill>
                  </a:tcPr>
                </a:tc>
                <a:tc>
                  <a:txBody>
                    <a:bodyPr/>
                    <a:lstStyle/>
                    <a:p>
                      <a:pPr algn="r" fontAlgn="b">
                        <a:buNone/>
                      </a:pPr>
                      <a:r>
                        <a:rPr lang="fr-FR" sz="900" b="0" i="0" u="none" strike="noStrike">
                          <a:solidFill>
                            <a:srgbClr val="000000"/>
                          </a:solidFill>
                          <a:effectLst/>
                          <a:latin typeface="Aptos Narrow" panose="020B0004020202020204" pitchFamily="34" charset="0"/>
                        </a:rPr>
                        <a:t>1,9</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C7A"/>
                    </a:solidFill>
                  </a:tcPr>
                </a:tc>
                <a:tc>
                  <a:txBody>
                    <a:bodyPr/>
                    <a:lstStyle/>
                    <a:p>
                      <a:pPr algn="r" fontAlgn="b">
                        <a:buNone/>
                      </a:pPr>
                      <a:r>
                        <a:rPr lang="fr-FR" sz="900" b="0" i="0" u="none" strike="noStrike">
                          <a:solidFill>
                            <a:srgbClr val="00B050"/>
                          </a:solidFill>
                          <a:effectLst/>
                          <a:latin typeface="Aptos Narrow" panose="020B0004020202020204" pitchFamily="34" charset="0"/>
                        </a:rPr>
                        <a:t>8,5</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40338251"/>
                  </a:ext>
                </a:extLst>
              </a:tr>
              <a:tr h="171438">
                <a:tc>
                  <a:txBody>
                    <a:bodyPr/>
                    <a:lstStyle/>
                    <a:p>
                      <a:pPr algn="l" fontAlgn="b">
                        <a:buNone/>
                      </a:pPr>
                      <a:r>
                        <a:rPr lang="fr-FR" sz="900" b="0" i="0" u="none" strike="noStrike">
                          <a:solidFill>
                            <a:srgbClr val="000000"/>
                          </a:solidFill>
                          <a:effectLst/>
                          <a:latin typeface="Aptos Narrow" panose="020B0004020202020204" pitchFamily="34" charset="0"/>
                        </a:rPr>
                        <a:t> R</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16,7</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FE283"/>
                    </a:solidFill>
                  </a:tcPr>
                </a:tc>
                <a:tc>
                  <a:txBody>
                    <a:bodyPr/>
                    <a:lstStyle/>
                    <a:p>
                      <a:pPr algn="r" fontAlgn="b">
                        <a:buNone/>
                      </a:pPr>
                      <a:r>
                        <a:rPr lang="fr-FR" sz="900" b="0" i="0" u="none" strike="noStrike">
                          <a:solidFill>
                            <a:srgbClr val="000000"/>
                          </a:solidFill>
                          <a:effectLst/>
                          <a:latin typeface="Aptos Narrow" panose="020B0004020202020204" pitchFamily="34" charset="0"/>
                        </a:rPr>
                        <a:t>11,0</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783"/>
                    </a:solidFill>
                  </a:tcPr>
                </a:tc>
                <a:tc>
                  <a:txBody>
                    <a:bodyPr/>
                    <a:lstStyle/>
                    <a:p>
                      <a:pPr algn="r" fontAlgn="b">
                        <a:buNone/>
                      </a:pPr>
                      <a:r>
                        <a:rPr lang="fr-FR" sz="900" b="0" i="0" u="none" strike="noStrike">
                          <a:solidFill>
                            <a:srgbClr val="00B050"/>
                          </a:solidFill>
                          <a:effectLst/>
                          <a:latin typeface="Aptos Narrow" panose="020B0004020202020204" pitchFamily="34" charset="0"/>
                        </a:rPr>
                        <a:t>5,6</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328739"/>
                  </a:ext>
                </a:extLst>
              </a:tr>
              <a:tr h="171438">
                <a:tc>
                  <a:txBody>
                    <a:bodyPr/>
                    <a:lstStyle/>
                    <a:p>
                      <a:pPr algn="l" fontAlgn="b">
                        <a:buNone/>
                      </a:pPr>
                      <a:r>
                        <a:rPr lang="fr-FR" sz="900" b="0" i="0" u="none" strike="noStrike">
                          <a:solidFill>
                            <a:srgbClr val="000000"/>
                          </a:solidFill>
                          <a:effectLst/>
                          <a:latin typeface="Aptos Narrow" panose="020B0004020202020204" pitchFamily="34" charset="0"/>
                        </a:rPr>
                        <a:t> T</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3,6</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47C"/>
                    </a:solidFill>
                  </a:tcPr>
                </a:tc>
                <a:tc>
                  <a:txBody>
                    <a:bodyPr/>
                    <a:lstStyle/>
                    <a:p>
                      <a:pPr algn="r" fontAlgn="b">
                        <a:buNone/>
                      </a:pPr>
                      <a:r>
                        <a:rPr lang="fr-FR" sz="900" b="0" i="0" u="none" strike="noStrike">
                          <a:solidFill>
                            <a:srgbClr val="000000"/>
                          </a:solidFill>
                          <a:effectLst/>
                          <a:latin typeface="Aptos Narrow" panose="020B0004020202020204" pitchFamily="34" charset="0"/>
                        </a:rPr>
                        <a:t>-3,9</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A075"/>
                    </a:solidFill>
                  </a:tcPr>
                </a:tc>
                <a:tc>
                  <a:txBody>
                    <a:bodyPr/>
                    <a:lstStyle/>
                    <a:p>
                      <a:pPr algn="r" fontAlgn="b">
                        <a:buNone/>
                      </a:pPr>
                      <a:r>
                        <a:rPr lang="fr-FR" sz="900" b="0" i="0" u="none" strike="noStrike">
                          <a:solidFill>
                            <a:srgbClr val="00B050"/>
                          </a:solidFill>
                          <a:effectLst/>
                          <a:latin typeface="Aptos Narrow" panose="020B0004020202020204" pitchFamily="34" charset="0"/>
                        </a:rPr>
                        <a:t>7,5</a:t>
                      </a:r>
                    </a:p>
                  </a:txBody>
                  <a:tcPr marL="3949" marR="3949" marT="394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4525463"/>
                  </a:ext>
                </a:extLst>
              </a:tr>
            </a:tbl>
          </a:graphicData>
        </a:graphic>
      </p:graphicFrame>
    </p:spTree>
    <p:extLst>
      <p:ext uri="{BB962C8B-B14F-4D97-AF65-F5344CB8AC3E}">
        <p14:creationId xmlns:p14="http://schemas.microsoft.com/office/powerpoint/2010/main" val="16882730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27DE5-77FF-E6C1-65CD-9A4235AF744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43F38B-CF54-D5F0-68C9-7C80110FB960}"/>
              </a:ext>
            </a:extLst>
          </p:cNvPr>
          <p:cNvSpPr>
            <a:spLocks noGrp="1"/>
          </p:cNvSpPr>
          <p:nvPr>
            <p:ph type="sldNum" sz="quarter" idx="12"/>
          </p:nvPr>
        </p:nvSpPr>
        <p:spPr/>
        <p:txBody>
          <a:bodyPr/>
          <a:lstStyle/>
          <a:p>
            <a:fld id="{0D2E6A04-B99A-6C4D-8942-945F97C9E705}" type="slidenum">
              <a:rPr lang="en-US" smtClean="0"/>
              <a:pPr/>
              <a:t>33</a:t>
            </a:fld>
            <a:endParaRPr lang="en-US"/>
          </a:p>
        </p:txBody>
      </p:sp>
      <p:sp>
        <p:nvSpPr>
          <p:cNvPr id="3" name="Date Placeholder 2">
            <a:extLst>
              <a:ext uri="{FF2B5EF4-FFF2-40B4-BE49-F238E27FC236}">
                <a16:creationId xmlns:a16="http://schemas.microsoft.com/office/drawing/2014/main" id="{DCC1ABD2-9C24-0458-B17B-C84E490284DC}"/>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A2792ABF-B097-4AD5-6A98-835D7BD7969C}"/>
              </a:ext>
            </a:extLst>
          </p:cNvPr>
          <p:cNvSpPr>
            <a:spLocks noGrp="1"/>
          </p:cNvSpPr>
          <p:nvPr>
            <p:ph type="title"/>
          </p:nvPr>
        </p:nvSpPr>
        <p:spPr/>
        <p:txBody>
          <a:bodyPr/>
          <a:lstStyle/>
          <a:p>
            <a:r>
              <a:rPr lang="fr-FR"/>
              <a:t>Netherlands – NPS per </a:t>
            </a:r>
            <a:r>
              <a:rPr lang="fr-FR" err="1"/>
              <a:t>household</a:t>
            </a:r>
            <a:r>
              <a:rPr lang="fr-FR"/>
              <a:t> structure</a:t>
            </a:r>
          </a:p>
        </p:txBody>
      </p:sp>
      <p:sp>
        <p:nvSpPr>
          <p:cNvPr id="6" name="Rechthoek 4">
            <a:extLst>
              <a:ext uri="{FF2B5EF4-FFF2-40B4-BE49-F238E27FC236}">
                <a16:creationId xmlns:a16="http://schemas.microsoft.com/office/drawing/2014/main" id="{06BAA256-A015-D43F-11FF-C49A0429FFDF}"/>
              </a:ext>
            </a:extLst>
          </p:cNvPr>
          <p:cNvSpPr/>
          <p:nvPr/>
        </p:nvSpPr>
        <p:spPr>
          <a:xfrm>
            <a:off x="-1" y="978100"/>
            <a:ext cx="6934201" cy="1696720"/>
          </a:xfrm>
          <a:prstGeom prst="rect">
            <a:avLst/>
          </a:prstGeom>
          <a:solidFill>
            <a:schemeClr val="accent4">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ea typeface="Calibri"/>
                <a:cs typeface="Calibri"/>
              </a:rPr>
              <a:t>Data are slightly different because a part of total booking don’t get household structure information.</a:t>
            </a:r>
          </a:p>
          <a:p>
            <a:pPr marL="720725" lvl="2" indent="-161925">
              <a:lnSpc>
                <a:spcPct val="120000"/>
              </a:lnSpc>
              <a:buFont typeface="Arial" panose="020B0604020202020204" pitchFamily="34" charset="0"/>
              <a:buChar char="•"/>
            </a:pPr>
            <a:r>
              <a:rPr lang="en-US" sz="1200" b="1">
                <a:solidFill>
                  <a:schemeClr val="tx2"/>
                </a:solidFill>
                <a:ea typeface="Calibri"/>
                <a:cs typeface="Calibri"/>
              </a:rPr>
              <a:t>Dutch parks increased on all household structures.</a:t>
            </a:r>
          </a:p>
          <a:p>
            <a:pPr marL="720725" lvl="2" indent="-161925">
              <a:lnSpc>
                <a:spcPct val="120000"/>
              </a:lnSpc>
              <a:buFont typeface="Arial" panose="020B0604020202020204" pitchFamily="34" charset="0"/>
              <a:buChar char="•"/>
            </a:pPr>
            <a:r>
              <a:rPr lang="en-US" sz="1200" b="1">
                <a:solidFill>
                  <a:schemeClr val="tx2"/>
                </a:solidFill>
                <a:ea typeface="Calibri"/>
                <a:cs typeface="Calibri"/>
              </a:rPr>
              <a:t>Seniors, Adults 35-54 and 3;4 are the highest NPS.</a:t>
            </a:r>
          </a:p>
          <a:p>
            <a:pPr marL="720725" lvl="2" indent="-161925">
              <a:lnSpc>
                <a:spcPct val="120000"/>
              </a:lnSpc>
              <a:buFont typeface="Arial" panose="020B0604020202020204" pitchFamily="34" charset="0"/>
              <a:buChar char="•"/>
            </a:pPr>
            <a:r>
              <a:rPr lang="en-US" sz="1200" b="1">
                <a:solidFill>
                  <a:schemeClr val="tx2"/>
                </a:solidFill>
                <a:ea typeface="Calibri"/>
                <a:cs typeface="Calibri"/>
              </a:rPr>
              <a:t>0;2 and 12;17 are the lowest NPS, below average.</a:t>
            </a:r>
          </a:p>
        </p:txBody>
      </p:sp>
      <p:sp>
        <p:nvSpPr>
          <p:cNvPr id="7" name="Rectangle 6">
            <a:extLst>
              <a:ext uri="{FF2B5EF4-FFF2-40B4-BE49-F238E27FC236}">
                <a16:creationId xmlns:a16="http://schemas.microsoft.com/office/drawing/2014/main" id="{09FD0B9E-F30E-BA7E-4A54-A9B407E5F297}"/>
              </a:ext>
            </a:extLst>
          </p:cNvPr>
          <p:cNvSpPr/>
          <p:nvPr/>
        </p:nvSpPr>
        <p:spPr>
          <a:xfrm rot="16200000">
            <a:off x="-617105" y="1646060"/>
            <a:ext cx="1656000"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4"/>
                </a:solidFill>
                <a:ea typeface="Calibri"/>
                <a:cs typeface="Calibri"/>
              </a:rPr>
              <a:t>Analysis</a:t>
            </a:r>
            <a:endParaRPr lang="en-US" sz="1100">
              <a:solidFill>
                <a:schemeClr val="accent4"/>
              </a:solidFill>
            </a:endParaRPr>
          </a:p>
        </p:txBody>
      </p:sp>
      <p:graphicFrame>
        <p:nvGraphicFramePr>
          <p:cNvPr id="11" name="Table 10">
            <a:extLst>
              <a:ext uri="{FF2B5EF4-FFF2-40B4-BE49-F238E27FC236}">
                <a16:creationId xmlns:a16="http://schemas.microsoft.com/office/drawing/2014/main" id="{4A9B68D4-55EE-FDFB-31C5-4B16BF8A41DA}"/>
              </a:ext>
            </a:extLst>
          </p:cNvPr>
          <p:cNvGraphicFramePr>
            <a:graphicFrameLocks noGrp="1"/>
          </p:cNvGraphicFramePr>
          <p:nvPr/>
        </p:nvGraphicFramePr>
        <p:xfrm>
          <a:off x="7397749" y="978100"/>
          <a:ext cx="4460620" cy="1696720"/>
        </p:xfrm>
        <a:graphic>
          <a:graphicData uri="http://schemas.openxmlformats.org/drawingml/2006/table">
            <a:tbl>
              <a:tblPr/>
              <a:tblGrid>
                <a:gridCol w="2072779">
                  <a:extLst>
                    <a:ext uri="{9D8B030D-6E8A-4147-A177-3AD203B41FA5}">
                      <a16:colId xmlns:a16="http://schemas.microsoft.com/office/drawing/2014/main" val="3058813938"/>
                    </a:ext>
                  </a:extLst>
                </a:gridCol>
                <a:gridCol w="795947">
                  <a:extLst>
                    <a:ext uri="{9D8B030D-6E8A-4147-A177-3AD203B41FA5}">
                      <a16:colId xmlns:a16="http://schemas.microsoft.com/office/drawing/2014/main" val="3531341285"/>
                    </a:ext>
                  </a:extLst>
                </a:gridCol>
                <a:gridCol w="795947">
                  <a:extLst>
                    <a:ext uri="{9D8B030D-6E8A-4147-A177-3AD203B41FA5}">
                      <a16:colId xmlns:a16="http://schemas.microsoft.com/office/drawing/2014/main" val="10212702"/>
                    </a:ext>
                  </a:extLst>
                </a:gridCol>
                <a:gridCol w="795947">
                  <a:extLst>
                    <a:ext uri="{9D8B030D-6E8A-4147-A177-3AD203B41FA5}">
                      <a16:colId xmlns:a16="http://schemas.microsoft.com/office/drawing/2014/main" val="1553913948"/>
                    </a:ext>
                  </a:extLst>
                </a:gridCol>
              </a:tblGrid>
              <a:tr h="169672">
                <a:tc>
                  <a:txBody>
                    <a:bodyPr/>
                    <a:lstStyle/>
                    <a:p>
                      <a:pPr algn="l" fontAlgn="b">
                        <a:buNone/>
                      </a:pPr>
                      <a:endParaRPr lang="fr-FR" sz="1000" b="0"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Evol </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11594201"/>
                  </a:ext>
                </a:extLst>
              </a:tr>
              <a:tr h="169672">
                <a:tc>
                  <a:txBody>
                    <a:bodyPr/>
                    <a:lstStyle/>
                    <a:p>
                      <a:pPr algn="l" fontAlgn="b">
                        <a:buNone/>
                      </a:pPr>
                      <a:r>
                        <a:rPr lang="fr-FR" sz="1000" b="0" i="0" u="none" strike="noStrike">
                          <a:solidFill>
                            <a:srgbClr val="000000"/>
                          </a:solidFill>
                          <a:effectLst/>
                          <a:latin typeface="Aptos Narrow" panose="020B0004020202020204" pitchFamily="34" charset="0"/>
                        </a:rPr>
                        <a:t> Seniors&gt;75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23,0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1000" b="0" i="0" u="none" strike="noStrike">
                          <a:solidFill>
                            <a:srgbClr val="000000"/>
                          </a:solidFill>
                          <a:effectLst/>
                          <a:latin typeface="Aptos Narrow" panose="020B0004020202020204" pitchFamily="34" charset="0"/>
                        </a:rPr>
                        <a:t>16,7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8CF87"/>
                    </a:solidFill>
                  </a:tcPr>
                </a:tc>
                <a:tc>
                  <a:txBody>
                    <a:bodyPr/>
                    <a:lstStyle/>
                    <a:p>
                      <a:pPr algn="r" fontAlgn="b">
                        <a:buNone/>
                      </a:pPr>
                      <a:r>
                        <a:rPr lang="fr-FR" sz="1000" b="0" i="0" u="none" strike="noStrike">
                          <a:solidFill>
                            <a:srgbClr val="00B050"/>
                          </a:solidFill>
                          <a:effectLst/>
                          <a:latin typeface="Aptos Narrow" panose="020B0004020202020204" pitchFamily="34" charset="0"/>
                        </a:rPr>
                        <a:t>6,3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40587721"/>
                  </a:ext>
                </a:extLst>
              </a:tr>
              <a:tr h="169672">
                <a:tc>
                  <a:txBody>
                    <a:bodyPr/>
                    <a:lstStyle/>
                    <a:p>
                      <a:pPr algn="l" fontAlgn="b">
                        <a:buNone/>
                      </a:pPr>
                      <a:r>
                        <a:rPr lang="fr-FR" sz="1000" b="0" i="0" u="none" strike="noStrike">
                          <a:solidFill>
                            <a:srgbClr val="000000"/>
                          </a:solidFill>
                          <a:effectLst/>
                          <a:latin typeface="Aptos Narrow" panose="020B0004020202020204" pitchFamily="34" charset="0"/>
                        </a:rPr>
                        <a:t> Seniors active 55-74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22,2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AC17D"/>
                    </a:solidFill>
                  </a:tcPr>
                </a:tc>
                <a:tc>
                  <a:txBody>
                    <a:bodyPr/>
                    <a:lstStyle/>
                    <a:p>
                      <a:pPr algn="r" fontAlgn="b">
                        <a:buNone/>
                      </a:pPr>
                      <a:r>
                        <a:rPr lang="fr-FR" sz="1000" b="0" i="0" u="none" strike="noStrike">
                          <a:solidFill>
                            <a:srgbClr val="000000"/>
                          </a:solidFill>
                          <a:effectLst/>
                          <a:latin typeface="Aptos Narrow" panose="020B0004020202020204" pitchFamily="34" charset="0"/>
                        </a:rPr>
                        <a:t>16,5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9CF87"/>
                    </a:solidFill>
                  </a:tcPr>
                </a:tc>
                <a:tc>
                  <a:txBody>
                    <a:bodyPr/>
                    <a:lstStyle/>
                    <a:p>
                      <a:pPr algn="r" fontAlgn="b">
                        <a:buNone/>
                      </a:pPr>
                      <a:r>
                        <a:rPr lang="fr-FR" sz="1000" b="0" i="0" u="none" strike="noStrike">
                          <a:solidFill>
                            <a:srgbClr val="00B050"/>
                          </a:solidFill>
                          <a:effectLst/>
                          <a:latin typeface="Aptos Narrow" panose="020B0004020202020204" pitchFamily="34" charset="0"/>
                        </a:rPr>
                        <a:t>5,7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77229293"/>
                  </a:ext>
                </a:extLst>
              </a:tr>
              <a:tr h="169672">
                <a:tc>
                  <a:txBody>
                    <a:bodyPr/>
                    <a:lstStyle/>
                    <a:p>
                      <a:pPr algn="l" fontAlgn="b">
                        <a:buNone/>
                      </a:pPr>
                      <a:r>
                        <a:rPr lang="fr-FR" sz="1000" b="0" i="0" u="none" strike="noStrike">
                          <a:solidFill>
                            <a:srgbClr val="000000"/>
                          </a:solidFill>
                          <a:effectLst/>
                          <a:latin typeface="Aptos Narrow" panose="020B0004020202020204" pitchFamily="34" charset="0"/>
                        </a:rPr>
                        <a:t> Adults 35-54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19,1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4C982"/>
                    </a:solidFill>
                  </a:tcPr>
                </a:tc>
                <a:tc>
                  <a:txBody>
                    <a:bodyPr/>
                    <a:lstStyle/>
                    <a:p>
                      <a:pPr algn="r" fontAlgn="b">
                        <a:buNone/>
                      </a:pPr>
                      <a:r>
                        <a:rPr lang="fr-FR" sz="1000" b="0" i="0" u="none" strike="noStrike">
                          <a:solidFill>
                            <a:srgbClr val="000000"/>
                          </a:solidFill>
                          <a:effectLst/>
                          <a:latin typeface="Aptos Narrow" panose="020B0004020202020204" pitchFamily="34" charset="0"/>
                        </a:rPr>
                        <a:t>11,7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1DC8F"/>
                    </a:solidFill>
                  </a:tcPr>
                </a:tc>
                <a:tc>
                  <a:txBody>
                    <a:bodyPr/>
                    <a:lstStyle/>
                    <a:p>
                      <a:pPr algn="r" fontAlgn="b">
                        <a:buNone/>
                      </a:pPr>
                      <a:r>
                        <a:rPr lang="fr-FR" sz="1000" b="0" i="0" u="none" strike="noStrike">
                          <a:solidFill>
                            <a:srgbClr val="00B050"/>
                          </a:solidFill>
                          <a:effectLst/>
                          <a:latin typeface="Aptos Narrow" panose="020B0004020202020204" pitchFamily="34" charset="0"/>
                        </a:rPr>
                        <a:t>7,4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53211344"/>
                  </a:ext>
                </a:extLst>
              </a:tr>
              <a:tr h="169672">
                <a:tc>
                  <a:txBody>
                    <a:bodyPr/>
                    <a:lstStyle/>
                    <a:p>
                      <a:pPr algn="l" fontAlgn="b">
                        <a:buNone/>
                      </a:pPr>
                      <a:r>
                        <a:rPr lang="fr-FR" sz="1000" b="0" i="0" u="none" strike="noStrike">
                          <a:solidFill>
                            <a:srgbClr val="000000"/>
                          </a:solidFill>
                          <a:effectLst/>
                          <a:latin typeface="Aptos Narrow" panose="020B0004020202020204" pitchFamily="34" charset="0"/>
                        </a:rPr>
                        <a:t> Family with Children 3-4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19,0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5C983"/>
                    </a:solidFill>
                  </a:tcPr>
                </a:tc>
                <a:tc>
                  <a:txBody>
                    <a:bodyPr/>
                    <a:lstStyle/>
                    <a:p>
                      <a:pPr algn="r" fontAlgn="b">
                        <a:buNone/>
                      </a:pPr>
                      <a:r>
                        <a:rPr lang="fr-FR" sz="1000" b="0" i="0" u="none" strike="noStrike">
                          <a:solidFill>
                            <a:srgbClr val="000000"/>
                          </a:solidFill>
                          <a:effectLst/>
                          <a:latin typeface="Aptos Narrow" panose="020B0004020202020204" pitchFamily="34" charset="0"/>
                        </a:rPr>
                        <a:t>11,9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0DB8F"/>
                    </a:solidFill>
                  </a:tcPr>
                </a:tc>
                <a:tc>
                  <a:txBody>
                    <a:bodyPr/>
                    <a:lstStyle/>
                    <a:p>
                      <a:pPr algn="r" fontAlgn="b">
                        <a:buNone/>
                      </a:pPr>
                      <a:r>
                        <a:rPr lang="fr-FR" sz="1000" b="0" i="0" u="none" strike="noStrike">
                          <a:solidFill>
                            <a:srgbClr val="00B050"/>
                          </a:solidFill>
                          <a:effectLst/>
                          <a:latin typeface="Aptos Narrow" panose="020B0004020202020204" pitchFamily="34" charset="0"/>
                        </a:rPr>
                        <a:t>7,1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26376906"/>
                  </a:ext>
                </a:extLst>
              </a:tr>
              <a:tr h="169672">
                <a:tc>
                  <a:txBody>
                    <a:bodyPr/>
                    <a:lstStyle/>
                    <a:p>
                      <a:pPr algn="l" fontAlgn="b">
                        <a:buNone/>
                      </a:pPr>
                      <a:r>
                        <a:rPr lang="fr-FR" sz="1000" b="1" i="0" u="none" strike="noStrike">
                          <a:solidFill>
                            <a:srgbClr val="000000"/>
                          </a:solidFill>
                          <a:effectLst/>
                          <a:latin typeface="Aptos Narrow" panose="020B0004020202020204" pitchFamily="34" charset="0"/>
                        </a:rPr>
                        <a:t>Total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18,4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ACA84"/>
                    </a:solidFill>
                  </a:tcPr>
                </a:tc>
                <a:tc>
                  <a:txBody>
                    <a:bodyPr/>
                    <a:lstStyle/>
                    <a:p>
                      <a:pPr algn="r" fontAlgn="b">
                        <a:buNone/>
                      </a:pPr>
                      <a:r>
                        <a:rPr lang="fr-FR" sz="1000" b="1" i="0" u="none" strike="noStrike">
                          <a:solidFill>
                            <a:srgbClr val="000000"/>
                          </a:solidFill>
                          <a:effectLst/>
                          <a:latin typeface="Aptos Narrow" panose="020B0004020202020204" pitchFamily="34" charset="0"/>
                        </a:rPr>
                        <a:t>11,8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0DC8F"/>
                    </a:solidFill>
                  </a:tcPr>
                </a:tc>
                <a:tc>
                  <a:txBody>
                    <a:bodyPr/>
                    <a:lstStyle/>
                    <a:p>
                      <a:pPr algn="r" fontAlgn="b">
                        <a:buNone/>
                      </a:pPr>
                      <a:r>
                        <a:rPr lang="fr-FR" sz="1000" b="1" i="0" u="none" strike="noStrike">
                          <a:solidFill>
                            <a:srgbClr val="00B050"/>
                          </a:solidFill>
                          <a:effectLst/>
                          <a:latin typeface="Aptos Narrow" panose="020B0004020202020204" pitchFamily="34" charset="0"/>
                        </a:rPr>
                        <a:t>6,6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68529111"/>
                  </a:ext>
                </a:extLst>
              </a:tr>
              <a:tr h="169672">
                <a:tc>
                  <a:txBody>
                    <a:bodyPr/>
                    <a:lstStyle/>
                    <a:p>
                      <a:pPr algn="l" fontAlgn="b">
                        <a:buNone/>
                      </a:pPr>
                      <a:r>
                        <a:rPr lang="fr-FR" sz="1000" b="0" i="0" u="none" strike="noStrike">
                          <a:solidFill>
                            <a:srgbClr val="000000"/>
                          </a:solidFill>
                          <a:effectLst/>
                          <a:latin typeface="Aptos Narrow" panose="020B0004020202020204" pitchFamily="34" charset="0"/>
                        </a:rPr>
                        <a:t> Family with Children 5-11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18,1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CCB84"/>
                    </a:solidFill>
                  </a:tcPr>
                </a:tc>
                <a:tc>
                  <a:txBody>
                    <a:bodyPr/>
                    <a:lstStyle/>
                    <a:p>
                      <a:pPr algn="r" fontAlgn="b">
                        <a:buNone/>
                      </a:pPr>
                      <a:r>
                        <a:rPr lang="fr-FR" sz="1000" b="0" i="0" u="none" strike="noStrike">
                          <a:solidFill>
                            <a:srgbClr val="000000"/>
                          </a:solidFill>
                          <a:effectLst/>
                          <a:latin typeface="Aptos Narrow" panose="020B0004020202020204" pitchFamily="34" charset="0"/>
                        </a:rPr>
                        <a:t>11,9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0DB8F"/>
                    </a:solidFill>
                  </a:tcPr>
                </a:tc>
                <a:tc>
                  <a:txBody>
                    <a:bodyPr/>
                    <a:lstStyle/>
                    <a:p>
                      <a:pPr algn="r" fontAlgn="b">
                        <a:buNone/>
                      </a:pPr>
                      <a:r>
                        <a:rPr lang="fr-FR" sz="1000" b="0" i="0" u="none" strike="noStrike">
                          <a:solidFill>
                            <a:srgbClr val="00B050"/>
                          </a:solidFill>
                          <a:effectLst/>
                          <a:latin typeface="Aptos Narrow" panose="020B0004020202020204" pitchFamily="34" charset="0"/>
                        </a:rPr>
                        <a:t>6,2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22043477"/>
                  </a:ext>
                </a:extLst>
              </a:tr>
              <a:tr h="169672">
                <a:tc>
                  <a:txBody>
                    <a:bodyPr/>
                    <a:lstStyle/>
                    <a:p>
                      <a:pPr algn="l" fontAlgn="b">
                        <a:buNone/>
                      </a:pPr>
                      <a:r>
                        <a:rPr lang="fr-FR" sz="1000" b="0" i="0" u="none" strike="noStrike">
                          <a:solidFill>
                            <a:srgbClr val="000000"/>
                          </a:solidFill>
                          <a:effectLst/>
                          <a:latin typeface="Aptos Narrow" panose="020B0004020202020204" pitchFamily="34" charset="0"/>
                        </a:rPr>
                        <a:t> Young Adults 18-34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17,6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0CD85"/>
                    </a:solidFill>
                  </a:tcPr>
                </a:tc>
                <a:tc>
                  <a:txBody>
                    <a:bodyPr/>
                    <a:lstStyle/>
                    <a:p>
                      <a:pPr algn="r" fontAlgn="b">
                        <a:buNone/>
                      </a:pPr>
                      <a:r>
                        <a:rPr lang="fr-FR" sz="1000" b="0" i="0" u="none" strike="noStrike">
                          <a:solidFill>
                            <a:srgbClr val="000000"/>
                          </a:solidFill>
                          <a:effectLst/>
                          <a:latin typeface="Aptos Narrow" panose="020B0004020202020204" pitchFamily="34" charset="0"/>
                        </a:rPr>
                        <a:t>8,7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AE495"/>
                    </a:solidFill>
                  </a:tcPr>
                </a:tc>
                <a:tc>
                  <a:txBody>
                    <a:bodyPr/>
                    <a:lstStyle/>
                    <a:p>
                      <a:pPr algn="r" fontAlgn="b">
                        <a:buNone/>
                      </a:pPr>
                      <a:r>
                        <a:rPr lang="fr-FR" sz="1000" b="0" i="0" u="none" strike="noStrike">
                          <a:solidFill>
                            <a:srgbClr val="00B050"/>
                          </a:solidFill>
                          <a:effectLst/>
                          <a:latin typeface="Aptos Narrow" panose="020B0004020202020204" pitchFamily="34" charset="0"/>
                        </a:rPr>
                        <a:t>8,9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78414751"/>
                  </a:ext>
                </a:extLst>
              </a:tr>
              <a:tr h="169672">
                <a:tc>
                  <a:txBody>
                    <a:bodyPr/>
                    <a:lstStyle/>
                    <a:p>
                      <a:pPr algn="l" fontAlgn="b">
                        <a:buNone/>
                      </a:pPr>
                      <a:r>
                        <a:rPr lang="fr-FR" sz="1000" b="0" i="0" u="none" strike="noStrike">
                          <a:solidFill>
                            <a:srgbClr val="000000"/>
                          </a:solidFill>
                          <a:effectLst/>
                          <a:latin typeface="Aptos Narrow" panose="020B0004020202020204" pitchFamily="34" charset="0"/>
                        </a:rPr>
                        <a:t> Family with Children 12-17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15,1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5D389"/>
                    </a:solidFill>
                  </a:tcPr>
                </a:tc>
                <a:tc>
                  <a:txBody>
                    <a:bodyPr/>
                    <a:lstStyle/>
                    <a:p>
                      <a:pPr algn="r" fontAlgn="b">
                        <a:buNone/>
                      </a:pPr>
                      <a:r>
                        <a:rPr lang="fr-FR" sz="1000" b="0" i="0" u="none" strike="noStrike">
                          <a:solidFill>
                            <a:srgbClr val="000000"/>
                          </a:solidFill>
                          <a:effectLst/>
                          <a:latin typeface="Aptos Narrow" panose="020B0004020202020204" pitchFamily="34" charset="0"/>
                        </a:rPr>
                        <a:t>9,4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4E293"/>
                    </a:solidFill>
                  </a:tcPr>
                </a:tc>
                <a:tc>
                  <a:txBody>
                    <a:bodyPr/>
                    <a:lstStyle/>
                    <a:p>
                      <a:pPr algn="r" fontAlgn="b">
                        <a:buNone/>
                      </a:pPr>
                      <a:r>
                        <a:rPr lang="fr-FR" sz="1000" b="0" i="0" u="none" strike="noStrike">
                          <a:solidFill>
                            <a:srgbClr val="00B050"/>
                          </a:solidFill>
                          <a:effectLst/>
                          <a:latin typeface="Aptos Narrow" panose="020B0004020202020204" pitchFamily="34" charset="0"/>
                        </a:rPr>
                        <a:t>5,7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67438109"/>
                  </a:ext>
                </a:extLst>
              </a:tr>
              <a:tr h="169672">
                <a:tc>
                  <a:txBody>
                    <a:bodyPr/>
                    <a:lstStyle/>
                    <a:p>
                      <a:pPr algn="l" fontAlgn="b">
                        <a:buNone/>
                      </a:pPr>
                      <a:r>
                        <a:rPr lang="fr-FR" sz="1000" b="0" i="0" u="none" strike="noStrike">
                          <a:solidFill>
                            <a:srgbClr val="000000"/>
                          </a:solidFill>
                          <a:effectLst/>
                          <a:latin typeface="Aptos Narrow" panose="020B0004020202020204" pitchFamily="34" charset="0"/>
                        </a:rPr>
                        <a:t> Family with Children 0-2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12,8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8D98D"/>
                    </a:solidFill>
                  </a:tcPr>
                </a:tc>
                <a:tc>
                  <a:txBody>
                    <a:bodyPr/>
                    <a:lstStyle/>
                    <a:p>
                      <a:pPr algn="r" fontAlgn="b">
                        <a:buNone/>
                      </a:pPr>
                      <a:r>
                        <a:rPr lang="fr-FR" sz="1000" b="0" i="0" u="none" strike="noStrike">
                          <a:solidFill>
                            <a:srgbClr val="000000"/>
                          </a:solidFill>
                          <a:effectLst/>
                          <a:latin typeface="Aptos Narrow" panose="020B0004020202020204" pitchFamily="34" charset="0"/>
                        </a:rPr>
                        <a:t>4,2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F9C"/>
                    </a:solidFill>
                  </a:tcPr>
                </a:tc>
                <a:tc>
                  <a:txBody>
                    <a:bodyPr/>
                    <a:lstStyle/>
                    <a:p>
                      <a:pPr algn="r" fontAlgn="b">
                        <a:buNone/>
                      </a:pPr>
                      <a:r>
                        <a:rPr lang="fr-FR" sz="1000" b="0" i="0" u="none" strike="noStrike">
                          <a:solidFill>
                            <a:srgbClr val="00B050"/>
                          </a:solidFill>
                          <a:effectLst/>
                          <a:latin typeface="Aptos Narrow" panose="020B0004020202020204" pitchFamily="34" charset="0"/>
                        </a:rPr>
                        <a:t>8,6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40057816"/>
                  </a:ext>
                </a:extLst>
              </a:tr>
            </a:tbl>
          </a:graphicData>
        </a:graphic>
      </p:graphicFrame>
      <p:graphicFrame>
        <p:nvGraphicFramePr>
          <p:cNvPr id="13" name="Table 12">
            <a:extLst>
              <a:ext uri="{FF2B5EF4-FFF2-40B4-BE49-F238E27FC236}">
                <a16:creationId xmlns:a16="http://schemas.microsoft.com/office/drawing/2014/main" id="{25515A2A-1D1E-85AF-7C85-D64184880D5F}"/>
              </a:ext>
            </a:extLst>
          </p:cNvPr>
          <p:cNvGraphicFramePr>
            <a:graphicFrameLocks noGrp="1"/>
          </p:cNvGraphicFramePr>
          <p:nvPr/>
        </p:nvGraphicFramePr>
        <p:xfrm>
          <a:off x="269440" y="2861744"/>
          <a:ext cx="2074292" cy="2779360"/>
        </p:xfrm>
        <a:graphic>
          <a:graphicData uri="http://schemas.openxmlformats.org/drawingml/2006/table">
            <a:tbl>
              <a:tblPr/>
              <a:tblGrid>
                <a:gridCol w="1246562">
                  <a:extLst>
                    <a:ext uri="{9D8B030D-6E8A-4147-A177-3AD203B41FA5}">
                      <a16:colId xmlns:a16="http://schemas.microsoft.com/office/drawing/2014/main" val="1243858661"/>
                    </a:ext>
                  </a:extLst>
                </a:gridCol>
                <a:gridCol w="275910">
                  <a:extLst>
                    <a:ext uri="{9D8B030D-6E8A-4147-A177-3AD203B41FA5}">
                      <a16:colId xmlns:a16="http://schemas.microsoft.com/office/drawing/2014/main" val="1661842245"/>
                    </a:ext>
                  </a:extLst>
                </a:gridCol>
                <a:gridCol w="275910">
                  <a:extLst>
                    <a:ext uri="{9D8B030D-6E8A-4147-A177-3AD203B41FA5}">
                      <a16:colId xmlns:a16="http://schemas.microsoft.com/office/drawing/2014/main" val="3001778771"/>
                    </a:ext>
                  </a:extLst>
                </a:gridCol>
                <a:gridCol w="275910">
                  <a:extLst>
                    <a:ext uri="{9D8B030D-6E8A-4147-A177-3AD203B41FA5}">
                      <a16:colId xmlns:a16="http://schemas.microsoft.com/office/drawing/2014/main" val="2114887772"/>
                    </a:ext>
                  </a:extLst>
                </a:gridCol>
              </a:tblGrid>
              <a:tr h="86115">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09102955"/>
                  </a:ext>
                </a:extLst>
              </a:tr>
              <a:tr h="86115">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18,4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7E483"/>
                    </a:solidFill>
                  </a:tcPr>
                </a:tc>
                <a:tc>
                  <a:txBody>
                    <a:bodyPr/>
                    <a:lstStyle/>
                    <a:p>
                      <a:pPr algn="r" fontAlgn="b">
                        <a:buNone/>
                      </a:pPr>
                      <a:r>
                        <a:rPr lang="fr-FR" sz="900" b="0" i="0" u="none" strike="noStrike">
                          <a:solidFill>
                            <a:srgbClr val="000000"/>
                          </a:solidFill>
                          <a:effectLst/>
                          <a:latin typeface="Aptos Narrow" panose="020B0004020202020204" pitchFamily="34" charset="0"/>
                        </a:rPr>
                        <a:t>11,8</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082"/>
                    </a:solidFill>
                  </a:tcPr>
                </a:tc>
                <a:tc>
                  <a:txBody>
                    <a:bodyPr/>
                    <a:lstStyle/>
                    <a:p>
                      <a:pPr algn="r" fontAlgn="b">
                        <a:buNone/>
                      </a:pPr>
                      <a:r>
                        <a:rPr lang="fr-FR" sz="900" b="0" i="0" u="none" strike="noStrike">
                          <a:solidFill>
                            <a:srgbClr val="00B050"/>
                          </a:solidFill>
                          <a:effectLst/>
                          <a:latin typeface="Aptos Narrow" panose="020B0004020202020204" pitchFamily="34" charset="0"/>
                        </a:rPr>
                        <a:t>6,6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62784564"/>
                  </a:ext>
                </a:extLst>
              </a:tr>
              <a:tr h="86115">
                <a:tc>
                  <a:txBody>
                    <a:bodyPr/>
                    <a:lstStyle/>
                    <a:p>
                      <a:pPr algn="l" fontAlgn="b">
                        <a:buNone/>
                      </a:pPr>
                      <a:r>
                        <a:rPr lang="fr-FR" sz="900" b="1" i="0" u="none" strike="noStrike">
                          <a:solidFill>
                            <a:srgbClr val="000000"/>
                          </a:solidFill>
                          <a:effectLst/>
                          <a:latin typeface="Aptos Narrow" panose="020B0004020202020204" pitchFamily="34" charset="0"/>
                        </a:rPr>
                        <a:t>De Eemhof</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13,5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683"/>
                    </a:solidFill>
                  </a:tcPr>
                </a:tc>
                <a:tc>
                  <a:txBody>
                    <a:bodyPr/>
                    <a:lstStyle/>
                    <a:p>
                      <a:pPr algn="r" fontAlgn="b">
                        <a:buNone/>
                      </a:pPr>
                      <a:r>
                        <a:rPr lang="fr-FR" sz="900" b="1" i="0" u="none" strike="noStrike">
                          <a:solidFill>
                            <a:srgbClr val="000000"/>
                          </a:solidFill>
                          <a:effectLst/>
                          <a:latin typeface="Aptos Narrow" panose="020B0004020202020204" pitchFamily="34" charset="0"/>
                        </a:rPr>
                        <a:t>7,2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07E"/>
                    </a:solidFill>
                  </a:tcPr>
                </a:tc>
                <a:tc>
                  <a:txBody>
                    <a:bodyPr/>
                    <a:lstStyle/>
                    <a:p>
                      <a:pPr algn="r" fontAlgn="b">
                        <a:buNone/>
                      </a:pPr>
                      <a:r>
                        <a:rPr lang="fr-FR" sz="900" b="1" i="0" u="none" strike="noStrike">
                          <a:solidFill>
                            <a:srgbClr val="00B050"/>
                          </a:solidFill>
                          <a:effectLst/>
                          <a:latin typeface="Aptos Narrow" panose="020B0004020202020204" pitchFamily="34" charset="0"/>
                        </a:rPr>
                        <a:t>6,3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35425225"/>
                  </a:ext>
                </a:extLst>
              </a:tr>
              <a:tr h="86115">
                <a:tc>
                  <a:txBody>
                    <a:bodyPr/>
                    <a:lstStyle/>
                    <a:p>
                      <a:pPr algn="l" fontAlgn="b">
                        <a:buNone/>
                      </a:pPr>
                      <a:r>
                        <a:rPr lang="fr-FR" sz="900" b="0" i="0" u="none" strike="noStrike">
                          <a:solidFill>
                            <a:srgbClr val="000000"/>
                          </a:solidFill>
                          <a:effectLst/>
                          <a:latin typeface="Aptos Narrow" panose="020B0004020202020204" pitchFamily="34" charset="0"/>
                        </a:rPr>
                        <a:t> Adults 35-54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12,9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482"/>
                    </a:solidFill>
                  </a:tcPr>
                </a:tc>
                <a:tc>
                  <a:txBody>
                    <a:bodyPr/>
                    <a:lstStyle/>
                    <a:p>
                      <a:pPr algn="r" fontAlgn="b">
                        <a:buNone/>
                      </a:pPr>
                      <a:r>
                        <a:rPr lang="fr-FR" sz="900" b="0" i="0" u="none" strike="noStrike">
                          <a:solidFill>
                            <a:srgbClr val="000000"/>
                          </a:solidFill>
                          <a:effectLst/>
                          <a:latin typeface="Aptos Narrow" panose="020B0004020202020204" pitchFamily="34" charset="0"/>
                        </a:rPr>
                        <a:t>5,6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B7D"/>
                    </a:solidFill>
                  </a:tcPr>
                </a:tc>
                <a:tc>
                  <a:txBody>
                    <a:bodyPr/>
                    <a:lstStyle/>
                    <a:p>
                      <a:pPr algn="r" fontAlgn="b">
                        <a:buNone/>
                      </a:pPr>
                      <a:r>
                        <a:rPr lang="fr-FR" sz="900" b="0" i="0" u="none" strike="noStrike">
                          <a:solidFill>
                            <a:srgbClr val="00B050"/>
                          </a:solidFill>
                          <a:effectLst/>
                          <a:latin typeface="Aptos Narrow" panose="020B0004020202020204" pitchFamily="34" charset="0"/>
                        </a:rPr>
                        <a:t>7,3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81461431"/>
                  </a:ext>
                </a:extLst>
              </a:tr>
              <a:tr h="86115">
                <a:tc>
                  <a:txBody>
                    <a:bodyPr/>
                    <a:lstStyle/>
                    <a:p>
                      <a:pPr algn="l" fontAlgn="b">
                        <a:buNone/>
                      </a:pPr>
                      <a:r>
                        <a:rPr lang="fr-FR" sz="900" b="0" i="0" u="none" strike="noStrike">
                          <a:solidFill>
                            <a:srgbClr val="000000"/>
                          </a:solidFill>
                          <a:effectLst/>
                          <a:latin typeface="Aptos Narrow" panose="020B0004020202020204" pitchFamily="34" charset="0"/>
                        </a:rPr>
                        <a:t> Family with Children 0-2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8,4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57F"/>
                    </a:solidFill>
                  </a:tcPr>
                </a:tc>
                <a:tc>
                  <a:txBody>
                    <a:bodyPr/>
                    <a:lstStyle/>
                    <a:p>
                      <a:pPr algn="r" fontAlgn="b">
                        <a:buNone/>
                      </a:pPr>
                      <a:r>
                        <a:rPr lang="fr-FR" sz="900" b="0" i="0" u="none" strike="noStrike">
                          <a:solidFill>
                            <a:srgbClr val="000000"/>
                          </a:solidFill>
                          <a:effectLst/>
                          <a:latin typeface="Aptos Narrow" panose="020B0004020202020204" pitchFamily="34" charset="0"/>
                        </a:rPr>
                        <a:t>-6,6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175"/>
                    </a:solidFill>
                  </a:tcPr>
                </a:tc>
                <a:tc>
                  <a:txBody>
                    <a:bodyPr/>
                    <a:lstStyle/>
                    <a:p>
                      <a:pPr algn="r" fontAlgn="b">
                        <a:buNone/>
                      </a:pPr>
                      <a:r>
                        <a:rPr lang="fr-FR" sz="900" b="0" i="0" u="none" strike="noStrike">
                          <a:solidFill>
                            <a:srgbClr val="00B050"/>
                          </a:solidFill>
                          <a:effectLst/>
                          <a:latin typeface="Aptos Narrow" panose="020B0004020202020204" pitchFamily="34" charset="0"/>
                        </a:rPr>
                        <a:t>15,0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6169859"/>
                  </a:ext>
                </a:extLst>
              </a:tr>
              <a:tr h="86115">
                <a:tc>
                  <a:txBody>
                    <a:bodyPr/>
                    <a:lstStyle/>
                    <a:p>
                      <a:pPr algn="l" fontAlgn="b">
                        <a:buNone/>
                      </a:pPr>
                      <a:r>
                        <a:rPr lang="fr-FR" sz="900" b="0" i="0" u="none" strike="noStrike">
                          <a:solidFill>
                            <a:srgbClr val="000000"/>
                          </a:solidFill>
                          <a:effectLst/>
                          <a:latin typeface="Aptos Narrow" panose="020B0004020202020204" pitchFamily="34" charset="0"/>
                        </a:rPr>
                        <a:t> Family with Children 12-17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13,5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683"/>
                    </a:solidFill>
                  </a:tcPr>
                </a:tc>
                <a:tc>
                  <a:txBody>
                    <a:bodyPr/>
                    <a:lstStyle/>
                    <a:p>
                      <a:pPr algn="r" fontAlgn="b">
                        <a:buNone/>
                      </a:pPr>
                      <a:r>
                        <a:rPr lang="fr-FR" sz="900" b="0" i="0" u="none" strike="noStrike">
                          <a:solidFill>
                            <a:srgbClr val="000000"/>
                          </a:solidFill>
                          <a:effectLst/>
                          <a:latin typeface="Aptos Narrow" panose="020B0004020202020204" pitchFamily="34" charset="0"/>
                        </a:rPr>
                        <a:t>7,4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17F"/>
                    </a:solidFill>
                  </a:tcPr>
                </a:tc>
                <a:tc>
                  <a:txBody>
                    <a:bodyPr/>
                    <a:lstStyle/>
                    <a:p>
                      <a:pPr algn="r" fontAlgn="b">
                        <a:buNone/>
                      </a:pPr>
                      <a:r>
                        <a:rPr lang="fr-FR" sz="900" b="0" i="0" u="none" strike="noStrike">
                          <a:solidFill>
                            <a:srgbClr val="00B050"/>
                          </a:solidFill>
                          <a:effectLst/>
                          <a:latin typeface="Aptos Narrow" panose="020B0004020202020204" pitchFamily="34" charset="0"/>
                        </a:rPr>
                        <a:t>6,0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98127214"/>
                  </a:ext>
                </a:extLst>
              </a:tr>
              <a:tr h="86115">
                <a:tc>
                  <a:txBody>
                    <a:bodyPr/>
                    <a:lstStyle/>
                    <a:p>
                      <a:pPr algn="l" fontAlgn="b">
                        <a:buNone/>
                      </a:pPr>
                      <a:r>
                        <a:rPr lang="fr-FR" sz="900" b="0" i="0" u="none" strike="noStrike">
                          <a:solidFill>
                            <a:srgbClr val="000000"/>
                          </a:solidFill>
                          <a:effectLst/>
                          <a:latin typeface="Aptos Narrow" panose="020B0004020202020204" pitchFamily="34" charset="0"/>
                        </a:rPr>
                        <a:t> Family with Children 3-4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12,0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182"/>
                    </a:solidFill>
                  </a:tcPr>
                </a:tc>
                <a:tc>
                  <a:txBody>
                    <a:bodyPr/>
                    <a:lstStyle/>
                    <a:p>
                      <a:pPr algn="r" fontAlgn="b">
                        <a:buNone/>
                      </a:pPr>
                      <a:r>
                        <a:rPr lang="fr-FR" sz="900" b="0" i="0" u="none" strike="noStrike">
                          <a:solidFill>
                            <a:srgbClr val="000000"/>
                          </a:solidFill>
                          <a:effectLst/>
                          <a:latin typeface="Aptos Narrow" panose="020B0004020202020204" pitchFamily="34" charset="0"/>
                        </a:rPr>
                        <a:t>2,2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F7B"/>
                    </a:solidFill>
                  </a:tcPr>
                </a:tc>
                <a:tc>
                  <a:txBody>
                    <a:bodyPr/>
                    <a:lstStyle/>
                    <a:p>
                      <a:pPr algn="r" fontAlgn="b">
                        <a:buNone/>
                      </a:pPr>
                      <a:r>
                        <a:rPr lang="fr-FR" sz="900" b="0" i="0" u="none" strike="noStrike">
                          <a:solidFill>
                            <a:srgbClr val="00B050"/>
                          </a:solidFill>
                          <a:effectLst/>
                          <a:latin typeface="Aptos Narrow" panose="020B0004020202020204" pitchFamily="34" charset="0"/>
                        </a:rPr>
                        <a:t>9,8</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05688821"/>
                  </a:ext>
                </a:extLst>
              </a:tr>
              <a:tr h="86115">
                <a:tc>
                  <a:txBody>
                    <a:bodyPr/>
                    <a:lstStyle/>
                    <a:p>
                      <a:pPr algn="l" fontAlgn="b">
                        <a:buNone/>
                      </a:pPr>
                      <a:r>
                        <a:rPr lang="fr-FR" sz="900" b="0" i="0" u="none" strike="noStrike">
                          <a:solidFill>
                            <a:srgbClr val="000000"/>
                          </a:solidFill>
                          <a:effectLst/>
                          <a:latin typeface="Aptos Narrow" panose="020B0004020202020204" pitchFamily="34" charset="0"/>
                        </a:rPr>
                        <a:t> Family with Children 5-11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12,7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382"/>
                    </a:solidFill>
                  </a:tcPr>
                </a:tc>
                <a:tc>
                  <a:txBody>
                    <a:bodyPr/>
                    <a:lstStyle/>
                    <a:p>
                      <a:pPr algn="r" fontAlgn="b">
                        <a:buNone/>
                      </a:pPr>
                      <a:r>
                        <a:rPr lang="fr-FR" sz="900" b="0" i="0" u="none" strike="noStrike">
                          <a:solidFill>
                            <a:srgbClr val="000000"/>
                          </a:solidFill>
                          <a:effectLst/>
                          <a:latin typeface="Aptos Narrow" panose="020B0004020202020204" pitchFamily="34" charset="0"/>
                        </a:rPr>
                        <a:t>8,9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680"/>
                    </a:solidFill>
                  </a:tcPr>
                </a:tc>
                <a:tc>
                  <a:txBody>
                    <a:bodyPr/>
                    <a:lstStyle/>
                    <a:p>
                      <a:pPr algn="r" fontAlgn="b">
                        <a:buNone/>
                      </a:pPr>
                      <a:r>
                        <a:rPr lang="fr-FR" sz="900" b="0" i="0" u="none" strike="noStrike">
                          <a:solidFill>
                            <a:srgbClr val="00B050"/>
                          </a:solidFill>
                          <a:effectLst/>
                          <a:latin typeface="Aptos Narrow" panose="020B0004020202020204" pitchFamily="34" charset="0"/>
                        </a:rPr>
                        <a:t>3,8</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17598542"/>
                  </a:ext>
                </a:extLst>
              </a:tr>
              <a:tr h="86115">
                <a:tc>
                  <a:txBody>
                    <a:bodyPr/>
                    <a:lstStyle/>
                    <a:p>
                      <a:pPr algn="l" fontAlgn="b">
                        <a:buNone/>
                      </a:pPr>
                      <a:r>
                        <a:rPr lang="fr-FR" sz="900" b="0" i="0" u="none" strike="noStrike">
                          <a:solidFill>
                            <a:srgbClr val="000000"/>
                          </a:solidFill>
                          <a:effectLst/>
                          <a:latin typeface="Aptos Narrow" panose="020B0004020202020204" pitchFamily="34" charset="0"/>
                        </a:rPr>
                        <a:t> Seniors active 55-74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17,4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DE683"/>
                    </a:solidFill>
                  </a:tcPr>
                </a:tc>
                <a:tc>
                  <a:txBody>
                    <a:bodyPr/>
                    <a:lstStyle/>
                    <a:p>
                      <a:pPr algn="r" fontAlgn="b">
                        <a:buNone/>
                      </a:pPr>
                      <a:r>
                        <a:rPr lang="fr-FR" sz="900" b="0" i="0" u="none" strike="noStrike">
                          <a:solidFill>
                            <a:srgbClr val="000000"/>
                          </a:solidFill>
                          <a:effectLst/>
                          <a:latin typeface="Aptos Narrow" panose="020B0004020202020204" pitchFamily="34" charset="0"/>
                        </a:rPr>
                        <a:t>11,1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E81"/>
                    </a:solidFill>
                  </a:tcPr>
                </a:tc>
                <a:tc>
                  <a:txBody>
                    <a:bodyPr/>
                    <a:lstStyle/>
                    <a:p>
                      <a:pPr algn="r" fontAlgn="b">
                        <a:buNone/>
                      </a:pPr>
                      <a:r>
                        <a:rPr lang="fr-FR" sz="900" b="0" i="0" u="none" strike="noStrike">
                          <a:solidFill>
                            <a:srgbClr val="00B050"/>
                          </a:solidFill>
                          <a:effectLst/>
                          <a:latin typeface="Aptos Narrow" panose="020B0004020202020204" pitchFamily="34" charset="0"/>
                        </a:rPr>
                        <a:t>6,4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41669769"/>
                  </a:ext>
                </a:extLst>
              </a:tr>
              <a:tr h="86115">
                <a:tc>
                  <a:txBody>
                    <a:bodyPr/>
                    <a:lstStyle/>
                    <a:p>
                      <a:pPr algn="l" fontAlgn="b">
                        <a:buNone/>
                      </a:pPr>
                      <a:r>
                        <a:rPr lang="fr-FR" sz="900" b="0" i="0" u="none" strike="noStrike">
                          <a:solidFill>
                            <a:srgbClr val="000000"/>
                          </a:solidFill>
                          <a:effectLst/>
                          <a:latin typeface="Aptos Narrow" panose="020B0004020202020204" pitchFamily="34" charset="0"/>
                        </a:rPr>
                        <a:t> Seniors&gt;75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10,2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B80"/>
                    </a:solidFill>
                  </a:tcPr>
                </a:tc>
                <a:tc>
                  <a:txBody>
                    <a:bodyPr/>
                    <a:lstStyle/>
                    <a:p>
                      <a:pPr algn="r" fontAlgn="b">
                        <a:buNone/>
                      </a:pPr>
                      <a:r>
                        <a:rPr lang="fr-FR" sz="900" b="0" i="0" u="none" strike="noStrike">
                          <a:solidFill>
                            <a:srgbClr val="000000"/>
                          </a:solidFill>
                          <a:effectLst/>
                          <a:latin typeface="Aptos Narrow" panose="020B0004020202020204" pitchFamily="34" charset="0"/>
                        </a:rPr>
                        <a:t>9,4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880"/>
                    </a:solidFill>
                  </a:tcPr>
                </a:tc>
                <a:tc>
                  <a:txBody>
                    <a:bodyPr/>
                    <a:lstStyle/>
                    <a:p>
                      <a:pPr algn="r" fontAlgn="b">
                        <a:buNone/>
                      </a:pPr>
                      <a:r>
                        <a:rPr lang="fr-FR" sz="900" b="0" i="0" u="none" strike="noStrike">
                          <a:solidFill>
                            <a:srgbClr val="00B050"/>
                          </a:solidFill>
                          <a:effectLst/>
                          <a:latin typeface="Aptos Narrow" panose="020B0004020202020204" pitchFamily="34" charset="0"/>
                        </a:rPr>
                        <a:t>0,8</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2805417"/>
                  </a:ext>
                </a:extLst>
              </a:tr>
              <a:tr h="86115">
                <a:tc>
                  <a:txBody>
                    <a:bodyPr/>
                    <a:lstStyle/>
                    <a:p>
                      <a:pPr algn="l" fontAlgn="b">
                        <a:buNone/>
                      </a:pPr>
                      <a:r>
                        <a:rPr lang="fr-FR" sz="900" b="0" i="0" u="none" strike="noStrike">
                          <a:solidFill>
                            <a:srgbClr val="000000"/>
                          </a:solidFill>
                          <a:effectLst/>
                          <a:latin typeface="Aptos Narrow" panose="020B0004020202020204" pitchFamily="34" charset="0"/>
                        </a:rPr>
                        <a:t> Young Adults 18-34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12,0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182"/>
                    </a:solidFill>
                  </a:tcPr>
                </a:tc>
                <a:tc>
                  <a:txBody>
                    <a:bodyPr/>
                    <a:lstStyle/>
                    <a:p>
                      <a:pPr algn="r" fontAlgn="b">
                        <a:buNone/>
                      </a:pPr>
                      <a:r>
                        <a:rPr lang="fr-FR" sz="900" b="0" i="0" u="none" strike="noStrike">
                          <a:solidFill>
                            <a:srgbClr val="000000"/>
                          </a:solidFill>
                          <a:effectLst/>
                          <a:latin typeface="Aptos Narrow" panose="020B0004020202020204" pitchFamily="34" charset="0"/>
                        </a:rPr>
                        <a:t>7,8</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27F"/>
                    </a:solidFill>
                  </a:tcPr>
                </a:tc>
                <a:tc>
                  <a:txBody>
                    <a:bodyPr/>
                    <a:lstStyle/>
                    <a:p>
                      <a:pPr algn="r" fontAlgn="b">
                        <a:buNone/>
                      </a:pPr>
                      <a:r>
                        <a:rPr lang="fr-FR" sz="900" b="0" i="0" u="none" strike="noStrike">
                          <a:solidFill>
                            <a:srgbClr val="00B050"/>
                          </a:solidFill>
                          <a:effectLst/>
                          <a:latin typeface="Aptos Narrow" panose="020B0004020202020204" pitchFamily="34" charset="0"/>
                        </a:rPr>
                        <a:t>4,2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79882170"/>
                  </a:ext>
                </a:extLst>
              </a:tr>
              <a:tr h="86115">
                <a:tc>
                  <a:txBody>
                    <a:bodyPr/>
                    <a:lstStyle/>
                    <a:p>
                      <a:pPr algn="l" fontAlgn="b">
                        <a:buNone/>
                      </a:pPr>
                      <a:r>
                        <a:rPr lang="fr-FR" sz="900" b="1" i="0" u="none" strike="noStrike">
                          <a:solidFill>
                            <a:srgbClr val="000000"/>
                          </a:solidFill>
                          <a:effectLst/>
                          <a:latin typeface="Aptos Narrow" panose="020B0004020202020204" pitchFamily="34" charset="0"/>
                        </a:rPr>
                        <a:t>De Huttenheugte</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19,9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CE182"/>
                    </a:solidFill>
                  </a:tcPr>
                </a:tc>
                <a:tc>
                  <a:txBody>
                    <a:bodyPr/>
                    <a:lstStyle/>
                    <a:p>
                      <a:pPr algn="r" fontAlgn="b">
                        <a:buNone/>
                      </a:pPr>
                      <a:r>
                        <a:rPr lang="fr-FR" sz="900" b="1" i="0" u="none" strike="noStrike">
                          <a:solidFill>
                            <a:srgbClr val="000000"/>
                          </a:solidFill>
                          <a:effectLst/>
                          <a:latin typeface="Aptos Narrow" panose="020B0004020202020204" pitchFamily="34" charset="0"/>
                        </a:rPr>
                        <a:t>15,1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EB84"/>
                    </a:solidFill>
                  </a:tcPr>
                </a:tc>
                <a:tc>
                  <a:txBody>
                    <a:bodyPr/>
                    <a:lstStyle/>
                    <a:p>
                      <a:pPr algn="r" fontAlgn="b">
                        <a:buNone/>
                      </a:pPr>
                      <a:r>
                        <a:rPr lang="fr-FR" sz="900" b="1" i="0" u="none" strike="noStrike">
                          <a:solidFill>
                            <a:srgbClr val="00B050"/>
                          </a:solidFill>
                          <a:effectLst/>
                          <a:latin typeface="Aptos Narrow" panose="020B0004020202020204" pitchFamily="34" charset="0"/>
                        </a:rPr>
                        <a:t>4,8</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04660950"/>
                  </a:ext>
                </a:extLst>
              </a:tr>
              <a:tr h="86115">
                <a:tc>
                  <a:txBody>
                    <a:bodyPr/>
                    <a:lstStyle/>
                    <a:p>
                      <a:pPr algn="l" fontAlgn="b">
                        <a:buNone/>
                      </a:pPr>
                      <a:r>
                        <a:rPr lang="fr-FR" sz="900" b="0" i="0" u="none" strike="noStrike">
                          <a:solidFill>
                            <a:srgbClr val="000000"/>
                          </a:solidFill>
                          <a:effectLst/>
                          <a:latin typeface="Aptos Narrow" panose="020B0004020202020204" pitchFamily="34" charset="0"/>
                        </a:rPr>
                        <a:t> Adults 35-54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17,3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EE683"/>
                    </a:solidFill>
                  </a:tcPr>
                </a:tc>
                <a:tc>
                  <a:txBody>
                    <a:bodyPr/>
                    <a:lstStyle/>
                    <a:p>
                      <a:pPr algn="r" fontAlgn="b">
                        <a:buNone/>
                      </a:pPr>
                      <a:r>
                        <a:rPr lang="fr-FR" sz="900" b="0" i="0" u="none" strike="noStrike">
                          <a:solidFill>
                            <a:srgbClr val="000000"/>
                          </a:solidFill>
                          <a:effectLst/>
                          <a:latin typeface="Aptos Narrow" panose="020B0004020202020204" pitchFamily="34" charset="0"/>
                        </a:rPr>
                        <a:t>8,0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37F"/>
                    </a:solidFill>
                  </a:tcPr>
                </a:tc>
                <a:tc>
                  <a:txBody>
                    <a:bodyPr/>
                    <a:lstStyle/>
                    <a:p>
                      <a:pPr algn="r" fontAlgn="b">
                        <a:buNone/>
                      </a:pPr>
                      <a:r>
                        <a:rPr lang="fr-FR" sz="900" b="0" i="0" u="none" strike="noStrike">
                          <a:solidFill>
                            <a:srgbClr val="00B050"/>
                          </a:solidFill>
                          <a:effectLst/>
                          <a:latin typeface="Aptos Narrow" panose="020B0004020202020204" pitchFamily="34" charset="0"/>
                        </a:rPr>
                        <a:t>9,3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89343108"/>
                  </a:ext>
                </a:extLst>
              </a:tr>
              <a:tr h="86115">
                <a:tc>
                  <a:txBody>
                    <a:bodyPr/>
                    <a:lstStyle/>
                    <a:p>
                      <a:pPr algn="l" fontAlgn="b">
                        <a:buNone/>
                      </a:pPr>
                      <a:r>
                        <a:rPr lang="fr-FR" sz="900" b="0" i="0" u="none" strike="noStrike">
                          <a:solidFill>
                            <a:srgbClr val="000000"/>
                          </a:solidFill>
                          <a:effectLst/>
                          <a:latin typeface="Aptos Narrow" panose="020B0004020202020204" pitchFamily="34" charset="0"/>
                        </a:rPr>
                        <a:t> Family with Children 0-2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17,1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0E784"/>
                    </a:solidFill>
                  </a:tcPr>
                </a:tc>
                <a:tc>
                  <a:txBody>
                    <a:bodyPr/>
                    <a:lstStyle/>
                    <a:p>
                      <a:pPr algn="r" fontAlgn="b">
                        <a:buNone/>
                      </a:pPr>
                      <a:r>
                        <a:rPr lang="fr-FR" sz="900" b="0" i="0" u="none" strike="noStrike">
                          <a:solidFill>
                            <a:srgbClr val="000000"/>
                          </a:solidFill>
                          <a:effectLst/>
                          <a:latin typeface="Aptos Narrow" panose="020B0004020202020204" pitchFamily="34" charset="0"/>
                        </a:rPr>
                        <a:t>12,8</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482"/>
                    </a:solidFill>
                  </a:tcPr>
                </a:tc>
                <a:tc>
                  <a:txBody>
                    <a:bodyPr/>
                    <a:lstStyle/>
                    <a:p>
                      <a:pPr algn="r" fontAlgn="b">
                        <a:buNone/>
                      </a:pPr>
                      <a:r>
                        <a:rPr lang="fr-FR" sz="900" b="0" i="0" u="none" strike="noStrike">
                          <a:solidFill>
                            <a:srgbClr val="00B050"/>
                          </a:solidFill>
                          <a:effectLst/>
                          <a:latin typeface="Aptos Narrow" panose="020B0004020202020204" pitchFamily="34" charset="0"/>
                        </a:rPr>
                        <a:t>4,3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23394848"/>
                  </a:ext>
                </a:extLst>
              </a:tr>
              <a:tr h="86115">
                <a:tc>
                  <a:txBody>
                    <a:bodyPr/>
                    <a:lstStyle/>
                    <a:p>
                      <a:pPr algn="l" fontAlgn="b">
                        <a:buNone/>
                      </a:pPr>
                      <a:r>
                        <a:rPr lang="fr-FR" sz="900" b="0" i="0" u="none" strike="noStrike">
                          <a:solidFill>
                            <a:srgbClr val="000000"/>
                          </a:solidFill>
                          <a:effectLst/>
                          <a:latin typeface="Aptos Narrow" panose="020B0004020202020204" pitchFamily="34" charset="0"/>
                        </a:rPr>
                        <a:t> Family with Children 12-17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16,3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5E884"/>
                    </a:solidFill>
                  </a:tcPr>
                </a:tc>
                <a:tc>
                  <a:txBody>
                    <a:bodyPr/>
                    <a:lstStyle/>
                    <a:p>
                      <a:pPr algn="r" fontAlgn="b">
                        <a:buNone/>
                      </a:pPr>
                      <a:r>
                        <a:rPr lang="fr-FR" sz="900" b="0" i="0" u="none" strike="noStrike">
                          <a:solidFill>
                            <a:srgbClr val="000000"/>
                          </a:solidFill>
                          <a:effectLst/>
                          <a:latin typeface="Aptos Narrow" panose="020B0004020202020204" pitchFamily="34" charset="0"/>
                        </a:rPr>
                        <a:t>15,1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EB84"/>
                    </a:solidFill>
                  </a:tcPr>
                </a:tc>
                <a:tc>
                  <a:txBody>
                    <a:bodyPr/>
                    <a:lstStyle/>
                    <a:p>
                      <a:pPr algn="r" fontAlgn="b">
                        <a:buNone/>
                      </a:pPr>
                      <a:r>
                        <a:rPr lang="fr-FR" sz="900" b="0" i="0" u="none" strike="noStrike">
                          <a:solidFill>
                            <a:srgbClr val="00B050"/>
                          </a:solidFill>
                          <a:effectLst/>
                          <a:latin typeface="Aptos Narrow" panose="020B0004020202020204" pitchFamily="34" charset="0"/>
                        </a:rPr>
                        <a:t>1,2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04251172"/>
                  </a:ext>
                </a:extLst>
              </a:tr>
              <a:tr h="86115">
                <a:tc>
                  <a:txBody>
                    <a:bodyPr/>
                    <a:lstStyle/>
                    <a:p>
                      <a:pPr algn="l" fontAlgn="b">
                        <a:buNone/>
                      </a:pPr>
                      <a:r>
                        <a:rPr lang="fr-FR" sz="900" b="0" i="0" u="none" strike="noStrike">
                          <a:solidFill>
                            <a:srgbClr val="000000"/>
                          </a:solidFill>
                          <a:effectLst/>
                          <a:latin typeface="Aptos Narrow" panose="020B0004020202020204" pitchFamily="34" charset="0"/>
                        </a:rPr>
                        <a:t> Family with Children 3-4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16,5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4E884"/>
                    </a:solidFill>
                  </a:tcPr>
                </a:tc>
                <a:tc>
                  <a:txBody>
                    <a:bodyPr/>
                    <a:lstStyle/>
                    <a:p>
                      <a:pPr algn="r" fontAlgn="b">
                        <a:buNone/>
                      </a:pPr>
                      <a:r>
                        <a:rPr lang="fr-FR" sz="900" b="0" i="0" u="none" strike="noStrike">
                          <a:solidFill>
                            <a:srgbClr val="000000"/>
                          </a:solidFill>
                          <a:effectLst/>
                          <a:latin typeface="Aptos Narrow" panose="020B0004020202020204" pitchFamily="34" charset="0"/>
                        </a:rPr>
                        <a:t>13,2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582"/>
                    </a:solidFill>
                  </a:tcPr>
                </a:tc>
                <a:tc>
                  <a:txBody>
                    <a:bodyPr/>
                    <a:lstStyle/>
                    <a:p>
                      <a:pPr algn="r" fontAlgn="b">
                        <a:buNone/>
                      </a:pPr>
                      <a:r>
                        <a:rPr lang="fr-FR" sz="900" b="0" i="0" u="none" strike="noStrike">
                          <a:solidFill>
                            <a:srgbClr val="00B050"/>
                          </a:solidFill>
                          <a:effectLst/>
                          <a:latin typeface="Aptos Narrow" panose="020B0004020202020204" pitchFamily="34" charset="0"/>
                        </a:rPr>
                        <a:t>3,3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36744687"/>
                  </a:ext>
                </a:extLst>
              </a:tr>
              <a:tr h="86115">
                <a:tc>
                  <a:txBody>
                    <a:bodyPr/>
                    <a:lstStyle/>
                    <a:p>
                      <a:pPr algn="l" fontAlgn="b">
                        <a:buNone/>
                      </a:pPr>
                      <a:r>
                        <a:rPr lang="fr-FR" sz="900" b="0" i="0" u="none" strike="noStrike">
                          <a:solidFill>
                            <a:srgbClr val="000000"/>
                          </a:solidFill>
                          <a:effectLst/>
                          <a:latin typeface="Aptos Narrow" panose="020B0004020202020204" pitchFamily="34" charset="0"/>
                        </a:rPr>
                        <a:t> Family with Children 5-11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22,3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CDD82"/>
                    </a:solidFill>
                  </a:tcPr>
                </a:tc>
                <a:tc>
                  <a:txBody>
                    <a:bodyPr/>
                    <a:lstStyle/>
                    <a:p>
                      <a:pPr algn="r" fontAlgn="b">
                        <a:buNone/>
                      </a:pPr>
                      <a:r>
                        <a:rPr lang="fr-FR" sz="900" b="0" i="0" u="none" strike="noStrike">
                          <a:solidFill>
                            <a:srgbClr val="000000"/>
                          </a:solidFill>
                          <a:effectLst/>
                          <a:latin typeface="Aptos Narrow" panose="020B0004020202020204" pitchFamily="34" charset="0"/>
                        </a:rPr>
                        <a:t>15,7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EA84"/>
                    </a:solidFill>
                  </a:tcPr>
                </a:tc>
                <a:tc>
                  <a:txBody>
                    <a:bodyPr/>
                    <a:lstStyle/>
                    <a:p>
                      <a:pPr algn="r" fontAlgn="b">
                        <a:buNone/>
                      </a:pPr>
                      <a:r>
                        <a:rPr lang="fr-FR" sz="900" b="0" i="0" u="none" strike="noStrike">
                          <a:solidFill>
                            <a:srgbClr val="00B050"/>
                          </a:solidFill>
                          <a:effectLst/>
                          <a:latin typeface="Aptos Narrow" panose="020B0004020202020204" pitchFamily="34" charset="0"/>
                        </a:rPr>
                        <a:t>6,6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93080589"/>
                  </a:ext>
                </a:extLst>
              </a:tr>
              <a:tr h="86115">
                <a:tc>
                  <a:txBody>
                    <a:bodyPr/>
                    <a:lstStyle/>
                    <a:p>
                      <a:pPr algn="l" fontAlgn="b">
                        <a:buNone/>
                      </a:pPr>
                      <a:r>
                        <a:rPr lang="fr-FR" sz="900" b="0" i="0" u="none" strike="noStrike">
                          <a:solidFill>
                            <a:srgbClr val="000000"/>
                          </a:solidFill>
                          <a:effectLst/>
                          <a:latin typeface="Aptos Narrow" panose="020B0004020202020204" pitchFamily="34" charset="0"/>
                        </a:rPr>
                        <a:t> Seniors active 55-74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22,6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ADC81"/>
                    </a:solidFill>
                  </a:tcPr>
                </a:tc>
                <a:tc>
                  <a:txBody>
                    <a:bodyPr/>
                    <a:lstStyle/>
                    <a:p>
                      <a:pPr algn="r" fontAlgn="b">
                        <a:buNone/>
                      </a:pPr>
                      <a:r>
                        <a:rPr lang="fr-FR" sz="900" b="0" i="0" u="none" strike="noStrike">
                          <a:solidFill>
                            <a:srgbClr val="000000"/>
                          </a:solidFill>
                          <a:effectLst/>
                          <a:latin typeface="Aptos Narrow" panose="020B0004020202020204" pitchFamily="34" charset="0"/>
                        </a:rPr>
                        <a:t>19,6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EE283"/>
                    </a:solidFill>
                  </a:tcPr>
                </a:tc>
                <a:tc>
                  <a:txBody>
                    <a:bodyPr/>
                    <a:lstStyle/>
                    <a:p>
                      <a:pPr algn="r" fontAlgn="b">
                        <a:buNone/>
                      </a:pPr>
                      <a:r>
                        <a:rPr lang="fr-FR" sz="900" b="0" i="0" u="none" strike="noStrike">
                          <a:solidFill>
                            <a:srgbClr val="00B050"/>
                          </a:solidFill>
                          <a:effectLst/>
                          <a:latin typeface="Aptos Narrow" panose="020B0004020202020204" pitchFamily="34" charset="0"/>
                        </a:rPr>
                        <a:t>3,0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08223359"/>
                  </a:ext>
                </a:extLst>
              </a:tr>
              <a:tr h="86115">
                <a:tc>
                  <a:txBody>
                    <a:bodyPr/>
                    <a:lstStyle/>
                    <a:p>
                      <a:pPr algn="l" fontAlgn="b">
                        <a:buNone/>
                      </a:pPr>
                      <a:r>
                        <a:rPr lang="fr-FR" sz="900" b="0" i="0" u="none" strike="noStrike">
                          <a:solidFill>
                            <a:srgbClr val="000000"/>
                          </a:solidFill>
                          <a:effectLst/>
                          <a:latin typeface="Aptos Narrow" panose="020B0004020202020204" pitchFamily="34" charset="0"/>
                        </a:rPr>
                        <a:t> Seniors&gt;75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21,6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1DE82"/>
                    </a:solidFill>
                  </a:tcPr>
                </a:tc>
                <a:tc>
                  <a:txBody>
                    <a:bodyPr/>
                    <a:lstStyle/>
                    <a:p>
                      <a:pPr algn="r" fontAlgn="b">
                        <a:buNone/>
                      </a:pPr>
                      <a:r>
                        <a:rPr lang="fr-FR" sz="900" b="0" i="0" u="none" strike="noStrike">
                          <a:solidFill>
                            <a:srgbClr val="000000"/>
                          </a:solidFill>
                          <a:effectLst/>
                          <a:latin typeface="Aptos Narrow" panose="020B0004020202020204" pitchFamily="34" charset="0"/>
                        </a:rPr>
                        <a:t>13,7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783"/>
                    </a:solidFill>
                  </a:tcPr>
                </a:tc>
                <a:tc>
                  <a:txBody>
                    <a:bodyPr/>
                    <a:lstStyle/>
                    <a:p>
                      <a:pPr algn="r" fontAlgn="b">
                        <a:buNone/>
                      </a:pPr>
                      <a:r>
                        <a:rPr lang="fr-FR" sz="900" b="0" i="0" u="none" strike="noStrike">
                          <a:solidFill>
                            <a:srgbClr val="00B050"/>
                          </a:solidFill>
                          <a:effectLst/>
                          <a:latin typeface="Aptos Narrow" panose="020B0004020202020204" pitchFamily="34" charset="0"/>
                        </a:rPr>
                        <a:t>7,9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65511106"/>
                  </a:ext>
                </a:extLst>
              </a:tr>
              <a:tr h="86115">
                <a:tc>
                  <a:txBody>
                    <a:bodyPr/>
                    <a:lstStyle/>
                    <a:p>
                      <a:pPr algn="l" fontAlgn="b">
                        <a:buNone/>
                      </a:pPr>
                      <a:r>
                        <a:rPr lang="fr-FR" sz="900" b="0" i="0" u="none" strike="noStrike">
                          <a:solidFill>
                            <a:srgbClr val="000000"/>
                          </a:solidFill>
                          <a:effectLst/>
                          <a:latin typeface="Aptos Narrow" panose="020B0004020202020204" pitchFamily="34" charset="0"/>
                        </a:rPr>
                        <a:t> Young Adults 18-34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21,5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1DE82"/>
                    </a:solidFill>
                  </a:tcPr>
                </a:tc>
                <a:tc>
                  <a:txBody>
                    <a:bodyPr/>
                    <a:lstStyle/>
                    <a:p>
                      <a:pPr algn="r" fontAlgn="b">
                        <a:buNone/>
                      </a:pPr>
                      <a:r>
                        <a:rPr lang="fr-FR" sz="900" b="0" i="0" u="none" strike="noStrike">
                          <a:solidFill>
                            <a:srgbClr val="000000"/>
                          </a:solidFill>
                          <a:effectLst/>
                          <a:latin typeface="Aptos Narrow" panose="020B0004020202020204" pitchFamily="34" charset="0"/>
                        </a:rPr>
                        <a:t>14,8</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A83"/>
                    </a:solidFill>
                  </a:tcPr>
                </a:tc>
                <a:tc>
                  <a:txBody>
                    <a:bodyPr/>
                    <a:lstStyle/>
                    <a:p>
                      <a:pPr algn="r" fontAlgn="b">
                        <a:buNone/>
                      </a:pPr>
                      <a:r>
                        <a:rPr lang="fr-FR" sz="900" b="0" i="0" u="none" strike="noStrike">
                          <a:solidFill>
                            <a:srgbClr val="00B050"/>
                          </a:solidFill>
                          <a:effectLst/>
                          <a:latin typeface="Aptos Narrow" panose="020B0004020202020204" pitchFamily="34" charset="0"/>
                        </a:rPr>
                        <a:t>6,8</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94563159"/>
                  </a:ext>
                </a:extLst>
              </a:tr>
            </a:tbl>
          </a:graphicData>
        </a:graphic>
      </p:graphicFrame>
      <p:graphicFrame>
        <p:nvGraphicFramePr>
          <p:cNvPr id="14" name="Table 13">
            <a:extLst>
              <a:ext uri="{FF2B5EF4-FFF2-40B4-BE49-F238E27FC236}">
                <a16:creationId xmlns:a16="http://schemas.microsoft.com/office/drawing/2014/main" id="{F37A8FE1-EB53-C9D2-76E0-034CDDB53FE2}"/>
              </a:ext>
            </a:extLst>
          </p:cNvPr>
          <p:cNvGraphicFramePr>
            <a:graphicFrameLocks noGrp="1"/>
          </p:cNvGraphicFramePr>
          <p:nvPr/>
        </p:nvGraphicFramePr>
        <p:xfrm>
          <a:off x="2530863" y="2861744"/>
          <a:ext cx="2060314" cy="2779358"/>
        </p:xfrm>
        <a:graphic>
          <a:graphicData uri="http://schemas.openxmlformats.org/drawingml/2006/table">
            <a:tbl>
              <a:tblPr/>
              <a:tblGrid>
                <a:gridCol w="1249804">
                  <a:extLst>
                    <a:ext uri="{9D8B030D-6E8A-4147-A177-3AD203B41FA5}">
                      <a16:colId xmlns:a16="http://schemas.microsoft.com/office/drawing/2014/main" val="321447562"/>
                    </a:ext>
                  </a:extLst>
                </a:gridCol>
                <a:gridCol w="270170">
                  <a:extLst>
                    <a:ext uri="{9D8B030D-6E8A-4147-A177-3AD203B41FA5}">
                      <a16:colId xmlns:a16="http://schemas.microsoft.com/office/drawing/2014/main" val="3749500535"/>
                    </a:ext>
                  </a:extLst>
                </a:gridCol>
                <a:gridCol w="270170">
                  <a:extLst>
                    <a:ext uri="{9D8B030D-6E8A-4147-A177-3AD203B41FA5}">
                      <a16:colId xmlns:a16="http://schemas.microsoft.com/office/drawing/2014/main" val="4290389150"/>
                    </a:ext>
                  </a:extLst>
                </a:gridCol>
                <a:gridCol w="270170">
                  <a:extLst>
                    <a:ext uri="{9D8B030D-6E8A-4147-A177-3AD203B41FA5}">
                      <a16:colId xmlns:a16="http://schemas.microsoft.com/office/drawing/2014/main" val="2610219301"/>
                    </a:ext>
                  </a:extLst>
                </a:gridCol>
              </a:tblGrid>
              <a:tr h="146282">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56092817"/>
                  </a:ext>
                </a:extLst>
              </a:tr>
              <a:tr h="146282">
                <a:tc>
                  <a:txBody>
                    <a:bodyPr/>
                    <a:lstStyle/>
                    <a:p>
                      <a:pPr algn="l" fontAlgn="b">
                        <a:buNone/>
                      </a:pPr>
                      <a:r>
                        <a:rPr lang="fr-FR" sz="900" b="1" i="0" u="none" strike="noStrike">
                          <a:solidFill>
                            <a:srgbClr val="000000"/>
                          </a:solidFill>
                          <a:effectLst/>
                          <a:latin typeface="Aptos Narrow" panose="020B0004020202020204" pitchFamily="34" charset="0"/>
                        </a:rPr>
                        <a:t>De </a:t>
                      </a:r>
                      <a:r>
                        <a:rPr lang="fr-FR" sz="900" b="1" i="0" u="none" strike="noStrike" err="1">
                          <a:solidFill>
                            <a:srgbClr val="000000"/>
                          </a:solidFill>
                          <a:effectLst/>
                          <a:latin typeface="Aptos Narrow" panose="020B0004020202020204" pitchFamily="34" charset="0"/>
                        </a:rPr>
                        <a:t>Kempervennen</a:t>
                      </a:r>
                      <a:endParaRPr lang="fr-FR" sz="900" b="1" i="0" u="none" strike="noStrike">
                        <a:solidFill>
                          <a:srgbClr val="000000"/>
                        </a:solidFill>
                        <a:effectLst/>
                        <a:latin typeface="Aptos Narrow" panose="020B0004020202020204" pitchFamily="34" charset="0"/>
                      </a:endParaRP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23,3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5DB81"/>
                    </a:solidFill>
                  </a:tcPr>
                </a:tc>
                <a:tc>
                  <a:txBody>
                    <a:bodyPr/>
                    <a:lstStyle/>
                    <a:p>
                      <a:pPr algn="r" fontAlgn="b">
                        <a:buNone/>
                      </a:pPr>
                      <a:r>
                        <a:rPr lang="fr-FR" sz="900" b="1" i="0" u="none" strike="noStrike">
                          <a:solidFill>
                            <a:srgbClr val="000000"/>
                          </a:solidFill>
                          <a:effectLst/>
                          <a:latin typeface="Aptos Narrow" panose="020B0004020202020204" pitchFamily="34" charset="0"/>
                        </a:rPr>
                        <a:t>16,9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1E784"/>
                    </a:solidFill>
                  </a:tcPr>
                </a:tc>
                <a:tc>
                  <a:txBody>
                    <a:bodyPr/>
                    <a:lstStyle/>
                    <a:p>
                      <a:pPr algn="r" fontAlgn="b">
                        <a:buNone/>
                      </a:pPr>
                      <a:r>
                        <a:rPr lang="fr-FR" sz="900" b="1" i="0" u="none" strike="noStrike">
                          <a:solidFill>
                            <a:srgbClr val="00B050"/>
                          </a:solidFill>
                          <a:effectLst/>
                          <a:latin typeface="Aptos Narrow" panose="020B0004020202020204" pitchFamily="34" charset="0"/>
                        </a:rPr>
                        <a:t>6,3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24691438"/>
                  </a:ext>
                </a:extLst>
              </a:tr>
              <a:tr h="146282">
                <a:tc>
                  <a:txBody>
                    <a:bodyPr/>
                    <a:lstStyle/>
                    <a:p>
                      <a:pPr algn="l" fontAlgn="b">
                        <a:buNone/>
                      </a:pPr>
                      <a:r>
                        <a:rPr lang="fr-FR" sz="900" b="0" i="0" u="none" strike="noStrike">
                          <a:solidFill>
                            <a:srgbClr val="000000"/>
                          </a:solidFill>
                          <a:effectLst/>
                          <a:latin typeface="Aptos Narrow" panose="020B0004020202020204" pitchFamily="34" charset="0"/>
                        </a:rPr>
                        <a:t> Adults 35-54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19,4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0E283"/>
                    </a:solidFill>
                  </a:tcPr>
                </a:tc>
                <a:tc>
                  <a:txBody>
                    <a:bodyPr/>
                    <a:lstStyle/>
                    <a:p>
                      <a:pPr algn="r" fontAlgn="b">
                        <a:buNone/>
                      </a:pPr>
                      <a:r>
                        <a:rPr lang="fr-FR" sz="900" b="0" i="0" u="none" strike="noStrike">
                          <a:solidFill>
                            <a:srgbClr val="000000"/>
                          </a:solidFill>
                          <a:effectLst/>
                          <a:latin typeface="Aptos Narrow" panose="020B0004020202020204" pitchFamily="34" charset="0"/>
                        </a:rPr>
                        <a:t>12,2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182"/>
                    </a:solidFill>
                  </a:tcPr>
                </a:tc>
                <a:tc>
                  <a:txBody>
                    <a:bodyPr/>
                    <a:lstStyle/>
                    <a:p>
                      <a:pPr algn="r" fontAlgn="b">
                        <a:buNone/>
                      </a:pPr>
                      <a:r>
                        <a:rPr lang="fr-FR" sz="900" b="0" i="0" u="none" strike="noStrike">
                          <a:solidFill>
                            <a:srgbClr val="00B050"/>
                          </a:solidFill>
                          <a:effectLst/>
                          <a:latin typeface="Aptos Narrow" panose="020B0004020202020204" pitchFamily="34" charset="0"/>
                        </a:rPr>
                        <a:t>7,3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74716780"/>
                  </a:ext>
                </a:extLst>
              </a:tr>
              <a:tr h="146282">
                <a:tc>
                  <a:txBody>
                    <a:bodyPr/>
                    <a:lstStyle/>
                    <a:p>
                      <a:pPr algn="l" fontAlgn="b">
                        <a:buNone/>
                      </a:pPr>
                      <a:r>
                        <a:rPr lang="fr-FR" sz="900" b="0" i="0" u="none" strike="noStrike">
                          <a:solidFill>
                            <a:srgbClr val="000000"/>
                          </a:solidFill>
                          <a:effectLst/>
                          <a:latin typeface="Aptos Narrow" panose="020B0004020202020204" pitchFamily="34" charset="0"/>
                        </a:rPr>
                        <a:t> Family with Children 0-2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14,9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B84"/>
                    </a:solidFill>
                  </a:tcPr>
                </a:tc>
                <a:tc>
                  <a:txBody>
                    <a:bodyPr/>
                    <a:lstStyle/>
                    <a:p>
                      <a:pPr algn="r" fontAlgn="b">
                        <a:buNone/>
                      </a:pPr>
                      <a:r>
                        <a:rPr lang="fr-FR" sz="900" b="0" i="0" u="none" strike="noStrike">
                          <a:solidFill>
                            <a:srgbClr val="000000"/>
                          </a:solidFill>
                          <a:effectLst/>
                          <a:latin typeface="Aptos Narrow" panose="020B0004020202020204" pitchFamily="34" charset="0"/>
                        </a:rPr>
                        <a:t>11,3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F81"/>
                    </a:solidFill>
                  </a:tcPr>
                </a:tc>
                <a:tc>
                  <a:txBody>
                    <a:bodyPr/>
                    <a:lstStyle/>
                    <a:p>
                      <a:pPr algn="r" fontAlgn="b">
                        <a:buNone/>
                      </a:pPr>
                      <a:r>
                        <a:rPr lang="fr-FR" sz="900" b="0" i="0" u="none" strike="noStrike">
                          <a:solidFill>
                            <a:srgbClr val="00B050"/>
                          </a:solidFill>
                          <a:effectLst/>
                          <a:latin typeface="Aptos Narrow" panose="020B0004020202020204" pitchFamily="34" charset="0"/>
                        </a:rPr>
                        <a:t>3,6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61308814"/>
                  </a:ext>
                </a:extLst>
              </a:tr>
              <a:tr h="146282">
                <a:tc>
                  <a:txBody>
                    <a:bodyPr/>
                    <a:lstStyle/>
                    <a:p>
                      <a:pPr algn="l" fontAlgn="b">
                        <a:buNone/>
                      </a:pPr>
                      <a:r>
                        <a:rPr lang="fr-FR" sz="900" b="0" i="0" u="none" strike="noStrike">
                          <a:solidFill>
                            <a:srgbClr val="000000"/>
                          </a:solidFill>
                          <a:effectLst/>
                          <a:latin typeface="Aptos Narrow" panose="020B0004020202020204" pitchFamily="34" charset="0"/>
                        </a:rPr>
                        <a:t> Family with Children 12-17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23,5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4DA81"/>
                    </a:solidFill>
                  </a:tcPr>
                </a:tc>
                <a:tc>
                  <a:txBody>
                    <a:bodyPr/>
                    <a:lstStyle/>
                    <a:p>
                      <a:pPr algn="r" fontAlgn="b">
                        <a:buNone/>
                      </a:pPr>
                      <a:r>
                        <a:rPr lang="fr-FR" sz="900" b="0" i="0" u="none" strike="noStrike">
                          <a:solidFill>
                            <a:srgbClr val="000000"/>
                          </a:solidFill>
                          <a:effectLst/>
                          <a:latin typeface="Aptos Narrow" panose="020B0004020202020204" pitchFamily="34" charset="0"/>
                        </a:rPr>
                        <a:t>17,6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CE683"/>
                    </a:solidFill>
                  </a:tcPr>
                </a:tc>
                <a:tc>
                  <a:txBody>
                    <a:bodyPr/>
                    <a:lstStyle/>
                    <a:p>
                      <a:pPr algn="r" fontAlgn="b">
                        <a:buNone/>
                      </a:pPr>
                      <a:r>
                        <a:rPr lang="fr-FR" sz="900" b="0" i="0" u="none" strike="noStrike">
                          <a:solidFill>
                            <a:srgbClr val="00B050"/>
                          </a:solidFill>
                          <a:effectLst/>
                          <a:latin typeface="Aptos Narrow" panose="020B0004020202020204" pitchFamily="34" charset="0"/>
                        </a:rPr>
                        <a:t>5,9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55334670"/>
                  </a:ext>
                </a:extLst>
              </a:tr>
              <a:tr h="146282">
                <a:tc>
                  <a:txBody>
                    <a:bodyPr/>
                    <a:lstStyle/>
                    <a:p>
                      <a:pPr algn="l" fontAlgn="b">
                        <a:buNone/>
                      </a:pPr>
                      <a:r>
                        <a:rPr lang="fr-FR" sz="900" b="0" i="0" u="none" strike="noStrike">
                          <a:solidFill>
                            <a:srgbClr val="000000"/>
                          </a:solidFill>
                          <a:effectLst/>
                          <a:latin typeface="Aptos Narrow" panose="020B0004020202020204" pitchFamily="34" charset="0"/>
                        </a:rPr>
                        <a:t> Family with Children 3-4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21,9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FDD82"/>
                    </a:solidFill>
                  </a:tcPr>
                </a:tc>
                <a:tc>
                  <a:txBody>
                    <a:bodyPr/>
                    <a:lstStyle/>
                    <a:p>
                      <a:pPr algn="r" fontAlgn="b">
                        <a:buNone/>
                      </a:pPr>
                      <a:r>
                        <a:rPr lang="fr-FR" sz="900" b="0" i="0" u="none" strike="noStrike">
                          <a:solidFill>
                            <a:srgbClr val="000000"/>
                          </a:solidFill>
                          <a:effectLst/>
                          <a:latin typeface="Aptos Narrow" panose="020B0004020202020204" pitchFamily="34" charset="0"/>
                        </a:rPr>
                        <a:t>15,2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EB84"/>
                    </a:solidFill>
                  </a:tcPr>
                </a:tc>
                <a:tc>
                  <a:txBody>
                    <a:bodyPr/>
                    <a:lstStyle/>
                    <a:p>
                      <a:pPr algn="r" fontAlgn="b">
                        <a:buNone/>
                      </a:pPr>
                      <a:r>
                        <a:rPr lang="fr-FR" sz="900" b="0" i="0" u="none" strike="noStrike">
                          <a:solidFill>
                            <a:srgbClr val="00B050"/>
                          </a:solidFill>
                          <a:effectLst/>
                          <a:latin typeface="Aptos Narrow" panose="020B0004020202020204" pitchFamily="34" charset="0"/>
                        </a:rPr>
                        <a:t>6,6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77457041"/>
                  </a:ext>
                </a:extLst>
              </a:tr>
              <a:tr h="146282">
                <a:tc>
                  <a:txBody>
                    <a:bodyPr/>
                    <a:lstStyle/>
                    <a:p>
                      <a:pPr algn="l" fontAlgn="b">
                        <a:buNone/>
                      </a:pPr>
                      <a:r>
                        <a:rPr lang="fr-FR" sz="900" b="0" i="0" u="none" strike="noStrike">
                          <a:solidFill>
                            <a:srgbClr val="000000"/>
                          </a:solidFill>
                          <a:effectLst/>
                          <a:latin typeface="Aptos Narrow" panose="020B0004020202020204" pitchFamily="34" charset="0"/>
                        </a:rPr>
                        <a:t> Family with Children 5-11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26,3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0D580"/>
                    </a:solidFill>
                  </a:tcPr>
                </a:tc>
                <a:tc>
                  <a:txBody>
                    <a:bodyPr/>
                    <a:lstStyle/>
                    <a:p>
                      <a:pPr algn="r" fontAlgn="b">
                        <a:buNone/>
                      </a:pPr>
                      <a:r>
                        <a:rPr lang="fr-FR" sz="900" b="0" i="0" u="none" strike="noStrike">
                          <a:solidFill>
                            <a:srgbClr val="000000"/>
                          </a:solidFill>
                          <a:effectLst/>
                          <a:latin typeface="Aptos Narrow" panose="020B0004020202020204" pitchFamily="34" charset="0"/>
                        </a:rPr>
                        <a:t>20,7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7E082"/>
                    </a:solidFill>
                  </a:tcPr>
                </a:tc>
                <a:tc>
                  <a:txBody>
                    <a:bodyPr/>
                    <a:lstStyle/>
                    <a:p>
                      <a:pPr algn="r" fontAlgn="b">
                        <a:buNone/>
                      </a:pPr>
                      <a:r>
                        <a:rPr lang="fr-FR" sz="900" b="0" i="0" u="none" strike="noStrike">
                          <a:solidFill>
                            <a:srgbClr val="00B050"/>
                          </a:solidFill>
                          <a:effectLst/>
                          <a:latin typeface="Aptos Narrow" panose="020B0004020202020204" pitchFamily="34" charset="0"/>
                        </a:rPr>
                        <a:t>5,6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61095902"/>
                  </a:ext>
                </a:extLst>
              </a:tr>
              <a:tr h="146282">
                <a:tc>
                  <a:txBody>
                    <a:bodyPr/>
                    <a:lstStyle/>
                    <a:p>
                      <a:pPr algn="l" fontAlgn="b">
                        <a:buNone/>
                      </a:pPr>
                      <a:r>
                        <a:rPr lang="fr-FR" sz="900" b="0" i="0" u="none" strike="noStrike">
                          <a:solidFill>
                            <a:srgbClr val="000000"/>
                          </a:solidFill>
                          <a:effectLst/>
                          <a:latin typeface="Aptos Narrow" panose="020B0004020202020204" pitchFamily="34" charset="0"/>
                        </a:rPr>
                        <a:t> Seniors active 55-74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23,3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5DB81"/>
                    </a:solidFill>
                  </a:tcPr>
                </a:tc>
                <a:tc>
                  <a:txBody>
                    <a:bodyPr/>
                    <a:lstStyle/>
                    <a:p>
                      <a:pPr algn="r" fontAlgn="b">
                        <a:buNone/>
                      </a:pPr>
                      <a:r>
                        <a:rPr lang="fr-FR" sz="900" b="0" i="0" u="none" strike="noStrike">
                          <a:solidFill>
                            <a:srgbClr val="000000"/>
                          </a:solidFill>
                          <a:effectLst/>
                          <a:latin typeface="Aptos Narrow" panose="020B0004020202020204" pitchFamily="34" charset="0"/>
                        </a:rPr>
                        <a:t>17,8</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BE683"/>
                    </a:solidFill>
                  </a:tcPr>
                </a:tc>
                <a:tc>
                  <a:txBody>
                    <a:bodyPr/>
                    <a:lstStyle/>
                    <a:p>
                      <a:pPr algn="r" fontAlgn="b">
                        <a:buNone/>
                      </a:pPr>
                      <a:r>
                        <a:rPr lang="fr-FR" sz="900" b="0" i="0" u="none" strike="noStrike">
                          <a:solidFill>
                            <a:srgbClr val="00B050"/>
                          </a:solidFill>
                          <a:effectLst/>
                          <a:latin typeface="Aptos Narrow" panose="020B0004020202020204" pitchFamily="34" charset="0"/>
                        </a:rPr>
                        <a:t>5,5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24935825"/>
                  </a:ext>
                </a:extLst>
              </a:tr>
              <a:tr h="146282">
                <a:tc>
                  <a:txBody>
                    <a:bodyPr/>
                    <a:lstStyle/>
                    <a:p>
                      <a:pPr algn="l" fontAlgn="b">
                        <a:buNone/>
                      </a:pPr>
                      <a:r>
                        <a:rPr lang="fr-FR" sz="900" b="0" i="0" u="none" strike="noStrike">
                          <a:solidFill>
                            <a:srgbClr val="000000"/>
                          </a:solidFill>
                          <a:effectLst/>
                          <a:latin typeface="Aptos Narrow" panose="020B0004020202020204" pitchFamily="34" charset="0"/>
                        </a:rPr>
                        <a:t> Seniors&gt;75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23,6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3DA81"/>
                    </a:solidFill>
                  </a:tcPr>
                </a:tc>
                <a:tc>
                  <a:txBody>
                    <a:bodyPr/>
                    <a:lstStyle/>
                    <a:p>
                      <a:pPr algn="r" fontAlgn="b">
                        <a:buNone/>
                      </a:pPr>
                      <a:r>
                        <a:rPr lang="fr-FR" sz="900" b="0" i="0" u="none" strike="noStrike">
                          <a:solidFill>
                            <a:srgbClr val="000000"/>
                          </a:solidFill>
                          <a:effectLst/>
                          <a:latin typeface="Aptos Narrow" panose="020B0004020202020204" pitchFamily="34" charset="0"/>
                        </a:rPr>
                        <a:t>14,0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883"/>
                    </a:solidFill>
                  </a:tcPr>
                </a:tc>
                <a:tc>
                  <a:txBody>
                    <a:bodyPr/>
                    <a:lstStyle/>
                    <a:p>
                      <a:pPr algn="r" fontAlgn="b">
                        <a:buNone/>
                      </a:pPr>
                      <a:r>
                        <a:rPr lang="fr-FR" sz="900" b="0" i="0" u="none" strike="noStrike">
                          <a:solidFill>
                            <a:srgbClr val="00B050"/>
                          </a:solidFill>
                          <a:effectLst/>
                          <a:latin typeface="Aptos Narrow" panose="020B0004020202020204" pitchFamily="34" charset="0"/>
                        </a:rPr>
                        <a:t>9,6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10031044"/>
                  </a:ext>
                </a:extLst>
              </a:tr>
              <a:tr h="146282">
                <a:tc>
                  <a:txBody>
                    <a:bodyPr/>
                    <a:lstStyle/>
                    <a:p>
                      <a:pPr algn="l" fontAlgn="b">
                        <a:buNone/>
                      </a:pPr>
                      <a:r>
                        <a:rPr lang="fr-FR" sz="900" b="0" i="0" u="none" strike="noStrike">
                          <a:solidFill>
                            <a:srgbClr val="000000"/>
                          </a:solidFill>
                          <a:effectLst/>
                          <a:latin typeface="Aptos Narrow" panose="020B0004020202020204" pitchFamily="34" charset="0"/>
                        </a:rPr>
                        <a:t> Young Adults 18-34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24,3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ED981"/>
                    </a:solidFill>
                  </a:tcPr>
                </a:tc>
                <a:tc>
                  <a:txBody>
                    <a:bodyPr/>
                    <a:lstStyle/>
                    <a:p>
                      <a:pPr algn="r" fontAlgn="b">
                        <a:buNone/>
                      </a:pPr>
                      <a:r>
                        <a:rPr lang="fr-FR" sz="900" b="0" i="0" u="none" strike="noStrike">
                          <a:solidFill>
                            <a:srgbClr val="000000"/>
                          </a:solidFill>
                          <a:effectLst/>
                          <a:latin typeface="Aptos Narrow" panose="020B0004020202020204" pitchFamily="34" charset="0"/>
                        </a:rPr>
                        <a:t>13,5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683"/>
                    </a:solidFill>
                  </a:tcPr>
                </a:tc>
                <a:tc>
                  <a:txBody>
                    <a:bodyPr/>
                    <a:lstStyle/>
                    <a:p>
                      <a:pPr algn="r" fontAlgn="b">
                        <a:buNone/>
                      </a:pPr>
                      <a:r>
                        <a:rPr lang="fr-FR" sz="900" b="0" i="0" u="none" strike="noStrike">
                          <a:solidFill>
                            <a:srgbClr val="00B050"/>
                          </a:solidFill>
                          <a:effectLst/>
                          <a:latin typeface="Aptos Narrow" panose="020B0004020202020204" pitchFamily="34" charset="0"/>
                        </a:rPr>
                        <a:t>10,8</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39135564"/>
                  </a:ext>
                </a:extLst>
              </a:tr>
              <a:tr h="146282">
                <a:tc>
                  <a:txBody>
                    <a:bodyPr/>
                    <a:lstStyle/>
                    <a:p>
                      <a:pPr algn="l" fontAlgn="b">
                        <a:buNone/>
                      </a:pPr>
                      <a:r>
                        <a:rPr lang="fr-FR" sz="900" b="1" i="0" u="none" strike="noStrike">
                          <a:solidFill>
                            <a:srgbClr val="000000"/>
                          </a:solidFill>
                          <a:effectLst/>
                          <a:latin typeface="Aptos Narrow" panose="020B0004020202020204" pitchFamily="34" charset="0"/>
                        </a:rPr>
                        <a:t>Het Heijderbos</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16,8</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1E784"/>
                    </a:solidFill>
                  </a:tcPr>
                </a:tc>
                <a:tc>
                  <a:txBody>
                    <a:bodyPr/>
                    <a:lstStyle/>
                    <a:p>
                      <a:pPr algn="r" fontAlgn="b">
                        <a:buNone/>
                      </a:pPr>
                      <a:r>
                        <a:rPr lang="fr-FR" sz="900" b="1" i="0" u="none" strike="noStrike">
                          <a:solidFill>
                            <a:srgbClr val="000000"/>
                          </a:solidFill>
                          <a:effectLst/>
                          <a:latin typeface="Aptos Narrow" panose="020B0004020202020204" pitchFamily="34" charset="0"/>
                        </a:rPr>
                        <a:t>10,5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C81"/>
                    </a:solidFill>
                  </a:tcPr>
                </a:tc>
                <a:tc>
                  <a:txBody>
                    <a:bodyPr/>
                    <a:lstStyle/>
                    <a:p>
                      <a:pPr algn="r" fontAlgn="b">
                        <a:buNone/>
                      </a:pPr>
                      <a:r>
                        <a:rPr lang="fr-FR" sz="900" b="1" i="0" u="none" strike="noStrike">
                          <a:solidFill>
                            <a:srgbClr val="00B050"/>
                          </a:solidFill>
                          <a:effectLst/>
                          <a:latin typeface="Aptos Narrow" panose="020B0004020202020204" pitchFamily="34" charset="0"/>
                        </a:rPr>
                        <a:t>6,4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46731943"/>
                  </a:ext>
                </a:extLst>
              </a:tr>
              <a:tr h="146282">
                <a:tc>
                  <a:txBody>
                    <a:bodyPr/>
                    <a:lstStyle/>
                    <a:p>
                      <a:pPr algn="l" fontAlgn="b">
                        <a:buNone/>
                      </a:pPr>
                      <a:r>
                        <a:rPr lang="fr-FR" sz="900" b="0" i="0" u="none" strike="noStrike">
                          <a:solidFill>
                            <a:srgbClr val="000000"/>
                          </a:solidFill>
                          <a:effectLst/>
                          <a:latin typeface="Aptos Narrow" panose="020B0004020202020204" pitchFamily="34" charset="0"/>
                        </a:rPr>
                        <a:t> Adults 35-54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14,9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B84"/>
                    </a:solidFill>
                  </a:tcPr>
                </a:tc>
                <a:tc>
                  <a:txBody>
                    <a:bodyPr/>
                    <a:lstStyle/>
                    <a:p>
                      <a:pPr algn="r" fontAlgn="b">
                        <a:buNone/>
                      </a:pPr>
                      <a:r>
                        <a:rPr lang="fr-FR" sz="900" b="0" i="0" u="none" strike="noStrike">
                          <a:solidFill>
                            <a:srgbClr val="000000"/>
                          </a:solidFill>
                          <a:effectLst/>
                          <a:latin typeface="Aptos Narrow" panose="020B0004020202020204" pitchFamily="34" charset="0"/>
                        </a:rPr>
                        <a:t>14,3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983"/>
                    </a:solidFill>
                  </a:tcPr>
                </a:tc>
                <a:tc>
                  <a:txBody>
                    <a:bodyPr/>
                    <a:lstStyle/>
                    <a:p>
                      <a:pPr algn="r" fontAlgn="b">
                        <a:buNone/>
                      </a:pPr>
                      <a:r>
                        <a:rPr lang="fr-FR" sz="900" b="0" i="0" u="none" strike="noStrike">
                          <a:solidFill>
                            <a:srgbClr val="00B050"/>
                          </a:solidFill>
                          <a:effectLst/>
                          <a:latin typeface="Aptos Narrow" panose="020B0004020202020204" pitchFamily="34" charset="0"/>
                        </a:rPr>
                        <a:t>0,6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31149836"/>
                  </a:ext>
                </a:extLst>
              </a:tr>
              <a:tr h="146282">
                <a:tc>
                  <a:txBody>
                    <a:bodyPr/>
                    <a:lstStyle/>
                    <a:p>
                      <a:pPr algn="l" fontAlgn="b">
                        <a:buNone/>
                      </a:pPr>
                      <a:r>
                        <a:rPr lang="fr-FR" sz="900" b="0" i="0" u="none" strike="noStrike">
                          <a:solidFill>
                            <a:srgbClr val="000000"/>
                          </a:solidFill>
                          <a:effectLst/>
                          <a:latin typeface="Aptos Narrow" panose="020B0004020202020204" pitchFamily="34" charset="0"/>
                        </a:rPr>
                        <a:t> Family with Children 0-2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17,3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EE683"/>
                    </a:solidFill>
                  </a:tcPr>
                </a:tc>
                <a:tc>
                  <a:txBody>
                    <a:bodyPr/>
                    <a:lstStyle/>
                    <a:p>
                      <a:pPr algn="r" fontAlgn="b">
                        <a:buNone/>
                      </a:pPr>
                      <a:r>
                        <a:rPr lang="fr-FR" sz="900" b="0" i="0" u="none" strike="noStrike">
                          <a:solidFill>
                            <a:srgbClr val="000000"/>
                          </a:solidFill>
                          <a:effectLst/>
                          <a:latin typeface="Aptos Narrow" panose="020B0004020202020204" pitchFamily="34" charset="0"/>
                        </a:rPr>
                        <a:t>3,9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57C"/>
                    </a:solidFill>
                  </a:tcPr>
                </a:tc>
                <a:tc>
                  <a:txBody>
                    <a:bodyPr/>
                    <a:lstStyle/>
                    <a:p>
                      <a:pPr algn="r" fontAlgn="b">
                        <a:buNone/>
                      </a:pPr>
                      <a:r>
                        <a:rPr lang="fr-FR" sz="900" b="0" i="0" u="none" strike="noStrike">
                          <a:solidFill>
                            <a:srgbClr val="00B050"/>
                          </a:solidFill>
                          <a:effectLst/>
                          <a:latin typeface="Aptos Narrow" panose="020B0004020202020204" pitchFamily="34" charset="0"/>
                        </a:rPr>
                        <a:t>13,4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10543870"/>
                  </a:ext>
                </a:extLst>
              </a:tr>
              <a:tr h="146282">
                <a:tc>
                  <a:txBody>
                    <a:bodyPr/>
                    <a:lstStyle/>
                    <a:p>
                      <a:pPr algn="l" fontAlgn="b">
                        <a:buNone/>
                      </a:pPr>
                      <a:r>
                        <a:rPr lang="fr-FR" sz="900" b="0" i="0" u="none" strike="noStrike">
                          <a:solidFill>
                            <a:srgbClr val="000000"/>
                          </a:solidFill>
                          <a:effectLst/>
                          <a:latin typeface="Aptos Narrow" panose="020B0004020202020204" pitchFamily="34" charset="0"/>
                        </a:rPr>
                        <a:t> Family with Children 12-17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12,5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382"/>
                    </a:solidFill>
                  </a:tcPr>
                </a:tc>
                <a:tc>
                  <a:txBody>
                    <a:bodyPr/>
                    <a:lstStyle/>
                    <a:p>
                      <a:pPr algn="r" fontAlgn="b">
                        <a:buNone/>
                      </a:pPr>
                      <a:r>
                        <a:rPr lang="fr-FR" sz="900" b="0" i="0" u="none" strike="noStrike">
                          <a:solidFill>
                            <a:srgbClr val="000000"/>
                          </a:solidFill>
                          <a:effectLst/>
                          <a:latin typeface="Aptos Narrow" panose="020B0004020202020204" pitchFamily="34" charset="0"/>
                        </a:rPr>
                        <a:t>6,1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C7E"/>
                    </a:solidFill>
                  </a:tcPr>
                </a:tc>
                <a:tc>
                  <a:txBody>
                    <a:bodyPr/>
                    <a:lstStyle/>
                    <a:p>
                      <a:pPr algn="r" fontAlgn="b">
                        <a:buNone/>
                      </a:pPr>
                      <a:r>
                        <a:rPr lang="fr-FR" sz="900" b="0" i="0" u="none" strike="noStrike">
                          <a:solidFill>
                            <a:srgbClr val="00B050"/>
                          </a:solidFill>
                          <a:effectLst/>
                          <a:latin typeface="Aptos Narrow" panose="020B0004020202020204" pitchFamily="34" charset="0"/>
                        </a:rPr>
                        <a:t>6,4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28350237"/>
                  </a:ext>
                </a:extLst>
              </a:tr>
              <a:tr h="146282">
                <a:tc>
                  <a:txBody>
                    <a:bodyPr/>
                    <a:lstStyle/>
                    <a:p>
                      <a:pPr algn="l" fontAlgn="b">
                        <a:buNone/>
                      </a:pPr>
                      <a:r>
                        <a:rPr lang="fr-FR" sz="900" b="0" i="0" u="none" strike="noStrike">
                          <a:solidFill>
                            <a:srgbClr val="000000"/>
                          </a:solidFill>
                          <a:effectLst/>
                          <a:latin typeface="Aptos Narrow" panose="020B0004020202020204" pitchFamily="34" charset="0"/>
                        </a:rPr>
                        <a:t> Family with Children 3-4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14,6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A83"/>
                    </a:solidFill>
                  </a:tcPr>
                </a:tc>
                <a:tc>
                  <a:txBody>
                    <a:bodyPr/>
                    <a:lstStyle/>
                    <a:p>
                      <a:pPr algn="r" fontAlgn="b">
                        <a:buNone/>
                      </a:pPr>
                      <a:r>
                        <a:rPr lang="fr-FR" sz="900" b="0" i="0" u="none" strike="noStrike">
                          <a:solidFill>
                            <a:srgbClr val="000000"/>
                          </a:solidFill>
                          <a:effectLst/>
                          <a:latin typeface="Aptos Narrow" panose="020B0004020202020204" pitchFamily="34" charset="0"/>
                        </a:rPr>
                        <a:t>10,5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C81"/>
                    </a:solidFill>
                  </a:tcPr>
                </a:tc>
                <a:tc>
                  <a:txBody>
                    <a:bodyPr/>
                    <a:lstStyle/>
                    <a:p>
                      <a:pPr algn="r" fontAlgn="b">
                        <a:buNone/>
                      </a:pPr>
                      <a:r>
                        <a:rPr lang="fr-FR" sz="900" b="0" i="0" u="none" strike="noStrike">
                          <a:solidFill>
                            <a:srgbClr val="00B050"/>
                          </a:solidFill>
                          <a:effectLst/>
                          <a:latin typeface="Aptos Narrow" panose="020B0004020202020204" pitchFamily="34" charset="0"/>
                        </a:rPr>
                        <a:t>4,1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73902025"/>
                  </a:ext>
                </a:extLst>
              </a:tr>
              <a:tr h="146282">
                <a:tc>
                  <a:txBody>
                    <a:bodyPr/>
                    <a:lstStyle/>
                    <a:p>
                      <a:pPr algn="l" fontAlgn="b">
                        <a:buNone/>
                      </a:pPr>
                      <a:r>
                        <a:rPr lang="fr-FR" sz="900" b="0" i="0" u="none" strike="noStrike">
                          <a:solidFill>
                            <a:srgbClr val="000000"/>
                          </a:solidFill>
                          <a:effectLst/>
                          <a:latin typeface="Aptos Narrow" panose="020B0004020202020204" pitchFamily="34" charset="0"/>
                        </a:rPr>
                        <a:t> Family with Children 5-11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16,5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3E884"/>
                    </a:solidFill>
                  </a:tcPr>
                </a:tc>
                <a:tc>
                  <a:txBody>
                    <a:bodyPr/>
                    <a:lstStyle/>
                    <a:p>
                      <a:pPr algn="r" fontAlgn="b">
                        <a:buNone/>
                      </a:pPr>
                      <a:r>
                        <a:rPr lang="fr-FR" sz="900" b="0" i="0" u="none" strike="noStrike">
                          <a:solidFill>
                            <a:srgbClr val="000000"/>
                          </a:solidFill>
                          <a:effectLst/>
                          <a:latin typeface="Aptos Narrow" panose="020B0004020202020204" pitchFamily="34" charset="0"/>
                        </a:rPr>
                        <a:t>12,1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182"/>
                    </a:solidFill>
                  </a:tcPr>
                </a:tc>
                <a:tc>
                  <a:txBody>
                    <a:bodyPr/>
                    <a:lstStyle/>
                    <a:p>
                      <a:pPr algn="r" fontAlgn="b">
                        <a:buNone/>
                      </a:pPr>
                      <a:r>
                        <a:rPr lang="fr-FR" sz="900" b="0" i="0" u="none" strike="noStrike">
                          <a:solidFill>
                            <a:srgbClr val="00B050"/>
                          </a:solidFill>
                          <a:effectLst/>
                          <a:latin typeface="Aptos Narrow" panose="020B0004020202020204" pitchFamily="34" charset="0"/>
                        </a:rPr>
                        <a:t>4,5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83708978"/>
                  </a:ext>
                </a:extLst>
              </a:tr>
              <a:tr h="146282">
                <a:tc>
                  <a:txBody>
                    <a:bodyPr/>
                    <a:lstStyle/>
                    <a:p>
                      <a:pPr algn="l" fontAlgn="b">
                        <a:buNone/>
                      </a:pPr>
                      <a:r>
                        <a:rPr lang="fr-FR" sz="900" b="0" i="0" u="none" strike="noStrike">
                          <a:solidFill>
                            <a:srgbClr val="000000"/>
                          </a:solidFill>
                          <a:effectLst/>
                          <a:latin typeface="Aptos Narrow" panose="020B0004020202020204" pitchFamily="34" charset="0"/>
                        </a:rPr>
                        <a:t> Seniors active 55-74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21,0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5DF82"/>
                    </a:solidFill>
                  </a:tcPr>
                </a:tc>
                <a:tc>
                  <a:txBody>
                    <a:bodyPr/>
                    <a:lstStyle/>
                    <a:p>
                      <a:pPr algn="r" fontAlgn="b">
                        <a:buNone/>
                      </a:pPr>
                      <a:r>
                        <a:rPr lang="fr-FR" sz="900" b="0" i="0" u="none" strike="noStrike">
                          <a:solidFill>
                            <a:srgbClr val="000000"/>
                          </a:solidFill>
                          <a:effectLst/>
                          <a:latin typeface="Aptos Narrow" panose="020B0004020202020204" pitchFamily="34" charset="0"/>
                        </a:rPr>
                        <a:t>13,6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783"/>
                    </a:solidFill>
                  </a:tcPr>
                </a:tc>
                <a:tc>
                  <a:txBody>
                    <a:bodyPr/>
                    <a:lstStyle/>
                    <a:p>
                      <a:pPr algn="r" fontAlgn="b">
                        <a:buNone/>
                      </a:pPr>
                      <a:r>
                        <a:rPr lang="fr-FR" sz="900" b="0" i="0" u="none" strike="noStrike">
                          <a:solidFill>
                            <a:srgbClr val="00B050"/>
                          </a:solidFill>
                          <a:effectLst/>
                          <a:latin typeface="Aptos Narrow" panose="020B0004020202020204" pitchFamily="34" charset="0"/>
                        </a:rPr>
                        <a:t>7,4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10917726"/>
                  </a:ext>
                </a:extLst>
              </a:tr>
              <a:tr h="146282">
                <a:tc>
                  <a:txBody>
                    <a:bodyPr/>
                    <a:lstStyle/>
                    <a:p>
                      <a:pPr algn="l" fontAlgn="b">
                        <a:buNone/>
                      </a:pPr>
                      <a:r>
                        <a:rPr lang="fr-FR" sz="900" b="0" i="0" u="none" strike="noStrike">
                          <a:solidFill>
                            <a:srgbClr val="000000"/>
                          </a:solidFill>
                          <a:effectLst/>
                          <a:latin typeface="Aptos Narrow" panose="020B0004020202020204" pitchFamily="34" charset="0"/>
                        </a:rPr>
                        <a:t> Seniors&gt;75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25,0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9D780"/>
                    </a:solidFill>
                  </a:tcPr>
                </a:tc>
                <a:tc>
                  <a:txBody>
                    <a:bodyPr/>
                    <a:lstStyle/>
                    <a:p>
                      <a:pPr algn="r" fontAlgn="b">
                        <a:buNone/>
                      </a:pPr>
                      <a:r>
                        <a:rPr lang="fr-FR" sz="900" b="0" i="0" u="none" strike="noStrike">
                          <a:solidFill>
                            <a:srgbClr val="000000"/>
                          </a:solidFill>
                          <a:effectLst/>
                          <a:latin typeface="Aptos Narrow" panose="020B0004020202020204" pitchFamily="34" charset="0"/>
                        </a:rPr>
                        <a:t>7,4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17F"/>
                    </a:solidFill>
                  </a:tcPr>
                </a:tc>
                <a:tc>
                  <a:txBody>
                    <a:bodyPr/>
                    <a:lstStyle/>
                    <a:p>
                      <a:pPr algn="r" fontAlgn="b">
                        <a:buNone/>
                      </a:pPr>
                      <a:r>
                        <a:rPr lang="fr-FR" sz="900" b="0" i="0" u="none" strike="noStrike">
                          <a:solidFill>
                            <a:srgbClr val="00B050"/>
                          </a:solidFill>
                          <a:effectLst/>
                          <a:latin typeface="Aptos Narrow" panose="020B0004020202020204" pitchFamily="34" charset="0"/>
                        </a:rPr>
                        <a:t>17,6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82265287"/>
                  </a:ext>
                </a:extLst>
              </a:tr>
              <a:tr h="146282">
                <a:tc>
                  <a:txBody>
                    <a:bodyPr/>
                    <a:lstStyle/>
                    <a:p>
                      <a:pPr algn="l" fontAlgn="b">
                        <a:buNone/>
                      </a:pPr>
                      <a:r>
                        <a:rPr lang="fr-FR" sz="900" b="0" i="0" u="none" strike="noStrike">
                          <a:solidFill>
                            <a:srgbClr val="000000"/>
                          </a:solidFill>
                          <a:effectLst/>
                          <a:latin typeface="Aptos Narrow" panose="020B0004020202020204" pitchFamily="34" charset="0"/>
                        </a:rPr>
                        <a:t> Young Adults 18-34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21,4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2DE82"/>
                    </a:solidFill>
                  </a:tcPr>
                </a:tc>
                <a:tc>
                  <a:txBody>
                    <a:bodyPr/>
                    <a:lstStyle/>
                    <a:p>
                      <a:pPr algn="r" fontAlgn="b">
                        <a:buNone/>
                      </a:pPr>
                      <a:r>
                        <a:rPr lang="fr-FR" sz="900" b="0" i="0" u="none" strike="noStrike">
                          <a:solidFill>
                            <a:srgbClr val="000000"/>
                          </a:solidFill>
                          <a:effectLst/>
                          <a:latin typeface="Aptos Narrow" panose="020B0004020202020204" pitchFamily="34" charset="0"/>
                        </a:rPr>
                        <a:t>9,4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880"/>
                    </a:solidFill>
                  </a:tcPr>
                </a:tc>
                <a:tc>
                  <a:txBody>
                    <a:bodyPr/>
                    <a:lstStyle/>
                    <a:p>
                      <a:pPr algn="r" fontAlgn="b">
                        <a:buNone/>
                      </a:pPr>
                      <a:r>
                        <a:rPr lang="fr-FR" sz="900" b="0" i="0" u="none" strike="noStrike">
                          <a:solidFill>
                            <a:srgbClr val="00B050"/>
                          </a:solidFill>
                          <a:effectLst/>
                          <a:latin typeface="Aptos Narrow" panose="020B0004020202020204" pitchFamily="34" charset="0"/>
                        </a:rPr>
                        <a:t>12,0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26417774"/>
                  </a:ext>
                </a:extLst>
              </a:tr>
            </a:tbl>
          </a:graphicData>
        </a:graphic>
      </p:graphicFrame>
      <p:graphicFrame>
        <p:nvGraphicFramePr>
          <p:cNvPr id="15" name="Table 14">
            <a:extLst>
              <a:ext uri="{FF2B5EF4-FFF2-40B4-BE49-F238E27FC236}">
                <a16:creationId xmlns:a16="http://schemas.microsoft.com/office/drawing/2014/main" id="{092AEC4E-DCD5-0838-CF7F-0CB1C34B5B96}"/>
              </a:ext>
            </a:extLst>
          </p:cNvPr>
          <p:cNvGraphicFramePr>
            <a:graphicFrameLocks noGrp="1"/>
          </p:cNvGraphicFramePr>
          <p:nvPr/>
        </p:nvGraphicFramePr>
        <p:xfrm>
          <a:off x="4832739" y="2861744"/>
          <a:ext cx="2235392" cy="2779364"/>
        </p:xfrm>
        <a:graphic>
          <a:graphicData uri="http://schemas.openxmlformats.org/drawingml/2006/table">
            <a:tbl>
              <a:tblPr/>
              <a:tblGrid>
                <a:gridCol w="1353464">
                  <a:extLst>
                    <a:ext uri="{9D8B030D-6E8A-4147-A177-3AD203B41FA5}">
                      <a16:colId xmlns:a16="http://schemas.microsoft.com/office/drawing/2014/main" val="3944374328"/>
                    </a:ext>
                  </a:extLst>
                </a:gridCol>
                <a:gridCol w="293976">
                  <a:extLst>
                    <a:ext uri="{9D8B030D-6E8A-4147-A177-3AD203B41FA5}">
                      <a16:colId xmlns:a16="http://schemas.microsoft.com/office/drawing/2014/main" val="2565536752"/>
                    </a:ext>
                  </a:extLst>
                </a:gridCol>
                <a:gridCol w="293976">
                  <a:extLst>
                    <a:ext uri="{9D8B030D-6E8A-4147-A177-3AD203B41FA5}">
                      <a16:colId xmlns:a16="http://schemas.microsoft.com/office/drawing/2014/main" val="2538898601"/>
                    </a:ext>
                  </a:extLst>
                </a:gridCol>
                <a:gridCol w="293976">
                  <a:extLst>
                    <a:ext uri="{9D8B030D-6E8A-4147-A177-3AD203B41FA5}">
                      <a16:colId xmlns:a16="http://schemas.microsoft.com/office/drawing/2014/main" val="2590696629"/>
                    </a:ext>
                  </a:extLst>
                </a:gridCol>
              </a:tblGrid>
              <a:tr h="142550">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8735993"/>
                  </a:ext>
                </a:extLst>
              </a:tr>
              <a:tr h="142550">
                <a:tc>
                  <a:txBody>
                    <a:bodyPr/>
                    <a:lstStyle/>
                    <a:p>
                      <a:pPr algn="l" fontAlgn="b">
                        <a:buNone/>
                      </a:pPr>
                      <a:r>
                        <a:rPr lang="fr-FR" sz="900" b="1" i="0" u="none" strike="noStrike">
                          <a:solidFill>
                            <a:srgbClr val="000000"/>
                          </a:solidFill>
                          <a:effectLst/>
                          <a:latin typeface="Aptos Narrow" panose="020B0004020202020204" pitchFamily="34" charset="0"/>
                        </a:rPr>
                        <a:t>Het Meerdal</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31,9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AC97E"/>
                    </a:solidFill>
                  </a:tcPr>
                </a:tc>
                <a:tc>
                  <a:txBody>
                    <a:bodyPr/>
                    <a:lstStyle/>
                    <a:p>
                      <a:pPr algn="r" fontAlgn="b">
                        <a:buNone/>
                      </a:pPr>
                      <a:r>
                        <a:rPr lang="fr-FR" sz="900" b="1" i="0" u="none" strike="noStrike">
                          <a:solidFill>
                            <a:srgbClr val="000000"/>
                          </a:solidFill>
                          <a:effectLst/>
                          <a:latin typeface="Aptos Narrow" panose="020B0004020202020204" pitchFamily="34" charset="0"/>
                        </a:rPr>
                        <a:t>25,4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6D680"/>
                    </a:solidFill>
                  </a:tcPr>
                </a:tc>
                <a:tc>
                  <a:txBody>
                    <a:bodyPr/>
                    <a:lstStyle/>
                    <a:p>
                      <a:pPr algn="r" fontAlgn="b">
                        <a:buNone/>
                      </a:pPr>
                      <a:r>
                        <a:rPr lang="fr-FR" sz="900" b="1" i="0" u="none" strike="noStrike">
                          <a:solidFill>
                            <a:srgbClr val="00B050"/>
                          </a:solidFill>
                          <a:effectLst/>
                          <a:latin typeface="Aptos Narrow" panose="020B0004020202020204" pitchFamily="34" charset="0"/>
                        </a:rPr>
                        <a:t>6,5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91225071"/>
                  </a:ext>
                </a:extLst>
              </a:tr>
              <a:tr h="142550">
                <a:tc>
                  <a:txBody>
                    <a:bodyPr/>
                    <a:lstStyle/>
                    <a:p>
                      <a:pPr algn="l" fontAlgn="b">
                        <a:buNone/>
                      </a:pPr>
                      <a:r>
                        <a:rPr lang="fr-FR" sz="900" b="0" i="0" u="none" strike="noStrike">
                          <a:solidFill>
                            <a:srgbClr val="000000"/>
                          </a:solidFill>
                          <a:effectLst/>
                          <a:latin typeface="Aptos Narrow" panose="020B0004020202020204" pitchFamily="34" charset="0"/>
                        </a:rPr>
                        <a:t> Adults 35-54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32,3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7C97E"/>
                    </a:solidFill>
                  </a:tcPr>
                </a:tc>
                <a:tc>
                  <a:txBody>
                    <a:bodyPr/>
                    <a:lstStyle/>
                    <a:p>
                      <a:pPr algn="r" fontAlgn="b">
                        <a:buNone/>
                      </a:pPr>
                      <a:r>
                        <a:rPr lang="fr-FR" sz="900" b="0" i="0" u="none" strike="noStrike">
                          <a:solidFill>
                            <a:srgbClr val="000000"/>
                          </a:solidFill>
                          <a:effectLst/>
                          <a:latin typeface="Aptos Narrow" panose="020B0004020202020204" pitchFamily="34" charset="0"/>
                        </a:rPr>
                        <a:t>23,9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0D981"/>
                    </a:solidFill>
                  </a:tcPr>
                </a:tc>
                <a:tc>
                  <a:txBody>
                    <a:bodyPr/>
                    <a:lstStyle/>
                    <a:p>
                      <a:pPr algn="r" fontAlgn="b">
                        <a:buNone/>
                      </a:pPr>
                      <a:r>
                        <a:rPr lang="fr-FR" sz="900" b="0" i="0" u="none" strike="noStrike">
                          <a:solidFill>
                            <a:srgbClr val="00B050"/>
                          </a:solidFill>
                          <a:effectLst/>
                          <a:latin typeface="Aptos Narrow" panose="020B0004020202020204" pitchFamily="34" charset="0"/>
                        </a:rPr>
                        <a:t>8,4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78323876"/>
                  </a:ext>
                </a:extLst>
              </a:tr>
              <a:tr h="142550">
                <a:tc>
                  <a:txBody>
                    <a:bodyPr/>
                    <a:lstStyle/>
                    <a:p>
                      <a:pPr algn="l" fontAlgn="b">
                        <a:buNone/>
                      </a:pPr>
                      <a:r>
                        <a:rPr lang="fr-FR" sz="900" b="0" i="0" u="none" strike="noStrike">
                          <a:solidFill>
                            <a:srgbClr val="000000"/>
                          </a:solidFill>
                          <a:effectLst/>
                          <a:latin typeface="Aptos Narrow" panose="020B0004020202020204" pitchFamily="34" charset="0"/>
                        </a:rPr>
                        <a:t> Family with Children 0-2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30,6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2CC7E"/>
                    </a:solidFill>
                  </a:tcPr>
                </a:tc>
                <a:tc>
                  <a:txBody>
                    <a:bodyPr/>
                    <a:lstStyle/>
                    <a:p>
                      <a:pPr algn="r" fontAlgn="b">
                        <a:buNone/>
                      </a:pPr>
                      <a:r>
                        <a:rPr lang="fr-FR" sz="900" b="0" i="0" u="none" strike="noStrike">
                          <a:solidFill>
                            <a:srgbClr val="000000"/>
                          </a:solidFill>
                          <a:effectLst/>
                          <a:latin typeface="Aptos Narrow" panose="020B0004020202020204" pitchFamily="34" charset="0"/>
                        </a:rPr>
                        <a:t>22,0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EDD82"/>
                    </a:solidFill>
                  </a:tcPr>
                </a:tc>
                <a:tc>
                  <a:txBody>
                    <a:bodyPr/>
                    <a:lstStyle/>
                    <a:p>
                      <a:pPr algn="r" fontAlgn="b">
                        <a:buNone/>
                      </a:pPr>
                      <a:r>
                        <a:rPr lang="fr-FR" sz="900" b="0" i="0" u="none" strike="noStrike">
                          <a:solidFill>
                            <a:srgbClr val="00B050"/>
                          </a:solidFill>
                          <a:effectLst/>
                          <a:latin typeface="Aptos Narrow" panose="020B0004020202020204" pitchFamily="34" charset="0"/>
                        </a:rPr>
                        <a:t>8,7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76219907"/>
                  </a:ext>
                </a:extLst>
              </a:tr>
              <a:tr h="178007">
                <a:tc>
                  <a:txBody>
                    <a:bodyPr/>
                    <a:lstStyle/>
                    <a:p>
                      <a:pPr algn="l" fontAlgn="b">
                        <a:buNone/>
                      </a:pPr>
                      <a:r>
                        <a:rPr lang="fr-FR" sz="900" b="0" i="0" u="none" strike="noStrike">
                          <a:solidFill>
                            <a:srgbClr val="000000"/>
                          </a:solidFill>
                          <a:effectLst/>
                          <a:latin typeface="Aptos Narrow" panose="020B0004020202020204" pitchFamily="34" charset="0"/>
                        </a:rPr>
                        <a:t> Family with Children 12-17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28,9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ECF7F"/>
                    </a:solidFill>
                  </a:tcPr>
                </a:tc>
                <a:tc>
                  <a:txBody>
                    <a:bodyPr/>
                    <a:lstStyle/>
                    <a:p>
                      <a:pPr algn="r" fontAlgn="b">
                        <a:buNone/>
                      </a:pPr>
                      <a:r>
                        <a:rPr lang="fr-FR" sz="900" b="0" i="0" u="none" strike="noStrike">
                          <a:solidFill>
                            <a:srgbClr val="000000"/>
                          </a:solidFill>
                          <a:effectLst/>
                          <a:latin typeface="Aptos Narrow" panose="020B0004020202020204" pitchFamily="34" charset="0"/>
                        </a:rPr>
                        <a:t>17,3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EE683"/>
                    </a:solidFill>
                  </a:tcPr>
                </a:tc>
                <a:tc>
                  <a:txBody>
                    <a:bodyPr/>
                    <a:lstStyle/>
                    <a:p>
                      <a:pPr algn="r" fontAlgn="b">
                        <a:buNone/>
                      </a:pPr>
                      <a:r>
                        <a:rPr lang="fr-FR" sz="900" b="0" i="0" u="none" strike="noStrike">
                          <a:solidFill>
                            <a:srgbClr val="00B050"/>
                          </a:solidFill>
                          <a:effectLst/>
                          <a:latin typeface="Aptos Narrow" panose="020B0004020202020204" pitchFamily="34" charset="0"/>
                        </a:rPr>
                        <a:t>11,6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42997329"/>
                  </a:ext>
                </a:extLst>
              </a:tr>
              <a:tr h="142550">
                <a:tc>
                  <a:txBody>
                    <a:bodyPr/>
                    <a:lstStyle/>
                    <a:p>
                      <a:pPr algn="l" fontAlgn="b">
                        <a:buNone/>
                      </a:pPr>
                      <a:r>
                        <a:rPr lang="fr-FR" sz="900" b="0" i="0" u="none" strike="noStrike">
                          <a:solidFill>
                            <a:srgbClr val="000000"/>
                          </a:solidFill>
                          <a:effectLst/>
                          <a:latin typeface="Aptos Narrow" panose="020B0004020202020204" pitchFamily="34" charset="0"/>
                        </a:rPr>
                        <a:t> Family with Children 3-4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37,5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900" b="0" i="0" u="none" strike="noStrike">
                          <a:solidFill>
                            <a:srgbClr val="000000"/>
                          </a:solidFill>
                          <a:effectLst/>
                          <a:latin typeface="Aptos Narrow" panose="020B0004020202020204" pitchFamily="34" charset="0"/>
                        </a:rPr>
                        <a:t>30,8</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1CC7E"/>
                    </a:solidFill>
                  </a:tcPr>
                </a:tc>
                <a:tc>
                  <a:txBody>
                    <a:bodyPr/>
                    <a:lstStyle/>
                    <a:p>
                      <a:pPr algn="r" fontAlgn="b">
                        <a:buNone/>
                      </a:pPr>
                      <a:r>
                        <a:rPr lang="fr-FR" sz="900" b="0" i="0" u="none" strike="noStrike">
                          <a:solidFill>
                            <a:srgbClr val="00B050"/>
                          </a:solidFill>
                          <a:effectLst/>
                          <a:latin typeface="Aptos Narrow" panose="020B0004020202020204" pitchFamily="34" charset="0"/>
                        </a:rPr>
                        <a:t>6,7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08952555"/>
                  </a:ext>
                </a:extLst>
              </a:tr>
              <a:tr h="142550">
                <a:tc>
                  <a:txBody>
                    <a:bodyPr/>
                    <a:lstStyle/>
                    <a:p>
                      <a:pPr algn="l" fontAlgn="b">
                        <a:buNone/>
                      </a:pPr>
                      <a:r>
                        <a:rPr lang="fr-FR" sz="900" b="0" i="0" u="none" strike="noStrike">
                          <a:solidFill>
                            <a:srgbClr val="000000"/>
                          </a:solidFill>
                          <a:effectLst/>
                          <a:latin typeface="Aptos Narrow" panose="020B0004020202020204" pitchFamily="34" charset="0"/>
                        </a:rPr>
                        <a:t> Family with Children 5-11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32,5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5C87D"/>
                    </a:solidFill>
                  </a:tcPr>
                </a:tc>
                <a:tc>
                  <a:txBody>
                    <a:bodyPr/>
                    <a:lstStyle/>
                    <a:p>
                      <a:pPr algn="r" fontAlgn="b">
                        <a:buNone/>
                      </a:pPr>
                      <a:r>
                        <a:rPr lang="fr-FR" sz="900" b="0" i="0" u="none" strike="noStrike">
                          <a:solidFill>
                            <a:srgbClr val="000000"/>
                          </a:solidFill>
                          <a:effectLst/>
                          <a:latin typeface="Aptos Narrow" panose="020B0004020202020204" pitchFamily="34" charset="0"/>
                        </a:rPr>
                        <a:t>26,2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1D580"/>
                    </a:solidFill>
                  </a:tcPr>
                </a:tc>
                <a:tc>
                  <a:txBody>
                    <a:bodyPr/>
                    <a:lstStyle/>
                    <a:p>
                      <a:pPr algn="r" fontAlgn="b">
                        <a:buNone/>
                      </a:pPr>
                      <a:r>
                        <a:rPr lang="fr-FR" sz="900" b="0" i="0" u="none" strike="noStrike">
                          <a:solidFill>
                            <a:srgbClr val="00B050"/>
                          </a:solidFill>
                          <a:effectLst/>
                          <a:latin typeface="Aptos Narrow" panose="020B0004020202020204" pitchFamily="34" charset="0"/>
                        </a:rPr>
                        <a:t>6,4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10291198"/>
                  </a:ext>
                </a:extLst>
              </a:tr>
              <a:tr h="142550">
                <a:tc>
                  <a:txBody>
                    <a:bodyPr/>
                    <a:lstStyle/>
                    <a:p>
                      <a:pPr algn="l" fontAlgn="b">
                        <a:buNone/>
                      </a:pPr>
                      <a:r>
                        <a:rPr lang="fr-FR" sz="900" b="0" i="0" u="none" strike="noStrike">
                          <a:solidFill>
                            <a:srgbClr val="000000"/>
                          </a:solidFill>
                          <a:effectLst/>
                          <a:latin typeface="Aptos Narrow" panose="020B0004020202020204" pitchFamily="34" charset="0"/>
                        </a:rPr>
                        <a:t> Seniors active 55-74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31,0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0CB7E"/>
                    </a:solidFill>
                  </a:tcPr>
                </a:tc>
                <a:tc>
                  <a:txBody>
                    <a:bodyPr/>
                    <a:lstStyle/>
                    <a:p>
                      <a:pPr algn="r" fontAlgn="b">
                        <a:buNone/>
                      </a:pPr>
                      <a:r>
                        <a:rPr lang="fr-FR" sz="900" b="0" i="0" u="none" strike="noStrike">
                          <a:solidFill>
                            <a:srgbClr val="000000"/>
                          </a:solidFill>
                          <a:effectLst/>
                          <a:latin typeface="Aptos Narrow" panose="020B0004020202020204" pitchFamily="34" charset="0"/>
                        </a:rPr>
                        <a:t>29,2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CCF7F"/>
                    </a:solidFill>
                  </a:tcPr>
                </a:tc>
                <a:tc>
                  <a:txBody>
                    <a:bodyPr/>
                    <a:lstStyle/>
                    <a:p>
                      <a:pPr algn="r" fontAlgn="b">
                        <a:buNone/>
                      </a:pPr>
                      <a:r>
                        <a:rPr lang="fr-FR" sz="900" b="0" i="0" u="none" strike="noStrike">
                          <a:solidFill>
                            <a:srgbClr val="00B050"/>
                          </a:solidFill>
                          <a:effectLst/>
                          <a:latin typeface="Aptos Narrow" panose="020B0004020202020204" pitchFamily="34" charset="0"/>
                        </a:rPr>
                        <a:t>1,8</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93827176"/>
                  </a:ext>
                </a:extLst>
              </a:tr>
              <a:tr h="142550">
                <a:tc>
                  <a:txBody>
                    <a:bodyPr/>
                    <a:lstStyle/>
                    <a:p>
                      <a:pPr algn="l" fontAlgn="b">
                        <a:buNone/>
                      </a:pPr>
                      <a:r>
                        <a:rPr lang="fr-FR" sz="900" b="0" i="0" u="none" strike="noStrike">
                          <a:solidFill>
                            <a:srgbClr val="000000"/>
                          </a:solidFill>
                          <a:effectLst/>
                          <a:latin typeface="Aptos Narrow" panose="020B0004020202020204" pitchFamily="34" charset="0"/>
                        </a:rPr>
                        <a:t> Seniors&gt;75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31,3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ECB7E"/>
                    </a:solidFill>
                  </a:tcPr>
                </a:tc>
                <a:tc>
                  <a:txBody>
                    <a:bodyPr/>
                    <a:lstStyle/>
                    <a:p>
                      <a:pPr algn="r" fontAlgn="b">
                        <a:buNone/>
                      </a:pPr>
                      <a:r>
                        <a:rPr lang="fr-FR" sz="900" b="0" i="0" u="none" strike="noStrike">
                          <a:solidFill>
                            <a:srgbClr val="000000"/>
                          </a:solidFill>
                          <a:effectLst/>
                          <a:latin typeface="Aptos Narrow" panose="020B0004020202020204" pitchFamily="34" charset="0"/>
                        </a:rPr>
                        <a:t>26,1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2D580"/>
                    </a:solidFill>
                  </a:tcPr>
                </a:tc>
                <a:tc>
                  <a:txBody>
                    <a:bodyPr/>
                    <a:lstStyle/>
                    <a:p>
                      <a:pPr algn="r" fontAlgn="b">
                        <a:buNone/>
                      </a:pPr>
                      <a:r>
                        <a:rPr lang="fr-FR" sz="900" b="0" i="0" u="none" strike="noStrike">
                          <a:solidFill>
                            <a:srgbClr val="00B050"/>
                          </a:solidFill>
                          <a:effectLst/>
                          <a:latin typeface="Aptos Narrow" panose="020B0004020202020204" pitchFamily="34" charset="0"/>
                        </a:rPr>
                        <a:t>5,2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4280242"/>
                  </a:ext>
                </a:extLst>
              </a:tr>
              <a:tr h="142550">
                <a:tc>
                  <a:txBody>
                    <a:bodyPr/>
                    <a:lstStyle/>
                    <a:p>
                      <a:pPr algn="l" fontAlgn="b">
                        <a:buNone/>
                      </a:pPr>
                      <a:r>
                        <a:rPr lang="fr-FR" sz="900" b="0" i="0" u="none" strike="noStrike">
                          <a:solidFill>
                            <a:srgbClr val="000000"/>
                          </a:solidFill>
                          <a:effectLst/>
                          <a:latin typeface="Aptos Narrow" panose="020B0004020202020204" pitchFamily="34" charset="0"/>
                        </a:rPr>
                        <a:t> Young Adults 18-34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29,4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BCE7F"/>
                    </a:solidFill>
                  </a:tcPr>
                </a:tc>
                <a:tc>
                  <a:txBody>
                    <a:bodyPr/>
                    <a:lstStyle/>
                    <a:p>
                      <a:pPr algn="r" fontAlgn="b">
                        <a:buNone/>
                      </a:pPr>
                      <a:r>
                        <a:rPr lang="fr-FR" sz="900" b="0" i="0" u="none" strike="noStrike">
                          <a:solidFill>
                            <a:srgbClr val="000000"/>
                          </a:solidFill>
                          <a:effectLst/>
                          <a:latin typeface="Aptos Narrow" panose="020B0004020202020204" pitchFamily="34" charset="0"/>
                        </a:rPr>
                        <a:t>23,3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5DB81"/>
                    </a:solidFill>
                  </a:tcPr>
                </a:tc>
                <a:tc>
                  <a:txBody>
                    <a:bodyPr/>
                    <a:lstStyle/>
                    <a:p>
                      <a:pPr algn="r" fontAlgn="b">
                        <a:buNone/>
                      </a:pPr>
                      <a:r>
                        <a:rPr lang="fr-FR" sz="900" b="0" i="0" u="none" strike="noStrike">
                          <a:solidFill>
                            <a:srgbClr val="00B050"/>
                          </a:solidFill>
                          <a:effectLst/>
                          <a:latin typeface="Aptos Narrow" panose="020B0004020202020204" pitchFamily="34" charset="0"/>
                        </a:rPr>
                        <a:t>6,1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53520416"/>
                  </a:ext>
                </a:extLst>
              </a:tr>
              <a:tr h="142550">
                <a:tc>
                  <a:txBody>
                    <a:bodyPr/>
                    <a:lstStyle/>
                    <a:p>
                      <a:pPr algn="l" fontAlgn="b">
                        <a:buNone/>
                      </a:pPr>
                      <a:r>
                        <a:rPr lang="fr-FR" sz="900" b="1" i="0" u="none" strike="noStrike">
                          <a:solidFill>
                            <a:srgbClr val="000000"/>
                          </a:solidFill>
                          <a:effectLst/>
                          <a:latin typeface="Aptos Narrow" panose="020B0004020202020204" pitchFamily="34" charset="0"/>
                        </a:rPr>
                        <a:t>Limburgse Peel</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3,0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27C"/>
                    </a:solidFill>
                  </a:tcPr>
                </a:tc>
                <a:tc>
                  <a:txBody>
                    <a:bodyPr/>
                    <a:lstStyle/>
                    <a:p>
                      <a:pPr algn="r" fontAlgn="b">
                        <a:buNone/>
                      </a:pPr>
                      <a:r>
                        <a:rPr lang="fr-FR" sz="900" b="1" i="0" u="none" strike="noStrike">
                          <a:solidFill>
                            <a:srgbClr val="000000"/>
                          </a:solidFill>
                          <a:effectLst/>
                          <a:latin typeface="Aptos Narrow" panose="020B0004020202020204" pitchFamily="34" charset="0"/>
                        </a:rPr>
                        <a:t>-6,0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376"/>
                    </a:solidFill>
                  </a:tcPr>
                </a:tc>
                <a:tc>
                  <a:txBody>
                    <a:bodyPr/>
                    <a:lstStyle/>
                    <a:p>
                      <a:pPr algn="r" fontAlgn="b">
                        <a:buNone/>
                      </a:pPr>
                      <a:r>
                        <a:rPr lang="fr-FR" sz="900" b="1" i="0" u="none" strike="noStrike">
                          <a:solidFill>
                            <a:srgbClr val="00B050"/>
                          </a:solidFill>
                          <a:effectLst/>
                          <a:latin typeface="Aptos Narrow" panose="020B0004020202020204" pitchFamily="34" charset="0"/>
                        </a:rPr>
                        <a:t>8,9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58824853"/>
                  </a:ext>
                </a:extLst>
              </a:tr>
              <a:tr h="142550">
                <a:tc>
                  <a:txBody>
                    <a:bodyPr/>
                    <a:lstStyle/>
                    <a:p>
                      <a:pPr algn="l" fontAlgn="b">
                        <a:buNone/>
                      </a:pPr>
                      <a:r>
                        <a:rPr lang="fr-FR" sz="900" b="0" i="0" u="none" strike="noStrike">
                          <a:solidFill>
                            <a:srgbClr val="000000"/>
                          </a:solidFill>
                          <a:effectLst/>
                          <a:latin typeface="Aptos Narrow" panose="020B0004020202020204" pitchFamily="34" charset="0"/>
                        </a:rPr>
                        <a:t> Adults 35-54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10,5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C81"/>
                    </a:solidFill>
                  </a:tcPr>
                </a:tc>
                <a:tc>
                  <a:txBody>
                    <a:bodyPr/>
                    <a:lstStyle/>
                    <a:p>
                      <a:pPr algn="r" fontAlgn="b">
                        <a:buNone/>
                      </a:pPr>
                      <a:r>
                        <a:rPr lang="fr-FR" sz="900" b="0" i="0" u="none" strike="noStrike">
                          <a:solidFill>
                            <a:srgbClr val="000000"/>
                          </a:solidFill>
                          <a:effectLst/>
                          <a:latin typeface="Aptos Narrow" panose="020B0004020202020204" pitchFamily="34" charset="0"/>
                        </a:rPr>
                        <a:t>-2,0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B178"/>
                    </a:solidFill>
                  </a:tcPr>
                </a:tc>
                <a:tc>
                  <a:txBody>
                    <a:bodyPr/>
                    <a:lstStyle/>
                    <a:p>
                      <a:pPr algn="r" fontAlgn="b">
                        <a:buNone/>
                      </a:pPr>
                      <a:r>
                        <a:rPr lang="fr-FR" sz="900" b="0" i="0" u="none" strike="noStrike">
                          <a:solidFill>
                            <a:srgbClr val="00B050"/>
                          </a:solidFill>
                          <a:effectLst/>
                          <a:latin typeface="Aptos Narrow" panose="020B0004020202020204" pitchFamily="34" charset="0"/>
                        </a:rPr>
                        <a:t>12,5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7683560"/>
                  </a:ext>
                </a:extLst>
              </a:tr>
              <a:tr h="142550">
                <a:tc>
                  <a:txBody>
                    <a:bodyPr/>
                    <a:lstStyle/>
                    <a:p>
                      <a:pPr algn="l" fontAlgn="b">
                        <a:buNone/>
                      </a:pPr>
                      <a:r>
                        <a:rPr lang="fr-FR" sz="900" b="0" i="0" u="none" strike="noStrike">
                          <a:solidFill>
                            <a:srgbClr val="000000"/>
                          </a:solidFill>
                          <a:effectLst/>
                          <a:latin typeface="Aptos Narrow" panose="020B0004020202020204" pitchFamily="34" charset="0"/>
                        </a:rPr>
                        <a:t> Family with Children 0-2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-7,9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C74"/>
                    </a:solidFill>
                  </a:tcPr>
                </a:tc>
                <a:tc>
                  <a:txBody>
                    <a:bodyPr/>
                    <a:lstStyle/>
                    <a:p>
                      <a:pPr algn="r" fontAlgn="b">
                        <a:buNone/>
                      </a:pPr>
                      <a:r>
                        <a:rPr lang="fr-FR" sz="900" b="0" i="0" u="none" strike="noStrike">
                          <a:solidFill>
                            <a:srgbClr val="000000"/>
                          </a:solidFill>
                          <a:effectLst/>
                          <a:latin typeface="Aptos Narrow" panose="020B0004020202020204" pitchFamily="34" charset="0"/>
                        </a:rPr>
                        <a:t>-17,9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A6E"/>
                    </a:solidFill>
                  </a:tcPr>
                </a:tc>
                <a:tc>
                  <a:txBody>
                    <a:bodyPr/>
                    <a:lstStyle/>
                    <a:p>
                      <a:pPr algn="r" fontAlgn="b">
                        <a:buNone/>
                      </a:pPr>
                      <a:r>
                        <a:rPr lang="fr-FR" sz="900" b="0" i="0" u="none" strike="noStrike">
                          <a:solidFill>
                            <a:srgbClr val="00B050"/>
                          </a:solidFill>
                          <a:effectLst/>
                          <a:latin typeface="Aptos Narrow" panose="020B0004020202020204" pitchFamily="34" charset="0"/>
                        </a:rPr>
                        <a:t>10,0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5127624"/>
                  </a:ext>
                </a:extLst>
              </a:tr>
              <a:tr h="178007">
                <a:tc>
                  <a:txBody>
                    <a:bodyPr/>
                    <a:lstStyle/>
                    <a:p>
                      <a:pPr algn="l" fontAlgn="b">
                        <a:buNone/>
                      </a:pPr>
                      <a:r>
                        <a:rPr lang="fr-FR" sz="900" b="0" i="0" u="none" strike="noStrike">
                          <a:solidFill>
                            <a:srgbClr val="000000"/>
                          </a:solidFill>
                          <a:effectLst/>
                          <a:latin typeface="Aptos Narrow" panose="020B0004020202020204" pitchFamily="34" charset="0"/>
                        </a:rPr>
                        <a:t> Family with Children 12-17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0,0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87A"/>
                    </a:solidFill>
                  </a:tcPr>
                </a:tc>
                <a:tc>
                  <a:txBody>
                    <a:bodyPr/>
                    <a:lstStyle/>
                    <a:p>
                      <a:pPr algn="r" fontAlgn="b">
                        <a:buNone/>
                      </a:pPr>
                      <a:r>
                        <a:rPr lang="fr-FR" sz="900" b="0" i="0" u="none" strike="noStrike">
                          <a:solidFill>
                            <a:srgbClr val="000000"/>
                          </a:solidFill>
                          <a:effectLst/>
                          <a:latin typeface="Aptos Narrow" panose="020B0004020202020204" pitchFamily="34" charset="0"/>
                        </a:rPr>
                        <a:t>-8,9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974"/>
                    </a:solidFill>
                  </a:tcPr>
                </a:tc>
                <a:tc>
                  <a:txBody>
                    <a:bodyPr/>
                    <a:lstStyle/>
                    <a:p>
                      <a:pPr algn="r" fontAlgn="b">
                        <a:buNone/>
                      </a:pPr>
                      <a:r>
                        <a:rPr lang="fr-FR" sz="900" b="0" i="0" u="none" strike="noStrike">
                          <a:solidFill>
                            <a:srgbClr val="00B050"/>
                          </a:solidFill>
                          <a:effectLst/>
                          <a:latin typeface="Aptos Narrow" panose="020B0004020202020204" pitchFamily="34" charset="0"/>
                        </a:rPr>
                        <a:t>8,9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5560349"/>
                  </a:ext>
                </a:extLst>
              </a:tr>
              <a:tr h="142550">
                <a:tc>
                  <a:txBody>
                    <a:bodyPr/>
                    <a:lstStyle/>
                    <a:p>
                      <a:pPr algn="l" fontAlgn="b">
                        <a:buNone/>
                      </a:pPr>
                      <a:r>
                        <a:rPr lang="fr-FR" sz="900" b="0" i="0" u="none" strike="noStrike">
                          <a:solidFill>
                            <a:srgbClr val="000000"/>
                          </a:solidFill>
                          <a:effectLst/>
                          <a:latin typeface="Aptos Narrow" panose="020B0004020202020204" pitchFamily="34" charset="0"/>
                        </a:rPr>
                        <a:t> Family with Children 3-4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C78"/>
                    </a:solidFill>
                  </a:tcPr>
                </a:tc>
                <a:tc>
                  <a:txBody>
                    <a:bodyPr/>
                    <a:lstStyle/>
                    <a:p>
                      <a:pPr algn="r" fontAlgn="b">
                        <a:buNone/>
                      </a:pPr>
                      <a:r>
                        <a:rPr lang="fr-FR" sz="900" b="0" i="0" u="none" strike="noStrike">
                          <a:solidFill>
                            <a:srgbClr val="000000"/>
                          </a:solidFill>
                          <a:effectLst/>
                          <a:latin typeface="Aptos Narrow" panose="020B0004020202020204" pitchFamily="34" charset="0"/>
                        </a:rPr>
                        <a:t>-8,2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C74"/>
                    </a:solidFill>
                  </a:tcPr>
                </a:tc>
                <a:tc>
                  <a:txBody>
                    <a:bodyPr/>
                    <a:lstStyle/>
                    <a:p>
                      <a:pPr algn="r" fontAlgn="b">
                        <a:buNone/>
                      </a:pPr>
                      <a:r>
                        <a:rPr lang="fr-FR" sz="900" b="0" i="0" u="none" strike="noStrike">
                          <a:solidFill>
                            <a:srgbClr val="00B050"/>
                          </a:solidFill>
                          <a:effectLst/>
                          <a:latin typeface="Aptos Narrow" panose="020B0004020202020204" pitchFamily="34" charset="0"/>
                        </a:rPr>
                        <a:t>4,9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3864342"/>
                  </a:ext>
                </a:extLst>
              </a:tr>
              <a:tr h="142550">
                <a:tc>
                  <a:txBody>
                    <a:bodyPr/>
                    <a:lstStyle/>
                    <a:p>
                      <a:pPr algn="l" fontAlgn="b">
                        <a:buNone/>
                      </a:pPr>
                      <a:r>
                        <a:rPr lang="fr-FR" sz="900" b="0" i="0" u="none" strike="noStrike">
                          <a:solidFill>
                            <a:srgbClr val="000000"/>
                          </a:solidFill>
                          <a:effectLst/>
                          <a:latin typeface="Aptos Narrow" panose="020B0004020202020204" pitchFamily="34" charset="0"/>
                        </a:rPr>
                        <a:t> Family with Children 5-11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D78"/>
                    </a:solidFill>
                  </a:tcPr>
                </a:tc>
                <a:tc>
                  <a:txBody>
                    <a:bodyPr/>
                    <a:lstStyle/>
                    <a:p>
                      <a:pPr algn="r" fontAlgn="b">
                        <a:buNone/>
                      </a:pPr>
                      <a:r>
                        <a:rPr lang="fr-FR" sz="900" b="0" i="0" u="none" strike="noStrike">
                          <a:solidFill>
                            <a:srgbClr val="000000"/>
                          </a:solidFill>
                          <a:effectLst/>
                          <a:latin typeface="Aptos Narrow" panose="020B0004020202020204" pitchFamily="34" charset="0"/>
                        </a:rPr>
                        <a:t>-9,7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673"/>
                    </a:solidFill>
                  </a:tcPr>
                </a:tc>
                <a:tc>
                  <a:txBody>
                    <a:bodyPr/>
                    <a:lstStyle/>
                    <a:p>
                      <a:pPr algn="r" fontAlgn="b">
                        <a:buNone/>
                      </a:pPr>
                      <a:r>
                        <a:rPr lang="fr-FR" sz="900" b="0" i="0" u="none" strike="noStrike">
                          <a:solidFill>
                            <a:srgbClr val="00B050"/>
                          </a:solidFill>
                          <a:effectLst/>
                          <a:latin typeface="Aptos Narrow" panose="020B0004020202020204" pitchFamily="34" charset="0"/>
                        </a:rPr>
                        <a:t>6,7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01776018"/>
                  </a:ext>
                </a:extLst>
              </a:tr>
              <a:tr h="142550">
                <a:tc>
                  <a:txBody>
                    <a:bodyPr/>
                    <a:lstStyle/>
                    <a:p>
                      <a:pPr algn="l" fontAlgn="b">
                        <a:buNone/>
                      </a:pPr>
                      <a:r>
                        <a:rPr lang="fr-FR" sz="900" b="0" i="0" u="none" strike="noStrike">
                          <a:solidFill>
                            <a:srgbClr val="000000"/>
                          </a:solidFill>
                          <a:effectLst/>
                          <a:latin typeface="Aptos Narrow" panose="020B0004020202020204" pitchFamily="34" charset="0"/>
                        </a:rPr>
                        <a:t> Seniors active 55-74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16,4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4E884"/>
                    </a:solidFill>
                  </a:tcPr>
                </a:tc>
                <a:tc>
                  <a:txBody>
                    <a:bodyPr/>
                    <a:lstStyle/>
                    <a:p>
                      <a:pPr algn="r" fontAlgn="b">
                        <a:buNone/>
                      </a:pPr>
                      <a:r>
                        <a:rPr lang="fr-FR" sz="900" b="0" i="0" u="none" strike="noStrike">
                          <a:solidFill>
                            <a:srgbClr val="000000"/>
                          </a:solidFill>
                          <a:effectLst/>
                          <a:latin typeface="Aptos Narrow" panose="020B0004020202020204" pitchFamily="34" charset="0"/>
                        </a:rPr>
                        <a:t>7,6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27F"/>
                    </a:solidFill>
                  </a:tcPr>
                </a:tc>
                <a:tc>
                  <a:txBody>
                    <a:bodyPr/>
                    <a:lstStyle/>
                    <a:p>
                      <a:pPr algn="r" fontAlgn="b">
                        <a:buNone/>
                      </a:pPr>
                      <a:r>
                        <a:rPr lang="fr-FR" sz="900" b="0" i="0" u="none" strike="noStrike">
                          <a:solidFill>
                            <a:srgbClr val="00B050"/>
                          </a:solidFill>
                          <a:effectLst/>
                          <a:latin typeface="Aptos Narrow" panose="020B0004020202020204" pitchFamily="34" charset="0"/>
                        </a:rPr>
                        <a:t>8,8</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78359059"/>
                  </a:ext>
                </a:extLst>
              </a:tr>
              <a:tr h="142550">
                <a:tc>
                  <a:txBody>
                    <a:bodyPr/>
                    <a:lstStyle/>
                    <a:p>
                      <a:pPr algn="l" fontAlgn="b">
                        <a:buNone/>
                      </a:pPr>
                      <a:r>
                        <a:rPr lang="fr-FR" sz="900" b="0" i="0" u="none" strike="noStrike">
                          <a:solidFill>
                            <a:srgbClr val="000000"/>
                          </a:solidFill>
                          <a:effectLst/>
                          <a:latin typeface="Aptos Narrow" panose="020B0004020202020204" pitchFamily="34" charset="0"/>
                        </a:rPr>
                        <a:t> Seniors&gt;75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18,5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6E483"/>
                    </a:solidFill>
                  </a:tcPr>
                </a:tc>
                <a:tc>
                  <a:txBody>
                    <a:bodyPr/>
                    <a:lstStyle/>
                    <a:p>
                      <a:pPr algn="r" fontAlgn="b">
                        <a:buNone/>
                      </a:pPr>
                      <a:r>
                        <a:rPr lang="fr-FR" sz="900" b="0" i="0" u="none" strike="noStrike">
                          <a:solidFill>
                            <a:srgbClr val="000000"/>
                          </a:solidFill>
                          <a:effectLst/>
                          <a:latin typeface="Aptos Narrow" panose="020B0004020202020204" pitchFamily="34" charset="0"/>
                        </a:rPr>
                        <a:t>8,6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57F"/>
                    </a:solidFill>
                  </a:tcPr>
                </a:tc>
                <a:tc>
                  <a:txBody>
                    <a:bodyPr/>
                    <a:lstStyle/>
                    <a:p>
                      <a:pPr algn="r" fontAlgn="b">
                        <a:buNone/>
                      </a:pPr>
                      <a:r>
                        <a:rPr lang="fr-FR" sz="900" b="0" i="0" u="none" strike="noStrike">
                          <a:solidFill>
                            <a:srgbClr val="00B050"/>
                          </a:solidFill>
                          <a:effectLst/>
                          <a:latin typeface="Aptos Narrow" panose="020B0004020202020204" pitchFamily="34" charset="0"/>
                        </a:rPr>
                        <a:t>9,9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2587127"/>
                  </a:ext>
                </a:extLst>
              </a:tr>
              <a:tr h="142550">
                <a:tc>
                  <a:txBody>
                    <a:bodyPr/>
                    <a:lstStyle/>
                    <a:p>
                      <a:pPr algn="l" fontAlgn="b">
                        <a:buNone/>
                      </a:pPr>
                      <a:r>
                        <a:rPr lang="fr-FR" sz="900" b="0" i="0" u="none" strike="noStrike">
                          <a:solidFill>
                            <a:srgbClr val="000000"/>
                          </a:solidFill>
                          <a:effectLst/>
                          <a:latin typeface="Aptos Narrow" panose="020B0004020202020204" pitchFamily="34" charset="0"/>
                        </a:rPr>
                        <a:t> Young Adults 18-34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-12,8</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C71"/>
                    </a:solidFill>
                  </a:tcPr>
                </a:tc>
                <a:tc>
                  <a:txBody>
                    <a:bodyPr/>
                    <a:lstStyle/>
                    <a:p>
                      <a:pPr algn="r" fontAlgn="b">
                        <a:buNone/>
                      </a:pPr>
                      <a:r>
                        <a:rPr lang="fr-FR" sz="900" b="0" i="0" u="none" strike="noStrike">
                          <a:solidFill>
                            <a:srgbClr val="000000"/>
                          </a:solidFill>
                          <a:effectLst/>
                          <a:latin typeface="Aptos Narrow" panose="020B0004020202020204" pitchFamily="34" charset="0"/>
                        </a:rPr>
                        <a:t>-23,0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96B"/>
                    </a:solidFill>
                  </a:tcPr>
                </a:tc>
                <a:tc>
                  <a:txBody>
                    <a:bodyPr/>
                    <a:lstStyle/>
                    <a:p>
                      <a:pPr algn="r" fontAlgn="b">
                        <a:buNone/>
                      </a:pPr>
                      <a:r>
                        <a:rPr lang="fr-FR" sz="900" b="0" i="0" u="none" strike="noStrike">
                          <a:solidFill>
                            <a:srgbClr val="00B050"/>
                          </a:solidFill>
                          <a:effectLst/>
                          <a:latin typeface="Aptos Narrow" panose="020B0004020202020204" pitchFamily="34" charset="0"/>
                        </a:rPr>
                        <a:t>10,2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59620483"/>
                  </a:ext>
                </a:extLst>
              </a:tr>
            </a:tbl>
          </a:graphicData>
        </a:graphic>
      </p:graphicFrame>
      <p:graphicFrame>
        <p:nvGraphicFramePr>
          <p:cNvPr id="16" name="Table 15">
            <a:extLst>
              <a:ext uri="{FF2B5EF4-FFF2-40B4-BE49-F238E27FC236}">
                <a16:creationId xmlns:a16="http://schemas.microsoft.com/office/drawing/2014/main" id="{60FFAFF2-7A50-4EBA-37BA-D38C1973E3F8}"/>
              </a:ext>
            </a:extLst>
          </p:cNvPr>
          <p:cNvGraphicFramePr>
            <a:graphicFrameLocks noGrp="1"/>
          </p:cNvGraphicFramePr>
          <p:nvPr/>
        </p:nvGraphicFramePr>
        <p:xfrm>
          <a:off x="7309694" y="2861743"/>
          <a:ext cx="2910633" cy="3891104"/>
        </p:xfrm>
        <a:graphic>
          <a:graphicData uri="http://schemas.openxmlformats.org/drawingml/2006/table">
            <a:tbl>
              <a:tblPr/>
              <a:tblGrid>
                <a:gridCol w="1726647">
                  <a:extLst>
                    <a:ext uri="{9D8B030D-6E8A-4147-A177-3AD203B41FA5}">
                      <a16:colId xmlns:a16="http://schemas.microsoft.com/office/drawing/2014/main" val="1677218790"/>
                    </a:ext>
                  </a:extLst>
                </a:gridCol>
                <a:gridCol w="394662">
                  <a:extLst>
                    <a:ext uri="{9D8B030D-6E8A-4147-A177-3AD203B41FA5}">
                      <a16:colId xmlns:a16="http://schemas.microsoft.com/office/drawing/2014/main" val="3936929498"/>
                    </a:ext>
                  </a:extLst>
                </a:gridCol>
                <a:gridCol w="394662">
                  <a:extLst>
                    <a:ext uri="{9D8B030D-6E8A-4147-A177-3AD203B41FA5}">
                      <a16:colId xmlns:a16="http://schemas.microsoft.com/office/drawing/2014/main" val="1636130129"/>
                    </a:ext>
                  </a:extLst>
                </a:gridCol>
                <a:gridCol w="394662">
                  <a:extLst>
                    <a:ext uri="{9D8B030D-6E8A-4147-A177-3AD203B41FA5}">
                      <a16:colId xmlns:a16="http://schemas.microsoft.com/office/drawing/2014/main" val="1678889110"/>
                    </a:ext>
                  </a:extLst>
                </a:gridCol>
              </a:tblGrid>
              <a:tr h="114421">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21396467"/>
                  </a:ext>
                </a:extLst>
              </a:tr>
              <a:tr h="114421">
                <a:tc>
                  <a:txBody>
                    <a:bodyPr/>
                    <a:lstStyle/>
                    <a:p>
                      <a:pPr algn="l" fontAlgn="b">
                        <a:buNone/>
                      </a:pPr>
                      <a:r>
                        <a:rPr lang="fr-FR" sz="900" b="1" i="0" u="none" strike="noStrike">
                          <a:solidFill>
                            <a:srgbClr val="000000"/>
                          </a:solidFill>
                          <a:effectLst/>
                          <a:latin typeface="Aptos Narrow" panose="020B0004020202020204" pitchFamily="34" charset="0"/>
                        </a:rPr>
                        <a:t>Parc Sandur</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19,1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1E383"/>
                    </a:solidFill>
                  </a:tcPr>
                </a:tc>
                <a:tc>
                  <a:txBody>
                    <a:bodyPr/>
                    <a:lstStyle/>
                    <a:p>
                      <a:pPr algn="r" fontAlgn="b">
                        <a:buNone/>
                      </a:pPr>
                      <a:r>
                        <a:rPr lang="fr-FR" sz="900" b="1" i="0" u="none" strike="noStrike">
                          <a:solidFill>
                            <a:srgbClr val="000000"/>
                          </a:solidFill>
                          <a:effectLst/>
                          <a:latin typeface="Aptos Narrow" panose="020B0004020202020204" pitchFamily="34" charset="0"/>
                        </a:rPr>
                        <a:t>9,6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980"/>
                    </a:solidFill>
                  </a:tcPr>
                </a:tc>
                <a:tc>
                  <a:txBody>
                    <a:bodyPr/>
                    <a:lstStyle/>
                    <a:p>
                      <a:pPr algn="r" fontAlgn="b">
                        <a:buNone/>
                      </a:pPr>
                      <a:r>
                        <a:rPr lang="fr-FR" sz="900" b="1" i="0" u="none" strike="noStrike">
                          <a:solidFill>
                            <a:srgbClr val="00B050"/>
                          </a:solidFill>
                          <a:effectLst/>
                          <a:latin typeface="Aptos Narrow" panose="020B0004020202020204" pitchFamily="34" charset="0"/>
                        </a:rPr>
                        <a:t>9,5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62165469"/>
                  </a:ext>
                </a:extLst>
              </a:tr>
              <a:tr h="114421">
                <a:tc>
                  <a:txBody>
                    <a:bodyPr/>
                    <a:lstStyle/>
                    <a:p>
                      <a:pPr algn="l" fontAlgn="b">
                        <a:buNone/>
                      </a:pPr>
                      <a:r>
                        <a:rPr lang="fr-FR" sz="900" b="0" i="0" u="none" strike="noStrike">
                          <a:solidFill>
                            <a:srgbClr val="000000"/>
                          </a:solidFill>
                          <a:effectLst/>
                          <a:latin typeface="Aptos Narrow" panose="020B0004020202020204" pitchFamily="34" charset="0"/>
                        </a:rPr>
                        <a:t> Adults 35-54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27,8</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6D27F"/>
                    </a:solidFill>
                  </a:tcPr>
                </a:tc>
                <a:tc>
                  <a:txBody>
                    <a:bodyPr/>
                    <a:lstStyle/>
                    <a:p>
                      <a:pPr algn="r" fontAlgn="b">
                        <a:buNone/>
                      </a:pPr>
                      <a:r>
                        <a:rPr lang="fr-FR" sz="900" b="0" i="0" u="none" strike="noStrike">
                          <a:solidFill>
                            <a:srgbClr val="000000"/>
                          </a:solidFill>
                          <a:effectLst/>
                          <a:latin typeface="Aptos Narrow" panose="020B0004020202020204" pitchFamily="34" charset="0"/>
                        </a:rPr>
                        <a:t>13,3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683"/>
                    </a:solidFill>
                  </a:tcPr>
                </a:tc>
                <a:tc>
                  <a:txBody>
                    <a:bodyPr/>
                    <a:lstStyle/>
                    <a:p>
                      <a:pPr algn="r" fontAlgn="b">
                        <a:buNone/>
                      </a:pPr>
                      <a:r>
                        <a:rPr lang="fr-FR" sz="900" b="0" i="0" u="none" strike="noStrike">
                          <a:solidFill>
                            <a:srgbClr val="00B050"/>
                          </a:solidFill>
                          <a:effectLst/>
                          <a:latin typeface="Aptos Narrow" panose="020B0004020202020204" pitchFamily="34" charset="0"/>
                        </a:rPr>
                        <a:t>14,5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39719596"/>
                  </a:ext>
                </a:extLst>
              </a:tr>
              <a:tr h="114421">
                <a:tc>
                  <a:txBody>
                    <a:bodyPr/>
                    <a:lstStyle/>
                    <a:p>
                      <a:pPr algn="l" fontAlgn="b">
                        <a:buNone/>
                      </a:pPr>
                      <a:r>
                        <a:rPr lang="fr-FR" sz="900" b="0" i="0" u="none" strike="noStrike">
                          <a:solidFill>
                            <a:srgbClr val="000000"/>
                          </a:solidFill>
                          <a:effectLst/>
                          <a:latin typeface="Aptos Narrow" panose="020B0004020202020204" pitchFamily="34" charset="0"/>
                        </a:rPr>
                        <a:t> Family with Children 0-2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1,8</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E7B"/>
                    </a:solidFill>
                  </a:tcPr>
                </a:tc>
                <a:tc>
                  <a:txBody>
                    <a:bodyPr/>
                    <a:lstStyle/>
                    <a:p>
                      <a:pPr algn="r" fontAlgn="b">
                        <a:buNone/>
                      </a:pPr>
                      <a:r>
                        <a:rPr lang="fr-FR" sz="900" b="0" i="0" u="none" strike="noStrike">
                          <a:solidFill>
                            <a:srgbClr val="000000"/>
                          </a:solidFill>
                          <a:effectLst/>
                          <a:latin typeface="Aptos Narrow" panose="020B0004020202020204" pitchFamily="34" charset="0"/>
                        </a:rPr>
                        <a:t>1,0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B7A"/>
                    </a:solidFill>
                  </a:tcPr>
                </a:tc>
                <a:tc>
                  <a:txBody>
                    <a:bodyPr/>
                    <a:lstStyle/>
                    <a:p>
                      <a:pPr algn="r" fontAlgn="b">
                        <a:buNone/>
                      </a:pPr>
                      <a:r>
                        <a:rPr lang="fr-FR" sz="900" b="0" i="0" u="none" strike="noStrike">
                          <a:solidFill>
                            <a:srgbClr val="00B050"/>
                          </a:solidFill>
                          <a:effectLst/>
                          <a:latin typeface="Aptos Narrow" panose="020B0004020202020204" pitchFamily="34" charset="0"/>
                        </a:rPr>
                        <a:t>0,7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03139752"/>
                  </a:ext>
                </a:extLst>
              </a:tr>
              <a:tr h="114421">
                <a:tc>
                  <a:txBody>
                    <a:bodyPr/>
                    <a:lstStyle/>
                    <a:p>
                      <a:pPr algn="l" fontAlgn="b">
                        <a:buNone/>
                      </a:pPr>
                      <a:r>
                        <a:rPr lang="fr-FR" sz="900" b="0" i="0" u="none" strike="noStrike">
                          <a:solidFill>
                            <a:srgbClr val="000000"/>
                          </a:solidFill>
                          <a:effectLst/>
                          <a:latin typeface="Aptos Narrow" panose="020B0004020202020204" pitchFamily="34" charset="0"/>
                        </a:rPr>
                        <a:t> Family with Children 12-17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14,8</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B84"/>
                    </a:solidFill>
                  </a:tcPr>
                </a:tc>
                <a:tc>
                  <a:txBody>
                    <a:bodyPr/>
                    <a:lstStyle/>
                    <a:p>
                      <a:pPr algn="r" fontAlgn="b">
                        <a:buNone/>
                      </a:pPr>
                      <a:r>
                        <a:rPr lang="fr-FR" sz="900" b="0" i="0" u="none" strike="noStrike">
                          <a:solidFill>
                            <a:srgbClr val="000000"/>
                          </a:solidFill>
                          <a:effectLst/>
                          <a:latin typeface="Aptos Narrow" panose="020B0004020202020204" pitchFamily="34" charset="0"/>
                        </a:rPr>
                        <a:t>6,7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F7E"/>
                    </a:solidFill>
                  </a:tcPr>
                </a:tc>
                <a:tc>
                  <a:txBody>
                    <a:bodyPr/>
                    <a:lstStyle/>
                    <a:p>
                      <a:pPr algn="r" fontAlgn="b">
                        <a:buNone/>
                      </a:pPr>
                      <a:r>
                        <a:rPr lang="fr-FR" sz="900" b="0" i="0" u="none" strike="noStrike">
                          <a:solidFill>
                            <a:srgbClr val="00B050"/>
                          </a:solidFill>
                          <a:effectLst/>
                          <a:latin typeface="Aptos Narrow" panose="020B0004020202020204" pitchFamily="34" charset="0"/>
                        </a:rPr>
                        <a:t>8,1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12989541"/>
                  </a:ext>
                </a:extLst>
              </a:tr>
              <a:tr h="114421">
                <a:tc>
                  <a:txBody>
                    <a:bodyPr/>
                    <a:lstStyle/>
                    <a:p>
                      <a:pPr algn="l" fontAlgn="b">
                        <a:buNone/>
                      </a:pPr>
                      <a:r>
                        <a:rPr lang="fr-FR" sz="900" b="0" i="0" u="none" strike="noStrike">
                          <a:solidFill>
                            <a:srgbClr val="000000"/>
                          </a:solidFill>
                          <a:effectLst/>
                          <a:latin typeface="Aptos Narrow" panose="020B0004020202020204" pitchFamily="34" charset="0"/>
                        </a:rPr>
                        <a:t> Family with Children 3-4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19,5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FE283"/>
                    </a:solidFill>
                  </a:tcPr>
                </a:tc>
                <a:tc>
                  <a:txBody>
                    <a:bodyPr/>
                    <a:lstStyle/>
                    <a:p>
                      <a:pPr algn="r" fontAlgn="b">
                        <a:buNone/>
                      </a:pPr>
                      <a:r>
                        <a:rPr lang="fr-FR" sz="900" b="0" i="0" u="none" strike="noStrike">
                          <a:solidFill>
                            <a:srgbClr val="000000"/>
                          </a:solidFill>
                          <a:effectLst/>
                          <a:latin typeface="Aptos Narrow" panose="020B0004020202020204" pitchFamily="34" charset="0"/>
                        </a:rPr>
                        <a:t>-2,3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B078"/>
                    </a:solidFill>
                  </a:tcPr>
                </a:tc>
                <a:tc>
                  <a:txBody>
                    <a:bodyPr/>
                    <a:lstStyle/>
                    <a:p>
                      <a:pPr algn="r" fontAlgn="b">
                        <a:buNone/>
                      </a:pPr>
                      <a:r>
                        <a:rPr lang="fr-FR" sz="900" b="0" i="0" u="none" strike="noStrike">
                          <a:solidFill>
                            <a:srgbClr val="00B050"/>
                          </a:solidFill>
                          <a:effectLst/>
                          <a:latin typeface="Aptos Narrow" panose="020B0004020202020204" pitchFamily="34" charset="0"/>
                        </a:rPr>
                        <a:t>21,8</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07579901"/>
                  </a:ext>
                </a:extLst>
              </a:tr>
              <a:tr h="114421">
                <a:tc>
                  <a:txBody>
                    <a:bodyPr/>
                    <a:lstStyle/>
                    <a:p>
                      <a:pPr algn="l" fontAlgn="b">
                        <a:buNone/>
                      </a:pPr>
                      <a:r>
                        <a:rPr lang="fr-FR" sz="900" b="0" i="0" u="none" strike="noStrike">
                          <a:solidFill>
                            <a:srgbClr val="000000"/>
                          </a:solidFill>
                          <a:effectLst/>
                          <a:latin typeface="Aptos Narrow" panose="020B0004020202020204" pitchFamily="34" charset="0"/>
                        </a:rPr>
                        <a:t> Family with Children 5-11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16,0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7E984"/>
                    </a:solidFill>
                  </a:tcPr>
                </a:tc>
                <a:tc>
                  <a:txBody>
                    <a:bodyPr/>
                    <a:lstStyle/>
                    <a:p>
                      <a:pPr algn="r" fontAlgn="b">
                        <a:buNone/>
                      </a:pPr>
                      <a:r>
                        <a:rPr lang="fr-FR" sz="900" b="0" i="0" u="none" strike="noStrike">
                          <a:solidFill>
                            <a:srgbClr val="000000"/>
                          </a:solidFill>
                          <a:effectLst/>
                          <a:latin typeface="Aptos Narrow" panose="020B0004020202020204" pitchFamily="34" charset="0"/>
                        </a:rPr>
                        <a:t>8,2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47F"/>
                    </a:solidFill>
                  </a:tcPr>
                </a:tc>
                <a:tc>
                  <a:txBody>
                    <a:bodyPr/>
                    <a:lstStyle/>
                    <a:p>
                      <a:pPr algn="r" fontAlgn="b">
                        <a:buNone/>
                      </a:pPr>
                      <a:r>
                        <a:rPr lang="fr-FR" sz="900" b="0" i="0" u="none" strike="noStrike">
                          <a:solidFill>
                            <a:srgbClr val="00B050"/>
                          </a:solidFill>
                          <a:effectLst/>
                          <a:latin typeface="Aptos Narrow" panose="020B0004020202020204" pitchFamily="34" charset="0"/>
                        </a:rPr>
                        <a:t>7,9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48280965"/>
                  </a:ext>
                </a:extLst>
              </a:tr>
              <a:tr h="114421">
                <a:tc>
                  <a:txBody>
                    <a:bodyPr/>
                    <a:lstStyle/>
                    <a:p>
                      <a:pPr algn="l" fontAlgn="b">
                        <a:buNone/>
                      </a:pPr>
                      <a:r>
                        <a:rPr lang="fr-FR" sz="900" b="0" i="0" u="none" strike="noStrike">
                          <a:solidFill>
                            <a:srgbClr val="000000"/>
                          </a:solidFill>
                          <a:effectLst/>
                          <a:latin typeface="Aptos Narrow" panose="020B0004020202020204" pitchFamily="34" charset="0"/>
                        </a:rPr>
                        <a:t> Seniors active 55-74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24,5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DD881"/>
                    </a:solidFill>
                  </a:tcPr>
                </a:tc>
                <a:tc>
                  <a:txBody>
                    <a:bodyPr/>
                    <a:lstStyle/>
                    <a:p>
                      <a:pPr algn="r" fontAlgn="b">
                        <a:buNone/>
                      </a:pPr>
                      <a:r>
                        <a:rPr lang="fr-FR" sz="900" b="0" i="0" u="none" strike="noStrike">
                          <a:solidFill>
                            <a:srgbClr val="000000"/>
                          </a:solidFill>
                          <a:effectLst/>
                          <a:latin typeface="Aptos Narrow" panose="020B0004020202020204" pitchFamily="34" charset="0"/>
                        </a:rPr>
                        <a:t>15,7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EA84"/>
                    </a:solidFill>
                  </a:tcPr>
                </a:tc>
                <a:tc>
                  <a:txBody>
                    <a:bodyPr/>
                    <a:lstStyle/>
                    <a:p>
                      <a:pPr algn="r" fontAlgn="b">
                        <a:buNone/>
                      </a:pPr>
                      <a:r>
                        <a:rPr lang="fr-FR" sz="900" b="0" i="0" u="none" strike="noStrike">
                          <a:solidFill>
                            <a:srgbClr val="00B050"/>
                          </a:solidFill>
                          <a:effectLst/>
                          <a:latin typeface="Aptos Narrow" panose="020B0004020202020204" pitchFamily="34" charset="0"/>
                        </a:rPr>
                        <a:t>8,7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51384663"/>
                  </a:ext>
                </a:extLst>
              </a:tr>
              <a:tr h="114421">
                <a:tc>
                  <a:txBody>
                    <a:bodyPr/>
                    <a:lstStyle/>
                    <a:p>
                      <a:pPr algn="l" fontAlgn="b">
                        <a:buNone/>
                      </a:pPr>
                      <a:r>
                        <a:rPr lang="fr-FR" sz="900" b="0" i="0" u="none" strike="noStrike">
                          <a:solidFill>
                            <a:srgbClr val="000000"/>
                          </a:solidFill>
                          <a:effectLst/>
                          <a:latin typeface="Aptos Narrow" panose="020B0004020202020204" pitchFamily="34" charset="0"/>
                        </a:rPr>
                        <a:t> Seniors&gt;75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25,7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4D680"/>
                    </a:solidFill>
                  </a:tcPr>
                </a:tc>
                <a:tc>
                  <a:txBody>
                    <a:bodyPr/>
                    <a:lstStyle/>
                    <a:p>
                      <a:pPr algn="r" fontAlgn="b">
                        <a:buNone/>
                      </a:pPr>
                      <a:r>
                        <a:rPr lang="fr-FR" sz="900" b="0" i="0" u="none" strike="noStrike">
                          <a:solidFill>
                            <a:srgbClr val="000000"/>
                          </a:solidFill>
                          <a:effectLst/>
                          <a:latin typeface="Aptos Narrow" panose="020B0004020202020204" pitchFamily="34" charset="0"/>
                        </a:rPr>
                        <a:t>26,8</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DD480"/>
                    </a:solidFill>
                  </a:tcPr>
                </a:tc>
                <a:tc>
                  <a:txBody>
                    <a:bodyPr/>
                    <a:lstStyle/>
                    <a:p>
                      <a:pPr algn="r" fontAlgn="b">
                        <a:buNone/>
                      </a:pPr>
                      <a:r>
                        <a:rPr lang="fr-FR" sz="900" b="0" i="0" u="none" strike="noStrike">
                          <a:solidFill>
                            <a:srgbClr val="FF0000"/>
                          </a:solidFill>
                          <a:effectLst/>
                          <a:latin typeface="Aptos Narrow" panose="020B0004020202020204" pitchFamily="34" charset="0"/>
                        </a:rPr>
                        <a:t>-1,1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27250213"/>
                  </a:ext>
                </a:extLst>
              </a:tr>
              <a:tr h="114421">
                <a:tc>
                  <a:txBody>
                    <a:bodyPr/>
                    <a:lstStyle/>
                    <a:p>
                      <a:pPr algn="l" fontAlgn="b">
                        <a:buNone/>
                      </a:pPr>
                      <a:r>
                        <a:rPr lang="fr-FR" sz="900" b="0" i="0" u="none" strike="noStrike">
                          <a:solidFill>
                            <a:srgbClr val="000000"/>
                          </a:solidFill>
                          <a:effectLst/>
                          <a:latin typeface="Aptos Narrow" panose="020B0004020202020204" pitchFamily="34" charset="0"/>
                        </a:rPr>
                        <a:t> Young Adults 18-34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9,7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980"/>
                    </a:solidFill>
                  </a:tcPr>
                </a:tc>
                <a:tc>
                  <a:txBody>
                    <a:bodyPr/>
                    <a:lstStyle/>
                    <a:p>
                      <a:pPr algn="r" fontAlgn="b">
                        <a:buNone/>
                      </a:pPr>
                      <a:r>
                        <a:rPr lang="fr-FR" sz="900" b="0" i="0" u="none" strike="noStrike">
                          <a:solidFill>
                            <a:srgbClr val="000000"/>
                          </a:solidFill>
                          <a:effectLst/>
                          <a:latin typeface="Aptos Narrow" panose="020B0004020202020204" pitchFamily="34" charset="0"/>
                        </a:rPr>
                        <a:t>-2,3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B078"/>
                    </a:solidFill>
                  </a:tcPr>
                </a:tc>
                <a:tc>
                  <a:txBody>
                    <a:bodyPr/>
                    <a:lstStyle/>
                    <a:p>
                      <a:pPr algn="r" fontAlgn="b">
                        <a:buNone/>
                      </a:pPr>
                      <a:r>
                        <a:rPr lang="fr-FR" sz="900" b="0" i="0" u="none" strike="noStrike">
                          <a:solidFill>
                            <a:srgbClr val="00B050"/>
                          </a:solidFill>
                          <a:effectLst/>
                          <a:latin typeface="Aptos Narrow" panose="020B0004020202020204" pitchFamily="34" charset="0"/>
                        </a:rPr>
                        <a:t>12,0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91666770"/>
                  </a:ext>
                </a:extLst>
              </a:tr>
              <a:tr h="114421">
                <a:tc>
                  <a:txBody>
                    <a:bodyPr/>
                    <a:lstStyle/>
                    <a:p>
                      <a:pPr algn="l" fontAlgn="b">
                        <a:buNone/>
                      </a:pPr>
                      <a:r>
                        <a:rPr lang="fr-FR" sz="900" b="1" i="0" u="none" strike="noStrike">
                          <a:solidFill>
                            <a:srgbClr val="000000"/>
                          </a:solidFill>
                          <a:effectLst/>
                          <a:latin typeface="Aptos Narrow" panose="020B0004020202020204" pitchFamily="34" charset="0"/>
                        </a:rPr>
                        <a:t>Park Zandvoort</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22,2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DDD82"/>
                    </a:solidFill>
                  </a:tcPr>
                </a:tc>
                <a:tc>
                  <a:txBody>
                    <a:bodyPr/>
                    <a:lstStyle/>
                    <a:p>
                      <a:pPr algn="r" fontAlgn="b">
                        <a:buNone/>
                      </a:pPr>
                      <a:r>
                        <a:rPr lang="fr-FR" sz="900" b="1" i="0" u="none" strike="noStrike">
                          <a:solidFill>
                            <a:srgbClr val="000000"/>
                          </a:solidFill>
                          <a:effectLst/>
                          <a:latin typeface="Aptos Narrow" panose="020B0004020202020204" pitchFamily="34" charset="0"/>
                        </a:rPr>
                        <a:t>18,2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8E583"/>
                    </a:solidFill>
                  </a:tcPr>
                </a:tc>
                <a:tc>
                  <a:txBody>
                    <a:bodyPr/>
                    <a:lstStyle/>
                    <a:p>
                      <a:pPr algn="r" fontAlgn="b">
                        <a:buNone/>
                      </a:pPr>
                      <a:r>
                        <a:rPr lang="fr-FR" sz="900" b="1" i="0" u="none" strike="noStrike">
                          <a:solidFill>
                            <a:srgbClr val="00B050"/>
                          </a:solidFill>
                          <a:effectLst/>
                          <a:latin typeface="Aptos Narrow" panose="020B0004020202020204" pitchFamily="34" charset="0"/>
                        </a:rPr>
                        <a:t>3,9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66624974"/>
                  </a:ext>
                </a:extLst>
              </a:tr>
              <a:tr h="114421">
                <a:tc>
                  <a:txBody>
                    <a:bodyPr/>
                    <a:lstStyle/>
                    <a:p>
                      <a:pPr algn="l" fontAlgn="b">
                        <a:buNone/>
                      </a:pPr>
                      <a:r>
                        <a:rPr lang="fr-FR" sz="900" b="0" i="0" u="none" strike="noStrike">
                          <a:solidFill>
                            <a:srgbClr val="000000"/>
                          </a:solidFill>
                          <a:effectLst/>
                          <a:latin typeface="Aptos Narrow" panose="020B0004020202020204" pitchFamily="34" charset="0"/>
                        </a:rPr>
                        <a:t> Adults 35-54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27,5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8D27F"/>
                    </a:solidFill>
                  </a:tcPr>
                </a:tc>
                <a:tc>
                  <a:txBody>
                    <a:bodyPr/>
                    <a:lstStyle/>
                    <a:p>
                      <a:pPr algn="r" fontAlgn="b">
                        <a:buNone/>
                      </a:pPr>
                      <a:r>
                        <a:rPr lang="fr-FR" sz="900" b="0" i="0" u="none" strike="noStrike">
                          <a:solidFill>
                            <a:srgbClr val="000000"/>
                          </a:solidFill>
                          <a:effectLst/>
                          <a:latin typeface="Aptos Narrow" panose="020B0004020202020204" pitchFamily="34" charset="0"/>
                        </a:rPr>
                        <a:t>22,1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DDD82"/>
                    </a:solidFill>
                  </a:tcPr>
                </a:tc>
                <a:tc>
                  <a:txBody>
                    <a:bodyPr/>
                    <a:lstStyle/>
                    <a:p>
                      <a:pPr algn="r" fontAlgn="b">
                        <a:buNone/>
                      </a:pPr>
                      <a:r>
                        <a:rPr lang="fr-FR" sz="900" b="0" i="0" u="none" strike="noStrike">
                          <a:solidFill>
                            <a:srgbClr val="00B050"/>
                          </a:solidFill>
                          <a:effectLst/>
                          <a:latin typeface="Aptos Narrow" panose="020B0004020202020204" pitchFamily="34" charset="0"/>
                        </a:rPr>
                        <a:t>5,4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43902318"/>
                  </a:ext>
                </a:extLst>
              </a:tr>
              <a:tr h="114421">
                <a:tc>
                  <a:txBody>
                    <a:bodyPr/>
                    <a:lstStyle/>
                    <a:p>
                      <a:pPr algn="l" fontAlgn="b">
                        <a:buNone/>
                      </a:pPr>
                      <a:r>
                        <a:rPr lang="fr-FR" sz="900" b="0" i="0" u="none" strike="noStrike">
                          <a:solidFill>
                            <a:srgbClr val="000000"/>
                          </a:solidFill>
                          <a:effectLst/>
                          <a:latin typeface="Aptos Narrow" panose="020B0004020202020204" pitchFamily="34" charset="0"/>
                        </a:rPr>
                        <a:t> Family with Children 0-2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15,0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B84"/>
                    </a:solidFill>
                  </a:tcPr>
                </a:tc>
                <a:tc>
                  <a:txBody>
                    <a:bodyPr/>
                    <a:lstStyle/>
                    <a:p>
                      <a:pPr algn="r" fontAlgn="b">
                        <a:buNone/>
                      </a:pPr>
                      <a:r>
                        <a:rPr lang="fr-FR" sz="900" b="0" i="0" u="none" strike="noStrike">
                          <a:solidFill>
                            <a:srgbClr val="000000"/>
                          </a:solidFill>
                          <a:effectLst/>
                          <a:latin typeface="Aptos Narrow" panose="020B0004020202020204" pitchFamily="34" charset="0"/>
                        </a:rPr>
                        <a:t>13,6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783"/>
                    </a:solidFill>
                  </a:tcPr>
                </a:tc>
                <a:tc>
                  <a:txBody>
                    <a:bodyPr/>
                    <a:lstStyle/>
                    <a:p>
                      <a:pPr algn="r" fontAlgn="b">
                        <a:buNone/>
                      </a:pPr>
                      <a:r>
                        <a:rPr lang="fr-FR" sz="900" b="0" i="0" u="none" strike="noStrike">
                          <a:solidFill>
                            <a:srgbClr val="00B050"/>
                          </a:solidFill>
                          <a:effectLst/>
                          <a:latin typeface="Aptos Narrow" panose="020B0004020202020204" pitchFamily="34" charset="0"/>
                        </a:rPr>
                        <a:t>1,4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77942803"/>
                  </a:ext>
                </a:extLst>
              </a:tr>
              <a:tr h="114421">
                <a:tc>
                  <a:txBody>
                    <a:bodyPr/>
                    <a:lstStyle/>
                    <a:p>
                      <a:pPr algn="l" fontAlgn="b">
                        <a:buNone/>
                      </a:pPr>
                      <a:r>
                        <a:rPr lang="fr-FR" sz="900" b="0" i="0" u="none" strike="noStrike">
                          <a:solidFill>
                            <a:srgbClr val="000000"/>
                          </a:solidFill>
                          <a:effectLst/>
                          <a:latin typeface="Aptos Narrow" panose="020B0004020202020204" pitchFamily="34" charset="0"/>
                        </a:rPr>
                        <a:t> Family with Children 12-17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13,8</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783"/>
                    </a:solidFill>
                  </a:tcPr>
                </a:tc>
                <a:tc>
                  <a:txBody>
                    <a:bodyPr/>
                    <a:lstStyle/>
                    <a:p>
                      <a:pPr algn="r" fontAlgn="b">
                        <a:buNone/>
                      </a:pPr>
                      <a:r>
                        <a:rPr lang="fr-FR" sz="900" b="0" i="0" u="none" strike="noStrike">
                          <a:solidFill>
                            <a:srgbClr val="000000"/>
                          </a:solidFill>
                          <a:effectLst/>
                          <a:latin typeface="Aptos Narrow" panose="020B0004020202020204" pitchFamily="34" charset="0"/>
                        </a:rPr>
                        <a:t>11,6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081"/>
                    </a:solidFill>
                  </a:tcPr>
                </a:tc>
                <a:tc>
                  <a:txBody>
                    <a:bodyPr/>
                    <a:lstStyle/>
                    <a:p>
                      <a:pPr algn="r" fontAlgn="b">
                        <a:buNone/>
                      </a:pPr>
                      <a:r>
                        <a:rPr lang="fr-FR" sz="900" b="0" i="0" u="none" strike="noStrike">
                          <a:solidFill>
                            <a:srgbClr val="00B050"/>
                          </a:solidFill>
                          <a:effectLst/>
                          <a:latin typeface="Aptos Narrow" panose="020B0004020202020204" pitchFamily="34" charset="0"/>
                        </a:rPr>
                        <a:t>2,2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24635933"/>
                  </a:ext>
                </a:extLst>
              </a:tr>
              <a:tr h="114421">
                <a:tc>
                  <a:txBody>
                    <a:bodyPr/>
                    <a:lstStyle/>
                    <a:p>
                      <a:pPr algn="l" fontAlgn="b">
                        <a:buNone/>
                      </a:pPr>
                      <a:r>
                        <a:rPr lang="fr-FR" sz="900" b="0" i="0" u="none" strike="noStrike">
                          <a:solidFill>
                            <a:srgbClr val="000000"/>
                          </a:solidFill>
                          <a:effectLst/>
                          <a:latin typeface="Aptos Narrow" panose="020B0004020202020204" pitchFamily="34" charset="0"/>
                        </a:rPr>
                        <a:t> Family with Children 3-4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20,3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AE182"/>
                    </a:solidFill>
                  </a:tcPr>
                </a:tc>
                <a:tc>
                  <a:txBody>
                    <a:bodyPr/>
                    <a:lstStyle/>
                    <a:p>
                      <a:pPr algn="r" fontAlgn="b">
                        <a:buNone/>
                      </a:pPr>
                      <a:r>
                        <a:rPr lang="fr-FR" sz="900" b="0" i="0" u="none" strike="noStrike">
                          <a:solidFill>
                            <a:srgbClr val="000000"/>
                          </a:solidFill>
                          <a:effectLst/>
                          <a:latin typeface="Aptos Narrow" panose="020B0004020202020204" pitchFamily="34" charset="0"/>
                        </a:rPr>
                        <a:t>18,5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6E483"/>
                    </a:solidFill>
                  </a:tcPr>
                </a:tc>
                <a:tc>
                  <a:txBody>
                    <a:bodyPr/>
                    <a:lstStyle/>
                    <a:p>
                      <a:pPr algn="r" fontAlgn="b">
                        <a:buNone/>
                      </a:pPr>
                      <a:r>
                        <a:rPr lang="fr-FR" sz="900" b="0" i="0" u="none" strike="noStrike">
                          <a:solidFill>
                            <a:srgbClr val="00B050"/>
                          </a:solidFill>
                          <a:effectLst/>
                          <a:latin typeface="Aptos Narrow" panose="020B0004020202020204" pitchFamily="34" charset="0"/>
                        </a:rPr>
                        <a:t>1,8</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95503609"/>
                  </a:ext>
                </a:extLst>
              </a:tr>
              <a:tr h="114421">
                <a:tc>
                  <a:txBody>
                    <a:bodyPr/>
                    <a:lstStyle/>
                    <a:p>
                      <a:pPr algn="l" fontAlgn="b">
                        <a:buNone/>
                      </a:pPr>
                      <a:r>
                        <a:rPr lang="fr-FR" sz="900" b="0" i="0" u="none" strike="noStrike">
                          <a:solidFill>
                            <a:srgbClr val="000000"/>
                          </a:solidFill>
                          <a:effectLst/>
                          <a:latin typeface="Aptos Narrow" panose="020B0004020202020204" pitchFamily="34" charset="0"/>
                        </a:rPr>
                        <a:t> Family with Children 5-11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19,4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0E283"/>
                    </a:solidFill>
                  </a:tcPr>
                </a:tc>
                <a:tc>
                  <a:txBody>
                    <a:bodyPr/>
                    <a:lstStyle/>
                    <a:p>
                      <a:pPr algn="r" fontAlgn="b">
                        <a:buNone/>
                      </a:pPr>
                      <a:r>
                        <a:rPr lang="fr-FR" sz="900" b="0" i="0" u="none" strike="noStrike">
                          <a:solidFill>
                            <a:srgbClr val="000000"/>
                          </a:solidFill>
                          <a:effectLst/>
                          <a:latin typeface="Aptos Narrow" panose="020B0004020202020204" pitchFamily="34" charset="0"/>
                        </a:rPr>
                        <a:t>15,4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EA84"/>
                    </a:solidFill>
                  </a:tcPr>
                </a:tc>
                <a:tc>
                  <a:txBody>
                    <a:bodyPr/>
                    <a:lstStyle/>
                    <a:p>
                      <a:pPr algn="r" fontAlgn="b">
                        <a:buNone/>
                      </a:pPr>
                      <a:r>
                        <a:rPr lang="fr-FR" sz="900" b="0" i="0" u="none" strike="noStrike">
                          <a:solidFill>
                            <a:srgbClr val="00B050"/>
                          </a:solidFill>
                          <a:effectLst/>
                          <a:latin typeface="Aptos Narrow" panose="020B0004020202020204" pitchFamily="34" charset="0"/>
                        </a:rPr>
                        <a:t>4,0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28122849"/>
                  </a:ext>
                </a:extLst>
              </a:tr>
              <a:tr h="114421">
                <a:tc>
                  <a:txBody>
                    <a:bodyPr/>
                    <a:lstStyle/>
                    <a:p>
                      <a:pPr algn="l" fontAlgn="b">
                        <a:buNone/>
                      </a:pPr>
                      <a:r>
                        <a:rPr lang="fr-FR" sz="900" b="0" i="0" u="none" strike="noStrike">
                          <a:solidFill>
                            <a:srgbClr val="000000"/>
                          </a:solidFill>
                          <a:effectLst/>
                          <a:latin typeface="Aptos Narrow" panose="020B0004020202020204" pitchFamily="34" charset="0"/>
                        </a:rPr>
                        <a:t> Seniors active 55-74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28,1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4D17F"/>
                    </a:solidFill>
                  </a:tcPr>
                </a:tc>
                <a:tc>
                  <a:txBody>
                    <a:bodyPr/>
                    <a:lstStyle/>
                    <a:p>
                      <a:pPr algn="r" fontAlgn="b">
                        <a:buNone/>
                      </a:pPr>
                      <a:r>
                        <a:rPr lang="fr-FR" sz="900" b="0" i="0" u="none" strike="noStrike">
                          <a:solidFill>
                            <a:srgbClr val="000000"/>
                          </a:solidFill>
                          <a:effectLst/>
                          <a:latin typeface="Aptos Narrow" panose="020B0004020202020204" pitchFamily="34" charset="0"/>
                        </a:rPr>
                        <a:t>24,0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0D981"/>
                    </a:solidFill>
                  </a:tcPr>
                </a:tc>
                <a:tc>
                  <a:txBody>
                    <a:bodyPr/>
                    <a:lstStyle/>
                    <a:p>
                      <a:pPr algn="r" fontAlgn="b">
                        <a:buNone/>
                      </a:pPr>
                      <a:r>
                        <a:rPr lang="fr-FR" sz="900" b="0" i="0" u="none" strike="noStrike">
                          <a:solidFill>
                            <a:srgbClr val="00B050"/>
                          </a:solidFill>
                          <a:effectLst/>
                          <a:latin typeface="Aptos Narrow" panose="020B0004020202020204" pitchFamily="34" charset="0"/>
                        </a:rPr>
                        <a:t>4,1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18303047"/>
                  </a:ext>
                </a:extLst>
              </a:tr>
              <a:tr h="114421">
                <a:tc>
                  <a:txBody>
                    <a:bodyPr/>
                    <a:lstStyle/>
                    <a:p>
                      <a:pPr algn="l" fontAlgn="b">
                        <a:buNone/>
                      </a:pPr>
                      <a:r>
                        <a:rPr lang="fr-FR" sz="900" b="0" i="0" u="none" strike="noStrike">
                          <a:solidFill>
                            <a:srgbClr val="000000"/>
                          </a:solidFill>
                          <a:effectLst/>
                          <a:latin typeface="Aptos Narrow" panose="020B0004020202020204" pitchFamily="34" charset="0"/>
                        </a:rPr>
                        <a:t> Seniors&gt;75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33,2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1C77D"/>
                    </a:solidFill>
                  </a:tcPr>
                </a:tc>
                <a:tc>
                  <a:txBody>
                    <a:bodyPr/>
                    <a:lstStyle/>
                    <a:p>
                      <a:pPr algn="r" fontAlgn="b">
                        <a:buNone/>
                      </a:pPr>
                      <a:r>
                        <a:rPr lang="fr-FR" sz="900" b="0" i="0" u="none" strike="noStrike">
                          <a:solidFill>
                            <a:srgbClr val="000000"/>
                          </a:solidFill>
                          <a:effectLst/>
                          <a:latin typeface="Aptos Narrow" panose="020B0004020202020204" pitchFamily="34" charset="0"/>
                        </a:rPr>
                        <a:t>32,2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8C97E"/>
                    </a:solidFill>
                  </a:tcPr>
                </a:tc>
                <a:tc>
                  <a:txBody>
                    <a:bodyPr/>
                    <a:lstStyle/>
                    <a:p>
                      <a:pPr algn="r" fontAlgn="b">
                        <a:buNone/>
                      </a:pPr>
                      <a:r>
                        <a:rPr lang="fr-FR" sz="900" b="0" i="0" u="none" strike="noStrike">
                          <a:solidFill>
                            <a:srgbClr val="00B050"/>
                          </a:solidFill>
                          <a:effectLst/>
                          <a:latin typeface="Aptos Narrow" panose="020B0004020202020204" pitchFamily="34" charset="0"/>
                        </a:rPr>
                        <a:t>1,0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97965818"/>
                  </a:ext>
                </a:extLst>
              </a:tr>
              <a:tr h="114421">
                <a:tc>
                  <a:txBody>
                    <a:bodyPr/>
                    <a:lstStyle/>
                    <a:p>
                      <a:pPr algn="l" fontAlgn="b">
                        <a:buNone/>
                      </a:pPr>
                      <a:r>
                        <a:rPr lang="fr-FR" sz="900" b="0" i="0" u="none" strike="noStrike">
                          <a:solidFill>
                            <a:srgbClr val="000000"/>
                          </a:solidFill>
                          <a:effectLst/>
                          <a:latin typeface="Aptos Narrow" panose="020B0004020202020204" pitchFamily="34" charset="0"/>
                        </a:rPr>
                        <a:t> Young Adults 18-34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18,7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5E483"/>
                    </a:solidFill>
                  </a:tcPr>
                </a:tc>
                <a:tc>
                  <a:txBody>
                    <a:bodyPr/>
                    <a:lstStyle/>
                    <a:p>
                      <a:pPr algn="r" fontAlgn="b">
                        <a:buNone/>
                      </a:pPr>
                      <a:r>
                        <a:rPr lang="fr-FR" sz="900" b="0" i="0" u="none" strike="noStrike">
                          <a:solidFill>
                            <a:srgbClr val="000000"/>
                          </a:solidFill>
                          <a:effectLst/>
                          <a:latin typeface="Aptos Narrow" panose="020B0004020202020204" pitchFamily="34" charset="0"/>
                        </a:rPr>
                        <a:t>10,6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C81"/>
                    </a:solidFill>
                  </a:tcPr>
                </a:tc>
                <a:tc>
                  <a:txBody>
                    <a:bodyPr/>
                    <a:lstStyle/>
                    <a:p>
                      <a:pPr algn="r" fontAlgn="b">
                        <a:buNone/>
                      </a:pPr>
                      <a:r>
                        <a:rPr lang="fr-FR" sz="900" b="0" i="0" u="none" strike="noStrike">
                          <a:solidFill>
                            <a:srgbClr val="00B050"/>
                          </a:solidFill>
                          <a:effectLst/>
                          <a:latin typeface="Aptos Narrow" panose="020B0004020202020204" pitchFamily="34" charset="0"/>
                        </a:rPr>
                        <a:t>8,0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39671244"/>
                  </a:ext>
                </a:extLst>
              </a:tr>
              <a:tr h="114421">
                <a:tc>
                  <a:txBody>
                    <a:bodyPr/>
                    <a:lstStyle/>
                    <a:p>
                      <a:pPr algn="l" fontAlgn="b">
                        <a:buNone/>
                      </a:pPr>
                      <a:r>
                        <a:rPr lang="fr-FR" sz="900" b="1" i="0" u="none" strike="noStrike">
                          <a:solidFill>
                            <a:srgbClr val="000000"/>
                          </a:solidFill>
                          <a:effectLst/>
                          <a:latin typeface="Aptos Narrow" panose="020B0004020202020204" pitchFamily="34" charset="0"/>
                        </a:rPr>
                        <a:t>Port Zélande</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11,9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182"/>
                    </a:solidFill>
                  </a:tcPr>
                </a:tc>
                <a:tc>
                  <a:txBody>
                    <a:bodyPr/>
                    <a:lstStyle/>
                    <a:p>
                      <a:pPr algn="r" fontAlgn="b">
                        <a:buNone/>
                      </a:pPr>
                      <a:r>
                        <a:rPr lang="fr-FR" sz="900" b="1" i="0" u="none" strike="noStrike">
                          <a:solidFill>
                            <a:srgbClr val="000000"/>
                          </a:solidFill>
                          <a:effectLst/>
                          <a:latin typeface="Aptos Narrow" panose="020B0004020202020204" pitchFamily="34" charset="0"/>
                        </a:rPr>
                        <a:t>5,3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A7D"/>
                    </a:solidFill>
                  </a:tcPr>
                </a:tc>
                <a:tc>
                  <a:txBody>
                    <a:bodyPr/>
                    <a:lstStyle/>
                    <a:p>
                      <a:pPr algn="r" fontAlgn="b">
                        <a:buNone/>
                      </a:pPr>
                      <a:r>
                        <a:rPr lang="fr-FR" sz="900" b="1" i="0" u="none" strike="noStrike">
                          <a:solidFill>
                            <a:srgbClr val="00B050"/>
                          </a:solidFill>
                          <a:effectLst/>
                          <a:latin typeface="Aptos Narrow" panose="020B0004020202020204" pitchFamily="34" charset="0"/>
                        </a:rPr>
                        <a:t>6,7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49976240"/>
                  </a:ext>
                </a:extLst>
              </a:tr>
              <a:tr h="114421">
                <a:tc>
                  <a:txBody>
                    <a:bodyPr/>
                    <a:lstStyle/>
                    <a:p>
                      <a:pPr algn="l" fontAlgn="b">
                        <a:buNone/>
                      </a:pPr>
                      <a:r>
                        <a:rPr lang="fr-FR" sz="900" b="0" i="0" u="none" strike="noStrike">
                          <a:solidFill>
                            <a:srgbClr val="000000"/>
                          </a:solidFill>
                          <a:effectLst/>
                          <a:latin typeface="Aptos Narrow" panose="020B0004020202020204" pitchFamily="34" charset="0"/>
                        </a:rPr>
                        <a:t> Adults 35-54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10,8</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D81"/>
                    </a:solidFill>
                  </a:tcPr>
                </a:tc>
                <a:tc>
                  <a:txBody>
                    <a:bodyPr/>
                    <a:lstStyle/>
                    <a:p>
                      <a:pPr algn="r" fontAlgn="b">
                        <a:buNone/>
                      </a:pPr>
                      <a:r>
                        <a:rPr lang="fr-FR" sz="900" b="0" i="0" u="none" strike="noStrike">
                          <a:solidFill>
                            <a:srgbClr val="000000"/>
                          </a:solidFill>
                          <a:effectLst/>
                          <a:latin typeface="Aptos Narrow" panose="020B0004020202020204" pitchFamily="34" charset="0"/>
                        </a:rPr>
                        <a:t>4,3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67D"/>
                    </a:solidFill>
                  </a:tcPr>
                </a:tc>
                <a:tc>
                  <a:txBody>
                    <a:bodyPr/>
                    <a:lstStyle/>
                    <a:p>
                      <a:pPr algn="r" fontAlgn="b">
                        <a:buNone/>
                      </a:pPr>
                      <a:r>
                        <a:rPr lang="fr-FR" sz="900" b="0" i="0" u="none" strike="noStrike">
                          <a:solidFill>
                            <a:srgbClr val="00B050"/>
                          </a:solidFill>
                          <a:effectLst/>
                          <a:latin typeface="Aptos Narrow" panose="020B0004020202020204" pitchFamily="34" charset="0"/>
                        </a:rPr>
                        <a:t>6,5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68441291"/>
                  </a:ext>
                </a:extLst>
              </a:tr>
              <a:tr h="114421">
                <a:tc>
                  <a:txBody>
                    <a:bodyPr/>
                    <a:lstStyle/>
                    <a:p>
                      <a:pPr algn="l" fontAlgn="b">
                        <a:buNone/>
                      </a:pPr>
                      <a:r>
                        <a:rPr lang="fr-FR" sz="900" b="0" i="0" u="none" strike="noStrike">
                          <a:solidFill>
                            <a:srgbClr val="000000"/>
                          </a:solidFill>
                          <a:effectLst/>
                          <a:latin typeface="Aptos Narrow" panose="020B0004020202020204" pitchFamily="34" charset="0"/>
                        </a:rPr>
                        <a:t> Family with Children 0-2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5,1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97D"/>
                    </a:solidFill>
                  </a:tcPr>
                </a:tc>
                <a:tc>
                  <a:txBody>
                    <a:bodyPr/>
                    <a:lstStyle/>
                    <a:p>
                      <a:pPr algn="r" fontAlgn="b">
                        <a:buNone/>
                      </a:pPr>
                      <a:r>
                        <a:rPr lang="fr-FR" sz="900" b="0" i="0" u="none" strike="noStrike">
                          <a:solidFill>
                            <a:srgbClr val="000000"/>
                          </a:solidFill>
                          <a:effectLst/>
                          <a:latin typeface="Aptos Narrow" panose="020B0004020202020204" pitchFamily="34" charset="0"/>
                        </a:rPr>
                        <a:t>-0,7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579"/>
                    </a:solidFill>
                  </a:tcPr>
                </a:tc>
                <a:tc>
                  <a:txBody>
                    <a:bodyPr/>
                    <a:lstStyle/>
                    <a:p>
                      <a:pPr algn="r" fontAlgn="b">
                        <a:buNone/>
                      </a:pPr>
                      <a:r>
                        <a:rPr lang="fr-FR" sz="900" b="0" i="0" u="none" strike="noStrike">
                          <a:solidFill>
                            <a:srgbClr val="00B050"/>
                          </a:solidFill>
                          <a:effectLst/>
                          <a:latin typeface="Aptos Narrow" panose="020B0004020202020204" pitchFamily="34" charset="0"/>
                        </a:rPr>
                        <a:t>5,7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15717218"/>
                  </a:ext>
                </a:extLst>
              </a:tr>
              <a:tr h="114421">
                <a:tc>
                  <a:txBody>
                    <a:bodyPr/>
                    <a:lstStyle/>
                    <a:p>
                      <a:pPr algn="l" fontAlgn="b">
                        <a:buNone/>
                      </a:pPr>
                      <a:r>
                        <a:rPr lang="fr-FR" sz="900" b="0" i="0" u="none" strike="noStrike">
                          <a:solidFill>
                            <a:srgbClr val="000000"/>
                          </a:solidFill>
                          <a:effectLst/>
                          <a:latin typeface="Aptos Narrow" panose="020B0004020202020204" pitchFamily="34" charset="0"/>
                        </a:rPr>
                        <a:t> Family with Children 12-17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9,8</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980"/>
                    </a:solidFill>
                  </a:tcPr>
                </a:tc>
                <a:tc>
                  <a:txBody>
                    <a:bodyPr/>
                    <a:lstStyle/>
                    <a:p>
                      <a:pPr algn="r" fontAlgn="b">
                        <a:buNone/>
                      </a:pPr>
                      <a:r>
                        <a:rPr lang="fr-FR" sz="900" b="0" i="0" u="none" strike="noStrike">
                          <a:solidFill>
                            <a:srgbClr val="000000"/>
                          </a:solidFill>
                          <a:effectLst/>
                          <a:latin typeface="Aptos Narrow" panose="020B0004020202020204" pitchFamily="34" charset="0"/>
                        </a:rPr>
                        <a:t>7,4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17F"/>
                    </a:solidFill>
                  </a:tcPr>
                </a:tc>
                <a:tc>
                  <a:txBody>
                    <a:bodyPr/>
                    <a:lstStyle/>
                    <a:p>
                      <a:pPr algn="r" fontAlgn="b">
                        <a:buNone/>
                      </a:pPr>
                      <a:r>
                        <a:rPr lang="fr-FR" sz="900" b="0" i="0" u="none" strike="noStrike">
                          <a:solidFill>
                            <a:srgbClr val="00B050"/>
                          </a:solidFill>
                          <a:effectLst/>
                          <a:latin typeface="Aptos Narrow" panose="020B0004020202020204" pitchFamily="34" charset="0"/>
                        </a:rPr>
                        <a:t>2,5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96625760"/>
                  </a:ext>
                </a:extLst>
              </a:tr>
              <a:tr h="114421">
                <a:tc>
                  <a:txBody>
                    <a:bodyPr/>
                    <a:lstStyle/>
                    <a:p>
                      <a:pPr algn="l" fontAlgn="b">
                        <a:buNone/>
                      </a:pPr>
                      <a:r>
                        <a:rPr lang="fr-FR" sz="900" b="0" i="0" u="none" strike="noStrike">
                          <a:solidFill>
                            <a:srgbClr val="000000"/>
                          </a:solidFill>
                          <a:effectLst/>
                          <a:latin typeface="Aptos Narrow" panose="020B0004020202020204" pitchFamily="34" charset="0"/>
                        </a:rPr>
                        <a:t> Family with Children 3-4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15,3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EA84"/>
                    </a:solidFill>
                  </a:tcPr>
                </a:tc>
                <a:tc>
                  <a:txBody>
                    <a:bodyPr/>
                    <a:lstStyle/>
                    <a:p>
                      <a:pPr algn="r" fontAlgn="b">
                        <a:buNone/>
                      </a:pPr>
                      <a:r>
                        <a:rPr lang="fr-FR" sz="900" b="0" i="0" u="none" strike="noStrike">
                          <a:solidFill>
                            <a:srgbClr val="000000"/>
                          </a:solidFill>
                          <a:effectLst/>
                          <a:latin typeface="Aptos Narrow" panose="020B0004020202020204" pitchFamily="34" charset="0"/>
                        </a:rPr>
                        <a:t>3,6</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47C"/>
                    </a:solidFill>
                  </a:tcPr>
                </a:tc>
                <a:tc>
                  <a:txBody>
                    <a:bodyPr/>
                    <a:lstStyle/>
                    <a:p>
                      <a:pPr algn="r" fontAlgn="b">
                        <a:buNone/>
                      </a:pPr>
                      <a:r>
                        <a:rPr lang="fr-FR" sz="900" b="0" i="0" u="none" strike="noStrike">
                          <a:solidFill>
                            <a:srgbClr val="00B050"/>
                          </a:solidFill>
                          <a:effectLst/>
                          <a:latin typeface="Aptos Narrow" panose="020B0004020202020204" pitchFamily="34" charset="0"/>
                        </a:rPr>
                        <a:t>11,7</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43674712"/>
                  </a:ext>
                </a:extLst>
              </a:tr>
              <a:tr h="114421">
                <a:tc>
                  <a:txBody>
                    <a:bodyPr/>
                    <a:lstStyle/>
                    <a:p>
                      <a:pPr algn="l" fontAlgn="b">
                        <a:buNone/>
                      </a:pPr>
                      <a:r>
                        <a:rPr lang="fr-FR" sz="900" b="0" i="0" u="none" strike="noStrike">
                          <a:solidFill>
                            <a:srgbClr val="000000"/>
                          </a:solidFill>
                          <a:effectLst/>
                          <a:latin typeface="Aptos Narrow" panose="020B0004020202020204" pitchFamily="34" charset="0"/>
                        </a:rPr>
                        <a:t> Family with Children 5-11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12,0</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182"/>
                    </a:solidFill>
                  </a:tcPr>
                </a:tc>
                <a:tc>
                  <a:txBody>
                    <a:bodyPr/>
                    <a:lstStyle/>
                    <a:p>
                      <a:pPr algn="r" fontAlgn="b">
                        <a:buNone/>
                      </a:pPr>
                      <a:r>
                        <a:rPr lang="fr-FR" sz="900" b="0" i="0" u="none" strike="noStrike">
                          <a:solidFill>
                            <a:srgbClr val="000000"/>
                          </a:solidFill>
                          <a:effectLst/>
                          <a:latin typeface="Aptos Narrow" panose="020B0004020202020204" pitchFamily="34" charset="0"/>
                        </a:rPr>
                        <a:t>2,9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27C"/>
                    </a:solidFill>
                  </a:tcPr>
                </a:tc>
                <a:tc>
                  <a:txBody>
                    <a:bodyPr/>
                    <a:lstStyle/>
                    <a:p>
                      <a:pPr algn="r" fontAlgn="b">
                        <a:buNone/>
                      </a:pPr>
                      <a:r>
                        <a:rPr lang="fr-FR" sz="900" b="0" i="0" u="none" strike="noStrike">
                          <a:solidFill>
                            <a:srgbClr val="00B050"/>
                          </a:solidFill>
                          <a:effectLst/>
                          <a:latin typeface="Aptos Narrow" panose="020B0004020202020204" pitchFamily="34" charset="0"/>
                        </a:rPr>
                        <a:t>9,1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21776340"/>
                  </a:ext>
                </a:extLst>
              </a:tr>
              <a:tr h="114421">
                <a:tc>
                  <a:txBody>
                    <a:bodyPr/>
                    <a:lstStyle/>
                    <a:p>
                      <a:pPr algn="l" fontAlgn="b">
                        <a:buNone/>
                      </a:pPr>
                      <a:r>
                        <a:rPr lang="fr-FR" sz="900" b="0" i="0" u="none" strike="noStrike">
                          <a:solidFill>
                            <a:srgbClr val="000000"/>
                          </a:solidFill>
                          <a:effectLst/>
                          <a:latin typeface="Aptos Narrow" panose="020B0004020202020204" pitchFamily="34" charset="0"/>
                        </a:rPr>
                        <a:t> Seniors active 55-74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14,5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A83"/>
                    </a:solidFill>
                  </a:tcPr>
                </a:tc>
                <a:tc>
                  <a:txBody>
                    <a:bodyPr/>
                    <a:lstStyle/>
                    <a:p>
                      <a:pPr algn="r" fontAlgn="b">
                        <a:buNone/>
                      </a:pPr>
                      <a:r>
                        <a:rPr lang="fr-FR" sz="900" b="0" i="0" u="none" strike="noStrike">
                          <a:solidFill>
                            <a:srgbClr val="000000"/>
                          </a:solidFill>
                          <a:effectLst/>
                          <a:latin typeface="Aptos Narrow" panose="020B0004020202020204" pitchFamily="34" charset="0"/>
                        </a:rPr>
                        <a:t>8,3</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47F"/>
                    </a:solidFill>
                  </a:tcPr>
                </a:tc>
                <a:tc>
                  <a:txBody>
                    <a:bodyPr/>
                    <a:lstStyle/>
                    <a:p>
                      <a:pPr algn="r" fontAlgn="b">
                        <a:buNone/>
                      </a:pPr>
                      <a:r>
                        <a:rPr lang="fr-FR" sz="900" b="0" i="0" u="none" strike="noStrike">
                          <a:solidFill>
                            <a:srgbClr val="00B050"/>
                          </a:solidFill>
                          <a:effectLst/>
                          <a:latin typeface="Aptos Narrow" panose="020B0004020202020204" pitchFamily="34" charset="0"/>
                        </a:rPr>
                        <a:t>6,2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48240239"/>
                  </a:ext>
                </a:extLst>
              </a:tr>
              <a:tr h="114421">
                <a:tc>
                  <a:txBody>
                    <a:bodyPr/>
                    <a:lstStyle/>
                    <a:p>
                      <a:pPr algn="l" fontAlgn="b">
                        <a:buNone/>
                      </a:pPr>
                      <a:r>
                        <a:rPr lang="fr-FR" sz="900" b="0" i="0" u="none" strike="noStrike">
                          <a:solidFill>
                            <a:srgbClr val="000000"/>
                          </a:solidFill>
                          <a:effectLst/>
                          <a:latin typeface="Aptos Narrow" panose="020B0004020202020204" pitchFamily="34" charset="0"/>
                        </a:rPr>
                        <a:t> Seniors&gt;75</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16,2</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5E984"/>
                    </a:solidFill>
                  </a:tcPr>
                </a:tc>
                <a:tc>
                  <a:txBody>
                    <a:bodyPr/>
                    <a:lstStyle/>
                    <a:p>
                      <a:pPr algn="r" fontAlgn="b">
                        <a:buNone/>
                      </a:pPr>
                      <a:r>
                        <a:rPr lang="fr-FR" sz="900" b="0" i="0" u="none" strike="noStrike">
                          <a:solidFill>
                            <a:srgbClr val="000000"/>
                          </a:solidFill>
                          <a:effectLst/>
                          <a:latin typeface="Aptos Narrow" panose="020B0004020202020204" pitchFamily="34" charset="0"/>
                        </a:rPr>
                        <a:t>17,1</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0E784"/>
                    </a:solidFill>
                  </a:tcPr>
                </a:tc>
                <a:tc>
                  <a:txBody>
                    <a:bodyPr/>
                    <a:lstStyle/>
                    <a:p>
                      <a:pPr algn="r" fontAlgn="b">
                        <a:buNone/>
                      </a:pPr>
                      <a:r>
                        <a:rPr lang="fr-FR" sz="900" b="0" i="0" u="none" strike="noStrike">
                          <a:solidFill>
                            <a:srgbClr val="FF0000"/>
                          </a:solidFill>
                          <a:effectLst/>
                          <a:latin typeface="Aptos Narrow" panose="020B0004020202020204" pitchFamily="34" charset="0"/>
                        </a:rPr>
                        <a:t>-0,9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7542592"/>
                  </a:ext>
                </a:extLst>
              </a:tr>
              <a:tr h="114421">
                <a:tc>
                  <a:txBody>
                    <a:bodyPr/>
                    <a:lstStyle/>
                    <a:p>
                      <a:pPr algn="l" fontAlgn="b">
                        <a:buNone/>
                      </a:pPr>
                      <a:r>
                        <a:rPr lang="fr-FR" sz="900" b="0" i="0" u="none" strike="noStrike">
                          <a:solidFill>
                            <a:srgbClr val="000000"/>
                          </a:solidFill>
                          <a:effectLst/>
                          <a:latin typeface="Aptos Narrow" panose="020B0004020202020204" pitchFamily="34" charset="0"/>
                        </a:rPr>
                        <a:t> Young Adults 18-34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12,9</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482"/>
                    </a:solidFill>
                  </a:tcPr>
                </a:tc>
                <a:tc>
                  <a:txBody>
                    <a:bodyPr/>
                    <a:lstStyle/>
                    <a:p>
                      <a:pPr algn="r" fontAlgn="b">
                        <a:buNone/>
                      </a:pPr>
                      <a:r>
                        <a:rPr lang="fr-FR" sz="900" b="0" i="0" u="none" strike="noStrike">
                          <a:solidFill>
                            <a:srgbClr val="000000"/>
                          </a:solidFill>
                          <a:effectLst/>
                          <a:latin typeface="Aptos Narrow" panose="020B0004020202020204" pitchFamily="34" charset="0"/>
                        </a:rPr>
                        <a:t>2,4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07B"/>
                    </a:solidFill>
                  </a:tcPr>
                </a:tc>
                <a:tc>
                  <a:txBody>
                    <a:bodyPr/>
                    <a:lstStyle/>
                    <a:p>
                      <a:pPr algn="r" fontAlgn="b">
                        <a:buNone/>
                      </a:pPr>
                      <a:r>
                        <a:rPr lang="fr-FR" sz="900" b="0" i="0" u="none" strike="noStrike">
                          <a:solidFill>
                            <a:srgbClr val="00B050"/>
                          </a:solidFill>
                          <a:effectLst/>
                          <a:latin typeface="Aptos Narrow" panose="020B0004020202020204" pitchFamily="34" charset="0"/>
                        </a:rPr>
                        <a:t>10,4</a:t>
                      </a:r>
                    </a:p>
                  </a:txBody>
                  <a:tcPr marL="1808" marR="1808" marT="18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81605226"/>
                  </a:ext>
                </a:extLst>
              </a:tr>
            </a:tbl>
          </a:graphicData>
        </a:graphic>
      </p:graphicFrame>
    </p:spTree>
    <p:extLst>
      <p:ext uri="{BB962C8B-B14F-4D97-AF65-F5344CB8AC3E}">
        <p14:creationId xmlns:p14="http://schemas.microsoft.com/office/powerpoint/2010/main" val="4567665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42251-05B2-1D9C-DA1D-8B27D49612C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455DDF-0446-C21E-7ED8-C1EE380FA121}"/>
              </a:ext>
            </a:extLst>
          </p:cNvPr>
          <p:cNvSpPr>
            <a:spLocks noGrp="1"/>
          </p:cNvSpPr>
          <p:nvPr>
            <p:ph type="sldNum" sz="quarter" idx="12"/>
          </p:nvPr>
        </p:nvSpPr>
        <p:spPr/>
        <p:txBody>
          <a:bodyPr/>
          <a:lstStyle/>
          <a:p>
            <a:fld id="{0D2E6A04-B99A-6C4D-8942-945F97C9E705}" type="slidenum">
              <a:rPr lang="en-US" smtClean="0"/>
              <a:pPr/>
              <a:t>34</a:t>
            </a:fld>
            <a:endParaRPr lang="en-US"/>
          </a:p>
        </p:txBody>
      </p:sp>
      <p:sp>
        <p:nvSpPr>
          <p:cNvPr id="3" name="Date Placeholder 2">
            <a:extLst>
              <a:ext uri="{FF2B5EF4-FFF2-40B4-BE49-F238E27FC236}">
                <a16:creationId xmlns:a16="http://schemas.microsoft.com/office/drawing/2014/main" id="{6E5A199E-F53B-73D9-90A3-765A44F44212}"/>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BEF52B44-95A9-EF5C-0F9D-C1B23675DB28}"/>
              </a:ext>
            </a:extLst>
          </p:cNvPr>
          <p:cNvSpPr>
            <a:spLocks noGrp="1"/>
          </p:cNvSpPr>
          <p:nvPr>
            <p:ph type="title"/>
          </p:nvPr>
        </p:nvSpPr>
        <p:spPr/>
        <p:txBody>
          <a:bodyPr/>
          <a:lstStyle/>
          <a:p>
            <a:r>
              <a:rPr lang="fr-FR"/>
              <a:t>Netherlands – NPS per </a:t>
            </a:r>
            <a:r>
              <a:rPr lang="fr-FR" err="1"/>
              <a:t>customer</a:t>
            </a:r>
            <a:r>
              <a:rPr lang="fr-FR"/>
              <a:t> country</a:t>
            </a:r>
          </a:p>
        </p:txBody>
      </p:sp>
      <p:sp>
        <p:nvSpPr>
          <p:cNvPr id="6" name="Rechthoek 4">
            <a:extLst>
              <a:ext uri="{FF2B5EF4-FFF2-40B4-BE49-F238E27FC236}">
                <a16:creationId xmlns:a16="http://schemas.microsoft.com/office/drawing/2014/main" id="{5A290B57-AF15-4173-28D5-456DE422914C}"/>
              </a:ext>
            </a:extLst>
          </p:cNvPr>
          <p:cNvSpPr/>
          <p:nvPr/>
        </p:nvSpPr>
        <p:spPr>
          <a:xfrm>
            <a:off x="-1" y="978100"/>
            <a:ext cx="6934201" cy="1696720"/>
          </a:xfrm>
          <a:prstGeom prst="rect">
            <a:avLst/>
          </a:prstGeom>
          <a:solidFill>
            <a:schemeClr val="accent4">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ea typeface="Calibri"/>
                <a:cs typeface="Calibri"/>
              </a:rPr>
              <a:t>GB, US, IL, IE, FR, BE, DE and LU origins are the highest NPS.</a:t>
            </a:r>
          </a:p>
          <a:p>
            <a:pPr marL="720725" lvl="2" indent="-161925">
              <a:lnSpc>
                <a:spcPct val="120000"/>
              </a:lnSpc>
              <a:buFont typeface="Arial" panose="020B0604020202020204" pitchFamily="34" charset="0"/>
              <a:buChar char="•"/>
            </a:pPr>
            <a:r>
              <a:rPr lang="en-US" sz="1200" b="1">
                <a:solidFill>
                  <a:schemeClr val="tx2"/>
                </a:solidFill>
                <a:ea typeface="Calibri"/>
                <a:cs typeface="Calibri"/>
              </a:rPr>
              <a:t>NL, CH and DK are the lowest NPS below average.</a:t>
            </a:r>
          </a:p>
          <a:p>
            <a:pPr marL="720725" lvl="2" indent="-161925">
              <a:lnSpc>
                <a:spcPct val="120000"/>
              </a:lnSpc>
              <a:buFont typeface="Arial" panose="020B0604020202020204" pitchFamily="34" charset="0"/>
              <a:buChar char="•"/>
            </a:pPr>
            <a:r>
              <a:rPr lang="en-US" sz="1200" b="1">
                <a:solidFill>
                  <a:schemeClr val="tx2"/>
                </a:solidFill>
                <a:ea typeface="Calibri"/>
                <a:cs typeface="Calibri"/>
              </a:rPr>
              <a:t>Increase of all origin except IL and CH.</a:t>
            </a:r>
          </a:p>
          <a:p>
            <a:pPr marL="720725" lvl="2" indent="-161925">
              <a:lnSpc>
                <a:spcPct val="120000"/>
              </a:lnSpc>
              <a:buFont typeface="Arial" panose="020B0604020202020204" pitchFamily="34" charset="0"/>
              <a:buChar char="•"/>
            </a:pPr>
            <a:r>
              <a:rPr lang="en-US" sz="1200" b="1">
                <a:solidFill>
                  <a:schemeClr val="tx2"/>
                </a:solidFill>
                <a:ea typeface="Calibri"/>
                <a:cs typeface="Calibri"/>
              </a:rPr>
              <a:t>NPS FR decreased on Park Sandur, De </a:t>
            </a:r>
            <a:r>
              <a:rPr lang="en-US" sz="1200" b="1" err="1">
                <a:solidFill>
                  <a:schemeClr val="tx2"/>
                </a:solidFill>
                <a:ea typeface="Calibri"/>
                <a:cs typeface="Calibri"/>
              </a:rPr>
              <a:t>Huttenheugte</a:t>
            </a:r>
            <a:r>
              <a:rPr lang="en-US" sz="1200" b="1">
                <a:solidFill>
                  <a:schemeClr val="tx2"/>
                </a:solidFill>
                <a:ea typeface="Calibri"/>
                <a:cs typeface="Calibri"/>
              </a:rPr>
              <a:t>, De </a:t>
            </a:r>
            <a:r>
              <a:rPr lang="en-US" sz="1200" b="1" err="1">
                <a:solidFill>
                  <a:schemeClr val="tx2"/>
                </a:solidFill>
                <a:ea typeface="Calibri"/>
                <a:cs typeface="Calibri"/>
              </a:rPr>
              <a:t>Eemhof</a:t>
            </a:r>
            <a:r>
              <a:rPr lang="en-US" sz="1200" b="1">
                <a:solidFill>
                  <a:schemeClr val="tx2"/>
                </a:solidFill>
                <a:ea typeface="Calibri"/>
                <a:cs typeface="Calibri"/>
              </a:rPr>
              <a:t> and Het Meerdal.</a:t>
            </a:r>
          </a:p>
          <a:p>
            <a:pPr marL="720725" lvl="2" indent="-161925">
              <a:lnSpc>
                <a:spcPct val="120000"/>
              </a:lnSpc>
              <a:buFont typeface="Arial" panose="020B0604020202020204" pitchFamily="34" charset="0"/>
              <a:buChar char="•"/>
            </a:pPr>
            <a:r>
              <a:rPr lang="en-US" sz="1200" b="1">
                <a:solidFill>
                  <a:schemeClr val="tx2"/>
                </a:solidFill>
                <a:ea typeface="Calibri"/>
                <a:cs typeface="Calibri"/>
              </a:rPr>
              <a:t>NPS CH mainly decreased on Port Zélande and Park Zandvoort.</a:t>
            </a:r>
            <a:endParaRPr lang="en-US" sz="1200">
              <a:solidFill>
                <a:schemeClr val="tx2"/>
              </a:solidFill>
              <a:ea typeface="Calibri"/>
              <a:cs typeface="Calibri"/>
            </a:endParaRPr>
          </a:p>
        </p:txBody>
      </p:sp>
      <p:sp>
        <p:nvSpPr>
          <p:cNvPr id="7" name="Rectangle 6">
            <a:extLst>
              <a:ext uri="{FF2B5EF4-FFF2-40B4-BE49-F238E27FC236}">
                <a16:creationId xmlns:a16="http://schemas.microsoft.com/office/drawing/2014/main" id="{B9017331-3C99-E969-010A-76B628C63A07}"/>
              </a:ext>
            </a:extLst>
          </p:cNvPr>
          <p:cNvSpPr/>
          <p:nvPr/>
        </p:nvSpPr>
        <p:spPr>
          <a:xfrm rot="16200000">
            <a:off x="-617105" y="1646060"/>
            <a:ext cx="1656000"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4"/>
                </a:solidFill>
                <a:ea typeface="Calibri"/>
                <a:cs typeface="Calibri"/>
              </a:rPr>
              <a:t>Analysis</a:t>
            </a:r>
            <a:endParaRPr lang="en-US" sz="1100">
              <a:solidFill>
                <a:schemeClr val="accent4"/>
              </a:solidFill>
            </a:endParaRPr>
          </a:p>
        </p:txBody>
      </p:sp>
      <p:graphicFrame>
        <p:nvGraphicFramePr>
          <p:cNvPr id="11" name="Table 10">
            <a:extLst>
              <a:ext uri="{FF2B5EF4-FFF2-40B4-BE49-F238E27FC236}">
                <a16:creationId xmlns:a16="http://schemas.microsoft.com/office/drawing/2014/main" id="{AE0AD821-B989-F544-B199-3EECF9A0C8FF}"/>
              </a:ext>
            </a:extLst>
          </p:cNvPr>
          <p:cNvGraphicFramePr>
            <a:graphicFrameLocks noGrp="1"/>
          </p:cNvGraphicFramePr>
          <p:nvPr/>
        </p:nvGraphicFramePr>
        <p:xfrm>
          <a:off x="7858124" y="978100"/>
          <a:ext cx="3181932" cy="2261870"/>
        </p:xfrm>
        <a:graphic>
          <a:graphicData uri="http://schemas.openxmlformats.org/drawingml/2006/table">
            <a:tbl>
              <a:tblPr/>
              <a:tblGrid>
                <a:gridCol w="795483">
                  <a:extLst>
                    <a:ext uri="{9D8B030D-6E8A-4147-A177-3AD203B41FA5}">
                      <a16:colId xmlns:a16="http://schemas.microsoft.com/office/drawing/2014/main" val="1390374334"/>
                    </a:ext>
                  </a:extLst>
                </a:gridCol>
                <a:gridCol w="795483">
                  <a:extLst>
                    <a:ext uri="{9D8B030D-6E8A-4147-A177-3AD203B41FA5}">
                      <a16:colId xmlns:a16="http://schemas.microsoft.com/office/drawing/2014/main" val="1864827497"/>
                    </a:ext>
                  </a:extLst>
                </a:gridCol>
                <a:gridCol w="795483">
                  <a:extLst>
                    <a:ext uri="{9D8B030D-6E8A-4147-A177-3AD203B41FA5}">
                      <a16:colId xmlns:a16="http://schemas.microsoft.com/office/drawing/2014/main" val="4043817958"/>
                    </a:ext>
                  </a:extLst>
                </a:gridCol>
                <a:gridCol w="795483">
                  <a:extLst>
                    <a:ext uri="{9D8B030D-6E8A-4147-A177-3AD203B41FA5}">
                      <a16:colId xmlns:a16="http://schemas.microsoft.com/office/drawing/2014/main" val="964520011"/>
                    </a:ext>
                  </a:extLst>
                </a:gridCol>
              </a:tblGrid>
              <a:tr h="148965">
                <a:tc>
                  <a:txBody>
                    <a:bodyPr/>
                    <a:lstStyle/>
                    <a:p>
                      <a:pPr algn="l" fontAlgn="b">
                        <a:buNone/>
                      </a:pPr>
                      <a:endParaRPr lang="fr-FR" sz="1100" b="0"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5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50" b="1" i="0" u="none" strike="noStrike">
                          <a:solidFill>
                            <a:srgbClr val="000000"/>
                          </a:solidFill>
                          <a:effectLst/>
                          <a:latin typeface="Aptos Narrow" panose="020B0004020202020204" pitchFamily="34" charset="0"/>
                        </a:rPr>
                        <a:t>FY24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50" b="1" i="0" u="none" strike="noStrike">
                          <a:solidFill>
                            <a:srgbClr val="000000"/>
                          </a:solidFill>
                          <a:effectLst/>
                          <a:latin typeface="Aptos Narrow" panose="020B0004020202020204" pitchFamily="34" charset="0"/>
                        </a:rPr>
                        <a:t>Evol </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61511069"/>
                  </a:ext>
                </a:extLst>
              </a:tr>
              <a:tr h="148965">
                <a:tc>
                  <a:txBody>
                    <a:bodyPr/>
                    <a:lstStyle/>
                    <a:p>
                      <a:pPr algn="l" fontAlgn="b">
                        <a:buNone/>
                      </a:pPr>
                      <a:r>
                        <a:rPr lang="fr-FR" sz="1100" b="0" i="0" u="none" strike="noStrike">
                          <a:solidFill>
                            <a:srgbClr val="000000"/>
                          </a:solidFill>
                          <a:effectLst/>
                          <a:latin typeface="Aptos Narrow" panose="020B0004020202020204" pitchFamily="34" charset="0"/>
                        </a:rPr>
                        <a:t>US</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56,7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l" fontAlgn="b">
                        <a:buNone/>
                      </a:pPr>
                      <a:endParaRPr lang="fr-FR" sz="1100" b="0"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endParaRPr lang="fr-FR" sz="1100" b="1" i="0" u="none" strike="noStrike">
                        <a:solidFill>
                          <a:srgbClr val="00B05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38512516"/>
                  </a:ext>
                </a:extLst>
              </a:tr>
              <a:tr h="148965">
                <a:tc>
                  <a:txBody>
                    <a:bodyPr/>
                    <a:lstStyle/>
                    <a:p>
                      <a:pPr algn="l" fontAlgn="b">
                        <a:buNone/>
                      </a:pPr>
                      <a:r>
                        <a:rPr lang="fr-FR" sz="1100" b="0" i="0" u="none" strike="noStrike">
                          <a:solidFill>
                            <a:srgbClr val="000000"/>
                          </a:solidFill>
                          <a:effectLst/>
                          <a:latin typeface="Aptos Narrow" panose="020B0004020202020204" pitchFamily="34" charset="0"/>
                        </a:rPr>
                        <a:t>GB</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48,3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CC681"/>
                    </a:solidFill>
                  </a:tcPr>
                </a:tc>
                <a:tc>
                  <a:txBody>
                    <a:bodyPr/>
                    <a:lstStyle/>
                    <a:p>
                      <a:pPr algn="r" fontAlgn="b">
                        <a:buNone/>
                      </a:pPr>
                      <a:r>
                        <a:rPr lang="fr-FR" sz="1100" b="0" i="0" u="none" strike="noStrike">
                          <a:solidFill>
                            <a:srgbClr val="000000"/>
                          </a:solidFill>
                          <a:effectLst/>
                          <a:latin typeface="Aptos Narrow" panose="020B0004020202020204" pitchFamily="34" charset="0"/>
                        </a:rPr>
                        <a:t>41,7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FCC85"/>
                    </a:solidFill>
                  </a:tcPr>
                </a:tc>
                <a:tc>
                  <a:txBody>
                    <a:bodyPr/>
                    <a:lstStyle/>
                    <a:p>
                      <a:pPr algn="r" fontAlgn="b">
                        <a:buNone/>
                      </a:pPr>
                      <a:r>
                        <a:rPr lang="fr-FR" sz="1100" b="1" i="0" u="none" strike="noStrike">
                          <a:solidFill>
                            <a:srgbClr val="00B050"/>
                          </a:solidFill>
                          <a:effectLst/>
                          <a:latin typeface="Aptos Narrow" panose="020B0004020202020204" pitchFamily="34" charset="0"/>
                        </a:rPr>
                        <a:t>6,6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88394771"/>
                  </a:ext>
                </a:extLst>
              </a:tr>
              <a:tr h="148965">
                <a:tc>
                  <a:txBody>
                    <a:bodyPr/>
                    <a:lstStyle/>
                    <a:p>
                      <a:pPr algn="l" fontAlgn="b">
                        <a:buNone/>
                      </a:pPr>
                      <a:r>
                        <a:rPr lang="fr-FR" sz="1100" b="0" i="0" u="none" strike="noStrike">
                          <a:solidFill>
                            <a:srgbClr val="000000"/>
                          </a:solidFill>
                          <a:effectLst/>
                          <a:latin typeface="Aptos Narrow" panose="020B0004020202020204" pitchFamily="34" charset="0"/>
                        </a:rPr>
                        <a:t>IL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47,4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FC781"/>
                    </a:solidFill>
                  </a:tcPr>
                </a:tc>
                <a:tc>
                  <a:txBody>
                    <a:bodyPr/>
                    <a:lstStyle/>
                    <a:p>
                      <a:pPr algn="r" fontAlgn="b">
                        <a:buNone/>
                      </a:pPr>
                      <a:r>
                        <a:rPr lang="fr-FR" sz="1100" b="0" i="0" u="none" strike="noStrike">
                          <a:solidFill>
                            <a:srgbClr val="000000"/>
                          </a:solidFill>
                          <a:effectLst/>
                          <a:latin typeface="Aptos Narrow" panose="020B0004020202020204" pitchFamily="34" charset="0"/>
                        </a:rPr>
                        <a:t>48,6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BC680"/>
                    </a:solidFill>
                  </a:tcPr>
                </a:tc>
                <a:tc>
                  <a:txBody>
                    <a:bodyPr/>
                    <a:lstStyle/>
                    <a:p>
                      <a:pPr algn="r" fontAlgn="b">
                        <a:buNone/>
                      </a:pPr>
                      <a:r>
                        <a:rPr lang="fr-FR" sz="1100" b="0" i="0" u="none" strike="noStrike">
                          <a:solidFill>
                            <a:srgbClr val="FF0000"/>
                          </a:solidFill>
                          <a:effectLst/>
                          <a:latin typeface="Aptos Narrow" panose="020B0004020202020204" pitchFamily="34" charset="0"/>
                        </a:rPr>
                        <a:t>-1,2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60709039"/>
                  </a:ext>
                </a:extLst>
              </a:tr>
              <a:tr h="148965">
                <a:tc>
                  <a:txBody>
                    <a:bodyPr/>
                    <a:lstStyle/>
                    <a:p>
                      <a:pPr algn="l" fontAlgn="b">
                        <a:buNone/>
                      </a:pPr>
                      <a:r>
                        <a:rPr lang="fr-FR" sz="1100" b="0" i="0" u="none" strike="noStrike">
                          <a:solidFill>
                            <a:srgbClr val="000000"/>
                          </a:solidFill>
                          <a:effectLst/>
                          <a:latin typeface="Aptos Narrow" panose="020B0004020202020204" pitchFamily="34" charset="0"/>
                        </a:rPr>
                        <a:t>IE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31,4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DD68B"/>
                    </a:solidFill>
                  </a:tcPr>
                </a:tc>
                <a:tc>
                  <a:txBody>
                    <a:bodyPr/>
                    <a:lstStyle/>
                    <a:p>
                      <a:pPr algn="r" fontAlgn="b">
                        <a:buNone/>
                      </a:pPr>
                      <a:r>
                        <a:rPr lang="fr-FR" sz="1100" b="0" i="0" u="none" strike="noStrike">
                          <a:solidFill>
                            <a:srgbClr val="000000"/>
                          </a:solidFill>
                          <a:effectLst/>
                          <a:latin typeface="Aptos Narrow" panose="020B0004020202020204" pitchFamily="34" charset="0"/>
                        </a:rPr>
                        <a:t>21,9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9DE91"/>
                    </a:solidFill>
                  </a:tcPr>
                </a:tc>
                <a:tc>
                  <a:txBody>
                    <a:bodyPr/>
                    <a:lstStyle/>
                    <a:p>
                      <a:pPr algn="r" fontAlgn="b">
                        <a:buNone/>
                      </a:pPr>
                      <a:r>
                        <a:rPr lang="fr-FR" sz="1100" b="0" i="0" u="none" strike="noStrike">
                          <a:solidFill>
                            <a:srgbClr val="00B050"/>
                          </a:solidFill>
                          <a:effectLst/>
                          <a:latin typeface="Aptos Narrow" panose="020B0004020202020204" pitchFamily="34" charset="0"/>
                        </a:rPr>
                        <a:t>9,5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01683859"/>
                  </a:ext>
                </a:extLst>
              </a:tr>
              <a:tr h="148965">
                <a:tc>
                  <a:txBody>
                    <a:bodyPr/>
                    <a:lstStyle/>
                    <a:p>
                      <a:pPr algn="l" fontAlgn="b">
                        <a:buNone/>
                      </a:pPr>
                      <a:r>
                        <a:rPr lang="fr-FR" sz="1100" b="0" i="0" u="none" strike="noStrike">
                          <a:solidFill>
                            <a:srgbClr val="000000"/>
                          </a:solidFill>
                          <a:effectLst/>
                          <a:latin typeface="Aptos Narrow" panose="020B0004020202020204" pitchFamily="34" charset="0"/>
                        </a:rPr>
                        <a:t>FR</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28,1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7D98D"/>
                    </a:solidFill>
                  </a:tcPr>
                </a:tc>
                <a:tc>
                  <a:txBody>
                    <a:bodyPr/>
                    <a:lstStyle/>
                    <a:p>
                      <a:pPr algn="r" fontAlgn="b">
                        <a:buNone/>
                      </a:pPr>
                      <a:r>
                        <a:rPr lang="fr-FR" sz="1100" b="0" i="0" u="none" strike="noStrike">
                          <a:solidFill>
                            <a:srgbClr val="000000"/>
                          </a:solidFill>
                          <a:effectLst/>
                          <a:latin typeface="Aptos Narrow" panose="020B0004020202020204" pitchFamily="34" charset="0"/>
                        </a:rPr>
                        <a:t>27,9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7D98D"/>
                    </a:solidFill>
                  </a:tcPr>
                </a:tc>
                <a:tc>
                  <a:txBody>
                    <a:bodyPr/>
                    <a:lstStyle/>
                    <a:p>
                      <a:pPr algn="r" fontAlgn="b">
                        <a:buNone/>
                      </a:pPr>
                      <a:r>
                        <a:rPr lang="fr-FR" sz="1100" b="0" i="0" u="none" strike="noStrike">
                          <a:solidFill>
                            <a:srgbClr val="00B050"/>
                          </a:solidFill>
                          <a:effectLst/>
                          <a:latin typeface="Aptos Narrow" panose="020B0004020202020204" pitchFamily="34" charset="0"/>
                        </a:rPr>
                        <a:t>0,2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39369997"/>
                  </a:ext>
                </a:extLst>
              </a:tr>
              <a:tr h="148965">
                <a:tc>
                  <a:txBody>
                    <a:bodyPr/>
                    <a:lstStyle/>
                    <a:p>
                      <a:pPr algn="l" fontAlgn="b">
                        <a:buNone/>
                      </a:pPr>
                      <a:r>
                        <a:rPr lang="fr-FR" sz="1100" b="0" i="0" u="none" strike="noStrike">
                          <a:solidFill>
                            <a:srgbClr val="000000"/>
                          </a:solidFill>
                          <a:effectLst/>
                          <a:latin typeface="Aptos Narrow" panose="020B0004020202020204" pitchFamily="34" charset="0"/>
                        </a:rPr>
                        <a:t>BE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27,6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8D98D"/>
                    </a:solidFill>
                  </a:tcPr>
                </a:tc>
                <a:tc>
                  <a:txBody>
                    <a:bodyPr/>
                    <a:lstStyle/>
                    <a:p>
                      <a:pPr algn="r" fontAlgn="b">
                        <a:buNone/>
                      </a:pPr>
                      <a:r>
                        <a:rPr lang="fr-FR" sz="1100" b="0" i="0" u="none" strike="noStrike">
                          <a:solidFill>
                            <a:srgbClr val="000000"/>
                          </a:solidFill>
                          <a:effectLst/>
                          <a:latin typeface="Aptos Narrow" panose="020B0004020202020204" pitchFamily="34" charset="0"/>
                        </a:rPr>
                        <a:t>22,1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8DE91"/>
                    </a:solidFill>
                  </a:tcPr>
                </a:tc>
                <a:tc>
                  <a:txBody>
                    <a:bodyPr/>
                    <a:lstStyle/>
                    <a:p>
                      <a:pPr algn="r" fontAlgn="b">
                        <a:buNone/>
                      </a:pPr>
                      <a:r>
                        <a:rPr lang="fr-FR" sz="1100" b="1" i="0" u="none" strike="noStrike">
                          <a:solidFill>
                            <a:srgbClr val="00B050"/>
                          </a:solidFill>
                          <a:effectLst/>
                          <a:latin typeface="Aptos Narrow" panose="020B0004020202020204" pitchFamily="34" charset="0"/>
                        </a:rPr>
                        <a:t>5,5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67003984"/>
                  </a:ext>
                </a:extLst>
              </a:tr>
              <a:tr h="148965">
                <a:tc>
                  <a:txBody>
                    <a:bodyPr/>
                    <a:lstStyle/>
                    <a:p>
                      <a:pPr algn="l" fontAlgn="b">
                        <a:buNone/>
                      </a:pPr>
                      <a:r>
                        <a:rPr lang="fr-FR" sz="1100" b="0" i="0" u="none" strike="noStrike">
                          <a:solidFill>
                            <a:srgbClr val="000000"/>
                          </a:solidFill>
                          <a:effectLst/>
                          <a:latin typeface="Aptos Narrow" panose="020B0004020202020204" pitchFamily="34" charset="0"/>
                        </a:rPr>
                        <a:t>DE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23,8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3DD90"/>
                    </a:solidFill>
                  </a:tcPr>
                </a:tc>
                <a:tc>
                  <a:txBody>
                    <a:bodyPr/>
                    <a:lstStyle/>
                    <a:p>
                      <a:pPr algn="r" fontAlgn="b">
                        <a:buNone/>
                      </a:pPr>
                      <a:r>
                        <a:rPr lang="fr-FR" sz="1100" b="0" i="0" u="none" strike="noStrike">
                          <a:solidFill>
                            <a:srgbClr val="000000"/>
                          </a:solidFill>
                          <a:effectLst/>
                          <a:latin typeface="Aptos Narrow" panose="020B0004020202020204" pitchFamily="34" charset="0"/>
                        </a:rPr>
                        <a:t>14,2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FE596"/>
                    </a:solidFill>
                  </a:tcPr>
                </a:tc>
                <a:tc>
                  <a:txBody>
                    <a:bodyPr/>
                    <a:lstStyle/>
                    <a:p>
                      <a:pPr algn="r" fontAlgn="b">
                        <a:buNone/>
                      </a:pPr>
                      <a:r>
                        <a:rPr lang="fr-FR" sz="1100" b="0" i="0" u="none" strike="noStrike">
                          <a:solidFill>
                            <a:srgbClr val="00B050"/>
                          </a:solidFill>
                          <a:effectLst/>
                          <a:latin typeface="Aptos Narrow" panose="020B0004020202020204" pitchFamily="34" charset="0"/>
                        </a:rPr>
                        <a:t>9,6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36299165"/>
                  </a:ext>
                </a:extLst>
              </a:tr>
              <a:tr h="148965">
                <a:tc>
                  <a:txBody>
                    <a:bodyPr/>
                    <a:lstStyle/>
                    <a:p>
                      <a:pPr algn="l" fontAlgn="b">
                        <a:buNone/>
                      </a:pPr>
                      <a:r>
                        <a:rPr lang="fr-FR" sz="1100" b="0" i="0" u="none" strike="noStrike">
                          <a:solidFill>
                            <a:srgbClr val="000000"/>
                          </a:solidFill>
                          <a:effectLst/>
                          <a:latin typeface="Aptos Narrow" panose="020B0004020202020204" pitchFamily="34" charset="0"/>
                        </a:rPr>
                        <a:t>LU</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19,7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FE092"/>
                    </a:solidFill>
                  </a:tcPr>
                </a:tc>
                <a:tc>
                  <a:txBody>
                    <a:bodyPr/>
                    <a:lstStyle/>
                    <a:p>
                      <a:pPr algn="r" fontAlgn="b">
                        <a:buNone/>
                      </a:pPr>
                      <a:r>
                        <a:rPr lang="fr-FR" sz="1100" b="0" i="0" u="none" strike="noStrike">
                          <a:solidFill>
                            <a:srgbClr val="000000"/>
                          </a:solidFill>
                          <a:effectLst/>
                          <a:latin typeface="Aptos Narrow" panose="020B0004020202020204" pitchFamily="34" charset="0"/>
                        </a:rPr>
                        <a:t>8,1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1EB99"/>
                    </a:solidFill>
                  </a:tcPr>
                </a:tc>
                <a:tc>
                  <a:txBody>
                    <a:bodyPr/>
                    <a:lstStyle/>
                    <a:p>
                      <a:pPr algn="r" fontAlgn="b">
                        <a:buNone/>
                      </a:pPr>
                      <a:r>
                        <a:rPr lang="fr-FR" sz="1100" b="0" i="0" u="none" strike="noStrike">
                          <a:solidFill>
                            <a:srgbClr val="00B050"/>
                          </a:solidFill>
                          <a:effectLst/>
                          <a:latin typeface="Aptos Narrow" panose="020B0004020202020204" pitchFamily="34" charset="0"/>
                        </a:rPr>
                        <a:t>11,6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29765428"/>
                  </a:ext>
                </a:extLst>
              </a:tr>
              <a:tr h="148965">
                <a:tc>
                  <a:txBody>
                    <a:bodyPr/>
                    <a:lstStyle/>
                    <a:p>
                      <a:pPr algn="l" fontAlgn="b">
                        <a:buNone/>
                      </a:pPr>
                      <a:r>
                        <a:rPr lang="fr-FR" sz="1100" b="1" i="0" u="none" strike="noStrike">
                          <a:solidFill>
                            <a:srgbClr val="000000"/>
                          </a:solidFill>
                          <a:effectLst/>
                          <a:latin typeface="Aptos Narrow" panose="020B0004020202020204" pitchFamily="34" charset="0"/>
                        </a:rPr>
                        <a:t>Total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1" i="0" u="none" strike="noStrike">
                          <a:solidFill>
                            <a:srgbClr val="000000"/>
                          </a:solidFill>
                          <a:effectLst/>
                          <a:latin typeface="Aptos Narrow" panose="020B0004020202020204" pitchFamily="34" charset="0"/>
                        </a:rPr>
                        <a:t>18,1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4E293"/>
                    </a:solidFill>
                  </a:tcPr>
                </a:tc>
                <a:tc>
                  <a:txBody>
                    <a:bodyPr/>
                    <a:lstStyle/>
                    <a:p>
                      <a:pPr algn="r" fontAlgn="b">
                        <a:buNone/>
                      </a:pPr>
                      <a:r>
                        <a:rPr lang="fr-FR" sz="1100" b="1" i="0" u="none" strike="noStrike">
                          <a:solidFill>
                            <a:srgbClr val="000000"/>
                          </a:solidFill>
                          <a:effectLst/>
                          <a:latin typeface="Aptos Narrow" panose="020B0004020202020204" pitchFamily="34" charset="0"/>
                        </a:rPr>
                        <a:t>11,3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8E897"/>
                    </a:solidFill>
                  </a:tcPr>
                </a:tc>
                <a:tc>
                  <a:txBody>
                    <a:bodyPr/>
                    <a:lstStyle/>
                    <a:p>
                      <a:pPr algn="r" fontAlgn="b">
                        <a:buNone/>
                      </a:pPr>
                      <a:r>
                        <a:rPr lang="fr-FR" sz="1100" b="1" i="0" u="none" strike="noStrike">
                          <a:solidFill>
                            <a:srgbClr val="00B050"/>
                          </a:solidFill>
                          <a:effectLst/>
                          <a:latin typeface="Aptos Narrow" panose="020B0004020202020204" pitchFamily="34" charset="0"/>
                        </a:rPr>
                        <a:t>6,8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16138774"/>
                  </a:ext>
                </a:extLst>
              </a:tr>
              <a:tr h="148965">
                <a:tc>
                  <a:txBody>
                    <a:bodyPr/>
                    <a:lstStyle/>
                    <a:p>
                      <a:pPr algn="l" fontAlgn="b">
                        <a:buNone/>
                      </a:pPr>
                      <a:r>
                        <a:rPr lang="fr-FR" sz="1100" b="0" i="0" u="none" strike="noStrike">
                          <a:solidFill>
                            <a:srgbClr val="000000"/>
                          </a:solidFill>
                          <a:effectLst/>
                          <a:latin typeface="Aptos Narrow" panose="020B0004020202020204" pitchFamily="34" charset="0"/>
                        </a:rPr>
                        <a:t>DK</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11,5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7E897"/>
                    </a:solidFill>
                  </a:tcPr>
                </a:tc>
                <a:tc>
                  <a:txBody>
                    <a:bodyPr/>
                    <a:lstStyle/>
                    <a:p>
                      <a:pPr algn="r" fontAlgn="b">
                        <a:buNone/>
                      </a:pPr>
                      <a:r>
                        <a:rPr lang="fr-FR" sz="1100" b="0" i="0" u="none" strike="noStrike">
                          <a:solidFill>
                            <a:srgbClr val="000000"/>
                          </a:solidFill>
                          <a:effectLst/>
                          <a:latin typeface="Aptos Narrow" panose="020B0004020202020204" pitchFamily="34" charset="0"/>
                        </a:rPr>
                        <a:t>3,1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F9C"/>
                    </a:solidFill>
                  </a:tcPr>
                </a:tc>
                <a:tc>
                  <a:txBody>
                    <a:bodyPr/>
                    <a:lstStyle/>
                    <a:p>
                      <a:pPr algn="r" fontAlgn="b">
                        <a:buNone/>
                      </a:pPr>
                      <a:r>
                        <a:rPr lang="fr-FR" sz="1100" b="0" i="0" u="none" strike="noStrike">
                          <a:solidFill>
                            <a:srgbClr val="00B050"/>
                          </a:solidFill>
                          <a:effectLst/>
                          <a:latin typeface="Aptos Narrow" panose="020B0004020202020204" pitchFamily="34" charset="0"/>
                        </a:rPr>
                        <a:t>8,4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94189650"/>
                  </a:ext>
                </a:extLst>
              </a:tr>
              <a:tr h="148965">
                <a:tc>
                  <a:txBody>
                    <a:bodyPr/>
                    <a:lstStyle/>
                    <a:p>
                      <a:pPr algn="l" fontAlgn="b">
                        <a:buNone/>
                      </a:pPr>
                      <a:r>
                        <a:rPr lang="fr-FR" sz="1100" b="0" i="0" u="none" strike="noStrike">
                          <a:solidFill>
                            <a:srgbClr val="000000"/>
                          </a:solidFill>
                          <a:effectLst/>
                          <a:latin typeface="Aptos Narrow" panose="020B0004020202020204" pitchFamily="34" charset="0"/>
                        </a:rPr>
                        <a:t>NL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9,8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CE998"/>
                    </a:solidFill>
                  </a:tcPr>
                </a:tc>
                <a:tc>
                  <a:txBody>
                    <a:bodyPr/>
                    <a:lstStyle/>
                    <a:p>
                      <a:pPr algn="r" fontAlgn="b">
                        <a:buNone/>
                      </a:pPr>
                      <a:r>
                        <a:rPr lang="fr-FR" sz="1100" b="0" i="0" u="none" strike="noStrike">
                          <a:solidFill>
                            <a:srgbClr val="000000"/>
                          </a:solidFill>
                          <a:effectLst/>
                          <a:latin typeface="Aptos Narrow" panose="020B0004020202020204" pitchFamily="34" charset="0"/>
                        </a:rPr>
                        <a:t>4,1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EF9C"/>
                    </a:solidFill>
                  </a:tcPr>
                </a:tc>
                <a:tc>
                  <a:txBody>
                    <a:bodyPr/>
                    <a:lstStyle/>
                    <a:p>
                      <a:pPr algn="r" fontAlgn="b">
                        <a:buNone/>
                      </a:pPr>
                      <a:r>
                        <a:rPr lang="fr-FR" sz="1100" b="0" i="0" u="none" strike="noStrike">
                          <a:solidFill>
                            <a:srgbClr val="00B050"/>
                          </a:solidFill>
                          <a:effectLst/>
                          <a:latin typeface="Aptos Narrow" panose="020B0004020202020204" pitchFamily="34" charset="0"/>
                        </a:rPr>
                        <a:t>5,7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98305385"/>
                  </a:ext>
                </a:extLst>
              </a:tr>
              <a:tr h="148965">
                <a:tc>
                  <a:txBody>
                    <a:bodyPr/>
                    <a:lstStyle/>
                    <a:p>
                      <a:pPr algn="l" fontAlgn="b">
                        <a:buNone/>
                      </a:pPr>
                      <a:r>
                        <a:rPr lang="fr-FR" sz="1100" b="0" i="0" u="none" strike="noStrike">
                          <a:solidFill>
                            <a:srgbClr val="000000"/>
                          </a:solidFill>
                          <a:effectLst/>
                          <a:latin typeface="Aptos Narrow" panose="020B0004020202020204" pitchFamily="34" charset="0"/>
                        </a:rPr>
                        <a:t>CH</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8,5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0EB99"/>
                    </a:solidFill>
                  </a:tcPr>
                </a:tc>
                <a:tc>
                  <a:txBody>
                    <a:bodyPr/>
                    <a:lstStyle/>
                    <a:p>
                      <a:pPr algn="r" fontAlgn="b">
                        <a:buNone/>
                      </a:pPr>
                      <a:r>
                        <a:rPr lang="fr-FR" sz="1100" b="0" i="0" u="none" strike="noStrike">
                          <a:solidFill>
                            <a:srgbClr val="000000"/>
                          </a:solidFill>
                          <a:effectLst/>
                          <a:latin typeface="Aptos Narrow" panose="020B0004020202020204" pitchFamily="34" charset="0"/>
                        </a:rPr>
                        <a:t>15,9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AE495"/>
                    </a:solidFill>
                  </a:tcPr>
                </a:tc>
                <a:tc>
                  <a:txBody>
                    <a:bodyPr/>
                    <a:lstStyle/>
                    <a:p>
                      <a:pPr algn="r" fontAlgn="b">
                        <a:buNone/>
                      </a:pPr>
                      <a:r>
                        <a:rPr lang="fr-FR" sz="1100" b="0" i="0" u="none" strike="noStrike">
                          <a:solidFill>
                            <a:srgbClr val="FF0000"/>
                          </a:solidFill>
                          <a:effectLst/>
                          <a:latin typeface="Aptos Narrow" panose="020B0004020202020204" pitchFamily="34" charset="0"/>
                        </a:rPr>
                        <a:t>-7,4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51017214"/>
                  </a:ext>
                </a:extLst>
              </a:tr>
            </a:tbl>
          </a:graphicData>
        </a:graphic>
      </p:graphicFrame>
      <p:graphicFrame>
        <p:nvGraphicFramePr>
          <p:cNvPr id="12" name="Table 11">
            <a:extLst>
              <a:ext uri="{FF2B5EF4-FFF2-40B4-BE49-F238E27FC236}">
                <a16:creationId xmlns:a16="http://schemas.microsoft.com/office/drawing/2014/main" id="{B5E9B2AD-2FB7-3BFF-3075-3B536D5BC632}"/>
              </a:ext>
            </a:extLst>
          </p:cNvPr>
          <p:cNvGraphicFramePr>
            <a:graphicFrameLocks noGrp="1"/>
          </p:cNvGraphicFramePr>
          <p:nvPr/>
        </p:nvGraphicFramePr>
        <p:xfrm>
          <a:off x="210895" y="2835945"/>
          <a:ext cx="2072986" cy="3345576"/>
        </p:xfrm>
        <a:graphic>
          <a:graphicData uri="http://schemas.openxmlformats.org/drawingml/2006/table">
            <a:tbl>
              <a:tblPr/>
              <a:tblGrid>
                <a:gridCol w="985038">
                  <a:extLst>
                    <a:ext uri="{9D8B030D-6E8A-4147-A177-3AD203B41FA5}">
                      <a16:colId xmlns:a16="http://schemas.microsoft.com/office/drawing/2014/main" val="1128449340"/>
                    </a:ext>
                  </a:extLst>
                </a:gridCol>
                <a:gridCol w="367550">
                  <a:extLst>
                    <a:ext uri="{9D8B030D-6E8A-4147-A177-3AD203B41FA5}">
                      <a16:colId xmlns:a16="http://schemas.microsoft.com/office/drawing/2014/main" val="3092873033"/>
                    </a:ext>
                  </a:extLst>
                </a:gridCol>
                <a:gridCol w="367550">
                  <a:extLst>
                    <a:ext uri="{9D8B030D-6E8A-4147-A177-3AD203B41FA5}">
                      <a16:colId xmlns:a16="http://schemas.microsoft.com/office/drawing/2014/main" val="56998255"/>
                    </a:ext>
                  </a:extLst>
                </a:gridCol>
                <a:gridCol w="352848">
                  <a:extLst>
                    <a:ext uri="{9D8B030D-6E8A-4147-A177-3AD203B41FA5}">
                      <a16:colId xmlns:a16="http://schemas.microsoft.com/office/drawing/2014/main" val="1768721342"/>
                    </a:ext>
                  </a:extLst>
                </a:gridCol>
              </a:tblGrid>
              <a:tr h="117856">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76257673"/>
                  </a:ext>
                </a:extLst>
              </a:tr>
              <a:tr h="117856">
                <a:tc>
                  <a:txBody>
                    <a:bodyPr/>
                    <a:lstStyle/>
                    <a:p>
                      <a:pPr algn="l" fontAlgn="b">
                        <a:buNone/>
                      </a:pPr>
                      <a:r>
                        <a:rPr lang="fr-FR" sz="900" b="1" i="0" u="none" strike="noStrike">
                          <a:solidFill>
                            <a:srgbClr val="000000"/>
                          </a:solidFill>
                          <a:effectLst/>
                          <a:latin typeface="Aptos Narrow" panose="020B0004020202020204" pitchFamily="34" charset="0"/>
                        </a:rPr>
                        <a:t>De </a:t>
                      </a:r>
                      <a:r>
                        <a:rPr lang="fr-FR" sz="900" b="1" i="0" u="none" strike="noStrike" err="1">
                          <a:solidFill>
                            <a:srgbClr val="000000"/>
                          </a:solidFill>
                          <a:effectLst/>
                          <a:latin typeface="Aptos Narrow" panose="020B0004020202020204" pitchFamily="34" charset="0"/>
                        </a:rPr>
                        <a:t>Eemhof</a:t>
                      </a:r>
                      <a:endParaRPr lang="fr-FR" sz="900" b="1" i="0" u="none" strike="noStrike">
                        <a:solidFill>
                          <a:srgbClr val="000000"/>
                        </a:solidFill>
                        <a:effectLst/>
                        <a:latin typeface="Aptos Narrow" panose="020B0004020202020204" pitchFamily="34" charset="0"/>
                      </a:endParaRP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13,3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D7E"/>
                    </a:solidFill>
                  </a:tcPr>
                </a:tc>
                <a:tc>
                  <a:txBody>
                    <a:bodyPr/>
                    <a:lstStyle/>
                    <a:p>
                      <a:pPr algn="r" fontAlgn="b">
                        <a:buNone/>
                      </a:pPr>
                      <a:r>
                        <a:rPr lang="fr-FR" sz="900" b="1" i="0" u="none" strike="noStrike">
                          <a:solidFill>
                            <a:srgbClr val="000000"/>
                          </a:solidFill>
                          <a:effectLst/>
                          <a:latin typeface="Aptos Narrow" panose="020B0004020202020204" pitchFamily="34" charset="0"/>
                        </a:rPr>
                        <a:t>6,5</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B179"/>
                    </a:solidFill>
                  </a:tcPr>
                </a:tc>
                <a:tc>
                  <a:txBody>
                    <a:bodyPr/>
                    <a:lstStyle/>
                    <a:p>
                      <a:pPr algn="r" fontAlgn="b">
                        <a:buNone/>
                      </a:pPr>
                      <a:r>
                        <a:rPr lang="fr-FR" sz="900" b="1" i="0" u="none" strike="noStrike">
                          <a:solidFill>
                            <a:srgbClr val="00B050"/>
                          </a:solidFill>
                          <a:effectLst/>
                          <a:latin typeface="Aptos Narrow" panose="020B0004020202020204" pitchFamily="34" charset="0"/>
                        </a:rPr>
                        <a:t>6,8</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67086982"/>
                  </a:ext>
                </a:extLst>
              </a:tr>
              <a:tr h="117856">
                <a:tc>
                  <a:txBody>
                    <a:bodyPr/>
                    <a:lstStyle/>
                    <a:p>
                      <a:pPr algn="l" fontAlgn="b">
                        <a:buNone/>
                      </a:pPr>
                      <a:r>
                        <a:rPr lang="fr-FR" sz="900" b="0" i="0" u="none" strike="noStrike">
                          <a:solidFill>
                            <a:srgbClr val="000000"/>
                          </a:solidFill>
                          <a:effectLst/>
                          <a:latin typeface="Aptos Narrow" panose="020B0004020202020204" pitchFamily="34" charset="0"/>
                        </a:rPr>
                        <a:t> BE</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27,6</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0E784"/>
                    </a:solidFill>
                  </a:tcPr>
                </a:tc>
                <a:tc>
                  <a:txBody>
                    <a:bodyPr/>
                    <a:lstStyle/>
                    <a:p>
                      <a:pPr algn="r" fontAlgn="b">
                        <a:buNone/>
                      </a:pPr>
                      <a:r>
                        <a:rPr lang="fr-FR" sz="900" b="0" i="0" u="none" strike="noStrike">
                          <a:solidFill>
                            <a:srgbClr val="000000"/>
                          </a:solidFill>
                          <a:effectLst/>
                          <a:latin typeface="Aptos Narrow" panose="020B0004020202020204" pitchFamily="34" charset="0"/>
                        </a:rPr>
                        <a:t>25,9</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3E884"/>
                    </a:solidFill>
                  </a:tcPr>
                </a:tc>
                <a:tc>
                  <a:txBody>
                    <a:bodyPr/>
                    <a:lstStyle/>
                    <a:p>
                      <a:pPr algn="r" fontAlgn="b">
                        <a:buNone/>
                      </a:pPr>
                      <a:r>
                        <a:rPr lang="fr-FR" sz="900" b="0" i="0" u="none" strike="noStrike">
                          <a:solidFill>
                            <a:srgbClr val="00B050"/>
                          </a:solidFill>
                          <a:effectLst/>
                          <a:latin typeface="Aptos Narrow" panose="020B0004020202020204" pitchFamily="34" charset="0"/>
                        </a:rPr>
                        <a:t>1,7</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69825207"/>
                  </a:ext>
                </a:extLst>
              </a:tr>
              <a:tr h="117856">
                <a:tc>
                  <a:txBody>
                    <a:bodyPr/>
                    <a:lstStyle/>
                    <a:p>
                      <a:pPr algn="l" fontAlgn="b">
                        <a:buNone/>
                      </a:pPr>
                      <a:r>
                        <a:rPr lang="fr-FR" sz="900" b="0" i="0" u="none" strike="noStrike">
                          <a:solidFill>
                            <a:srgbClr val="000000"/>
                          </a:solidFill>
                          <a:effectLst/>
                          <a:latin typeface="Aptos Narrow" panose="020B0004020202020204" pitchFamily="34" charset="0"/>
                        </a:rPr>
                        <a:t> DE</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18,4</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282"/>
                    </a:solidFill>
                  </a:tcPr>
                </a:tc>
                <a:tc>
                  <a:txBody>
                    <a:bodyPr/>
                    <a:lstStyle/>
                    <a:p>
                      <a:pPr algn="r" fontAlgn="b">
                        <a:buNone/>
                      </a:pPr>
                      <a:r>
                        <a:rPr lang="fr-FR" sz="900" b="0" i="0" u="none" strike="noStrike">
                          <a:solidFill>
                            <a:srgbClr val="000000"/>
                          </a:solidFill>
                          <a:effectLst/>
                          <a:latin typeface="Aptos Narrow" panose="020B0004020202020204" pitchFamily="34" charset="0"/>
                        </a:rPr>
                        <a:t>8,1</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87A"/>
                    </a:solidFill>
                  </a:tcPr>
                </a:tc>
                <a:tc>
                  <a:txBody>
                    <a:bodyPr/>
                    <a:lstStyle/>
                    <a:p>
                      <a:pPr algn="r" fontAlgn="b">
                        <a:buNone/>
                      </a:pPr>
                      <a:r>
                        <a:rPr lang="fr-FR" sz="900" b="0" i="0" u="none" strike="noStrike">
                          <a:solidFill>
                            <a:srgbClr val="00B050"/>
                          </a:solidFill>
                          <a:effectLst/>
                          <a:latin typeface="Aptos Narrow" panose="020B0004020202020204" pitchFamily="34" charset="0"/>
                        </a:rPr>
                        <a:t>10,3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29920098"/>
                  </a:ext>
                </a:extLst>
              </a:tr>
              <a:tr h="117856">
                <a:tc>
                  <a:txBody>
                    <a:bodyPr/>
                    <a:lstStyle/>
                    <a:p>
                      <a:pPr algn="l" fontAlgn="b">
                        <a:buNone/>
                      </a:pPr>
                      <a:r>
                        <a:rPr lang="fr-FR" sz="900" b="0" i="0" u="none" strike="noStrike">
                          <a:solidFill>
                            <a:srgbClr val="000000"/>
                          </a:solidFill>
                          <a:effectLst/>
                          <a:latin typeface="Aptos Narrow" panose="020B0004020202020204" pitchFamily="34" charset="0"/>
                        </a:rPr>
                        <a:t> FR</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32,3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5E483"/>
                    </a:solidFill>
                  </a:tcPr>
                </a:tc>
                <a:tc>
                  <a:txBody>
                    <a:bodyPr/>
                    <a:lstStyle/>
                    <a:p>
                      <a:pPr algn="r" fontAlgn="b">
                        <a:buNone/>
                      </a:pPr>
                      <a:r>
                        <a:rPr lang="fr-FR" sz="900" b="0" i="0" u="none" strike="noStrike">
                          <a:solidFill>
                            <a:srgbClr val="000000"/>
                          </a:solidFill>
                          <a:effectLst/>
                          <a:latin typeface="Aptos Narrow" panose="020B0004020202020204" pitchFamily="34" charset="0"/>
                        </a:rPr>
                        <a:t>33,0</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4E383"/>
                    </a:solidFill>
                  </a:tcPr>
                </a:tc>
                <a:tc>
                  <a:txBody>
                    <a:bodyPr/>
                    <a:lstStyle/>
                    <a:p>
                      <a:pPr algn="r" fontAlgn="b">
                        <a:buNone/>
                      </a:pPr>
                      <a:r>
                        <a:rPr lang="fr-FR" sz="900" b="0" i="0" u="none" strike="noStrike">
                          <a:solidFill>
                            <a:srgbClr val="FF0000"/>
                          </a:solidFill>
                          <a:effectLst/>
                          <a:latin typeface="Aptos Narrow" panose="020B0004020202020204" pitchFamily="34" charset="0"/>
                        </a:rPr>
                        <a:t>-0,6</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76668312"/>
                  </a:ext>
                </a:extLst>
              </a:tr>
              <a:tr h="117856">
                <a:tc>
                  <a:txBody>
                    <a:bodyPr/>
                    <a:lstStyle/>
                    <a:p>
                      <a:pPr algn="l" fontAlgn="b">
                        <a:buNone/>
                      </a:pPr>
                      <a:r>
                        <a:rPr lang="fr-FR" sz="900" b="0" i="0" u="none" strike="noStrike">
                          <a:solidFill>
                            <a:srgbClr val="000000"/>
                          </a:solidFill>
                          <a:effectLst/>
                          <a:latin typeface="Aptos Narrow" panose="020B0004020202020204" pitchFamily="34" charset="0"/>
                        </a:rPr>
                        <a:t> GB</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37,3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AE182"/>
                    </a:solidFill>
                  </a:tcPr>
                </a:tc>
                <a:tc>
                  <a:txBody>
                    <a:bodyPr/>
                    <a:lstStyle/>
                    <a:p>
                      <a:pPr algn="r" fontAlgn="b">
                        <a:buNone/>
                      </a:pPr>
                      <a:r>
                        <a:rPr lang="fr-FR" sz="900" b="0" i="0" u="none" strike="noStrike">
                          <a:solidFill>
                            <a:srgbClr val="000000"/>
                          </a:solidFill>
                          <a:effectLst/>
                          <a:latin typeface="Aptos Narrow" panose="020B0004020202020204" pitchFamily="34" charset="0"/>
                        </a:rPr>
                        <a:t>37,1</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AE182"/>
                    </a:solidFill>
                  </a:tcPr>
                </a:tc>
                <a:tc>
                  <a:txBody>
                    <a:bodyPr/>
                    <a:lstStyle/>
                    <a:p>
                      <a:pPr algn="r" fontAlgn="b">
                        <a:buNone/>
                      </a:pPr>
                      <a:r>
                        <a:rPr lang="fr-FR" sz="900" b="0" i="0" u="none" strike="noStrike">
                          <a:solidFill>
                            <a:srgbClr val="00B050"/>
                          </a:solidFill>
                          <a:effectLst/>
                          <a:latin typeface="Aptos Narrow" panose="020B0004020202020204" pitchFamily="34" charset="0"/>
                        </a:rPr>
                        <a:t>0,2</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71989337"/>
                  </a:ext>
                </a:extLst>
              </a:tr>
              <a:tr h="117856">
                <a:tc>
                  <a:txBody>
                    <a:bodyPr/>
                    <a:lstStyle/>
                    <a:p>
                      <a:pPr algn="l" fontAlgn="b">
                        <a:buNone/>
                      </a:pPr>
                      <a:r>
                        <a:rPr lang="fr-FR" sz="900" b="0" i="0" u="none" strike="noStrike">
                          <a:solidFill>
                            <a:srgbClr val="000000"/>
                          </a:solidFill>
                          <a:effectLst/>
                          <a:latin typeface="Aptos Narrow" panose="020B0004020202020204" pitchFamily="34" charset="0"/>
                        </a:rPr>
                        <a:t> IL</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44,0</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BDC81"/>
                    </a:solidFill>
                  </a:tcPr>
                </a:tc>
                <a:tc>
                  <a:txBody>
                    <a:bodyPr/>
                    <a:lstStyle/>
                    <a:p>
                      <a:pPr algn="r" fontAlgn="b">
                        <a:buNone/>
                      </a:pPr>
                      <a:r>
                        <a:rPr lang="fr-FR" sz="900" b="0" i="0" u="none" strike="noStrike">
                          <a:solidFill>
                            <a:srgbClr val="000000"/>
                          </a:solidFill>
                          <a:effectLst/>
                          <a:latin typeface="Aptos Narrow" panose="020B0004020202020204" pitchFamily="34" charset="0"/>
                        </a:rPr>
                        <a:t>46,0</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6DB81"/>
                    </a:solidFill>
                  </a:tcPr>
                </a:tc>
                <a:tc>
                  <a:txBody>
                    <a:bodyPr/>
                    <a:lstStyle/>
                    <a:p>
                      <a:pPr algn="r" fontAlgn="b">
                        <a:buNone/>
                      </a:pPr>
                      <a:r>
                        <a:rPr lang="fr-FR" sz="900" b="0" i="0" u="none" strike="noStrike">
                          <a:solidFill>
                            <a:srgbClr val="FF0000"/>
                          </a:solidFill>
                          <a:effectLst/>
                          <a:latin typeface="Aptos Narrow" panose="020B0004020202020204" pitchFamily="34" charset="0"/>
                        </a:rPr>
                        <a:t>-1,9</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5353615"/>
                  </a:ext>
                </a:extLst>
              </a:tr>
              <a:tr h="117856">
                <a:tc>
                  <a:txBody>
                    <a:bodyPr/>
                    <a:lstStyle/>
                    <a:p>
                      <a:pPr algn="l" fontAlgn="b">
                        <a:buNone/>
                      </a:pPr>
                      <a:r>
                        <a:rPr lang="fr-FR" sz="900" b="0" i="0" u="none" strike="noStrike">
                          <a:solidFill>
                            <a:srgbClr val="000000"/>
                          </a:solidFill>
                          <a:effectLst/>
                          <a:latin typeface="Aptos Narrow" panose="020B0004020202020204" pitchFamily="34" charset="0"/>
                        </a:rPr>
                        <a:t> LU</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24,3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7E984"/>
                    </a:solidFill>
                  </a:tcPr>
                </a:tc>
                <a:tc>
                  <a:txBody>
                    <a:bodyPr/>
                    <a:lstStyle/>
                    <a:p>
                      <a:pPr algn="r" fontAlgn="b">
                        <a:buNone/>
                      </a:pPr>
                      <a:r>
                        <a:rPr lang="fr-FR" sz="900" b="0" i="0" u="none" strike="noStrike">
                          <a:solidFill>
                            <a:srgbClr val="000000"/>
                          </a:solidFill>
                          <a:effectLst/>
                          <a:latin typeface="Aptos Narrow" panose="020B0004020202020204" pitchFamily="34" charset="0"/>
                        </a:rPr>
                        <a:t>3,1</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476"/>
                    </a:solidFill>
                  </a:tcPr>
                </a:tc>
                <a:tc>
                  <a:txBody>
                    <a:bodyPr/>
                    <a:lstStyle/>
                    <a:p>
                      <a:pPr algn="r" fontAlgn="b">
                        <a:buNone/>
                      </a:pPr>
                      <a:r>
                        <a:rPr lang="fr-FR" sz="900" b="0" i="0" u="none" strike="noStrike">
                          <a:solidFill>
                            <a:srgbClr val="00B050"/>
                          </a:solidFill>
                          <a:effectLst/>
                          <a:latin typeface="Aptos Narrow" panose="020B0004020202020204" pitchFamily="34" charset="0"/>
                        </a:rPr>
                        <a:t>21,2</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80772069"/>
                  </a:ext>
                </a:extLst>
              </a:tr>
              <a:tr h="117856">
                <a:tc>
                  <a:txBody>
                    <a:bodyPr/>
                    <a:lstStyle/>
                    <a:p>
                      <a:pPr algn="l" fontAlgn="b">
                        <a:buNone/>
                      </a:pPr>
                      <a:r>
                        <a:rPr lang="fr-FR" sz="900" b="0" i="0" u="none" strike="noStrike">
                          <a:solidFill>
                            <a:srgbClr val="000000"/>
                          </a:solidFill>
                          <a:effectLst/>
                          <a:latin typeface="Aptos Narrow" panose="020B0004020202020204" pitchFamily="34" charset="0"/>
                        </a:rPr>
                        <a:t> NL</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7,1</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479"/>
                    </a:solidFill>
                  </a:tcPr>
                </a:tc>
                <a:tc>
                  <a:txBody>
                    <a:bodyPr/>
                    <a:lstStyle/>
                    <a:p>
                      <a:pPr algn="r" fontAlgn="b">
                        <a:buNone/>
                      </a:pPr>
                      <a:r>
                        <a:rPr lang="fr-FR" sz="900" b="0" i="0" u="none" strike="noStrike">
                          <a:solidFill>
                            <a:srgbClr val="000000"/>
                          </a:solidFill>
                          <a:effectLst/>
                          <a:latin typeface="Aptos Narrow" panose="020B0004020202020204" pitchFamily="34" charset="0"/>
                        </a:rPr>
                        <a:t>-0,3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573"/>
                    </a:solidFill>
                  </a:tcPr>
                </a:tc>
                <a:tc>
                  <a:txBody>
                    <a:bodyPr/>
                    <a:lstStyle/>
                    <a:p>
                      <a:pPr algn="r" fontAlgn="b">
                        <a:buNone/>
                      </a:pPr>
                      <a:r>
                        <a:rPr lang="fr-FR" sz="900" b="0" i="0" u="none" strike="noStrike">
                          <a:solidFill>
                            <a:srgbClr val="00B050"/>
                          </a:solidFill>
                          <a:effectLst/>
                          <a:latin typeface="Aptos Narrow" panose="020B0004020202020204" pitchFamily="34" charset="0"/>
                        </a:rPr>
                        <a:t>7,5</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47110049"/>
                  </a:ext>
                </a:extLst>
              </a:tr>
              <a:tr h="117856">
                <a:tc>
                  <a:txBody>
                    <a:bodyPr/>
                    <a:lstStyle/>
                    <a:p>
                      <a:pPr algn="l" fontAlgn="b">
                        <a:buNone/>
                      </a:pPr>
                      <a:r>
                        <a:rPr lang="fr-FR" sz="900" b="1" i="0" u="none" strike="noStrike">
                          <a:solidFill>
                            <a:srgbClr val="000000"/>
                          </a:solidFill>
                          <a:effectLst/>
                          <a:latin typeface="Aptos Narrow" panose="020B0004020202020204" pitchFamily="34" charset="0"/>
                        </a:rPr>
                        <a:t>De Huttenheugte</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19,6</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783"/>
                    </a:solidFill>
                  </a:tcPr>
                </a:tc>
                <a:tc>
                  <a:txBody>
                    <a:bodyPr/>
                    <a:lstStyle/>
                    <a:p>
                      <a:pPr algn="r" fontAlgn="b">
                        <a:buNone/>
                      </a:pPr>
                      <a:r>
                        <a:rPr lang="fr-FR" sz="900" b="1" i="0" u="none" strike="noStrike">
                          <a:solidFill>
                            <a:srgbClr val="000000"/>
                          </a:solidFill>
                          <a:effectLst/>
                          <a:latin typeface="Aptos Narrow" panose="020B0004020202020204" pitchFamily="34" charset="0"/>
                        </a:rPr>
                        <a:t>14,8</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37F"/>
                    </a:solidFill>
                  </a:tcPr>
                </a:tc>
                <a:tc>
                  <a:txBody>
                    <a:bodyPr/>
                    <a:lstStyle/>
                    <a:p>
                      <a:pPr algn="r" fontAlgn="b">
                        <a:buNone/>
                      </a:pPr>
                      <a:r>
                        <a:rPr lang="fr-FR" sz="900" b="1" i="0" u="none" strike="noStrike">
                          <a:solidFill>
                            <a:srgbClr val="00B050"/>
                          </a:solidFill>
                          <a:effectLst/>
                          <a:latin typeface="Aptos Narrow" panose="020B0004020202020204" pitchFamily="34" charset="0"/>
                        </a:rPr>
                        <a:t>4,8</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92699761"/>
                  </a:ext>
                </a:extLst>
              </a:tr>
              <a:tr h="117856">
                <a:tc>
                  <a:txBody>
                    <a:bodyPr/>
                    <a:lstStyle/>
                    <a:p>
                      <a:pPr algn="l" fontAlgn="b">
                        <a:buNone/>
                      </a:pPr>
                      <a:r>
                        <a:rPr lang="fr-FR" sz="900" b="0" i="0" u="none" strike="noStrike">
                          <a:solidFill>
                            <a:srgbClr val="000000"/>
                          </a:solidFill>
                          <a:effectLst/>
                          <a:latin typeface="Aptos Narrow" panose="020B0004020202020204" pitchFamily="34" charset="0"/>
                        </a:rPr>
                        <a:t> BE</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33,0</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3E383"/>
                    </a:solidFill>
                  </a:tcPr>
                </a:tc>
                <a:tc>
                  <a:txBody>
                    <a:bodyPr/>
                    <a:lstStyle/>
                    <a:p>
                      <a:pPr algn="r" fontAlgn="b">
                        <a:buNone/>
                      </a:pPr>
                      <a:r>
                        <a:rPr lang="fr-FR" sz="900" b="0" i="0" u="none" strike="noStrike">
                          <a:solidFill>
                            <a:srgbClr val="000000"/>
                          </a:solidFill>
                          <a:effectLst/>
                          <a:latin typeface="Aptos Narrow" panose="020B0004020202020204" pitchFamily="34" charset="0"/>
                        </a:rPr>
                        <a:t>28,4</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EE683"/>
                    </a:solidFill>
                  </a:tcPr>
                </a:tc>
                <a:tc>
                  <a:txBody>
                    <a:bodyPr/>
                    <a:lstStyle/>
                    <a:p>
                      <a:pPr algn="r" fontAlgn="b">
                        <a:buNone/>
                      </a:pPr>
                      <a:r>
                        <a:rPr lang="fr-FR" sz="900" b="0" i="0" u="none" strike="noStrike">
                          <a:solidFill>
                            <a:srgbClr val="00B050"/>
                          </a:solidFill>
                          <a:effectLst/>
                          <a:latin typeface="Aptos Narrow" panose="020B0004020202020204" pitchFamily="34" charset="0"/>
                        </a:rPr>
                        <a:t>4,6</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30142067"/>
                  </a:ext>
                </a:extLst>
              </a:tr>
              <a:tr h="117856">
                <a:tc>
                  <a:txBody>
                    <a:bodyPr/>
                    <a:lstStyle/>
                    <a:p>
                      <a:pPr algn="l" fontAlgn="b">
                        <a:buNone/>
                      </a:pPr>
                      <a:r>
                        <a:rPr lang="fr-FR" sz="900" b="0" i="0" u="none" strike="noStrike">
                          <a:solidFill>
                            <a:srgbClr val="000000"/>
                          </a:solidFill>
                          <a:effectLst/>
                          <a:latin typeface="Aptos Narrow" panose="020B0004020202020204" pitchFamily="34" charset="0"/>
                        </a:rPr>
                        <a:t> DE</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28,6</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DE683"/>
                    </a:solidFill>
                  </a:tcPr>
                </a:tc>
                <a:tc>
                  <a:txBody>
                    <a:bodyPr/>
                    <a:lstStyle/>
                    <a:p>
                      <a:pPr algn="r" fontAlgn="b">
                        <a:buNone/>
                      </a:pPr>
                      <a:r>
                        <a:rPr lang="fr-FR" sz="900" b="0" i="0" u="none" strike="noStrike">
                          <a:solidFill>
                            <a:srgbClr val="000000"/>
                          </a:solidFill>
                          <a:effectLst/>
                          <a:latin typeface="Aptos Narrow" panose="020B0004020202020204" pitchFamily="34" charset="0"/>
                        </a:rPr>
                        <a:t>20,9</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B84"/>
                    </a:solidFill>
                  </a:tcPr>
                </a:tc>
                <a:tc>
                  <a:txBody>
                    <a:bodyPr/>
                    <a:lstStyle/>
                    <a:p>
                      <a:pPr algn="r" fontAlgn="b">
                        <a:buNone/>
                      </a:pPr>
                      <a:r>
                        <a:rPr lang="fr-FR" sz="900" b="0" i="0" u="none" strike="noStrike">
                          <a:solidFill>
                            <a:srgbClr val="00B050"/>
                          </a:solidFill>
                          <a:effectLst/>
                          <a:latin typeface="Aptos Narrow" panose="020B0004020202020204" pitchFamily="34" charset="0"/>
                        </a:rPr>
                        <a:t>7,7</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58443714"/>
                  </a:ext>
                </a:extLst>
              </a:tr>
              <a:tr h="117856">
                <a:tc>
                  <a:txBody>
                    <a:bodyPr/>
                    <a:lstStyle/>
                    <a:p>
                      <a:pPr algn="l" fontAlgn="b">
                        <a:buNone/>
                      </a:pPr>
                      <a:r>
                        <a:rPr lang="fr-FR" sz="900" b="0" i="0" u="none" strike="noStrike">
                          <a:solidFill>
                            <a:srgbClr val="000000"/>
                          </a:solidFill>
                          <a:effectLst/>
                          <a:latin typeface="Aptos Narrow" panose="020B0004020202020204" pitchFamily="34" charset="0"/>
                        </a:rPr>
                        <a:t> DK</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17,1</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D81"/>
                    </a:solidFill>
                  </a:tcPr>
                </a:tc>
                <a:tc>
                  <a:txBody>
                    <a:bodyPr/>
                    <a:lstStyle/>
                    <a:p>
                      <a:pPr algn="r" fontAlgn="b">
                        <a:buNone/>
                      </a:pPr>
                      <a:r>
                        <a:rPr lang="fr-FR" sz="900" b="0" i="0" u="none" strike="noStrike">
                          <a:solidFill>
                            <a:srgbClr val="000000"/>
                          </a:solidFill>
                          <a:effectLst/>
                          <a:latin typeface="Aptos Narrow" panose="020B0004020202020204" pitchFamily="34" charset="0"/>
                        </a:rPr>
                        <a:t>25,0</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5E984"/>
                    </a:solidFill>
                  </a:tcPr>
                </a:tc>
                <a:tc>
                  <a:txBody>
                    <a:bodyPr/>
                    <a:lstStyle/>
                    <a:p>
                      <a:pPr algn="r" fontAlgn="b">
                        <a:buNone/>
                      </a:pPr>
                      <a:r>
                        <a:rPr lang="fr-FR" sz="900" b="0" i="0" u="none" strike="noStrike">
                          <a:solidFill>
                            <a:srgbClr val="FF0000"/>
                          </a:solidFill>
                          <a:effectLst/>
                          <a:latin typeface="Aptos Narrow" panose="020B0004020202020204" pitchFamily="34" charset="0"/>
                        </a:rPr>
                        <a:t>-7,9</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97711665"/>
                  </a:ext>
                </a:extLst>
              </a:tr>
              <a:tr h="117856">
                <a:tc>
                  <a:txBody>
                    <a:bodyPr/>
                    <a:lstStyle/>
                    <a:p>
                      <a:pPr algn="l" fontAlgn="b">
                        <a:buNone/>
                      </a:pPr>
                      <a:r>
                        <a:rPr lang="fr-FR" sz="900" b="0" i="0" u="none" strike="noStrike">
                          <a:solidFill>
                            <a:srgbClr val="000000"/>
                          </a:solidFill>
                          <a:effectLst/>
                          <a:latin typeface="Aptos Narrow" panose="020B0004020202020204" pitchFamily="34" charset="0"/>
                        </a:rPr>
                        <a:t> FR</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25,0</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5E984"/>
                    </a:solidFill>
                  </a:tcPr>
                </a:tc>
                <a:tc>
                  <a:txBody>
                    <a:bodyPr/>
                    <a:lstStyle/>
                    <a:p>
                      <a:pPr algn="r" fontAlgn="b">
                        <a:buNone/>
                      </a:pPr>
                      <a:r>
                        <a:rPr lang="fr-FR" sz="900" b="0" i="0" u="none" strike="noStrike">
                          <a:solidFill>
                            <a:srgbClr val="000000"/>
                          </a:solidFill>
                          <a:effectLst/>
                          <a:latin typeface="Aptos Narrow" panose="020B0004020202020204" pitchFamily="34" charset="0"/>
                        </a:rPr>
                        <a:t>30,8</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8E583"/>
                    </a:solidFill>
                  </a:tcPr>
                </a:tc>
                <a:tc>
                  <a:txBody>
                    <a:bodyPr/>
                    <a:lstStyle/>
                    <a:p>
                      <a:pPr algn="r" fontAlgn="b">
                        <a:buNone/>
                      </a:pPr>
                      <a:r>
                        <a:rPr lang="fr-FR" sz="900" b="0" i="0" u="none" strike="noStrike">
                          <a:solidFill>
                            <a:srgbClr val="FF0000"/>
                          </a:solidFill>
                          <a:effectLst/>
                          <a:latin typeface="Aptos Narrow" panose="020B0004020202020204" pitchFamily="34" charset="0"/>
                        </a:rPr>
                        <a:t>-5,8</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58699840"/>
                  </a:ext>
                </a:extLst>
              </a:tr>
              <a:tr h="117856">
                <a:tc>
                  <a:txBody>
                    <a:bodyPr/>
                    <a:lstStyle/>
                    <a:p>
                      <a:pPr algn="l" fontAlgn="b">
                        <a:buNone/>
                      </a:pPr>
                      <a:r>
                        <a:rPr lang="fr-FR" sz="900" b="0" i="0" u="none" strike="noStrike">
                          <a:solidFill>
                            <a:srgbClr val="000000"/>
                          </a:solidFill>
                          <a:effectLst/>
                          <a:latin typeface="Aptos Narrow" panose="020B0004020202020204" pitchFamily="34" charset="0"/>
                        </a:rPr>
                        <a:t> GB</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42,4</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EDD82"/>
                    </a:solidFill>
                  </a:tcPr>
                </a:tc>
                <a:tc>
                  <a:txBody>
                    <a:bodyPr/>
                    <a:lstStyle/>
                    <a:p>
                      <a:pPr algn="r" fontAlgn="b">
                        <a:buNone/>
                      </a:pPr>
                      <a:r>
                        <a:rPr lang="fr-FR" sz="900" b="0" i="0" u="none" strike="noStrike">
                          <a:solidFill>
                            <a:srgbClr val="000000"/>
                          </a:solidFill>
                          <a:effectLst/>
                          <a:latin typeface="Aptos Narrow" panose="020B0004020202020204" pitchFamily="34" charset="0"/>
                        </a:rPr>
                        <a:t>61,3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4D17F"/>
                    </a:solidFill>
                  </a:tcPr>
                </a:tc>
                <a:tc>
                  <a:txBody>
                    <a:bodyPr/>
                    <a:lstStyle/>
                    <a:p>
                      <a:pPr algn="r" fontAlgn="b">
                        <a:buNone/>
                      </a:pPr>
                      <a:r>
                        <a:rPr lang="fr-FR" sz="900" b="0" i="0" u="none" strike="noStrike">
                          <a:solidFill>
                            <a:srgbClr val="FF0000"/>
                          </a:solidFill>
                          <a:effectLst/>
                          <a:latin typeface="Aptos Narrow" panose="020B0004020202020204" pitchFamily="34" charset="0"/>
                        </a:rPr>
                        <a:t>-18,9</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86294071"/>
                  </a:ext>
                </a:extLst>
              </a:tr>
              <a:tr h="117856">
                <a:tc>
                  <a:txBody>
                    <a:bodyPr/>
                    <a:lstStyle/>
                    <a:p>
                      <a:pPr algn="l" fontAlgn="b">
                        <a:buNone/>
                      </a:pPr>
                      <a:r>
                        <a:rPr lang="fr-FR" sz="900" b="0" i="0" u="none" strike="noStrike">
                          <a:solidFill>
                            <a:srgbClr val="000000"/>
                          </a:solidFill>
                          <a:effectLst/>
                          <a:latin typeface="Aptos Narrow" panose="020B0004020202020204" pitchFamily="34" charset="0"/>
                        </a:rPr>
                        <a:t> NL</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13,5</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E7E"/>
                    </a:solidFill>
                  </a:tcPr>
                </a:tc>
                <a:tc>
                  <a:txBody>
                    <a:bodyPr/>
                    <a:lstStyle/>
                    <a:p>
                      <a:pPr algn="r" fontAlgn="b">
                        <a:buNone/>
                      </a:pPr>
                      <a:r>
                        <a:rPr lang="fr-FR" sz="900" b="0" i="0" u="none" strike="noStrike">
                          <a:solidFill>
                            <a:srgbClr val="000000"/>
                          </a:solidFill>
                          <a:effectLst/>
                          <a:latin typeface="Aptos Narrow" panose="020B0004020202020204" pitchFamily="34" charset="0"/>
                        </a:rPr>
                        <a:t>9,3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D7B"/>
                    </a:solidFill>
                  </a:tcPr>
                </a:tc>
                <a:tc>
                  <a:txBody>
                    <a:bodyPr/>
                    <a:lstStyle/>
                    <a:p>
                      <a:pPr algn="r" fontAlgn="b">
                        <a:buNone/>
                      </a:pPr>
                      <a:r>
                        <a:rPr lang="fr-FR" sz="900" b="0" i="0" u="none" strike="noStrike">
                          <a:solidFill>
                            <a:srgbClr val="00B050"/>
                          </a:solidFill>
                          <a:effectLst/>
                          <a:latin typeface="Aptos Narrow" panose="020B0004020202020204" pitchFamily="34" charset="0"/>
                        </a:rPr>
                        <a:t>4,2</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11261857"/>
                  </a:ext>
                </a:extLst>
              </a:tr>
              <a:tr h="117856">
                <a:tc>
                  <a:txBody>
                    <a:bodyPr/>
                    <a:lstStyle/>
                    <a:p>
                      <a:pPr algn="l" fontAlgn="b">
                        <a:buNone/>
                      </a:pPr>
                      <a:r>
                        <a:rPr lang="fr-FR" sz="900" b="1" i="0" u="none" strike="noStrike">
                          <a:solidFill>
                            <a:srgbClr val="000000"/>
                          </a:solidFill>
                          <a:effectLst/>
                          <a:latin typeface="Aptos Narrow" panose="020B0004020202020204" pitchFamily="34" charset="0"/>
                        </a:rPr>
                        <a:t>De Kempervennen</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22,7</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EA84"/>
                    </a:solidFill>
                  </a:tcPr>
                </a:tc>
                <a:tc>
                  <a:txBody>
                    <a:bodyPr/>
                    <a:lstStyle/>
                    <a:p>
                      <a:pPr algn="r" fontAlgn="b">
                        <a:buNone/>
                      </a:pPr>
                      <a:r>
                        <a:rPr lang="fr-FR" sz="900" b="1" i="0" u="none" strike="noStrike">
                          <a:solidFill>
                            <a:srgbClr val="000000"/>
                          </a:solidFill>
                          <a:effectLst/>
                          <a:latin typeface="Aptos Narrow" panose="020B0004020202020204" pitchFamily="34" charset="0"/>
                        </a:rPr>
                        <a:t>16,3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A80"/>
                    </a:solidFill>
                  </a:tcPr>
                </a:tc>
                <a:tc>
                  <a:txBody>
                    <a:bodyPr/>
                    <a:lstStyle/>
                    <a:p>
                      <a:pPr algn="r" fontAlgn="b">
                        <a:buNone/>
                      </a:pPr>
                      <a:r>
                        <a:rPr lang="fr-FR" sz="900" b="1" i="0" u="none" strike="noStrike">
                          <a:solidFill>
                            <a:srgbClr val="00B050"/>
                          </a:solidFill>
                          <a:effectLst/>
                          <a:latin typeface="Aptos Narrow" panose="020B0004020202020204" pitchFamily="34" charset="0"/>
                        </a:rPr>
                        <a:t>6,3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91102694"/>
                  </a:ext>
                </a:extLst>
              </a:tr>
              <a:tr h="117856">
                <a:tc>
                  <a:txBody>
                    <a:bodyPr/>
                    <a:lstStyle/>
                    <a:p>
                      <a:pPr algn="l" fontAlgn="b">
                        <a:buNone/>
                      </a:pPr>
                      <a:r>
                        <a:rPr lang="fr-FR" sz="900" b="0" i="0" u="none" strike="noStrike">
                          <a:solidFill>
                            <a:srgbClr val="000000"/>
                          </a:solidFill>
                          <a:effectLst/>
                          <a:latin typeface="Aptos Narrow" panose="020B0004020202020204" pitchFamily="34" charset="0"/>
                        </a:rPr>
                        <a:t> BE</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33,5</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2E383"/>
                    </a:solidFill>
                  </a:tcPr>
                </a:tc>
                <a:tc>
                  <a:txBody>
                    <a:bodyPr/>
                    <a:lstStyle/>
                    <a:p>
                      <a:pPr algn="r" fontAlgn="b">
                        <a:buNone/>
                      </a:pPr>
                      <a:r>
                        <a:rPr lang="fr-FR" sz="900" b="0" i="0" u="none" strike="noStrike">
                          <a:solidFill>
                            <a:srgbClr val="000000"/>
                          </a:solidFill>
                          <a:effectLst/>
                          <a:latin typeface="Aptos Narrow" panose="020B0004020202020204" pitchFamily="34" charset="0"/>
                        </a:rPr>
                        <a:t>27,6</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0E784"/>
                    </a:solidFill>
                  </a:tcPr>
                </a:tc>
                <a:tc>
                  <a:txBody>
                    <a:bodyPr/>
                    <a:lstStyle/>
                    <a:p>
                      <a:pPr algn="r" fontAlgn="b">
                        <a:buNone/>
                      </a:pPr>
                      <a:r>
                        <a:rPr lang="fr-FR" sz="900" b="0" i="0" u="none" strike="noStrike">
                          <a:solidFill>
                            <a:srgbClr val="00B050"/>
                          </a:solidFill>
                          <a:effectLst/>
                          <a:latin typeface="Aptos Narrow" panose="020B0004020202020204" pitchFamily="34" charset="0"/>
                        </a:rPr>
                        <a:t>6,0</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20703293"/>
                  </a:ext>
                </a:extLst>
              </a:tr>
              <a:tr h="117856">
                <a:tc>
                  <a:txBody>
                    <a:bodyPr/>
                    <a:lstStyle/>
                    <a:p>
                      <a:pPr algn="l" fontAlgn="b">
                        <a:buNone/>
                      </a:pPr>
                      <a:r>
                        <a:rPr lang="fr-FR" sz="900" b="0" i="0" u="none" strike="noStrike">
                          <a:solidFill>
                            <a:srgbClr val="000000"/>
                          </a:solidFill>
                          <a:effectLst/>
                          <a:latin typeface="Aptos Narrow" panose="020B0004020202020204" pitchFamily="34" charset="0"/>
                        </a:rPr>
                        <a:t> DE</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30,6</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9E583"/>
                    </a:solidFill>
                  </a:tcPr>
                </a:tc>
                <a:tc>
                  <a:txBody>
                    <a:bodyPr/>
                    <a:lstStyle/>
                    <a:p>
                      <a:pPr algn="r" fontAlgn="b">
                        <a:buNone/>
                      </a:pPr>
                      <a:r>
                        <a:rPr lang="fr-FR" sz="900" b="0" i="0" u="none" strike="noStrike">
                          <a:solidFill>
                            <a:srgbClr val="000000"/>
                          </a:solidFill>
                          <a:effectLst/>
                          <a:latin typeface="Aptos Narrow" panose="020B0004020202020204" pitchFamily="34" charset="0"/>
                        </a:rPr>
                        <a:t>20,7</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B84"/>
                    </a:solidFill>
                  </a:tcPr>
                </a:tc>
                <a:tc>
                  <a:txBody>
                    <a:bodyPr/>
                    <a:lstStyle/>
                    <a:p>
                      <a:pPr algn="r" fontAlgn="b">
                        <a:buNone/>
                      </a:pPr>
                      <a:r>
                        <a:rPr lang="fr-FR" sz="900" b="0" i="0" u="none" strike="noStrike">
                          <a:solidFill>
                            <a:srgbClr val="00B050"/>
                          </a:solidFill>
                          <a:effectLst/>
                          <a:latin typeface="Aptos Narrow" panose="020B0004020202020204" pitchFamily="34" charset="0"/>
                        </a:rPr>
                        <a:t>9,9</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66132032"/>
                  </a:ext>
                </a:extLst>
              </a:tr>
              <a:tr h="117856">
                <a:tc>
                  <a:txBody>
                    <a:bodyPr/>
                    <a:lstStyle/>
                    <a:p>
                      <a:pPr algn="l" fontAlgn="b">
                        <a:buNone/>
                      </a:pPr>
                      <a:r>
                        <a:rPr lang="fr-FR" sz="900" b="0" i="0" u="none" strike="noStrike">
                          <a:solidFill>
                            <a:srgbClr val="000000"/>
                          </a:solidFill>
                          <a:effectLst/>
                          <a:latin typeface="Aptos Narrow" panose="020B0004020202020204" pitchFamily="34" charset="0"/>
                        </a:rPr>
                        <a:t> FR</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42,0</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FDE82"/>
                    </a:solidFill>
                  </a:tcPr>
                </a:tc>
                <a:tc>
                  <a:txBody>
                    <a:bodyPr/>
                    <a:lstStyle/>
                    <a:p>
                      <a:pPr algn="r" fontAlgn="b">
                        <a:buNone/>
                      </a:pPr>
                      <a:r>
                        <a:rPr lang="fr-FR" sz="900" b="0" i="0" u="none" strike="noStrike">
                          <a:solidFill>
                            <a:srgbClr val="000000"/>
                          </a:solidFill>
                          <a:effectLst/>
                          <a:latin typeface="Aptos Narrow" panose="020B0004020202020204" pitchFamily="34" charset="0"/>
                        </a:rPr>
                        <a:t>38,5</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7E082"/>
                    </a:solidFill>
                  </a:tcPr>
                </a:tc>
                <a:tc>
                  <a:txBody>
                    <a:bodyPr/>
                    <a:lstStyle/>
                    <a:p>
                      <a:pPr algn="r" fontAlgn="b">
                        <a:buNone/>
                      </a:pPr>
                      <a:r>
                        <a:rPr lang="fr-FR" sz="900" b="0" i="0" u="none" strike="noStrike">
                          <a:solidFill>
                            <a:srgbClr val="00B050"/>
                          </a:solidFill>
                          <a:effectLst/>
                          <a:latin typeface="Aptos Narrow" panose="020B0004020202020204" pitchFamily="34" charset="0"/>
                        </a:rPr>
                        <a:t>3,5</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8295885"/>
                  </a:ext>
                </a:extLst>
              </a:tr>
              <a:tr h="117856">
                <a:tc>
                  <a:txBody>
                    <a:bodyPr/>
                    <a:lstStyle/>
                    <a:p>
                      <a:pPr algn="l" fontAlgn="b">
                        <a:buNone/>
                      </a:pPr>
                      <a:r>
                        <a:rPr lang="fr-FR" sz="900" b="0" i="0" u="none" strike="noStrike">
                          <a:solidFill>
                            <a:srgbClr val="000000"/>
                          </a:solidFill>
                          <a:effectLst/>
                          <a:latin typeface="Aptos Narrow" panose="020B0004020202020204" pitchFamily="34" charset="0"/>
                        </a:rPr>
                        <a:t> GB</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56,3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FD480"/>
                    </a:solidFill>
                  </a:tcPr>
                </a:tc>
                <a:tc>
                  <a:txBody>
                    <a:bodyPr/>
                    <a:lstStyle/>
                    <a:p>
                      <a:pPr algn="r" fontAlgn="b">
                        <a:buNone/>
                      </a:pPr>
                      <a:r>
                        <a:rPr lang="fr-FR" sz="900" b="0" i="0" u="none" strike="noStrike">
                          <a:solidFill>
                            <a:srgbClr val="000000"/>
                          </a:solidFill>
                          <a:effectLst/>
                          <a:latin typeface="Aptos Narrow" panose="020B0004020202020204" pitchFamily="34" charset="0"/>
                        </a:rPr>
                        <a:t>48,1</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2DA81"/>
                    </a:solidFill>
                  </a:tcPr>
                </a:tc>
                <a:tc>
                  <a:txBody>
                    <a:bodyPr/>
                    <a:lstStyle/>
                    <a:p>
                      <a:pPr algn="r" fontAlgn="b">
                        <a:buNone/>
                      </a:pPr>
                      <a:r>
                        <a:rPr lang="fr-FR" sz="900" b="0" i="0" u="none" strike="noStrike">
                          <a:solidFill>
                            <a:srgbClr val="00B050"/>
                          </a:solidFill>
                          <a:effectLst/>
                          <a:latin typeface="Aptos Narrow" panose="020B0004020202020204" pitchFamily="34" charset="0"/>
                        </a:rPr>
                        <a:t>8,2</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75202113"/>
                  </a:ext>
                </a:extLst>
              </a:tr>
              <a:tr h="117856">
                <a:tc>
                  <a:txBody>
                    <a:bodyPr/>
                    <a:lstStyle/>
                    <a:p>
                      <a:pPr algn="l" fontAlgn="b">
                        <a:buNone/>
                      </a:pPr>
                      <a:r>
                        <a:rPr lang="fr-FR" sz="900" b="0" i="0" u="none" strike="noStrike">
                          <a:solidFill>
                            <a:srgbClr val="000000"/>
                          </a:solidFill>
                          <a:effectLst/>
                          <a:latin typeface="Aptos Narrow" panose="020B0004020202020204" pitchFamily="34" charset="0"/>
                        </a:rPr>
                        <a:t> IE</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44,1</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ADC81"/>
                    </a:solidFill>
                  </a:tcPr>
                </a:tc>
                <a:tc>
                  <a:txBody>
                    <a:bodyPr/>
                    <a:lstStyle/>
                    <a:p>
                      <a:pPr algn="r" fontAlgn="b">
                        <a:buNone/>
                      </a:pPr>
                      <a:r>
                        <a:rPr lang="fr-FR" sz="900" b="0" i="0" u="none" strike="noStrike">
                          <a:solidFill>
                            <a:srgbClr val="000000"/>
                          </a:solidFill>
                          <a:effectLst/>
                          <a:latin typeface="Aptos Narrow" panose="020B0004020202020204" pitchFamily="34" charset="0"/>
                        </a:rPr>
                        <a:t>19,4</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683"/>
                    </a:solidFill>
                  </a:tcPr>
                </a:tc>
                <a:tc>
                  <a:txBody>
                    <a:bodyPr/>
                    <a:lstStyle/>
                    <a:p>
                      <a:pPr algn="r" fontAlgn="b">
                        <a:buNone/>
                      </a:pPr>
                      <a:r>
                        <a:rPr lang="fr-FR" sz="900" b="0" i="0" u="none" strike="noStrike">
                          <a:solidFill>
                            <a:srgbClr val="00B050"/>
                          </a:solidFill>
                          <a:effectLst/>
                          <a:latin typeface="Aptos Narrow" panose="020B0004020202020204" pitchFamily="34" charset="0"/>
                        </a:rPr>
                        <a:t>24,8</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02788975"/>
                  </a:ext>
                </a:extLst>
              </a:tr>
              <a:tr h="117856">
                <a:tc>
                  <a:txBody>
                    <a:bodyPr/>
                    <a:lstStyle/>
                    <a:p>
                      <a:pPr algn="l" fontAlgn="b">
                        <a:buNone/>
                      </a:pPr>
                      <a:r>
                        <a:rPr lang="fr-FR" sz="900" b="0" i="0" u="none" strike="noStrike">
                          <a:solidFill>
                            <a:srgbClr val="000000"/>
                          </a:solidFill>
                          <a:effectLst/>
                          <a:latin typeface="Aptos Narrow" panose="020B0004020202020204" pitchFamily="34" charset="0"/>
                        </a:rPr>
                        <a:t> LU</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37,3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AE182"/>
                    </a:solidFill>
                  </a:tcPr>
                </a:tc>
                <a:tc>
                  <a:txBody>
                    <a:bodyPr/>
                    <a:lstStyle/>
                    <a:p>
                      <a:pPr algn="r" fontAlgn="b">
                        <a:buNone/>
                      </a:pPr>
                      <a:r>
                        <a:rPr lang="fr-FR" sz="900" b="0" i="0" u="none" strike="noStrike">
                          <a:solidFill>
                            <a:srgbClr val="000000"/>
                          </a:solidFill>
                          <a:effectLst/>
                          <a:latin typeface="Aptos Narrow" panose="020B0004020202020204" pitchFamily="34" charset="0"/>
                        </a:rPr>
                        <a:t>5,3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C78"/>
                    </a:solidFill>
                  </a:tcPr>
                </a:tc>
                <a:tc>
                  <a:txBody>
                    <a:bodyPr/>
                    <a:lstStyle/>
                    <a:p>
                      <a:pPr algn="r" fontAlgn="b">
                        <a:buNone/>
                      </a:pPr>
                      <a:r>
                        <a:rPr lang="fr-FR" sz="900" b="0" i="0" u="none" strike="noStrike">
                          <a:solidFill>
                            <a:srgbClr val="00B050"/>
                          </a:solidFill>
                          <a:effectLst/>
                          <a:latin typeface="Aptos Narrow" panose="020B0004020202020204" pitchFamily="34" charset="0"/>
                        </a:rPr>
                        <a:t>32,0</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6549564"/>
                  </a:ext>
                </a:extLst>
              </a:tr>
              <a:tr h="117856">
                <a:tc>
                  <a:txBody>
                    <a:bodyPr/>
                    <a:lstStyle/>
                    <a:p>
                      <a:pPr algn="l" fontAlgn="b">
                        <a:buNone/>
                      </a:pPr>
                      <a:r>
                        <a:rPr lang="fr-FR" sz="900" b="0" i="0" u="none" strike="noStrike">
                          <a:solidFill>
                            <a:srgbClr val="000000"/>
                          </a:solidFill>
                          <a:effectLst/>
                          <a:latin typeface="Aptos Narrow" panose="020B0004020202020204" pitchFamily="34" charset="0"/>
                        </a:rPr>
                        <a:t> NL</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11,3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57C"/>
                    </a:solidFill>
                  </a:tcPr>
                </a:tc>
                <a:tc>
                  <a:txBody>
                    <a:bodyPr/>
                    <a:lstStyle/>
                    <a:p>
                      <a:pPr algn="r" fontAlgn="b">
                        <a:buNone/>
                      </a:pPr>
                      <a:r>
                        <a:rPr lang="fr-FR" sz="900" b="0" i="0" u="none" strike="noStrike">
                          <a:solidFill>
                            <a:srgbClr val="000000"/>
                          </a:solidFill>
                          <a:effectLst/>
                          <a:latin typeface="Aptos Narrow" panose="020B0004020202020204" pitchFamily="34" charset="0"/>
                        </a:rPr>
                        <a:t>6,1</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B078"/>
                    </a:solidFill>
                  </a:tcPr>
                </a:tc>
                <a:tc>
                  <a:txBody>
                    <a:bodyPr/>
                    <a:lstStyle/>
                    <a:p>
                      <a:pPr algn="r" fontAlgn="b">
                        <a:buNone/>
                      </a:pPr>
                      <a:r>
                        <a:rPr lang="fr-FR" sz="900" b="0" i="0" u="none" strike="noStrike">
                          <a:solidFill>
                            <a:srgbClr val="00B050"/>
                          </a:solidFill>
                          <a:effectLst/>
                          <a:latin typeface="Aptos Narrow" panose="020B0004020202020204" pitchFamily="34" charset="0"/>
                        </a:rPr>
                        <a:t>5,2</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36342440"/>
                  </a:ext>
                </a:extLst>
              </a:tr>
            </a:tbl>
          </a:graphicData>
        </a:graphic>
      </p:graphicFrame>
      <p:graphicFrame>
        <p:nvGraphicFramePr>
          <p:cNvPr id="13" name="Table 12">
            <a:extLst>
              <a:ext uri="{FF2B5EF4-FFF2-40B4-BE49-F238E27FC236}">
                <a16:creationId xmlns:a16="http://schemas.microsoft.com/office/drawing/2014/main" id="{9770E6B7-CA92-B6BC-B172-DB03342E49D3}"/>
              </a:ext>
            </a:extLst>
          </p:cNvPr>
          <p:cNvGraphicFramePr>
            <a:graphicFrameLocks noGrp="1"/>
          </p:cNvGraphicFramePr>
          <p:nvPr/>
        </p:nvGraphicFramePr>
        <p:xfrm>
          <a:off x="2835562" y="2835944"/>
          <a:ext cx="2015838" cy="3193512"/>
        </p:xfrm>
        <a:graphic>
          <a:graphicData uri="http://schemas.openxmlformats.org/drawingml/2006/table">
            <a:tbl>
              <a:tblPr/>
              <a:tblGrid>
                <a:gridCol w="957881">
                  <a:extLst>
                    <a:ext uri="{9D8B030D-6E8A-4147-A177-3AD203B41FA5}">
                      <a16:colId xmlns:a16="http://schemas.microsoft.com/office/drawing/2014/main" val="2747835363"/>
                    </a:ext>
                  </a:extLst>
                </a:gridCol>
                <a:gridCol w="357418">
                  <a:extLst>
                    <a:ext uri="{9D8B030D-6E8A-4147-A177-3AD203B41FA5}">
                      <a16:colId xmlns:a16="http://schemas.microsoft.com/office/drawing/2014/main" val="3554152847"/>
                    </a:ext>
                  </a:extLst>
                </a:gridCol>
                <a:gridCol w="357418">
                  <a:extLst>
                    <a:ext uri="{9D8B030D-6E8A-4147-A177-3AD203B41FA5}">
                      <a16:colId xmlns:a16="http://schemas.microsoft.com/office/drawing/2014/main" val="909627737"/>
                    </a:ext>
                  </a:extLst>
                </a:gridCol>
                <a:gridCol w="343121">
                  <a:extLst>
                    <a:ext uri="{9D8B030D-6E8A-4147-A177-3AD203B41FA5}">
                      <a16:colId xmlns:a16="http://schemas.microsoft.com/office/drawing/2014/main" val="3266018209"/>
                    </a:ext>
                  </a:extLst>
                </a:gridCol>
              </a:tblGrid>
              <a:tr h="152072">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42565030"/>
                  </a:ext>
                </a:extLst>
              </a:tr>
              <a:tr h="152072">
                <a:tc>
                  <a:txBody>
                    <a:bodyPr/>
                    <a:lstStyle/>
                    <a:p>
                      <a:pPr algn="l" fontAlgn="b">
                        <a:buNone/>
                      </a:pPr>
                      <a:r>
                        <a:rPr lang="fr-FR" sz="900" b="1" i="0" u="none" strike="noStrike">
                          <a:solidFill>
                            <a:srgbClr val="000000"/>
                          </a:solidFill>
                          <a:effectLst/>
                          <a:latin typeface="Aptos Narrow" panose="020B0004020202020204" pitchFamily="34" charset="0"/>
                        </a:rPr>
                        <a:t>Het </a:t>
                      </a:r>
                      <a:r>
                        <a:rPr lang="fr-FR" sz="900" b="1" i="0" u="none" strike="noStrike" err="1">
                          <a:solidFill>
                            <a:srgbClr val="000000"/>
                          </a:solidFill>
                          <a:effectLst/>
                          <a:latin typeface="Aptos Narrow" panose="020B0004020202020204" pitchFamily="34" charset="0"/>
                        </a:rPr>
                        <a:t>Heijderbos</a:t>
                      </a:r>
                      <a:endParaRPr lang="fr-FR" sz="900" b="1" i="0" u="none" strike="noStrike">
                        <a:solidFill>
                          <a:srgbClr val="000000"/>
                        </a:solidFill>
                        <a:effectLst/>
                        <a:latin typeface="Aptos Narrow" panose="020B0004020202020204" pitchFamily="34" charset="0"/>
                      </a:endParaRP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16,6</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A80"/>
                    </a:solidFill>
                  </a:tcPr>
                </a:tc>
                <a:tc>
                  <a:txBody>
                    <a:bodyPr/>
                    <a:lstStyle/>
                    <a:p>
                      <a:pPr algn="r" fontAlgn="b">
                        <a:buNone/>
                      </a:pPr>
                      <a:r>
                        <a:rPr lang="fr-FR" sz="900" b="1" i="0" u="none" strike="noStrike">
                          <a:solidFill>
                            <a:srgbClr val="000000"/>
                          </a:solidFill>
                          <a:effectLst/>
                          <a:latin typeface="Aptos Narrow" panose="020B0004020202020204" pitchFamily="34" charset="0"/>
                        </a:rPr>
                        <a:t>10,1</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07B"/>
                    </a:solidFill>
                  </a:tcPr>
                </a:tc>
                <a:tc>
                  <a:txBody>
                    <a:bodyPr/>
                    <a:lstStyle/>
                    <a:p>
                      <a:pPr algn="r" fontAlgn="b">
                        <a:buNone/>
                      </a:pPr>
                      <a:r>
                        <a:rPr lang="fr-FR" sz="900" b="1" i="0" u="none" strike="noStrike">
                          <a:solidFill>
                            <a:srgbClr val="00B050"/>
                          </a:solidFill>
                          <a:effectLst/>
                          <a:latin typeface="Aptos Narrow" panose="020B0004020202020204" pitchFamily="34" charset="0"/>
                        </a:rPr>
                        <a:t>6,5</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03527652"/>
                  </a:ext>
                </a:extLst>
              </a:tr>
              <a:tr h="152072">
                <a:tc>
                  <a:txBody>
                    <a:bodyPr/>
                    <a:lstStyle/>
                    <a:p>
                      <a:pPr algn="l" fontAlgn="b">
                        <a:buNone/>
                      </a:pPr>
                      <a:r>
                        <a:rPr lang="fr-FR" sz="900" b="0" i="0" u="none" strike="noStrike">
                          <a:solidFill>
                            <a:srgbClr val="000000"/>
                          </a:solidFill>
                          <a:effectLst/>
                          <a:latin typeface="Aptos Narrow" panose="020B0004020202020204" pitchFamily="34" charset="0"/>
                        </a:rPr>
                        <a:t> BE</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26,2</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3E884"/>
                    </a:solidFill>
                  </a:tcPr>
                </a:tc>
                <a:tc>
                  <a:txBody>
                    <a:bodyPr/>
                    <a:lstStyle/>
                    <a:p>
                      <a:pPr algn="r" fontAlgn="b">
                        <a:buNone/>
                      </a:pPr>
                      <a:r>
                        <a:rPr lang="fr-FR" sz="900" b="0" i="0" u="none" strike="noStrike">
                          <a:solidFill>
                            <a:srgbClr val="000000"/>
                          </a:solidFill>
                          <a:effectLst/>
                          <a:latin typeface="Aptos Narrow" panose="020B0004020202020204" pitchFamily="34" charset="0"/>
                        </a:rPr>
                        <a:t>20,7</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B84"/>
                    </a:solidFill>
                  </a:tcPr>
                </a:tc>
                <a:tc>
                  <a:txBody>
                    <a:bodyPr/>
                    <a:lstStyle/>
                    <a:p>
                      <a:pPr algn="r" fontAlgn="b">
                        <a:buNone/>
                      </a:pPr>
                      <a:r>
                        <a:rPr lang="fr-FR" sz="900" b="0" i="0" u="none" strike="noStrike">
                          <a:solidFill>
                            <a:srgbClr val="00B050"/>
                          </a:solidFill>
                          <a:effectLst/>
                          <a:latin typeface="Aptos Narrow" panose="020B0004020202020204" pitchFamily="34" charset="0"/>
                        </a:rPr>
                        <a:t>5,5</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03399822"/>
                  </a:ext>
                </a:extLst>
              </a:tr>
              <a:tr h="152072">
                <a:tc>
                  <a:txBody>
                    <a:bodyPr/>
                    <a:lstStyle/>
                    <a:p>
                      <a:pPr algn="l" fontAlgn="b">
                        <a:buNone/>
                      </a:pPr>
                      <a:r>
                        <a:rPr lang="fr-FR" sz="900" b="0" i="0" u="none" strike="noStrike">
                          <a:solidFill>
                            <a:srgbClr val="000000"/>
                          </a:solidFill>
                          <a:effectLst/>
                          <a:latin typeface="Aptos Narrow" panose="020B0004020202020204" pitchFamily="34" charset="0"/>
                        </a:rPr>
                        <a:t> DE</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20,4</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A83"/>
                    </a:solidFill>
                  </a:tcPr>
                </a:tc>
                <a:tc>
                  <a:txBody>
                    <a:bodyPr/>
                    <a:lstStyle/>
                    <a:p>
                      <a:pPr algn="r" fontAlgn="b">
                        <a:buNone/>
                      </a:pPr>
                      <a:r>
                        <a:rPr lang="fr-FR" sz="900" b="0" i="0" u="none" strike="noStrike">
                          <a:solidFill>
                            <a:srgbClr val="000000"/>
                          </a:solidFill>
                          <a:effectLst/>
                          <a:latin typeface="Aptos Narrow" panose="020B0004020202020204" pitchFamily="34" charset="0"/>
                        </a:rPr>
                        <a:t>13,1</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C7E"/>
                    </a:solidFill>
                  </a:tcPr>
                </a:tc>
                <a:tc>
                  <a:txBody>
                    <a:bodyPr/>
                    <a:lstStyle/>
                    <a:p>
                      <a:pPr algn="r" fontAlgn="b">
                        <a:buNone/>
                      </a:pPr>
                      <a:r>
                        <a:rPr lang="fr-FR" sz="900" b="0" i="0" u="none" strike="noStrike">
                          <a:solidFill>
                            <a:srgbClr val="00B050"/>
                          </a:solidFill>
                          <a:effectLst/>
                          <a:latin typeface="Aptos Narrow" panose="020B0004020202020204" pitchFamily="34" charset="0"/>
                        </a:rPr>
                        <a:t>7,3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22318175"/>
                  </a:ext>
                </a:extLst>
              </a:tr>
              <a:tr h="152072">
                <a:tc>
                  <a:txBody>
                    <a:bodyPr/>
                    <a:lstStyle/>
                    <a:p>
                      <a:pPr algn="l" fontAlgn="b">
                        <a:buNone/>
                      </a:pPr>
                      <a:r>
                        <a:rPr lang="fr-FR" sz="900" b="0" i="0" u="none" strike="noStrike">
                          <a:solidFill>
                            <a:srgbClr val="000000"/>
                          </a:solidFill>
                          <a:effectLst/>
                          <a:latin typeface="Aptos Narrow" panose="020B0004020202020204" pitchFamily="34" charset="0"/>
                        </a:rPr>
                        <a:t> FR</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42,3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FDD82"/>
                    </a:solidFill>
                  </a:tcPr>
                </a:tc>
                <a:tc>
                  <a:txBody>
                    <a:bodyPr/>
                    <a:lstStyle/>
                    <a:p>
                      <a:pPr algn="r" fontAlgn="b">
                        <a:buNone/>
                      </a:pPr>
                      <a:r>
                        <a:rPr lang="fr-FR" sz="900" b="0" i="0" u="none" strike="noStrike">
                          <a:solidFill>
                            <a:srgbClr val="000000"/>
                          </a:solidFill>
                          <a:effectLst/>
                          <a:latin typeface="Aptos Narrow" panose="020B0004020202020204" pitchFamily="34" charset="0"/>
                        </a:rPr>
                        <a:t>29,9</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AE583"/>
                    </a:solidFill>
                  </a:tcPr>
                </a:tc>
                <a:tc>
                  <a:txBody>
                    <a:bodyPr/>
                    <a:lstStyle/>
                    <a:p>
                      <a:pPr algn="r" fontAlgn="b">
                        <a:buNone/>
                      </a:pPr>
                      <a:r>
                        <a:rPr lang="fr-FR" sz="900" b="0" i="0" u="none" strike="noStrike">
                          <a:solidFill>
                            <a:srgbClr val="00B050"/>
                          </a:solidFill>
                          <a:effectLst/>
                          <a:latin typeface="Aptos Narrow" panose="020B0004020202020204" pitchFamily="34" charset="0"/>
                        </a:rPr>
                        <a:t>12,4</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4768197"/>
                  </a:ext>
                </a:extLst>
              </a:tr>
              <a:tr h="152072">
                <a:tc>
                  <a:txBody>
                    <a:bodyPr/>
                    <a:lstStyle/>
                    <a:p>
                      <a:pPr algn="l" fontAlgn="b">
                        <a:buNone/>
                      </a:pPr>
                      <a:r>
                        <a:rPr lang="fr-FR" sz="900" b="0" i="0" u="none" strike="noStrike">
                          <a:solidFill>
                            <a:srgbClr val="000000"/>
                          </a:solidFill>
                          <a:effectLst/>
                          <a:latin typeface="Aptos Narrow" panose="020B0004020202020204" pitchFamily="34" charset="0"/>
                        </a:rPr>
                        <a:t> GB</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47,2</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4DA81"/>
                    </a:solidFill>
                  </a:tcPr>
                </a:tc>
                <a:tc>
                  <a:txBody>
                    <a:bodyPr/>
                    <a:lstStyle/>
                    <a:p>
                      <a:pPr algn="r" fontAlgn="b">
                        <a:buNone/>
                      </a:pPr>
                      <a:r>
                        <a:rPr lang="fr-FR" sz="900" b="0" i="0" u="none" strike="noStrike">
                          <a:solidFill>
                            <a:srgbClr val="000000"/>
                          </a:solidFill>
                          <a:effectLst/>
                          <a:latin typeface="Aptos Narrow" panose="020B0004020202020204" pitchFamily="34" charset="0"/>
                        </a:rPr>
                        <a:t>41,4</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1DE82"/>
                    </a:solidFill>
                  </a:tcPr>
                </a:tc>
                <a:tc>
                  <a:txBody>
                    <a:bodyPr/>
                    <a:lstStyle/>
                    <a:p>
                      <a:pPr algn="r" fontAlgn="b">
                        <a:buNone/>
                      </a:pPr>
                      <a:r>
                        <a:rPr lang="fr-FR" sz="900" b="0" i="0" u="none" strike="noStrike">
                          <a:solidFill>
                            <a:srgbClr val="00B050"/>
                          </a:solidFill>
                          <a:effectLst/>
                          <a:latin typeface="Aptos Narrow" panose="020B0004020202020204" pitchFamily="34" charset="0"/>
                        </a:rPr>
                        <a:t>5,7</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72050091"/>
                  </a:ext>
                </a:extLst>
              </a:tr>
              <a:tr h="152072">
                <a:tc>
                  <a:txBody>
                    <a:bodyPr/>
                    <a:lstStyle/>
                    <a:p>
                      <a:pPr algn="l" fontAlgn="b">
                        <a:buNone/>
                      </a:pPr>
                      <a:r>
                        <a:rPr lang="fr-FR" sz="900" b="0" i="0" u="none" strike="noStrike">
                          <a:solidFill>
                            <a:srgbClr val="000000"/>
                          </a:solidFill>
                          <a:effectLst/>
                          <a:latin typeface="Aptos Narrow" panose="020B0004020202020204" pitchFamily="34" charset="0"/>
                        </a:rPr>
                        <a:t> LU</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10,4</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17C"/>
                    </a:solidFill>
                  </a:tcPr>
                </a:tc>
                <a:tc>
                  <a:txBody>
                    <a:bodyPr/>
                    <a:lstStyle/>
                    <a:p>
                      <a:pPr algn="r" fontAlgn="b">
                        <a:buNone/>
                      </a:pPr>
                      <a:r>
                        <a:rPr lang="fr-FR" sz="900" b="0" i="0" u="none" strike="noStrike">
                          <a:solidFill>
                            <a:srgbClr val="000000"/>
                          </a:solidFill>
                          <a:effectLst/>
                          <a:latin typeface="Aptos Narrow" panose="020B0004020202020204" pitchFamily="34" charset="0"/>
                        </a:rPr>
                        <a:t>0,0</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773"/>
                    </a:solidFill>
                  </a:tcPr>
                </a:tc>
                <a:tc>
                  <a:txBody>
                    <a:bodyPr/>
                    <a:lstStyle/>
                    <a:p>
                      <a:pPr algn="r" fontAlgn="b">
                        <a:buNone/>
                      </a:pPr>
                      <a:r>
                        <a:rPr lang="fr-FR" sz="900" b="0" i="0" u="none" strike="noStrike">
                          <a:solidFill>
                            <a:srgbClr val="00B050"/>
                          </a:solidFill>
                          <a:effectLst/>
                          <a:latin typeface="Aptos Narrow" panose="020B0004020202020204" pitchFamily="34" charset="0"/>
                        </a:rPr>
                        <a:t>10,4</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48280481"/>
                  </a:ext>
                </a:extLst>
              </a:tr>
              <a:tr h="152072">
                <a:tc>
                  <a:txBody>
                    <a:bodyPr/>
                    <a:lstStyle/>
                    <a:p>
                      <a:pPr algn="l" fontAlgn="b">
                        <a:buNone/>
                      </a:pPr>
                      <a:r>
                        <a:rPr lang="fr-FR" sz="900" b="0" i="0" u="none" strike="noStrike">
                          <a:solidFill>
                            <a:srgbClr val="000000"/>
                          </a:solidFill>
                          <a:effectLst/>
                          <a:latin typeface="Aptos Narrow" panose="020B0004020202020204" pitchFamily="34" charset="0"/>
                        </a:rPr>
                        <a:t> NL</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10,3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17C"/>
                    </a:solidFill>
                  </a:tcPr>
                </a:tc>
                <a:tc>
                  <a:txBody>
                    <a:bodyPr/>
                    <a:lstStyle/>
                    <a:p>
                      <a:pPr algn="r" fontAlgn="b">
                        <a:buNone/>
                      </a:pPr>
                      <a:r>
                        <a:rPr lang="fr-FR" sz="900" b="0" i="0" u="none" strike="noStrike">
                          <a:solidFill>
                            <a:srgbClr val="000000"/>
                          </a:solidFill>
                          <a:effectLst/>
                          <a:latin typeface="Aptos Narrow" panose="020B0004020202020204" pitchFamily="34" charset="0"/>
                        </a:rPr>
                        <a:t>4,3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877"/>
                    </a:solidFill>
                  </a:tcPr>
                </a:tc>
                <a:tc>
                  <a:txBody>
                    <a:bodyPr/>
                    <a:lstStyle/>
                    <a:p>
                      <a:pPr algn="r" fontAlgn="b">
                        <a:buNone/>
                      </a:pPr>
                      <a:r>
                        <a:rPr lang="fr-FR" sz="900" b="0" i="0" u="none" strike="noStrike">
                          <a:solidFill>
                            <a:srgbClr val="00B050"/>
                          </a:solidFill>
                          <a:effectLst/>
                          <a:latin typeface="Aptos Narrow" panose="020B0004020202020204" pitchFamily="34" charset="0"/>
                        </a:rPr>
                        <a:t>6,0</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24425081"/>
                  </a:ext>
                </a:extLst>
              </a:tr>
              <a:tr h="152072">
                <a:tc>
                  <a:txBody>
                    <a:bodyPr/>
                    <a:lstStyle/>
                    <a:p>
                      <a:pPr algn="l" fontAlgn="b">
                        <a:buNone/>
                      </a:pPr>
                      <a:r>
                        <a:rPr lang="fr-FR" sz="900" b="1" i="0" u="none" strike="noStrike">
                          <a:solidFill>
                            <a:srgbClr val="000000"/>
                          </a:solidFill>
                          <a:effectLst/>
                          <a:latin typeface="Aptos Narrow" panose="020B0004020202020204" pitchFamily="34" charset="0"/>
                        </a:rPr>
                        <a:t>Het Meerdal</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31,7</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6E483"/>
                    </a:solidFill>
                  </a:tcPr>
                </a:tc>
                <a:tc>
                  <a:txBody>
                    <a:bodyPr/>
                    <a:lstStyle/>
                    <a:p>
                      <a:pPr algn="r" fontAlgn="b">
                        <a:buNone/>
                      </a:pPr>
                      <a:r>
                        <a:rPr lang="fr-FR" sz="900" b="1" i="0" u="none" strike="noStrike">
                          <a:solidFill>
                            <a:srgbClr val="000000"/>
                          </a:solidFill>
                          <a:effectLst/>
                          <a:latin typeface="Aptos Narrow" panose="020B0004020202020204" pitchFamily="34" charset="0"/>
                        </a:rPr>
                        <a:t>24,9</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6E984"/>
                    </a:solidFill>
                  </a:tcPr>
                </a:tc>
                <a:tc>
                  <a:txBody>
                    <a:bodyPr/>
                    <a:lstStyle/>
                    <a:p>
                      <a:pPr algn="r" fontAlgn="b">
                        <a:buNone/>
                      </a:pPr>
                      <a:r>
                        <a:rPr lang="fr-FR" sz="900" b="1" i="0" u="none" strike="noStrike">
                          <a:solidFill>
                            <a:srgbClr val="00B050"/>
                          </a:solidFill>
                          <a:effectLst/>
                          <a:latin typeface="Aptos Narrow" panose="020B0004020202020204" pitchFamily="34" charset="0"/>
                        </a:rPr>
                        <a:t>6,8</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96088087"/>
                  </a:ext>
                </a:extLst>
              </a:tr>
              <a:tr h="152072">
                <a:tc>
                  <a:txBody>
                    <a:bodyPr/>
                    <a:lstStyle/>
                    <a:p>
                      <a:pPr algn="l" fontAlgn="b">
                        <a:buNone/>
                      </a:pPr>
                      <a:r>
                        <a:rPr lang="fr-FR" sz="900" b="0" i="0" u="none" strike="noStrike">
                          <a:solidFill>
                            <a:srgbClr val="000000"/>
                          </a:solidFill>
                          <a:effectLst/>
                          <a:latin typeface="Aptos Narrow" panose="020B0004020202020204" pitchFamily="34" charset="0"/>
                        </a:rPr>
                        <a:t> BE</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41,1</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1DE82"/>
                    </a:solidFill>
                  </a:tcPr>
                </a:tc>
                <a:tc>
                  <a:txBody>
                    <a:bodyPr/>
                    <a:lstStyle/>
                    <a:p>
                      <a:pPr algn="r" fontAlgn="b">
                        <a:buNone/>
                      </a:pPr>
                      <a:r>
                        <a:rPr lang="fr-FR" sz="900" b="0" i="0" u="none" strike="noStrike">
                          <a:solidFill>
                            <a:srgbClr val="000000"/>
                          </a:solidFill>
                          <a:effectLst/>
                          <a:latin typeface="Aptos Narrow" panose="020B0004020202020204" pitchFamily="34" charset="0"/>
                        </a:rPr>
                        <a:t>34,9</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FE283"/>
                    </a:solidFill>
                  </a:tcPr>
                </a:tc>
                <a:tc>
                  <a:txBody>
                    <a:bodyPr/>
                    <a:lstStyle/>
                    <a:p>
                      <a:pPr algn="r" fontAlgn="b">
                        <a:buNone/>
                      </a:pPr>
                      <a:r>
                        <a:rPr lang="fr-FR" sz="900" b="0" i="0" u="none" strike="noStrike">
                          <a:solidFill>
                            <a:srgbClr val="00B050"/>
                          </a:solidFill>
                          <a:effectLst/>
                          <a:latin typeface="Aptos Narrow" panose="020B0004020202020204" pitchFamily="34" charset="0"/>
                        </a:rPr>
                        <a:t>6,2</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41461213"/>
                  </a:ext>
                </a:extLst>
              </a:tr>
              <a:tr h="152072">
                <a:tc>
                  <a:txBody>
                    <a:bodyPr/>
                    <a:lstStyle/>
                    <a:p>
                      <a:pPr algn="l" fontAlgn="b">
                        <a:buNone/>
                      </a:pPr>
                      <a:r>
                        <a:rPr lang="fr-FR" sz="900" b="0" i="0" u="none" strike="noStrike">
                          <a:solidFill>
                            <a:srgbClr val="000000"/>
                          </a:solidFill>
                          <a:effectLst/>
                          <a:latin typeface="Aptos Narrow" panose="020B0004020202020204" pitchFamily="34" charset="0"/>
                        </a:rPr>
                        <a:t> DE</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40,3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3DF82"/>
                    </a:solidFill>
                  </a:tcPr>
                </a:tc>
                <a:tc>
                  <a:txBody>
                    <a:bodyPr/>
                    <a:lstStyle/>
                    <a:p>
                      <a:pPr algn="r" fontAlgn="b">
                        <a:buNone/>
                      </a:pPr>
                      <a:r>
                        <a:rPr lang="fr-FR" sz="900" b="0" i="0" u="none" strike="noStrike">
                          <a:solidFill>
                            <a:srgbClr val="000000"/>
                          </a:solidFill>
                          <a:effectLst/>
                          <a:latin typeface="Aptos Narrow" panose="020B0004020202020204" pitchFamily="34" charset="0"/>
                        </a:rPr>
                        <a:t>29,9</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AE583"/>
                    </a:solidFill>
                  </a:tcPr>
                </a:tc>
                <a:tc>
                  <a:txBody>
                    <a:bodyPr/>
                    <a:lstStyle/>
                    <a:p>
                      <a:pPr algn="r" fontAlgn="b">
                        <a:buNone/>
                      </a:pPr>
                      <a:r>
                        <a:rPr lang="fr-FR" sz="900" b="0" i="0" u="none" strike="noStrike">
                          <a:solidFill>
                            <a:srgbClr val="00B050"/>
                          </a:solidFill>
                          <a:effectLst/>
                          <a:latin typeface="Aptos Narrow" panose="020B0004020202020204" pitchFamily="34" charset="0"/>
                        </a:rPr>
                        <a:t>10,4</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16118494"/>
                  </a:ext>
                </a:extLst>
              </a:tr>
              <a:tr h="152072">
                <a:tc>
                  <a:txBody>
                    <a:bodyPr/>
                    <a:lstStyle/>
                    <a:p>
                      <a:pPr algn="l" fontAlgn="b">
                        <a:buNone/>
                      </a:pPr>
                      <a:r>
                        <a:rPr lang="fr-FR" sz="900" b="0" i="0" u="none" strike="noStrike">
                          <a:solidFill>
                            <a:srgbClr val="000000"/>
                          </a:solidFill>
                          <a:effectLst/>
                          <a:latin typeface="Aptos Narrow" panose="020B0004020202020204" pitchFamily="34" charset="0"/>
                        </a:rPr>
                        <a:t> FR</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40,3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3DF82"/>
                    </a:solidFill>
                  </a:tcPr>
                </a:tc>
                <a:tc>
                  <a:txBody>
                    <a:bodyPr/>
                    <a:lstStyle/>
                    <a:p>
                      <a:pPr algn="r" fontAlgn="b">
                        <a:buNone/>
                      </a:pPr>
                      <a:r>
                        <a:rPr lang="fr-FR" sz="900" b="0" i="0" u="none" strike="noStrike">
                          <a:solidFill>
                            <a:srgbClr val="000000"/>
                          </a:solidFill>
                          <a:effectLst/>
                          <a:latin typeface="Aptos Narrow" panose="020B0004020202020204" pitchFamily="34" charset="0"/>
                        </a:rPr>
                        <a:t>43,3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CDD82"/>
                    </a:solidFill>
                  </a:tcPr>
                </a:tc>
                <a:tc>
                  <a:txBody>
                    <a:bodyPr/>
                    <a:lstStyle/>
                    <a:p>
                      <a:pPr algn="r" fontAlgn="b">
                        <a:buNone/>
                      </a:pPr>
                      <a:r>
                        <a:rPr lang="fr-FR" sz="900" b="0" i="0" u="none" strike="noStrike">
                          <a:solidFill>
                            <a:srgbClr val="FF0000"/>
                          </a:solidFill>
                          <a:effectLst/>
                          <a:latin typeface="Aptos Narrow" panose="020B0004020202020204" pitchFamily="34" charset="0"/>
                        </a:rPr>
                        <a:t>-3,0</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36559897"/>
                  </a:ext>
                </a:extLst>
              </a:tr>
              <a:tr h="152072">
                <a:tc>
                  <a:txBody>
                    <a:bodyPr/>
                    <a:lstStyle/>
                    <a:p>
                      <a:pPr algn="l" fontAlgn="b">
                        <a:buNone/>
                      </a:pPr>
                      <a:r>
                        <a:rPr lang="fr-FR" sz="900" b="0" i="0" u="none" strike="noStrike">
                          <a:solidFill>
                            <a:srgbClr val="000000"/>
                          </a:solidFill>
                          <a:effectLst/>
                          <a:latin typeface="Aptos Narrow" panose="020B0004020202020204" pitchFamily="34" charset="0"/>
                        </a:rPr>
                        <a:t> GB</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57,8</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CD380"/>
                    </a:solidFill>
                  </a:tcPr>
                </a:tc>
                <a:tc>
                  <a:txBody>
                    <a:bodyPr/>
                    <a:lstStyle/>
                    <a:p>
                      <a:pPr algn="r" fontAlgn="b">
                        <a:buNone/>
                      </a:pPr>
                      <a:r>
                        <a:rPr lang="fr-FR" sz="900" b="0" i="0" u="none" strike="noStrike">
                          <a:solidFill>
                            <a:srgbClr val="000000"/>
                          </a:solidFill>
                          <a:effectLst/>
                          <a:latin typeface="Aptos Narrow" panose="020B0004020202020204" pitchFamily="34" charset="0"/>
                        </a:rPr>
                        <a:t>53,4</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6D680"/>
                    </a:solidFill>
                  </a:tcPr>
                </a:tc>
                <a:tc>
                  <a:txBody>
                    <a:bodyPr/>
                    <a:lstStyle/>
                    <a:p>
                      <a:pPr algn="r" fontAlgn="b">
                        <a:buNone/>
                      </a:pPr>
                      <a:r>
                        <a:rPr lang="fr-FR" sz="900" b="0" i="0" u="none" strike="noStrike">
                          <a:solidFill>
                            <a:srgbClr val="00B050"/>
                          </a:solidFill>
                          <a:effectLst/>
                          <a:latin typeface="Aptos Narrow" panose="020B0004020202020204" pitchFamily="34" charset="0"/>
                        </a:rPr>
                        <a:t>4,4</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06601875"/>
                  </a:ext>
                </a:extLst>
              </a:tr>
              <a:tr h="152072">
                <a:tc>
                  <a:txBody>
                    <a:bodyPr/>
                    <a:lstStyle/>
                    <a:p>
                      <a:pPr algn="l" fontAlgn="b">
                        <a:buNone/>
                      </a:pPr>
                      <a:r>
                        <a:rPr lang="fr-FR" sz="900" b="0" i="0" u="none" strike="noStrike">
                          <a:solidFill>
                            <a:srgbClr val="000000"/>
                          </a:solidFill>
                          <a:effectLst/>
                          <a:latin typeface="Aptos Narrow" panose="020B0004020202020204" pitchFamily="34" charset="0"/>
                        </a:rPr>
                        <a:t> LU</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42,5</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EDD82"/>
                    </a:solidFill>
                  </a:tcPr>
                </a:tc>
                <a:tc>
                  <a:txBody>
                    <a:bodyPr/>
                    <a:lstStyle/>
                    <a:p>
                      <a:pPr algn="r" fontAlgn="b">
                        <a:buNone/>
                      </a:pPr>
                      <a:r>
                        <a:rPr lang="fr-FR" sz="900" b="0" i="0" u="none" strike="noStrike">
                          <a:solidFill>
                            <a:srgbClr val="000000"/>
                          </a:solidFill>
                          <a:effectLst/>
                          <a:latin typeface="Aptos Narrow" panose="020B0004020202020204" pitchFamily="34" charset="0"/>
                        </a:rPr>
                        <a:t>31,1</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8E583"/>
                    </a:solidFill>
                  </a:tcPr>
                </a:tc>
                <a:tc>
                  <a:txBody>
                    <a:bodyPr/>
                    <a:lstStyle/>
                    <a:p>
                      <a:pPr algn="r" fontAlgn="b">
                        <a:buNone/>
                      </a:pPr>
                      <a:r>
                        <a:rPr lang="fr-FR" sz="900" b="0" i="0" u="none" strike="noStrike">
                          <a:solidFill>
                            <a:srgbClr val="00B050"/>
                          </a:solidFill>
                          <a:effectLst/>
                          <a:latin typeface="Aptos Narrow" panose="020B0004020202020204" pitchFamily="34" charset="0"/>
                        </a:rPr>
                        <a:t>11,4</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99634478"/>
                  </a:ext>
                </a:extLst>
              </a:tr>
              <a:tr h="152072">
                <a:tc>
                  <a:txBody>
                    <a:bodyPr/>
                    <a:lstStyle/>
                    <a:p>
                      <a:pPr algn="l" fontAlgn="b">
                        <a:buNone/>
                      </a:pPr>
                      <a:r>
                        <a:rPr lang="fr-FR" sz="900" b="0" i="0" u="none" strike="noStrike">
                          <a:solidFill>
                            <a:srgbClr val="000000"/>
                          </a:solidFill>
                          <a:effectLst/>
                          <a:latin typeface="Aptos Narrow" panose="020B0004020202020204" pitchFamily="34" charset="0"/>
                        </a:rPr>
                        <a:t> NL</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19,3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583"/>
                    </a:solidFill>
                  </a:tcPr>
                </a:tc>
                <a:tc>
                  <a:txBody>
                    <a:bodyPr/>
                    <a:lstStyle/>
                    <a:p>
                      <a:pPr algn="r" fontAlgn="b">
                        <a:buNone/>
                      </a:pPr>
                      <a:r>
                        <a:rPr lang="fr-FR" sz="900" b="0" i="0" u="none" strike="noStrike">
                          <a:solidFill>
                            <a:srgbClr val="000000"/>
                          </a:solidFill>
                          <a:effectLst/>
                          <a:latin typeface="Aptos Narrow" panose="020B0004020202020204" pitchFamily="34" charset="0"/>
                        </a:rPr>
                        <a:t>14,4</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27F"/>
                    </a:solidFill>
                  </a:tcPr>
                </a:tc>
                <a:tc>
                  <a:txBody>
                    <a:bodyPr/>
                    <a:lstStyle/>
                    <a:p>
                      <a:pPr algn="r" fontAlgn="b">
                        <a:buNone/>
                      </a:pPr>
                      <a:r>
                        <a:rPr lang="fr-FR" sz="900" b="0" i="0" u="none" strike="noStrike">
                          <a:solidFill>
                            <a:srgbClr val="00B050"/>
                          </a:solidFill>
                          <a:effectLst/>
                          <a:latin typeface="Aptos Narrow" panose="020B0004020202020204" pitchFamily="34" charset="0"/>
                        </a:rPr>
                        <a:t>4,8</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17842374"/>
                  </a:ext>
                </a:extLst>
              </a:tr>
              <a:tr h="152072">
                <a:tc>
                  <a:txBody>
                    <a:bodyPr/>
                    <a:lstStyle/>
                    <a:p>
                      <a:pPr algn="l" fontAlgn="b">
                        <a:buNone/>
                      </a:pPr>
                      <a:r>
                        <a:rPr lang="fr-FR" sz="900" b="1" i="0" u="none" strike="noStrike">
                          <a:solidFill>
                            <a:srgbClr val="000000"/>
                          </a:solidFill>
                          <a:effectLst/>
                          <a:latin typeface="Aptos Narrow" panose="020B0004020202020204" pitchFamily="34" charset="0"/>
                        </a:rPr>
                        <a:t>Limburgse Peel</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2,5</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175"/>
                    </a:solidFill>
                  </a:tcPr>
                </a:tc>
                <a:tc>
                  <a:txBody>
                    <a:bodyPr/>
                    <a:lstStyle/>
                    <a:p>
                      <a:pPr algn="r" fontAlgn="b">
                        <a:buNone/>
                      </a:pPr>
                      <a:r>
                        <a:rPr lang="fr-FR" sz="900" b="1" i="0" u="none" strike="noStrike">
                          <a:solidFill>
                            <a:srgbClr val="000000"/>
                          </a:solidFill>
                          <a:effectLst/>
                          <a:latin typeface="Aptos Narrow" panose="020B0004020202020204" pitchFamily="34" charset="0"/>
                        </a:rPr>
                        <a:t>-6,8</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7B6E"/>
                    </a:solidFill>
                  </a:tcPr>
                </a:tc>
                <a:tc>
                  <a:txBody>
                    <a:bodyPr/>
                    <a:lstStyle/>
                    <a:p>
                      <a:pPr algn="r" fontAlgn="b">
                        <a:buNone/>
                      </a:pPr>
                      <a:r>
                        <a:rPr lang="fr-FR" sz="900" b="1" i="0" u="none" strike="noStrike">
                          <a:solidFill>
                            <a:srgbClr val="00B050"/>
                          </a:solidFill>
                          <a:effectLst/>
                          <a:latin typeface="Aptos Narrow" panose="020B0004020202020204" pitchFamily="34" charset="0"/>
                        </a:rPr>
                        <a:t>9,3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79111510"/>
                  </a:ext>
                </a:extLst>
              </a:tr>
              <a:tr h="152072">
                <a:tc>
                  <a:txBody>
                    <a:bodyPr/>
                    <a:lstStyle/>
                    <a:p>
                      <a:pPr algn="l" fontAlgn="b">
                        <a:buNone/>
                      </a:pPr>
                      <a:r>
                        <a:rPr lang="fr-FR" sz="900" b="0" i="0" u="none" strike="noStrike">
                          <a:solidFill>
                            <a:srgbClr val="000000"/>
                          </a:solidFill>
                          <a:effectLst/>
                          <a:latin typeface="Aptos Narrow" panose="020B0004020202020204" pitchFamily="34" charset="0"/>
                        </a:rPr>
                        <a:t> BE</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10,9</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37C"/>
                    </a:solidFill>
                  </a:tcPr>
                </a:tc>
                <a:tc>
                  <a:txBody>
                    <a:bodyPr/>
                    <a:lstStyle/>
                    <a:p>
                      <a:pPr algn="r" fontAlgn="b">
                        <a:buNone/>
                      </a:pPr>
                      <a:r>
                        <a:rPr lang="fr-FR" sz="900" b="0" i="0" u="none" strike="noStrike">
                          <a:solidFill>
                            <a:srgbClr val="000000"/>
                          </a:solidFill>
                          <a:effectLst/>
                          <a:latin typeface="Aptos Narrow" panose="020B0004020202020204" pitchFamily="34" charset="0"/>
                        </a:rPr>
                        <a:t>2,1</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F75"/>
                    </a:solidFill>
                  </a:tcPr>
                </a:tc>
                <a:tc>
                  <a:txBody>
                    <a:bodyPr/>
                    <a:lstStyle/>
                    <a:p>
                      <a:pPr algn="r" fontAlgn="b">
                        <a:buNone/>
                      </a:pPr>
                      <a:r>
                        <a:rPr lang="fr-FR" sz="900" b="0" i="0" u="none" strike="noStrike">
                          <a:solidFill>
                            <a:srgbClr val="00B050"/>
                          </a:solidFill>
                          <a:effectLst/>
                          <a:latin typeface="Aptos Narrow" panose="020B0004020202020204" pitchFamily="34" charset="0"/>
                        </a:rPr>
                        <a:t>8,8</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05762196"/>
                  </a:ext>
                </a:extLst>
              </a:tr>
              <a:tr h="152072">
                <a:tc>
                  <a:txBody>
                    <a:bodyPr/>
                    <a:lstStyle/>
                    <a:p>
                      <a:pPr algn="l" fontAlgn="b">
                        <a:buNone/>
                      </a:pPr>
                      <a:r>
                        <a:rPr lang="fr-FR" sz="900" b="0" i="0" u="none" strike="noStrike">
                          <a:solidFill>
                            <a:srgbClr val="000000"/>
                          </a:solidFill>
                          <a:effectLst/>
                          <a:latin typeface="Aptos Narrow" panose="020B0004020202020204" pitchFamily="34" charset="0"/>
                        </a:rPr>
                        <a:t> DE</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4,2</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877"/>
                    </a:solidFill>
                  </a:tcPr>
                </a:tc>
                <a:tc>
                  <a:txBody>
                    <a:bodyPr/>
                    <a:lstStyle/>
                    <a:p>
                      <a:pPr algn="r" fontAlgn="b">
                        <a:buNone/>
                      </a:pPr>
                      <a:r>
                        <a:rPr lang="fr-FR" sz="900" b="0" i="0" u="none" strike="noStrike">
                          <a:solidFill>
                            <a:srgbClr val="000000"/>
                          </a:solidFill>
                          <a:effectLst/>
                          <a:latin typeface="Aptos Narrow" panose="020B0004020202020204" pitchFamily="34" charset="0"/>
                        </a:rPr>
                        <a:t>-6,0</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7F6F"/>
                    </a:solidFill>
                  </a:tcPr>
                </a:tc>
                <a:tc>
                  <a:txBody>
                    <a:bodyPr/>
                    <a:lstStyle/>
                    <a:p>
                      <a:pPr algn="r" fontAlgn="b">
                        <a:buNone/>
                      </a:pPr>
                      <a:r>
                        <a:rPr lang="fr-FR" sz="900" b="0" i="0" u="none" strike="noStrike">
                          <a:solidFill>
                            <a:srgbClr val="00B050"/>
                          </a:solidFill>
                          <a:effectLst/>
                          <a:latin typeface="Aptos Narrow" panose="020B0004020202020204" pitchFamily="34" charset="0"/>
                        </a:rPr>
                        <a:t>10,2</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75416676"/>
                  </a:ext>
                </a:extLst>
              </a:tr>
              <a:tr h="152072">
                <a:tc>
                  <a:txBody>
                    <a:bodyPr/>
                    <a:lstStyle/>
                    <a:p>
                      <a:pPr algn="l" fontAlgn="b">
                        <a:buNone/>
                      </a:pPr>
                      <a:r>
                        <a:rPr lang="fr-FR" sz="900" b="0" i="0" u="none" strike="noStrike">
                          <a:solidFill>
                            <a:srgbClr val="000000"/>
                          </a:solidFill>
                          <a:effectLst/>
                          <a:latin typeface="Aptos Narrow" panose="020B0004020202020204" pitchFamily="34" charset="0"/>
                        </a:rPr>
                        <a:t> FR</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-1,8</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8F72"/>
                    </a:solidFill>
                  </a:tcPr>
                </a:tc>
                <a:tc>
                  <a:txBody>
                    <a:bodyPr/>
                    <a:lstStyle/>
                    <a:p>
                      <a:pPr algn="r" fontAlgn="b">
                        <a:buNone/>
                      </a:pPr>
                      <a:r>
                        <a:rPr lang="fr-FR" sz="900" b="0" i="0" u="none" strike="noStrike">
                          <a:solidFill>
                            <a:srgbClr val="000000"/>
                          </a:solidFill>
                          <a:effectLst/>
                          <a:latin typeface="Aptos Narrow" panose="020B0004020202020204" pitchFamily="34" charset="0"/>
                        </a:rPr>
                        <a:t>1,7</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E75"/>
                    </a:solidFill>
                  </a:tcPr>
                </a:tc>
                <a:tc>
                  <a:txBody>
                    <a:bodyPr/>
                    <a:lstStyle/>
                    <a:p>
                      <a:pPr algn="r" fontAlgn="b">
                        <a:buNone/>
                      </a:pPr>
                      <a:r>
                        <a:rPr lang="fr-FR" sz="900" b="0" i="0" u="none" strike="noStrike">
                          <a:solidFill>
                            <a:srgbClr val="FF0000"/>
                          </a:solidFill>
                          <a:effectLst/>
                          <a:latin typeface="Aptos Narrow" panose="020B0004020202020204" pitchFamily="34" charset="0"/>
                        </a:rPr>
                        <a:t>-3,5</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33907713"/>
                  </a:ext>
                </a:extLst>
              </a:tr>
              <a:tr h="152072">
                <a:tc>
                  <a:txBody>
                    <a:bodyPr/>
                    <a:lstStyle/>
                    <a:p>
                      <a:pPr algn="l" fontAlgn="b">
                        <a:buNone/>
                      </a:pPr>
                      <a:r>
                        <a:rPr lang="fr-FR" sz="900" b="0" i="0" u="none" strike="noStrike">
                          <a:solidFill>
                            <a:srgbClr val="000000"/>
                          </a:solidFill>
                          <a:effectLst/>
                          <a:latin typeface="Aptos Narrow" panose="020B0004020202020204" pitchFamily="34" charset="0"/>
                        </a:rPr>
                        <a:t> GB</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40,3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3DF82"/>
                    </a:solidFill>
                  </a:tcPr>
                </a:tc>
                <a:tc>
                  <a:txBody>
                    <a:bodyPr/>
                    <a:lstStyle/>
                    <a:p>
                      <a:pPr algn="r" fontAlgn="b">
                        <a:buNone/>
                      </a:pPr>
                      <a:r>
                        <a:rPr lang="fr-FR" sz="900" b="0" i="0" u="none" strike="noStrike">
                          <a:solidFill>
                            <a:srgbClr val="000000"/>
                          </a:solidFill>
                          <a:effectLst/>
                          <a:latin typeface="Aptos Narrow" panose="020B0004020202020204" pitchFamily="34" charset="0"/>
                        </a:rPr>
                        <a:t>22,0</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EB84"/>
                    </a:solidFill>
                  </a:tcPr>
                </a:tc>
                <a:tc>
                  <a:txBody>
                    <a:bodyPr/>
                    <a:lstStyle/>
                    <a:p>
                      <a:pPr algn="r" fontAlgn="b">
                        <a:buNone/>
                      </a:pPr>
                      <a:r>
                        <a:rPr lang="fr-FR" sz="900" b="0" i="0" u="none" strike="noStrike">
                          <a:solidFill>
                            <a:srgbClr val="00B050"/>
                          </a:solidFill>
                          <a:effectLst/>
                          <a:latin typeface="Aptos Narrow" panose="020B0004020202020204" pitchFamily="34" charset="0"/>
                        </a:rPr>
                        <a:t>18,4</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92638775"/>
                  </a:ext>
                </a:extLst>
              </a:tr>
              <a:tr h="152072">
                <a:tc>
                  <a:txBody>
                    <a:bodyPr/>
                    <a:lstStyle/>
                    <a:p>
                      <a:pPr algn="l" fontAlgn="b">
                        <a:buNone/>
                      </a:pPr>
                      <a:r>
                        <a:rPr lang="fr-FR" sz="900" b="0" i="0" u="none" strike="noStrike">
                          <a:solidFill>
                            <a:srgbClr val="000000"/>
                          </a:solidFill>
                          <a:effectLst/>
                          <a:latin typeface="Aptos Narrow" panose="020B0004020202020204" pitchFamily="34" charset="0"/>
                        </a:rPr>
                        <a:t> NL</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-2,9</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B71"/>
                    </a:solidFill>
                  </a:tcPr>
                </a:tc>
                <a:tc>
                  <a:txBody>
                    <a:bodyPr/>
                    <a:lstStyle/>
                    <a:p>
                      <a:pPr algn="r" fontAlgn="b">
                        <a:buNone/>
                      </a:pPr>
                      <a:r>
                        <a:rPr lang="fr-FR" sz="900" b="0" i="0" u="none" strike="noStrike">
                          <a:solidFill>
                            <a:srgbClr val="000000"/>
                          </a:solidFill>
                          <a:effectLst/>
                          <a:latin typeface="Aptos Narrow" panose="020B0004020202020204" pitchFamily="34" charset="0"/>
                        </a:rPr>
                        <a:t>-11,4</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96B"/>
                    </a:solidFill>
                  </a:tcPr>
                </a:tc>
                <a:tc>
                  <a:txBody>
                    <a:bodyPr/>
                    <a:lstStyle/>
                    <a:p>
                      <a:pPr algn="r" fontAlgn="b">
                        <a:buNone/>
                      </a:pPr>
                      <a:r>
                        <a:rPr lang="fr-FR" sz="900" b="0" i="0" u="none" strike="noStrike">
                          <a:solidFill>
                            <a:srgbClr val="00B050"/>
                          </a:solidFill>
                          <a:effectLst/>
                          <a:latin typeface="Aptos Narrow" panose="020B0004020202020204" pitchFamily="34" charset="0"/>
                        </a:rPr>
                        <a:t>8,5</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86673866"/>
                  </a:ext>
                </a:extLst>
              </a:tr>
            </a:tbl>
          </a:graphicData>
        </a:graphic>
      </p:graphicFrame>
      <p:graphicFrame>
        <p:nvGraphicFramePr>
          <p:cNvPr id="14" name="Table 13">
            <a:extLst>
              <a:ext uri="{FF2B5EF4-FFF2-40B4-BE49-F238E27FC236}">
                <a16:creationId xmlns:a16="http://schemas.microsoft.com/office/drawing/2014/main" id="{1451E682-0AD7-5087-5C9B-BD74A2ABF27F}"/>
              </a:ext>
            </a:extLst>
          </p:cNvPr>
          <p:cNvGraphicFramePr>
            <a:graphicFrameLocks noGrp="1"/>
          </p:cNvGraphicFramePr>
          <p:nvPr/>
        </p:nvGraphicFramePr>
        <p:xfrm>
          <a:off x="5290604" y="2835944"/>
          <a:ext cx="2015839" cy="3066778"/>
        </p:xfrm>
        <a:graphic>
          <a:graphicData uri="http://schemas.openxmlformats.org/drawingml/2006/table">
            <a:tbl>
              <a:tblPr/>
              <a:tblGrid>
                <a:gridCol w="957882">
                  <a:extLst>
                    <a:ext uri="{9D8B030D-6E8A-4147-A177-3AD203B41FA5}">
                      <a16:colId xmlns:a16="http://schemas.microsoft.com/office/drawing/2014/main" val="3176533382"/>
                    </a:ext>
                  </a:extLst>
                </a:gridCol>
                <a:gridCol w="357418">
                  <a:extLst>
                    <a:ext uri="{9D8B030D-6E8A-4147-A177-3AD203B41FA5}">
                      <a16:colId xmlns:a16="http://schemas.microsoft.com/office/drawing/2014/main" val="2868506769"/>
                    </a:ext>
                  </a:extLst>
                </a:gridCol>
                <a:gridCol w="357418">
                  <a:extLst>
                    <a:ext uri="{9D8B030D-6E8A-4147-A177-3AD203B41FA5}">
                      <a16:colId xmlns:a16="http://schemas.microsoft.com/office/drawing/2014/main" val="3219002950"/>
                    </a:ext>
                  </a:extLst>
                </a:gridCol>
                <a:gridCol w="343121">
                  <a:extLst>
                    <a:ext uri="{9D8B030D-6E8A-4147-A177-3AD203B41FA5}">
                      <a16:colId xmlns:a16="http://schemas.microsoft.com/office/drawing/2014/main" val="2421983296"/>
                    </a:ext>
                  </a:extLst>
                </a:gridCol>
              </a:tblGrid>
              <a:tr h="64945">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61556028"/>
                  </a:ext>
                </a:extLst>
              </a:tr>
              <a:tr h="64945">
                <a:tc>
                  <a:txBody>
                    <a:bodyPr/>
                    <a:lstStyle/>
                    <a:p>
                      <a:pPr algn="l" fontAlgn="b">
                        <a:buNone/>
                      </a:pPr>
                      <a:r>
                        <a:rPr lang="fr-FR" sz="900" b="1" i="0" u="none" strike="noStrike">
                          <a:solidFill>
                            <a:srgbClr val="000000"/>
                          </a:solidFill>
                          <a:effectLst/>
                          <a:latin typeface="Aptos Narrow" panose="020B0004020202020204" pitchFamily="34" charset="0"/>
                        </a:rPr>
                        <a:t>Parc Sandur</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19,3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683"/>
                    </a:solidFill>
                  </a:tcPr>
                </a:tc>
                <a:tc>
                  <a:txBody>
                    <a:bodyPr/>
                    <a:lstStyle/>
                    <a:p>
                      <a:pPr algn="r" fontAlgn="b">
                        <a:buNone/>
                      </a:pPr>
                      <a:r>
                        <a:rPr lang="fr-FR" sz="900" b="1" i="0" u="none" strike="noStrike">
                          <a:solidFill>
                            <a:srgbClr val="000000"/>
                          </a:solidFill>
                          <a:effectLst/>
                          <a:latin typeface="Aptos Narrow" panose="020B0004020202020204" pitchFamily="34" charset="0"/>
                        </a:rPr>
                        <a:t>9,6</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E7B"/>
                    </a:solidFill>
                  </a:tcPr>
                </a:tc>
                <a:tc>
                  <a:txBody>
                    <a:bodyPr/>
                    <a:lstStyle/>
                    <a:p>
                      <a:pPr algn="r" fontAlgn="b">
                        <a:buNone/>
                      </a:pPr>
                      <a:r>
                        <a:rPr lang="fr-FR" sz="900" b="1" i="0" u="none" strike="noStrike">
                          <a:solidFill>
                            <a:srgbClr val="00B050"/>
                          </a:solidFill>
                          <a:effectLst/>
                          <a:latin typeface="Aptos Narrow" panose="020B0004020202020204" pitchFamily="34" charset="0"/>
                        </a:rPr>
                        <a:t>9,6</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49878571"/>
                  </a:ext>
                </a:extLst>
              </a:tr>
              <a:tr h="64945">
                <a:tc>
                  <a:txBody>
                    <a:bodyPr/>
                    <a:lstStyle/>
                    <a:p>
                      <a:pPr algn="l" fontAlgn="b">
                        <a:buNone/>
                      </a:pPr>
                      <a:r>
                        <a:rPr lang="fr-FR" sz="900" b="0" i="0" u="none" strike="noStrike">
                          <a:solidFill>
                            <a:srgbClr val="000000"/>
                          </a:solidFill>
                          <a:effectLst/>
                          <a:latin typeface="Aptos Narrow" panose="020B0004020202020204" pitchFamily="34" charset="0"/>
                        </a:rPr>
                        <a:t> BE</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21,2</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B84"/>
                    </a:solidFill>
                  </a:tcPr>
                </a:tc>
                <a:tc>
                  <a:txBody>
                    <a:bodyPr/>
                    <a:lstStyle/>
                    <a:p>
                      <a:pPr algn="r" fontAlgn="b">
                        <a:buNone/>
                      </a:pPr>
                      <a:r>
                        <a:rPr lang="fr-FR" sz="900" b="0" i="0" u="none" strike="noStrike">
                          <a:solidFill>
                            <a:srgbClr val="000000"/>
                          </a:solidFill>
                          <a:effectLst/>
                          <a:latin typeface="Aptos Narrow" panose="020B0004020202020204" pitchFamily="34" charset="0"/>
                        </a:rPr>
                        <a:t>18,9</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482"/>
                    </a:solidFill>
                  </a:tcPr>
                </a:tc>
                <a:tc>
                  <a:txBody>
                    <a:bodyPr/>
                    <a:lstStyle/>
                    <a:p>
                      <a:pPr algn="r" fontAlgn="b">
                        <a:buNone/>
                      </a:pPr>
                      <a:r>
                        <a:rPr lang="fr-FR" sz="900" b="0" i="0" u="none" strike="noStrike">
                          <a:solidFill>
                            <a:srgbClr val="00B050"/>
                          </a:solidFill>
                          <a:effectLst/>
                          <a:latin typeface="Aptos Narrow" panose="020B0004020202020204" pitchFamily="34" charset="0"/>
                        </a:rPr>
                        <a:t>2,3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73823299"/>
                  </a:ext>
                </a:extLst>
              </a:tr>
              <a:tr h="64945">
                <a:tc>
                  <a:txBody>
                    <a:bodyPr/>
                    <a:lstStyle/>
                    <a:p>
                      <a:pPr algn="l" fontAlgn="b">
                        <a:buNone/>
                      </a:pPr>
                      <a:r>
                        <a:rPr lang="fr-FR" sz="900" b="0" i="0" u="none" strike="noStrike">
                          <a:solidFill>
                            <a:srgbClr val="000000"/>
                          </a:solidFill>
                          <a:effectLst/>
                          <a:latin typeface="Aptos Narrow" panose="020B0004020202020204" pitchFamily="34" charset="0"/>
                        </a:rPr>
                        <a:t> DE</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25,2</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5E884"/>
                    </a:solidFill>
                  </a:tcPr>
                </a:tc>
                <a:tc>
                  <a:txBody>
                    <a:bodyPr/>
                    <a:lstStyle/>
                    <a:p>
                      <a:pPr algn="r" fontAlgn="b">
                        <a:buNone/>
                      </a:pPr>
                      <a:r>
                        <a:rPr lang="fr-FR" sz="900" b="0" i="0" u="none" strike="noStrike">
                          <a:solidFill>
                            <a:srgbClr val="000000"/>
                          </a:solidFill>
                          <a:effectLst/>
                          <a:latin typeface="Aptos Narrow" panose="020B0004020202020204" pitchFamily="34" charset="0"/>
                        </a:rPr>
                        <a:t>13,7</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F7E"/>
                    </a:solidFill>
                  </a:tcPr>
                </a:tc>
                <a:tc>
                  <a:txBody>
                    <a:bodyPr/>
                    <a:lstStyle/>
                    <a:p>
                      <a:pPr algn="r" fontAlgn="b">
                        <a:buNone/>
                      </a:pPr>
                      <a:r>
                        <a:rPr lang="fr-FR" sz="900" b="0" i="0" u="none" strike="noStrike">
                          <a:solidFill>
                            <a:srgbClr val="00B050"/>
                          </a:solidFill>
                          <a:effectLst/>
                          <a:latin typeface="Aptos Narrow" panose="020B0004020202020204" pitchFamily="34" charset="0"/>
                        </a:rPr>
                        <a:t>11,5</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27949592"/>
                  </a:ext>
                </a:extLst>
              </a:tr>
              <a:tr h="64945">
                <a:tc>
                  <a:txBody>
                    <a:bodyPr/>
                    <a:lstStyle/>
                    <a:p>
                      <a:pPr algn="l" fontAlgn="b">
                        <a:buNone/>
                      </a:pPr>
                      <a:r>
                        <a:rPr lang="fr-FR" sz="900" b="0" i="0" u="none" strike="noStrike">
                          <a:solidFill>
                            <a:srgbClr val="000000"/>
                          </a:solidFill>
                          <a:effectLst/>
                          <a:latin typeface="Aptos Narrow" panose="020B0004020202020204" pitchFamily="34" charset="0"/>
                        </a:rPr>
                        <a:t> FR</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7,1</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479"/>
                    </a:solidFill>
                  </a:tcPr>
                </a:tc>
                <a:tc>
                  <a:txBody>
                    <a:bodyPr/>
                    <a:lstStyle/>
                    <a:p>
                      <a:pPr algn="r" fontAlgn="b">
                        <a:buNone/>
                      </a:pPr>
                      <a:r>
                        <a:rPr lang="fr-FR" sz="900" b="0" i="0" u="none" strike="noStrike">
                          <a:solidFill>
                            <a:srgbClr val="000000"/>
                          </a:solidFill>
                          <a:effectLst/>
                          <a:latin typeface="Aptos Narrow" panose="020B0004020202020204" pitchFamily="34" charset="0"/>
                        </a:rPr>
                        <a:t>13,8</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F7E"/>
                    </a:solidFill>
                  </a:tcPr>
                </a:tc>
                <a:tc>
                  <a:txBody>
                    <a:bodyPr/>
                    <a:lstStyle/>
                    <a:p>
                      <a:pPr algn="r" fontAlgn="b">
                        <a:buNone/>
                      </a:pPr>
                      <a:r>
                        <a:rPr lang="fr-FR" sz="900" b="0" i="0" u="none" strike="noStrike">
                          <a:solidFill>
                            <a:srgbClr val="FF0000"/>
                          </a:solidFill>
                          <a:effectLst/>
                          <a:latin typeface="Aptos Narrow" panose="020B0004020202020204" pitchFamily="34" charset="0"/>
                        </a:rPr>
                        <a:t>-6,7</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87500757"/>
                  </a:ext>
                </a:extLst>
              </a:tr>
              <a:tr h="64945">
                <a:tc>
                  <a:txBody>
                    <a:bodyPr/>
                    <a:lstStyle/>
                    <a:p>
                      <a:pPr algn="l" fontAlgn="b">
                        <a:buNone/>
                      </a:pPr>
                      <a:r>
                        <a:rPr lang="fr-FR" sz="900" b="0" i="0" u="none" strike="noStrike">
                          <a:solidFill>
                            <a:srgbClr val="000000"/>
                          </a:solidFill>
                          <a:effectLst/>
                          <a:latin typeface="Aptos Narrow" panose="020B0004020202020204" pitchFamily="34" charset="0"/>
                        </a:rPr>
                        <a:t> NL</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12,5</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A7D"/>
                    </a:solidFill>
                  </a:tcPr>
                </a:tc>
                <a:tc>
                  <a:txBody>
                    <a:bodyPr/>
                    <a:lstStyle/>
                    <a:p>
                      <a:pPr algn="r" fontAlgn="b">
                        <a:buNone/>
                      </a:pPr>
                      <a:r>
                        <a:rPr lang="fr-FR" sz="900" b="0" i="0" u="none" strike="noStrike">
                          <a:solidFill>
                            <a:srgbClr val="000000"/>
                          </a:solidFill>
                          <a:effectLst/>
                          <a:latin typeface="Aptos Narrow" panose="020B0004020202020204" pitchFamily="34" charset="0"/>
                        </a:rPr>
                        <a:t>3,8</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676"/>
                    </a:solidFill>
                  </a:tcPr>
                </a:tc>
                <a:tc>
                  <a:txBody>
                    <a:bodyPr/>
                    <a:lstStyle/>
                    <a:p>
                      <a:pPr algn="r" fontAlgn="b">
                        <a:buNone/>
                      </a:pPr>
                      <a:r>
                        <a:rPr lang="fr-FR" sz="900" b="0" i="0" u="none" strike="noStrike">
                          <a:solidFill>
                            <a:srgbClr val="00B050"/>
                          </a:solidFill>
                          <a:effectLst/>
                          <a:latin typeface="Aptos Narrow" panose="020B0004020202020204" pitchFamily="34" charset="0"/>
                        </a:rPr>
                        <a:t>8,8</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37610399"/>
                  </a:ext>
                </a:extLst>
              </a:tr>
              <a:tr h="64945">
                <a:tc>
                  <a:txBody>
                    <a:bodyPr/>
                    <a:lstStyle/>
                    <a:p>
                      <a:pPr algn="l" fontAlgn="b">
                        <a:buNone/>
                      </a:pPr>
                      <a:r>
                        <a:rPr lang="fr-FR" sz="900" b="1" i="0" u="none" strike="noStrike">
                          <a:solidFill>
                            <a:srgbClr val="000000"/>
                          </a:solidFill>
                          <a:effectLst/>
                          <a:latin typeface="Aptos Narrow" panose="020B0004020202020204" pitchFamily="34" charset="0"/>
                        </a:rPr>
                        <a:t>Park Zandvoort</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22,6</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EA84"/>
                    </a:solidFill>
                  </a:tcPr>
                </a:tc>
                <a:tc>
                  <a:txBody>
                    <a:bodyPr/>
                    <a:lstStyle/>
                    <a:p>
                      <a:pPr algn="r" fontAlgn="b">
                        <a:buNone/>
                      </a:pPr>
                      <a:r>
                        <a:rPr lang="fr-FR" sz="900" b="1" i="0" u="none" strike="noStrike">
                          <a:solidFill>
                            <a:srgbClr val="000000"/>
                          </a:solidFill>
                          <a:effectLst/>
                          <a:latin typeface="Aptos Narrow" panose="020B0004020202020204" pitchFamily="34" charset="0"/>
                        </a:rPr>
                        <a:t>17,9</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081"/>
                    </a:solidFill>
                  </a:tcPr>
                </a:tc>
                <a:tc>
                  <a:txBody>
                    <a:bodyPr/>
                    <a:lstStyle/>
                    <a:p>
                      <a:pPr algn="r" fontAlgn="b">
                        <a:buNone/>
                      </a:pPr>
                      <a:r>
                        <a:rPr lang="fr-FR" sz="900" b="1" i="0" u="none" strike="noStrike">
                          <a:solidFill>
                            <a:srgbClr val="00B050"/>
                          </a:solidFill>
                          <a:effectLst/>
                          <a:latin typeface="Aptos Narrow" panose="020B0004020202020204" pitchFamily="34" charset="0"/>
                        </a:rPr>
                        <a:t>4,7</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66111082"/>
                  </a:ext>
                </a:extLst>
              </a:tr>
              <a:tr h="64945">
                <a:tc>
                  <a:txBody>
                    <a:bodyPr/>
                    <a:lstStyle/>
                    <a:p>
                      <a:pPr algn="l" fontAlgn="b">
                        <a:buNone/>
                      </a:pPr>
                      <a:r>
                        <a:rPr lang="fr-FR" sz="900" b="0" i="0" u="none" strike="noStrike">
                          <a:solidFill>
                            <a:srgbClr val="000000"/>
                          </a:solidFill>
                          <a:effectLst/>
                          <a:latin typeface="Aptos Narrow" panose="020B0004020202020204" pitchFamily="34" charset="0"/>
                        </a:rPr>
                        <a:t> BE</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25,2</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5E884"/>
                    </a:solidFill>
                  </a:tcPr>
                </a:tc>
                <a:tc>
                  <a:txBody>
                    <a:bodyPr/>
                    <a:lstStyle/>
                    <a:p>
                      <a:pPr algn="r" fontAlgn="b">
                        <a:buNone/>
                      </a:pPr>
                      <a:r>
                        <a:rPr lang="fr-FR" sz="900" b="0" i="0" u="none" strike="noStrike">
                          <a:solidFill>
                            <a:srgbClr val="000000"/>
                          </a:solidFill>
                          <a:effectLst/>
                          <a:latin typeface="Aptos Narrow" panose="020B0004020202020204" pitchFamily="34" charset="0"/>
                        </a:rPr>
                        <a:t>26,5</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E884"/>
                    </a:solidFill>
                  </a:tcPr>
                </a:tc>
                <a:tc>
                  <a:txBody>
                    <a:bodyPr/>
                    <a:lstStyle/>
                    <a:p>
                      <a:pPr algn="r" fontAlgn="b">
                        <a:buNone/>
                      </a:pPr>
                      <a:r>
                        <a:rPr lang="fr-FR" sz="900" b="0" i="0" u="none" strike="noStrike">
                          <a:solidFill>
                            <a:srgbClr val="FF0000"/>
                          </a:solidFill>
                          <a:effectLst/>
                          <a:latin typeface="Aptos Narrow" panose="020B0004020202020204" pitchFamily="34" charset="0"/>
                        </a:rPr>
                        <a:t>-1,3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23678357"/>
                  </a:ext>
                </a:extLst>
              </a:tr>
              <a:tr h="64945">
                <a:tc>
                  <a:txBody>
                    <a:bodyPr/>
                    <a:lstStyle/>
                    <a:p>
                      <a:pPr algn="l" fontAlgn="b">
                        <a:buNone/>
                      </a:pPr>
                      <a:r>
                        <a:rPr lang="fr-FR" sz="900" b="0" i="0" u="none" strike="noStrike">
                          <a:solidFill>
                            <a:srgbClr val="000000"/>
                          </a:solidFill>
                          <a:effectLst/>
                          <a:latin typeface="Aptos Narrow" panose="020B0004020202020204" pitchFamily="34" charset="0"/>
                        </a:rPr>
                        <a:t> CH</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3,6</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576"/>
                    </a:solidFill>
                  </a:tcPr>
                </a:tc>
                <a:tc>
                  <a:txBody>
                    <a:bodyPr/>
                    <a:lstStyle/>
                    <a:p>
                      <a:pPr algn="r" fontAlgn="b">
                        <a:buNone/>
                      </a:pPr>
                      <a:r>
                        <a:rPr lang="fr-FR" sz="900" b="0" i="0" u="none" strike="noStrike">
                          <a:solidFill>
                            <a:srgbClr val="000000"/>
                          </a:solidFill>
                          <a:effectLst/>
                          <a:latin typeface="Aptos Narrow" panose="020B0004020202020204" pitchFamily="34" charset="0"/>
                        </a:rPr>
                        <a:t>18,2</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182"/>
                    </a:solidFill>
                  </a:tcPr>
                </a:tc>
                <a:tc>
                  <a:txBody>
                    <a:bodyPr/>
                    <a:lstStyle/>
                    <a:p>
                      <a:pPr algn="r" fontAlgn="b">
                        <a:buNone/>
                      </a:pPr>
                      <a:r>
                        <a:rPr lang="fr-FR" sz="900" b="0" i="0" u="none" strike="noStrike">
                          <a:solidFill>
                            <a:srgbClr val="FF0000"/>
                          </a:solidFill>
                          <a:effectLst/>
                          <a:latin typeface="Aptos Narrow" panose="020B0004020202020204" pitchFamily="34" charset="0"/>
                        </a:rPr>
                        <a:t>-14,6</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18756367"/>
                  </a:ext>
                </a:extLst>
              </a:tr>
              <a:tr h="64945">
                <a:tc>
                  <a:txBody>
                    <a:bodyPr/>
                    <a:lstStyle/>
                    <a:p>
                      <a:pPr algn="l" fontAlgn="b">
                        <a:buNone/>
                      </a:pPr>
                      <a:r>
                        <a:rPr lang="fr-FR" sz="900" b="0" i="0" u="none" strike="noStrike">
                          <a:solidFill>
                            <a:srgbClr val="000000"/>
                          </a:solidFill>
                          <a:effectLst/>
                          <a:latin typeface="Aptos Narrow" panose="020B0004020202020204" pitchFamily="34" charset="0"/>
                        </a:rPr>
                        <a:t> DE</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28,9</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DE683"/>
                    </a:solidFill>
                  </a:tcPr>
                </a:tc>
                <a:tc>
                  <a:txBody>
                    <a:bodyPr/>
                    <a:lstStyle/>
                    <a:p>
                      <a:pPr algn="r" fontAlgn="b">
                        <a:buNone/>
                      </a:pPr>
                      <a:r>
                        <a:rPr lang="fr-FR" sz="900" b="0" i="0" u="none" strike="noStrike">
                          <a:solidFill>
                            <a:srgbClr val="000000"/>
                          </a:solidFill>
                          <a:effectLst/>
                          <a:latin typeface="Aptos Narrow" panose="020B0004020202020204" pitchFamily="34" charset="0"/>
                        </a:rPr>
                        <a:t>20,3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A83"/>
                    </a:solidFill>
                  </a:tcPr>
                </a:tc>
                <a:tc>
                  <a:txBody>
                    <a:bodyPr/>
                    <a:lstStyle/>
                    <a:p>
                      <a:pPr algn="r" fontAlgn="b">
                        <a:buNone/>
                      </a:pPr>
                      <a:r>
                        <a:rPr lang="fr-FR" sz="900" b="0" i="0" u="none" strike="noStrike">
                          <a:solidFill>
                            <a:srgbClr val="00B050"/>
                          </a:solidFill>
                          <a:effectLst/>
                          <a:latin typeface="Aptos Narrow" panose="020B0004020202020204" pitchFamily="34" charset="0"/>
                        </a:rPr>
                        <a:t>8,6</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70081109"/>
                  </a:ext>
                </a:extLst>
              </a:tr>
              <a:tr h="64945">
                <a:tc>
                  <a:txBody>
                    <a:bodyPr/>
                    <a:lstStyle/>
                    <a:p>
                      <a:pPr algn="l" fontAlgn="b">
                        <a:buNone/>
                      </a:pPr>
                      <a:r>
                        <a:rPr lang="fr-FR" sz="900" b="0" i="0" u="none" strike="noStrike">
                          <a:solidFill>
                            <a:srgbClr val="000000"/>
                          </a:solidFill>
                          <a:effectLst/>
                          <a:latin typeface="Aptos Narrow" panose="020B0004020202020204" pitchFamily="34" charset="0"/>
                        </a:rPr>
                        <a:t> FR</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22,4</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EA84"/>
                    </a:solidFill>
                  </a:tcPr>
                </a:tc>
                <a:tc>
                  <a:txBody>
                    <a:bodyPr/>
                    <a:lstStyle/>
                    <a:p>
                      <a:pPr algn="r" fontAlgn="b">
                        <a:buNone/>
                      </a:pPr>
                      <a:r>
                        <a:rPr lang="fr-FR" sz="900" b="0" i="0" u="none" strike="noStrike">
                          <a:solidFill>
                            <a:srgbClr val="000000"/>
                          </a:solidFill>
                          <a:effectLst/>
                          <a:latin typeface="Aptos Narrow" panose="020B0004020202020204" pitchFamily="34" charset="0"/>
                        </a:rPr>
                        <a:t>20,9</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B84"/>
                    </a:solidFill>
                  </a:tcPr>
                </a:tc>
                <a:tc>
                  <a:txBody>
                    <a:bodyPr/>
                    <a:lstStyle/>
                    <a:p>
                      <a:pPr algn="r" fontAlgn="b">
                        <a:buNone/>
                      </a:pPr>
                      <a:r>
                        <a:rPr lang="fr-FR" sz="900" b="0" i="0" u="none" strike="noStrike">
                          <a:solidFill>
                            <a:srgbClr val="00B050"/>
                          </a:solidFill>
                          <a:effectLst/>
                          <a:latin typeface="Aptos Narrow" panose="020B0004020202020204" pitchFamily="34" charset="0"/>
                        </a:rPr>
                        <a:t>1,5</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47058948"/>
                  </a:ext>
                </a:extLst>
              </a:tr>
              <a:tr h="96463">
                <a:tc>
                  <a:txBody>
                    <a:bodyPr/>
                    <a:lstStyle/>
                    <a:p>
                      <a:pPr algn="l" fontAlgn="b">
                        <a:buNone/>
                      </a:pPr>
                      <a:r>
                        <a:rPr lang="fr-FR" sz="900" b="0" i="0" u="none" strike="noStrike">
                          <a:solidFill>
                            <a:srgbClr val="000000"/>
                          </a:solidFill>
                          <a:effectLst/>
                          <a:latin typeface="Aptos Narrow" panose="020B0004020202020204" pitchFamily="34" charset="0"/>
                        </a:rPr>
                        <a:t> GB</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27,8</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FE784"/>
                    </a:solidFill>
                  </a:tcPr>
                </a:tc>
                <a:tc>
                  <a:txBody>
                    <a:bodyPr/>
                    <a:lstStyle/>
                    <a:p>
                      <a:pPr algn="r" fontAlgn="b">
                        <a:buNone/>
                      </a:pPr>
                      <a:r>
                        <a:rPr lang="fr-FR" sz="900" b="0" i="0" u="none" strike="noStrike">
                          <a:solidFill>
                            <a:srgbClr val="000000"/>
                          </a:solidFill>
                          <a:effectLst/>
                          <a:latin typeface="Aptos Narrow" panose="020B0004020202020204" pitchFamily="34" charset="0"/>
                        </a:rPr>
                        <a:t>31,4</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7E483"/>
                    </a:solidFill>
                  </a:tcPr>
                </a:tc>
                <a:tc>
                  <a:txBody>
                    <a:bodyPr/>
                    <a:lstStyle/>
                    <a:p>
                      <a:pPr algn="r" fontAlgn="b">
                        <a:buNone/>
                      </a:pPr>
                      <a:r>
                        <a:rPr lang="fr-FR" sz="900" b="0" i="0" u="none" strike="noStrike">
                          <a:solidFill>
                            <a:srgbClr val="FF0000"/>
                          </a:solidFill>
                          <a:effectLst/>
                          <a:latin typeface="Aptos Narrow" panose="020B0004020202020204" pitchFamily="34" charset="0"/>
                        </a:rPr>
                        <a:t>-3,6</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5407800"/>
                  </a:ext>
                </a:extLst>
              </a:tr>
              <a:tr h="64945">
                <a:tc>
                  <a:txBody>
                    <a:bodyPr/>
                    <a:lstStyle/>
                    <a:p>
                      <a:pPr algn="l" fontAlgn="b">
                        <a:buNone/>
                      </a:pPr>
                      <a:r>
                        <a:rPr lang="fr-FR" sz="900" b="0" i="0" u="none" strike="noStrike">
                          <a:solidFill>
                            <a:srgbClr val="000000"/>
                          </a:solidFill>
                          <a:effectLst/>
                          <a:latin typeface="Aptos Narrow" panose="020B0004020202020204" pitchFamily="34" charset="0"/>
                        </a:rPr>
                        <a:t> LU</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27,6</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0E784"/>
                    </a:solidFill>
                  </a:tcPr>
                </a:tc>
                <a:tc>
                  <a:txBody>
                    <a:bodyPr/>
                    <a:lstStyle/>
                    <a:p>
                      <a:pPr algn="r" fontAlgn="b">
                        <a:buNone/>
                      </a:pPr>
                      <a:r>
                        <a:rPr lang="fr-FR" sz="900" b="0" i="0" u="none" strike="noStrike">
                          <a:solidFill>
                            <a:srgbClr val="000000"/>
                          </a:solidFill>
                          <a:effectLst/>
                          <a:latin typeface="Aptos Narrow" panose="020B0004020202020204" pitchFamily="34" charset="0"/>
                        </a:rPr>
                        <a:t>8,8</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B7A"/>
                    </a:solidFill>
                  </a:tcPr>
                </a:tc>
                <a:tc>
                  <a:txBody>
                    <a:bodyPr/>
                    <a:lstStyle/>
                    <a:p>
                      <a:pPr algn="r" fontAlgn="b">
                        <a:buNone/>
                      </a:pPr>
                      <a:r>
                        <a:rPr lang="fr-FR" sz="900" b="0" i="0" u="none" strike="noStrike">
                          <a:solidFill>
                            <a:srgbClr val="00B050"/>
                          </a:solidFill>
                          <a:effectLst/>
                          <a:latin typeface="Aptos Narrow" panose="020B0004020202020204" pitchFamily="34" charset="0"/>
                        </a:rPr>
                        <a:t>18,8</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31435481"/>
                  </a:ext>
                </a:extLst>
              </a:tr>
              <a:tr h="64945">
                <a:tc>
                  <a:txBody>
                    <a:bodyPr/>
                    <a:lstStyle/>
                    <a:p>
                      <a:pPr algn="l" fontAlgn="b">
                        <a:buNone/>
                      </a:pPr>
                      <a:r>
                        <a:rPr lang="fr-FR" sz="900" b="0" i="0" u="none" strike="noStrike">
                          <a:solidFill>
                            <a:srgbClr val="000000"/>
                          </a:solidFill>
                          <a:effectLst/>
                          <a:latin typeface="Aptos Narrow" panose="020B0004020202020204" pitchFamily="34" charset="0"/>
                        </a:rPr>
                        <a:t> NL</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13,6</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E7E"/>
                    </a:solidFill>
                  </a:tcPr>
                </a:tc>
                <a:tc>
                  <a:txBody>
                    <a:bodyPr/>
                    <a:lstStyle/>
                    <a:p>
                      <a:pPr algn="r" fontAlgn="b">
                        <a:buNone/>
                      </a:pPr>
                      <a:r>
                        <a:rPr lang="fr-FR" sz="900" b="0" i="0" u="none" strike="noStrike">
                          <a:solidFill>
                            <a:srgbClr val="000000"/>
                          </a:solidFill>
                          <a:effectLst/>
                          <a:latin typeface="Aptos Narrow" panose="020B0004020202020204" pitchFamily="34" charset="0"/>
                        </a:rPr>
                        <a:t>12,3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97D"/>
                    </a:solidFill>
                  </a:tcPr>
                </a:tc>
                <a:tc>
                  <a:txBody>
                    <a:bodyPr/>
                    <a:lstStyle/>
                    <a:p>
                      <a:pPr algn="r" fontAlgn="b">
                        <a:buNone/>
                      </a:pPr>
                      <a:r>
                        <a:rPr lang="fr-FR" sz="900" b="0" i="0" u="none" strike="noStrike">
                          <a:solidFill>
                            <a:srgbClr val="00B050"/>
                          </a:solidFill>
                          <a:effectLst/>
                          <a:latin typeface="Aptos Narrow" panose="020B0004020202020204" pitchFamily="34" charset="0"/>
                        </a:rPr>
                        <a:t>1,3</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27246493"/>
                  </a:ext>
                </a:extLst>
              </a:tr>
              <a:tr h="64945">
                <a:tc>
                  <a:txBody>
                    <a:bodyPr/>
                    <a:lstStyle/>
                    <a:p>
                      <a:pPr algn="l" fontAlgn="b">
                        <a:buNone/>
                      </a:pPr>
                      <a:r>
                        <a:rPr lang="fr-FR" sz="900" b="1" i="0" u="none" strike="noStrike">
                          <a:solidFill>
                            <a:srgbClr val="000000"/>
                          </a:solidFill>
                          <a:effectLst/>
                          <a:latin typeface="Aptos Narrow" panose="020B0004020202020204" pitchFamily="34" charset="0"/>
                        </a:rPr>
                        <a:t>Port Zélande</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11,7</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77D"/>
                    </a:solidFill>
                  </a:tcPr>
                </a:tc>
                <a:tc>
                  <a:txBody>
                    <a:bodyPr/>
                    <a:lstStyle/>
                    <a:p>
                      <a:pPr algn="r" fontAlgn="b">
                        <a:buNone/>
                      </a:pPr>
                      <a:r>
                        <a:rPr lang="fr-FR" sz="900" b="1" i="0" u="none" strike="noStrike">
                          <a:solidFill>
                            <a:srgbClr val="000000"/>
                          </a:solidFill>
                          <a:effectLst/>
                          <a:latin typeface="Aptos Narrow" panose="020B0004020202020204" pitchFamily="34" charset="0"/>
                        </a:rPr>
                        <a:t>4,9</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B77"/>
                    </a:solidFill>
                  </a:tcPr>
                </a:tc>
                <a:tc>
                  <a:txBody>
                    <a:bodyPr/>
                    <a:lstStyle/>
                    <a:p>
                      <a:pPr algn="r" fontAlgn="b">
                        <a:buNone/>
                      </a:pPr>
                      <a:r>
                        <a:rPr lang="fr-FR" sz="900" b="1" i="0" u="none" strike="noStrike">
                          <a:solidFill>
                            <a:srgbClr val="00B050"/>
                          </a:solidFill>
                          <a:effectLst/>
                          <a:latin typeface="Aptos Narrow" panose="020B0004020202020204" pitchFamily="34" charset="0"/>
                        </a:rPr>
                        <a:t>6,8</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56462970"/>
                  </a:ext>
                </a:extLst>
              </a:tr>
              <a:tr h="64945">
                <a:tc>
                  <a:txBody>
                    <a:bodyPr/>
                    <a:lstStyle/>
                    <a:p>
                      <a:pPr algn="l" fontAlgn="b">
                        <a:buNone/>
                      </a:pPr>
                      <a:r>
                        <a:rPr lang="fr-FR" sz="900" b="0" i="0" u="none" strike="noStrike">
                          <a:solidFill>
                            <a:srgbClr val="000000"/>
                          </a:solidFill>
                          <a:effectLst/>
                          <a:latin typeface="Aptos Narrow" panose="020B0004020202020204" pitchFamily="34" charset="0"/>
                        </a:rPr>
                        <a:t> BE</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20,6</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B84"/>
                    </a:solidFill>
                  </a:tcPr>
                </a:tc>
                <a:tc>
                  <a:txBody>
                    <a:bodyPr/>
                    <a:lstStyle/>
                    <a:p>
                      <a:pPr algn="r" fontAlgn="b">
                        <a:buNone/>
                      </a:pPr>
                      <a:r>
                        <a:rPr lang="fr-FR" sz="900" b="0" i="0" u="none" strike="noStrike">
                          <a:solidFill>
                            <a:srgbClr val="000000"/>
                          </a:solidFill>
                          <a:effectLst/>
                          <a:latin typeface="Aptos Narrow" panose="020B0004020202020204" pitchFamily="34" charset="0"/>
                        </a:rPr>
                        <a:t>14,8</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37F"/>
                    </a:solidFill>
                  </a:tcPr>
                </a:tc>
                <a:tc>
                  <a:txBody>
                    <a:bodyPr/>
                    <a:lstStyle/>
                    <a:p>
                      <a:pPr algn="r" fontAlgn="b">
                        <a:buNone/>
                      </a:pPr>
                      <a:r>
                        <a:rPr lang="fr-FR" sz="900" b="0" i="0" u="none" strike="noStrike">
                          <a:solidFill>
                            <a:srgbClr val="00B050"/>
                          </a:solidFill>
                          <a:effectLst/>
                          <a:latin typeface="Aptos Narrow" panose="020B0004020202020204" pitchFamily="34" charset="0"/>
                        </a:rPr>
                        <a:t>5,8</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9344099"/>
                  </a:ext>
                </a:extLst>
              </a:tr>
              <a:tr h="64945">
                <a:tc>
                  <a:txBody>
                    <a:bodyPr/>
                    <a:lstStyle/>
                    <a:p>
                      <a:pPr algn="l" fontAlgn="b">
                        <a:buNone/>
                      </a:pPr>
                      <a:r>
                        <a:rPr lang="fr-FR" sz="900" b="0" i="0" u="none" strike="noStrike">
                          <a:solidFill>
                            <a:srgbClr val="000000"/>
                          </a:solidFill>
                          <a:effectLst/>
                          <a:latin typeface="Aptos Narrow" panose="020B0004020202020204" pitchFamily="34" charset="0"/>
                        </a:rPr>
                        <a:t> CH</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15,9</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880"/>
                    </a:solidFill>
                  </a:tcPr>
                </a:tc>
                <a:tc>
                  <a:txBody>
                    <a:bodyPr/>
                    <a:lstStyle/>
                    <a:p>
                      <a:pPr algn="r" fontAlgn="b">
                        <a:buNone/>
                      </a:pPr>
                      <a:r>
                        <a:rPr lang="fr-FR" sz="900" b="0" i="0" u="none" strike="noStrike">
                          <a:solidFill>
                            <a:srgbClr val="000000"/>
                          </a:solidFill>
                          <a:effectLst/>
                          <a:latin typeface="Aptos Narrow" panose="020B0004020202020204" pitchFamily="34" charset="0"/>
                        </a:rPr>
                        <a:t>19,4</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683"/>
                    </a:solidFill>
                  </a:tcPr>
                </a:tc>
                <a:tc>
                  <a:txBody>
                    <a:bodyPr/>
                    <a:lstStyle/>
                    <a:p>
                      <a:pPr algn="r" fontAlgn="b">
                        <a:buNone/>
                      </a:pPr>
                      <a:r>
                        <a:rPr lang="fr-FR" sz="900" b="0" i="0" u="none" strike="noStrike">
                          <a:solidFill>
                            <a:srgbClr val="FF0000"/>
                          </a:solidFill>
                          <a:effectLst/>
                          <a:latin typeface="Aptos Narrow" panose="020B0004020202020204" pitchFamily="34" charset="0"/>
                        </a:rPr>
                        <a:t>-3,5</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36434757"/>
                  </a:ext>
                </a:extLst>
              </a:tr>
              <a:tr h="64945">
                <a:tc>
                  <a:txBody>
                    <a:bodyPr/>
                    <a:lstStyle/>
                    <a:p>
                      <a:pPr algn="l" fontAlgn="b">
                        <a:buNone/>
                      </a:pPr>
                      <a:r>
                        <a:rPr lang="fr-FR" sz="900" b="0" i="0" u="none" strike="noStrike">
                          <a:solidFill>
                            <a:srgbClr val="000000"/>
                          </a:solidFill>
                          <a:effectLst/>
                          <a:latin typeface="Aptos Narrow" panose="020B0004020202020204" pitchFamily="34" charset="0"/>
                        </a:rPr>
                        <a:t> DE</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15,4</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680"/>
                    </a:solidFill>
                  </a:tcPr>
                </a:tc>
                <a:tc>
                  <a:txBody>
                    <a:bodyPr/>
                    <a:lstStyle/>
                    <a:p>
                      <a:pPr algn="r" fontAlgn="b">
                        <a:buNone/>
                      </a:pPr>
                      <a:r>
                        <a:rPr lang="fr-FR" sz="900" b="0" i="0" u="none" strike="noStrike">
                          <a:solidFill>
                            <a:srgbClr val="000000"/>
                          </a:solidFill>
                          <a:effectLst/>
                          <a:latin typeface="Aptos Narrow" panose="020B0004020202020204" pitchFamily="34" charset="0"/>
                        </a:rPr>
                        <a:t>5,2</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C77"/>
                    </a:solidFill>
                  </a:tcPr>
                </a:tc>
                <a:tc>
                  <a:txBody>
                    <a:bodyPr/>
                    <a:lstStyle/>
                    <a:p>
                      <a:pPr algn="r" fontAlgn="b">
                        <a:buNone/>
                      </a:pPr>
                      <a:r>
                        <a:rPr lang="fr-FR" sz="900" b="0" i="0" u="none" strike="noStrike">
                          <a:solidFill>
                            <a:srgbClr val="00B050"/>
                          </a:solidFill>
                          <a:effectLst/>
                          <a:latin typeface="Aptos Narrow" panose="020B0004020202020204" pitchFamily="34" charset="0"/>
                        </a:rPr>
                        <a:t>10,2</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29321792"/>
                  </a:ext>
                </a:extLst>
              </a:tr>
              <a:tr h="64945">
                <a:tc>
                  <a:txBody>
                    <a:bodyPr/>
                    <a:lstStyle/>
                    <a:p>
                      <a:pPr algn="l" fontAlgn="b">
                        <a:buNone/>
                      </a:pPr>
                      <a:r>
                        <a:rPr lang="fr-FR" sz="900" b="0" i="0" u="none" strike="noStrike">
                          <a:solidFill>
                            <a:srgbClr val="000000"/>
                          </a:solidFill>
                          <a:effectLst/>
                          <a:latin typeface="Aptos Narrow" panose="020B0004020202020204" pitchFamily="34" charset="0"/>
                        </a:rPr>
                        <a:t> FR</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26,8</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1E784"/>
                    </a:solidFill>
                  </a:tcPr>
                </a:tc>
                <a:tc>
                  <a:txBody>
                    <a:bodyPr/>
                    <a:lstStyle/>
                    <a:p>
                      <a:pPr algn="r" fontAlgn="b">
                        <a:buNone/>
                      </a:pPr>
                      <a:r>
                        <a:rPr lang="fr-FR" sz="900" b="0" i="0" u="none" strike="noStrike">
                          <a:solidFill>
                            <a:srgbClr val="000000"/>
                          </a:solidFill>
                          <a:effectLst/>
                          <a:latin typeface="Aptos Narrow" panose="020B0004020202020204" pitchFamily="34" charset="0"/>
                        </a:rPr>
                        <a:t>21,6</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EB84"/>
                    </a:solidFill>
                  </a:tcPr>
                </a:tc>
                <a:tc>
                  <a:txBody>
                    <a:bodyPr/>
                    <a:lstStyle/>
                    <a:p>
                      <a:pPr algn="r" fontAlgn="b">
                        <a:buNone/>
                      </a:pPr>
                      <a:r>
                        <a:rPr lang="fr-FR" sz="900" b="0" i="0" u="none" strike="noStrike">
                          <a:solidFill>
                            <a:srgbClr val="00B050"/>
                          </a:solidFill>
                          <a:effectLst/>
                          <a:latin typeface="Aptos Narrow" panose="020B0004020202020204" pitchFamily="34" charset="0"/>
                        </a:rPr>
                        <a:t>5,2</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49442021"/>
                  </a:ext>
                </a:extLst>
              </a:tr>
              <a:tr h="64945">
                <a:tc>
                  <a:txBody>
                    <a:bodyPr/>
                    <a:lstStyle/>
                    <a:p>
                      <a:pPr algn="l" fontAlgn="b">
                        <a:buNone/>
                      </a:pPr>
                      <a:r>
                        <a:rPr lang="fr-FR" sz="900" b="0" i="0" u="none" strike="noStrike">
                          <a:solidFill>
                            <a:srgbClr val="000000"/>
                          </a:solidFill>
                          <a:effectLst/>
                          <a:latin typeface="Aptos Narrow" panose="020B0004020202020204" pitchFamily="34" charset="0"/>
                        </a:rPr>
                        <a:t> GB</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35,7</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DE283"/>
                    </a:solidFill>
                  </a:tcPr>
                </a:tc>
                <a:tc>
                  <a:txBody>
                    <a:bodyPr/>
                    <a:lstStyle/>
                    <a:p>
                      <a:pPr algn="r" fontAlgn="b">
                        <a:buNone/>
                      </a:pPr>
                      <a:r>
                        <a:rPr lang="fr-FR" sz="900" b="0" i="0" u="none" strike="noStrike">
                          <a:solidFill>
                            <a:srgbClr val="000000"/>
                          </a:solidFill>
                          <a:effectLst/>
                          <a:latin typeface="Aptos Narrow" panose="020B0004020202020204" pitchFamily="34" charset="0"/>
                        </a:rPr>
                        <a:t>17,7</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F81"/>
                    </a:solidFill>
                  </a:tcPr>
                </a:tc>
                <a:tc>
                  <a:txBody>
                    <a:bodyPr/>
                    <a:lstStyle/>
                    <a:p>
                      <a:pPr algn="r" fontAlgn="b">
                        <a:buNone/>
                      </a:pPr>
                      <a:r>
                        <a:rPr lang="fr-FR" sz="900" b="0" i="0" u="none" strike="noStrike">
                          <a:solidFill>
                            <a:srgbClr val="00B050"/>
                          </a:solidFill>
                          <a:effectLst/>
                          <a:latin typeface="Aptos Narrow" panose="020B0004020202020204" pitchFamily="34" charset="0"/>
                        </a:rPr>
                        <a:t>17,9</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20524576"/>
                  </a:ext>
                </a:extLst>
              </a:tr>
              <a:tr h="64945">
                <a:tc>
                  <a:txBody>
                    <a:bodyPr/>
                    <a:lstStyle/>
                    <a:p>
                      <a:pPr algn="l" fontAlgn="b">
                        <a:buNone/>
                      </a:pPr>
                      <a:r>
                        <a:rPr lang="fr-FR" sz="900" b="0" i="0" u="none" strike="noStrike">
                          <a:solidFill>
                            <a:srgbClr val="000000"/>
                          </a:solidFill>
                          <a:effectLst/>
                          <a:latin typeface="Aptos Narrow" panose="020B0004020202020204" pitchFamily="34" charset="0"/>
                        </a:rPr>
                        <a:t> LU</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6,1</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B078"/>
                    </a:solidFill>
                  </a:tcPr>
                </a:tc>
                <a:tc>
                  <a:txBody>
                    <a:bodyPr/>
                    <a:lstStyle/>
                    <a:p>
                      <a:pPr algn="r" fontAlgn="b">
                        <a:buNone/>
                      </a:pPr>
                      <a:r>
                        <a:rPr lang="fr-FR" sz="900" b="0" i="0" u="none" strike="noStrike">
                          <a:solidFill>
                            <a:srgbClr val="000000"/>
                          </a:solidFill>
                          <a:effectLst/>
                          <a:latin typeface="Aptos Narrow" panose="020B0004020202020204" pitchFamily="34" charset="0"/>
                        </a:rPr>
                        <a:t>14,5</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27F"/>
                    </a:solidFill>
                  </a:tcPr>
                </a:tc>
                <a:tc>
                  <a:txBody>
                    <a:bodyPr/>
                    <a:lstStyle/>
                    <a:p>
                      <a:pPr algn="r" fontAlgn="b">
                        <a:buNone/>
                      </a:pPr>
                      <a:r>
                        <a:rPr lang="fr-FR" sz="900" b="0" i="0" u="none" strike="noStrike">
                          <a:solidFill>
                            <a:srgbClr val="FF0000"/>
                          </a:solidFill>
                          <a:effectLst/>
                          <a:latin typeface="Aptos Narrow" panose="020B0004020202020204" pitchFamily="34" charset="0"/>
                        </a:rPr>
                        <a:t>-8,4</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06768549"/>
                  </a:ext>
                </a:extLst>
              </a:tr>
              <a:tr h="64945">
                <a:tc>
                  <a:txBody>
                    <a:bodyPr/>
                    <a:lstStyle/>
                    <a:p>
                      <a:pPr algn="l" fontAlgn="b">
                        <a:buNone/>
                      </a:pPr>
                      <a:r>
                        <a:rPr lang="fr-FR" sz="900" b="0" i="0" u="none" strike="noStrike">
                          <a:solidFill>
                            <a:srgbClr val="000000"/>
                          </a:solidFill>
                          <a:effectLst/>
                          <a:latin typeface="Aptos Narrow" panose="020B0004020202020204" pitchFamily="34" charset="0"/>
                        </a:rPr>
                        <a:t> NL</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0,1</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774"/>
                    </a:solidFill>
                  </a:tcPr>
                </a:tc>
                <a:tc>
                  <a:txBody>
                    <a:bodyPr/>
                    <a:lstStyle/>
                    <a:p>
                      <a:pPr algn="r" fontAlgn="b">
                        <a:buNone/>
                      </a:pPr>
                      <a:r>
                        <a:rPr lang="fr-FR" sz="900" b="0" i="0" u="none" strike="noStrike">
                          <a:solidFill>
                            <a:srgbClr val="000000"/>
                          </a:solidFill>
                          <a:effectLst/>
                          <a:latin typeface="Aptos Narrow" panose="020B0004020202020204" pitchFamily="34" charset="0"/>
                        </a:rPr>
                        <a:t>-4,1</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670"/>
                    </a:solidFill>
                  </a:tcPr>
                </a:tc>
                <a:tc>
                  <a:txBody>
                    <a:bodyPr/>
                    <a:lstStyle/>
                    <a:p>
                      <a:pPr algn="r" fontAlgn="b">
                        <a:buNone/>
                      </a:pPr>
                      <a:r>
                        <a:rPr lang="fr-FR" sz="900" b="0" i="0" u="none" strike="noStrike">
                          <a:solidFill>
                            <a:srgbClr val="00B050"/>
                          </a:solidFill>
                          <a:effectLst/>
                          <a:latin typeface="Aptos Narrow" panose="020B0004020202020204" pitchFamily="34" charset="0"/>
                        </a:rPr>
                        <a:t>4,2</a:t>
                      </a:r>
                    </a:p>
                  </a:txBody>
                  <a:tcPr marL="2239" marR="2239" marT="223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6311527"/>
                  </a:ext>
                </a:extLst>
              </a:tr>
            </a:tbl>
          </a:graphicData>
        </a:graphic>
      </p:graphicFrame>
    </p:spTree>
    <p:extLst>
      <p:ext uri="{BB962C8B-B14F-4D97-AF65-F5344CB8AC3E}">
        <p14:creationId xmlns:p14="http://schemas.microsoft.com/office/powerpoint/2010/main" val="21529716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44F67-95CC-A177-F21C-E21AE0B735F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21A4C1-8D76-B9CD-1FEA-6A85AF8D452C}"/>
              </a:ext>
            </a:extLst>
          </p:cNvPr>
          <p:cNvSpPr>
            <a:spLocks noGrp="1"/>
          </p:cNvSpPr>
          <p:nvPr>
            <p:ph type="sldNum" sz="quarter" idx="12"/>
          </p:nvPr>
        </p:nvSpPr>
        <p:spPr/>
        <p:txBody>
          <a:bodyPr/>
          <a:lstStyle/>
          <a:p>
            <a:fld id="{0D2E6A04-B99A-6C4D-8942-945F97C9E705}" type="slidenum">
              <a:rPr lang="en-US" smtClean="0"/>
              <a:pPr/>
              <a:t>35</a:t>
            </a:fld>
            <a:endParaRPr lang="en-US"/>
          </a:p>
        </p:txBody>
      </p:sp>
      <p:sp>
        <p:nvSpPr>
          <p:cNvPr id="3" name="Date Placeholder 2">
            <a:extLst>
              <a:ext uri="{FF2B5EF4-FFF2-40B4-BE49-F238E27FC236}">
                <a16:creationId xmlns:a16="http://schemas.microsoft.com/office/drawing/2014/main" id="{44BB4D96-BF24-7F95-4F73-50DE5164A09C}"/>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11C55693-4A7A-2BF2-98A7-F6E6CBA889EC}"/>
              </a:ext>
            </a:extLst>
          </p:cNvPr>
          <p:cNvSpPr>
            <a:spLocks noGrp="1"/>
          </p:cNvSpPr>
          <p:nvPr>
            <p:ph type="title"/>
          </p:nvPr>
        </p:nvSpPr>
        <p:spPr/>
        <p:txBody>
          <a:bodyPr/>
          <a:lstStyle/>
          <a:p>
            <a:r>
              <a:rPr lang="fr-FR"/>
              <a:t>Netherlands – NPS per villa </a:t>
            </a:r>
            <a:r>
              <a:rPr lang="fr-FR" err="1"/>
              <a:t>category</a:t>
            </a:r>
            <a:r>
              <a:rPr lang="fr-FR"/>
              <a:t> (</a:t>
            </a:r>
            <a:r>
              <a:rPr lang="fr-FR" err="1"/>
              <a:t>comfort</a:t>
            </a:r>
            <a:r>
              <a:rPr lang="fr-FR"/>
              <a:t> </a:t>
            </a:r>
            <a:r>
              <a:rPr lang="fr-FR" err="1"/>
              <a:t>level</a:t>
            </a:r>
            <a:r>
              <a:rPr lang="fr-FR"/>
              <a:t>)</a:t>
            </a:r>
          </a:p>
        </p:txBody>
      </p:sp>
      <p:sp>
        <p:nvSpPr>
          <p:cNvPr id="6" name="Rechthoek 4">
            <a:extLst>
              <a:ext uri="{FF2B5EF4-FFF2-40B4-BE49-F238E27FC236}">
                <a16:creationId xmlns:a16="http://schemas.microsoft.com/office/drawing/2014/main" id="{50364663-C93D-CCBF-F600-4000D6E22D0D}"/>
              </a:ext>
            </a:extLst>
          </p:cNvPr>
          <p:cNvSpPr/>
          <p:nvPr/>
        </p:nvSpPr>
        <p:spPr>
          <a:xfrm>
            <a:off x="-1" y="978100"/>
            <a:ext cx="7896226" cy="1696720"/>
          </a:xfrm>
          <a:prstGeom prst="rect">
            <a:avLst/>
          </a:prstGeom>
          <a:solidFill>
            <a:schemeClr val="accent4">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ea typeface="Calibri"/>
                <a:cs typeface="Calibri"/>
              </a:rPr>
              <a:t>NPS of all villa types increased vs </a:t>
            </a:r>
            <a:r>
              <a:rPr lang="en-US" sz="1200" b="1" err="1">
                <a:solidFill>
                  <a:schemeClr val="tx2"/>
                </a:solidFill>
                <a:ea typeface="Calibri"/>
                <a:cs typeface="Calibri"/>
              </a:rPr>
              <a:t>ly</a:t>
            </a:r>
            <a:r>
              <a:rPr lang="en-US" sz="1200" b="1">
                <a:solidFill>
                  <a:schemeClr val="tx2"/>
                </a:solidFill>
                <a:ea typeface="Calibri"/>
                <a:cs typeface="Calibri"/>
              </a:rPr>
              <a:t>.</a:t>
            </a:r>
          </a:p>
          <a:p>
            <a:pPr marL="720725" lvl="2" indent="-161925">
              <a:lnSpc>
                <a:spcPct val="120000"/>
              </a:lnSpc>
              <a:buFont typeface="Arial" panose="020B0604020202020204" pitchFamily="34" charset="0"/>
              <a:buChar char="•"/>
            </a:pPr>
            <a:r>
              <a:rPr lang="en-US" sz="1200" b="1">
                <a:solidFill>
                  <a:schemeClr val="tx2"/>
                </a:solidFill>
                <a:ea typeface="Calibri"/>
                <a:cs typeface="Calibri"/>
              </a:rPr>
              <a:t>Overall, the NPS is higher on special cottages than regular cottages, excepted Waterfront Suite (below average) and Kids cottage new generation (lower NPS of specials, decreased at HH and KV but increased at PZ and HB).</a:t>
            </a:r>
          </a:p>
          <a:p>
            <a:pPr marL="720725" lvl="2" indent="-161925">
              <a:lnSpc>
                <a:spcPct val="120000"/>
              </a:lnSpc>
              <a:buFont typeface="Arial" panose="020B0604020202020204" pitchFamily="34" charset="0"/>
              <a:buChar char="•"/>
            </a:pPr>
            <a:r>
              <a:rPr lang="en-US" sz="1200" b="1">
                <a:solidFill>
                  <a:schemeClr val="tx2"/>
                </a:solidFill>
                <a:ea typeface="Calibri"/>
                <a:cs typeface="Calibri"/>
              </a:rPr>
              <a:t>Within regulars, Premium are the highest NPS vs VIP and Comfort are the lowest NPS.</a:t>
            </a:r>
          </a:p>
          <a:p>
            <a:pPr marL="720725" lvl="2" indent="-161925">
              <a:lnSpc>
                <a:spcPct val="120000"/>
              </a:lnSpc>
              <a:buFont typeface="Arial" panose="020B0604020202020204" pitchFamily="34" charset="0"/>
              <a:buChar char="•"/>
            </a:pPr>
            <a:r>
              <a:rPr lang="en-US" sz="1200" b="1">
                <a:solidFill>
                  <a:schemeClr val="tx2"/>
                </a:solidFill>
                <a:ea typeface="Calibri"/>
                <a:cs typeface="Calibri"/>
              </a:rPr>
              <a:t>In other categories, Hotel and </a:t>
            </a:r>
            <a:r>
              <a:rPr lang="en-US" sz="1200" b="1" err="1">
                <a:solidFill>
                  <a:schemeClr val="tx2"/>
                </a:solidFill>
                <a:ea typeface="Calibri"/>
                <a:cs typeface="Calibri"/>
              </a:rPr>
              <a:t>Appartments</a:t>
            </a:r>
            <a:r>
              <a:rPr lang="en-US" sz="1200" b="1">
                <a:solidFill>
                  <a:schemeClr val="tx2"/>
                </a:solidFill>
                <a:ea typeface="Calibri"/>
                <a:cs typeface="Calibri"/>
              </a:rPr>
              <a:t> are doing great. </a:t>
            </a:r>
          </a:p>
        </p:txBody>
      </p:sp>
      <p:sp>
        <p:nvSpPr>
          <p:cNvPr id="7" name="Rectangle 6">
            <a:extLst>
              <a:ext uri="{FF2B5EF4-FFF2-40B4-BE49-F238E27FC236}">
                <a16:creationId xmlns:a16="http://schemas.microsoft.com/office/drawing/2014/main" id="{E79E8181-C179-2EBC-7E64-5041A5755F80}"/>
              </a:ext>
            </a:extLst>
          </p:cNvPr>
          <p:cNvSpPr/>
          <p:nvPr/>
        </p:nvSpPr>
        <p:spPr>
          <a:xfrm rot="16200000">
            <a:off x="-617105" y="1646060"/>
            <a:ext cx="1656000"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4"/>
                </a:solidFill>
                <a:ea typeface="Calibri"/>
                <a:cs typeface="Calibri"/>
              </a:rPr>
              <a:t>Analysis</a:t>
            </a:r>
            <a:endParaRPr lang="en-US" sz="1100">
              <a:solidFill>
                <a:schemeClr val="accent4"/>
              </a:solidFill>
            </a:endParaRPr>
          </a:p>
        </p:txBody>
      </p:sp>
      <p:graphicFrame>
        <p:nvGraphicFramePr>
          <p:cNvPr id="15" name="Table 14">
            <a:extLst>
              <a:ext uri="{FF2B5EF4-FFF2-40B4-BE49-F238E27FC236}">
                <a16:creationId xmlns:a16="http://schemas.microsoft.com/office/drawing/2014/main" id="{915A2B1A-B6C7-1573-0DAC-7D00A5072F81}"/>
              </a:ext>
            </a:extLst>
          </p:cNvPr>
          <p:cNvGraphicFramePr>
            <a:graphicFrameLocks noGrp="1"/>
          </p:cNvGraphicFramePr>
          <p:nvPr/>
        </p:nvGraphicFramePr>
        <p:xfrm>
          <a:off x="8543925" y="978100"/>
          <a:ext cx="3314445" cy="2857500"/>
        </p:xfrm>
        <a:graphic>
          <a:graphicData uri="http://schemas.openxmlformats.org/drawingml/2006/table">
            <a:tbl>
              <a:tblPr/>
              <a:tblGrid>
                <a:gridCol w="1603764">
                  <a:extLst>
                    <a:ext uri="{9D8B030D-6E8A-4147-A177-3AD203B41FA5}">
                      <a16:colId xmlns:a16="http://schemas.microsoft.com/office/drawing/2014/main" val="3791923505"/>
                    </a:ext>
                  </a:extLst>
                </a:gridCol>
                <a:gridCol w="570227">
                  <a:extLst>
                    <a:ext uri="{9D8B030D-6E8A-4147-A177-3AD203B41FA5}">
                      <a16:colId xmlns:a16="http://schemas.microsoft.com/office/drawing/2014/main" val="2960158880"/>
                    </a:ext>
                  </a:extLst>
                </a:gridCol>
                <a:gridCol w="570227">
                  <a:extLst>
                    <a:ext uri="{9D8B030D-6E8A-4147-A177-3AD203B41FA5}">
                      <a16:colId xmlns:a16="http://schemas.microsoft.com/office/drawing/2014/main" val="4220821518"/>
                    </a:ext>
                  </a:extLst>
                </a:gridCol>
                <a:gridCol w="570227">
                  <a:extLst>
                    <a:ext uri="{9D8B030D-6E8A-4147-A177-3AD203B41FA5}">
                      <a16:colId xmlns:a16="http://schemas.microsoft.com/office/drawing/2014/main" val="2770436911"/>
                    </a:ext>
                  </a:extLst>
                </a:gridCol>
              </a:tblGrid>
              <a:tr h="126636">
                <a:tc>
                  <a:txBody>
                    <a:bodyPr/>
                    <a:lstStyle/>
                    <a:p>
                      <a:pPr algn="l" fontAlgn="b">
                        <a:buNone/>
                      </a:pPr>
                      <a:endParaRPr lang="fr-FR" sz="1000" b="0"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Evol </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05539875"/>
                  </a:ext>
                </a:extLst>
              </a:tr>
              <a:tr h="126636">
                <a:tc>
                  <a:txBody>
                    <a:bodyPr/>
                    <a:lstStyle/>
                    <a:p>
                      <a:pPr algn="l" fontAlgn="b">
                        <a:buNone/>
                      </a:pPr>
                      <a:r>
                        <a:rPr lang="fr-FR" sz="1000" b="0" i="0" u="none" strike="noStrike">
                          <a:solidFill>
                            <a:srgbClr val="000000"/>
                          </a:solidFill>
                          <a:effectLst/>
                          <a:latin typeface="Aptos Narrow" panose="020B0004020202020204" pitchFamily="34" charset="0"/>
                        </a:rPr>
                        <a:t>Premium Kids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40,6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1000" b="0" i="0" u="none" strike="noStrike">
                          <a:solidFill>
                            <a:srgbClr val="000000"/>
                          </a:solidFill>
                          <a:effectLst/>
                          <a:latin typeface="Aptos Narrow" panose="020B0004020202020204" pitchFamily="34" charset="0"/>
                        </a:rPr>
                        <a:t>28,7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2D580"/>
                    </a:solidFill>
                  </a:tcPr>
                </a:tc>
                <a:tc>
                  <a:txBody>
                    <a:bodyPr/>
                    <a:lstStyle/>
                    <a:p>
                      <a:pPr algn="r" fontAlgn="b">
                        <a:buNone/>
                      </a:pPr>
                      <a:r>
                        <a:rPr lang="fr-FR" sz="1000" b="1" i="0" u="none" strike="noStrike">
                          <a:solidFill>
                            <a:srgbClr val="00B050"/>
                          </a:solidFill>
                          <a:effectLst/>
                          <a:latin typeface="Aptos Narrow" panose="020B0004020202020204" pitchFamily="34" charset="0"/>
                        </a:rPr>
                        <a:t>11,9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98863132"/>
                  </a:ext>
                </a:extLst>
              </a:tr>
              <a:tr h="126636">
                <a:tc>
                  <a:txBody>
                    <a:bodyPr/>
                    <a:lstStyle/>
                    <a:p>
                      <a:pPr algn="l" fontAlgn="b">
                        <a:buNone/>
                      </a:pPr>
                      <a:r>
                        <a:rPr lang="fr-FR" sz="1000" b="0" i="0" u="none" strike="noStrike">
                          <a:solidFill>
                            <a:srgbClr val="000000"/>
                          </a:solidFill>
                          <a:effectLst/>
                          <a:latin typeface="Aptos Narrow" panose="020B0004020202020204" pitchFamily="34" charset="0"/>
                        </a:rPr>
                        <a:t>Safari Lodge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40,0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7C07C"/>
                    </a:solidFill>
                  </a:tcPr>
                </a:tc>
                <a:tc>
                  <a:txBody>
                    <a:bodyPr/>
                    <a:lstStyle/>
                    <a:p>
                      <a:pPr algn="r" fontAlgn="b">
                        <a:buNone/>
                      </a:pPr>
                      <a:r>
                        <a:rPr lang="fr-FR" sz="1000" b="0" i="0" u="none" strike="noStrike">
                          <a:solidFill>
                            <a:srgbClr val="000000"/>
                          </a:solidFill>
                          <a:effectLst/>
                          <a:latin typeface="Aptos Narrow" panose="020B0004020202020204" pitchFamily="34" charset="0"/>
                        </a:rPr>
                        <a:t>8,1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E78"/>
                    </a:solidFill>
                  </a:tcPr>
                </a:tc>
                <a:tc>
                  <a:txBody>
                    <a:bodyPr/>
                    <a:lstStyle/>
                    <a:p>
                      <a:pPr algn="r" fontAlgn="b">
                        <a:buNone/>
                      </a:pPr>
                      <a:r>
                        <a:rPr lang="fr-FR" sz="1000" b="1" i="0" u="none" strike="noStrike">
                          <a:solidFill>
                            <a:srgbClr val="00B050"/>
                          </a:solidFill>
                          <a:effectLst/>
                          <a:latin typeface="Aptos Narrow" panose="020B0004020202020204" pitchFamily="34" charset="0"/>
                        </a:rPr>
                        <a:t>31,9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30960557"/>
                  </a:ext>
                </a:extLst>
              </a:tr>
              <a:tr h="126636">
                <a:tc>
                  <a:txBody>
                    <a:bodyPr/>
                    <a:lstStyle/>
                    <a:p>
                      <a:pPr algn="l" fontAlgn="b">
                        <a:buNone/>
                      </a:pPr>
                      <a:r>
                        <a:rPr lang="fr-FR" sz="1000" b="0" i="0" u="none" strike="noStrike">
                          <a:solidFill>
                            <a:srgbClr val="000000"/>
                          </a:solidFill>
                          <a:effectLst/>
                          <a:latin typeface="Aptos Narrow" panose="020B0004020202020204" pitchFamily="34" charset="0"/>
                        </a:rPr>
                        <a:t>Jungle Cabana</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37,7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6C47D"/>
                    </a:solidFill>
                  </a:tcPr>
                </a:tc>
                <a:tc>
                  <a:txBody>
                    <a:bodyPr/>
                    <a:lstStyle/>
                    <a:p>
                      <a:pPr algn="r" fontAlgn="b">
                        <a:buNone/>
                      </a:pPr>
                      <a:r>
                        <a:rPr lang="fr-FR" sz="1000" b="0" i="0" u="none" strike="noStrike">
                          <a:solidFill>
                            <a:srgbClr val="000000"/>
                          </a:solidFill>
                          <a:effectLst/>
                          <a:latin typeface="Aptos Narrow" panose="020B0004020202020204" pitchFamily="34" charset="0"/>
                        </a:rPr>
                        <a:t>31,7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ECF7F"/>
                    </a:solidFill>
                  </a:tcPr>
                </a:tc>
                <a:tc>
                  <a:txBody>
                    <a:bodyPr/>
                    <a:lstStyle/>
                    <a:p>
                      <a:pPr algn="r" fontAlgn="b">
                        <a:buNone/>
                      </a:pPr>
                      <a:r>
                        <a:rPr lang="fr-FR" sz="1000" b="1" i="0" u="none" strike="noStrike">
                          <a:solidFill>
                            <a:srgbClr val="00B050"/>
                          </a:solidFill>
                          <a:effectLst/>
                          <a:latin typeface="Aptos Narrow" panose="020B0004020202020204" pitchFamily="34" charset="0"/>
                        </a:rPr>
                        <a:t>6,0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35187328"/>
                  </a:ext>
                </a:extLst>
              </a:tr>
              <a:tr h="126636">
                <a:tc>
                  <a:txBody>
                    <a:bodyPr/>
                    <a:lstStyle/>
                    <a:p>
                      <a:pPr algn="l" fontAlgn="b">
                        <a:buNone/>
                      </a:pPr>
                      <a:r>
                        <a:rPr lang="fr-FR" sz="1000" b="0" i="0" u="none" strike="noStrike">
                          <a:solidFill>
                            <a:srgbClr val="000000"/>
                          </a:solidFill>
                          <a:effectLst/>
                          <a:latin typeface="Aptos Narrow" panose="020B0004020202020204" pitchFamily="34" charset="0"/>
                        </a:rPr>
                        <a:t>Boathouse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37,3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9C57D"/>
                    </a:solidFill>
                  </a:tcPr>
                </a:tc>
                <a:tc>
                  <a:txBody>
                    <a:bodyPr/>
                    <a:lstStyle/>
                    <a:p>
                      <a:pPr algn="r" fontAlgn="b">
                        <a:buNone/>
                      </a:pPr>
                      <a:r>
                        <a:rPr lang="fr-FR" sz="1000" b="0" i="0" u="none" strike="noStrike">
                          <a:solidFill>
                            <a:srgbClr val="000000"/>
                          </a:solidFill>
                          <a:effectLst/>
                          <a:latin typeface="Aptos Narrow" panose="020B0004020202020204" pitchFamily="34" charset="0"/>
                        </a:rPr>
                        <a:t>22,6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AE182"/>
                    </a:solidFill>
                  </a:tcPr>
                </a:tc>
                <a:tc>
                  <a:txBody>
                    <a:bodyPr/>
                    <a:lstStyle/>
                    <a:p>
                      <a:pPr algn="r" fontAlgn="b">
                        <a:buNone/>
                      </a:pPr>
                      <a:r>
                        <a:rPr lang="fr-FR" sz="1000" b="1" i="0" u="none" strike="noStrike">
                          <a:solidFill>
                            <a:srgbClr val="00B050"/>
                          </a:solidFill>
                          <a:effectLst/>
                          <a:latin typeface="Aptos Narrow" panose="020B0004020202020204" pitchFamily="34" charset="0"/>
                        </a:rPr>
                        <a:t>14,6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49502561"/>
                  </a:ext>
                </a:extLst>
              </a:tr>
              <a:tr h="126636">
                <a:tc>
                  <a:txBody>
                    <a:bodyPr/>
                    <a:lstStyle/>
                    <a:p>
                      <a:pPr algn="l" fontAlgn="b">
                        <a:buNone/>
                      </a:pPr>
                      <a:r>
                        <a:rPr lang="fr-FR" sz="1000" b="0" i="0" u="none" strike="noStrike">
                          <a:solidFill>
                            <a:srgbClr val="000000"/>
                          </a:solidFill>
                          <a:effectLst/>
                          <a:latin typeface="Aptos Narrow" panose="020B0004020202020204" pitchFamily="34" charset="0"/>
                        </a:rPr>
                        <a:t>Hotel Honeymoon-suite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35,4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6C87D"/>
                    </a:solidFill>
                  </a:tcPr>
                </a:tc>
                <a:tc>
                  <a:txBody>
                    <a:bodyPr/>
                    <a:lstStyle/>
                    <a:p>
                      <a:pPr algn="r" fontAlgn="b">
                        <a:buNone/>
                      </a:pPr>
                      <a:r>
                        <a:rPr lang="fr-FR" sz="1000" b="0" i="0" u="none" strike="noStrike">
                          <a:solidFill>
                            <a:srgbClr val="000000"/>
                          </a:solidFill>
                          <a:effectLst/>
                          <a:latin typeface="Aptos Narrow" panose="020B0004020202020204" pitchFamily="34" charset="0"/>
                        </a:rPr>
                        <a:t>10,4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D7B"/>
                    </a:solidFill>
                  </a:tcPr>
                </a:tc>
                <a:tc>
                  <a:txBody>
                    <a:bodyPr/>
                    <a:lstStyle/>
                    <a:p>
                      <a:pPr algn="r" fontAlgn="b">
                        <a:buNone/>
                      </a:pPr>
                      <a:r>
                        <a:rPr lang="fr-FR" sz="1000" b="1" i="0" u="none" strike="noStrike">
                          <a:solidFill>
                            <a:srgbClr val="00B050"/>
                          </a:solidFill>
                          <a:effectLst/>
                          <a:latin typeface="Aptos Narrow" panose="020B0004020202020204" pitchFamily="34" charset="0"/>
                        </a:rPr>
                        <a:t>25,0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2561685"/>
                  </a:ext>
                </a:extLst>
              </a:tr>
              <a:tr h="126636">
                <a:tc>
                  <a:txBody>
                    <a:bodyPr/>
                    <a:lstStyle/>
                    <a:p>
                      <a:pPr algn="l" fontAlgn="b">
                        <a:buNone/>
                      </a:pPr>
                      <a:r>
                        <a:rPr lang="fr-FR" sz="1000" b="0" i="0" u="none" strike="noStrike">
                          <a:solidFill>
                            <a:srgbClr val="000000"/>
                          </a:solidFill>
                          <a:effectLst/>
                          <a:latin typeface="Aptos Narrow" panose="020B0004020202020204" pitchFamily="34" charset="0"/>
                        </a:rPr>
                        <a:t>Premium Hotel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31,0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3D17F"/>
                    </a:solidFill>
                  </a:tcPr>
                </a:tc>
                <a:tc>
                  <a:txBody>
                    <a:bodyPr/>
                    <a:lstStyle/>
                    <a:p>
                      <a:pPr algn="r" fontAlgn="b">
                        <a:buNone/>
                      </a:pPr>
                      <a:r>
                        <a:rPr lang="fr-FR" sz="1000" b="0" i="0" u="none" strike="noStrike">
                          <a:solidFill>
                            <a:srgbClr val="000000"/>
                          </a:solidFill>
                          <a:effectLst/>
                          <a:latin typeface="Aptos Narrow" panose="020B0004020202020204" pitchFamily="34" charset="0"/>
                        </a:rPr>
                        <a:t>26,8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FD981"/>
                    </a:solidFill>
                  </a:tcPr>
                </a:tc>
                <a:tc>
                  <a:txBody>
                    <a:bodyPr/>
                    <a:lstStyle/>
                    <a:p>
                      <a:pPr algn="r" fontAlgn="b">
                        <a:buNone/>
                      </a:pPr>
                      <a:r>
                        <a:rPr lang="fr-FR" sz="1000" b="1" i="0" u="none" strike="noStrike">
                          <a:solidFill>
                            <a:srgbClr val="00B050"/>
                          </a:solidFill>
                          <a:effectLst/>
                          <a:latin typeface="Aptos Narrow" panose="020B0004020202020204" pitchFamily="34" charset="0"/>
                        </a:rPr>
                        <a:t>4,2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16013630"/>
                  </a:ext>
                </a:extLst>
              </a:tr>
              <a:tr h="126636">
                <a:tc>
                  <a:txBody>
                    <a:bodyPr/>
                    <a:lstStyle/>
                    <a:p>
                      <a:pPr algn="l" fontAlgn="b">
                        <a:buNone/>
                      </a:pPr>
                      <a:r>
                        <a:rPr lang="fr-FR" sz="1000" b="0" i="0" u="none" strike="noStrike">
                          <a:solidFill>
                            <a:srgbClr val="000000"/>
                          </a:solidFill>
                          <a:effectLst/>
                          <a:latin typeface="Aptos Narrow" panose="020B0004020202020204" pitchFamily="34" charset="0"/>
                        </a:rPr>
                        <a:t>Eden Premium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23,9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2DE82"/>
                    </a:solidFill>
                  </a:tcPr>
                </a:tc>
                <a:tc>
                  <a:txBody>
                    <a:bodyPr/>
                    <a:lstStyle/>
                    <a:p>
                      <a:pPr algn="r" fontAlgn="b">
                        <a:buNone/>
                      </a:pPr>
                      <a:r>
                        <a:rPr lang="fr-FR" sz="1000" b="0" i="0" u="none" strike="noStrike">
                          <a:solidFill>
                            <a:srgbClr val="000000"/>
                          </a:solidFill>
                          <a:effectLst/>
                          <a:latin typeface="Aptos Narrow" panose="020B0004020202020204" pitchFamily="34" charset="0"/>
                        </a:rPr>
                        <a:t>16,7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883"/>
                    </a:solidFill>
                  </a:tcPr>
                </a:tc>
                <a:tc>
                  <a:txBody>
                    <a:bodyPr/>
                    <a:lstStyle/>
                    <a:p>
                      <a:pPr algn="r" fontAlgn="b">
                        <a:buNone/>
                      </a:pPr>
                      <a:r>
                        <a:rPr lang="fr-FR" sz="1000" b="1" i="0" u="none" strike="noStrike">
                          <a:solidFill>
                            <a:srgbClr val="00B050"/>
                          </a:solidFill>
                          <a:effectLst/>
                          <a:latin typeface="Aptos Narrow" panose="020B0004020202020204" pitchFamily="34" charset="0"/>
                        </a:rPr>
                        <a:t>7,1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40823686"/>
                  </a:ext>
                </a:extLst>
              </a:tr>
              <a:tr h="126636">
                <a:tc>
                  <a:txBody>
                    <a:bodyPr/>
                    <a:lstStyle/>
                    <a:p>
                      <a:pPr algn="l" fontAlgn="b">
                        <a:buNone/>
                      </a:pPr>
                      <a:r>
                        <a:rPr lang="fr-FR" sz="1000" b="0" i="0" u="none" strike="noStrike">
                          <a:solidFill>
                            <a:srgbClr val="000000"/>
                          </a:solidFill>
                          <a:effectLst/>
                          <a:latin typeface="Aptos Narrow" panose="020B0004020202020204" pitchFamily="34" charset="0"/>
                        </a:rPr>
                        <a:t>Premium Apartment</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23,3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6E082"/>
                    </a:solidFill>
                  </a:tcPr>
                </a:tc>
                <a:tc>
                  <a:txBody>
                    <a:bodyPr/>
                    <a:lstStyle/>
                    <a:p>
                      <a:pPr algn="r" fontAlgn="b">
                        <a:buNone/>
                      </a:pPr>
                      <a:r>
                        <a:rPr lang="fr-FR" sz="1000" b="0" i="0" u="none" strike="noStrike">
                          <a:solidFill>
                            <a:srgbClr val="000000"/>
                          </a:solidFill>
                          <a:effectLst/>
                          <a:latin typeface="Aptos Narrow" panose="020B0004020202020204" pitchFamily="34" charset="0"/>
                        </a:rPr>
                        <a:t>13,2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07E"/>
                    </a:solidFill>
                  </a:tcPr>
                </a:tc>
                <a:tc>
                  <a:txBody>
                    <a:bodyPr/>
                    <a:lstStyle/>
                    <a:p>
                      <a:pPr algn="r" fontAlgn="b">
                        <a:buNone/>
                      </a:pPr>
                      <a:r>
                        <a:rPr lang="fr-FR" sz="1000" b="1" i="0" u="none" strike="noStrike">
                          <a:solidFill>
                            <a:srgbClr val="00B050"/>
                          </a:solidFill>
                          <a:effectLst/>
                          <a:latin typeface="Aptos Narrow" panose="020B0004020202020204" pitchFamily="34" charset="0"/>
                        </a:rPr>
                        <a:t>10,1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77426950"/>
                  </a:ext>
                </a:extLst>
              </a:tr>
              <a:tr h="126636">
                <a:tc>
                  <a:txBody>
                    <a:bodyPr/>
                    <a:lstStyle/>
                    <a:p>
                      <a:pPr algn="l" fontAlgn="b">
                        <a:buNone/>
                      </a:pPr>
                      <a:r>
                        <a:rPr lang="fr-FR" sz="1000" b="0" i="0" u="none" strike="noStrike">
                          <a:solidFill>
                            <a:srgbClr val="000000"/>
                          </a:solidFill>
                          <a:effectLst/>
                          <a:latin typeface="Aptos Narrow" panose="020B0004020202020204" pitchFamily="34" charset="0"/>
                        </a:rPr>
                        <a:t>Premium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20,6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8E583"/>
                    </a:solidFill>
                  </a:tcPr>
                </a:tc>
                <a:tc>
                  <a:txBody>
                    <a:bodyPr/>
                    <a:lstStyle/>
                    <a:p>
                      <a:pPr algn="r" fontAlgn="b">
                        <a:buNone/>
                      </a:pPr>
                      <a:r>
                        <a:rPr lang="fr-FR" sz="1000" b="0" i="0" u="none" strike="noStrike">
                          <a:solidFill>
                            <a:srgbClr val="000000"/>
                          </a:solidFill>
                          <a:effectLst/>
                          <a:latin typeface="Aptos Narrow" panose="020B0004020202020204" pitchFamily="34" charset="0"/>
                        </a:rPr>
                        <a:t>13,1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F7E"/>
                    </a:solidFill>
                  </a:tcPr>
                </a:tc>
                <a:tc>
                  <a:txBody>
                    <a:bodyPr/>
                    <a:lstStyle/>
                    <a:p>
                      <a:pPr algn="r" fontAlgn="b">
                        <a:buNone/>
                      </a:pPr>
                      <a:r>
                        <a:rPr lang="fr-FR" sz="1000" b="1" i="0" u="none" strike="noStrike">
                          <a:solidFill>
                            <a:srgbClr val="00B050"/>
                          </a:solidFill>
                          <a:effectLst/>
                          <a:latin typeface="Aptos Narrow" panose="020B0004020202020204" pitchFamily="34" charset="0"/>
                        </a:rPr>
                        <a:t>7,6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6549081"/>
                  </a:ext>
                </a:extLst>
              </a:tr>
              <a:tr h="126636">
                <a:tc>
                  <a:txBody>
                    <a:bodyPr/>
                    <a:lstStyle/>
                    <a:p>
                      <a:pPr algn="l" fontAlgn="b">
                        <a:buNone/>
                      </a:pPr>
                      <a:r>
                        <a:rPr lang="fr-FR" sz="1000" b="0" i="0" u="none" strike="noStrike" err="1">
                          <a:solidFill>
                            <a:srgbClr val="000000"/>
                          </a:solidFill>
                          <a:effectLst/>
                          <a:latin typeface="Aptos Narrow" panose="020B0004020202020204" pitchFamily="34" charset="0"/>
                        </a:rPr>
                        <a:t>Comfort</a:t>
                      </a:r>
                      <a:r>
                        <a:rPr lang="fr-FR" sz="1000" b="0" i="0" u="none" strike="noStrike">
                          <a:solidFill>
                            <a:srgbClr val="000000"/>
                          </a:solidFill>
                          <a:effectLst/>
                          <a:latin typeface="Aptos Narrow" panose="020B0004020202020204" pitchFamily="34" charset="0"/>
                        </a:rPr>
                        <a:t> Kids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18,5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6E984"/>
                    </a:solidFill>
                  </a:tcPr>
                </a:tc>
                <a:tc>
                  <a:txBody>
                    <a:bodyPr/>
                    <a:lstStyle/>
                    <a:p>
                      <a:pPr algn="r" fontAlgn="b">
                        <a:buNone/>
                      </a:pPr>
                      <a:r>
                        <a:rPr lang="fr-FR" sz="1000" b="0" i="0" u="none" strike="noStrike">
                          <a:solidFill>
                            <a:srgbClr val="000000"/>
                          </a:solidFill>
                          <a:effectLst/>
                          <a:latin typeface="Aptos Narrow" panose="020B0004020202020204" pitchFamily="34" charset="0"/>
                        </a:rPr>
                        <a:t>4,7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773"/>
                    </a:solidFill>
                  </a:tcPr>
                </a:tc>
                <a:tc>
                  <a:txBody>
                    <a:bodyPr/>
                    <a:lstStyle/>
                    <a:p>
                      <a:pPr algn="r" fontAlgn="b">
                        <a:buNone/>
                      </a:pPr>
                      <a:r>
                        <a:rPr lang="fr-FR" sz="1000" b="1" i="0" u="none" strike="noStrike">
                          <a:solidFill>
                            <a:srgbClr val="00B050"/>
                          </a:solidFill>
                          <a:effectLst/>
                          <a:latin typeface="Aptos Narrow" panose="020B0004020202020204" pitchFamily="34" charset="0"/>
                        </a:rPr>
                        <a:t>13,8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56813713"/>
                  </a:ext>
                </a:extLst>
              </a:tr>
              <a:tr h="126636">
                <a:tc>
                  <a:txBody>
                    <a:bodyPr/>
                    <a:lstStyle/>
                    <a:p>
                      <a:pPr algn="l" fontAlgn="b">
                        <a:buNone/>
                      </a:pPr>
                      <a:r>
                        <a:rPr lang="fr-FR" sz="1000" b="1" i="0" u="none" strike="noStrike">
                          <a:solidFill>
                            <a:srgbClr val="000000"/>
                          </a:solidFill>
                          <a:effectLst/>
                          <a:latin typeface="Aptos Narrow" panose="020B0004020202020204" pitchFamily="34" charset="0"/>
                        </a:rPr>
                        <a:t>Total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18,1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EA84"/>
                    </a:solidFill>
                  </a:tcPr>
                </a:tc>
                <a:tc>
                  <a:txBody>
                    <a:bodyPr/>
                    <a:lstStyle/>
                    <a:p>
                      <a:pPr algn="r" fontAlgn="b">
                        <a:buNone/>
                      </a:pPr>
                      <a:r>
                        <a:rPr lang="fr-FR" sz="1000" b="1" i="0" u="none" strike="noStrike">
                          <a:solidFill>
                            <a:srgbClr val="000000"/>
                          </a:solidFill>
                          <a:effectLst/>
                          <a:latin typeface="Aptos Narrow" panose="020B0004020202020204" pitchFamily="34" charset="0"/>
                        </a:rPr>
                        <a:t>11,3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37C"/>
                    </a:solidFill>
                  </a:tcPr>
                </a:tc>
                <a:tc>
                  <a:txBody>
                    <a:bodyPr/>
                    <a:lstStyle/>
                    <a:p>
                      <a:pPr algn="r" fontAlgn="b">
                        <a:buNone/>
                      </a:pPr>
                      <a:r>
                        <a:rPr lang="fr-FR" sz="1000" b="1" i="0" u="none" strike="noStrike">
                          <a:solidFill>
                            <a:srgbClr val="00B050"/>
                          </a:solidFill>
                          <a:effectLst/>
                          <a:latin typeface="Aptos Narrow" panose="020B0004020202020204" pitchFamily="34" charset="0"/>
                        </a:rPr>
                        <a:t>6,8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07236775"/>
                  </a:ext>
                </a:extLst>
              </a:tr>
              <a:tr h="126636">
                <a:tc>
                  <a:txBody>
                    <a:bodyPr/>
                    <a:lstStyle/>
                    <a:p>
                      <a:pPr algn="l" fontAlgn="b">
                        <a:buNone/>
                      </a:pPr>
                      <a:r>
                        <a:rPr lang="fr-FR" sz="1000" b="0" i="0" u="none" strike="noStrike">
                          <a:solidFill>
                            <a:srgbClr val="000000"/>
                          </a:solidFill>
                          <a:effectLst/>
                          <a:latin typeface="Aptos Narrow" panose="020B0004020202020204" pitchFamily="34" charset="0"/>
                        </a:rPr>
                        <a:t>Waterfront Suite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18,0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EA84"/>
                    </a:solidFill>
                  </a:tcPr>
                </a:tc>
                <a:tc>
                  <a:txBody>
                    <a:bodyPr/>
                    <a:lstStyle/>
                    <a:p>
                      <a:pPr algn="r" fontAlgn="b">
                        <a:buNone/>
                      </a:pPr>
                      <a:r>
                        <a:rPr lang="fr-FR" sz="1000" b="0" i="0" u="none" strike="noStrike">
                          <a:solidFill>
                            <a:srgbClr val="000000"/>
                          </a:solidFill>
                          <a:effectLst/>
                          <a:latin typeface="Aptos Narrow" panose="020B0004020202020204" pitchFamily="34" charset="0"/>
                        </a:rPr>
                        <a:t>12,2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A7D"/>
                    </a:solidFill>
                  </a:tcPr>
                </a:tc>
                <a:tc>
                  <a:txBody>
                    <a:bodyPr/>
                    <a:lstStyle/>
                    <a:p>
                      <a:pPr algn="r" fontAlgn="b">
                        <a:buNone/>
                      </a:pPr>
                      <a:r>
                        <a:rPr lang="fr-FR" sz="1000" b="1" i="0" u="none" strike="noStrike">
                          <a:solidFill>
                            <a:srgbClr val="00B050"/>
                          </a:solidFill>
                          <a:effectLst/>
                          <a:latin typeface="Aptos Narrow" panose="020B0004020202020204" pitchFamily="34" charset="0"/>
                        </a:rPr>
                        <a:t>5,7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21153260"/>
                  </a:ext>
                </a:extLst>
              </a:tr>
              <a:tr h="126636">
                <a:tc>
                  <a:txBody>
                    <a:bodyPr/>
                    <a:lstStyle/>
                    <a:p>
                      <a:pPr algn="l" fontAlgn="b">
                        <a:buNone/>
                      </a:pPr>
                      <a:r>
                        <a:rPr lang="fr-FR" sz="1000" b="0" i="0" u="none" strike="noStrike">
                          <a:solidFill>
                            <a:srgbClr val="000000"/>
                          </a:solidFill>
                          <a:effectLst/>
                          <a:latin typeface="Aptos Narrow" panose="020B0004020202020204" pitchFamily="34" charset="0"/>
                        </a:rPr>
                        <a:t>Eden VIP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17,4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EB84"/>
                    </a:solidFill>
                  </a:tcPr>
                </a:tc>
                <a:tc>
                  <a:txBody>
                    <a:bodyPr/>
                    <a:lstStyle/>
                    <a:p>
                      <a:pPr algn="r" fontAlgn="b">
                        <a:buNone/>
                      </a:pPr>
                      <a:r>
                        <a:rPr lang="fr-FR" sz="1000" b="0" i="0" u="none" strike="noStrike">
                          <a:solidFill>
                            <a:srgbClr val="000000"/>
                          </a:solidFill>
                          <a:effectLst/>
                          <a:latin typeface="Aptos Narrow" panose="020B0004020202020204" pitchFamily="34" charset="0"/>
                        </a:rPr>
                        <a:t>9,5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87A"/>
                    </a:solidFill>
                  </a:tcPr>
                </a:tc>
                <a:tc>
                  <a:txBody>
                    <a:bodyPr/>
                    <a:lstStyle/>
                    <a:p>
                      <a:pPr algn="r" fontAlgn="b">
                        <a:buNone/>
                      </a:pPr>
                      <a:r>
                        <a:rPr lang="fr-FR" sz="1000" b="1" i="0" u="none" strike="noStrike">
                          <a:solidFill>
                            <a:srgbClr val="00B050"/>
                          </a:solidFill>
                          <a:effectLst/>
                          <a:latin typeface="Aptos Narrow" panose="020B0004020202020204" pitchFamily="34" charset="0"/>
                        </a:rPr>
                        <a:t>7,9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74584183"/>
                  </a:ext>
                </a:extLst>
              </a:tr>
              <a:tr h="126636">
                <a:tc>
                  <a:txBody>
                    <a:bodyPr/>
                    <a:lstStyle/>
                    <a:p>
                      <a:pPr algn="l" fontAlgn="b">
                        <a:buNone/>
                      </a:pPr>
                      <a:r>
                        <a:rPr lang="fr-FR" sz="1000" b="0" i="0" u="none" strike="noStrike">
                          <a:solidFill>
                            <a:srgbClr val="000000"/>
                          </a:solidFill>
                          <a:effectLst/>
                          <a:latin typeface="Aptos Narrow" panose="020B0004020202020204" pitchFamily="34" charset="0"/>
                        </a:rPr>
                        <a:t>VIP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16,5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783"/>
                    </a:solidFill>
                  </a:tcPr>
                </a:tc>
                <a:tc>
                  <a:txBody>
                    <a:bodyPr/>
                    <a:lstStyle/>
                    <a:p>
                      <a:pPr algn="r" fontAlgn="b">
                        <a:buNone/>
                      </a:pPr>
                      <a:r>
                        <a:rPr lang="fr-FR" sz="1000" b="0" i="0" u="none" strike="noStrike">
                          <a:solidFill>
                            <a:srgbClr val="000000"/>
                          </a:solidFill>
                          <a:effectLst/>
                          <a:latin typeface="Aptos Narrow" panose="020B0004020202020204" pitchFamily="34" charset="0"/>
                        </a:rPr>
                        <a:t>10,2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C7B"/>
                    </a:solidFill>
                  </a:tcPr>
                </a:tc>
                <a:tc>
                  <a:txBody>
                    <a:bodyPr/>
                    <a:lstStyle/>
                    <a:p>
                      <a:pPr algn="r" fontAlgn="b">
                        <a:buNone/>
                      </a:pPr>
                      <a:r>
                        <a:rPr lang="fr-FR" sz="1000" b="1" i="0" u="none" strike="noStrike">
                          <a:solidFill>
                            <a:srgbClr val="00B050"/>
                          </a:solidFill>
                          <a:effectLst/>
                          <a:latin typeface="Aptos Narrow" panose="020B0004020202020204" pitchFamily="34" charset="0"/>
                        </a:rPr>
                        <a:t>6,3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73699301"/>
                  </a:ext>
                </a:extLst>
              </a:tr>
              <a:tr h="126636">
                <a:tc>
                  <a:txBody>
                    <a:bodyPr/>
                    <a:lstStyle/>
                    <a:p>
                      <a:pPr algn="l" fontAlgn="b">
                        <a:buNone/>
                      </a:pPr>
                      <a:r>
                        <a:rPr lang="fr-FR" sz="1000" b="0" i="0" u="none" strike="noStrike">
                          <a:solidFill>
                            <a:srgbClr val="000000"/>
                          </a:solidFill>
                          <a:effectLst/>
                          <a:latin typeface="Aptos Narrow" panose="020B0004020202020204" pitchFamily="34" charset="0"/>
                        </a:rPr>
                        <a:t>Comfort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14,5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980"/>
                    </a:solidFill>
                  </a:tcPr>
                </a:tc>
                <a:tc>
                  <a:txBody>
                    <a:bodyPr/>
                    <a:lstStyle/>
                    <a:p>
                      <a:pPr algn="r" fontAlgn="b">
                        <a:buNone/>
                      </a:pPr>
                      <a:r>
                        <a:rPr lang="fr-FR" sz="1000" b="0" i="0" u="none" strike="noStrike">
                          <a:solidFill>
                            <a:srgbClr val="000000"/>
                          </a:solidFill>
                          <a:effectLst/>
                          <a:latin typeface="Aptos Narrow" panose="020B0004020202020204" pitchFamily="34" charset="0"/>
                        </a:rPr>
                        <a:t>8,7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B279"/>
                    </a:solidFill>
                  </a:tcPr>
                </a:tc>
                <a:tc>
                  <a:txBody>
                    <a:bodyPr/>
                    <a:lstStyle/>
                    <a:p>
                      <a:pPr algn="r" fontAlgn="b">
                        <a:buNone/>
                      </a:pPr>
                      <a:r>
                        <a:rPr lang="fr-FR" sz="1000" b="1" i="0" u="none" strike="noStrike">
                          <a:solidFill>
                            <a:srgbClr val="00B050"/>
                          </a:solidFill>
                          <a:effectLst/>
                          <a:latin typeface="Aptos Narrow" panose="020B0004020202020204" pitchFamily="34" charset="0"/>
                        </a:rPr>
                        <a:t>5,9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43921964"/>
                  </a:ext>
                </a:extLst>
              </a:tr>
              <a:tr h="126636">
                <a:tc>
                  <a:txBody>
                    <a:bodyPr/>
                    <a:lstStyle/>
                    <a:p>
                      <a:pPr algn="l" fontAlgn="b">
                        <a:buNone/>
                      </a:pPr>
                      <a:r>
                        <a:rPr lang="fr-FR" sz="1000" b="0" i="0" u="none" strike="noStrike">
                          <a:solidFill>
                            <a:srgbClr val="000000"/>
                          </a:solidFill>
                          <a:effectLst/>
                          <a:latin typeface="Aptos Narrow" panose="020B0004020202020204" pitchFamily="34" charset="0"/>
                        </a:rPr>
                        <a:t>Kids cottage, new generation</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14,5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980"/>
                    </a:solidFill>
                  </a:tcPr>
                </a:tc>
                <a:tc>
                  <a:txBody>
                    <a:bodyPr/>
                    <a:lstStyle/>
                    <a:p>
                      <a:pPr algn="r" fontAlgn="b">
                        <a:buNone/>
                      </a:pPr>
                      <a:r>
                        <a:rPr lang="fr-FR" sz="1000" b="0" i="0" u="none" strike="noStrike">
                          <a:solidFill>
                            <a:srgbClr val="000000"/>
                          </a:solidFill>
                          <a:effectLst/>
                          <a:latin typeface="Aptos Narrow" panose="020B0004020202020204" pitchFamily="34" charset="0"/>
                        </a:rPr>
                        <a:t>7,0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676"/>
                    </a:solidFill>
                  </a:tcPr>
                </a:tc>
                <a:tc>
                  <a:txBody>
                    <a:bodyPr/>
                    <a:lstStyle/>
                    <a:p>
                      <a:pPr algn="r" fontAlgn="b">
                        <a:buNone/>
                      </a:pPr>
                      <a:r>
                        <a:rPr lang="fr-FR" sz="1000" b="1" i="0" u="none" strike="noStrike">
                          <a:solidFill>
                            <a:srgbClr val="00B050"/>
                          </a:solidFill>
                          <a:effectLst/>
                          <a:latin typeface="Aptos Narrow" panose="020B0004020202020204" pitchFamily="34" charset="0"/>
                        </a:rPr>
                        <a:t>7,5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7770947"/>
                  </a:ext>
                </a:extLst>
              </a:tr>
              <a:tr h="126636">
                <a:tc>
                  <a:txBody>
                    <a:bodyPr/>
                    <a:lstStyle/>
                    <a:p>
                      <a:pPr algn="l" fontAlgn="b">
                        <a:buNone/>
                      </a:pPr>
                      <a:r>
                        <a:rPr lang="fr-FR" sz="1000" b="0" i="0" u="none" strike="noStrike">
                          <a:solidFill>
                            <a:srgbClr val="000000"/>
                          </a:solidFill>
                          <a:effectLst/>
                          <a:latin typeface="Aptos Narrow" panose="020B0004020202020204" pitchFamily="34" charset="0"/>
                        </a:rPr>
                        <a:t>Premium cottage Wheelchair</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6,0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F75"/>
                    </a:solidFill>
                  </a:tcPr>
                </a:tc>
                <a:tc>
                  <a:txBody>
                    <a:bodyPr/>
                    <a:lstStyle/>
                    <a:p>
                      <a:pPr algn="r" fontAlgn="b">
                        <a:buNone/>
                      </a:pPr>
                      <a:r>
                        <a:rPr lang="fr-FR" sz="1000" b="0" i="0" u="none" strike="noStrike">
                          <a:solidFill>
                            <a:srgbClr val="000000"/>
                          </a:solidFill>
                          <a:effectLst/>
                          <a:latin typeface="Aptos Narrow" panose="020B0004020202020204" pitchFamily="34" charset="0"/>
                        </a:rPr>
                        <a:t>-2,1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96B"/>
                    </a:solidFill>
                  </a:tcPr>
                </a:tc>
                <a:tc>
                  <a:txBody>
                    <a:bodyPr/>
                    <a:lstStyle/>
                    <a:p>
                      <a:pPr algn="r" fontAlgn="b">
                        <a:buNone/>
                      </a:pPr>
                      <a:r>
                        <a:rPr lang="fr-FR" sz="1000" b="1" i="0" u="none" strike="noStrike">
                          <a:solidFill>
                            <a:srgbClr val="00B050"/>
                          </a:solidFill>
                          <a:effectLst/>
                          <a:latin typeface="Aptos Narrow" panose="020B0004020202020204" pitchFamily="34" charset="0"/>
                        </a:rPr>
                        <a:t>8,1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52815242"/>
                  </a:ext>
                </a:extLst>
              </a:tr>
            </a:tbl>
          </a:graphicData>
        </a:graphic>
      </p:graphicFrame>
      <p:graphicFrame>
        <p:nvGraphicFramePr>
          <p:cNvPr id="16" name="Table 15">
            <a:extLst>
              <a:ext uri="{FF2B5EF4-FFF2-40B4-BE49-F238E27FC236}">
                <a16:creationId xmlns:a16="http://schemas.microsoft.com/office/drawing/2014/main" id="{514100EF-B7D7-5956-8B60-51C6109A0285}"/>
              </a:ext>
            </a:extLst>
          </p:cNvPr>
          <p:cNvGraphicFramePr>
            <a:graphicFrameLocks noGrp="1"/>
          </p:cNvGraphicFramePr>
          <p:nvPr/>
        </p:nvGraphicFramePr>
        <p:xfrm>
          <a:off x="115048" y="2861744"/>
          <a:ext cx="2614838" cy="3394888"/>
        </p:xfrm>
        <a:graphic>
          <a:graphicData uri="http://schemas.openxmlformats.org/drawingml/2006/table">
            <a:tbl>
              <a:tblPr/>
              <a:tblGrid>
                <a:gridCol w="1359140">
                  <a:extLst>
                    <a:ext uri="{9D8B030D-6E8A-4147-A177-3AD203B41FA5}">
                      <a16:colId xmlns:a16="http://schemas.microsoft.com/office/drawing/2014/main" val="3732467734"/>
                    </a:ext>
                  </a:extLst>
                </a:gridCol>
                <a:gridCol w="418566">
                  <a:extLst>
                    <a:ext uri="{9D8B030D-6E8A-4147-A177-3AD203B41FA5}">
                      <a16:colId xmlns:a16="http://schemas.microsoft.com/office/drawing/2014/main" val="3257181578"/>
                    </a:ext>
                  </a:extLst>
                </a:gridCol>
                <a:gridCol w="418566">
                  <a:extLst>
                    <a:ext uri="{9D8B030D-6E8A-4147-A177-3AD203B41FA5}">
                      <a16:colId xmlns:a16="http://schemas.microsoft.com/office/drawing/2014/main" val="1958901402"/>
                    </a:ext>
                  </a:extLst>
                </a:gridCol>
                <a:gridCol w="418566">
                  <a:extLst>
                    <a:ext uri="{9D8B030D-6E8A-4147-A177-3AD203B41FA5}">
                      <a16:colId xmlns:a16="http://schemas.microsoft.com/office/drawing/2014/main" val="4148117449"/>
                    </a:ext>
                  </a:extLst>
                </a:gridCol>
              </a:tblGrid>
              <a:tr h="115947">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76774209"/>
                  </a:ext>
                </a:extLst>
              </a:tr>
              <a:tr h="115947">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18,1</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1E784"/>
                    </a:solidFill>
                  </a:tcPr>
                </a:tc>
                <a:tc>
                  <a:txBody>
                    <a:bodyPr/>
                    <a:lstStyle/>
                    <a:p>
                      <a:pPr algn="r" fontAlgn="b">
                        <a:buNone/>
                      </a:pPr>
                      <a:r>
                        <a:rPr lang="fr-FR" sz="900" b="0" i="0" u="none" strike="noStrike">
                          <a:solidFill>
                            <a:srgbClr val="000000"/>
                          </a:solidFill>
                          <a:effectLst/>
                          <a:latin typeface="Aptos Narrow" panose="020B0004020202020204" pitchFamily="34" charset="0"/>
                        </a:rPr>
                        <a:t>11,3</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780"/>
                    </a:solidFill>
                  </a:tcPr>
                </a:tc>
                <a:tc>
                  <a:txBody>
                    <a:bodyPr/>
                    <a:lstStyle/>
                    <a:p>
                      <a:pPr algn="r" fontAlgn="b">
                        <a:buNone/>
                      </a:pPr>
                      <a:r>
                        <a:rPr lang="fr-FR" sz="900" b="0" i="0" u="none" strike="noStrike">
                          <a:solidFill>
                            <a:srgbClr val="00B050"/>
                          </a:solidFill>
                          <a:effectLst/>
                          <a:latin typeface="Aptos Narrow" panose="020B0004020202020204" pitchFamily="34" charset="0"/>
                        </a:rPr>
                        <a:t>6,8</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47011108"/>
                  </a:ext>
                </a:extLst>
              </a:tr>
              <a:tr h="115947">
                <a:tc>
                  <a:txBody>
                    <a:bodyPr/>
                    <a:lstStyle/>
                    <a:p>
                      <a:pPr algn="l" fontAlgn="b">
                        <a:buNone/>
                      </a:pPr>
                      <a:r>
                        <a:rPr lang="fr-FR" sz="900" b="1" i="0" u="none" strike="noStrike">
                          <a:solidFill>
                            <a:srgbClr val="000000"/>
                          </a:solidFill>
                          <a:effectLst/>
                          <a:latin typeface="Aptos Narrow" panose="020B0004020202020204" pitchFamily="34" charset="0"/>
                        </a:rPr>
                        <a:t>De Eemhof</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13,3</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182"/>
                    </a:solidFill>
                  </a:tcPr>
                </a:tc>
                <a:tc>
                  <a:txBody>
                    <a:bodyPr/>
                    <a:lstStyle/>
                    <a:p>
                      <a:pPr algn="r" fontAlgn="b">
                        <a:buNone/>
                      </a:pPr>
                      <a:r>
                        <a:rPr lang="fr-FR" sz="900" b="1" i="0" u="none" strike="noStrike">
                          <a:solidFill>
                            <a:srgbClr val="000000"/>
                          </a:solidFill>
                          <a:effectLst/>
                          <a:latin typeface="Aptos Narrow" panose="020B0004020202020204" pitchFamily="34" charset="0"/>
                        </a:rPr>
                        <a:t>6,5</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27C"/>
                    </a:solidFill>
                  </a:tcPr>
                </a:tc>
                <a:tc>
                  <a:txBody>
                    <a:bodyPr/>
                    <a:lstStyle/>
                    <a:p>
                      <a:pPr algn="r" fontAlgn="b">
                        <a:buNone/>
                      </a:pPr>
                      <a:r>
                        <a:rPr lang="fr-FR" sz="900" b="1" i="0" u="none" strike="noStrike">
                          <a:solidFill>
                            <a:srgbClr val="00B050"/>
                          </a:solidFill>
                          <a:effectLst/>
                          <a:latin typeface="Aptos Narrow" panose="020B0004020202020204" pitchFamily="34" charset="0"/>
                        </a:rPr>
                        <a:t>6,8</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56446533"/>
                  </a:ext>
                </a:extLst>
              </a:tr>
              <a:tr h="115947">
                <a:tc>
                  <a:txBody>
                    <a:bodyPr/>
                    <a:lstStyle/>
                    <a:p>
                      <a:pPr algn="l" fontAlgn="b">
                        <a:buNone/>
                      </a:pPr>
                      <a:r>
                        <a:rPr lang="fr-FR" sz="900" b="0" i="0" u="none" strike="noStrike">
                          <a:solidFill>
                            <a:srgbClr val="000000"/>
                          </a:solidFill>
                          <a:effectLst/>
                          <a:latin typeface="Aptos Narrow" panose="020B0004020202020204" pitchFamily="34" charset="0"/>
                        </a:rPr>
                        <a:t> Boathouse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32,2</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D07F"/>
                    </a:solidFill>
                  </a:tcPr>
                </a:tc>
                <a:tc>
                  <a:txBody>
                    <a:bodyPr/>
                    <a:lstStyle/>
                    <a:p>
                      <a:pPr algn="r" fontAlgn="b">
                        <a:buNone/>
                      </a:pPr>
                      <a:r>
                        <a:rPr lang="fr-FR" sz="900" b="0" i="0" u="none" strike="noStrike">
                          <a:solidFill>
                            <a:srgbClr val="000000"/>
                          </a:solidFill>
                          <a:effectLst/>
                          <a:latin typeface="Aptos Narrow" panose="020B0004020202020204" pitchFamily="34" charset="0"/>
                        </a:rPr>
                        <a:t>14,1</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482"/>
                    </a:solidFill>
                  </a:tcPr>
                </a:tc>
                <a:tc>
                  <a:txBody>
                    <a:bodyPr/>
                    <a:lstStyle/>
                    <a:p>
                      <a:pPr algn="r" fontAlgn="b">
                        <a:buNone/>
                      </a:pPr>
                      <a:r>
                        <a:rPr lang="fr-FR" sz="900" b="0" i="0" u="none" strike="noStrike">
                          <a:solidFill>
                            <a:srgbClr val="00B050"/>
                          </a:solidFill>
                          <a:effectLst/>
                          <a:latin typeface="Aptos Narrow" panose="020B0004020202020204" pitchFamily="34" charset="0"/>
                        </a:rPr>
                        <a:t>18,1</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07130317"/>
                  </a:ext>
                </a:extLst>
              </a:tr>
              <a:tr h="115947">
                <a:tc>
                  <a:txBody>
                    <a:bodyPr/>
                    <a:lstStyle/>
                    <a:p>
                      <a:pPr algn="l" fontAlgn="b">
                        <a:buNone/>
                      </a:pPr>
                      <a:r>
                        <a:rPr lang="fr-FR" sz="900" b="0" i="0" u="none" strike="noStrike">
                          <a:solidFill>
                            <a:srgbClr val="000000"/>
                          </a:solidFill>
                          <a:effectLst/>
                          <a:latin typeface="Aptos Narrow" panose="020B0004020202020204" pitchFamily="34" charset="0"/>
                        </a:rPr>
                        <a:t> Comfort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13,5</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182"/>
                    </a:solidFill>
                  </a:tcPr>
                </a:tc>
                <a:tc>
                  <a:txBody>
                    <a:bodyPr/>
                    <a:lstStyle/>
                    <a:p>
                      <a:pPr algn="r" fontAlgn="b">
                        <a:buNone/>
                      </a:pPr>
                      <a:r>
                        <a:rPr lang="fr-FR" sz="900" b="0" i="0" u="none" strike="noStrike">
                          <a:solidFill>
                            <a:srgbClr val="000000"/>
                          </a:solidFill>
                          <a:effectLst/>
                          <a:latin typeface="Aptos Narrow" panose="020B0004020202020204" pitchFamily="34" charset="0"/>
                        </a:rPr>
                        <a:t>5,6</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E7B"/>
                    </a:solidFill>
                  </a:tcPr>
                </a:tc>
                <a:tc>
                  <a:txBody>
                    <a:bodyPr/>
                    <a:lstStyle/>
                    <a:p>
                      <a:pPr algn="r" fontAlgn="b">
                        <a:buNone/>
                      </a:pPr>
                      <a:r>
                        <a:rPr lang="fr-FR" sz="900" b="0" i="0" u="none" strike="noStrike">
                          <a:solidFill>
                            <a:srgbClr val="00B050"/>
                          </a:solidFill>
                          <a:effectLst/>
                          <a:latin typeface="Aptos Narrow" panose="020B0004020202020204" pitchFamily="34" charset="0"/>
                        </a:rPr>
                        <a:t>7,9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96628754"/>
                  </a:ext>
                </a:extLst>
              </a:tr>
              <a:tr h="150417">
                <a:tc>
                  <a:txBody>
                    <a:bodyPr/>
                    <a:lstStyle/>
                    <a:p>
                      <a:pPr algn="l" fontAlgn="b">
                        <a:buNone/>
                      </a:pPr>
                      <a:r>
                        <a:rPr lang="fr-FR" sz="900" b="0" i="0" u="none" strike="noStrike">
                          <a:solidFill>
                            <a:srgbClr val="000000"/>
                          </a:solidFill>
                          <a:effectLst/>
                          <a:latin typeface="Aptos Narrow" panose="020B0004020202020204" pitchFamily="34" charset="0"/>
                        </a:rPr>
                        <a:t> Kids cottage  new generation</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6,8</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37C"/>
                    </a:solidFill>
                  </a:tcPr>
                </a:tc>
                <a:tc>
                  <a:txBody>
                    <a:bodyPr/>
                    <a:lstStyle/>
                    <a:p>
                      <a:pPr algn="r" fontAlgn="b">
                        <a:buNone/>
                      </a:pPr>
                      <a:r>
                        <a:rPr lang="fr-FR" sz="900" b="0" i="0" u="none" strike="noStrike">
                          <a:solidFill>
                            <a:srgbClr val="000000"/>
                          </a:solidFill>
                          <a:effectLst/>
                          <a:latin typeface="Aptos Narrow" panose="020B0004020202020204" pitchFamily="34" charset="0"/>
                        </a:rPr>
                        <a:t>-9,1</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7B6E"/>
                    </a:solidFill>
                  </a:tcPr>
                </a:tc>
                <a:tc>
                  <a:txBody>
                    <a:bodyPr/>
                    <a:lstStyle/>
                    <a:p>
                      <a:pPr algn="r" fontAlgn="b">
                        <a:buNone/>
                      </a:pPr>
                      <a:r>
                        <a:rPr lang="fr-FR" sz="900" b="0" i="0" u="none" strike="noStrike">
                          <a:solidFill>
                            <a:srgbClr val="00B050"/>
                          </a:solidFill>
                          <a:effectLst/>
                          <a:latin typeface="Aptos Narrow" panose="020B0004020202020204" pitchFamily="34" charset="0"/>
                        </a:rPr>
                        <a:t>15,9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74187799"/>
                  </a:ext>
                </a:extLst>
              </a:tr>
              <a:tr h="115947">
                <a:tc>
                  <a:txBody>
                    <a:bodyPr/>
                    <a:lstStyle/>
                    <a:p>
                      <a:pPr algn="l" fontAlgn="b">
                        <a:buNone/>
                      </a:pPr>
                      <a:r>
                        <a:rPr lang="fr-FR" sz="900" b="0" i="0" u="none" strike="noStrike">
                          <a:solidFill>
                            <a:srgbClr val="000000"/>
                          </a:solidFill>
                          <a:effectLst/>
                          <a:latin typeface="Aptos Narrow" panose="020B0004020202020204" pitchFamily="34" charset="0"/>
                        </a:rPr>
                        <a:t> Premium Hotel</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23,4</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2DE82"/>
                    </a:solidFill>
                  </a:tcPr>
                </a:tc>
                <a:tc>
                  <a:txBody>
                    <a:bodyPr/>
                    <a:lstStyle/>
                    <a:p>
                      <a:pPr algn="r" fontAlgn="b">
                        <a:buNone/>
                      </a:pPr>
                      <a:r>
                        <a:rPr lang="fr-FR" sz="900" b="0" i="0" u="none" strike="noStrike">
                          <a:solidFill>
                            <a:srgbClr val="000000"/>
                          </a:solidFill>
                          <a:effectLst/>
                          <a:latin typeface="Aptos Narrow" panose="020B0004020202020204" pitchFamily="34" charset="0"/>
                        </a:rPr>
                        <a:t>21,5</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DE283"/>
                    </a:solidFill>
                  </a:tcPr>
                </a:tc>
                <a:tc>
                  <a:txBody>
                    <a:bodyPr/>
                    <a:lstStyle/>
                    <a:p>
                      <a:pPr algn="r" fontAlgn="b">
                        <a:buNone/>
                      </a:pPr>
                      <a:r>
                        <a:rPr lang="fr-FR" sz="900" b="0" i="0" u="none" strike="noStrike">
                          <a:solidFill>
                            <a:srgbClr val="00B050"/>
                          </a:solidFill>
                          <a:effectLst/>
                          <a:latin typeface="Aptos Narrow" panose="020B0004020202020204" pitchFamily="34" charset="0"/>
                        </a:rPr>
                        <a:t>1,9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7916770"/>
                  </a:ext>
                </a:extLst>
              </a:tr>
              <a:tr h="115947">
                <a:tc>
                  <a:txBody>
                    <a:bodyPr/>
                    <a:lstStyle/>
                    <a:p>
                      <a:pPr algn="l" fontAlgn="b">
                        <a:buNone/>
                      </a:pPr>
                      <a:r>
                        <a:rPr lang="fr-FR" sz="900" b="0" i="0" u="none" strike="noStrike">
                          <a:solidFill>
                            <a:srgbClr val="000000"/>
                          </a:solidFill>
                          <a:effectLst/>
                          <a:latin typeface="Aptos Narrow" panose="020B0004020202020204" pitchFamily="34" charset="0"/>
                        </a:rPr>
                        <a:t> Premium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12,2</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C81"/>
                    </a:solidFill>
                  </a:tcPr>
                </a:tc>
                <a:tc>
                  <a:txBody>
                    <a:bodyPr/>
                    <a:lstStyle/>
                    <a:p>
                      <a:pPr algn="r" fontAlgn="b">
                        <a:buNone/>
                      </a:pPr>
                      <a:r>
                        <a:rPr lang="fr-FR" sz="900" b="0" i="0" u="none" strike="noStrike">
                          <a:solidFill>
                            <a:srgbClr val="000000"/>
                          </a:solidFill>
                          <a:effectLst/>
                          <a:latin typeface="Aptos Narrow" panose="020B0004020202020204" pitchFamily="34" charset="0"/>
                        </a:rPr>
                        <a:t>2,9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B179"/>
                    </a:solidFill>
                  </a:tcPr>
                </a:tc>
                <a:tc>
                  <a:txBody>
                    <a:bodyPr/>
                    <a:lstStyle/>
                    <a:p>
                      <a:pPr algn="r" fontAlgn="b">
                        <a:buNone/>
                      </a:pPr>
                      <a:r>
                        <a:rPr lang="fr-FR" sz="900" b="0" i="0" u="none" strike="noStrike">
                          <a:solidFill>
                            <a:srgbClr val="00B050"/>
                          </a:solidFill>
                          <a:effectLst/>
                          <a:latin typeface="Aptos Narrow" panose="020B0004020202020204" pitchFamily="34" charset="0"/>
                        </a:rPr>
                        <a:t>9,4</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23483932"/>
                  </a:ext>
                </a:extLst>
              </a:tr>
              <a:tr h="150417">
                <a:tc>
                  <a:txBody>
                    <a:bodyPr/>
                    <a:lstStyle/>
                    <a:p>
                      <a:pPr algn="l" fontAlgn="b">
                        <a:buNone/>
                      </a:pPr>
                      <a:r>
                        <a:rPr lang="fr-FR" sz="900" b="0" i="0" u="none" strike="noStrike">
                          <a:solidFill>
                            <a:srgbClr val="000000"/>
                          </a:solidFill>
                          <a:effectLst/>
                          <a:latin typeface="Aptos Narrow" panose="020B0004020202020204" pitchFamily="34" charset="0"/>
                        </a:rPr>
                        <a:t> Premium cottage Wheelchair</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0,0</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476"/>
                    </a:solidFill>
                  </a:tcPr>
                </a:tc>
                <a:tc>
                  <a:txBody>
                    <a:bodyPr/>
                    <a:lstStyle/>
                    <a:p>
                      <a:pPr algn="r" fontAlgn="b">
                        <a:buNone/>
                      </a:pPr>
                      <a:r>
                        <a:rPr lang="fr-FR" sz="900" b="0" i="0" u="none" strike="noStrike">
                          <a:solidFill>
                            <a:srgbClr val="000000"/>
                          </a:solidFill>
                          <a:effectLst/>
                          <a:latin typeface="Aptos Narrow" panose="020B0004020202020204" pitchFamily="34" charset="0"/>
                        </a:rPr>
                        <a:t>3,8</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579"/>
                    </a:solidFill>
                  </a:tcPr>
                </a:tc>
                <a:tc>
                  <a:txBody>
                    <a:bodyPr/>
                    <a:lstStyle/>
                    <a:p>
                      <a:pPr algn="r" fontAlgn="b">
                        <a:buNone/>
                      </a:pPr>
                      <a:r>
                        <a:rPr lang="fr-FR" sz="900" b="0" i="0" u="none" strike="noStrike">
                          <a:solidFill>
                            <a:srgbClr val="FF0000"/>
                          </a:solidFill>
                          <a:effectLst/>
                          <a:latin typeface="Aptos Narrow" panose="020B0004020202020204" pitchFamily="34" charset="0"/>
                        </a:rPr>
                        <a:t>-3,8</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119965"/>
                  </a:ext>
                </a:extLst>
              </a:tr>
              <a:tr h="115947">
                <a:tc>
                  <a:txBody>
                    <a:bodyPr/>
                    <a:lstStyle/>
                    <a:p>
                      <a:pPr algn="l" fontAlgn="b">
                        <a:buNone/>
                      </a:pPr>
                      <a:r>
                        <a:rPr lang="fr-FR" sz="900" b="0" i="0" u="none" strike="noStrike">
                          <a:solidFill>
                            <a:srgbClr val="000000"/>
                          </a:solidFill>
                          <a:effectLst/>
                          <a:latin typeface="Aptos Narrow" panose="020B0004020202020204" pitchFamily="34" charset="0"/>
                        </a:rPr>
                        <a:t> VIP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8,9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D7E"/>
                    </a:solidFill>
                  </a:tcPr>
                </a:tc>
                <a:tc>
                  <a:txBody>
                    <a:bodyPr/>
                    <a:lstStyle/>
                    <a:p>
                      <a:pPr algn="r" fontAlgn="b">
                        <a:buNone/>
                      </a:pPr>
                      <a:r>
                        <a:rPr lang="fr-FR" sz="900" b="0" i="0" u="none" strike="noStrike">
                          <a:solidFill>
                            <a:srgbClr val="000000"/>
                          </a:solidFill>
                          <a:effectLst/>
                          <a:latin typeface="Aptos Narrow" panose="020B0004020202020204" pitchFamily="34" charset="0"/>
                        </a:rPr>
                        <a:t>5,5</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D7B"/>
                    </a:solidFill>
                  </a:tcPr>
                </a:tc>
                <a:tc>
                  <a:txBody>
                    <a:bodyPr/>
                    <a:lstStyle/>
                    <a:p>
                      <a:pPr algn="r" fontAlgn="b">
                        <a:buNone/>
                      </a:pPr>
                      <a:r>
                        <a:rPr lang="fr-FR" sz="900" b="0" i="0" u="none" strike="noStrike">
                          <a:solidFill>
                            <a:srgbClr val="00B050"/>
                          </a:solidFill>
                          <a:effectLst/>
                          <a:latin typeface="Aptos Narrow" panose="020B0004020202020204" pitchFamily="34" charset="0"/>
                        </a:rPr>
                        <a:t>3,3</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15709148"/>
                  </a:ext>
                </a:extLst>
              </a:tr>
              <a:tr h="115947">
                <a:tc>
                  <a:txBody>
                    <a:bodyPr/>
                    <a:lstStyle/>
                    <a:p>
                      <a:pPr algn="l" fontAlgn="b">
                        <a:buNone/>
                      </a:pPr>
                      <a:r>
                        <a:rPr lang="fr-FR" sz="900" b="0" i="0" u="none" strike="noStrike">
                          <a:solidFill>
                            <a:srgbClr val="000000"/>
                          </a:solidFill>
                          <a:effectLst/>
                          <a:latin typeface="Aptos Narrow" panose="020B0004020202020204" pitchFamily="34" charset="0"/>
                        </a:rPr>
                        <a:t> Waterfront Suite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18,0</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1E784"/>
                    </a:solidFill>
                  </a:tcPr>
                </a:tc>
                <a:tc>
                  <a:txBody>
                    <a:bodyPr/>
                    <a:lstStyle/>
                    <a:p>
                      <a:pPr algn="r" fontAlgn="b">
                        <a:buNone/>
                      </a:pPr>
                      <a:r>
                        <a:rPr lang="fr-FR" sz="900" b="0" i="0" u="none" strike="noStrike">
                          <a:solidFill>
                            <a:srgbClr val="000000"/>
                          </a:solidFill>
                          <a:effectLst/>
                          <a:latin typeface="Aptos Narrow" panose="020B0004020202020204" pitchFamily="34" charset="0"/>
                        </a:rPr>
                        <a:t>12,2</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C81"/>
                    </a:solidFill>
                  </a:tcPr>
                </a:tc>
                <a:tc>
                  <a:txBody>
                    <a:bodyPr/>
                    <a:lstStyle/>
                    <a:p>
                      <a:pPr algn="r" fontAlgn="b">
                        <a:buNone/>
                      </a:pPr>
                      <a:r>
                        <a:rPr lang="fr-FR" sz="900" b="0" i="0" u="none" strike="noStrike">
                          <a:solidFill>
                            <a:srgbClr val="00B050"/>
                          </a:solidFill>
                          <a:effectLst/>
                          <a:latin typeface="Aptos Narrow" panose="020B0004020202020204" pitchFamily="34" charset="0"/>
                        </a:rPr>
                        <a:t>5,7</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81652618"/>
                  </a:ext>
                </a:extLst>
              </a:tr>
              <a:tr h="115947">
                <a:tc>
                  <a:txBody>
                    <a:bodyPr/>
                    <a:lstStyle/>
                    <a:p>
                      <a:pPr algn="l" fontAlgn="b">
                        <a:buNone/>
                      </a:pPr>
                      <a:r>
                        <a:rPr lang="fr-FR" sz="900" b="1" i="0" u="none" strike="noStrike">
                          <a:solidFill>
                            <a:srgbClr val="000000"/>
                          </a:solidFill>
                          <a:effectLst/>
                          <a:latin typeface="Aptos Narrow" panose="020B0004020202020204" pitchFamily="34" charset="0"/>
                        </a:rPr>
                        <a:t>De Huttenheugte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19,6</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8E583"/>
                    </a:solidFill>
                  </a:tcPr>
                </a:tc>
                <a:tc>
                  <a:txBody>
                    <a:bodyPr/>
                    <a:lstStyle/>
                    <a:p>
                      <a:pPr algn="r" fontAlgn="b">
                        <a:buNone/>
                      </a:pPr>
                      <a:r>
                        <a:rPr lang="fr-FR" sz="900" b="1" i="0" u="none" strike="noStrike">
                          <a:solidFill>
                            <a:srgbClr val="000000"/>
                          </a:solidFill>
                          <a:effectLst/>
                          <a:latin typeface="Aptos Narrow" panose="020B0004020202020204" pitchFamily="34" charset="0"/>
                        </a:rPr>
                        <a:t>14,8</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883"/>
                    </a:solidFill>
                  </a:tcPr>
                </a:tc>
                <a:tc>
                  <a:txBody>
                    <a:bodyPr/>
                    <a:lstStyle/>
                    <a:p>
                      <a:pPr algn="r" fontAlgn="b">
                        <a:buNone/>
                      </a:pPr>
                      <a:r>
                        <a:rPr lang="fr-FR" sz="900" b="1" i="0" u="none" strike="noStrike">
                          <a:solidFill>
                            <a:srgbClr val="00B050"/>
                          </a:solidFill>
                          <a:effectLst/>
                          <a:latin typeface="Aptos Narrow" panose="020B0004020202020204" pitchFamily="34" charset="0"/>
                        </a:rPr>
                        <a:t>4,7</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09965104"/>
                  </a:ext>
                </a:extLst>
              </a:tr>
              <a:tr h="115947">
                <a:tc>
                  <a:txBody>
                    <a:bodyPr/>
                    <a:lstStyle/>
                    <a:p>
                      <a:pPr algn="l" fontAlgn="b">
                        <a:buNone/>
                      </a:pPr>
                      <a:r>
                        <a:rPr lang="fr-FR" sz="900" b="0" i="0" u="none" strike="noStrike">
                          <a:solidFill>
                            <a:srgbClr val="000000"/>
                          </a:solidFill>
                          <a:effectLst/>
                          <a:latin typeface="Aptos Narrow" panose="020B0004020202020204" pitchFamily="34" charset="0"/>
                        </a:rPr>
                        <a:t> Comfort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18,9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CE683"/>
                    </a:solidFill>
                  </a:tcPr>
                </a:tc>
                <a:tc>
                  <a:txBody>
                    <a:bodyPr/>
                    <a:lstStyle/>
                    <a:p>
                      <a:pPr algn="r" fontAlgn="b">
                        <a:buNone/>
                      </a:pPr>
                      <a:r>
                        <a:rPr lang="fr-FR" sz="900" b="0" i="0" u="none" strike="noStrike">
                          <a:solidFill>
                            <a:srgbClr val="000000"/>
                          </a:solidFill>
                          <a:effectLst/>
                          <a:latin typeface="Aptos Narrow" panose="020B0004020202020204" pitchFamily="34" charset="0"/>
                        </a:rPr>
                        <a:t>20,6</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2E383"/>
                    </a:solidFill>
                  </a:tcPr>
                </a:tc>
                <a:tc>
                  <a:txBody>
                    <a:bodyPr/>
                    <a:lstStyle/>
                    <a:p>
                      <a:pPr algn="r" fontAlgn="b">
                        <a:buNone/>
                      </a:pPr>
                      <a:r>
                        <a:rPr lang="fr-FR" sz="900" b="0" i="0" u="none" strike="noStrike">
                          <a:solidFill>
                            <a:srgbClr val="FF0000"/>
                          </a:solidFill>
                          <a:effectLst/>
                          <a:latin typeface="Aptos Narrow" panose="020B0004020202020204" pitchFamily="34" charset="0"/>
                        </a:rPr>
                        <a:t>-1,7</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43632594"/>
                  </a:ext>
                </a:extLst>
              </a:tr>
              <a:tr h="150417">
                <a:tc>
                  <a:txBody>
                    <a:bodyPr/>
                    <a:lstStyle/>
                    <a:p>
                      <a:pPr algn="l" fontAlgn="b">
                        <a:buNone/>
                      </a:pPr>
                      <a:r>
                        <a:rPr lang="fr-FR" sz="900" b="0" i="0" u="none" strike="noStrike">
                          <a:solidFill>
                            <a:srgbClr val="000000"/>
                          </a:solidFill>
                          <a:effectLst/>
                          <a:latin typeface="Aptos Narrow" panose="020B0004020202020204" pitchFamily="34" charset="0"/>
                        </a:rPr>
                        <a:t> Kids cottage  new generation</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12,9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F81"/>
                    </a:solidFill>
                  </a:tcPr>
                </a:tc>
                <a:tc>
                  <a:txBody>
                    <a:bodyPr/>
                    <a:lstStyle/>
                    <a:p>
                      <a:pPr algn="r" fontAlgn="b">
                        <a:buNone/>
                      </a:pPr>
                      <a:r>
                        <a:rPr lang="fr-FR" sz="900" b="0" i="0" u="none" strike="noStrike">
                          <a:solidFill>
                            <a:srgbClr val="000000"/>
                          </a:solidFill>
                          <a:effectLst/>
                          <a:latin typeface="Aptos Narrow" panose="020B0004020202020204" pitchFamily="34" charset="0"/>
                        </a:rPr>
                        <a:t>16,7</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EA84"/>
                    </a:solidFill>
                  </a:tcPr>
                </a:tc>
                <a:tc>
                  <a:txBody>
                    <a:bodyPr/>
                    <a:lstStyle/>
                    <a:p>
                      <a:pPr algn="r" fontAlgn="b">
                        <a:buNone/>
                      </a:pPr>
                      <a:r>
                        <a:rPr lang="fr-FR" sz="900" b="0" i="0" u="none" strike="noStrike">
                          <a:solidFill>
                            <a:srgbClr val="FF0000"/>
                          </a:solidFill>
                          <a:effectLst/>
                          <a:latin typeface="Aptos Narrow" panose="020B0004020202020204" pitchFamily="34" charset="0"/>
                        </a:rPr>
                        <a:t>-3,7</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28022628"/>
                  </a:ext>
                </a:extLst>
              </a:tr>
              <a:tr h="115947">
                <a:tc>
                  <a:txBody>
                    <a:bodyPr/>
                    <a:lstStyle/>
                    <a:p>
                      <a:pPr algn="l" fontAlgn="b">
                        <a:buNone/>
                      </a:pPr>
                      <a:r>
                        <a:rPr lang="fr-FR" sz="900" b="0" i="0" u="none" strike="noStrike">
                          <a:solidFill>
                            <a:srgbClr val="000000"/>
                          </a:solidFill>
                          <a:effectLst/>
                          <a:latin typeface="Aptos Narrow" panose="020B0004020202020204" pitchFamily="34" charset="0"/>
                        </a:rPr>
                        <a:t> Premium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20,6</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2E383"/>
                    </a:solidFill>
                  </a:tcPr>
                </a:tc>
                <a:tc>
                  <a:txBody>
                    <a:bodyPr/>
                    <a:lstStyle/>
                    <a:p>
                      <a:pPr algn="r" fontAlgn="b">
                        <a:buNone/>
                      </a:pPr>
                      <a:r>
                        <a:rPr lang="fr-FR" sz="900" b="0" i="0" u="none" strike="noStrike">
                          <a:solidFill>
                            <a:srgbClr val="000000"/>
                          </a:solidFill>
                          <a:effectLst/>
                          <a:latin typeface="Aptos Narrow" panose="020B0004020202020204" pitchFamily="34" charset="0"/>
                        </a:rPr>
                        <a:t>14,3</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582"/>
                    </a:solidFill>
                  </a:tcPr>
                </a:tc>
                <a:tc>
                  <a:txBody>
                    <a:bodyPr/>
                    <a:lstStyle/>
                    <a:p>
                      <a:pPr algn="r" fontAlgn="b">
                        <a:buNone/>
                      </a:pPr>
                      <a:r>
                        <a:rPr lang="fr-FR" sz="900" b="0" i="0" u="none" strike="noStrike">
                          <a:solidFill>
                            <a:srgbClr val="00B050"/>
                          </a:solidFill>
                          <a:effectLst/>
                          <a:latin typeface="Aptos Narrow" panose="020B0004020202020204" pitchFamily="34" charset="0"/>
                        </a:rPr>
                        <a:t>6,3</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78744899"/>
                  </a:ext>
                </a:extLst>
              </a:tr>
              <a:tr h="115947">
                <a:tc>
                  <a:txBody>
                    <a:bodyPr/>
                    <a:lstStyle/>
                    <a:p>
                      <a:pPr algn="l" fontAlgn="b">
                        <a:buNone/>
                      </a:pPr>
                      <a:r>
                        <a:rPr lang="fr-FR" sz="900" b="0" i="0" u="none" strike="noStrike">
                          <a:solidFill>
                            <a:srgbClr val="000000"/>
                          </a:solidFill>
                          <a:effectLst/>
                          <a:latin typeface="Aptos Narrow" panose="020B0004020202020204" pitchFamily="34" charset="0"/>
                        </a:rPr>
                        <a:t> VIP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18,2</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0E784"/>
                    </a:solidFill>
                  </a:tcPr>
                </a:tc>
                <a:tc>
                  <a:txBody>
                    <a:bodyPr/>
                    <a:lstStyle/>
                    <a:p>
                      <a:pPr algn="r" fontAlgn="b">
                        <a:buNone/>
                      </a:pPr>
                      <a:r>
                        <a:rPr lang="fr-FR" sz="900" b="0" i="0" u="none" strike="noStrike">
                          <a:solidFill>
                            <a:srgbClr val="000000"/>
                          </a:solidFill>
                          <a:effectLst/>
                          <a:latin typeface="Aptos Narrow" panose="020B0004020202020204" pitchFamily="34" charset="0"/>
                        </a:rPr>
                        <a:t>9,6</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07E"/>
                    </a:solidFill>
                  </a:tcPr>
                </a:tc>
                <a:tc>
                  <a:txBody>
                    <a:bodyPr/>
                    <a:lstStyle/>
                    <a:p>
                      <a:pPr algn="r" fontAlgn="b">
                        <a:buNone/>
                      </a:pPr>
                      <a:r>
                        <a:rPr lang="fr-FR" sz="900" b="0" i="0" u="none" strike="noStrike">
                          <a:solidFill>
                            <a:srgbClr val="00B050"/>
                          </a:solidFill>
                          <a:effectLst/>
                          <a:latin typeface="Aptos Narrow" panose="020B0004020202020204" pitchFamily="34" charset="0"/>
                        </a:rPr>
                        <a:t>8,6</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92602038"/>
                  </a:ext>
                </a:extLst>
              </a:tr>
              <a:tr h="115947">
                <a:tc>
                  <a:txBody>
                    <a:bodyPr/>
                    <a:lstStyle/>
                    <a:p>
                      <a:pPr algn="l" fontAlgn="b">
                        <a:buNone/>
                      </a:pPr>
                      <a:r>
                        <a:rPr lang="fr-FR" sz="900" b="1" i="0" u="none" strike="noStrike">
                          <a:solidFill>
                            <a:srgbClr val="000000"/>
                          </a:solidFill>
                          <a:effectLst/>
                          <a:latin typeface="Aptos Narrow" panose="020B0004020202020204" pitchFamily="34" charset="0"/>
                        </a:rPr>
                        <a:t>De Kempervennen</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22,7</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7E082"/>
                    </a:solidFill>
                  </a:tcPr>
                </a:tc>
                <a:tc>
                  <a:txBody>
                    <a:bodyPr/>
                    <a:lstStyle/>
                    <a:p>
                      <a:pPr algn="r" fontAlgn="b">
                        <a:buNone/>
                      </a:pPr>
                      <a:r>
                        <a:rPr lang="fr-FR" sz="900" b="1" i="0" u="none" strike="noStrike">
                          <a:solidFill>
                            <a:srgbClr val="000000"/>
                          </a:solidFill>
                          <a:effectLst/>
                          <a:latin typeface="Aptos Narrow" panose="020B0004020202020204" pitchFamily="34" charset="0"/>
                        </a:rPr>
                        <a:t>16,3</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EA84"/>
                    </a:solidFill>
                  </a:tcPr>
                </a:tc>
                <a:tc>
                  <a:txBody>
                    <a:bodyPr/>
                    <a:lstStyle/>
                    <a:p>
                      <a:pPr algn="r" fontAlgn="b">
                        <a:buNone/>
                      </a:pPr>
                      <a:r>
                        <a:rPr lang="fr-FR" sz="900" b="1" i="0" u="none" strike="noStrike">
                          <a:solidFill>
                            <a:srgbClr val="00B050"/>
                          </a:solidFill>
                          <a:effectLst/>
                          <a:latin typeface="Aptos Narrow" panose="020B0004020202020204" pitchFamily="34" charset="0"/>
                        </a:rPr>
                        <a:t>6,4</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90850235"/>
                  </a:ext>
                </a:extLst>
              </a:tr>
              <a:tr h="115947">
                <a:tc>
                  <a:txBody>
                    <a:bodyPr/>
                    <a:lstStyle/>
                    <a:p>
                      <a:pPr algn="l" fontAlgn="b">
                        <a:buNone/>
                      </a:pPr>
                      <a:r>
                        <a:rPr lang="fr-FR" sz="900" b="0" i="0" u="none" strike="noStrike">
                          <a:solidFill>
                            <a:srgbClr val="000000"/>
                          </a:solidFill>
                          <a:effectLst/>
                          <a:latin typeface="Aptos Narrow" panose="020B0004020202020204" pitchFamily="34" charset="0"/>
                        </a:rPr>
                        <a:t> Boathouse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39,4</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7C47D"/>
                    </a:solidFill>
                  </a:tcPr>
                </a:tc>
                <a:tc>
                  <a:txBody>
                    <a:bodyPr/>
                    <a:lstStyle/>
                    <a:p>
                      <a:pPr algn="r" fontAlgn="b">
                        <a:buNone/>
                      </a:pPr>
                      <a:r>
                        <a:rPr lang="fr-FR" sz="900" b="0" i="0" u="none" strike="noStrike">
                          <a:solidFill>
                            <a:srgbClr val="000000"/>
                          </a:solidFill>
                          <a:effectLst/>
                          <a:latin typeface="Aptos Narrow" panose="020B0004020202020204" pitchFamily="34" charset="0"/>
                        </a:rPr>
                        <a:t>28,2</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7D780"/>
                    </a:solidFill>
                  </a:tcPr>
                </a:tc>
                <a:tc>
                  <a:txBody>
                    <a:bodyPr/>
                    <a:lstStyle/>
                    <a:p>
                      <a:pPr algn="r" fontAlgn="b">
                        <a:buNone/>
                      </a:pPr>
                      <a:r>
                        <a:rPr lang="fr-FR" sz="900" b="0" i="0" u="none" strike="noStrike">
                          <a:solidFill>
                            <a:srgbClr val="00B050"/>
                          </a:solidFill>
                          <a:effectLst/>
                          <a:latin typeface="Aptos Narrow" panose="020B0004020202020204" pitchFamily="34" charset="0"/>
                        </a:rPr>
                        <a:t>11,3</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91570010"/>
                  </a:ext>
                </a:extLst>
              </a:tr>
              <a:tr h="115947">
                <a:tc>
                  <a:txBody>
                    <a:bodyPr/>
                    <a:lstStyle/>
                    <a:p>
                      <a:pPr algn="l" fontAlgn="b">
                        <a:buNone/>
                      </a:pPr>
                      <a:r>
                        <a:rPr lang="fr-FR" sz="900" b="0" i="0" u="none" strike="noStrike">
                          <a:solidFill>
                            <a:srgbClr val="000000"/>
                          </a:solidFill>
                          <a:effectLst/>
                          <a:latin typeface="Aptos Narrow" panose="020B0004020202020204" pitchFamily="34" charset="0"/>
                        </a:rPr>
                        <a:t> Comfort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18,7</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DE683"/>
                    </a:solidFill>
                  </a:tcPr>
                </a:tc>
                <a:tc>
                  <a:txBody>
                    <a:bodyPr/>
                    <a:lstStyle/>
                    <a:p>
                      <a:pPr algn="r" fontAlgn="b">
                        <a:buNone/>
                      </a:pPr>
                      <a:r>
                        <a:rPr lang="fr-FR" sz="900" b="0" i="0" u="none" strike="noStrike">
                          <a:solidFill>
                            <a:srgbClr val="000000"/>
                          </a:solidFill>
                          <a:effectLst/>
                          <a:latin typeface="Aptos Narrow" panose="020B0004020202020204" pitchFamily="34" charset="0"/>
                        </a:rPr>
                        <a:t>15,8</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B84"/>
                    </a:solidFill>
                  </a:tcPr>
                </a:tc>
                <a:tc>
                  <a:txBody>
                    <a:bodyPr/>
                    <a:lstStyle/>
                    <a:p>
                      <a:pPr algn="r" fontAlgn="b">
                        <a:buNone/>
                      </a:pPr>
                      <a:r>
                        <a:rPr lang="fr-FR" sz="900" b="0" i="0" u="none" strike="noStrike">
                          <a:solidFill>
                            <a:srgbClr val="00B050"/>
                          </a:solidFill>
                          <a:effectLst/>
                          <a:latin typeface="Aptos Narrow" panose="020B0004020202020204" pitchFamily="34" charset="0"/>
                        </a:rPr>
                        <a:t>2,9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03142195"/>
                  </a:ext>
                </a:extLst>
              </a:tr>
              <a:tr h="115947">
                <a:tc>
                  <a:txBody>
                    <a:bodyPr/>
                    <a:lstStyle/>
                    <a:p>
                      <a:pPr algn="l" fontAlgn="b">
                        <a:buNone/>
                      </a:pPr>
                      <a:r>
                        <a:rPr lang="fr-FR" sz="900" b="0" i="0" u="none" strike="noStrike">
                          <a:solidFill>
                            <a:srgbClr val="000000"/>
                          </a:solidFill>
                          <a:effectLst/>
                          <a:latin typeface="Aptos Narrow" panose="020B0004020202020204" pitchFamily="34" charset="0"/>
                        </a:rPr>
                        <a:t> Eden Premium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23,9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0DE82"/>
                    </a:solidFill>
                  </a:tcPr>
                </a:tc>
                <a:tc>
                  <a:txBody>
                    <a:bodyPr/>
                    <a:lstStyle/>
                    <a:p>
                      <a:pPr algn="r" fontAlgn="b">
                        <a:buNone/>
                      </a:pPr>
                      <a:r>
                        <a:rPr lang="fr-FR" sz="900" b="0" i="0" u="none" strike="noStrike">
                          <a:solidFill>
                            <a:srgbClr val="000000"/>
                          </a:solidFill>
                          <a:effectLst/>
                          <a:latin typeface="Aptos Narrow" panose="020B0004020202020204" pitchFamily="34" charset="0"/>
                        </a:rPr>
                        <a:t>16,7</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E984"/>
                    </a:solidFill>
                  </a:tcPr>
                </a:tc>
                <a:tc>
                  <a:txBody>
                    <a:bodyPr/>
                    <a:lstStyle/>
                    <a:p>
                      <a:pPr algn="r" fontAlgn="b">
                        <a:buNone/>
                      </a:pPr>
                      <a:r>
                        <a:rPr lang="fr-FR" sz="900" b="0" i="0" u="none" strike="noStrike">
                          <a:solidFill>
                            <a:srgbClr val="00B050"/>
                          </a:solidFill>
                          <a:effectLst/>
                          <a:latin typeface="Aptos Narrow" panose="020B0004020202020204" pitchFamily="34" charset="0"/>
                        </a:rPr>
                        <a:t>7,1</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18636826"/>
                  </a:ext>
                </a:extLst>
              </a:tr>
              <a:tr h="115947">
                <a:tc>
                  <a:txBody>
                    <a:bodyPr/>
                    <a:lstStyle/>
                    <a:p>
                      <a:pPr algn="l" fontAlgn="b">
                        <a:buNone/>
                      </a:pPr>
                      <a:r>
                        <a:rPr lang="fr-FR" sz="900" b="0" i="0" u="none" strike="noStrike">
                          <a:solidFill>
                            <a:srgbClr val="000000"/>
                          </a:solidFill>
                          <a:effectLst/>
                          <a:latin typeface="Aptos Narrow" panose="020B0004020202020204" pitchFamily="34" charset="0"/>
                        </a:rPr>
                        <a:t> Eden VIP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7,4</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67C"/>
                    </a:solidFill>
                  </a:tcPr>
                </a:tc>
                <a:tc>
                  <a:txBody>
                    <a:bodyPr/>
                    <a:lstStyle/>
                    <a:p>
                      <a:pPr algn="r" fontAlgn="b">
                        <a:buNone/>
                      </a:pPr>
                      <a:r>
                        <a:rPr lang="fr-FR" sz="900" b="0" i="0" u="none" strike="noStrike">
                          <a:solidFill>
                            <a:srgbClr val="000000"/>
                          </a:solidFill>
                          <a:effectLst/>
                          <a:latin typeface="Aptos Narrow" panose="020B0004020202020204" pitchFamily="34" charset="0"/>
                        </a:rPr>
                        <a:t>-2,1</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B74"/>
                    </a:solidFill>
                  </a:tcPr>
                </a:tc>
                <a:tc>
                  <a:txBody>
                    <a:bodyPr/>
                    <a:lstStyle/>
                    <a:p>
                      <a:pPr algn="r" fontAlgn="b">
                        <a:buNone/>
                      </a:pPr>
                      <a:r>
                        <a:rPr lang="fr-FR" sz="900" b="0" i="0" u="none" strike="noStrike">
                          <a:solidFill>
                            <a:srgbClr val="00B050"/>
                          </a:solidFill>
                          <a:effectLst/>
                          <a:latin typeface="Aptos Narrow" panose="020B0004020202020204" pitchFamily="34" charset="0"/>
                        </a:rPr>
                        <a:t>9,5</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14217536"/>
                  </a:ext>
                </a:extLst>
              </a:tr>
              <a:tr h="150417">
                <a:tc>
                  <a:txBody>
                    <a:bodyPr/>
                    <a:lstStyle/>
                    <a:p>
                      <a:pPr algn="l" fontAlgn="b">
                        <a:buNone/>
                      </a:pPr>
                      <a:r>
                        <a:rPr lang="fr-FR" sz="900" b="0" i="0" u="none" strike="noStrike">
                          <a:solidFill>
                            <a:srgbClr val="000000"/>
                          </a:solidFill>
                          <a:effectLst/>
                          <a:latin typeface="Aptos Narrow" panose="020B0004020202020204" pitchFamily="34" charset="0"/>
                        </a:rPr>
                        <a:t> Kids cottage  new generation</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35,9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BCA7E"/>
                    </a:solidFill>
                  </a:tcPr>
                </a:tc>
                <a:tc>
                  <a:txBody>
                    <a:bodyPr/>
                    <a:lstStyle/>
                    <a:p>
                      <a:pPr algn="r" fontAlgn="b">
                        <a:buNone/>
                      </a:pPr>
                      <a:r>
                        <a:rPr lang="fr-FR" sz="900" b="0" i="0" u="none" strike="noStrike">
                          <a:solidFill>
                            <a:srgbClr val="000000"/>
                          </a:solidFill>
                          <a:effectLst/>
                          <a:latin typeface="Aptos Narrow" panose="020B0004020202020204" pitchFamily="34" charset="0"/>
                        </a:rPr>
                        <a:t>42,9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900" b="0" i="0" u="none" strike="noStrike">
                          <a:solidFill>
                            <a:srgbClr val="FF0000"/>
                          </a:solidFill>
                          <a:effectLst/>
                          <a:latin typeface="Aptos Narrow" panose="020B0004020202020204" pitchFamily="34" charset="0"/>
                        </a:rPr>
                        <a:t>-7,0</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62652843"/>
                  </a:ext>
                </a:extLst>
              </a:tr>
              <a:tr h="115947">
                <a:tc>
                  <a:txBody>
                    <a:bodyPr/>
                    <a:lstStyle/>
                    <a:p>
                      <a:pPr algn="l" fontAlgn="b">
                        <a:buNone/>
                      </a:pPr>
                      <a:r>
                        <a:rPr lang="fr-FR" sz="900" b="0" i="0" u="none" strike="noStrike">
                          <a:solidFill>
                            <a:srgbClr val="000000"/>
                          </a:solidFill>
                          <a:effectLst/>
                          <a:latin typeface="Aptos Narrow" panose="020B0004020202020204" pitchFamily="34" charset="0"/>
                        </a:rPr>
                        <a:t> Premium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26,4</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1D981"/>
                    </a:solidFill>
                  </a:tcPr>
                </a:tc>
                <a:tc>
                  <a:txBody>
                    <a:bodyPr/>
                    <a:lstStyle/>
                    <a:p>
                      <a:pPr algn="r" fontAlgn="b">
                        <a:buNone/>
                      </a:pPr>
                      <a:r>
                        <a:rPr lang="fr-FR" sz="900" b="0" i="0" u="none" strike="noStrike">
                          <a:solidFill>
                            <a:srgbClr val="000000"/>
                          </a:solidFill>
                          <a:effectLst/>
                          <a:latin typeface="Aptos Narrow" panose="020B0004020202020204" pitchFamily="34" charset="0"/>
                        </a:rPr>
                        <a:t>18,9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CE683"/>
                    </a:solidFill>
                  </a:tcPr>
                </a:tc>
                <a:tc>
                  <a:txBody>
                    <a:bodyPr/>
                    <a:lstStyle/>
                    <a:p>
                      <a:pPr algn="r" fontAlgn="b">
                        <a:buNone/>
                      </a:pPr>
                      <a:r>
                        <a:rPr lang="fr-FR" sz="900" b="0" i="0" u="none" strike="noStrike">
                          <a:solidFill>
                            <a:srgbClr val="00B050"/>
                          </a:solidFill>
                          <a:effectLst/>
                          <a:latin typeface="Aptos Narrow" panose="020B0004020202020204" pitchFamily="34" charset="0"/>
                        </a:rPr>
                        <a:t>7,5</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68225763"/>
                  </a:ext>
                </a:extLst>
              </a:tr>
              <a:tr h="115947">
                <a:tc>
                  <a:txBody>
                    <a:bodyPr/>
                    <a:lstStyle/>
                    <a:p>
                      <a:pPr algn="l" fontAlgn="b">
                        <a:buNone/>
                      </a:pPr>
                      <a:r>
                        <a:rPr lang="fr-FR" sz="900" b="0" i="0" u="none" strike="noStrike">
                          <a:solidFill>
                            <a:srgbClr val="000000"/>
                          </a:solidFill>
                          <a:effectLst/>
                          <a:latin typeface="Aptos Narrow" panose="020B0004020202020204" pitchFamily="34" charset="0"/>
                        </a:rPr>
                        <a:t> VIP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18,8</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DE683"/>
                    </a:solidFill>
                  </a:tcPr>
                </a:tc>
                <a:tc>
                  <a:txBody>
                    <a:bodyPr/>
                    <a:lstStyle/>
                    <a:p>
                      <a:pPr algn="r" fontAlgn="b">
                        <a:buNone/>
                      </a:pPr>
                      <a:r>
                        <a:rPr lang="fr-FR" sz="900" b="0" i="0" u="none" strike="noStrike">
                          <a:solidFill>
                            <a:srgbClr val="000000"/>
                          </a:solidFill>
                          <a:effectLst/>
                          <a:latin typeface="Aptos Narrow" panose="020B0004020202020204" pitchFamily="34" charset="0"/>
                        </a:rPr>
                        <a:t>12,7</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E81"/>
                    </a:solidFill>
                  </a:tcPr>
                </a:tc>
                <a:tc>
                  <a:txBody>
                    <a:bodyPr/>
                    <a:lstStyle/>
                    <a:p>
                      <a:pPr algn="r" fontAlgn="b">
                        <a:buNone/>
                      </a:pPr>
                      <a:r>
                        <a:rPr lang="fr-FR" sz="900" b="0" i="0" u="none" strike="noStrike">
                          <a:solidFill>
                            <a:srgbClr val="00B050"/>
                          </a:solidFill>
                          <a:effectLst/>
                          <a:latin typeface="Aptos Narrow" panose="020B0004020202020204" pitchFamily="34" charset="0"/>
                        </a:rPr>
                        <a:t>6,1</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66579306"/>
                  </a:ext>
                </a:extLst>
              </a:tr>
            </a:tbl>
          </a:graphicData>
        </a:graphic>
      </p:graphicFrame>
      <p:graphicFrame>
        <p:nvGraphicFramePr>
          <p:cNvPr id="17" name="Table 16">
            <a:extLst>
              <a:ext uri="{FF2B5EF4-FFF2-40B4-BE49-F238E27FC236}">
                <a16:creationId xmlns:a16="http://schemas.microsoft.com/office/drawing/2014/main" id="{7B29963A-C73C-8AA2-207C-ABB0C144539D}"/>
              </a:ext>
            </a:extLst>
          </p:cNvPr>
          <p:cNvGraphicFramePr>
            <a:graphicFrameLocks noGrp="1"/>
          </p:cNvGraphicFramePr>
          <p:nvPr/>
        </p:nvGraphicFramePr>
        <p:xfrm>
          <a:off x="2950284" y="2861739"/>
          <a:ext cx="2222601" cy="2462739"/>
        </p:xfrm>
        <a:graphic>
          <a:graphicData uri="http://schemas.openxmlformats.org/drawingml/2006/table">
            <a:tbl>
              <a:tblPr/>
              <a:tblGrid>
                <a:gridCol w="1335327">
                  <a:extLst>
                    <a:ext uri="{9D8B030D-6E8A-4147-A177-3AD203B41FA5}">
                      <a16:colId xmlns:a16="http://schemas.microsoft.com/office/drawing/2014/main" val="441190535"/>
                    </a:ext>
                  </a:extLst>
                </a:gridCol>
                <a:gridCol w="295758">
                  <a:extLst>
                    <a:ext uri="{9D8B030D-6E8A-4147-A177-3AD203B41FA5}">
                      <a16:colId xmlns:a16="http://schemas.microsoft.com/office/drawing/2014/main" val="888364270"/>
                    </a:ext>
                  </a:extLst>
                </a:gridCol>
                <a:gridCol w="295758">
                  <a:extLst>
                    <a:ext uri="{9D8B030D-6E8A-4147-A177-3AD203B41FA5}">
                      <a16:colId xmlns:a16="http://schemas.microsoft.com/office/drawing/2014/main" val="518352026"/>
                    </a:ext>
                  </a:extLst>
                </a:gridCol>
                <a:gridCol w="295758">
                  <a:extLst>
                    <a:ext uri="{9D8B030D-6E8A-4147-A177-3AD203B41FA5}">
                      <a16:colId xmlns:a16="http://schemas.microsoft.com/office/drawing/2014/main" val="2663071831"/>
                    </a:ext>
                  </a:extLst>
                </a:gridCol>
              </a:tblGrid>
              <a:tr h="144867">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28836262"/>
                  </a:ext>
                </a:extLst>
              </a:tr>
              <a:tr h="144867">
                <a:tc>
                  <a:txBody>
                    <a:bodyPr/>
                    <a:lstStyle/>
                    <a:p>
                      <a:pPr algn="l" fontAlgn="b">
                        <a:buNone/>
                      </a:pPr>
                      <a:r>
                        <a:rPr lang="fr-FR" sz="900" b="1" i="0" u="none" strike="noStrike">
                          <a:solidFill>
                            <a:srgbClr val="000000"/>
                          </a:solidFill>
                          <a:effectLst/>
                          <a:latin typeface="Aptos Narrow" panose="020B0004020202020204" pitchFamily="34" charset="0"/>
                        </a:rPr>
                        <a:t>Het </a:t>
                      </a:r>
                      <a:r>
                        <a:rPr lang="fr-FR" sz="900" b="1" i="0" u="none" strike="noStrike" err="1">
                          <a:solidFill>
                            <a:srgbClr val="000000"/>
                          </a:solidFill>
                          <a:effectLst/>
                          <a:latin typeface="Aptos Narrow" panose="020B0004020202020204" pitchFamily="34" charset="0"/>
                        </a:rPr>
                        <a:t>Heijderbos</a:t>
                      </a:r>
                      <a:endParaRPr lang="fr-FR" sz="900" b="1" i="0" u="none" strike="noStrike">
                        <a:solidFill>
                          <a:srgbClr val="000000"/>
                        </a:solidFill>
                        <a:effectLst/>
                        <a:latin typeface="Aptos Narrow" panose="020B0004020202020204" pitchFamily="34" charset="0"/>
                      </a:endParaRP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16,6</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EA84"/>
                    </a:solidFill>
                  </a:tcPr>
                </a:tc>
                <a:tc>
                  <a:txBody>
                    <a:bodyPr/>
                    <a:lstStyle/>
                    <a:p>
                      <a:pPr algn="r" fontAlgn="b">
                        <a:buNone/>
                      </a:pPr>
                      <a:r>
                        <a:rPr lang="fr-FR" sz="900" b="1" i="0" u="none" strike="noStrike">
                          <a:solidFill>
                            <a:srgbClr val="000000"/>
                          </a:solidFill>
                          <a:effectLst/>
                          <a:latin typeface="Aptos Narrow" panose="020B0004020202020204" pitchFamily="34" charset="0"/>
                        </a:rPr>
                        <a:t>10,1</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27F"/>
                    </a:solidFill>
                  </a:tcPr>
                </a:tc>
                <a:tc>
                  <a:txBody>
                    <a:bodyPr/>
                    <a:lstStyle/>
                    <a:p>
                      <a:pPr algn="r" fontAlgn="b">
                        <a:buNone/>
                      </a:pPr>
                      <a:r>
                        <a:rPr lang="fr-FR" sz="900" b="1" i="0" u="none" strike="noStrike">
                          <a:solidFill>
                            <a:srgbClr val="00B050"/>
                          </a:solidFill>
                          <a:effectLst/>
                          <a:latin typeface="Aptos Narrow" panose="020B0004020202020204" pitchFamily="34" charset="0"/>
                        </a:rPr>
                        <a:t>6,5</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59739731"/>
                  </a:ext>
                </a:extLst>
              </a:tr>
              <a:tr h="144867">
                <a:tc>
                  <a:txBody>
                    <a:bodyPr/>
                    <a:lstStyle/>
                    <a:p>
                      <a:pPr algn="l" fontAlgn="b">
                        <a:buNone/>
                      </a:pPr>
                      <a:r>
                        <a:rPr lang="fr-FR" sz="900" b="0" i="0" u="none" strike="noStrike">
                          <a:solidFill>
                            <a:srgbClr val="000000"/>
                          </a:solidFill>
                          <a:effectLst/>
                          <a:latin typeface="Aptos Narrow" panose="020B0004020202020204" pitchFamily="34" charset="0"/>
                        </a:rPr>
                        <a:t> Comfort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14,9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883"/>
                    </a:solidFill>
                  </a:tcPr>
                </a:tc>
                <a:tc>
                  <a:txBody>
                    <a:bodyPr/>
                    <a:lstStyle/>
                    <a:p>
                      <a:pPr algn="r" fontAlgn="b">
                        <a:buNone/>
                      </a:pPr>
                      <a:r>
                        <a:rPr lang="fr-FR" sz="900" b="0" i="0" u="none" strike="noStrike">
                          <a:solidFill>
                            <a:srgbClr val="000000"/>
                          </a:solidFill>
                          <a:effectLst/>
                          <a:latin typeface="Aptos Narrow" panose="020B0004020202020204" pitchFamily="34" charset="0"/>
                        </a:rPr>
                        <a:t>9,1</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E7E"/>
                    </a:solidFill>
                  </a:tcPr>
                </a:tc>
                <a:tc>
                  <a:txBody>
                    <a:bodyPr/>
                    <a:lstStyle/>
                    <a:p>
                      <a:pPr algn="r" fontAlgn="b">
                        <a:buNone/>
                      </a:pPr>
                      <a:r>
                        <a:rPr lang="fr-FR" sz="900" b="0" i="0" u="none" strike="noStrike">
                          <a:solidFill>
                            <a:srgbClr val="00B050"/>
                          </a:solidFill>
                          <a:effectLst/>
                          <a:latin typeface="Aptos Narrow" panose="020B0004020202020204" pitchFamily="34" charset="0"/>
                        </a:rPr>
                        <a:t>5,7</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62263377"/>
                  </a:ext>
                </a:extLst>
              </a:tr>
              <a:tr h="144867">
                <a:tc>
                  <a:txBody>
                    <a:bodyPr/>
                    <a:lstStyle/>
                    <a:p>
                      <a:pPr algn="l" fontAlgn="b">
                        <a:buNone/>
                      </a:pPr>
                      <a:r>
                        <a:rPr lang="fr-FR" sz="900" b="0" i="0" u="none" strike="noStrike">
                          <a:solidFill>
                            <a:srgbClr val="000000"/>
                          </a:solidFill>
                          <a:effectLst/>
                          <a:latin typeface="Aptos Narrow" panose="020B0004020202020204" pitchFamily="34" charset="0"/>
                        </a:rPr>
                        <a:t> Eden VIP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20,6</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3E383"/>
                    </a:solidFill>
                  </a:tcPr>
                </a:tc>
                <a:tc>
                  <a:txBody>
                    <a:bodyPr/>
                    <a:lstStyle/>
                    <a:p>
                      <a:pPr algn="r" fontAlgn="b">
                        <a:buNone/>
                      </a:pPr>
                      <a:r>
                        <a:rPr lang="fr-FR" sz="900" b="0" i="0" u="none" strike="noStrike">
                          <a:solidFill>
                            <a:srgbClr val="000000"/>
                          </a:solidFill>
                          <a:effectLst/>
                          <a:latin typeface="Aptos Narrow" panose="020B0004020202020204" pitchFamily="34" charset="0"/>
                        </a:rPr>
                        <a:t>12,7</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E81"/>
                    </a:solidFill>
                  </a:tcPr>
                </a:tc>
                <a:tc>
                  <a:txBody>
                    <a:bodyPr/>
                    <a:lstStyle/>
                    <a:p>
                      <a:pPr algn="r" fontAlgn="b">
                        <a:buNone/>
                      </a:pPr>
                      <a:r>
                        <a:rPr lang="fr-FR" sz="900" b="0" i="0" u="none" strike="noStrike">
                          <a:solidFill>
                            <a:srgbClr val="00B050"/>
                          </a:solidFill>
                          <a:effectLst/>
                          <a:latin typeface="Aptos Narrow" panose="020B0004020202020204" pitchFamily="34" charset="0"/>
                        </a:rPr>
                        <a:t>7,8</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31602033"/>
                  </a:ext>
                </a:extLst>
              </a:tr>
              <a:tr h="144867">
                <a:tc>
                  <a:txBody>
                    <a:bodyPr/>
                    <a:lstStyle/>
                    <a:p>
                      <a:pPr algn="l" fontAlgn="b">
                        <a:buNone/>
                      </a:pPr>
                      <a:r>
                        <a:rPr lang="fr-FR" sz="900" b="0" i="0" u="none" strike="noStrike">
                          <a:solidFill>
                            <a:srgbClr val="000000"/>
                          </a:solidFill>
                          <a:effectLst/>
                          <a:latin typeface="Aptos Narrow" panose="020B0004020202020204" pitchFamily="34" charset="0"/>
                        </a:rPr>
                        <a:t> Jungle Cabana</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37,7</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1C77D"/>
                    </a:solidFill>
                  </a:tcPr>
                </a:tc>
                <a:tc>
                  <a:txBody>
                    <a:bodyPr/>
                    <a:lstStyle/>
                    <a:p>
                      <a:pPr algn="r" fontAlgn="b">
                        <a:buNone/>
                      </a:pPr>
                      <a:r>
                        <a:rPr lang="fr-FR" sz="900" b="0" i="0" u="none" strike="noStrike">
                          <a:solidFill>
                            <a:srgbClr val="000000"/>
                          </a:solidFill>
                          <a:effectLst/>
                          <a:latin typeface="Aptos Narrow" panose="020B0004020202020204" pitchFamily="34" charset="0"/>
                        </a:rPr>
                        <a:t>31,7</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3D17F"/>
                    </a:solidFill>
                  </a:tcPr>
                </a:tc>
                <a:tc>
                  <a:txBody>
                    <a:bodyPr/>
                    <a:lstStyle/>
                    <a:p>
                      <a:pPr algn="r" fontAlgn="b">
                        <a:buNone/>
                      </a:pPr>
                      <a:r>
                        <a:rPr lang="fr-FR" sz="900" b="0" i="0" u="none" strike="noStrike">
                          <a:solidFill>
                            <a:srgbClr val="00B050"/>
                          </a:solidFill>
                          <a:effectLst/>
                          <a:latin typeface="Aptos Narrow" panose="020B0004020202020204" pitchFamily="34" charset="0"/>
                        </a:rPr>
                        <a:t>6,0</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17214260"/>
                  </a:ext>
                </a:extLst>
              </a:tr>
              <a:tr h="144867">
                <a:tc>
                  <a:txBody>
                    <a:bodyPr/>
                    <a:lstStyle/>
                    <a:p>
                      <a:pPr algn="l" fontAlgn="b">
                        <a:buNone/>
                      </a:pPr>
                      <a:r>
                        <a:rPr lang="fr-FR" sz="900" b="0" i="0" u="none" strike="noStrike">
                          <a:solidFill>
                            <a:srgbClr val="000000"/>
                          </a:solidFill>
                          <a:effectLst/>
                          <a:latin typeface="Aptos Narrow" panose="020B0004020202020204" pitchFamily="34" charset="0"/>
                        </a:rPr>
                        <a:t> Kids cottage  new generation</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10,1</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27F"/>
                    </a:solidFill>
                  </a:tcPr>
                </a:tc>
                <a:tc>
                  <a:txBody>
                    <a:bodyPr/>
                    <a:lstStyle/>
                    <a:p>
                      <a:pPr algn="r" fontAlgn="b">
                        <a:buNone/>
                      </a:pPr>
                      <a:r>
                        <a:rPr lang="fr-FR" sz="900" b="0" i="0" u="none" strike="noStrike">
                          <a:solidFill>
                            <a:srgbClr val="000000"/>
                          </a:solidFill>
                          <a:effectLst/>
                          <a:latin typeface="Aptos Narrow" panose="020B0004020202020204" pitchFamily="34" charset="0"/>
                        </a:rPr>
                        <a:t>6,8</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37C"/>
                    </a:solidFill>
                  </a:tcPr>
                </a:tc>
                <a:tc>
                  <a:txBody>
                    <a:bodyPr/>
                    <a:lstStyle/>
                    <a:p>
                      <a:pPr algn="r" fontAlgn="b">
                        <a:buNone/>
                      </a:pPr>
                      <a:r>
                        <a:rPr lang="fr-FR" sz="900" b="0" i="0" u="none" strike="noStrike">
                          <a:solidFill>
                            <a:srgbClr val="00B050"/>
                          </a:solidFill>
                          <a:effectLst/>
                          <a:latin typeface="Aptos Narrow" panose="020B0004020202020204" pitchFamily="34" charset="0"/>
                        </a:rPr>
                        <a:t>3,3</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7381054"/>
                  </a:ext>
                </a:extLst>
              </a:tr>
              <a:tr h="144867">
                <a:tc>
                  <a:txBody>
                    <a:bodyPr/>
                    <a:lstStyle/>
                    <a:p>
                      <a:pPr algn="l" fontAlgn="b">
                        <a:buNone/>
                      </a:pPr>
                      <a:r>
                        <a:rPr lang="fr-FR" sz="900" b="0" i="0" u="none" strike="noStrike">
                          <a:solidFill>
                            <a:srgbClr val="000000"/>
                          </a:solidFill>
                          <a:effectLst/>
                          <a:latin typeface="Aptos Narrow" panose="020B0004020202020204" pitchFamily="34" charset="0"/>
                        </a:rPr>
                        <a:t> Premium Hotel</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32,6</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ECF7F"/>
                    </a:solidFill>
                  </a:tcPr>
                </a:tc>
                <a:tc>
                  <a:txBody>
                    <a:bodyPr/>
                    <a:lstStyle/>
                    <a:p>
                      <a:pPr algn="r" fontAlgn="b">
                        <a:buNone/>
                      </a:pPr>
                      <a:r>
                        <a:rPr lang="fr-FR" sz="900" b="0" i="0" u="none" strike="noStrike">
                          <a:solidFill>
                            <a:srgbClr val="000000"/>
                          </a:solidFill>
                          <a:effectLst/>
                          <a:latin typeface="Aptos Narrow" panose="020B0004020202020204" pitchFamily="34" charset="0"/>
                        </a:rPr>
                        <a:t>29,7</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ED480"/>
                    </a:solidFill>
                  </a:tcPr>
                </a:tc>
                <a:tc>
                  <a:txBody>
                    <a:bodyPr/>
                    <a:lstStyle/>
                    <a:p>
                      <a:pPr algn="r" fontAlgn="b">
                        <a:buNone/>
                      </a:pPr>
                      <a:r>
                        <a:rPr lang="fr-FR" sz="900" b="0" i="0" u="none" strike="noStrike">
                          <a:solidFill>
                            <a:srgbClr val="00B050"/>
                          </a:solidFill>
                          <a:effectLst/>
                          <a:latin typeface="Aptos Narrow" panose="020B0004020202020204" pitchFamily="34" charset="0"/>
                        </a:rPr>
                        <a:t>2,9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77272973"/>
                  </a:ext>
                </a:extLst>
              </a:tr>
              <a:tr h="144867">
                <a:tc>
                  <a:txBody>
                    <a:bodyPr/>
                    <a:lstStyle/>
                    <a:p>
                      <a:pPr algn="l" fontAlgn="b">
                        <a:buNone/>
                      </a:pPr>
                      <a:r>
                        <a:rPr lang="fr-FR" sz="900" b="0" i="0" u="none" strike="noStrike">
                          <a:solidFill>
                            <a:srgbClr val="000000"/>
                          </a:solidFill>
                          <a:effectLst/>
                          <a:latin typeface="Aptos Narrow" panose="020B0004020202020204" pitchFamily="34" charset="0"/>
                        </a:rPr>
                        <a:t> Premium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16,8</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E984"/>
                    </a:solidFill>
                  </a:tcPr>
                </a:tc>
                <a:tc>
                  <a:txBody>
                    <a:bodyPr/>
                    <a:lstStyle/>
                    <a:p>
                      <a:pPr algn="r" fontAlgn="b">
                        <a:buNone/>
                      </a:pPr>
                      <a:r>
                        <a:rPr lang="fr-FR" sz="900" b="0" i="0" u="none" strike="noStrike">
                          <a:solidFill>
                            <a:srgbClr val="000000"/>
                          </a:solidFill>
                          <a:effectLst/>
                          <a:latin typeface="Aptos Narrow" panose="020B0004020202020204" pitchFamily="34" charset="0"/>
                        </a:rPr>
                        <a:t>9,2</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E7E"/>
                    </a:solidFill>
                  </a:tcPr>
                </a:tc>
                <a:tc>
                  <a:txBody>
                    <a:bodyPr/>
                    <a:lstStyle/>
                    <a:p>
                      <a:pPr algn="r" fontAlgn="b">
                        <a:buNone/>
                      </a:pPr>
                      <a:r>
                        <a:rPr lang="fr-FR" sz="900" b="0" i="0" u="none" strike="noStrike">
                          <a:solidFill>
                            <a:srgbClr val="00B050"/>
                          </a:solidFill>
                          <a:effectLst/>
                          <a:latin typeface="Aptos Narrow" panose="020B0004020202020204" pitchFamily="34" charset="0"/>
                        </a:rPr>
                        <a:t>7,6</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93328175"/>
                  </a:ext>
                </a:extLst>
              </a:tr>
              <a:tr h="144867">
                <a:tc>
                  <a:txBody>
                    <a:bodyPr/>
                    <a:lstStyle/>
                    <a:p>
                      <a:pPr algn="l" fontAlgn="b">
                        <a:buNone/>
                      </a:pPr>
                      <a:r>
                        <a:rPr lang="fr-FR" sz="900" b="0" i="0" u="none" strike="noStrike">
                          <a:solidFill>
                            <a:srgbClr val="000000"/>
                          </a:solidFill>
                          <a:effectLst/>
                          <a:latin typeface="Aptos Narrow" panose="020B0004020202020204" pitchFamily="34" charset="0"/>
                        </a:rPr>
                        <a:t> VIP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12,9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F81"/>
                    </a:solidFill>
                  </a:tcPr>
                </a:tc>
                <a:tc>
                  <a:txBody>
                    <a:bodyPr/>
                    <a:lstStyle/>
                    <a:p>
                      <a:pPr algn="r" fontAlgn="b">
                        <a:buNone/>
                      </a:pPr>
                      <a:r>
                        <a:rPr lang="fr-FR" sz="900" b="0" i="0" u="none" strike="noStrike">
                          <a:solidFill>
                            <a:srgbClr val="000000"/>
                          </a:solidFill>
                          <a:effectLst/>
                          <a:latin typeface="Aptos Narrow" panose="020B0004020202020204" pitchFamily="34" charset="0"/>
                        </a:rPr>
                        <a:t>7,5</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67D"/>
                    </a:solidFill>
                  </a:tcPr>
                </a:tc>
                <a:tc>
                  <a:txBody>
                    <a:bodyPr/>
                    <a:lstStyle/>
                    <a:p>
                      <a:pPr algn="r" fontAlgn="b">
                        <a:buNone/>
                      </a:pPr>
                      <a:r>
                        <a:rPr lang="fr-FR" sz="900" b="0" i="0" u="none" strike="noStrike">
                          <a:solidFill>
                            <a:srgbClr val="00B050"/>
                          </a:solidFill>
                          <a:effectLst/>
                          <a:latin typeface="Aptos Narrow" panose="020B0004020202020204" pitchFamily="34" charset="0"/>
                        </a:rPr>
                        <a:t>5,4</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48913264"/>
                  </a:ext>
                </a:extLst>
              </a:tr>
              <a:tr h="144867">
                <a:tc>
                  <a:txBody>
                    <a:bodyPr/>
                    <a:lstStyle/>
                    <a:p>
                      <a:pPr algn="l" fontAlgn="b">
                        <a:buNone/>
                      </a:pPr>
                      <a:r>
                        <a:rPr lang="fr-FR" sz="900" b="1" i="0" u="none" strike="noStrike">
                          <a:solidFill>
                            <a:srgbClr val="000000"/>
                          </a:solidFill>
                          <a:effectLst/>
                          <a:latin typeface="Aptos Narrow" panose="020B0004020202020204" pitchFamily="34" charset="0"/>
                        </a:rPr>
                        <a:t>Het Meerdal</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31,7</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3D17F"/>
                    </a:solidFill>
                  </a:tcPr>
                </a:tc>
                <a:tc>
                  <a:txBody>
                    <a:bodyPr/>
                    <a:lstStyle/>
                    <a:p>
                      <a:pPr algn="r" fontAlgn="b">
                        <a:buNone/>
                      </a:pPr>
                      <a:r>
                        <a:rPr lang="fr-FR" sz="900" b="1" i="0" u="none" strike="noStrike">
                          <a:solidFill>
                            <a:srgbClr val="000000"/>
                          </a:solidFill>
                          <a:effectLst/>
                          <a:latin typeface="Aptos Narrow" panose="020B0004020202020204" pitchFamily="34" charset="0"/>
                        </a:rPr>
                        <a:t>24,9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ADC81"/>
                    </a:solidFill>
                  </a:tcPr>
                </a:tc>
                <a:tc>
                  <a:txBody>
                    <a:bodyPr/>
                    <a:lstStyle/>
                    <a:p>
                      <a:pPr algn="r" fontAlgn="b">
                        <a:buNone/>
                      </a:pPr>
                      <a:r>
                        <a:rPr lang="fr-FR" sz="900" b="1" i="0" u="none" strike="noStrike">
                          <a:solidFill>
                            <a:srgbClr val="00B050"/>
                          </a:solidFill>
                          <a:effectLst/>
                          <a:latin typeface="Aptos Narrow" panose="020B0004020202020204" pitchFamily="34" charset="0"/>
                        </a:rPr>
                        <a:t>6,8</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10616501"/>
                  </a:ext>
                </a:extLst>
              </a:tr>
              <a:tr h="144867">
                <a:tc>
                  <a:txBody>
                    <a:bodyPr/>
                    <a:lstStyle/>
                    <a:p>
                      <a:pPr algn="l" fontAlgn="b">
                        <a:buNone/>
                      </a:pPr>
                      <a:r>
                        <a:rPr lang="fr-FR" sz="900" b="0" i="0" u="none" strike="noStrike">
                          <a:solidFill>
                            <a:srgbClr val="000000"/>
                          </a:solidFill>
                          <a:effectLst/>
                          <a:latin typeface="Aptos Narrow" panose="020B0004020202020204" pitchFamily="34" charset="0"/>
                        </a:rPr>
                        <a:t> Comfort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34,9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1CC7E"/>
                    </a:solidFill>
                  </a:tcPr>
                </a:tc>
                <a:tc>
                  <a:txBody>
                    <a:bodyPr/>
                    <a:lstStyle/>
                    <a:p>
                      <a:pPr algn="r" fontAlgn="b">
                        <a:buNone/>
                      </a:pPr>
                      <a:r>
                        <a:rPr lang="fr-FR" sz="900" b="0" i="0" u="none" strike="noStrike">
                          <a:solidFill>
                            <a:srgbClr val="000000"/>
                          </a:solidFill>
                          <a:effectLst/>
                          <a:latin typeface="Aptos Narrow" panose="020B0004020202020204" pitchFamily="34" charset="0"/>
                        </a:rPr>
                        <a:t>28,9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3D580"/>
                    </a:solidFill>
                  </a:tcPr>
                </a:tc>
                <a:tc>
                  <a:txBody>
                    <a:bodyPr/>
                    <a:lstStyle/>
                    <a:p>
                      <a:pPr algn="r" fontAlgn="b">
                        <a:buNone/>
                      </a:pPr>
                      <a:r>
                        <a:rPr lang="fr-FR" sz="900" b="0" i="0" u="none" strike="noStrike">
                          <a:solidFill>
                            <a:srgbClr val="00B050"/>
                          </a:solidFill>
                          <a:effectLst/>
                          <a:latin typeface="Aptos Narrow" panose="020B0004020202020204" pitchFamily="34" charset="0"/>
                        </a:rPr>
                        <a:t>6,0</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3840625"/>
                  </a:ext>
                </a:extLst>
              </a:tr>
              <a:tr h="144867">
                <a:tc>
                  <a:txBody>
                    <a:bodyPr/>
                    <a:lstStyle/>
                    <a:p>
                      <a:pPr algn="l" fontAlgn="b">
                        <a:buNone/>
                      </a:pPr>
                      <a:r>
                        <a:rPr lang="fr-FR" sz="900" b="0" i="0" u="none" strike="noStrike">
                          <a:solidFill>
                            <a:srgbClr val="000000"/>
                          </a:solidFill>
                          <a:effectLst/>
                          <a:latin typeface="Aptos Narrow" panose="020B0004020202020204" pitchFamily="34" charset="0"/>
                        </a:rPr>
                        <a:t> Premium Kids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40,6</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0C27C"/>
                    </a:solidFill>
                  </a:tcPr>
                </a:tc>
                <a:tc>
                  <a:txBody>
                    <a:bodyPr/>
                    <a:lstStyle/>
                    <a:p>
                      <a:pPr algn="r" fontAlgn="b">
                        <a:buNone/>
                      </a:pPr>
                      <a:r>
                        <a:rPr lang="fr-FR" sz="900" b="0" i="0" u="none" strike="noStrike">
                          <a:solidFill>
                            <a:srgbClr val="000000"/>
                          </a:solidFill>
                          <a:effectLst/>
                          <a:latin typeface="Aptos Narrow" panose="020B0004020202020204" pitchFamily="34" charset="0"/>
                        </a:rPr>
                        <a:t>28,7</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4D680"/>
                    </a:solidFill>
                  </a:tcPr>
                </a:tc>
                <a:tc>
                  <a:txBody>
                    <a:bodyPr/>
                    <a:lstStyle/>
                    <a:p>
                      <a:pPr algn="r" fontAlgn="b">
                        <a:buNone/>
                      </a:pPr>
                      <a:r>
                        <a:rPr lang="fr-FR" sz="900" b="0" i="0" u="none" strike="noStrike">
                          <a:solidFill>
                            <a:srgbClr val="00B050"/>
                          </a:solidFill>
                          <a:effectLst/>
                          <a:latin typeface="Aptos Narrow" panose="020B0004020202020204" pitchFamily="34" charset="0"/>
                        </a:rPr>
                        <a:t>11,9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38715114"/>
                  </a:ext>
                </a:extLst>
              </a:tr>
              <a:tr h="144867">
                <a:tc>
                  <a:txBody>
                    <a:bodyPr/>
                    <a:lstStyle/>
                    <a:p>
                      <a:pPr algn="l" fontAlgn="b">
                        <a:buNone/>
                      </a:pPr>
                      <a:r>
                        <a:rPr lang="fr-FR" sz="900" b="0" i="0" u="none" strike="noStrike">
                          <a:solidFill>
                            <a:srgbClr val="000000"/>
                          </a:solidFill>
                          <a:effectLst/>
                          <a:latin typeface="Aptos Narrow" panose="020B0004020202020204" pitchFamily="34" charset="0"/>
                        </a:rPr>
                        <a:t> Premium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32,0</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1D07F"/>
                    </a:solidFill>
                  </a:tcPr>
                </a:tc>
                <a:tc>
                  <a:txBody>
                    <a:bodyPr/>
                    <a:lstStyle/>
                    <a:p>
                      <a:pPr algn="r" fontAlgn="b">
                        <a:buNone/>
                      </a:pPr>
                      <a:r>
                        <a:rPr lang="fr-FR" sz="900" b="0" i="0" u="none" strike="noStrike">
                          <a:solidFill>
                            <a:srgbClr val="000000"/>
                          </a:solidFill>
                          <a:effectLst/>
                          <a:latin typeface="Aptos Narrow" panose="020B0004020202020204" pitchFamily="34" charset="0"/>
                        </a:rPr>
                        <a:t>26,2</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2DA81"/>
                    </a:solidFill>
                  </a:tcPr>
                </a:tc>
                <a:tc>
                  <a:txBody>
                    <a:bodyPr/>
                    <a:lstStyle/>
                    <a:p>
                      <a:pPr algn="r" fontAlgn="b">
                        <a:buNone/>
                      </a:pPr>
                      <a:r>
                        <a:rPr lang="fr-FR" sz="900" b="0" i="0" u="none" strike="noStrike">
                          <a:solidFill>
                            <a:srgbClr val="00B050"/>
                          </a:solidFill>
                          <a:effectLst/>
                          <a:latin typeface="Aptos Narrow" panose="020B0004020202020204" pitchFamily="34" charset="0"/>
                        </a:rPr>
                        <a:t>5,8</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21609745"/>
                  </a:ext>
                </a:extLst>
              </a:tr>
              <a:tr h="144867">
                <a:tc>
                  <a:txBody>
                    <a:bodyPr/>
                    <a:lstStyle/>
                    <a:p>
                      <a:pPr algn="l" fontAlgn="b">
                        <a:buNone/>
                      </a:pPr>
                      <a:r>
                        <a:rPr lang="fr-FR" sz="900" b="0" i="0" u="none" strike="noStrike">
                          <a:solidFill>
                            <a:srgbClr val="000000"/>
                          </a:solidFill>
                          <a:effectLst/>
                          <a:latin typeface="Aptos Narrow" panose="020B0004020202020204" pitchFamily="34" charset="0"/>
                        </a:rPr>
                        <a:t> VIP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27,4</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CD881"/>
                    </a:solidFill>
                  </a:tcPr>
                </a:tc>
                <a:tc>
                  <a:txBody>
                    <a:bodyPr/>
                    <a:lstStyle/>
                    <a:p>
                      <a:pPr algn="r" fontAlgn="b">
                        <a:buNone/>
                      </a:pPr>
                      <a:r>
                        <a:rPr lang="fr-FR" sz="900" b="0" i="0" u="none" strike="noStrike">
                          <a:solidFill>
                            <a:srgbClr val="000000"/>
                          </a:solidFill>
                          <a:effectLst/>
                          <a:latin typeface="Aptos Narrow" panose="020B0004020202020204" pitchFamily="34" charset="0"/>
                        </a:rPr>
                        <a:t>18,5</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EE683"/>
                    </a:solidFill>
                  </a:tcPr>
                </a:tc>
                <a:tc>
                  <a:txBody>
                    <a:bodyPr/>
                    <a:lstStyle/>
                    <a:p>
                      <a:pPr algn="r" fontAlgn="b">
                        <a:buNone/>
                      </a:pPr>
                      <a:r>
                        <a:rPr lang="fr-FR" sz="900" b="0" i="0" u="none" strike="noStrike">
                          <a:solidFill>
                            <a:srgbClr val="00B050"/>
                          </a:solidFill>
                          <a:effectLst/>
                          <a:latin typeface="Aptos Narrow" panose="020B0004020202020204" pitchFamily="34" charset="0"/>
                        </a:rPr>
                        <a:t>8,9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63950807"/>
                  </a:ext>
                </a:extLst>
              </a:tr>
              <a:tr h="144867">
                <a:tc>
                  <a:txBody>
                    <a:bodyPr/>
                    <a:lstStyle/>
                    <a:p>
                      <a:pPr algn="l" fontAlgn="b">
                        <a:buNone/>
                      </a:pPr>
                      <a:r>
                        <a:rPr lang="fr-FR" sz="900" b="1" i="0" u="none" strike="noStrike">
                          <a:solidFill>
                            <a:srgbClr val="000000"/>
                          </a:solidFill>
                          <a:effectLst/>
                          <a:latin typeface="Aptos Narrow" panose="020B0004020202020204" pitchFamily="34" charset="0"/>
                        </a:rPr>
                        <a:t>Limburgse Peel</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2,5</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B078"/>
                    </a:solidFill>
                  </a:tcPr>
                </a:tc>
                <a:tc>
                  <a:txBody>
                    <a:bodyPr/>
                    <a:lstStyle/>
                    <a:p>
                      <a:pPr algn="r" fontAlgn="b">
                        <a:buNone/>
                      </a:pPr>
                      <a:r>
                        <a:rPr lang="fr-FR" sz="900" b="1" i="0" u="none" strike="noStrike">
                          <a:solidFill>
                            <a:srgbClr val="000000"/>
                          </a:solidFill>
                          <a:effectLst/>
                          <a:latin typeface="Aptos Narrow" panose="020B0004020202020204" pitchFamily="34" charset="0"/>
                        </a:rPr>
                        <a:t>-6,8</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570"/>
                    </a:solidFill>
                  </a:tcPr>
                </a:tc>
                <a:tc>
                  <a:txBody>
                    <a:bodyPr/>
                    <a:lstStyle/>
                    <a:p>
                      <a:pPr algn="r" fontAlgn="b">
                        <a:buNone/>
                      </a:pPr>
                      <a:r>
                        <a:rPr lang="fr-FR" sz="900" b="1" i="0" u="none" strike="noStrike">
                          <a:solidFill>
                            <a:srgbClr val="00B050"/>
                          </a:solidFill>
                          <a:effectLst/>
                          <a:latin typeface="Aptos Narrow" panose="020B0004020202020204" pitchFamily="34" charset="0"/>
                        </a:rPr>
                        <a:t>9,3</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80576738"/>
                  </a:ext>
                </a:extLst>
              </a:tr>
              <a:tr h="144867">
                <a:tc>
                  <a:txBody>
                    <a:bodyPr/>
                    <a:lstStyle/>
                    <a:p>
                      <a:pPr algn="l" fontAlgn="b">
                        <a:buNone/>
                      </a:pPr>
                      <a:r>
                        <a:rPr lang="fr-FR" sz="900" b="0" i="0" u="none" strike="noStrike">
                          <a:solidFill>
                            <a:srgbClr val="000000"/>
                          </a:solidFill>
                          <a:effectLst/>
                          <a:latin typeface="Aptos Narrow" panose="020B0004020202020204" pitchFamily="34" charset="0"/>
                        </a:rPr>
                        <a:t> Comfort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2,7</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B078"/>
                    </a:solidFill>
                  </a:tcPr>
                </a:tc>
                <a:tc>
                  <a:txBody>
                    <a:bodyPr/>
                    <a:lstStyle/>
                    <a:p>
                      <a:pPr algn="r" fontAlgn="b">
                        <a:buNone/>
                      </a:pPr>
                      <a:r>
                        <a:rPr lang="fr-FR" sz="900" b="0" i="0" u="none" strike="noStrike">
                          <a:solidFill>
                            <a:srgbClr val="000000"/>
                          </a:solidFill>
                          <a:effectLst/>
                          <a:latin typeface="Aptos Narrow" panose="020B0004020202020204" pitchFamily="34" charset="0"/>
                        </a:rPr>
                        <a:t>-6,6</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670"/>
                    </a:solidFill>
                  </a:tcPr>
                </a:tc>
                <a:tc>
                  <a:txBody>
                    <a:bodyPr/>
                    <a:lstStyle/>
                    <a:p>
                      <a:pPr algn="r" fontAlgn="b">
                        <a:buNone/>
                      </a:pPr>
                      <a:r>
                        <a:rPr lang="fr-FR" sz="900" b="0" i="0" u="none" strike="noStrike">
                          <a:solidFill>
                            <a:srgbClr val="00B050"/>
                          </a:solidFill>
                          <a:effectLst/>
                          <a:latin typeface="Aptos Narrow" panose="020B0004020202020204" pitchFamily="34" charset="0"/>
                        </a:rPr>
                        <a:t>9,3</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22045256"/>
                  </a:ext>
                </a:extLst>
              </a:tr>
              <a:tr h="144867">
                <a:tc>
                  <a:txBody>
                    <a:bodyPr/>
                    <a:lstStyle/>
                    <a:p>
                      <a:pPr algn="l" fontAlgn="b">
                        <a:buNone/>
                      </a:pPr>
                      <a:r>
                        <a:rPr lang="fr-FR" sz="900" b="0" i="0" u="none" strike="noStrike">
                          <a:solidFill>
                            <a:srgbClr val="000000"/>
                          </a:solidFill>
                          <a:effectLst/>
                          <a:latin typeface="Aptos Narrow" panose="020B0004020202020204" pitchFamily="34" charset="0"/>
                        </a:rPr>
                        <a:t> VIP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1,1</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A77"/>
                    </a:solidFill>
                  </a:tcPr>
                </a:tc>
                <a:tc>
                  <a:txBody>
                    <a:bodyPr/>
                    <a:lstStyle/>
                    <a:p>
                      <a:pPr algn="r" fontAlgn="b">
                        <a:buNone/>
                      </a:pPr>
                      <a:r>
                        <a:rPr lang="fr-FR" sz="900" b="0" i="0" u="none" strike="noStrike">
                          <a:solidFill>
                            <a:srgbClr val="000000"/>
                          </a:solidFill>
                          <a:effectLst/>
                          <a:latin typeface="Aptos Narrow" panose="020B0004020202020204" pitchFamily="34" charset="0"/>
                        </a:rPr>
                        <a:t>-8,2</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7F6F"/>
                    </a:solidFill>
                  </a:tcPr>
                </a:tc>
                <a:tc>
                  <a:txBody>
                    <a:bodyPr/>
                    <a:lstStyle/>
                    <a:p>
                      <a:pPr algn="r" fontAlgn="b">
                        <a:buNone/>
                      </a:pPr>
                      <a:r>
                        <a:rPr lang="fr-FR" sz="900" b="0" i="0" u="none" strike="noStrike">
                          <a:solidFill>
                            <a:srgbClr val="00B050"/>
                          </a:solidFill>
                          <a:effectLst/>
                          <a:latin typeface="Aptos Narrow" panose="020B0004020202020204" pitchFamily="34" charset="0"/>
                        </a:rPr>
                        <a:t>9,4</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4617645"/>
                  </a:ext>
                </a:extLst>
              </a:tr>
            </a:tbl>
          </a:graphicData>
        </a:graphic>
      </p:graphicFrame>
      <p:graphicFrame>
        <p:nvGraphicFramePr>
          <p:cNvPr id="18" name="Table 17">
            <a:extLst>
              <a:ext uri="{FF2B5EF4-FFF2-40B4-BE49-F238E27FC236}">
                <a16:creationId xmlns:a16="http://schemas.microsoft.com/office/drawing/2014/main" id="{5ABA436B-3F2F-25E5-F1A7-A24BE5840C60}"/>
              </a:ext>
            </a:extLst>
          </p:cNvPr>
          <p:cNvGraphicFramePr>
            <a:graphicFrameLocks noGrp="1"/>
          </p:cNvGraphicFramePr>
          <p:nvPr/>
        </p:nvGraphicFramePr>
        <p:xfrm>
          <a:off x="5393283" y="2861738"/>
          <a:ext cx="2641787" cy="2234576"/>
        </p:xfrm>
        <a:graphic>
          <a:graphicData uri="http://schemas.openxmlformats.org/drawingml/2006/table">
            <a:tbl>
              <a:tblPr/>
              <a:tblGrid>
                <a:gridCol w="1359140">
                  <a:extLst>
                    <a:ext uri="{9D8B030D-6E8A-4147-A177-3AD203B41FA5}">
                      <a16:colId xmlns:a16="http://schemas.microsoft.com/office/drawing/2014/main" val="1061764182"/>
                    </a:ext>
                  </a:extLst>
                </a:gridCol>
                <a:gridCol w="427549">
                  <a:extLst>
                    <a:ext uri="{9D8B030D-6E8A-4147-A177-3AD203B41FA5}">
                      <a16:colId xmlns:a16="http://schemas.microsoft.com/office/drawing/2014/main" val="1163090127"/>
                    </a:ext>
                  </a:extLst>
                </a:gridCol>
                <a:gridCol w="427549">
                  <a:extLst>
                    <a:ext uri="{9D8B030D-6E8A-4147-A177-3AD203B41FA5}">
                      <a16:colId xmlns:a16="http://schemas.microsoft.com/office/drawing/2014/main" val="3903029258"/>
                    </a:ext>
                  </a:extLst>
                </a:gridCol>
                <a:gridCol w="427549">
                  <a:extLst>
                    <a:ext uri="{9D8B030D-6E8A-4147-A177-3AD203B41FA5}">
                      <a16:colId xmlns:a16="http://schemas.microsoft.com/office/drawing/2014/main" val="2930524221"/>
                    </a:ext>
                  </a:extLst>
                </a:gridCol>
              </a:tblGrid>
              <a:tr h="118202">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23426812"/>
                  </a:ext>
                </a:extLst>
              </a:tr>
              <a:tr h="118202">
                <a:tc>
                  <a:txBody>
                    <a:bodyPr/>
                    <a:lstStyle/>
                    <a:p>
                      <a:pPr algn="l" fontAlgn="b">
                        <a:buNone/>
                      </a:pPr>
                      <a:r>
                        <a:rPr lang="fr-FR" sz="900" b="1" i="0" u="none" strike="noStrike">
                          <a:solidFill>
                            <a:srgbClr val="000000"/>
                          </a:solidFill>
                          <a:effectLst/>
                          <a:latin typeface="Aptos Narrow" panose="020B0004020202020204" pitchFamily="34" charset="0"/>
                        </a:rPr>
                        <a:t>Park </a:t>
                      </a:r>
                      <a:r>
                        <a:rPr lang="fr-FR" sz="900" b="1" i="0" u="none" strike="noStrike" err="1">
                          <a:solidFill>
                            <a:srgbClr val="000000"/>
                          </a:solidFill>
                          <a:effectLst/>
                          <a:latin typeface="Aptos Narrow" panose="020B0004020202020204" pitchFamily="34" charset="0"/>
                        </a:rPr>
                        <a:t>Zandvoort</a:t>
                      </a:r>
                      <a:endParaRPr lang="fr-FR" sz="900" b="1" i="0" u="none" strike="noStrike">
                        <a:solidFill>
                          <a:srgbClr val="000000"/>
                        </a:solidFill>
                        <a:effectLst/>
                        <a:latin typeface="Aptos Narrow" panose="020B0004020202020204" pitchFamily="34" charset="0"/>
                      </a:endParaRP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22,6</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7E082"/>
                    </a:solidFill>
                  </a:tcPr>
                </a:tc>
                <a:tc>
                  <a:txBody>
                    <a:bodyPr/>
                    <a:lstStyle/>
                    <a:p>
                      <a:pPr algn="r" fontAlgn="b">
                        <a:buNone/>
                      </a:pPr>
                      <a:r>
                        <a:rPr lang="fr-FR" sz="900" b="1" i="0" u="none" strike="noStrike">
                          <a:solidFill>
                            <a:srgbClr val="000000"/>
                          </a:solidFill>
                          <a:effectLst/>
                          <a:latin typeface="Aptos Narrow" panose="020B0004020202020204" pitchFamily="34" charset="0"/>
                        </a:rPr>
                        <a:t>17,8</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E884"/>
                    </a:solidFill>
                  </a:tcPr>
                </a:tc>
                <a:tc>
                  <a:txBody>
                    <a:bodyPr/>
                    <a:lstStyle/>
                    <a:p>
                      <a:pPr algn="r" fontAlgn="b">
                        <a:buNone/>
                      </a:pPr>
                      <a:r>
                        <a:rPr lang="fr-FR" sz="900" b="1" i="0" u="none" strike="noStrike">
                          <a:solidFill>
                            <a:srgbClr val="00B050"/>
                          </a:solidFill>
                          <a:effectLst/>
                          <a:latin typeface="Aptos Narrow" panose="020B0004020202020204" pitchFamily="34" charset="0"/>
                        </a:rPr>
                        <a:t>4,7</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32623905"/>
                  </a:ext>
                </a:extLst>
              </a:tr>
              <a:tr h="118202">
                <a:tc>
                  <a:txBody>
                    <a:bodyPr/>
                    <a:lstStyle/>
                    <a:p>
                      <a:pPr algn="l" fontAlgn="b">
                        <a:buNone/>
                      </a:pPr>
                      <a:r>
                        <a:rPr lang="fr-FR" sz="900" b="0" i="0" u="none" strike="noStrike">
                          <a:solidFill>
                            <a:srgbClr val="000000"/>
                          </a:solidFill>
                          <a:effectLst/>
                          <a:latin typeface="Aptos Narrow" panose="020B0004020202020204" pitchFamily="34" charset="0"/>
                        </a:rPr>
                        <a:t> Comfort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18,8</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DE683"/>
                    </a:solidFill>
                  </a:tcPr>
                </a:tc>
                <a:tc>
                  <a:txBody>
                    <a:bodyPr/>
                    <a:lstStyle/>
                    <a:p>
                      <a:pPr algn="r" fontAlgn="b">
                        <a:buNone/>
                      </a:pPr>
                      <a:r>
                        <a:rPr lang="fr-FR" sz="900" b="0" i="0" u="none" strike="noStrike">
                          <a:solidFill>
                            <a:srgbClr val="000000"/>
                          </a:solidFill>
                          <a:effectLst/>
                          <a:latin typeface="Aptos Narrow" panose="020B0004020202020204" pitchFamily="34" charset="0"/>
                        </a:rPr>
                        <a:t>12,5</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D81"/>
                    </a:solidFill>
                  </a:tcPr>
                </a:tc>
                <a:tc>
                  <a:txBody>
                    <a:bodyPr/>
                    <a:lstStyle/>
                    <a:p>
                      <a:pPr algn="r" fontAlgn="b">
                        <a:buNone/>
                      </a:pPr>
                      <a:r>
                        <a:rPr lang="fr-FR" sz="900" b="0" i="0" u="none" strike="noStrike">
                          <a:solidFill>
                            <a:srgbClr val="00B050"/>
                          </a:solidFill>
                          <a:effectLst/>
                          <a:latin typeface="Aptos Narrow" panose="020B0004020202020204" pitchFamily="34" charset="0"/>
                        </a:rPr>
                        <a:t>6,2</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32732122"/>
                  </a:ext>
                </a:extLst>
              </a:tr>
              <a:tr h="118202">
                <a:tc>
                  <a:txBody>
                    <a:bodyPr/>
                    <a:lstStyle/>
                    <a:p>
                      <a:pPr algn="l" fontAlgn="b">
                        <a:buNone/>
                      </a:pPr>
                      <a:r>
                        <a:rPr lang="fr-FR" sz="900" b="0" i="0" u="none" strike="noStrike">
                          <a:solidFill>
                            <a:srgbClr val="000000"/>
                          </a:solidFill>
                          <a:effectLst/>
                          <a:latin typeface="Aptos Narrow" panose="020B0004020202020204" pitchFamily="34" charset="0"/>
                        </a:rPr>
                        <a:t> Hotel Honeymoon-suite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35,4</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ECB7E"/>
                    </a:solidFill>
                  </a:tcPr>
                </a:tc>
                <a:tc>
                  <a:txBody>
                    <a:bodyPr/>
                    <a:lstStyle/>
                    <a:p>
                      <a:pPr algn="r" fontAlgn="b">
                        <a:buNone/>
                      </a:pPr>
                      <a:r>
                        <a:rPr lang="fr-FR" sz="900" b="0" i="0" u="none" strike="noStrike">
                          <a:solidFill>
                            <a:srgbClr val="000000"/>
                          </a:solidFill>
                          <a:effectLst/>
                          <a:latin typeface="Aptos Narrow" panose="020B0004020202020204" pitchFamily="34" charset="0"/>
                        </a:rPr>
                        <a:t>10,4</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47F"/>
                    </a:solidFill>
                  </a:tcPr>
                </a:tc>
                <a:tc>
                  <a:txBody>
                    <a:bodyPr/>
                    <a:lstStyle/>
                    <a:p>
                      <a:pPr algn="r" fontAlgn="b">
                        <a:buNone/>
                      </a:pPr>
                      <a:r>
                        <a:rPr lang="fr-FR" sz="900" b="0" i="0" u="none" strike="noStrike">
                          <a:solidFill>
                            <a:srgbClr val="00B050"/>
                          </a:solidFill>
                          <a:effectLst/>
                          <a:latin typeface="Aptos Narrow" panose="020B0004020202020204" pitchFamily="34" charset="0"/>
                        </a:rPr>
                        <a:t>25,0</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25520919"/>
                  </a:ext>
                </a:extLst>
              </a:tr>
              <a:tr h="118202">
                <a:tc>
                  <a:txBody>
                    <a:bodyPr/>
                    <a:lstStyle/>
                    <a:p>
                      <a:pPr algn="l" fontAlgn="b">
                        <a:buNone/>
                      </a:pPr>
                      <a:r>
                        <a:rPr lang="fr-FR" sz="900" b="0" i="0" u="none" strike="noStrike">
                          <a:solidFill>
                            <a:srgbClr val="000000"/>
                          </a:solidFill>
                          <a:effectLst/>
                          <a:latin typeface="Aptos Narrow" panose="020B0004020202020204" pitchFamily="34" charset="0"/>
                        </a:rPr>
                        <a:t> Premium Hotel</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35,1</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0CB7E"/>
                    </a:solidFill>
                  </a:tcPr>
                </a:tc>
                <a:tc>
                  <a:txBody>
                    <a:bodyPr/>
                    <a:lstStyle/>
                    <a:p>
                      <a:pPr algn="r" fontAlgn="b">
                        <a:buNone/>
                      </a:pPr>
                      <a:r>
                        <a:rPr lang="fr-FR" sz="900" b="0" i="0" u="none" strike="noStrike">
                          <a:solidFill>
                            <a:srgbClr val="000000"/>
                          </a:solidFill>
                          <a:effectLst/>
                          <a:latin typeface="Aptos Narrow" panose="020B0004020202020204" pitchFamily="34" charset="0"/>
                        </a:rPr>
                        <a:t>28,2</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7D780"/>
                    </a:solidFill>
                  </a:tcPr>
                </a:tc>
                <a:tc>
                  <a:txBody>
                    <a:bodyPr/>
                    <a:lstStyle/>
                    <a:p>
                      <a:pPr algn="r" fontAlgn="b">
                        <a:buNone/>
                      </a:pPr>
                      <a:r>
                        <a:rPr lang="fr-FR" sz="900" b="0" i="0" u="none" strike="noStrike">
                          <a:solidFill>
                            <a:srgbClr val="00B050"/>
                          </a:solidFill>
                          <a:effectLst/>
                          <a:latin typeface="Aptos Narrow" panose="020B0004020202020204" pitchFamily="34" charset="0"/>
                        </a:rPr>
                        <a:t>6,9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02092736"/>
                  </a:ext>
                </a:extLst>
              </a:tr>
              <a:tr h="118202">
                <a:tc>
                  <a:txBody>
                    <a:bodyPr/>
                    <a:lstStyle/>
                    <a:p>
                      <a:pPr algn="l" fontAlgn="b">
                        <a:buNone/>
                      </a:pPr>
                      <a:r>
                        <a:rPr lang="fr-FR" sz="900" b="0" i="0" u="none" strike="noStrike">
                          <a:solidFill>
                            <a:srgbClr val="000000"/>
                          </a:solidFill>
                          <a:effectLst/>
                          <a:latin typeface="Aptos Narrow" panose="020B0004020202020204" pitchFamily="34" charset="0"/>
                        </a:rPr>
                        <a:t> Premium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20,5</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3E383"/>
                    </a:solidFill>
                  </a:tcPr>
                </a:tc>
                <a:tc>
                  <a:txBody>
                    <a:bodyPr/>
                    <a:lstStyle/>
                    <a:p>
                      <a:pPr algn="r" fontAlgn="b">
                        <a:buNone/>
                      </a:pPr>
                      <a:r>
                        <a:rPr lang="fr-FR" sz="900" b="0" i="0" u="none" strike="noStrike">
                          <a:solidFill>
                            <a:srgbClr val="000000"/>
                          </a:solidFill>
                          <a:effectLst/>
                          <a:latin typeface="Aptos Narrow" panose="020B0004020202020204" pitchFamily="34" charset="0"/>
                        </a:rPr>
                        <a:t>15,1</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983"/>
                    </a:solidFill>
                  </a:tcPr>
                </a:tc>
                <a:tc>
                  <a:txBody>
                    <a:bodyPr/>
                    <a:lstStyle/>
                    <a:p>
                      <a:pPr algn="r" fontAlgn="b">
                        <a:buNone/>
                      </a:pPr>
                      <a:r>
                        <a:rPr lang="fr-FR" sz="900" b="0" i="0" u="none" strike="noStrike">
                          <a:solidFill>
                            <a:srgbClr val="00B050"/>
                          </a:solidFill>
                          <a:effectLst/>
                          <a:latin typeface="Aptos Narrow" panose="020B0004020202020204" pitchFamily="34" charset="0"/>
                        </a:rPr>
                        <a:t>5,3</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99022753"/>
                  </a:ext>
                </a:extLst>
              </a:tr>
              <a:tr h="118202">
                <a:tc>
                  <a:txBody>
                    <a:bodyPr/>
                    <a:lstStyle/>
                    <a:p>
                      <a:pPr algn="l" fontAlgn="b">
                        <a:buNone/>
                      </a:pPr>
                      <a:r>
                        <a:rPr lang="fr-FR" sz="900" b="0" i="0" u="none" strike="noStrike">
                          <a:solidFill>
                            <a:srgbClr val="000000"/>
                          </a:solidFill>
                          <a:effectLst/>
                          <a:latin typeface="Aptos Narrow" panose="020B0004020202020204" pitchFamily="34" charset="0"/>
                        </a:rPr>
                        <a:t> Premium cottage </a:t>
                      </a:r>
                      <a:r>
                        <a:rPr lang="fr-FR" sz="900" b="0" i="0" u="none" strike="noStrike" err="1">
                          <a:solidFill>
                            <a:srgbClr val="000000"/>
                          </a:solidFill>
                          <a:effectLst/>
                          <a:latin typeface="Aptos Narrow" panose="020B0004020202020204" pitchFamily="34" charset="0"/>
                        </a:rPr>
                        <a:t>Wheelchair</a:t>
                      </a:r>
                      <a:endParaRPr lang="fr-FR" sz="900" b="0" i="0" u="none" strike="noStrike">
                        <a:solidFill>
                          <a:srgbClr val="000000"/>
                        </a:solidFill>
                        <a:effectLst/>
                        <a:latin typeface="Aptos Narrow" panose="020B0004020202020204" pitchFamily="34" charset="0"/>
                      </a:endParaRP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18,9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CE683"/>
                    </a:solidFill>
                  </a:tcPr>
                </a:tc>
                <a:tc>
                  <a:txBody>
                    <a:bodyPr/>
                    <a:lstStyle/>
                    <a:p>
                      <a:pPr algn="r" fontAlgn="b">
                        <a:buNone/>
                      </a:pPr>
                      <a:r>
                        <a:rPr lang="fr-FR" sz="900" b="0" i="0" u="none" strike="noStrike">
                          <a:solidFill>
                            <a:srgbClr val="000000"/>
                          </a:solidFill>
                          <a:effectLst/>
                          <a:latin typeface="Aptos Narrow" panose="020B0004020202020204" pitchFamily="34" charset="0"/>
                        </a:rPr>
                        <a:t>5,7</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E7B"/>
                    </a:solidFill>
                  </a:tcPr>
                </a:tc>
                <a:tc>
                  <a:txBody>
                    <a:bodyPr/>
                    <a:lstStyle/>
                    <a:p>
                      <a:pPr algn="r" fontAlgn="b">
                        <a:buNone/>
                      </a:pPr>
                      <a:r>
                        <a:rPr lang="fr-FR" sz="900" b="0" i="0" u="none" strike="noStrike">
                          <a:solidFill>
                            <a:srgbClr val="00B050"/>
                          </a:solidFill>
                          <a:effectLst/>
                          <a:latin typeface="Aptos Narrow" panose="020B0004020202020204" pitchFamily="34" charset="0"/>
                        </a:rPr>
                        <a:t>13,2</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0953263"/>
                  </a:ext>
                </a:extLst>
              </a:tr>
              <a:tr h="118202">
                <a:tc>
                  <a:txBody>
                    <a:bodyPr/>
                    <a:lstStyle/>
                    <a:p>
                      <a:pPr algn="l" fontAlgn="b">
                        <a:buNone/>
                      </a:pPr>
                      <a:r>
                        <a:rPr lang="fr-FR" sz="900" b="0" i="0" u="none" strike="noStrike">
                          <a:solidFill>
                            <a:srgbClr val="000000"/>
                          </a:solidFill>
                          <a:effectLst/>
                          <a:latin typeface="Aptos Narrow" panose="020B0004020202020204" pitchFamily="34" charset="0"/>
                        </a:rPr>
                        <a:t> VIP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22,3</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9E082"/>
                    </a:solidFill>
                  </a:tcPr>
                </a:tc>
                <a:tc>
                  <a:txBody>
                    <a:bodyPr/>
                    <a:lstStyle/>
                    <a:p>
                      <a:pPr algn="r" fontAlgn="b">
                        <a:buNone/>
                      </a:pPr>
                      <a:r>
                        <a:rPr lang="fr-FR" sz="900" b="0" i="0" u="none" strike="noStrike">
                          <a:solidFill>
                            <a:srgbClr val="000000"/>
                          </a:solidFill>
                          <a:effectLst/>
                          <a:latin typeface="Aptos Narrow" panose="020B0004020202020204" pitchFamily="34" charset="0"/>
                        </a:rPr>
                        <a:t>23,1</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4DF82"/>
                    </a:solidFill>
                  </a:tcPr>
                </a:tc>
                <a:tc>
                  <a:txBody>
                    <a:bodyPr/>
                    <a:lstStyle/>
                    <a:p>
                      <a:pPr algn="r" fontAlgn="b">
                        <a:buNone/>
                      </a:pPr>
                      <a:r>
                        <a:rPr lang="fr-FR" sz="900" b="0" i="0" u="none" strike="noStrike">
                          <a:solidFill>
                            <a:srgbClr val="FF0000"/>
                          </a:solidFill>
                          <a:effectLst/>
                          <a:latin typeface="Aptos Narrow" panose="020B0004020202020204" pitchFamily="34" charset="0"/>
                        </a:rPr>
                        <a:t>-0,7</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8264159"/>
                  </a:ext>
                </a:extLst>
              </a:tr>
              <a:tr h="118202">
                <a:tc>
                  <a:txBody>
                    <a:bodyPr/>
                    <a:lstStyle/>
                    <a:p>
                      <a:pPr algn="l" fontAlgn="b">
                        <a:buNone/>
                      </a:pPr>
                      <a:r>
                        <a:rPr lang="fr-FR" sz="900" b="1" i="0" u="none" strike="noStrike">
                          <a:solidFill>
                            <a:srgbClr val="000000"/>
                          </a:solidFill>
                          <a:effectLst/>
                          <a:latin typeface="Aptos Narrow" panose="020B0004020202020204" pitchFamily="34" charset="0"/>
                        </a:rPr>
                        <a:t>Port Zélande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11,7</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980"/>
                    </a:solidFill>
                  </a:tcPr>
                </a:tc>
                <a:tc>
                  <a:txBody>
                    <a:bodyPr/>
                    <a:lstStyle/>
                    <a:p>
                      <a:pPr algn="r" fontAlgn="b">
                        <a:buNone/>
                      </a:pPr>
                      <a:r>
                        <a:rPr lang="fr-FR" sz="900" b="1" i="0" u="none" strike="noStrike">
                          <a:solidFill>
                            <a:srgbClr val="000000"/>
                          </a:solidFill>
                          <a:effectLst/>
                          <a:latin typeface="Aptos Narrow" panose="020B0004020202020204" pitchFamily="34" charset="0"/>
                        </a:rPr>
                        <a:t>4,9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B7A"/>
                    </a:solidFill>
                  </a:tcPr>
                </a:tc>
                <a:tc>
                  <a:txBody>
                    <a:bodyPr/>
                    <a:lstStyle/>
                    <a:p>
                      <a:pPr algn="r" fontAlgn="b">
                        <a:buNone/>
                      </a:pPr>
                      <a:r>
                        <a:rPr lang="fr-FR" sz="900" b="1" i="0" u="none" strike="noStrike">
                          <a:solidFill>
                            <a:srgbClr val="00B050"/>
                          </a:solidFill>
                          <a:effectLst/>
                          <a:latin typeface="Aptos Narrow" panose="020B0004020202020204" pitchFamily="34" charset="0"/>
                        </a:rPr>
                        <a:t>6,8</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869373"/>
                  </a:ext>
                </a:extLst>
              </a:tr>
              <a:tr h="118202">
                <a:tc>
                  <a:txBody>
                    <a:bodyPr/>
                    <a:lstStyle/>
                    <a:p>
                      <a:pPr algn="l" fontAlgn="b">
                        <a:buNone/>
                      </a:pPr>
                      <a:r>
                        <a:rPr lang="fr-FR" sz="900" b="0" i="0" u="none" strike="noStrike">
                          <a:solidFill>
                            <a:srgbClr val="000000"/>
                          </a:solidFill>
                          <a:effectLst/>
                          <a:latin typeface="Aptos Narrow" panose="020B0004020202020204" pitchFamily="34" charset="0"/>
                        </a:rPr>
                        <a:t> Comfort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8,9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D7E"/>
                    </a:solidFill>
                  </a:tcPr>
                </a:tc>
                <a:tc>
                  <a:txBody>
                    <a:bodyPr/>
                    <a:lstStyle/>
                    <a:p>
                      <a:pPr algn="r" fontAlgn="b">
                        <a:buNone/>
                      </a:pPr>
                      <a:r>
                        <a:rPr lang="fr-FR" sz="900" b="0" i="0" u="none" strike="noStrike">
                          <a:solidFill>
                            <a:srgbClr val="000000"/>
                          </a:solidFill>
                          <a:effectLst/>
                          <a:latin typeface="Aptos Narrow" panose="020B0004020202020204" pitchFamily="34" charset="0"/>
                        </a:rPr>
                        <a:t>4,6</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97A"/>
                    </a:solidFill>
                  </a:tcPr>
                </a:tc>
                <a:tc>
                  <a:txBody>
                    <a:bodyPr/>
                    <a:lstStyle/>
                    <a:p>
                      <a:pPr algn="r" fontAlgn="b">
                        <a:buNone/>
                      </a:pPr>
                      <a:r>
                        <a:rPr lang="fr-FR" sz="900" b="0" i="0" u="none" strike="noStrike">
                          <a:solidFill>
                            <a:srgbClr val="00B050"/>
                          </a:solidFill>
                          <a:effectLst/>
                          <a:latin typeface="Aptos Narrow" panose="020B0004020202020204" pitchFamily="34" charset="0"/>
                        </a:rPr>
                        <a:t>4,3</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65718485"/>
                  </a:ext>
                </a:extLst>
              </a:tr>
              <a:tr h="118202">
                <a:tc>
                  <a:txBody>
                    <a:bodyPr/>
                    <a:lstStyle/>
                    <a:p>
                      <a:pPr algn="l" fontAlgn="b">
                        <a:buNone/>
                      </a:pPr>
                      <a:r>
                        <a:rPr lang="fr-FR" sz="900" b="0" i="0" u="none" strike="noStrike">
                          <a:solidFill>
                            <a:srgbClr val="000000"/>
                          </a:solidFill>
                          <a:effectLst/>
                          <a:latin typeface="Aptos Narrow" panose="020B0004020202020204" pitchFamily="34" charset="0"/>
                        </a:rPr>
                        <a:t> Kids cottage  new generation</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18,6</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EE683"/>
                    </a:solidFill>
                  </a:tcPr>
                </a:tc>
                <a:tc>
                  <a:txBody>
                    <a:bodyPr/>
                    <a:lstStyle/>
                    <a:p>
                      <a:pPr algn="r" fontAlgn="b">
                        <a:buNone/>
                      </a:pPr>
                      <a:r>
                        <a:rPr lang="fr-FR" sz="900" b="0" i="0" u="none" strike="noStrike">
                          <a:solidFill>
                            <a:srgbClr val="000000"/>
                          </a:solidFill>
                          <a:effectLst/>
                          <a:latin typeface="Aptos Narrow" panose="020B0004020202020204" pitchFamily="34" charset="0"/>
                        </a:rPr>
                        <a:t>-2,9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773"/>
                    </a:solidFill>
                  </a:tcPr>
                </a:tc>
                <a:tc>
                  <a:txBody>
                    <a:bodyPr/>
                    <a:lstStyle/>
                    <a:p>
                      <a:pPr algn="r" fontAlgn="b">
                        <a:buNone/>
                      </a:pPr>
                      <a:r>
                        <a:rPr lang="fr-FR" sz="900" b="0" i="0" u="none" strike="noStrike">
                          <a:solidFill>
                            <a:srgbClr val="00B050"/>
                          </a:solidFill>
                          <a:effectLst/>
                          <a:latin typeface="Aptos Narrow" panose="020B0004020202020204" pitchFamily="34" charset="0"/>
                        </a:rPr>
                        <a:t>21,5</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74907758"/>
                  </a:ext>
                </a:extLst>
              </a:tr>
              <a:tr h="118202">
                <a:tc>
                  <a:txBody>
                    <a:bodyPr/>
                    <a:lstStyle/>
                    <a:p>
                      <a:pPr algn="l" fontAlgn="b">
                        <a:buNone/>
                      </a:pPr>
                      <a:r>
                        <a:rPr lang="fr-FR" sz="900" b="0" i="0" u="none" strike="noStrike">
                          <a:solidFill>
                            <a:srgbClr val="000000"/>
                          </a:solidFill>
                          <a:effectLst/>
                          <a:latin typeface="Aptos Narrow" panose="020B0004020202020204" pitchFamily="34" charset="0"/>
                        </a:rPr>
                        <a:t> Premium Apartment</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23,3</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3DF82"/>
                    </a:solidFill>
                  </a:tcPr>
                </a:tc>
                <a:tc>
                  <a:txBody>
                    <a:bodyPr/>
                    <a:lstStyle/>
                    <a:p>
                      <a:pPr algn="r" fontAlgn="b">
                        <a:buNone/>
                      </a:pPr>
                      <a:r>
                        <a:rPr lang="fr-FR" sz="900" b="0" i="0" u="none" strike="noStrike">
                          <a:solidFill>
                            <a:srgbClr val="000000"/>
                          </a:solidFill>
                          <a:effectLst/>
                          <a:latin typeface="Aptos Narrow" panose="020B0004020202020204" pitchFamily="34" charset="0"/>
                        </a:rPr>
                        <a:t>13,2</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082"/>
                    </a:solidFill>
                  </a:tcPr>
                </a:tc>
                <a:tc>
                  <a:txBody>
                    <a:bodyPr/>
                    <a:lstStyle/>
                    <a:p>
                      <a:pPr algn="r" fontAlgn="b">
                        <a:buNone/>
                      </a:pPr>
                      <a:r>
                        <a:rPr lang="fr-FR" sz="900" b="0" i="0" u="none" strike="noStrike">
                          <a:solidFill>
                            <a:srgbClr val="00B050"/>
                          </a:solidFill>
                          <a:effectLst/>
                          <a:latin typeface="Aptos Narrow" panose="020B0004020202020204" pitchFamily="34" charset="0"/>
                        </a:rPr>
                        <a:t>10,1</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98317260"/>
                  </a:ext>
                </a:extLst>
              </a:tr>
              <a:tr h="118202">
                <a:tc>
                  <a:txBody>
                    <a:bodyPr/>
                    <a:lstStyle/>
                    <a:p>
                      <a:pPr algn="l" fontAlgn="b">
                        <a:buNone/>
                      </a:pPr>
                      <a:r>
                        <a:rPr lang="fr-FR" sz="900" b="0" i="0" u="none" strike="noStrike">
                          <a:solidFill>
                            <a:srgbClr val="000000"/>
                          </a:solidFill>
                          <a:effectLst/>
                          <a:latin typeface="Aptos Narrow" panose="020B0004020202020204" pitchFamily="34" charset="0"/>
                        </a:rPr>
                        <a:t> Premium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10,6</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57F"/>
                    </a:solidFill>
                  </a:tcPr>
                </a:tc>
                <a:tc>
                  <a:txBody>
                    <a:bodyPr/>
                    <a:lstStyle/>
                    <a:p>
                      <a:pPr algn="r" fontAlgn="b">
                        <a:buNone/>
                      </a:pPr>
                      <a:r>
                        <a:rPr lang="fr-FR" sz="900" b="0" i="0" u="none" strike="noStrike">
                          <a:solidFill>
                            <a:srgbClr val="000000"/>
                          </a:solidFill>
                          <a:effectLst/>
                          <a:latin typeface="Aptos Narrow" panose="020B0004020202020204" pitchFamily="34" charset="0"/>
                        </a:rPr>
                        <a:t>1,8</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C78"/>
                    </a:solidFill>
                  </a:tcPr>
                </a:tc>
                <a:tc>
                  <a:txBody>
                    <a:bodyPr/>
                    <a:lstStyle/>
                    <a:p>
                      <a:pPr algn="r" fontAlgn="b">
                        <a:buNone/>
                      </a:pPr>
                      <a:r>
                        <a:rPr lang="fr-FR" sz="900" b="0" i="0" u="none" strike="noStrike">
                          <a:solidFill>
                            <a:srgbClr val="00B050"/>
                          </a:solidFill>
                          <a:effectLst/>
                          <a:latin typeface="Aptos Narrow" panose="020B0004020202020204" pitchFamily="34" charset="0"/>
                        </a:rPr>
                        <a:t>8,9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90579335"/>
                  </a:ext>
                </a:extLst>
              </a:tr>
              <a:tr h="118202">
                <a:tc>
                  <a:txBody>
                    <a:bodyPr/>
                    <a:lstStyle/>
                    <a:p>
                      <a:pPr algn="l" fontAlgn="b">
                        <a:buNone/>
                      </a:pPr>
                      <a:r>
                        <a:rPr lang="fr-FR" sz="900" b="0" i="0" u="none" strike="noStrike">
                          <a:solidFill>
                            <a:srgbClr val="000000"/>
                          </a:solidFill>
                          <a:effectLst/>
                          <a:latin typeface="Aptos Narrow" panose="020B0004020202020204" pitchFamily="34" charset="0"/>
                        </a:rPr>
                        <a:t> Premium cottage Wheelchair</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2,0</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D78"/>
                    </a:solidFill>
                  </a:tcPr>
                </a:tc>
                <a:tc>
                  <a:txBody>
                    <a:bodyPr/>
                    <a:lstStyle/>
                    <a:p>
                      <a:pPr algn="r" fontAlgn="b">
                        <a:buNone/>
                      </a:pPr>
                      <a:r>
                        <a:rPr lang="fr-FR" sz="900" b="0" i="0" u="none" strike="noStrike">
                          <a:solidFill>
                            <a:srgbClr val="000000"/>
                          </a:solidFill>
                          <a:effectLst/>
                          <a:latin typeface="Aptos Narrow" panose="020B0004020202020204" pitchFamily="34" charset="0"/>
                        </a:rPr>
                        <a:t>-13,2</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96B"/>
                    </a:solidFill>
                  </a:tcPr>
                </a:tc>
                <a:tc>
                  <a:txBody>
                    <a:bodyPr/>
                    <a:lstStyle/>
                    <a:p>
                      <a:pPr algn="r" fontAlgn="b">
                        <a:buNone/>
                      </a:pPr>
                      <a:r>
                        <a:rPr lang="fr-FR" sz="900" b="0" i="0" u="none" strike="noStrike">
                          <a:solidFill>
                            <a:srgbClr val="00B050"/>
                          </a:solidFill>
                          <a:effectLst/>
                          <a:latin typeface="Aptos Narrow" panose="020B0004020202020204" pitchFamily="34" charset="0"/>
                        </a:rPr>
                        <a:t>15,2</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39565979"/>
                  </a:ext>
                </a:extLst>
              </a:tr>
              <a:tr h="118202">
                <a:tc>
                  <a:txBody>
                    <a:bodyPr/>
                    <a:lstStyle/>
                    <a:p>
                      <a:pPr algn="l" fontAlgn="b">
                        <a:buNone/>
                      </a:pPr>
                      <a:r>
                        <a:rPr lang="fr-FR" sz="900" b="0" i="0" u="none" strike="noStrike">
                          <a:solidFill>
                            <a:srgbClr val="000000"/>
                          </a:solidFill>
                          <a:effectLst/>
                          <a:latin typeface="Aptos Narrow" panose="020B0004020202020204" pitchFamily="34" charset="0"/>
                        </a:rPr>
                        <a:t> Safari Lodge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40,0</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4C37C"/>
                    </a:solidFill>
                  </a:tcPr>
                </a:tc>
                <a:tc>
                  <a:txBody>
                    <a:bodyPr/>
                    <a:lstStyle/>
                    <a:p>
                      <a:pPr algn="r" fontAlgn="b">
                        <a:buNone/>
                      </a:pPr>
                      <a:r>
                        <a:rPr lang="fr-FR" sz="900" b="0" i="0" u="none" strike="noStrike">
                          <a:solidFill>
                            <a:srgbClr val="000000"/>
                          </a:solidFill>
                          <a:effectLst/>
                          <a:latin typeface="Aptos Narrow" panose="020B0004020202020204" pitchFamily="34" charset="0"/>
                        </a:rPr>
                        <a:t>8,1</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97D"/>
                    </a:solidFill>
                  </a:tcPr>
                </a:tc>
                <a:tc>
                  <a:txBody>
                    <a:bodyPr/>
                    <a:lstStyle/>
                    <a:p>
                      <a:pPr algn="r" fontAlgn="b">
                        <a:buNone/>
                      </a:pPr>
                      <a:r>
                        <a:rPr lang="fr-FR" sz="900" b="0" i="0" u="none" strike="noStrike">
                          <a:solidFill>
                            <a:srgbClr val="00B050"/>
                          </a:solidFill>
                          <a:effectLst/>
                          <a:latin typeface="Aptos Narrow" panose="020B0004020202020204" pitchFamily="34" charset="0"/>
                        </a:rPr>
                        <a:t>31,9</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74600288"/>
                  </a:ext>
                </a:extLst>
              </a:tr>
              <a:tr h="118202">
                <a:tc>
                  <a:txBody>
                    <a:bodyPr/>
                    <a:lstStyle/>
                    <a:p>
                      <a:pPr algn="l" fontAlgn="b">
                        <a:buNone/>
                      </a:pPr>
                      <a:r>
                        <a:rPr lang="fr-FR" sz="900" b="0" i="0" u="none" strike="noStrike">
                          <a:solidFill>
                            <a:srgbClr val="000000"/>
                          </a:solidFill>
                          <a:effectLst/>
                          <a:latin typeface="Aptos Narrow" panose="020B0004020202020204" pitchFamily="34" charset="0"/>
                        </a:rPr>
                        <a:t> VIP cottage</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10,2</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37F"/>
                    </a:solidFill>
                  </a:tcPr>
                </a:tc>
                <a:tc>
                  <a:txBody>
                    <a:bodyPr/>
                    <a:lstStyle/>
                    <a:p>
                      <a:pPr algn="r" fontAlgn="b">
                        <a:buNone/>
                      </a:pPr>
                      <a:r>
                        <a:rPr lang="fr-FR" sz="900" b="0" i="0" u="none" strike="noStrike">
                          <a:solidFill>
                            <a:srgbClr val="000000"/>
                          </a:solidFill>
                          <a:effectLst/>
                          <a:latin typeface="Aptos Narrow" panose="020B0004020202020204" pitchFamily="34" charset="0"/>
                        </a:rPr>
                        <a:t>6,3</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17B"/>
                    </a:solidFill>
                  </a:tcPr>
                </a:tc>
                <a:tc>
                  <a:txBody>
                    <a:bodyPr/>
                    <a:lstStyle/>
                    <a:p>
                      <a:pPr algn="r" fontAlgn="b">
                        <a:buNone/>
                      </a:pPr>
                      <a:r>
                        <a:rPr lang="fr-FR" sz="900" b="0" i="0" u="none" strike="noStrike">
                          <a:solidFill>
                            <a:srgbClr val="00B050"/>
                          </a:solidFill>
                          <a:effectLst/>
                          <a:latin typeface="Aptos Narrow" panose="020B0004020202020204" pitchFamily="34" charset="0"/>
                        </a:rPr>
                        <a:t>4,0</a:t>
                      </a:r>
                    </a:p>
                  </a:txBody>
                  <a:tcPr marL="2501" marR="2501" marT="250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46600923"/>
                  </a:ext>
                </a:extLst>
              </a:tr>
            </a:tbl>
          </a:graphicData>
        </a:graphic>
      </p:graphicFrame>
    </p:spTree>
    <p:extLst>
      <p:ext uri="{BB962C8B-B14F-4D97-AF65-F5344CB8AC3E}">
        <p14:creationId xmlns:p14="http://schemas.microsoft.com/office/powerpoint/2010/main" val="17379713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9E0A0-D460-D681-5CC7-A92D6F3B287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EBF125-4BC8-EF1D-3945-B8F5F32BBD80}"/>
              </a:ext>
            </a:extLst>
          </p:cNvPr>
          <p:cNvSpPr>
            <a:spLocks noGrp="1"/>
          </p:cNvSpPr>
          <p:nvPr>
            <p:ph type="sldNum" sz="quarter" idx="12"/>
          </p:nvPr>
        </p:nvSpPr>
        <p:spPr/>
        <p:txBody>
          <a:bodyPr/>
          <a:lstStyle/>
          <a:p>
            <a:fld id="{0D2E6A04-B99A-6C4D-8942-945F97C9E705}" type="slidenum">
              <a:rPr lang="en-US" smtClean="0"/>
              <a:pPr/>
              <a:t>36</a:t>
            </a:fld>
            <a:endParaRPr lang="en-US"/>
          </a:p>
        </p:txBody>
      </p:sp>
      <p:sp>
        <p:nvSpPr>
          <p:cNvPr id="3" name="Date Placeholder 2">
            <a:extLst>
              <a:ext uri="{FF2B5EF4-FFF2-40B4-BE49-F238E27FC236}">
                <a16:creationId xmlns:a16="http://schemas.microsoft.com/office/drawing/2014/main" id="{BB994447-BCD5-76C0-87E8-3F700E8D4A88}"/>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EE602B9F-B57E-F8D4-91F9-7F42301FF2E2}"/>
              </a:ext>
            </a:extLst>
          </p:cNvPr>
          <p:cNvSpPr>
            <a:spLocks noGrp="1"/>
          </p:cNvSpPr>
          <p:nvPr>
            <p:ph type="title"/>
          </p:nvPr>
        </p:nvSpPr>
        <p:spPr/>
        <p:txBody>
          <a:bodyPr/>
          <a:lstStyle/>
          <a:p>
            <a:r>
              <a:rPr lang="fr-FR"/>
              <a:t>Netherlands – text </a:t>
            </a:r>
            <a:r>
              <a:rPr lang="fr-FR" err="1"/>
              <a:t>analytics</a:t>
            </a:r>
            <a:r>
              <a:rPr lang="fr-FR"/>
              <a:t>, topics </a:t>
            </a:r>
            <a:r>
              <a:rPr lang="fr-FR" err="1"/>
              <a:t>comparision</a:t>
            </a:r>
            <a:r>
              <a:rPr lang="fr-FR"/>
              <a:t> vs N-1</a:t>
            </a:r>
          </a:p>
        </p:txBody>
      </p:sp>
      <p:sp>
        <p:nvSpPr>
          <p:cNvPr id="6" name="Rechthoek 4">
            <a:extLst>
              <a:ext uri="{FF2B5EF4-FFF2-40B4-BE49-F238E27FC236}">
                <a16:creationId xmlns:a16="http://schemas.microsoft.com/office/drawing/2014/main" id="{CB7885E9-3745-884F-9143-E8DCEAA9BCDA}"/>
              </a:ext>
            </a:extLst>
          </p:cNvPr>
          <p:cNvSpPr/>
          <p:nvPr/>
        </p:nvSpPr>
        <p:spPr>
          <a:xfrm>
            <a:off x="-1" y="978100"/>
            <a:ext cx="11858372" cy="942140"/>
          </a:xfrm>
          <a:prstGeom prst="rect">
            <a:avLst/>
          </a:prstGeom>
          <a:solidFill>
            <a:schemeClr val="accent4">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ea typeface="Calibri"/>
                <a:cs typeface="Calibri"/>
              </a:rPr>
              <a:t>All categories of topics from open comments improved compared to N-1, which means a decrease in the share of negative comments, and/or an increase in the share of positive comment volumes, explaining the overall improvement in the total NPS.</a:t>
            </a:r>
          </a:p>
        </p:txBody>
      </p:sp>
      <p:sp>
        <p:nvSpPr>
          <p:cNvPr id="7" name="Rectangle 6">
            <a:extLst>
              <a:ext uri="{FF2B5EF4-FFF2-40B4-BE49-F238E27FC236}">
                <a16:creationId xmlns:a16="http://schemas.microsoft.com/office/drawing/2014/main" id="{DBED024F-F4BE-4CAA-7412-FCC3CCCDFDC8}"/>
              </a:ext>
            </a:extLst>
          </p:cNvPr>
          <p:cNvSpPr/>
          <p:nvPr/>
        </p:nvSpPr>
        <p:spPr>
          <a:xfrm rot="16200000">
            <a:off x="-248869" y="1277825"/>
            <a:ext cx="919529"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4"/>
                </a:solidFill>
                <a:ea typeface="Calibri"/>
                <a:cs typeface="Calibri"/>
              </a:rPr>
              <a:t>Analysis</a:t>
            </a:r>
            <a:endParaRPr lang="en-US" sz="1100">
              <a:solidFill>
                <a:schemeClr val="accent4"/>
              </a:solidFill>
            </a:endParaRPr>
          </a:p>
        </p:txBody>
      </p:sp>
      <p:pic>
        <p:nvPicPr>
          <p:cNvPr id="8" name="Picture 7">
            <a:extLst>
              <a:ext uri="{FF2B5EF4-FFF2-40B4-BE49-F238E27FC236}">
                <a16:creationId xmlns:a16="http://schemas.microsoft.com/office/drawing/2014/main" id="{B8213D9D-B44B-A5D8-32F0-473190896C68}"/>
              </a:ext>
            </a:extLst>
          </p:cNvPr>
          <p:cNvPicPr>
            <a:picLocks noChangeAspect="1"/>
          </p:cNvPicPr>
          <p:nvPr/>
        </p:nvPicPr>
        <p:blipFill>
          <a:blip r:embed="rId2"/>
          <a:stretch>
            <a:fillRect/>
          </a:stretch>
        </p:blipFill>
        <p:spPr>
          <a:xfrm>
            <a:off x="1108710" y="2139841"/>
            <a:ext cx="9304020" cy="3961477"/>
          </a:xfrm>
          <a:prstGeom prst="rect">
            <a:avLst/>
          </a:prstGeom>
        </p:spPr>
      </p:pic>
    </p:spTree>
    <p:extLst>
      <p:ext uri="{BB962C8B-B14F-4D97-AF65-F5344CB8AC3E}">
        <p14:creationId xmlns:p14="http://schemas.microsoft.com/office/powerpoint/2010/main" val="4772607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7E97C-6927-3CE2-760C-25232ACC85B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47FA01-7967-F898-A7CA-7F6EF4DF78B0}"/>
              </a:ext>
            </a:extLst>
          </p:cNvPr>
          <p:cNvSpPr>
            <a:spLocks noGrp="1"/>
          </p:cNvSpPr>
          <p:nvPr>
            <p:ph type="sldNum" sz="quarter" idx="12"/>
          </p:nvPr>
        </p:nvSpPr>
        <p:spPr/>
        <p:txBody>
          <a:bodyPr/>
          <a:lstStyle/>
          <a:p>
            <a:fld id="{0D2E6A04-B99A-6C4D-8942-945F97C9E705}" type="slidenum">
              <a:rPr lang="en-US" smtClean="0"/>
              <a:pPr/>
              <a:t>37</a:t>
            </a:fld>
            <a:endParaRPr lang="en-US"/>
          </a:p>
        </p:txBody>
      </p:sp>
      <p:sp>
        <p:nvSpPr>
          <p:cNvPr id="3" name="Date Placeholder 2">
            <a:extLst>
              <a:ext uri="{FF2B5EF4-FFF2-40B4-BE49-F238E27FC236}">
                <a16:creationId xmlns:a16="http://schemas.microsoft.com/office/drawing/2014/main" id="{33E54A74-891C-785F-A3C1-818C1BA9A41C}"/>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39C62241-7740-00E3-3D08-0AB968F74C94}"/>
              </a:ext>
            </a:extLst>
          </p:cNvPr>
          <p:cNvSpPr>
            <a:spLocks noGrp="1"/>
          </p:cNvSpPr>
          <p:nvPr>
            <p:ph type="title"/>
          </p:nvPr>
        </p:nvSpPr>
        <p:spPr>
          <a:xfrm>
            <a:off x="334963" y="303238"/>
            <a:ext cx="11663997" cy="487938"/>
          </a:xfrm>
        </p:spPr>
        <p:txBody>
          <a:bodyPr/>
          <a:lstStyle/>
          <a:p>
            <a:r>
              <a:rPr lang="fr-FR"/>
              <a:t>Netherlands – text </a:t>
            </a:r>
            <a:r>
              <a:rPr lang="fr-FR" err="1"/>
              <a:t>analytics</a:t>
            </a:r>
            <a:r>
              <a:rPr lang="fr-FR"/>
              <a:t>, </a:t>
            </a:r>
            <a:r>
              <a:rPr lang="fr-FR" err="1"/>
              <a:t>bottom</a:t>
            </a:r>
            <a:r>
              <a:rPr lang="fr-FR"/>
              <a:t> topics </a:t>
            </a:r>
            <a:r>
              <a:rPr lang="fr-FR" err="1"/>
              <a:t>with</a:t>
            </a:r>
            <a:r>
              <a:rPr lang="fr-FR"/>
              <a:t> </a:t>
            </a:r>
            <a:r>
              <a:rPr lang="fr-FR" err="1"/>
              <a:t>higher</a:t>
            </a:r>
            <a:r>
              <a:rPr lang="fr-FR"/>
              <a:t> </a:t>
            </a:r>
            <a:r>
              <a:rPr lang="fr-FR" err="1"/>
              <a:t>negative</a:t>
            </a:r>
            <a:r>
              <a:rPr lang="fr-FR"/>
              <a:t> impact score on NPS</a:t>
            </a:r>
          </a:p>
        </p:txBody>
      </p:sp>
      <p:sp>
        <p:nvSpPr>
          <p:cNvPr id="6" name="Rechthoek 4">
            <a:extLst>
              <a:ext uri="{FF2B5EF4-FFF2-40B4-BE49-F238E27FC236}">
                <a16:creationId xmlns:a16="http://schemas.microsoft.com/office/drawing/2014/main" id="{F063CAC3-4FD8-C71B-2602-C868403CE426}"/>
              </a:ext>
            </a:extLst>
          </p:cNvPr>
          <p:cNvSpPr/>
          <p:nvPr/>
        </p:nvSpPr>
        <p:spPr>
          <a:xfrm>
            <a:off x="-1" y="978100"/>
            <a:ext cx="11858372" cy="942140"/>
          </a:xfrm>
          <a:prstGeom prst="rect">
            <a:avLst/>
          </a:prstGeom>
          <a:solidFill>
            <a:schemeClr val="accent4">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ea typeface="Calibri"/>
                <a:cs typeface="Calibri"/>
              </a:rPr>
              <a:t>Cottage cleanliness and maintenance issues have the highest negative impact score on NPS.</a:t>
            </a:r>
          </a:p>
        </p:txBody>
      </p:sp>
      <p:sp>
        <p:nvSpPr>
          <p:cNvPr id="7" name="Rectangle 6">
            <a:extLst>
              <a:ext uri="{FF2B5EF4-FFF2-40B4-BE49-F238E27FC236}">
                <a16:creationId xmlns:a16="http://schemas.microsoft.com/office/drawing/2014/main" id="{1B688C3D-734C-D069-7083-682854525137}"/>
              </a:ext>
            </a:extLst>
          </p:cNvPr>
          <p:cNvSpPr/>
          <p:nvPr/>
        </p:nvSpPr>
        <p:spPr>
          <a:xfrm rot="16200000">
            <a:off x="-248869" y="1277825"/>
            <a:ext cx="919529"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4"/>
                </a:solidFill>
                <a:ea typeface="Calibri"/>
                <a:cs typeface="Calibri"/>
              </a:rPr>
              <a:t>Analysis</a:t>
            </a:r>
            <a:endParaRPr lang="en-US" sz="1100">
              <a:solidFill>
                <a:schemeClr val="accent4"/>
              </a:solidFill>
            </a:endParaRPr>
          </a:p>
        </p:txBody>
      </p:sp>
      <p:pic>
        <p:nvPicPr>
          <p:cNvPr id="9" name="Picture 8">
            <a:extLst>
              <a:ext uri="{FF2B5EF4-FFF2-40B4-BE49-F238E27FC236}">
                <a16:creationId xmlns:a16="http://schemas.microsoft.com/office/drawing/2014/main" id="{194B81D1-93D0-EE01-1A3B-A47169B2EA62}"/>
              </a:ext>
            </a:extLst>
          </p:cNvPr>
          <p:cNvPicPr>
            <a:picLocks noChangeAspect="1"/>
          </p:cNvPicPr>
          <p:nvPr/>
        </p:nvPicPr>
        <p:blipFill>
          <a:blip r:embed="rId2"/>
          <a:stretch>
            <a:fillRect/>
          </a:stretch>
        </p:blipFill>
        <p:spPr>
          <a:xfrm>
            <a:off x="1975758" y="2536158"/>
            <a:ext cx="7906853" cy="3343742"/>
          </a:xfrm>
          <a:prstGeom prst="rect">
            <a:avLst/>
          </a:prstGeom>
        </p:spPr>
      </p:pic>
    </p:spTree>
    <p:extLst>
      <p:ext uri="{BB962C8B-B14F-4D97-AF65-F5344CB8AC3E}">
        <p14:creationId xmlns:p14="http://schemas.microsoft.com/office/powerpoint/2010/main" val="38981073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7FB7697-B965-5DDC-EE1F-23002336B3A8}"/>
              </a:ext>
            </a:extLst>
          </p:cNvPr>
          <p:cNvSpPr>
            <a:spLocks noGrp="1"/>
          </p:cNvSpPr>
          <p:nvPr>
            <p:ph type="body" sz="quarter" idx="14"/>
          </p:nvPr>
        </p:nvSpPr>
        <p:spPr/>
        <p:txBody>
          <a:bodyPr/>
          <a:lstStyle/>
          <a:p>
            <a:r>
              <a:rPr lang="fr-FR"/>
              <a:t>Germany</a:t>
            </a:r>
          </a:p>
        </p:txBody>
      </p:sp>
      <p:sp>
        <p:nvSpPr>
          <p:cNvPr id="3" name="Text Placeholder 2">
            <a:extLst>
              <a:ext uri="{FF2B5EF4-FFF2-40B4-BE49-F238E27FC236}">
                <a16:creationId xmlns:a16="http://schemas.microsoft.com/office/drawing/2014/main" id="{A869E1D5-810D-39E4-F3DC-044F6477B01B}"/>
              </a:ext>
            </a:extLst>
          </p:cNvPr>
          <p:cNvSpPr>
            <a:spLocks noGrp="1"/>
          </p:cNvSpPr>
          <p:nvPr>
            <p:ph type="body" sz="quarter" idx="13"/>
          </p:nvPr>
        </p:nvSpPr>
        <p:spPr/>
        <p:txBody>
          <a:bodyPr/>
          <a:lstStyle/>
          <a:p>
            <a:r>
              <a:rPr lang="fr-FR"/>
              <a:t>NPS </a:t>
            </a:r>
            <a:r>
              <a:rPr lang="fr-FR" err="1"/>
              <a:t>Review</a:t>
            </a:r>
            <a:endParaRPr lang="fr-FR"/>
          </a:p>
        </p:txBody>
      </p:sp>
    </p:spTree>
    <p:extLst>
      <p:ext uri="{BB962C8B-B14F-4D97-AF65-F5344CB8AC3E}">
        <p14:creationId xmlns:p14="http://schemas.microsoft.com/office/powerpoint/2010/main" val="13020862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2874A-F84E-D36F-87C8-F8E7F45B9E2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819B7D-340D-319C-3B70-531389E714A2}"/>
              </a:ext>
            </a:extLst>
          </p:cNvPr>
          <p:cNvSpPr>
            <a:spLocks noGrp="1"/>
          </p:cNvSpPr>
          <p:nvPr>
            <p:ph type="sldNum" sz="quarter" idx="12"/>
          </p:nvPr>
        </p:nvSpPr>
        <p:spPr/>
        <p:txBody>
          <a:bodyPr/>
          <a:lstStyle/>
          <a:p>
            <a:fld id="{0D2E6A04-B99A-6C4D-8942-945F97C9E705}" type="slidenum">
              <a:rPr lang="en-US" smtClean="0"/>
              <a:pPr/>
              <a:t>39</a:t>
            </a:fld>
            <a:endParaRPr lang="en-US"/>
          </a:p>
        </p:txBody>
      </p:sp>
      <p:sp>
        <p:nvSpPr>
          <p:cNvPr id="3" name="Date Placeholder 2">
            <a:extLst>
              <a:ext uri="{FF2B5EF4-FFF2-40B4-BE49-F238E27FC236}">
                <a16:creationId xmlns:a16="http://schemas.microsoft.com/office/drawing/2014/main" id="{DD244FA4-92D1-3300-3BAF-BA6108C25158}"/>
              </a:ext>
            </a:extLst>
          </p:cNvPr>
          <p:cNvSpPr>
            <a:spLocks noGrp="1"/>
          </p:cNvSpPr>
          <p:nvPr>
            <p:ph type="dt" sz="half" idx="10"/>
          </p:nvPr>
        </p:nvSpPr>
        <p:spPr/>
        <p:txBody>
          <a:bodyPr/>
          <a:lstStyle/>
          <a:p>
            <a:fld id="{05C20A28-4BAC-4477-9026-1E123DBFBC43}" type="datetime1">
              <a:rPr lang="fr-FR" smtClean="0"/>
              <a:t>27/11/2025</a:t>
            </a:fld>
            <a:endParaRPr lang="en-US"/>
          </a:p>
        </p:txBody>
      </p:sp>
      <p:sp>
        <p:nvSpPr>
          <p:cNvPr id="5" name="Title 4">
            <a:extLst>
              <a:ext uri="{FF2B5EF4-FFF2-40B4-BE49-F238E27FC236}">
                <a16:creationId xmlns:a16="http://schemas.microsoft.com/office/drawing/2014/main" id="{624E2118-3E9E-B51D-C31D-DE6BC398A5B3}"/>
              </a:ext>
            </a:extLst>
          </p:cNvPr>
          <p:cNvSpPr>
            <a:spLocks noGrp="1"/>
          </p:cNvSpPr>
          <p:nvPr>
            <p:ph type="title"/>
          </p:nvPr>
        </p:nvSpPr>
        <p:spPr/>
        <p:txBody>
          <a:bodyPr/>
          <a:lstStyle/>
          <a:p>
            <a:r>
              <a:rPr lang="fr-FR"/>
              <a:t>Germany – </a:t>
            </a:r>
            <a:r>
              <a:rPr lang="fr-FR" err="1"/>
              <a:t>highest</a:t>
            </a:r>
            <a:r>
              <a:rPr lang="fr-FR"/>
              <a:t> contribution to NPS</a:t>
            </a:r>
          </a:p>
        </p:txBody>
      </p:sp>
      <p:sp>
        <p:nvSpPr>
          <p:cNvPr id="6" name="Rechthoek 4">
            <a:extLst>
              <a:ext uri="{FF2B5EF4-FFF2-40B4-BE49-F238E27FC236}">
                <a16:creationId xmlns:a16="http://schemas.microsoft.com/office/drawing/2014/main" id="{DD024061-50ED-1041-E9CC-0673EBE7B231}"/>
              </a:ext>
            </a:extLst>
          </p:cNvPr>
          <p:cNvSpPr/>
          <p:nvPr/>
        </p:nvSpPr>
        <p:spPr>
          <a:xfrm>
            <a:off x="-1" y="978100"/>
            <a:ext cx="11858372" cy="1089417"/>
          </a:xfrm>
          <a:prstGeom prst="rect">
            <a:avLst/>
          </a:prstGeom>
          <a:solidFill>
            <a:schemeClr val="accent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1"/>
                </a:solidFill>
                <a:ea typeface="Calibri"/>
                <a:cs typeface="Calibri"/>
              </a:rPr>
              <a:t>Continuous improvement of monthly NPS vs. N-1</a:t>
            </a:r>
          </a:p>
        </p:txBody>
      </p:sp>
      <p:sp>
        <p:nvSpPr>
          <p:cNvPr id="7" name="Rectangle 6">
            <a:extLst>
              <a:ext uri="{FF2B5EF4-FFF2-40B4-BE49-F238E27FC236}">
                <a16:creationId xmlns:a16="http://schemas.microsoft.com/office/drawing/2014/main" id="{B1767429-B422-311D-ACD3-AACC2CCB92AA}"/>
              </a:ext>
            </a:extLst>
          </p:cNvPr>
          <p:cNvSpPr/>
          <p:nvPr/>
        </p:nvSpPr>
        <p:spPr>
          <a:xfrm rot="16200000">
            <a:off x="-320741" y="1349697"/>
            <a:ext cx="1063274" cy="37547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2"/>
                </a:solidFill>
                <a:ea typeface="Calibri"/>
                <a:cs typeface="Calibri"/>
              </a:rPr>
              <a:t>Analysis</a:t>
            </a:r>
            <a:endParaRPr lang="en-US" sz="1100">
              <a:solidFill>
                <a:schemeClr val="accent2"/>
              </a:solidFill>
            </a:endParaRPr>
          </a:p>
        </p:txBody>
      </p:sp>
      <p:pic>
        <p:nvPicPr>
          <p:cNvPr id="10" name="Picture 9">
            <a:extLst>
              <a:ext uri="{FF2B5EF4-FFF2-40B4-BE49-F238E27FC236}">
                <a16:creationId xmlns:a16="http://schemas.microsoft.com/office/drawing/2014/main" id="{686DE4FE-8A9D-F9DB-889B-BB52016374DA}"/>
              </a:ext>
            </a:extLst>
          </p:cNvPr>
          <p:cNvPicPr>
            <a:picLocks noChangeAspect="1"/>
          </p:cNvPicPr>
          <p:nvPr/>
        </p:nvPicPr>
        <p:blipFill>
          <a:blip r:embed="rId2"/>
          <a:stretch>
            <a:fillRect/>
          </a:stretch>
        </p:blipFill>
        <p:spPr>
          <a:xfrm>
            <a:off x="1456172" y="2263711"/>
            <a:ext cx="8946025" cy="3838940"/>
          </a:xfrm>
          <a:prstGeom prst="rect">
            <a:avLst/>
          </a:prstGeom>
        </p:spPr>
      </p:pic>
    </p:spTree>
    <p:extLst>
      <p:ext uri="{BB962C8B-B14F-4D97-AF65-F5344CB8AC3E}">
        <p14:creationId xmlns:p14="http://schemas.microsoft.com/office/powerpoint/2010/main" val="36019773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CEDCA-1FC9-BD60-6B5C-CDE1C3055F4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B5B1DD-80C0-F03D-0CD3-E67EEF969DB2}"/>
              </a:ext>
            </a:extLst>
          </p:cNvPr>
          <p:cNvSpPr>
            <a:spLocks noGrp="1"/>
          </p:cNvSpPr>
          <p:nvPr>
            <p:ph type="sldNum" sz="quarter" idx="12"/>
          </p:nvPr>
        </p:nvSpPr>
        <p:spPr/>
        <p:txBody>
          <a:bodyPr/>
          <a:lstStyle/>
          <a:p>
            <a:fld id="{0D2E6A04-B99A-6C4D-8942-945F97C9E705}" type="slidenum">
              <a:rPr lang="en-US" smtClean="0"/>
              <a:pPr/>
              <a:t>40</a:t>
            </a:fld>
            <a:endParaRPr lang="en-US"/>
          </a:p>
        </p:txBody>
      </p:sp>
      <p:sp>
        <p:nvSpPr>
          <p:cNvPr id="3" name="Date Placeholder 2">
            <a:extLst>
              <a:ext uri="{FF2B5EF4-FFF2-40B4-BE49-F238E27FC236}">
                <a16:creationId xmlns:a16="http://schemas.microsoft.com/office/drawing/2014/main" id="{8C51EF89-10F2-882F-36CC-FAF81FBE845A}"/>
              </a:ext>
            </a:extLst>
          </p:cNvPr>
          <p:cNvSpPr>
            <a:spLocks noGrp="1"/>
          </p:cNvSpPr>
          <p:nvPr>
            <p:ph type="dt" sz="half" idx="10"/>
          </p:nvPr>
        </p:nvSpPr>
        <p:spPr/>
        <p:txBody>
          <a:bodyPr/>
          <a:lstStyle/>
          <a:p>
            <a:fld id="{05C20A28-4BAC-4477-9026-1E123DBFBC43}" type="datetime1">
              <a:rPr lang="fr-FR" smtClean="0"/>
              <a:t>27/11/2025</a:t>
            </a:fld>
            <a:endParaRPr lang="en-US"/>
          </a:p>
        </p:txBody>
      </p:sp>
      <p:sp>
        <p:nvSpPr>
          <p:cNvPr id="5" name="Title 4">
            <a:extLst>
              <a:ext uri="{FF2B5EF4-FFF2-40B4-BE49-F238E27FC236}">
                <a16:creationId xmlns:a16="http://schemas.microsoft.com/office/drawing/2014/main" id="{73C85653-1ED3-4EC7-24F2-74D63D761751}"/>
              </a:ext>
            </a:extLst>
          </p:cNvPr>
          <p:cNvSpPr>
            <a:spLocks noGrp="1"/>
          </p:cNvSpPr>
          <p:nvPr>
            <p:ph type="title"/>
          </p:nvPr>
        </p:nvSpPr>
        <p:spPr/>
        <p:txBody>
          <a:bodyPr/>
          <a:lstStyle/>
          <a:p>
            <a:r>
              <a:rPr lang="fr-FR"/>
              <a:t>Germany – </a:t>
            </a:r>
            <a:r>
              <a:rPr lang="fr-FR" err="1"/>
              <a:t>highest</a:t>
            </a:r>
            <a:r>
              <a:rPr lang="fr-FR"/>
              <a:t> contribution to NPS</a:t>
            </a:r>
          </a:p>
        </p:txBody>
      </p:sp>
      <p:sp>
        <p:nvSpPr>
          <p:cNvPr id="6" name="Rechthoek 4">
            <a:extLst>
              <a:ext uri="{FF2B5EF4-FFF2-40B4-BE49-F238E27FC236}">
                <a16:creationId xmlns:a16="http://schemas.microsoft.com/office/drawing/2014/main" id="{D0FA10F9-24FD-F1FF-F57A-C5848D93416F}"/>
              </a:ext>
            </a:extLst>
          </p:cNvPr>
          <p:cNvSpPr/>
          <p:nvPr/>
        </p:nvSpPr>
        <p:spPr>
          <a:xfrm>
            <a:off x="-1" y="978100"/>
            <a:ext cx="4660901" cy="1696720"/>
          </a:xfrm>
          <a:prstGeom prst="rect">
            <a:avLst/>
          </a:prstGeom>
          <a:solidFill>
            <a:schemeClr val="accent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1"/>
                </a:solidFill>
                <a:ea typeface="Calibri"/>
                <a:cs typeface="Calibri"/>
              </a:rPr>
              <a:t>Main pillars are key on Net Promoter Score.</a:t>
            </a:r>
          </a:p>
          <a:p>
            <a:pPr marL="720725" lvl="2" indent="-161925">
              <a:lnSpc>
                <a:spcPct val="120000"/>
              </a:lnSpc>
              <a:buFont typeface="Arial" panose="020B0604020202020204" pitchFamily="34" charset="0"/>
              <a:buChar char="•"/>
            </a:pPr>
            <a:r>
              <a:rPr lang="en-US" sz="1200" b="1">
                <a:solidFill>
                  <a:schemeClr val="tx1"/>
                </a:solidFill>
                <a:ea typeface="Calibri"/>
                <a:cs typeface="Calibri"/>
              </a:rPr>
              <a:t>Secondary pillars “Village safety”, “quality of the meals” and “catering promptness” are also key to impact Net Promoter Score.</a:t>
            </a:r>
          </a:p>
        </p:txBody>
      </p:sp>
      <p:sp>
        <p:nvSpPr>
          <p:cNvPr id="7" name="Rectangle 6">
            <a:extLst>
              <a:ext uri="{FF2B5EF4-FFF2-40B4-BE49-F238E27FC236}">
                <a16:creationId xmlns:a16="http://schemas.microsoft.com/office/drawing/2014/main" id="{459D4E78-6955-275E-680F-748E016E5309}"/>
              </a:ext>
            </a:extLst>
          </p:cNvPr>
          <p:cNvSpPr/>
          <p:nvPr/>
        </p:nvSpPr>
        <p:spPr>
          <a:xfrm rot="16200000">
            <a:off x="-617105" y="1646060"/>
            <a:ext cx="1656000" cy="37547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2"/>
                </a:solidFill>
                <a:ea typeface="Calibri"/>
                <a:cs typeface="Calibri"/>
              </a:rPr>
              <a:t>Analysis</a:t>
            </a:r>
            <a:endParaRPr lang="en-US" sz="1100">
              <a:solidFill>
                <a:schemeClr val="accent2"/>
              </a:solidFill>
            </a:endParaRPr>
          </a:p>
        </p:txBody>
      </p:sp>
      <p:pic>
        <p:nvPicPr>
          <p:cNvPr id="14" name="Picture 13">
            <a:extLst>
              <a:ext uri="{FF2B5EF4-FFF2-40B4-BE49-F238E27FC236}">
                <a16:creationId xmlns:a16="http://schemas.microsoft.com/office/drawing/2014/main" id="{2ADD501E-81A6-3FDA-D080-BFBAD808E50D}"/>
              </a:ext>
            </a:extLst>
          </p:cNvPr>
          <p:cNvPicPr>
            <a:picLocks noChangeAspect="1"/>
          </p:cNvPicPr>
          <p:nvPr/>
        </p:nvPicPr>
        <p:blipFill>
          <a:blip r:embed="rId2"/>
          <a:stretch>
            <a:fillRect/>
          </a:stretch>
        </p:blipFill>
        <p:spPr>
          <a:xfrm>
            <a:off x="4781622" y="1044695"/>
            <a:ext cx="7073621" cy="5276225"/>
          </a:xfrm>
          <a:prstGeom prst="rect">
            <a:avLst/>
          </a:prstGeom>
        </p:spPr>
      </p:pic>
    </p:spTree>
    <p:extLst>
      <p:ext uri="{BB962C8B-B14F-4D97-AF65-F5344CB8AC3E}">
        <p14:creationId xmlns:p14="http://schemas.microsoft.com/office/powerpoint/2010/main" val="8459933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D54923-24C5-13C8-39CE-8EC0CDEB3FDA}"/>
              </a:ext>
            </a:extLst>
          </p:cNvPr>
          <p:cNvSpPr>
            <a:spLocks noGrp="1"/>
          </p:cNvSpPr>
          <p:nvPr>
            <p:ph type="sldNum" sz="quarter" idx="12"/>
          </p:nvPr>
        </p:nvSpPr>
        <p:spPr/>
        <p:txBody>
          <a:bodyPr/>
          <a:lstStyle/>
          <a:p>
            <a:fld id="{0D2E6A04-B99A-6C4D-8942-945F97C9E705}" type="slidenum">
              <a:rPr lang="en-US" smtClean="0"/>
              <a:pPr/>
              <a:t>41</a:t>
            </a:fld>
            <a:endParaRPr lang="en-US"/>
          </a:p>
        </p:txBody>
      </p:sp>
      <p:sp>
        <p:nvSpPr>
          <p:cNvPr id="3" name="Date Placeholder 2">
            <a:extLst>
              <a:ext uri="{FF2B5EF4-FFF2-40B4-BE49-F238E27FC236}">
                <a16:creationId xmlns:a16="http://schemas.microsoft.com/office/drawing/2014/main" id="{2433FC94-E243-5687-42E8-E2A8725FA0BE}"/>
              </a:ext>
            </a:extLst>
          </p:cNvPr>
          <p:cNvSpPr>
            <a:spLocks noGrp="1"/>
          </p:cNvSpPr>
          <p:nvPr>
            <p:ph type="dt" sz="half" idx="10"/>
          </p:nvPr>
        </p:nvSpPr>
        <p:spPr/>
        <p:txBody>
          <a:bodyPr/>
          <a:lstStyle/>
          <a:p>
            <a:fld id="{05C20A28-4BAC-4477-9026-1E123DBFBC43}" type="datetime1">
              <a:rPr lang="fr-FR" smtClean="0"/>
              <a:t>27/11/2025</a:t>
            </a:fld>
            <a:endParaRPr lang="en-US"/>
          </a:p>
        </p:txBody>
      </p:sp>
      <p:sp>
        <p:nvSpPr>
          <p:cNvPr id="5" name="Title 4">
            <a:extLst>
              <a:ext uri="{FF2B5EF4-FFF2-40B4-BE49-F238E27FC236}">
                <a16:creationId xmlns:a16="http://schemas.microsoft.com/office/drawing/2014/main" id="{117187D1-D1E3-FF6D-1FD4-8A93AE9FB887}"/>
              </a:ext>
            </a:extLst>
          </p:cNvPr>
          <p:cNvSpPr>
            <a:spLocks noGrp="1"/>
          </p:cNvSpPr>
          <p:nvPr>
            <p:ph type="title"/>
          </p:nvPr>
        </p:nvSpPr>
        <p:spPr/>
        <p:txBody>
          <a:bodyPr/>
          <a:lstStyle/>
          <a:p>
            <a:r>
              <a:rPr lang="fr-FR"/>
              <a:t>Germany – main </a:t>
            </a:r>
            <a:r>
              <a:rPr lang="fr-FR" err="1"/>
              <a:t>pillars</a:t>
            </a:r>
            <a:r>
              <a:rPr lang="fr-FR"/>
              <a:t> over </a:t>
            </a:r>
            <a:r>
              <a:rPr lang="fr-FR" err="1"/>
              <a:t>months</a:t>
            </a:r>
            <a:endParaRPr lang="fr-FR"/>
          </a:p>
        </p:txBody>
      </p:sp>
      <p:sp>
        <p:nvSpPr>
          <p:cNvPr id="9" name="Rechthoek 4">
            <a:extLst>
              <a:ext uri="{FF2B5EF4-FFF2-40B4-BE49-F238E27FC236}">
                <a16:creationId xmlns:a16="http://schemas.microsoft.com/office/drawing/2014/main" id="{D548E94B-F5C2-33FD-7B8C-E3288881A5AE}"/>
              </a:ext>
            </a:extLst>
          </p:cNvPr>
          <p:cNvSpPr/>
          <p:nvPr/>
        </p:nvSpPr>
        <p:spPr>
          <a:xfrm>
            <a:off x="-1" y="978100"/>
            <a:ext cx="11858372" cy="1011121"/>
          </a:xfrm>
          <a:prstGeom prst="rect">
            <a:avLst/>
          </a:prstGeom>
          <a:solidFill>
            <a:schemeClr val="accent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1"/>
                </a:solidFill>
                <a:latin typeface="+mj-lt"/>
                <a:ea typeface="Calibri"/>
                <a:cs typeface="Calibri"/>
              </a:rPr>
              <a:t>Direct impact between cottage general and its main attributes cleanliness and maintenance, with NPS and Overall satisfaction of the stay.</a:t>
            </a:r>
          </a:p>
          <a:p>
            <a:pPr marL="720725" lvl="2" indent="-161925">
              <a:lnSpc>
                <a:spcPct val="120000"/>
              </a:lnSpc>
              <a:buFont typeface="Arial" panose="020B0604020202020204" pitchFamily="34" charset="0"/>
              <a:buChar char="•"/>
            </a:pPr>
            <a:r>
              <a:rPr lang="en-US" sz="1200" b="1">
                <a:solidFill>
                  <a:schemeClr val="tx1"/>
                </a:solidFill>
                <a:latin typeface="+mj-lt"/>
                <a:ea typeface="Calibri"/>
                <a:cs typeface="Calibri"/>
              </a:rPr>
              <a:t>Improvement of all pillars compared to </a:t>
            </a:r>
            <a:r>
              <a:rPr lang="en-US" sz="1200" b="1" err="1">
                <a:solidFill>
                  <a:schemeClr val="tx1"/>
                </a:solidFill>
                <a:latin typeface="+mj-lt"/>
                <a:ea typeface="Calibri"/>
                <a:cs typeface="Calibri"/>
              </a:rPr>
              <a:t>ly</a:t>
            </a:r>
            <a:r>
              <a:rPr lang="en-US" sz="1200" b="1">
                <a:solidFill>
                  <a:schemeClr val="tx1"/>
                </a:solidFill>
                <a:latin typeface="+mj-lt"/>
                <a:ea typeface="Calibri"/>
                <a:cs typeface="Calibri"/>
              </a:rPr>
              <a:t>, excepted on staff.</a:t>
            </a:r>
          </a:p>
        </p:txBody>
      </p:sp>
      <p:sp>
        <p:nvSpPr>
          <p:cNvPr id="10" name="Rectangle 9">
            <a:extLst>
              <a:ext uri="{FF2B5EF4-FFF2-40B4-BE49-F238E27FC236}">
                <a16:creationId xmlns:a16="http://schemas.microsoft.com/office/drawing/2014/main" id="{7D493D64-678B-0464-D0A4-157BE5BE449F}"/>
              </a:ext>
            </a:extLst>
          </p:cNvPr>
          <p:cNvSpPr/>
          <p:nvPr/>
        </p:nvSpPr>
        <p:spPr>
          <a:xfrm rot="16200000">
            <a:off x="-282532" y="1311488"/>
            <a:ext cx="986855" cy="37547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2"/>
                </a:solidFill>
                <a:ea typeface="Calibri"/>
                <a:cs typeface="Calibri"/>
              </a:rPr>
              <a:t>Analysis</a:t>
            </a:r>
            <a:endParaRPr lang="en-US" sz="1100">
              <a:solidFill>
                <a:schemeClr val="accent2"/>
              </a:solidFill>
            </a:endParaRPr>
          </a:p>
        </p:txBody>
      </p:sp>
      <p:pic>
        <p:nvPicPr>
          <p:cNvPr id="14" name="Picture 13" descr="A screenshot of a computer&#10;&#10;AI-generated content may be incorrect.">
            <a:extLst>
              <a:ext uri="{FF2B5EF4-FFF2-40B4-BE49-F238E27FC236}">
                <a16:creationId xmlns:a16="http://schemas.microsoft.com/office/drawing/2014/main" id="{848D507B-DEBA-B135-B195-EC151ECDC19B}"/>
              </a:ext>
            </a:extLst>
          </p:cNvPr>
          <p:cNvPicPr>
            <a:picLocks noChangeAspect="1"/>
          </p:cNvPicPr>
          <p:nvPr/>
        </p:nvPicPr>
        <p:blipFill>
          <a:blip r:embed="rId2">
            <a:extLst>
              <a:ext uri="{28A0092B-C50C-407E-A947-70E740481C1C}">
                <a14:useLocalDpi xmlns:a14="http://schemas.microsoft.com/office/drawing/2010/main" val="0"/>
              </a:ext>
            </a:extLst>
          </a:blip>
          <a:srcRect t="-1" b="45436"/>
          <a:stretch>
            <a:fillRect/>
          </a:stretch>
        </p:blipFill>
        <p:spPr>
          <a:xfrm>
            <a:off x="1484012" y="2096265"/>
            <a:ext cx="9223975" cy="4224655"/>
          </a:xfrm>
          <a:prstGeom prst="rect">
            <a:avLst/>
          </a:prstGeom>
        </p:spPr>
      </p:pic>
    </p:spTree>
    <p:extLst>
      <p:ext uri="{BB962C8B-B14F-4D97-AF65-F5344CB8AC3E}">
        <p14:creationId xmlns:p14="http://schemas.microsoft.com/office/powerpoint/2010/main" val="9579723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8A828-3157-48BB-68FA-8B29712779E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2C9EE5-FA3A-9BF7-5C32-B891882FCF1C}"/>
              </a:ext>
            </a:extLst>
          </p:cNvPr>
          <p:cNvSpPr>
            <a:spLocks noGrp="1"/>
          </p:cNvSpPr>
          <p:nvPr>
            <p:ph type="sldNum" sz="quarter" idx="12"/>
          </p:nvPr>
        </p:nvSpPr>
        <p:spPr/>
        <p:txBody>
          <a:bodyPr/>
          <a:lstStyle/>
          <a:p>
            <a:fld id="{0D2E6A04-B99A-6C4D-8942-945F97C9E705}" type="slidenum">
              <a:rPr lang="en-US" smtClean="0"/>
              <a:pPr/>
              <a:t>42</a:t>
            </a:fld>
            <a:endParaRPr lang="en-US"/>
          </a:p>
        </p:txBody>
      </p:sp>
      <p:sp>
        <p:nvSpPr>
          <p:cNvPr id="3" name="Date Placeholder 2">
            <a:extLst>
              <a:ext uri="{FF2B5EF4-FFF2-40B4-BE49-F238E27FC236}">
                <a16:creationId xmlns:a16="http://schemas.microsoft.com/office/drawing/2014/main" id="{B7E78037-1427-01F9-625F-520D90878C38}"/>
              </a:ext>
            </a:extLst>
          </p:cNvPr>
          <p:cNvSpPr>
            <a:spLocks noGrp="1"/>
          </p:cNvSpPr>
          <p:nvPr>
            <p:ph type="dt" sz="half" idx="10"/>
          </p:nvPr>
        </p:nvSpPr>
        <p:spPr/>
        <p:txBody>
          <a:bodyPr/>
          <a:lstStyle/>
          <a:p>
            <a:fld id="{05C20A28-4BAC-4477-9026-1E123DBFBC43}" type="datetime1">
              <a:rPr lang="fr-FR" smtClean="0"/>
              <a:t>27/11/2025</a:t>
            </a:fld>
            <a:endParaRPr lang="en-US"/>
          </a:p>
        </p:txBody>
      </p:sp>
      <p:sp>
        <p:nvSpPr>
          <p:cNvPr id="5" name="Title 4">
            <a:extLst>
              <a:ext uri="{FF2B5EF4-FFF2-40B4-BE49-F238E27FC236}">
                <a16:creationId xmlns:a16="http://schemas.microsoft.com/office/drawing/2014/main" id="{88B1B65E-F777-44A0-5E17-8F854696FD12}"/>
              </a:ext>
            </a:extLst>
          </p:cNvPr>
          <p:cNvSpPr>
            <a:spLocks noGrp="1"/>
          </p:cNvSpPr>
          <p:nvPr>
            <p:ph type="title"/>
          </p:nvPr>
        </p:nvSpPr>
        <p:spPr/>
        <p:txBody>
          <a:bodyPr/>
          <a:lstStyle/>
          <a:p>
            <a:r>
              <a:rPr lang="fr-FR"/>
              <a:t>Germany – main </a:t>
            </a:r>
            <a:r>
              <a:rPr lang="fr-FR" err="1"/>
              <a:t>pillars</a:t>
            </a:r>
            <a:r>
              <a:rPr lang="fr-FR"/>
              <a:t> over </a:t>
            </a:r>
            <a:r>
              <a:rPr lang="fr-FR" err="1"/>
              <a:t>months</a:t>
            </a:r>
            <a:endParaRPr lang="fr-FR"/>
          </a:p>
        </p:txBody>
      </p:sp>
      <p:sp>
        <p:nvSpPr>
          <p:cNvPr id="9" name="Rechthoek 4">
            <a:extLst>
              <a:ext uri="{FF2B5EF4-FFF2-40B4-BE49-F238E27FC236}">
                <a16:creationId xmlns:a16="http://schemas.microsoft.com/office/drawing/2014/main" id="{5EE0E911-55D2-7A19-6014-8DBA6E09F77C}"/>
              </a:ext>
            </a:extLst>
          </p:cNvPr>
          <p:cNvSpPr/>
          <p:nvPr/>
        </p:nvSpPr>
        <p:spPr>
          <a:xfrm>
            <a:off x="-1" y="978100"/>
            <a:ext cx="11858372" cy="1011121"/>
          </a:xfrm>
          <a:prstGeom prst="rect">
            <a:avLst/>
          </a:prstGeom>
          <a:solidFill>
            <a:schemeClr val="accent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1"/>
                </a:solidFill>
                <a:latin typeface="+mj-lt"/>
                <a:ea typeface="Calibri"/>
                <a:cs typeface="Calibri"/>
              </a:rPr>
              <a:t>Improvement of all pillars compared to </a:t>
            </a:r>
            <a:r>
              <a:rPr lang="en-US" sz="1200" b="1" err="1">
                <a:solidFill>
                  <a:schemeClr val="tx1"/>
                </a:solidFill>
                <a:latin typeface="+mj-lt"/>
                <a:ea typeface="Calibri"/>
                <a:cs typeface="Calibri"/>
              </a:rPr>
              <a:t>ly</a:t>
            </a:r>
            <a:endParaRPr lang="en-US" sz="1200" b="1">
              <a:solidFill>
                <a:schemeClr val="tx1"/>
              </a:solidFill>
              <a:latin typeface="+mj-lt"/>
              <a:ea typeface="Calibri"/>
              <a:cs typeface="Calibri"/>
            </a:endParaRPr>
          </a:p>
          <a:p>
            <a:pPr marL="720725" lvl="2" indent="-161925">
              <a:lnSpc>
                <a:spcPct val="120000"/>
              </a:lnSpc>
              <a:buFont typeface="Arial" panose="020B0604020202020204" pitchFamily="34" charset="0"/>
              <a:buChar char="•"/>
            </a:pPr>
            <a:r>
              <a:rPr lang="en-US" sz="1200" b="1">
                <a:solidFill>
                  <a:schemeClr val="tx1"/>
                </a:solidFill>
                <a:latin typeface="+mj-lt"/>
                <a:ea typeface="Calibri"/>
                <a:cs typeface="Calibri"/>
              </a:rPr>
              <a:t>NSS à la carte leisure offer continues to increase.</a:t>
            </a:r>
          </a:p>
          <a:p>
            <a:pPr marL="720725" lvl="2" indent="-161925">
              <a:lnSpc>
                <a:spcPct val="120000"/>
              </a:lnSpc>
              <a:buFont typeface="Arial" panose="020B0604020202020204" pitchFamily="34" charset="0"/>
              <a:buChar char="•"/>
            </a:pPr>
            <a:r>
              <a:rPr lang="en-US" sz="1200" b="1">
                <a:solidFill>
                  <a:schemeClr val="tx1"/>
                </a:solidFill>
                <a:latin typeface="+mj-lt"/>
                <a:ea typeface="Calibri"/>
                <a:cs typeface="Calibri"/>
              </a:rPr>
              <a:t>NSS catering general offer continues to increase, but it’s still low.</a:t>
            </a:r>
          </a:p>
        </p:txBody>
      </p:sp>
      <p:sp>
        <p:nvSpPr>
          <p:cNvPr id="10" name="Rectangle 9">
            <a:extLst>
              <a:ext uri="{FF2B5EF4-FFF2-40B4-BE49-F238E27FC236}">
                <a16:creationId xmlns:a16="http://schemas.microsoft.com/office/drawing/2014/main" id="{1C5E4B3E-FD5F-5E27-ECF8-2C9B06A46C73}"/>
              </a:ext>
            </a:extLst>
          </p:cNvPr>
          <p:cNvSpPr/>
          <p:nvPr/>
        </p:nvSpPr>
        <p:spPr>
          <a:xfrm rot="16200000">
            <a:off x="-282532" y="1311488"/>
            <a:ext cx="986855" cy="37547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2"/>
                </a:solidFill>
                <a:ea typeface="Calibri"/>
                <a:cs typeface="Calibri"/>
              </a:rPr>
              <a:t>Analysis</a:t>
            </a:r>
            <a:endParaRPr lang="en-US" sz="1100">
              <a:solidFill>
                <a:schemeClr val="accent2"/>
              </a:solidFill>
            </a:endParaRPr>
          </a:p>
        </p:txBody>
      </p:sp>
      <p:pic>
        <p:nvPicPr>
          <p:cNvPr id="14" name="Picture 13" descr="A screenshot of a computer&#10;&#10;AI-generated content may be incorrect.">
            <a:extLst>
              <a:ext uri="{FF2B5EF4-FFF2-40B4-BE49-F238E27FC236}">
                <a16:creationId xmlns:a16="http://schemas.microsoft.com/office/drawing/2014/main" id="{559BC6FD-2E3C-9A50-9937-2DC7C5F144C7}"/>
              </a:ext>
            </a:extLst>
          </p:cNvPr>
          <p:cNvPicPr>
            <a:picLocks noChangeAspect="1"/>
          </p:cNvPicPr>
          <p:nvPr/>
        </p:nvPicPr>
        <p:blipFill>
          <a:blip r:embed="rId2">
            <a:extLst>
              <a:ext uri="{28A0092B-C50C-407E-A947-70E740481C1C}">
                <a14:useLocalDpi xmlns:a14="http://schemas.microsoft.com/office/drawing/2010/main" val="0"/>
              </a:ext>
            </a:extLst>
          </a:blip>
          <a:srcRect t="-1" b="86942"/>
          <a:stretch>
            <a:fillRect/>
          </a:stretch>
        </p:blipFill>
        <p:spPr>
          <a:xfrm>
            <a:off x="1484012" y="2096266"/>
            <a:ext cx="9223975" cy="1011122"/>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7286AFB8-57ED-A61E-5D48-61BD5AD38875}"/>
              </a:ext>
            </a:extLst>
          </p:cNvPr>
          <p:cNvPicPr>
            <a:picLocks noChangeAspect="1"/>
          </p:cNvPicPr>
          <p:nvPr/>
        </p:nvPicPr>
        <p:blipFill>
          <a:blip r:embed="rId2">
            <a:extLst>
              <a:ext uri="{28A0092B-C50C-407E-A947-70E740481C1C}">
                <a14:useLocalDpi xmlns:a14="http://schemas.microsoft.com/office/drawing/2010/main" val="0"/>
              </a:ext>
            </a:extLst>
          </a:blip>
          <a:srcRect t="54926" b="550"/>
          <a:stretch>
            <a:fillRect/>
          </a:stretch>
        </p:blipFill>
        <p:spPr>
          <a:xfrm>
            <a:off x="1484012" y="3107388"/>
            <a:ext cx="9223975" cy="3447374"/>
          </a:xfrm>
          <a:prstGeom prst="rect">
            <a:avLst/>
          </a:prstGeom>
        </p:spPr>
      </p:pic>
    </p:spTree>
    <p:extLst>
      <p:ext uri="{BB962C8B-B14F-4D97-AF65-F5344CB8AC3E}">
        <p14:creationId xmlns:p14="http://schemas.microsoft.com/office/powerpoint/2010/main" val="11351026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652E1-C49A-B37D-3D00-42968A1AF06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F6F42F-03B0-3686-1CA0-27730533F50A}"/>
              </a:ext>
            </a:extLst>
          </p:cNvPr>
          <p:cNvSpPr>
            <a:spLocks noGrp="1"/>
          </p:cNvSpPr>
          <p:nvPr>
            <p:ph type="sldNum" sz="quarter" idx="12"/>
          </p:nvPr>
        </p:nvSpPr>
        <p:spPr/>
        <p:txBody>
          <a:bodyPr/>
          <a:lstStyle/>
          <a:p>
            <a:fld id="{0D2E6A04-B99A-6C4D-8942-945F97C9E705}" type="slidenum">
              <a:rPr lang="en-US" smtClean="0"/>
              <a:pPr/>
              <a:t>43</a:t>
            </a:fld>
            <a:endParaRPr lang="en-US"/>
          </a:p>
        </p:txBody>
      </p:sp>
      <p:sp>
        <p:nvSpPr>
          <p:cNvPr id="3" name="Date Placeholder 2">
            <a:extLst>
              <a:ext uri="{FF2B5EF4-FFF2-40B4-BE49-F238E27FC236}">
                <a16:creationId xmlns:a16="http://schemas.microsoft.com/office/drawing/2014/main" id="{4C8527FC-69F9-CE65-26EE-033D83E54D9E}"/>
              </a:ext>
            </a:extLst>
          </p:cNvPr>
          <p:cNvSpPr>
            <a:spLocks noGrp="1"/>
          </p:cNvSpPr>
          <p:nvPr>
            <p:ph type="dt" sz="half" idx="10"/>
          </p:nvPr>
        </p:nvSpPr>
        <p:spPr/>
        <p:txBody>
          <a:bodyPr/>
          <a:lstStyle/>
          <a:p>
            <a:fld id="{05C20A28-4BAC-4477-9026-1E123DBFBC43}" type="datetime1">
              <a:rPr lang="fr-FR" smtClean="0"/>
              <a:t>27/11/2025</a:t>
            </a:fld>
            <a:endParaRPr lang="en-US"/>
          </a:p>
        </p:txBody>
      </p:sp>
      <p:sp>
        <p:nvSpPr>
          <p:cNvPr id="5" name="Title 4">
            <a:extLst>
              <a:ext uri="{FF2B5EF4-FFF2-40B4-BE49-F238E27FC236}">
                <a16:creationId xmlns:a16="http://schemas.microsoft.com/office/drawing/2014/main" id="{C5EDA935-6BDC-5B04-08A6-AF0CD8E4FA8A}"/>
              </a:ext>
            </a:extLst>
          </p:cNvPr>
          <p:cNvSpPr>
            <a:spLocks noGrp="1"/>
          </p:cNvSpPr>
          <p:nvPr>
            <p:ph type="title"/>
          </p:nvPr>
        </p:nvSpPr>
        <p:spPr/>
        <p:txBody>
          <a:bodyPr/>
          <a:lstStyle/>
          <a:p>
            <a:r>
              <a:rPr lang="fr-FR"/>
              <a:t>Germany – </a:t>
            </a:r>
            <a:r>
              <a:rPr lang="fr-FR" err="1"/>
              <a:t>ranking</a:t>
            </a:r>
            <a:r>
              <a:rPr lang="fr-FR"/>
              <a:t> </a:t>
            </a:r>
            <a:r>
              <a:rPr lang="fr-FR" err="1"/>
              <a:t>parks</a:t>
            </a:r>
            <a:r>
              <a:rPr lang="fr-FR"/>
              <a:t> on main </a:t>
            </a:r>
            <a:r>
              <a:rPr lang="fr-FR" err="1"/>
              <a:t>pillars</a:t>
            </a:r>
            <a:endParaRPr lang="fr-FR"/>
          </a:p>
        </p:txBody>
      </p:sp>
      <p:sp>
        <p:nvSpPr>
          <p:cNvPr id="9" name="Rechthoek 4">
            <a:extLst>
              <a:ext uri="{FF2B5EF4-FFF2-40B4-BE49-F238E27FC236}">
                <a16:creationId xmlns:a16="http://schemas.microsoft.com/office/drawing/2014/main" id="{1A9994B1-BB3D-F0EA-0241-AA2AD1B0C4C0}"/>
              </a:ext>
            </a:extLst>
          </p:cNvPr>
          <p:cNvSpPr/>
          <p:nvPr/>
        </p:nvSpPr>
        <p:spPr>
          <a:xfrm>
            <a:off x="-1" y="978100"/>
            <a:ext cx="11858372" cy="1011123"/>
          </a:xfrm>
          <a:prstGeom prst="rect">
            <a:avLst/>
          </a:prstGeom>
          <a:solidFill>
            <a:schemeClr val="accent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1"/>
                </a:solidFill>
                <a:latin typeface="+mj-lt"/>
                <a:ea typeface="Calibri"/>
                <a:cs typeface="Calibri"/>
              </a:rPr>
              <a:t>Park </a:t>
            </a:r>
            <a:r>
              <a:rPr lang="en-US" sz="1200" b="1" err="1">
                <a:solidFill>
                  <a:schemeClr val="tx1"/>
                </a:solidFill>
                <a:latin typeface="+mj-lt"/>
                <a:ea typeface="Calibri"/>
                <a:cs typeface="Calibri"/>
              </a:rPr>
              <a:t>Hochsauerland</a:t>
            </a:r>
            <a:r>
              <a:rPr lang="en-US" sz="1200" b="1">
                <a:solidFill>
                  <a:schemeClr val="tx1"/>
                </a:solidFill>
                <a:latin typeface="+mj-lt"/>
                <a:ea typeface="Calibri"/>
                <a:cs typeface="Calibri"/>
              </a:rPr>
              <a:t>, Park </a:t>
            </a:r>
            <a:r>
              <a:rPr lang="en-US" sz="1200" b="1" err="1">
                <a:solidFill>
                  <a:schemeClr val="tx1"/>
                </a:solidFill>
                <a:latin typeface="+mj-lt"/>
                <a:ea typeface="Calibri"/>
                <a:cs typeface="Calibri"/>
              </a:rPr>
              <a:t>Allgäu</a:t>
            </a:r>
            <a:r>
              <a:rPr lang="en-US" sz="1200" b="1">
                <a:solidFill>
                  <a:schemeClr val="tx1"/>
                </a:solidFill>
                <a:latin typeface="+mj-lt"/>
                <a:ea typeface="Calibri"/>
                <a:cs typeface="Calibri"/>
              </a:rPr>
              <a:t> and Park Eifel are top village </a:t>
            </a:r>
            <a:r>
              <a:rPr lang="en-US" sz="1200" b="1" u="sng">
                <a:solidFill>
                  <a:schemeClr val="tx1"/>
                </a:solidFill>
                <a:latin typeface="+mj-lt"/>
                <a:ea typeface="Calibri"/>
                <a:cs typeface="Calibri"/>
              </a:rPr>
              <a:t>and</a:t>
            </a:r>
            <a:r>
              <a:rPr lang="en-US" sz="1200" b="1">
                <a:solidFill>
                  <a:schemeClr val="tx1"/>
                </a:solidFill>
                <a:latin typeface="+mj-lt"/>
                <a:ea typeface="Calibri"/>
                <a:cs typeface="Calibri"/>
              </a:rPr>
              <a:t> cottage experience.</a:t>
            </a:r>
          </a:p>
          <a:p>
            <a:pPr marL="720725" lvl="2" indent="-161925">
              <a:lnSpc>
                <a:spcPct val="120000"/>
              </a:lnSpc>
              <a:buFont typeface="Arial" panose="020B0604020202020204" pitchFamily="34" charset="0"/>
              <a:buChar char="•"/>
            </a:pPr>
            <a:r>
              <a:rPr lang="en-US" sz="1200" b="1">
                <a:solidFill>
                  <a:schemeClr val="tx1"/>
                </a:solidFill>
                <a:latin typeface="+mj-lt"/>
                <a:ea typeface="Calibri"/>
                <a:cs typeface="Calibri"/>
              </a:rPr>
              <a:t>Nevertheless, Park </a:t>
            </a:r>
            <a:r>
              <a:rPr lang="en-US" sz="1200" b="1" err="1">
                <a:solidFill>
                  <a:schemeClr val="tx1"/>
                </a:solidFill>
                <a:latin typeface="+mj-lt"/>
                <a:ea typeface="Calibri"/>
                <a:cs typeface="Calibri"/>
              </a:rPr>
              <a:t>Allgäu</a:t>
            </a:r>
            <a:r>
              <a:rPr lang="en-US" sz="1200" b="1">
                <a:solidFill>
                  <a:schemeClr val="tx1"/>
                </a:solidFill>
                <a:latin typeface="+mj-lt"/>
                <a:ea typeface="Calibri"/>
                <a:cs typeface="Calibri"/>
              </a:rPr>
              <a:t> is still underperforming in cottage cleanliness and maintenance.</a:t>
            </a:r>
          </a:p>
          <a:p>
            <a:pPr marL="720725" lvl="2" indent="-161925">
              <a:lnSpc>
                <a:spcPct val="120000"/>
              </a:lnSpc>
              <a:buFont typeface="Arial" panose="020B0604020202020204" pitchFamily="34" charset="0"/>
              <a:buChar char="•"/>
            </a:pPr>
            <a:r>
              <a:rPr lang="en-US" sz="1200" b="1">
                <a:solidFill>
                  <a:schemeClr val="tx1"/>
                </a:solidFill>
                <a:latin typeface="+mj-lt"/>
                <a:ea typeface="Calibri"/>
                <a:cs typeface="Calibri"/>
              </a:rPr>
              <a:t>Park </a:t>
            </a:r>
            <a:r>
              <a:rPr lang="en-US" sz="1200" b="1" err="1">
                <a:solidFill>
                  <a:schemeClr val="tx1"/>
                </a:solidFill>
                <a:latin typeface="+mj-lt"/>
                <a:ea typeface="Calibri"/>
                <a:cs typeface="Calibri"/>
              </a:rPr>
              <a:t>Nordseeküste</a:t>
            </a:r>
            <a:r>
              <a:rPr lang="en-US" sz="1200" b="1">
                <a:solidFill>
                  <a:schemeClr val="tx1"/>
                </a:solidFill>
                <a:latin typeface="+mj-lt"/>
                <a:ea typeface="Calibri"/>
                <a:cs typeface="Calibri"/>
              </a:rPr>
              <a:t> is clearly below in both cottage and village experience.</a:t>
            </a:r>
          </a:p>
          <a:p>
            <a:pPr marL="720725" lvl="2" indent="-161925">
              <a:lnSpc>
                <a:spcPct val="120000"/>
              </a:lnSpc>
              <a:buFont typeface="Arial" panose="020B0604020202020204" pitchFamily="34" charset="0"/>
              <a:buChar char="•"/>
            </a:pPr>
            <a:endParaRPr lang="en-US" sz="1200" b="1">
              <a:solidFill>
                <a:schemeClr val="tx1"/>
              </a:solidFill>
              <a:latin typeface="+mj-lt"/>
              <a:ea typeface="Calibri"/>
              <a:cs typeface="Calibri"/>
            </a:endParaRPr>
          </a:p>
        </p:txBody>
      </p:sp>
      <p:sp>
        <p:nvSpPr>
          <p:cNvPr id="10" name="Rectangle 9">
            <a:extLst>
              <a:ext uri="{FF2B5EF4-FFF2-40B4-BE49-F238E27FC236}">
                <a16:creationId xmlns:a16="http://schemas.microsoft.com/office/drawing/2014/main" id="{4F1051E0-5012-90CC-A6D9-8C1BE50ABFC2}"/>
              </a:ext>
            </a:extLst>
          </p:cNvPr>
          <p:cNvSpPr/>
          <p:nvPr/>
        </p:nvSpPr>
        <p:spPr>
          <a:xfrm rot="16200000">
            <a:off x="-282533" y="1311488"/>
            <a:ext cx="986857" cy="37547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2"/>
                </a:solidFill>
                <a:ea typeface="Calibri"/>
                <a:cs typeface="Calibri"/>
              </a:rPr>
              <a:t>Analysis</a:t>
            </a:r>
            <a:endParaRPr lang="en-US" sz="1100">
              <a:solidFill>
                <a:schemeClr val="accent2"/>
              </a:solidFill>
            </a:endParaRPr>
          </a:p>
        </p:txBody>
      </p:sp>
      <p:pic>
        <p:nvPicPr>
          <p:cNvPr id="7" name="Picture 6">
            <a:extLst>
              <a:ext uri="{FF2B5EF4-FFF2-40B4-BE49-F238E27FC236}">
                <a16:creationId xmlns:a16="http://schemas.microsoft.com/office/drawing/2014/main" id="{09DE4D5B-C451-6FC0-658F-986B4318107E}"/>
              </a:ext>
            </a:extLst>
          </p:cNvPr>
          <p:cNvPicPr>
            <a:picLocks noChangeAspect="1"/>
          </p:cNvPicPr>
          <p:nvPr/>
        </p:nvPicPr>
        <p:blipFill>
          <a:blip r:embed="rId2"/>
          <a:stretch>
            <a:fillRect/>
          </a:stretch>
        </p:blipFill>
        <p:spPr>
          <a:xfrm>
            <a:off x="126595" y="2117061"/>
            <a:ext cx="3814335" cy="2160000"/>
          </a:xfrm>
          <a:prstGeom prst="rect">
            <a:avLst/>
          </a:prstGeom>
        </p:spPr>
      </p:pic>
      <p:pic>
        <p:nvPicPr>
          <p:cNvPr id="11" name="Picture 10">
            <a:extLst>
              <a:ext uri="{FF2B5EF4-FFF2-40B4-BE49-F238E27FC236}">
                <a16:creationId xmlns:a16="http://schemas.microsoft.com/office/drawing/2014/main" id="{F30B5655-2897-AC4F-551D-DE36C7C6254C}"/>
              </a:ext>
            </a:extLst>
          </p:cNvPr>
          <p:cNvPicPr>
            <a:picLocks noChangeAspect="1"/>
          </p:cNvPicPr>
          <p:nvPr/>
        </p:nvPicPr>
        <p:blipFill>
          <a:blip r:embed="rId3"/>
          <a:stretch>
            <a:fillRect/>
          </a:stretch>
        </p:blipFill>
        <p:spPr>
          <a:xfrm>
            <a:off x="8037340" y="2117061"/>
            <a:ext cx="3746939" cy="2160000"/>
          </a:xfrm>
          <a:prstGeom prst="rect">
            <a:avLst/>
          </a:prstGeom>
        </p:spPr>
      </p:pic>
      <p:pic>
        <p:nvPicPr>
          <p:cNvPr id="13" name="Picture 12">
            <a:extLst>
              <a:ext uri="{FF2B5EF4-FFF2-40B4-BE49-F238E27FC236}">
                <a16:creationId xmlns:a16="http://schemas.microsoft.com/office/drawing/2014/main" id="{8EDE0D37-819D-371D-3FEC-B88456AD3543}"/>
              </a:ext>
            </a:extLst>
          </p:cNvPr>
          <p:cNvPicPr>
            <a:picLocks noChangeAspect="1"/>
          </p:cNvPicPr>
          <p:nvPr/>
        </p:nvPicPr>
        <p:blipFill>
          <a:blip r:embed="rId4"/>
          <a:stretch>
            <a:fillRect/>
          </a:stretch>
        </p:blipFill>
        <p:spPr>
          <a:xfrm>
            <a:off x="126595" y="4459890"/>
            <a:ext cx="3732578" cy="2160000"/>
          </a:xfrm>
          <a:prstGeom prst="rect">
            <a:avLst/>
          </a:prstGeom>
        </p:spPr>
      </p:pic>
      <p:pic>
        <p:nvPicPr>
          <p:cNvPr id="16" name="Picture 15">
            <a:extLst>
              <a:ext uri="{FF2B5EF4-FFF2-40B4-BE49-F238E27FC236}">
                <a16:creationId xmlns:a16="http://schemas.microsoft.com/office/drawing/2014/main" id="{F9479F15-96FA-F69C-CAC5-F362813BF4C7}"/>
              </a:ext>
            </a:extLst>
          </p:cNvPr>
          <p:cNvPicPr>
            <a:picLocks noChangeAspect="1"/>
          </p:cNvPicPr>
          <p:nvPr/>
        </p:nvPicPr>
        <p:blipFill>
          <a:blip r:embed="rId5"/>
          <a:stretch>
            <a:fillRect/>
          </a:stretch>
        </p:blipFill>
        <p:spPr>
          <a:xfrm>
            <a:off x="4150678" y="4437352"/>
            <a:ext cx="3575593" cy="2160000"/>
          </a:xfrm>
          <a:prstGeom prst="rect">
            <a:avLst/>
          </a:prstGeom>
        </p:spPr>
      </p:pic>
      <p:pic>
        <p:nvPicPr>
          <p:cNvPr id="18" name="Picture 17">
            <a:extLst>
              <a:ext uri="{FF2B5EF4-FFF2-40B4-BE49-F238E27FC236}">
                <a16:creationId xmlns:a16="http://schemas.microsoft.com/office/drawing/2014/main" id="{8BDC7F7C-B1C5-FDD7-87D7-A2EA63BEE20F}"/>
              </a:ext>
            </a:extLst>
          </p:cNvPr>
          <p:cNvPicPr>
            <a:picLocks noChangeAspect="1"/>
          </p:cNvPicPr>
          <p:nvPr/>
        </p:nvPicPr>
        <p:blipFill>
          <a:blip r:embed="rId6"/>
          <a:stretch>
            <a:fillRect/>
          </a:stretch>
        </p:blipFill>
        <p:spPr>
          <a:xfrm>
            <a:off x="8235131" y="4437352"/>
            <a:ext cx="3620112" cy="2160000"/>
          </a:xfrm>
          <a:prstGeom prst="rect">
            <a:avLst/>
          </a:prstGeom>
        </p:spPr>
      </p:pic>
      <p:pic>
        <p:nvPicPr>
          <p:cNvPr id="20" name="Picture 19">
            <a:extLst>
              <a:ext uri="{FF2B5EF4-FFF2-40B4-BE49-F238E27FC236}">
                <a16:creationId xmlns:a16="http://schemas.microsoft.com/office/drawing/2014/main" id="{BAA2C7DA-7BB2-695F-F8DC-3B5234445778}"/>
              </a:ext>
            </a:extLst>
          </p:cNvPr>
          <p:cNvPicPr>
            <a:picLocks noChangeAspect="1"/>
          </p:cNvPicPr>
          <p:nvPr/>
        </p:nvPicPr>
        <p:blipFill>
          <a:blip r:embed="rId7"/>
          <a:stretch>
            <a:fillRect/>
          </a:stretch>
        </p:blipFill>
        <p:spPr>
          <a:xfrm>
            <a:off x="4150678" y="2117061"/>
            <a:ext cx="3675580" cy="2160000"/>
          </a:xfrm>
          <a:prstGeom prst="rect">
            <a:avLst/>
          </a:prstGeom>
        </p:spPr>
      </p:pic>
    </p:spTree>
    <p:extLst>
      <p:ext uri="{BB962C8B-B14F-4D97-AF65-F5344CB8AC3E}">
        <p14:creationId xmlns:p14="http://schemas.microsoft.com/office/powerpoint/2010/main" val="33042810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53BA2-95B4-148E-15D2-F91830DF694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0C8C12-8E20-60B5-57E6-601286D6DE0E}"/>
              </a:ext>
            </a:extLst>
          </p:cNvPr>
          <p:cNvSpPr>
            <a:spLocks noGrp="1"/>
          </p:cNvSpPr>
          <p:nvPr>
            <p:ph type="sldNum" sz="quarter" idx="12"/>
          </p:nvPr>
        </p:nvSpPr>
        <p:spPr/>
        <p:txBody>
          <a:bodyPr/>
          <a:lstStyle/>
          <a:p>
            <a:fld id="{0D2E6A04-B99A-6C4D-8942-945F97C9E705}" type="slidenum">
              <a:rPr lang="en-US" smtClean="0"/>
              <a:pPr/>
              <a:t>44</a:t>
            </a:fld>
            <a:endParaRPr lang="en-US"/>
          </a:p>
        </p:txBody>
      </p:sp>
      <p:sp>
        <p:nvSpPr>
          <p:cNvPr id="3" name="Date Placeholder 2">
            <a:extLst>
              <a:ext uri="{FF2B5EF4-FFF2-40B4-BE49-F238E27FC236}">
                <a16:creationId xmlns:a16="http://schemas.microsoft.com/office/drawing/2014/main" id="{CCFA434E-D121-B257-9C1E-D04B9AAE1B26}"/>
              </a:ext>
            </a:extLst>
          </p:cNvPr>
          <p:cNvSpPr>
            <a:spLocks noGrp="1"/>
          </p:cNvSpPr>
          <p:nvPr>
            <p:ph type="dt" sz="half" idx="10"/>
          </p:nvPr>
        </p:nvSpPr>
        <p:spPr/>
        <p:txBody>
          <a:bodyPr/>
          <a:lstStyle/>
          <a:p>
            <a:fld id="{05C20A28-4BAC-4477-9026-1E123DBFBC43}" type="datetime1">
              <a:rPr lang="fr-FR" smtClean="0"/>
              <a:t>27/11/2025</a:t>
            </a:fld>
            <a:endParaRPr lang="en-US"/>
          </a:p>
        </p:txBody>
      </p:sp>
      <p:sp>
        <p:nvSpPr>
          <p:cNvPr id="5" name="Title 4">
            <a:extLst>
              <a:ext uri="{FF2B5EF4-FFF2-40B4-BE49-F238E27FC236}">
                <a16:creationId xmlns:a16="http://schemas.microsoft.com/office/drawing/2014/main" id="{F77706F6-6F9D-C72D-CAA1-D701F48901D1}"/>
              </a:ext>
            </a:extLst>
          </p:cNvPr>
          <p:cNvSpPr>
            <a:spLocks noGrp="1"/>
          </p:cNvSpPr>
          <p:nvPr>
            <p:ph type="title"/>
          </p:nvPr>
        </p:nvSpPr>
        <p:spPr/>
        <p:txBody>
          <a:bodyPr/>
          <a:lstStyle/>
          <a:p>
            <a:r>
              <a:rPr lang="fr-FR"/>
              <a:t>Germany – </a:t>
            </a:r>
            <a:r>
              <a:rPr lang="fr-FR" err="1"/>
              <a:t>ranking</a:t>
            </a:r>
            <a:r>
              <a:rPr lang="fr-FR"/>
              <a:t> </a:t>
            </a:r>
            <a:r>
              <a:rPr lang="fr-FR" err="1"/>
              <a:t>parks</a:t>
            </a:r>
            <a:r>
              <a:rPr lang="fr-FR"/>
              <a:t> on main </a:t>
            </a:r>
            <a:r>
              <a:rPr lang="fr-FR" err="1"/>
              <a:t>pillars</a:t>
            </a:r>
            <a:endParaRPr lang="fr-FR"/>
          </a:p>
        </p:txBody>
      </p:sp>
      <p:sp>
        <p:nvSpPr>
          <p:cNvPr id="9" name="Rechthoek 4">
            <a:extLst>
              <a:ext uri="{FF2B5EF4-FFF2-40B4-BE49-F238E27FC236}">
                <a16:creationId xmlns:a16="http://schemas.microsoft.com/office/drawing/2014/main" id="{D4CECA2B-57A1-83B6-DB1A-8CBD4018E6DD}"/>
              </a:ext>
            </a:extLst>
          </p:cNvPr>
          <p:cNvSpPr/>
          <p:nvPr/>
        </p:nvSpPr>
        <p:spPr>
          <a:xfrm>
            <a:off x="-1" y="978100"/>
            <a:ext cx="11858372" cy="1011123"/>
          </a:xfrm>
          <a:prstGeom prst="rect">
            <a:avLst/>
          </a:prstGeom>
          <a:solidFill>
            <a:schemeClr val="accent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1"/>
                </a:solidFill>
                <a:latin typeface="+mj-lt"/>
                <a:ea typeface="Calibri"/>
                <a:cs typeface="Calibri"/>
              </a:rPr>
              <a:t>Park </a:t>
            </a:r>
            <a:r>
              <a:rPr lang="en-US" sz="1200" b="1" err="1">
                <a:solidFill>
                  <a:schemeClr val="tx1"/>
                </a:solidFill>
                <a:latin typeface="+mj-lt"/>
                <a:ea typeface="Calibri"/>
                <a:cs typeface="Calibri"/>
              </a:rPr>
              <a:t>Allgäu</a:t>
            </a:r>
            <a:r>
              <a:rPr lang="en-US" sz="1200" b="1">
                <a:solidFill>
                  <a:schemeClr val="tx1"/>
                </a:solidFill>
                <a:latin typeface="+mj-lt"/>
                <a:ea typeface="Calibri"/>
                <a:cs typeface="Calibri"/>
              </a:rPr>
              <a:t> and Park </a:t>
            </a:r>
            <a:r>
              <a:rPr lang="en-US" sz="1200" b="1" err="1">
                <a:solidFill>
                  <a:schemeClr val="tx1"/>
                </a:solidFill>
                <a:latin typeface="+mj-lt"/>
                <a:ea typeface="Calibri"/>
                <a:cs typeface="Calibri"/>
              </a:rPr>
              <a:t>Hochsauerland</a:t>
            </a:r>
            <a:r>
              <a:rPr lang="en-US" sz="1200" b="1">
                <a:solidFill>
                  <a:schemeClr val="tx1"/>
                </a:solidFill>
                <a:latin typeface="+mj-lt"/>
                <a:ea typeface="Calibri"/>
                <a:cs typeface="Calibri"/>
              </a:rPr>
              <a:t> are TOP villages for Aqua Mundo and Leisure experience, before </a:t>
            </a:r>
            <a:r>
              <a:rPr lang="en-US" sz="1200" b="1" err="1">
                <a:solidFill>
                  <a:schemeClr val="tx1"/>
                </a:solidFill>
                <a:latin typeface="+mj-lt"/>
                <a:ea typeface="Calibri"/>
                <a:cs typeface="Calibri"/>
              </a:rPr>
              <a:t>Bispinger</a:t>
            </a:r>
            <a:r>
              <a:rPr lang="en-US" sz="1200" b="1">
                <a:solidFill>
                  <a:schemeClr val="tx1"/>
                </a:solidFill>
                <a:latin typeface="+mj-lt"/>
                <a:ea typeface="Calibri"/>
                <a:cs typeface="Calibri"/>
              </a:rPr>
              <a:t> Heide and Park </a:t>
            </a:r>
            <a:r>
              <a:rPr lang="en-US" sz="1200" b="1" err="1">
                <a:solidFill>
                  <a:schemeClr val="tx1"/>
                </a:solidFill>
                <a:latin typeface="+mj-lt"/>
                <a:ea typeface="Calibri"/>
                <a:cs typeface="Calibri"/>
              </a:rPr>
              <a:t>Bostalsee</a:t>
            </a:r>
            <a:r>
              <a:rPr lang="en-US" sz="1200" b="1">
                <a:solidFill>
                  <a:schemeClr val="tx1"/>
                </a:solidFill>
                <a:latin typeface="+mj-lt"/>
                <a:ea typeface="Calibri"/>
                <a:cs typeface="Calibri"/>
              </a:rPr>
              <a:t>.</a:t>
            </a:r>
          </a:p>
          <a:p>
            <a:pPr marL="720725" lvl="2" indent="-161925">
              <a:lnSpc>
                <a:spcPct val="120000"/>
              </a:lnSpc>
              <a:buFont typeface="Arial" panose="020B0604020202020204" pitchFamily="34" charset="0"/>
              <a:buChar char="•"/>
            </a:pPr>
            <a:r>
              <a:rPr lang="en-US" sz="1200" b="1">
                <a:solidFill>
                  <a:schemeClr val="tx1"/>
                </a:solidFill>
                <a:ea typeface="Calibri"/>
                <a:cs typeface="Calibri"/>
              </a:rPr>
              <a:t>Park </a:t>
            </a:r>
            <a:r>
              <a:rPr lang="en-US" sz="1200" b="1" err="1">
                <a:solidFill>
                  <a:schemeClr val="tx1"/>
                </a:solidFill>
                <a:ea typeface="Calibri"/>
                <a:cs typeface="Calibri"/>
              </a:rPr>
              <a:t>Hochsauerland</a:t>
            </a:r>
            <a:r>
              <a:rPr lang="en-US" sz="1200" b="1">
                <a:solidFill>
                  <a:schemeClr val="tx1"/>
                </a:solidFill>
                <a:ea typeface="Calibri"/>
                <a:cs typeface="Calibri"/>
              </a:rPr>
              <a:t> is also top village for catering, before </a:t>
            </a:r>
            <a:r>
              <a:rPr lang="en-US" sz="1200" b="1" err="1">
                <a:solidFill>
                  <a:schemeClr val="tx1"/>
                </a:solidFill>
                <a:ea typeface="Calibri"/>
                <a:cs typeface="Calibri"/>
              </a:rPr>
              <a:t>Bispinger</a:t>
            </a:r>
            <a:r>
              <a:rPr lang="en-US" sz="1200" b="1">
                <a:solidFill>
                  <a:schemeClr val="tx1"/>
                </a:solidFill>
                <a:ea typeface="Calibri"/>
                <a:cs typeface="Calibri"/>
              </a:rPr>
              <a:t> Heide and Park </a:t>
            </a:r>
            <a:r>
              <a:rPr lang="en-US" sz="1200" b="1" err="1">
                <a:solidFill>
                  <a:schemeClr val="tx1"/>
                </a:solidFill>
                <a:ea typeface="Calibri"/>
                <a:cs typeface="Calibri"/>
              </a:rPr>
              <a:t>Bostalsee</a:t>
            </a:r>
            <a:r>
              <a:rPr lang="en-US" sz="1200" b="1">
                <a:solidFill>
                  <a:schemeClr val="tx1"/>
                </a:solidFill>
                <a:ea typeface="Calibri"/>
                <a:cs typeface="Calibri"/>
              </a:rPr>
              <a:t>.</a:t>
            </a:r>
          </a:p>
          <a:p>
            <a:pPr marL="720725" lvl="2" indent="-161925">
              <a:lnSpc>
                <a:spcPct val="120000"/>
              </a:lnSpc>
              <a:buFont typeface="Arial" panose="020B0604020202020204" pitchFamily="34" charset="0"/>
              <a:buChar char="•"/>
            </a:pPr>
            <a:r>
              <a:rPr lang="en-US" sz="1200" b="1">
                <a:solidFill>
                  <a:schemeClr val="tx1"/>
                </a:solidFill>
                <a:latin typeface="+mj-lt"/>
                <a:ea typeface="Calibri"/>
                <a:cs typeface="Calibri"/>
              </a:rPr>
              <a:t>Park Eifel and Park </a:t>
            </a:r>
            <a:r>
              <a:rPr lang="en-US" sz="1200" b="1" err="1">
                <a:solidFill>
                  <a:schemeClr val="tx1"/>
                </a:solidFill>
                <a:latin typeface="+mj-lt"/>
                <a:ea typeface="Calibri"/>
                <a:cs typeface="Calibri"/>
              </a:rPr>
              <a:t>Nordseeküste</a:t>
            </a:r>
            <a:r>
              <a:rPr lang="en-US" sz="1200" b="1">
                <a:solidFill>
                  <a:schemeClr val="tx1"/>
                </a:solidFill>
                <a:latin typeface="+mj-lt"/>
                <a:ea typeface="Calibri"/>
                <a:cs typeface="Calibri"/>
              </a:rPr>
              <a:t> are clearly underperforming in Aqua Mundo experience. Park Eifel better performs in free leisure such as farm experience.</a:t>
            </a:r>
          </a:p>
        </p:txBody>
      </p:sp>
      <p:sp>
        <p:nvSpPr>
          <p:cNvPr id="10" name="Rectangle 9">
            <a:extLst>
              <a:ext uri="{FF2B5EF4-FFF2-40B4-BE49-F238E27FC236}">
                <a16:creationId xmlns:a16="http://schemas.microsoft.com/office/drawing/2014/main" id="{F1545D1E-41F7-692A-333B-D052C412CC4C}"/>
              </a:ext>
            </a:extLst>
          </p:cNvPr>
          <p:cNvSpPr/>
          <p:nvPr/>
        </p:nvSpPr>
        <p:spPr>
          <a:xfrm rot="16200000">
            <a:off x="-282533" y="1311488"/>
            <a:ext cx="986857" cy="37547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2"/>
                </a:solidFill>
                <a:ea typeface="Calibri"/>
                <a:cs typeface="Calibri"/>
              </a:rPr>
              <a:t>Analysis</a:t>
            </a:r>
            <a:endParaRPr lang="en-US" sz="1100">
              <a:solidFill>
                <a:schemeClr val="accent2"/>
              </a:solidFill>
            </a:endParaRPr>
          </a:p>
        </p:txBody>
      </p:sp>
      <p:pic>
        <p:nvPicPr>
          <p:cNvPr id="6" name="Picture 5">
            <a:extLst>
              <a:ext uri="{FF2B5EF4-FFF2-40B4-BE49-F238E27FC236}">
                <a16:creationId xmlns:a16="http://schemas.microsoft.com/office/drawing/2014/main" id="{25CEEA8F-2575-AE56-4017-D890D9539ED8}"/>
              </a:ext>
            </a:extLst>
          </p:cNvPr>
          <p:cNvPicPr>
            <a:picLocks noChangeAspect="1"/>
          </p:cNvPicPr>
          <p:nvPr/>
        </p:nvPicPr>
        <p:blipFill>
          <a:blip r:embed="rId2"/>
          <a:stretch>
            <a:fillRect/>
          </a:stretch>
        </p:blipFill>
        <p:spPr>
          <a:xfrm>
            <a:off x="8390449" y="4438056"/>
            <a:ext cx="3709029" cy="2160000"/>
          </a:xfrm>
          <a:prstGeom prst="rect">
            <a:avLst/>
          </a:prstGeom>
        </p:spPr>
      </p:pic>
      <p:pic>
        <p:nvPicPr>
          <p:cNvPr id="11" name="Picture 10">
            <a:extLst>
              <a:ext uri="{FF2B5EF4-FFF2-40B4-BE49-F238E27FC236}">
                <a16:creationId xmlns:a16="http://schemas.microsoft.com/office/drawing/2014/main" id="{44A79E72-F213-F7FA-368F-0C65BA7739EB}"/>
              </a:ext>
            </a:extLst>
          </p:cNvPr>
          <p:cNvPicPr>
            <a:picLocks noChangeAspect="1"/>
          </p:cNvPicPr>
          <p:nvPr/>
        </p:nvPicPr>
        <p:blipFill>
          <a:blip r:embed="rId3"/>
          <a:stretch>
            <a:fillRect/>
          </a:stretch>
        </p:blipFill>
        <p:spPr>
          <a:xfrm>
            <a:off x="111034" y="4438056"/>
            <a:ext cx="3690515" cy="2160000"/>
          </a:xfrm>
          <a:prstGeom prst="rect">
            <a:avLst/>
          </a:prstGeom>
        </p:spPr>
      </p:pic>
      <p:pic>
        <p:nvPicPr>
          <p:cNvPr id="13" name="Picture 12">
            <a:extLst>
              <a:ext uri="{FF2B5EF4-FFF2-40B4-BE49-F238E27FC236}">
                <a16:creationId xmlns:a16="http://schemas.microsoft.com/office/drawing/2014/main" id="{F41115EB-9364-0BAC-F3ED-6683150A46BE}"/>
              </a:ext>
            </a:extLst>
          </p:cNvPr>
          <p:cNvPicPr>
            <a:picLocks noChangeAspect="1"/>
          </p:cNvPicPr>
          <p:nvPr/>
        </p:nvPicPr>
        <p:blipFill>
          <a:blip r:embed="rId4"/>
          <a:stretch>
            <a:fillRect/>
          </a:stretch>
        </p:blipFill>
        <p:spPr>
          <a:xfrm>
            <a:off x="111034" y="2156576"/>
            <a:ext cx="3765994" cy="2160000"/>
          </a:xfrm>
          <a:prstGeom prst="rect">
            <a:avLst/>
          </a:prstGeom>
        </p:spPr>
      </p:pic>
      <p:pic>
        <p:nvPicPr>
          <p:cNvPr id="15" name="Picture 14">
            <a:extLst>
              <a:ext uri="{FF2B5EF4-FFF2-40B4-BE49-F238E27FC236}">
                <a16:creationId xmlns:a16="http://schemas.microsoft.com/office/drawing/2014/main" id="{F4E5CB86-9EA0-CE64-5AB8-B833A4DC257C}"/>
              </a:ext>
            </a:extLst>
          </p:cNvPr>
          <p:cNvPicPr>
            <a:picLocks noChangeAspect="1"/>
          </p:cNvPicPr>
          <p:nvPr/>
        </p:nvPicPr>
        <p:blipFill>
          <a:blip r:embed="rId5"/>
          <a:stretch>
            <a:fillRect/>
          </a:stretch>
        </p:blipFill>
        <p:spPr>
          <a:xfrm>
            <a:off x="4178437" y="2156576"/>
            <a:ext cx="3742758" cy="2160000"/>
          </a:xfrm>
          <a:prstGeom prst="rect">
            <a:avLst/>
          </a:prstGeom>
        </p:spPr>
      </p:pic>
      <p:pic>
        <p:nvPicPr>
          <p:cNvPr id="17" name="Picture 16">
            <a:extLst>
              <a:ext uri="{FF2B5EF4-FFF2-40B4-BE49-F238E27FC236}">
                <a16:creationId xmlns:a16="http://schemas.microsoft.com/office/drawing/2014/main" id="{E42D28B2-F327-978A-CFE9-68EA296CC0DA}"/>
              </a:ext>
            </a:extLst>
          </p:cNvPr>
          <p:cNvPicPr>
            <a:picLocks noChangeAspect="1"/>
          </p:cNvPicPr>
          <p:nvPr/>
        </p:nvPicPr>
        <p:blipFill>
          <a:blip r:embed="rId6"/>
          <a:srcRect t="24939"/>
          <a:stretch>
            <a:fillRect/>
          </a:stretch>
        </p:blipFill>
        <p:spPr>
          <a:xfrm>
            <a:off x="8222604" y="2156576"/>
            <a:ext cx="3704774" cy="2160000"/>
          </a:xfrm>
          <a:prstGeom prst="rect">
            <a:avLst/>
          </a:prstGeom>
        </p:spPr>
      </p:pic>
      <p:pic>
        <p:nvPicPr>
          <p:cNvPr id="21" name="Picture 20">
            <a:extLst>
              <a:ext uri="{FF2B5EF4-FFF2-40B4-BE49-F238E27FC236}">
                <a16:creationId xmlns:a16="http://schemas.microsoft.com/office/drawing/2014/main" id="{E50C91C6-AD11-FE63-A559-D1787D74DF2F}"/>
              </a:ext>
            </a:extLst>
          </p:cNvPr>
          <p:cNvPicPr>
            <a:picLocks noChangeAspect="1"/>
          </p:cNvPicPr>
          <p:nvPr/>
        </p:nvPicPr>
        <p:blipFill>
          <a:blip r:embed="rId7"/>
          <a:stretch>
            <a:fillRect/>
          </a:stretch>
        </p:blipFill>
        <p:spPr>
          <a:xfrm>
            <a:off x="4225452" y="4438056"/>
            <a:ext cx="3741095" cy="2160000"/>
          </a:xfrm>
          <a:prstGeom prst="rect">
            <a:avLst/>
          </a:prstGeom>
        </p:spPr>
      </p:pic>
    </p:spTree>
    <p:extLst>
      <p:ext uri="{BB962C8B-B14F-4D97-AF65-F5344CB8AC3E}">
        <p14:creationId xmlns:p14="http://schemas.microsoft.com/office/powerpoint/2010/main" val="29311811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018CE-CA11-09CD-AFB4-71DF9922C23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6EC0EF-83FF-C666-8684-65720785FA96}"/>
              </a:ext>
            </a:extLst>
          </p:cNvPr>
          <p:cNvSpPr>
            <a:spLocks noGrp="1"/>
          </p:cNvSpPr>
          <p:nvPr>
            <p:ph type="sldNum" sz="quarter" idx="12"/>
          </p:nvPr>
        </p:nvSpPr>
        <p:spPr/>
        <p:txBody>
          <a:bodyPr/>
          <a:lstStyle/>
          <a:p>
            <a:fld id="{0D2E6A04-B99A-6C4D-8942-945F97C9E705}" type="slidenum">
              <a:rPr lang="en-US" smtClean="0"/>
              <a:pPr/>
              <a:t>45</a:t>
            </a:fld>
            <a:endParaRPr lang="en-US"/>
          </a:p>
        </p:txBody>
      </p:sp>
      <p:sp>
        <p:nvSpPr>
          <p:cNvPr id="3" name="Date Placeholder 2">
            <a:extLst>
              <a:ext uri="{FF2B5EF4-FFF2-40B4-BE49-F238E27FC236}">
                <a16:creationId xmlns:a16="http://schemas.microsoft.com/office/drawing/2014/main" id="{94F5CE24-5DF2-8719-DB1C-6BE4C75E2573}"/>
              </a:ext>
            </a:extLst>
          </p:cNvPr>
          <p:cNvSpPr>
            <a:spLocks noGrp="1"/>
          </p:cNvSpPr>
          <p:nvPr>
            <p:ph type="dt" sz="half" idx="10"/>
          </p:nvPr>
        </p:nvSpPr>
        <p:spPr/>
        <p:txBody>
          <a:bodyPr/>
          <a:lstStyle/>
          <a:p>
            <a:fld id="{05C20A28-4BAC-4477-9026-1E123DBFBC43}" type="datetime1">
              <a:rPr lang="fr-FR" smtClean="0"/>
              <a:t>27/11/2025</a:t>
            </a:fld>
            <a:endParaRPr lang="en-US"/>
          </a:p>
        </p:txBody>
      </p:sp>
      <p:sp>
        <p:nvSpPr>
          <p:cNvPr id="5" name="Title 4">
            <a:extLst>
              <a:ext uri="{FF2B5EF4-FFF2-40B4-BE49-F238E27FC236}">
                <a16:creationId xmlns:a16="http://schemas.microsoft.com/office/drawing/2014/main" id="{2C6764B0-4559-8FD4-E4B2-1B27EB646063}"/>
              </a:ext>
            </a:extLst>
          </p:cNvPr>
          <p:cNvSpPr>
            <a:spLocks noGrp="1"/>
          </p:cNvSpPr>
          <p:nvPr>
            <p:ph type="title"/>
          </p:nvPr>
        </p:nvSpPr>
        <p:spPr/>
        <p:txBody>
          <a:bodyPr/>
          <a:lstStyle/>
          <a:p>
            <a:r>
              <a:rPr lang="fr-FR"/>
              <a:t>Germany – NPS per </a:t>
            </a:r>
            <a:r>
              <a:rPr lang="fr-FR" err="1"/>
              <a:t>trialist</a:t>
            </a:r>
            <a:r>
              <a:rPr lang="fr-FR"/>
              <a:t>/</a:t>
            </a:r>
            <a:r>
              <a:rPr lang="fr-FR" err="1"/>
              <a:t>repeaters</a:t>
            </a:r>
            <a:r>
              <a:rPr lang="fr-FR"/>
              <a:t>/</a:t>
            </a:r>
            <a:r>
              <a:rPr lang="fr-FR" err="1"/>
              <a:t>reactivated</a:t>
            </a:r>
            <a:endParaRPr lang="fr-FR"/>
          </a:p>
        </p:txBody>
      </p:sp>
      <p:graphicFrame>
        <p:nvGraphicFramePr>
          <p:cNvPr id="6" name="Table 5">
            <a:extLst>
              <a:ext uri="{FF2B5EF4-FFF2-40B4-BE49-F238E27FC236}">
                <a16:creationId xmlns:a16="http://schemas.microsoft.com/office/drawing/2014/main" id="{97D9D484-453B-FF68-1D7C-C2B847AAF124}"/>
              </a:ext>
            </a:extLst>
          </p:cNvPr>
          <p:cNvGraphicFramePr>
            <a:graphicFrameLocks noGrp="1"/>
          </p:cNvGraphicFramePr>
          <p:nvPr/>
        </p:nvGraphicFramePr>
        <p:xfrm>
          <a:off x="7324724" y="1005799"/>
          <a:ext cx="3715332" cy="1318301"/>
        </p:xfrm>
        <a:graphic>
          <a:graphicData uri="http://schemas.openxmlformats.org/drawingml/2006/table">
            <a:tbl>
              <a:tblPr/>
              <a:tblGrid>
                <a:gridCol w="928833">
                  <a:extLst>
                    <a:ext uri="{9D8B030D-6E8A-4147-A177-3AD203B41FA5}">
                      <a16:colId xmlns:a16="http://schemas.microsoft.com/office/drawing/2014/main" val="3352651076"/>
                    </a:ext>
                  </a:extLst>
                </a:gridCol>
                <a:gridCol w="928833">
                  <a:extLst>
                    <a:ext uri="{9D8B030D-6E8A-4147-A177-3AD203B41FA5}">
                      <a16:colId xmlns:a16="http://schemas.microsoft.com/office/drawing/2014/main" val="3909515550"/>
                    </a:ext>
                  </a:extLst>
                </a:gridCol>
                <a:gridCol w="928833">
                  <a:extLst>
                    <a:ext uri="{9D8B030D-6E8A-4147-A177-3AD203B41FA5}">
                      <a16:colId xmlns:a16="http://schemas.microsoft.com/office/drawing/2014/main" val="1091817387"/>
                    </a:ext>
                  </a:extLst>
                </a:gridCol>
                <a:gridCol w="928833">
                  <a:extLst>
                    <a:ext uri="{9D8B030D-6E8A-4147-A177-3AD203B41FA5}">
                      <a16:colId xmlns:a16="http://schemas.microsoft.com/office/drawing/2014/main" val="565881276"/>
                    </a:ext>
                  </a:extLst>
                </a:gridCol>
              </a:tblGrid>
              <a:tr h="368469">
                <a:tc>
                  <a:txBody>
                    <a:bodyPr/>
                    <a:lstStyle/>
                    <a:p>
                      <a:pPr algn="l" fontAlgn="b">
                        <a:buNone/>
                      </a:pPr>
                      <a:endParaRPr lang="fr-FR" sz="1800" b="0" i="0" u="none" strike="noStrike">
                        <a:solidFill>
                          <a:srgbClr val="000000"/>
                        </a:solidFill>
                        <a:effectLst/>
                        <a:latin typeface="Arial" panose="020B06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5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50" b="1" i="0" u="none" strike="noStrike">
                          <a:solidFill>
                            <a:srgbClr val="000000"/>
                          </a:solidFill>
                          <a:effectLst/>
                          <a:latin typeface="Aptos Narrow" panose="020B0004020202020204" pitchFamily="34" charset="0"/>
                        </a:rPr>
                        <a:t>FY24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50" b="1" i="0" u="none" strike="noStrike">
                          <a:solidFill>
                            <a:srgbClr val="000000"/>
                          </a:solidFill>
                          <a:effectLst/>
                          <a:latin typeface="Aptos Narrow" panose="020B0004020202020204" pitchFamily="34" charset="0"/>
                        </a:rPr>
                        <a:t>Evol </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51979714"/>
                  </a:ext>
                </a:extLst>
              </a:tr>
              <a:tr h="237458">
                <a:tc>
                  <a:txBody>
                    <a:bodyPr/>
                    <a:lstStyle/>
                    <a:p>
                      <a:pPr algn="l" fontAlgn="b">
                        <a:buNone/>
                      </a:pPr>
                      <a:r>
                        <a:rPr lang="fr-FR" sz="1100" b="0" i="0" u="none" strike="noStrike">
                          <a:solidFill>
                            <a:srgbClr val="000000"/>
                          </a:solidFill>
                          <a:effectLst/>
                          <a:latin typeface="Aptos Narrow" panose="020B0004020202020204" pitchFamily="34" charset="0"/>
                        </a:rPr>
                        <a:t>R</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1100" b="0" i="0" u="none" strike="noStrike">
                          <a:solidFill>
                            <a:srgbClr val="000000"/>
                          </a:solidFill>
                          <a:effectLst/>
                          <a:latin typeface="Aptos Narrow" panose="020B0004020202020204" pitchFamily="34" charset="0"/>
                        </a:rPr>
                        <a:t>22,6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4C982"/>
                    </a:solidFill>
                  </a:tcPr>
                </a:tc>
                <a:tc>
                  <a:txBody>
                    <a:bodyPr/>
                    <a:lstStyle/>
                    <a:p>
                      <a:pPr algn="r" fontAlgn="b">
                        <a:buNone/>
                      </a:pPr>
                      <a:r>
                        <a:rPr lang="fr-FR" sz="1100" b="0" i="0" u="none" strike="noStrike">
                          <a:solidFill>
                            <a:srgbClr val="00B050"/>
                          </a:solidFill>
                          <a:effectLst/>
                          <a:latin typeface="Aptos Narrow" panose="020B0004020202020204" pitchFamily="34" charset="0"/>
                        </a:rPr>
                        <a:t>4,4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91690536"/>
                  </a:ext>
                </a:extLst>
              </a:tr>
              <a:tr h="237458">
                <a:tc>
                  <a:txBody>
                    <a:bodyPr/>
                    <a:lstStyle/>
                    <a:p>
                      <a:pPr algn="l" fontAlgn="b">
                        <a:buNone/>
                      </a:pPr>
                      <a:r>
                        <a:rPr lang="fr-FR" sz="1100" b="1" i="0" u="none" strike="noStrike">
                          <a:solidFill>
                            <a:srgbClr val="000000"/>
                          </a:solidFill>
                          <a:effectLst/>
                          <a:latin typeface="Aptos Narrow" panose="020B0004020202020204" pitchFamily="34" charset="0"/>
                        </a:rPr>
                        <a:t>Total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1" i="0" u="none" strike="noStrike">
                          <a:solidFill>
                            <a:srgbClr val="000000"/>
                          </a:solidFill>
                          <a:effectLst/>
                          <a:latin typeface="Aptos Narrow" panose="020B0004020202020204" pitchFamily="34" charset="0"/>
                        </a:rPr>
                        <a:t>20,7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2CD85"/>
                    </a:solidFill>
                  </a:tcPr>
                </a:tc>
                <a:tc>
                  <a:txBody>
                    <a:bodyPr/>
                    <a:lstStyle/>
                    <a:p>
                      <a:pPr algn="r" fontAlgn="b">
                        <a:buNone/>
                      </a:pPr>
                      <a:r>
                        <a:rPr lang="fr-FR" sz="1100" b="1" i="0" u="none" strike="noStrike">
                          <a:solidFill>
                            <a:srgbClr val="000000"/>
                          </a:solidFill>
                          <a:effectLst/>
                          <a:latin typeface="Aptos Narrow" panose="020B0004020202020204" pitchFamily="34" charset="0"/>
                        </a:rPr>
                        <a:t>14,7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FDB8F"/>
                    </a:solidFill>
                  </a:tcPr>
                </a:tc>
                <a:tc>
                  <a:txBody>
                    <a:bodyPr/>
                    <a:lstStyle/>
                    <a:p>
                      <a:pPr algn="r" fontAlgn="b">
                        <a:buNone/>
                      </a:pPr>
                      <a:r>
                        <a:rPr lang="fr-FR" sz="1100" b="1" i="0" u="none" strike="noStrike">
                          <a:solidFill>
                            <a:srgbClr val="00B050"/>
                          </a:solidFill>
                          <a:effectLst/>
                          <a:latin typeface="Aptos Narrow" panose="020B0004020202020204" pitchFamily="34" charset="0"/>
                        </a:rPr>
                        <a:t>6,0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71074400"/>
                  </a:ext>
                </a:extLst>
              </a:tr>
              <a:tr h="237458">
                <a:tc>
                  <a:txBody>
                    <a:bodyPr/>
                    <a:lstStyle/>
                    <a:p>
                      <a:pPr algn="l" fontAlgn="b">
                        <a:buNone/>
                      </a:pPr>
                      <a:r>
                        <a:rPr lang="fr-FR" sz="1100" b="0" i="0" u="none" strike="noStrike">
                          <a:solidFill>
                            <a:srgbClr val="000000"/>
                          </a:solidFill>
                          <a:effectLst/>
                          <a:latin typeface="Aptos Narrow" panose="020B0004020202020204" pitchFamily="34" charset="0"/>
                        </a:rPr>
                        <a:t>A</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16,1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4D88D"/>
                    </a:solidFill>
                  </a:tcPr>
                </a:tc>
                <a:tc>
                  <a:txBody>
                    <a:bodyPr/>
                    <a:lstStyle/>
                    <a:p>
                      <a:pPr algn="r" fontAlgn="b">
                        <a:buNone/>
                      </a:pPr>
                      <a:r>
                        <a:rPr lang="fr-FR" sz="1100" b="0" i="0" u="none" strike="noStrike">
                          <a:solidFill>
                            <a:srgbClr val="000000"/>
                          </a:solidFill>
                          <a:effectLst/>
                          <a:latin typeface="Aptos Narrow" panose="020B0004020202020204" pitchFamily="34" charset="0"/>
                        </a:rPr>
                        <a:t>8,5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DEA99"/>
                    </a:solidFill>
                  </a:tcPr>
                </a:tc>
                <a:tc>
                  <a:txBody>
                    <a:bodyPr/>
                    <a:lstStyle/>
                    <a:p>
                      <a:pPr algn="r" fontAlgn="b">
                        <a:buNone/>
                      </a:pPr>
                      <a:r>
                        <a:rPr lang="fr-FR" sz="1100" b="0" i="0" u="none" strike="noStrike">
                          <a:solidFill>
                            <a:srgbClr val="00B050"/>
                          </a:solidFill>
                          <a:effectLst/>
                          <a:latin typeface="Aptos Narrow" panose="020B0004020202020204" pitchFamily="34" charset="0"/>
                        </a:rPr>
                        <a:t>7,6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87048611"/>
                  </a:ext>
                </a:extLst>
              </a:tr>
              <a:tr h="237458">
                <a:tc>
                  <a:txBody>
                    <a:bodyPr/>
                    <a:lstStyle/>
                    <a:p>
                      <a:pPr algn="l" fontAlgn="b">
                        <a:buNone/>
                      </a:pPr>
                      <a:r>
                        <a:rPr lang="fr-FR" sz="1100" b="0" i="0" u="none" strike="noStrike">
                          <a:solidFill>
                            <a:srgbClr val="000000"/>
                          </a:solidFill>
                          <a:effectLst/>
                          <a:latin typeface="Aptos Narrow" panose="020B0004020202020204" pitchFamily="34" charset="0"/>
                        </a:rPr>
                        <a:t>T</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12,5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FE092"/>
                    </a:solidFill>
                  </a:tcPr>
                </a:tc>
                <a:tc>
                  <a:txBody>
                    <a:bodyPr/>
                    <a:lstStyle/>
                    <a:p>
                      <a:pPr algn="r" fontAlgn="b">
                        <a:buNone/>
                      </a:pPr>
                      <a:r>
                        <a:rPr lang="fr-FR" sz="1100" b="0" i="0" u="none" strike="noStrike">
                          <a:solidFill>
                            <a:srgbClr val="000000"/>
                          </a:solidFill>
                          <a:effectLst/>
                          <a:latin typeface="Aptos Narrow" panose="020B0004020202020204" pitchFamily="34" charset="0"/>
                        </a:rPr>
                        <a:t>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F9C"/>
                    </a:solidFill>
                  </a:tcPr>
                </a:tc>
                <a:tc>
                  <a:txBody>
                    <a:bodyPr/>
                    <a:lstStyle/>
                    <a:p>
                      <a:pPr algn="r" fontAlgn="b">
                        <a:buNone/>
                      </a:pPr>
                      <a:r>
                        <a:rPr lang="fr-FR" sz="1100" b="0" i="0" u="none" strike="noStrike">
                          <a:solidFill>
                            <a:srgbClr val="00B050"/>
                          </a:solidFill>
                          <a:effectLst/>
                          <a:latin typeface="Aptos Narrow" panose="020B0004020202020204" pitchFamily="34" charset="0"/>
                        </a:rPr>
                        <a:t>6,5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9923775"/>
                  </a:ext>
                </a:extLst>
              </a:tr>
            </a:tbl>
          </a:graphicData>
        </a:graphic>
      </p:graphicFrame>
      <p:graphicFrame>
        <p:nvGraphicFramePr>
          <p:cNvPr id="7" name="Table 6">
            <a:extLst>
              <a:ext uri="{FF2B5EF4-FFF2-40B4-BE49-F238E27FC236}">
                <a16:creationId xmlns:a16="http://schemas.microsoft.com/office/drawing/2014/main" id="{16D6B99C-3E73-642E-69D2-978DA9834F6D}"/>
              </a:ext>
            </a:extLst>
          </p:cNvPr>
          <p:cNvGraphicFramePr>
            <a:graphicFrameLocks noGrp="1"/>
          </p:cNvGraphicFramePr>
          <p:nvPr/>
        </p:nvGraphicFramePr>
        <p:xfrm>
          <a:off x="1096379" y="2884304"/>
          <a:ext cx="3227971" cy="2876411"/>
        </p:xfrm>
        <a:graphic>
          <a:graphicData uri="http://schemas.openxmlformats.org/drawingml/2006/table">
            <a:tbl>
              <a:tblPr/>
              <a:tblGrid>
                <a:gridCol w="1559700">
                  <a:extLst>
                    <a:ext uri="{9D8B030D-6E8A-4147-A177-3AD203B41FA5}">
                      <a16:colId xmlns:a16="http://schemas.microsoft.com/office/drawing/2014/main" val="1825227666"/>
                    </a:ext>
                  </a:extLst>
                </a:gridCol>
                <a:gridCol w="542504">
                  <a:extLst>
                    <a:ext uri="{9D8B030D-6E8A-4147-A177-3AD203B41FA5}">
                      <a16:colId xmlns:a16="http://schemas.microsoft.com/office/drawing/2014/main" val="1409547353"/>
                    </a:ext>
                  </a:extLst>
                </a:gridCol>
                <a:gridCol w="542504">
                  <a:extLst>
                    <a:ext uri="{9D8B030D-6E8A-4147-A177-3AD203B41FA5}">
                      <a16:colId xmlns:a16="http://schemas.microsoft.com/office/drawing/2014/main" val="144993848"/>
                    </a:ext>
                  </a:extLst>
                </a:gridCol>
                <a:gridCol w="583263">
                  <a:extLst>
                    <a:ext uri="{9D8B030D-6E8A-4147-A177-3AD203B41FA5}">
                      <a16:colId xmlns:a16="http://schemas.microsoft.com/office/drawing/2014/main" val="375282428"/>
                    </a:ext>
                  </a:extLst>
                </a:gridCol>
              </a:tblGrid>
              <a:tr h="254299">
                <a:tc>
                  <a:txBody>
                    <a:bodyPr/>
                    <a:lstStyle/>
                    <a:p>
                      <a:pPr algn="l" fontAlgn="b">
                        <a:buNone/>
                      </a:pPr>
                      <a:endParaRPr lang="fr-FR" sz="1000" b="0" i="0" u="none" strike="noStrike">
                        <a:solidFill>
                          <a:srgbClr val="000000"/>
                        </a:solidFill>
                        <a:effectLst/>
                        <a:latin typeface="Aptos Narrow" panose="020B0004020202020204" pitchFamily="34" charset="0"/>
                      </a:endParaRP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FY25</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FY24</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Evol </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99631130"/>
                  </a:ext>
                </a:extLst>
              </a:tr>
              <a:tr h="163882">
                <a:tc>
                  <a:txBody>
                    <a:bodyPr/>
                    <a:lstStyle/>
                    <a:p>
                      <a:pPr algn="l" fontAlgn="b">
                        <a:buNone/>
                      </a:pPr>
                      <a:r>
                        <a:rPr lang="fr-FR" sz="1000" b="1" i="0" u="none" strike="noStrike" err="1">
                          <a:solidFill>
                            <a:srgbClr val="000000"/>
                          </a:solidFill>
                          <a:effectLst/>
                          <a:latin typeface="Aptos Narrow" panose="020B0004020202020204" pitchFamily="34" charset="0"/>
                        </a:rPr>
                        <a:t>Bispinger</a:t>
                      </a:r>
                      <a:r>
                        <a:rPr lang="fr-FR" sz="1000" b="1" i="0" u="none" strike="noStrike">
                          <a:solidFill>
                            <a:srgbClr val="000000"/>
                          </a:solidFill>
                          <a:effectLst/>
                          <a:latin typeface="Aptos Narrow" panose="020B0004020202020204" pitchFamily="34" charset="0"/>
                        </a:rPr>
                        <a:t> Heide</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21,1</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7E082"/>
                    </a:solidFill>
                  </a:tcPr>
                </a:tc>
                <a:tc>
                  <a:txBody>
                    <a:bodyPr/>
                    <a:lstStyle/>
                    <a:p>
                      <a:pPr algn="r" fontAlgn="b">
                        <a:buNone/>
                      </a:pPr>
                      <a:r>
                        <a:rPr lang="fr-FR" sz="1000" b="1" i="0" u="none" strike="noStrike">
                          <a:solidFill>
                            <a:srgbClr val="000000"/>
                          </a:solidFill>
                          <a:effectLst/>
                          <a:latin typeface="Aptos Narrow" panose="020B0004020202020204" pitchFamily="34" charset="0"/>
                        </a:rPr>
                        <a:t>11,0</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980"/>
                    </a:solidFill>
                  </a:tcPr>
                </a:tc>
                <a:tc>
                  <a:txBody>
                    <a:bodyPr/>
                    <a:lstStyle/>
                    <a:p>
                      <a:pPr algn="r" fontAlgn="b">
                        <a:buNone/>
                      </a:pPr>
                      <a:r>
                        <a:rPr lang="fr-FR" sz="1000" b="1" i="0" u="none" strike="noStrike">
                          <a:solidFill>
                            <a:srgbClr val="00B050"/>
                          </a:solidFill>
                          <a:effectLst/>
                          <a:latin typeface="Aptos Narrow" panose="020B0004020202020204" pitchFamily="34" charset="0"/>
                        </a:rPr>
                        <a:t>10,2</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17135527"/>
                  </a:ext>
                </a:extLst>
              </a:tr>
              <a:tr h="163882">
                <a:tc>
                  <a:txBody>
                    <a:bodyPr/>
                    <a:lstStyle/>
                    <a:p>
                      <a:pPr algn="l" fontAlgn="b">
                        <a:buNone/>
                      </a:pPr>
                      <a:r>
                        <a:rPr lang="fr-FR" sz="1000" b="0" i="0" u="none" strike="noStrike">
                          <a:solidFill>
                            <a:srgbClr val="000000"/>
                          </a:solidFill>
                          <a:effectLst/>
                          <a:latin typeface="Aptos Narrow" panose="020B0004020202020204" pitchFamily="34" charset="0"/>
                        </a:rPr>
                        <a:t> A</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18,5</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7E483"/>
                    </a:solidFill>
                  </a:tcPr>
                </a:tc>
                <a:tc>
                  <a:txBody>
                    <a:bodyPr/>
                    <a:lstStyle/>
                    <a:p>
                      <a:pPr algn="r" fontAlgn="b">
                        <a:buNone/>
                      </a:pPr>
                      <a:r>
                        <a:rPr lang="fr-FR" sz="1000" b="0" i="0" u="none" strike="noStrike">
                          <a:solidFill>
                            <a:srgbClr val="000000"/>
                          </a:solidFill>
                          <a:effectLst/>
                          <a:latin typeface="Aptos Narrow" panose="020B0004020202020204" pitchFamily="34" charset="0"/>
                        </a:rPr>
                        <a:t>8,8</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E7E"/>
                    </a:solidFill>
                  </a:tcPr>
                </a:tc>
                <a:tc>
                  <a:txBody>
                    <a:bodyPr/>
                    <a:lstStyle/>
                    <a:p>
                      <a:pPr algn="r" fontAlgn="b">
                        <a:buNone/>
                      </a:pPr>
                      <a:r>
                        <a:rPr lang="fr-FR" sz="1000" b="0" i="0" u="none" strike="noStrike">
                          <a:solidFill>
                            <a:srgbClr val="00B050"/>
                          </a:solidFill>
                          <a:effectLst/>
                          <a:latin typeface="Aptos Narrow" panose="020B0004020202020204" pitchFamily="34" charset="0"/>
                        </a:rPr>
                        <a:t>9,7</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146178"/>
                  </a:ext>
                </a:extLst>
              </a:tr>
              <a:tr h="163882">
                <a:tc>
                  <a:txBody>
                    <a:bodyPr/>
                    <a:lstStyle/>
                    <a:p>
                      <a:pPr algn="l" fontAlgn="b">
                        <a:buNone/>
                      </a:pPr>
                      <a:r>
                        <a:rPr lang="fr-FR" sz="1000" b="0" i="0" u="none" strike="noStrike">
                          <a:solidFill>
                            <a:srgbClr val="000000"/>
                          </a:solidFill>
                          <a:effectLst/>
                          <a:latin typeface="Aptos Narrow" panose="020B0004020202020204" pitchFamily="34" charset="0"/>
                        </a:rPr>
                        <a:t> R</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27,1</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4D680"/>
                    </a:solidFill>
                  </a:tcPr>
                </a:tc>
                <a:tc>
                  <a:txBody>
                    <a:bodyPr/>
                    <a:lstStyle/>
                    <a:p>
                      <a:pPr algn="r" fontAlgn="b">
                        <a:buNone/>
                      </a:pPr>
                      <a:r>
                        <a:rPr lang="fr-FR" sz="1000" b="0" i="0" u="none" strike="noStrike">
                          <a:solidFill>
                            <a:srgbClr val="000000"/>
                          </a:solidFill>
                          <a:effectLst/>
                          <a:latin typeface="Aptos Narrow" panose="020B0004020202020204" pitchFamily="34" charset="0"/>
                        </a:rPr>
                        <a:t>19,3</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2E383"/>
                    </a:solidFill>
                  </a:tcPr>
                </a:tc>
                <a:tc>
                  <a:txBody>
                    <a:bodyPr/>
                    <a:lstStyle/>
                    <a:p>
                      <a:pPr algn="r" fontAlgn="b">
                        <a:buNone/>
                      </a:pPr>
                      <a:r>
                        <a:rPr lang="fr-FR" sz="1000" b="0" i="0" u="none" strike="noStrike">
                          <a:solidFill>
                            <a:srgbClr val="00B050"/>
                          </a:solidFill>
                          <a:effectLst/>
                          <a:latin typeface="Aptos Narrow" panose="020B0004020202020204" pitchFamily="34" charset="0"/>
                        </a:rPr>
                        <a:t>7,8</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22849273"/>
                  </a:ext>
                </a:extLst>
              </a:tr>
              <a:tr h="163882">
                <a:tc>
                  <a:txBody>
                    <a:bodyPr/>
                    <a:lstStyle/>
                    <a:p>
                      <a:pPr algn="l" fontAlgn="b">
                        <a:buNone/>
                      </a:pPr>
                      <a:r>
                        <a:rPr lang="fr-FR" sz="1000" b="0" i="0" u="none" strike="noStrike">
                          <a:solidFill>
                            <a:srgbClr val="000000"/>
                          </a:solidFill>
                          <a:effectLst/>
                          <a:latin typeface="Aptos Narrow" panose="020B0004020202020204" pitchFamily="34" charset="0"/>
                        </a:rPr>
                        <a:t> T</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13,6</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783"/>
                    </a:solidFill>
                  </a:tcPr>
                </a:tc>
                <a:tc>
                  <a:txBody>
                    <a:bodyPr/>
                    <a:lstStyle/>
                    <a:p>
                      <a:pPr algn="r" fontAlgn="b">
                        <a:buNone/>
                      </a:pPr>
                      <a:r>
                        <a:rPr lang="fr-FR" sz="1000" b="0" i="0" u="none" strike="noStrike">
                          <a:solidFill>
                            <a:srgbClr val="000000"/>
                          </a:solidFill>
                          <a:effectLst/>
                          <a:latin typeface="Aptos Narrow" panose="020B0004020202020204" pitchFamily="34" charset="0"/>
                        </a:rPr>
                        <a:t>2,2</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C77"/>
                    </a:solidFill>
                  </a:tcPr>
                </a:tc>
                <a:tc>
                  <a:txBody>
                    <a:bodyPr/>
                    <a:lstStyle/>
                    <a:p>
                      <a:pPr algn="r" fontAlgn="b">
                        <a:buNone/>
                      </a:pPr>
                      <a:r>
                        <a:rPr lang="fr-FR" sz="1000" b="0" i="0" u="none" strike="noStrike">
                          <a:solidFill>
                            <a:srgbClr val="00B050"/>
                          </a:solidFill>
                          <a:effectLst/>
                          <a:latin typeface="Aptos Narrow" panose="020B0004020202020204" pitchFamily="34" charset="0"/>
                        </a:rPr>
                        <a:t>11,3</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72806104"/>
                  </a:ext>
                </a:extLst>
              </a:tr>
              <a:tr h="163882">
                <a:tc>
                  <a:txBody>
                    <a:bodyPr/>
                    <a:lstStyle/>
                    <a:p>
                      <a:pPr algn="l" fontAlgn="b">
                        <a:buNone/>
                      </a:pPr>
                      <a:r>
                        <a:rPr lang="fr-FR" sz="1000" b="1" i="0" u="none" strike="noStrike">
                          <a:solidFill>
                            <a:srgbClr val="000000"/>
                          </a:solidFill>
                          <a:effectLst/>
                          <a:latin typeface="Aptos Narrow" panose="020B0004020202020204" pitchFamily="34" charset="0"/>
                        </a:rPr>
                        <a:t>Park </a:t>
                      </a:r>
                      <a:r>
                        <a:rPr lang="fr-FR" sz="1000" b="1" i="0" u="none" strike="noStrike" err="1">
                          <a:solidFill>
                            <a:srgbClr val="000000"/>
                          </a:solidFill>
                          <a:effectLst/>
                          <a:latin typeface="Aptos Narrow" panose="020B0004020202020204" pitchFamily="34" charset="0"/>
                        </a:rPr>
                        <a:t>Allgäu</a:t>
                      </a:r>
                      <a:endParaRPr lang="fr-FR" sz="1000" b="1" i="0" u="none" strike="noStrike">
                        <a:solidFill>
                          <a:srgbClr val="000000"/>
                        </a:solidFill>
                        <a:effectLst/>
                        <a:latin typeface="Aptos Narrow" panose="020B0004020202020204" pitchFamily="34" charset="0"/>
                      </a:endParaRP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17,5</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DE683"/>
                    </a:solidFill>
                  </a:tcPr>
                </a:tc>
                <a:tc>
                  <a:txBody>
                    <a:bodyPr/>
                    <a:lstStyle/>
                    <a:p>
                      <a:pPr algn="r" fontAlgn="b">
                        <a:buNone/>
                      </a:pPr>
                      <a:r>
                        <a:rPr lang="fr-FR" sz="1000" b="1" i="0" u="none" strike="noStrike">
                          <a:solidFill>
                            <a:srgbClr val="000000"/>
                          </a:solidFill>
                          <a:effectLst/>
                          <a:latin typeface="Aptos Narrow" panose="020B0004020202020204" pitchFamily="34" charset="0"/>
                        </a:rPr>
                        <a:t>13,8</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883"/>
                    </a:solidFill>
                  </a:tcPr>
                </a:tc>
                <a:tc>
                  <a:txBody>
                    <a:bodyPr/>
                    <a:lstStyle/>
                    <a:p>
                      <a:pPr algn="r" fontAlgn="b">
                        <a:buNone/>
                      </a:pPr>
                      <a:r>
                        <a:rPr lang="fr-FR" sz="1000" b="1" i="0" u="none" strike="noStrike">
                          <a:solidFill>
                            <a:srgbClr val="00B050"/>
                          </a:solidFill>
                          <a:effectLst/>
                          <a:latin typeface="Aptos Narrow" panose="020B0004020202020204" pitchFamily="34" charset="0"/>
                        </a:rPr>
                        <a:t>3,7</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92037954"/>
                  </a:ext>
                </a:extLst>
              </a:tr>
              <a:tr h="163882">
                <a:tc>
                  <a:txBody>
                    <a:bodyPr/>
                    <a:lstStyle/>
                    <a:p>
                      <a:pPr algn="l" fontAlgn="b">
                        <a:buNone/>
                      </a:pPr>
                      <a:r>
                        <a:rPr lang="fr-FR" sz="1000" b="0" i="0" u="none" strike="noStrike">
                          <a:solidFill>
                            <a:srgbClr val="000000"/>
                          </a:solidFill>
                          <a:effectLst/>
                          <a:latin typeface="Aptos Narrow" panose="020B0004020202020204" pitchFamily="34" charset="0"/>
                        </a:rPr>
                        <a:t> A</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10,1</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57F"/>
                    </a:solidFill>
                  </a:tcPr>
                </a:tc>
                <a:tc>
                  <a:txBody>
                    <a:bodyPr/>
                    <a:lstStyle/>
                    <a:p>
                      <a:pPr algn="r" fontAlgn="b">
                        <a:buNone/>
                      </a:pPr>
                      <a:r>
                        <a:rPr lang="fr-FR" sz="1000" b="0" i="0" u="none" strike="noStrike">
                          <a:solidFill>
                            <a:srgbClr val="000000"/>
                          </a:solidFill>
                          <a:effectLst/>
                          <a:latin typeface="Aptos Narrow" panose="020B0004020202020204" pitchFamily="34" charset="0"/>
                        </a:rPr>
                        <a:t>5,4</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C7B"/>
                    </a:solidFill>
                  </a:tcPr>
                </a:tc>
                <a:tc>
                  <a:txBody>
                    <a:bodyPr/>
                    <a:lstStyle/>
                    <a:p>
                      <a:pPr algn="r" fontAlgn="b">
                        <a:buNone/>
                      </a:pPr>
                      <a:r>
                        <a:rPr lang="fr-FR" sz="1000" b="0" i="0" u="none" strike="noStrike">
                          <a:solidFill>
                            <a:srgbClr val="00B050"/>
                          </a:solidFill>
                          <a:effectLst/>
                          <a:latin typeface="Aptos Narrow" panose="020B0004020202020204" pitchFamily="34" charset="0"/>
                        </a:rPr>
                        <a:t>4,7</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93546293"/>
                  </a:ext>
                </a:extLst>
              </a:tr>
              <a:tr h="163882">
                <a:tc>
                  <a:txBody>
                    <a:bodyPr/>
                    <a:lstStyle/>
                    <a:p>
                      <a:pPr algn="l" fontAlgn="b">
                        <a:buNone/>
                      </a:pPr>
                      <a:r>
                        <a:rPr lang="fr-FR" sz="1000" b="0" i="0" u="none" strike="noStrike">
                          <a:solidFill>
                            <a:srgbClr val="000000"/>
                          </a:solidFill>
                          <a:effectLst/>
                          <a:latin typeface="Aptos Narrow" panose="020B0004020202020204" pitchFamily="34" charset="0"/>
                        </a:rPr>
                        <a:t> R</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22,9</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DDD82"/>
                    </a:solidFill>
                  </a:tcPr>
                </a:tc>
                <a:tc>
                  <a:txBody>
                    <a:bodyPr/>
                    <a:lstStyle/>
                    <a:p>
                      <a:pPr algn="r" fontAlgn="b">
                        <a:buNone/>
                      </a:pPr>
                      <a:r>
                        <a:rPr lang="fr-FR" sz="1000" b="0" i="0" u="none" strike="noStrike">
                          <a:solidFill>
                            <a:srgbClr val="000000"/>
                          </a:solidFill>
                          <a:effectLst/>
                          <a:latin typeface="Aptos Narrow" panose="020B0004020202020204" pitchFamily="34" charset="0"/>
                        </a:rPr>
                        <a:t>21,5</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5DF82"/>
                    </a:solidFill>
                  </a:tcPr>
                </a:tc>
                <a:tc>
                  <a:txBody>
                    <a:bodyPr/>
                    <a:lstStyle/>
                    <a:p>
                      <a:pPr algn="r" fontAlgn="b">
                        <a:buNone/>
                      </a:pPr>
                      <a:r>
                        <a:rPr lang="fr-FR" sz="1000" b="0" i="0" u="none" strike="noStrike">
                          <a:solidFill>
                            <a:srgbClr val="00B050"/>
                          </a:solidFill>
                          <a:effectLst/>
                          <a:latin typeface="Aptos Narrow" panose="020B0004020202020204" pitchFamily="34" charset="0"/>
                        </a:rPr>
                        <a:t>1,3</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77700316"/>
                  </a:ext>
                </a:extLst>
              </a:tr>
              <a:tr h="163882">
                <a:tc>
                  <a:txBody>
                    <a:bodyPr/>
                    <a:lstStyle/>
                    <a:p>
                      <a:pPr algn="l" fontAlgn="b">
                        <a:buNone/>
                      </a:pPr>
                      <a:r>
                        <a:rPr lang="fr-FR" sz="1000" b="0" i="0" u="none" strike="noStrike">
                          <a:solidFill>
                            <a:srgbClr val="000000"/>
                          </a:solidFill>
                          <a:effectLst/>
                          <a:latin typeface="Aptos Narrow" panose="020B0004020202020204" pitchFamily="34" charset="0"/>
                        </a:rPr>
                        <a:t> T</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11,0</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A80"/>
                    </a:solidFill>
                  </a:tcPr>
                </a:tc>
                <a:tc>
                  <a:txBody>
                    <a:bodyPr/>
                    <a:lstStyle/>
                    <a:p>
                      <a:pPr algn="r" fontAlgn="b">
                        <a:buNone/>
                      </a:pPr>
                      <a:r>
                        <a:rPr lang="fr-FR" sz="1000" b="0" i="0" u="none" strike="noStrike">
                          <a:solidFill>
                            <a:srgbClr val="000000"/>
                          </a:solidFill>
                          <a:effectLst/>
                          <a:latin typeface="Aptos Narrow" panose="020B0004020202020204" pitchFamily="34" charset="0"/>
                        </a:rPr>
                        <a:t>5,8</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E7B"/>
                    </a:solidFill>
                  </a:tcPr>
                </a:tc>
                <a:tc>
                  <a:txBody>
                    <a:bodyPr/>
                    <a:lstStyle/>
                    <a:p>
                      <a:pPr algn="r" fontAlgn="b">
                        <a:buNone/>
                      </a:pPr>
                      <a:r>
                        <a:rPr lang="fr-FR" sz="1000" b="0" i="0" u="none" strike="noStrike">
                          <a:solidFill>
                            <a:srgbClr val="00B050"/>
                          </a:solidFill>
                          <a:effectLst/>
                          <a:latin typeface="Aptos Narrow" panose="020B0004020202020204" pitchFamily="34" charset="0"/>
                        </a:rPr>
                        <a:t>5,2</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74742625"/>
                  </a:ext>
                </a:extLst>
              </a:tr>
              <a:tr h="163882">
                <a:tc>
                  <a:txBody>
                    <a:bodyPr/>
                    <a:lstStyle/>
                    <a:p>
                      <a:pPr algn="l" fontAlgn="b">
                        <a:buNone/>
                      </a:pPr>
                      <a:r>
                        <a:rPr lang="fr-FR" sz="1000" b="1" i="0" u="none" strike="noStrike">
                          <a:solidFill>
                            <a:srgbClr val="000000"/>
                          </a:solidFill>
                          <a:effectLst/>
                          <a:latin typeface="Aptos Narrow" panose="020B0004020202020204" pitchFamily="34" charset="0"/>
                        </a:rPr>
                        <a:t>Park </a:t>
                      </a:r>
                      <a:r>
                        <a:rPr lang="fr-FR" sz="1000" b="1" i="0" u="none" strike="noStrike" err="1">
                          <a:solidFill>
                            <a:srgbClr val="000000"/>
                          </a:solidFill>
                          <a:effectLst/>
                          <a:latin typeface="Aptos Narrow" panose="020B0004020202020204" pitchFamily="34" charset="0"/>
                        </a:rPr>
                        <a:t>Bostalsee</a:t>
                      </a:r>
                      <a:endParaRPr lang="fr-FR" sz="1000" b="1" i="0" u="none" strike="noStrike">
                        <a:solidFill>
                          <a:srgbClr val="000000"/>
                        </a:solidFill>
                        <a:effectLst/>
                        <a:latin typeface="Aptos Narrow" panose="020B0004020202020204" pitchFamily="34" charset="0"/>
                      </a:endParaRP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24,3</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5DB81"/>
                    </a:solidFill>
                  </a:tcPr>
                </a:tc>
                <a:tc>
                  <a:txBody>
                    <a:bodyPr/>
                    <a:lstStyle/>
                    <a:p>
                      <a:pPr algn="r" fontAlgn="b">
                        <a:buNone/>
                      </a:pPr>
                      <a:r>
                        <a:rPr lang="fr-FR" sz="1000" b="1" i="0" u="none" strike="noStrike">
                          <a:solidFill>
                            <a:srgbClr val="000000"/>
                          </a:solidFill>
                          <a:effectLst/>
                          <a:latin typeface="Aptos Narrow" panose="020B0004020202020204" pitchFamily="34" charset="0"/>
                        </a:rPr>
                        <a:t>12,6</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182"/>
                    </a:solidFill>
                  </a:tcPr>
                </a:tc>
                <a:tc>
                  <a:txBody>
                    <a:bodyPr/>
                    <a:lstStyle/>
                    <a:p>
                      <a:pPr algn="r" fontAlgn="b">
                        <a:buNone/>
                      </a:pPr>
                      <a:r>
                        <a:rPr lang="fr-FR" sz="1000" b="1" i="0" u="none" strike="noStrike">
                          <a:solidFill>
                            <a:srgbClr val="00B050"/>
                          </a:solidFill>
                          <a:effectLst/>
                          <a:latin typeface="Aptos Narrow" panose="020B0004020202020204" pitchFamily="34" charset="0"/>
                        </a:rPr>
                        <a:t>11,7</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50000270"/>
                  </a:ext>
                </a:extLst>
              </a:tr>
              <a:tr h="163882">
                <a:tc>
                  <a:txBody>
                    <a:bodyPr/>
                    <a:lstStyle/>
                    <a:p>
                      <a:pPr algn="l" fontAlgn="b">
                        <a:buNone/>
                      </a:pPr>
                      <a:r>
                        <a:rPr lang="fr-FR" sz="1000" b="0" i="0" u="none" strike="noStrike">
                          <a:solidFill>
                            <a:srgbClr val="000000"/>
                          </a:solidFill>
                          <a:effectLst/>
                          <a:latin typeface="Aptos Narrow" panose="020B0004020202020204" pitchFamily="34" charset="0"/>
                        </a:rPr>
                        <a:t> A</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22,7</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EDD82"/>
                    </a:solidFill>
                  </a:tcPr>
                </a:tc>
                <a:tc>
                  <a:txBody>
                    <a:bodyPr/>
                    <a:lstStyle/>
                    <a:p>
                      <a:pPr algn="r" fontAlgn="b">
                        <a:buNone/>
                      </a:pPr>
                      <a:r>
                        <a:rPr lang="fr-FR" sz="1000" b="0" i="0" u="none" strike="noStrike">
                          <a:solidFill>
                            <a:srgbClr val="000000"/>
                          </a:solidFill>
                          <a:effectLst/>
                          <a:latin typeface="Aptos Narrow" panose="020B0004020202020204" pitchFamily="34" charset="0"/>
                        </a:rPr>
                        <a:t>6,4</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27C"/>
                    </a:solidFill>
                  </a:tcPr>
                </a:tc>
                <a:tc>
                  <a:txBody>
                    <a:bodyPr/>
                    <a:lstStyle/>
                    <a:p>
                      <a:pPr algn="r" fontAlgn="b">
                        <a:buNone/>
                      </a:pPr>
                      <a:r>
                        <a:rPr lang="fr-FR" sz="1000" b="0" i="0" u="none" strike="noStrike">
                          <a:solidFill>
                            <a:srgbClr val="00B050"/>
                          </a:solidFill>
                          <a:effectLst/>
                          <a:latin typeface="Aptos Narrow" panose="020B0004020202020204" pitchFamily="34" charset="0"/>
                        </a:rPr>
                        <a:t>16,2</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37436267"/>
                  </a:ext>
                </a:extLst>
              </a:tr>
              <a:tr h="163882">
                <a:tc>
                  <a:txBody>
                    <a:bodyPr/>
                    <a:lstStyle/>
                    <a:p>
                      <a:pPr algn="l" fontAlgn="b">
                        <a:buNone/>
                      </a:pPr>
                      <a:r>
                        <a:rPr lang="fr-FR" sz="1000" b="0" i="0" u="none" strike="noStrike">
                          <a:solidFill>
                            <a:srgbClr val="000000"/>
                          </a:solidFill>
                          <a:effectLst/>
                          <a:latin typeface="Aptos Narrow" panose="020B0004020202020204" pitchFamily="34" charset="0"/>
                        </a:rPr>
                        <a:t> R</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31,2</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CCF7F"/>
                    </a:solidFill>
                  </a:tcPr>
                </a:tc>
                <a:tc>
                  <a:txBody>
                    <a:bodyPr/>
                    <a:lstStyle/>
                    <a:p>
                      <a:pPr algn="r" fontAlgn="b">
                        <a:buNone/>
                      </a:pPr>
                      <a:r>
                        <a:rPr lang="fr-FR" sz="1000" b="0" i="0" u="none" strike="noStrike">
                          <a:solidFill>
                            <a:srgbClr val="000000"/>
                          </a:solidFill>
                          <a:effectLst/>
                          <a:latin typeface="Aptos Narrow" panose="020B0004020202020204" pitchFamily="34" charset="0"/>
                        </a:rPr>
                        <a:t>21,2</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7E082"/>
                    </a:solidFill>
                  </a:tcPr>
                </a:tc>
                <a:tc>
                  <a:txBody>
                    <a:bodyPr/>
                    <a:lstStyle/>
                    <a:p>
                      <a:pPr algn="r" fontAlgn="b">
                        <a:buNone/>
                      </a:pPr>
                      <a:r>
                        <a:rPr lang="fr-FR" sz="1000" b="0" i="0" u="none" strike="noStrike">
                          <a:solidFill>
                            <a:srgbClr val="00B050"/>
                          </a:solidFill>
                          <a:effectLst/>
                          <a:latin typeface="Aptos Narrow" panose="020B0004020202020204" pitchFamily="34" charset="0"/>
                        </a:rPr>
                        <a:t>10,0</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44820907"/>
                  </a:ext>
                </a:extLst>
              </a:tr>
              <a:tr h="163882">
                <a:tc>
                  <a:txBody>
                    <a:bodyPr/>
                    <a:lstStyle/>
                    <a:p>
                      <a:pPr algn="l" fontAlgn="b">
                        <a:buNone/>
                      </a:pPr>
                      <a:r>
                        <a:rPr lang="fr-FR" sz="1000" b="0" i="0" u="none" strike="noStrike">
                          <a:solidFill>
                            <a:srgbClr val="000000"/>
                          </a:solidFill>
                          <a:effectLst/>
                          <a:latin typeface="Aptos Narrow" panose="020B0004020202020204" pitchFamily="34" charset="0"/>
                        </a:rPr>
                        <a:t> T</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15,2</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EA84"/>
                    </a:solidFill>
                  </a:tcPr>
                </a:tc>
                <a:tc>
                  <a:txBody>
                    <a:bodyPr/>
                    <a:lstStyle/>
                    <a:p>
                      <a:pPr algn="r" fontAlgn="b">
                        <a:buNone/>
                      </a:pPr>
                      <a:r>
                        <a:rPr lang="fr-FR" sz="1000" b="0" i="0" u="none" strike="noStrike">
                          <a:solidFill>
                            <a:srgbClr val="000000"/>
                          </a:solidFill>
                          <a:effectLst/>
                          <a:latin typeface="Aptos Narrow" panose="020B0004020202020204" pitchFamily="34" charset="0"/>
                        </a:rPr>
                        <a:t>3,8</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479"/>
                    </a:solidFill>
                  </a:tcPr>
                </a:tc>
                <a:tc>
                  <a:txBody>
                    <a:bodyPr/>
                    <a:lstStyle/>
                    <a:p>
                      <a:pPr algn="r" fontAlgn="b">
                        <a:buNone/>
                      </a:pPr>
                      <a:r>
                        <a:rPr lang="fr-FR" sz="1000" b="0" i="0" u="none" strike="noStrike">
                          <a:solidFill>
                            <a:srgbClr val="00B050"/>
                          </a:solidFill>
                          <a:effectLst/>
                          <a:latin typeface="Aptos Narrow" panose="020B0004020202020204" pitchFamily="34" charset="0"/>
                        </a:rPr>
                        <a:t>11,5</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87003242"/>
                  </a:ext>
                </a:extLst>
              </a:tr>
              <a:tr h="163882">
                <a:tc>
                  <a:txBody>
                    <a:bodyPr/>
                    <a:lstStyle/>
                    <a:p>
                      <a:pPr algn="l" fontAlgn="b">
                        <a:buNone/>
                      </a:pPr>
                      <a:r>
                        <a:rPr lang="fr-FR" sz="1000" b="1" i="0" u="none" strike="noStrike">
                          <a:solidFill>
                            <a:srgbClr val="000000"/>
                          </a:solidFill>
                          <a:effectLst/>
                          <a:latin typeface="Aptos Narrow" panose="020B0004020202020204" pitchFamily="34" charset="0"/>
                        </a:rPr>
                        <a:t>Park Eifel</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22,4</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0DE82"/>
                    </a:solidFill>
                  </a:tcPr>
                </a:tc>
                <a:tc>
                  <a:txBody>
                    <a:bodyPr/>
                    <a:lstStyle/>
                    <a:p>
                      <a:pPr algn="r" fontAlgn="b">
                        <a:buNone/>
                      </a:pPr>
                      <a:r>
                        <a:rPr lang="fr-FR" sz="1000" b="1" i="0" u="none" strike="noStrike">
                          <a:solidFill>
                            <a:srgbClr val="000000"/>
                          </a:solidFill>
                          <a:effectLst/>
                          <a:latin typeface="Aptos Narrow" panose="020B0004020202020204" pitchFamily="34" charset="0"/>
                        </a:rPr>
                        <a:t>13,9</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883"/>
                    </a:solidFill>
                  </a:tcPr>
                </a:tc>
                <a:tc>
                  <a:txBody>
                    <a:bodyPr/>
                    <a:lstStyle/>
                    <a:p>
                      <a:pPr algn="r" fontAlgn="b">
                        <a:buNone/>
                      </a:pPr>
                      <a:r>
                        <a:rPr lang="fr-FR" sz="1000" b="1" i="0" u="none" strike="noStrike">
                          <a:solidFill>
                            <a:srgbClr val="00B050"/>
                          </a:solidFill>
                          <a:effectLst/>
                          <a:latin typeface="Aptos Narrow" panose="020B0004020202020204" pitchFamily="34" charset="0"/>
                        </a:rPr>
                        <a:t>8,5</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65473265"/>
                  </a:ext>
                </a:extLst>
              </a:tr>
              <a:tr h="163882">
                <a:tc>
                  <a:txBody>
                    <a:bodyPr/>
                    <a:lstStyle/>
                    <a:p>
                      <a:pPr algn="l" fontAlgn="b">
                        <a:buNone/>
                      </a:pPr>
                      <a:r>
                        <a:rPr lang="fr-FR" sz="1000" b="0" i="0" u="none" strike="noStrike">
                          <a:solidFill>
                            <a:srgbClr val="000000"/>
                          </a:solidFill>
                          <a:effectLst/>
                          <a:latin typeface="Aptos Narrow" panose="020B0004020202020204" pitchFamily="34" charset="0"/>
                        </a:rPr>
                        <a:t> A</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13,7</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883"/>
                    </a:solidFill>
                  </a:tcPr>
                </a:tc>
                <a:tc>
                  <a:txBody>
                    <a:bodyPr/>
                    <a:lstStyle/>
                    <a:p>
                      <a:pPr algn="r" fontAlgn="b">
                        <a:buNone/>
                      </a:pPr>
                      <a:r>
                        <a:rPr lang="fr-FR" sz="1000" b="0" i="0" u="none" strike="noStrike">
                          <a:solidFill>
                            <a:srgbClr val="000000"/>
                          </a:solidFill>
                          <a:effectLst/>
                          <a:latin typeface="Aptos Narrow" panose="020B0004020202020204" pitchFamily="34" charset="0"/>
                        </a:rPr>
                        <a:t>3,9</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579"/>
                    </a:solidFill>
                  </a:tcPr>
                </a:tc>
                <a:tc>
                  <a:txBody>
                    <a:bodyPr/>
                    <a:lstStyle/>
                    <a:p>
                      <a:pPr algn="r" fontAlgn="b">
                        <a:buNone/>
                      </a:pPr>
                      <a:r>
                        <a:rPr lang="fr-FR" sz="1000" b="0" i="0" u="none" strike="noStrike">
                          <a:solidFill>
                            <a:srgbClr val="00B050"/>
                          </a:solidFill>
                          <a:effectLst/>
                          <a:latin typeface="Aptos Narrow" panose="020B0004020202020204" pitchFamily="34" charset="0"/>
                        </a:rPr>
                        <a:t>9,9</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14043194"/>
                  </a:ext>
                </a:extLst>
              </a:tr>
              <a:tr h="163882">
                <a:tc>
                  <a:txBody>
                    <a:bodyPr/>
                    <a:lstStyle/>
                    <a:p>
                      <a:pPr algn="l" fontAlgn="b">
                        <a:buNone/>
                      </a:pPr>
                      <a:r>
                        <a:rPr lang="fr-FR" sz="1000" b="0" i="0" u="none" strike="noStrike">
                          <a:solidFill>
                            <a:srgbClr val="000000"/>
                          </a:solidFill>
                          <a:effectLst/>
                          <a:latin typeface="Aptos Narrow" panose="020B0004020202020204" pitchFamily="34" charset="0"/>
                        </a:rPr>
                        <a:t> R</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29,3</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7D27F"/>
                    </a:solidFill>
                  </a:tcPr>
                </a:tc>
                <a:tc>
                  <a:txBody>
                    <a:bodyPr/>
                    <a:lstStyle/>
                    <a:p>
                      <a:pPr algn="r" fontAlgn="b">
                        <a:buNone/>
                      </a:pPr>
                      <a:r>
                        <a:rPr lang="fr-FR" sz="1000" b="0" i="0" u="none" strike="noStrike">
                          <a:solidFill>
                            <a:srgbClr val="000000"/>
                          </a:solidFill>
                          <a:effectLst/>
                          <a:latin typeface="Aptos Narrow" panose="020B0004020202020204" pitchFamily="34" charset="0"/>
                        </a:rPr>
                        <a:t>18,1</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9E583"/>
                    </a:solidFill>
                  </a:tcPr>
                </a:tc>
                <a:tc>
                  <a:txBody>
                    <a:bodyPr/>
                    <a:lstStyle/>
                    <a:p>
                      <a:pPr algn="r" fontAlgn="b">
                        <a:buNone/>
                      </a:pPr>
                      <a:r>
                        <a:rPr lang="fr-FR" sz="1000" b="0" i="0" u="none" strike="noStrike">
                          <a:solidFill>
                            <a:srgbClr val="00B050"/>
                          </a:solidFill>
                          <a:effectLst/>
                          <a:latin typeface="Aptos Narrow" panose="020B0004020202020204" pitchFamily="34" charset="0"/>
                        </a:rPr>
                        <a:t>11,2</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36127068"/>
                  </a:ext>
                </a:extLst>
              </a:tr>
              <a:tr h="163882">
                <a:tc>
                  <a:txBody>
                    <a:bodyPr/>
                    <a:lstStyle/>
                    <a:p>
                      <a:pPr algn="l" fontAlgn="b">
                        <a:buNone/>
                      </a:pPr>
                      <a:r>
                        <a:rPr lang="fr-FR" sz="1000" b="0" i="0" u="none" strike="noStrike">
                          <a:solidFill>
                            <a:srgbClr val="000000"/>
                          </a:solidFill>
                          <a:effectLst/>
                          <a:latin typeface="Aptos Narrow" panose="020B0004020202020204" pitchFamily="34" charset="0"/>
                        </a:rPr>
                        <a:t> T</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12,8</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282"/>
                    </a:solidFill>
                  </a:tcPr>
                </a:tc>
                <a:tc>
                  <a:txBody>
                    <a:bodyPr/>
                    <a:lstStyle/>
                    <a:p>
                      <a:pPr algn="r" fontAlgn="b">
                        <a:buNone/>
                      </a:pPr>
                      <a:r>
                        <a:rPr lang="fr-FR" sz="1000" b="0" i="0" u="none" strike="noStrike">
                          <a:solidFill>
                            <a:srgbClr val="000000"/>
                          </a:solidFill>
                          <a:effectLst/>
                          <a:latin typeface="Aptos Narrow" panose="020B0004020202020204" pitchFamily="34" charset="0"/>
                        </a:rPr>
                        <a:t>8,3</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B7D"/>
                    </a:solidFill>
                  </a:tcPr>
                </a:tc>
                <a:tc>
                  <a:txBody>
                    <a:bodyPr/>
                    <a:lstStyle/>
                    <a:p>
                      <a:pPr algn="r" fontAlgn="b">
                        <a:buNone/>
                      </a:pPr>
                      <a:r>
                        <a:rPr lang="fr-FR" sz="1000" b="0" i="0" u="none" strike="noStrike">
                          <a:solidFill>
                            <a:srgbClr val="00B050"/>
                          </a:solidFill>
                          <a:effectLst/>
                          <a:latin typeface="Aptos Narrow" panose="020B0004020202020204" pitchFamily="34" charset="0"/>
                        </a:rPr>
                        <a:t>4,5</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43074175"/>
                  </a:ext>
                </a:extLst>
              </a:tr>
            </a:tbl>
          </a:graphicData>
        </a:graphic>
      </p:graphicFrame>
      <p:graphicFrame>
        <p:nvGraphicFramePr>
          <p:cNvPr id="8" name="Table 7">
            <a:extLst>
              <a:ext uri="{FF2B5EF4-FFF2-40B4-BE49-F238E27FC236}">
                <a16:creationId xmlns:a16="http://schemas.microsoft.com/office/drawing/2014/main" id="{D71E1B74-1BB2-5620-14B8-C4DEF89C851A}"/>
              </a:ext>
            </a:extLst>
          </p:cNvPr>
          <p:cNvGraphicFramePr>
            <a:graphicFrameLocks noGrp="1"/>
          </p:cNvGraphicFramePr>
          <p:nvPr/>
        </p:nvGraphicFramePr>
        <p:xfrm>
          <a:off x="4823524" y="2884304"/>
          <a:ext cx="3215576" cy="1565355"/>
        </p:xfrm>
        <a:graphic>
          <a:graphicData uri="http://schemas.openxmlformats.org/drawingml/2006/table">
            <a:tbl>
              <a:tblPr/>
              <a:tblGrid>
                <a:gridCol w="1559700">
                  <a:extLst>
                    <a:ext uri="{9D8B030D-6E8A-4147-A177-3AD203B41FA5}">
                      <a16:colId xmlns:a16="http://schemas.microsoft.com/office/drawing/2014/main" val="1825227666"/>
                    </a:ext>
                  </a:extLst>
                </a:gridCol>
                <a:gridCol w="542504">
                  <a:extLst>
                    <a:ext uri="{9D8B030D-6E8A-4147-A177-3AD203B41FA5}">
                      <a16:colId xmlns:a16="http://schemas.microsoft.com/office/drawing/2014/main" val="1409547353"/>
                    </a:ext>
                  </a:extLst>
                </a:gridCol>
                <a:gridCol w="542504">
                  <a:extLst>
                    <a:ext uri="{9D8B030D-6E8A-4147-A177-3AD203B41FA5}">
                      <a16:colId xmlns:a16="http://schemas.microsoft.com/office/drawing/2014/main" val="144993848"/>
                    </a:ext>
                  </a:extLst>
                </a:gridCol>
                <a:gridCol w="570868">
                  <a:extLst>
                    <a:ext uri="{9D8B030D-6E8A-4147-A177-3AD203B41FA5}">
                      <a16:colId xmlns:a16="http://schemas.microsoft.com/office/drawing/2014/main" val="375282428"/>
                    </a:ext>
                  </a:extLst>
                </a:gridCol>
              </a:tblGrid>
              <a:tr h="254299">
                <a:tc>
                  <a:txBody>
                    <a:bodyPr/>
                    <a:lstStyle/>
                    <a:p>
                      <a:pPr algn="l" fontAlgn="b">
                        <a:buNone/>
                      </a:pPr>
                      <a:endParaRPr lang="fr-FR" sz="1000" b="0" i="0" u="none" strike="noStrike">
                        <a:solidFill>
                          <a:srgbClr val="000000"/>
                        </a:solidFill>
                        <a:effectLst/>
                        <a:latin typeface="Aptos Narrow" panose="020B0004020202020204" pitchFamily="34" charset="0"/>
                      </a:endParaRP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FY25</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FY24</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Evol </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99631130"/>
                  </a:ext>
                </a:extLst>
              </a:tr>
              <a:tr h="163882">
                <a:tc>
                  <a:txBody>
                    <a:bodyPr/>
                    <a:lstStyle/>
                    <a:p>
                      <a:pPr algn="l" fontAlgn="b">
                        <a:buNone/>
                      </a:pPr>
                      <a:r>
                        <a:rPr lang="fr-FR" sz="1000" b="1" i="0" u="none" strike="noStrike">
                          <a:solidFill>
                            <a:srgbClr val="000000"/>
                          </a:solidFill>
                          <a:effectLst/>
                          <a:latin typeface="Aptos Narrow" panose="020B0004020202020204" pitchFamily="34" charset="0"/>
                        </a:rPr>
                        <a:t>Park </a:t>
                      </a:r>
                      <a:r>
                        <a:rPr lang="fr-FR" sz="1000" b="1" i="0" u="none" strike="noStrike" err="1">
                          <a:solidFill>
                            <a:srgbClr val="000000"/>
                          </a:solidFill>
                          <a:effectLst/>
                          <a:latin typeface="Aptos Narrow" panose="020B0004020202020204" pitchFamily="34" charset="0"/>
                        </a:rPr>
                        <a:t>Hochsauerland</a:t>
                      </a:r>
                      <a:endParaRPr lang="fr-FR" sz="1000" b="1" i="0" u="none" strike="noStrike">
                        <a:solidFill>
                          <a:srgbClr val="000000"/>
                        </a:solidFill>
                        <a:effectLst/>
                        <a:latin typeface="Aptos Narrow" panose="020B0004020202020204" pitchFamily="34" charset="0"/>
                      </a:endParaRP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35,6</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2C77D"/>
                    </a:solidFill>
                  </a:tcPr>
                </a:tc>
                <a:tc>
                  <a:txBody>
                    <a:bodyPr/>
                    <a:lstStyle/>
                    <a:p>
                      <a:pPr algn="r" fontAlgn="b">
                        <a:buNone/>
                      </a:pPr>
                      <a:r>
                        <a:rPr lang="fr-FR" sz="1000" b="1" i="0" u="none" strike="noStrike">
                          <a:solidFill>
                            <a:srgbClr val="000000"/>
                          </a:solidFill>
                          <a:effectLst/>
                          <a:latin typeface="Aptos Narrow" panose="020B0004020202020204" pitchFamily="34" charset="0"/>
                        </a:rPr>
                        <a:t>32,2</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6CD7E"/>
                    </a:solidFill>
                  </a:tcPr>
                </a:tc>
                <a:tc>
                  <a:txBody>
                    <a:bodyPr/>
                    <a:lstStyle/>
                    <a:p>
                      <a:pPr algn="r" fontAlgn="b">
                        <a:buNone/>
                      </a:pPr>
                      <a:r>
                        <a:rPr lang="fr-FR" sz="1000" b="1" i="0" u="none" strike="noStrike">
                          <a:solidFill>
                            <a:srgbClr val="00B050"/>
                          </a:solidFill>
                          <a:effectLst/>
                          <a:latin typeface="Aptos Narrow" panose="020B0004020202020204" pitchFamily="34" charset="0"/>
                        </a:rPr>
                        <a:t>3,5</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19330247"/>
                  </a:ext>
                </a:extLst>
              </a:tr>
              <a:tr h="163882">
                <a:tc>
                  <a:txBody>
                    <a:bodyPr/>
                    <a:lstStyle/>
                    <a:p>
                      <a:pPr algn="l" fontAlgn="b">
                        <a:buNone/>
                      </a:pPr>
                      <a:r>
                        <a:rPr lang="fr-FR" sz="1000" b="0" i="0" u="none" strike="noStrike">
                          <a:solidFill>
                            <a:srgbClr val="000000"/>
                          </a:solidFill>
                          <a:effectLst/>
                          <a:latin typeface="Aptos Narrow" panose="020B0004020202020204" pitchFamily="34" charset="0"/>
                        </a:rPr>
                        <a:t> A</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30,4</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D07F"/>
                    </a:solidFill>
                  </a:tcPr>
                </a:tc>
                <a:tc>
                  <a:txBody>
                    <a:bodyPr/>
                    <a:lstStyle/>
                    <a:p>
                      <a:pPr algn="r" fontAlgn="b">
                        <a:buNone/>
                      </a:pPr>
                      <a:r>
                        <a:rPr lang="fr-FR" sz="1000" b="0" i="0" u="none" strike="noStrike">
                          <a:solidFill>
                            <a:srgbClr val="000000"/>
                          </a:solidFill>
                          <a:effectLst/>
                          <a:latin typeface="Aptos Narrow" panose="020B0004020202020204" pitchFamily="34" charset="0"/>
                        </a:rPr>
                        <a:t>26,8</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6D680"/>
                    </a:solidFill>
                  </a:tcPr>
                </a:tc>
                <a:tc>
                  <a:txBody>
                    <a:bodyPr/>
                    <a:lstStyle/>
                    <a:p>
                      <a:pPr algn="r" fontAlgn="b">
                        <a:buNone/>
                      </a:pPr>
                      <a:r>
                        <a:rPr lang="fr-FR" sz="1000" b="0" i="0" u="none" strike="noStrike">
                          <a:solidFill>
                            <a:srgbClr val="00B050"/>
                          </a:solidFill>
                          <a:effectLst/>
                          <a:latin typeface="Aptos Narrow" panose="020B0004020202020204" pitchFamily="34" charset="0"/>
                        </a:rPr>
                        <a:t>3,6</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8525965"/>
                  </a:ext>
                </a:extLst>
              </a:tr>
              <a:tr h="163882">
                <a:tc>
                  <a:txBody>
                    <a:bodyPr/>
                    <a:lstStyle/>
                    <a:p>
                      <a:pPr algn="l" fontAlgn="b">
                        <a:buNone/>
                      </a:pPr>
                      <a:r>
                        <a:rPr lang="fr-FR" sz="1000" b="0" i="0" u="none" strike="noStrike">
                          <a:solidFill>
                            <a:srgbClr val="000000"/>
                          </a:solidFill>
                          <a:effectLst/>
                          <a:latin typeface="Aptos Narrow" panose="020B0004020202020204" pitchFamily="34" charset="0"/>
                        </a:rPr>
                        <a:t> R</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40,7</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1000" b="0" i="0" u="none" strike="noStrike">
                          <a:solidFill>
                            <a:srgbClr val="000000"/>
                          </a:solidFill>
                          <a:effectLst/>
                          <a:latin typeface="Aptos Narrow" panose="020B0004020202020204" pitchFamily="34" charset="0"/>
                        </a:rPr>
                        <a:t>39,2</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CC17C"/>
                    </a:solidFill>
                  </a:tcPr>
                </a:tc>
                <a:tc>
                  <a:txBody>
                    <a:bodyPr/>
                    <a:lstStyle/>
                    <a:p>
                      <a:pPr algn="r" fontAlgn="b">
                        <a:buNone/>
                      </a:pPr>
                      <a:r>
                        <a:rPr lang="fr-FR" sz="1000" b="0" i="0" u="none" strike="noStrike">
                          <a:solidFill>
                            <a:srgbClr val="00B050"/>
                          </a:solidFill>
                          <a:effectLst/>
                          <a:latin typeface="Aptos Narrow" panose="020B0004020202020204" pitchFamily="34" charset="0"/>
                        </a:rPr>
                        <a:t>1,5</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39251085"/>
                  </a:ext>
                </a:extLst>
              </a:tr>
              <a:tr h="163882">
                <a:tc>
                  <a:txBody>
                    <a:bodyPr/>
                    <a:lstStyle/>
                    <a:p>
                      <a:pPr algn="l" fontAlgn="b">
                        <a:buNone/>
                      </a:pPr>
                      <a:r>
                        <a:rPr lang="fr-FR" sz="1000" b="0" i="0" u="none" strike="noStrike">
                          <a:solidFill>
                            <a:srgbClr val="000000"/>
                          </a:solidFill>
                          <a:effectLst/>
                          <a:latin typeface="Aptos Narrow" panose="020B0004020202020204" pitchFamily="34" charset="0"/>
                        </a:rPr>
                        <a:t> T</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28,2</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DD480"/>
                    </a:solidFill>
                  </a:tcPr>
                </a:tc>
                <a:tc>
                  <a:txBody>
                    <a:bodyPr/>
                    <a:lstStyle/>
                    <a:p>
                      <a:pPr algn="r" fontAlgn="b">
                        <a:buNone/>
                      </a:pPr>
                      <a:r>
                        <a:rPr lang="fr-FR" sz="1000" b="0" i="0" u="none" strike="noStrike">
                          <a:solidFill>
                            <a:srgbClr val="000000"/>
                          </a:solidFill>
                          <a:effectLst/>
                          <a:latin typeface="Aptos Narrow" panose="020B0004020202020204" pitchFamily="34" charset="0"/>
                        </a:rPr>
                        <a:t>22,9</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DDD82"/>
                    </a:solidFill>
                  </a:tcPr>
                </a:tc>
                <a:tc>
                  <a:txBody>
                    <a:bodyPr/>
                    <a:lstStyle/>
                    <a:p>
                      <a:pPr algn="r" fontAlgn="b">
                        <a:buNone/>
                      </a:pPr>
                      <a:r>
                        <a:rPr lang="fr-FR" sz="1000" b="0" i="0" u="none" strike="noStrike">
                          <a:solidFill>
                            <a:srgbClr val="00B050"/>
                          </a:solidFill>
                          <a:effectLst/>
                          <a:latin typeface="Aptos Narrow" panose="020B0004020202020204" pitchFamily="34" charset="0"/>
                        </a:rPr>
                        <a:t>5,3</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36237493"/>
                  </a:ext>
                </a:extLst>
              </a:tr>
              <a:tr h="163882">
                <a:tc>
                  <a:txBody>
                    <a:bodyPr/>
                    <a:lstStyle/>
                    <a:p>
                      <a:pPr algn="l" fontAlgn="b">
                        <a:buNone/>
                      </a:pPr>
                      <a:r>
                        <a:rPr lang="fr-FR" sz="1000" b="1" i="0" u="none" strike="noStrike">
                          <a:solidFill>
                            <a:srgbClr val="000000"/>
                          </a:solidFill>
                          <a:effectLst/>
                          <a:latin typeface="Aptos Narrow" panose="020B0004020202020204" pitchFamily="34" charset="0"/>
                        </a:rPr>
                        <a:t>Park </a:t>
                      </a:r>
                      <a:r>
                        <a:rPr lang="fr-FR" sz="1000" b="1" i="0" u="none" strike="noStrike" err="1">
                          <a:solidFill>
                            <a:srgbClr val="000000"/>
                          </a:solidFill>
                          <a:effectLst/>
                          <a:latin typeface="Aptos Narrow" panose="020B0004020202020204" pitchFamily="34" charset="0"/>
                        </a:rPr>
                        <a:t>Nordseeküste</a:t>
                      </a:r>
                      <a:endParaRPr lang="fr-FR" sz="1000" b="1" i="0" u="none" strike="noStrike">
                        <a:solidFill>
                          <a:srgbClr val="000000"/>
                        </a:solidFill>
                        <a:effectLst/>
                        <a:latin typeface="Aptos Narrow" panose="020B0004020202020204" pitchFamily="34" charset="0"/>
                      </a:endParaRP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0,3</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276"/>
                    </a:solidFill>
                  </a:tcPr>
                </a:tc>
                <a:tc>
                  <a:txBody>
                    <a:bodyPr/>
                    <a:lstStyle/>
                    <a:p>
                      <a:pPr algn="r" fontAlgn="b">
                        <a:buNone/>
                      </a:pPr>
                      <a:r>
                        <a:rPr lang="fr-FR" sz="1000" b="1" i="0" u="none" strike="noStrike">
                          <a:solidFill>
                            <a:srgbClr val="000000"/>
                          </a:solidFill>
                          <a:effectLst/>
                          <a:latin typeface="Aptos Narrow" panose="020B0004020202020204" pitchFamily="34" charset="0"/>
                        </a:rPr>
                        <a:t>0,1</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175"/>
                    </a:solidFill>
                  </a:tcPr>
                </a:tc>
                <a:tc>
                  <a:txBody>
                    <a:bodyPr/>
                    <a:lstStyle/>
                    <a:p>
                      <a:pPr algn="r" fontAlgn="b">
                        <a:buNone/>
                      </a:pPr>
                      <a:r>
                        <a:rPr lang="fr-FR" sz="1000" b="1" i="0" u="none" strike="noStrike">
                          <a:solidFill>
                            <a:srgbClr val="00B050"/>
                          </a:solidFill>
                          <a:effectLst/>
                          <a:latin typeface="Aptos Narrow" panose="020B0004020202020204" pitchFamily="34" charset="0"/>
                        </a:rPr>
                        <a:t>0,2</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43495801"/>
                  </a:ext>
                </a:extLst>
              </a:tr>
              <a:tr h="163882">
                <a:tc>
                  <a:txBody>
                    <a:bodyPr/>
                    <a:lstStyle/>
                    <a:p>
                      <a:pPr algn="l" fontAlgn="b">
                        <a:buNone/>
                      </a:pPr>
                      <a:r>
                        <a:rPr lang="fr-FR" sz="1000" b="0" i="0" u="none" strike="noStrike">
                          <a:solidFill>
                            <a:srgbClr val="000000"/>
                          </a:solidFill>
                          <a:effectLst/>
                          <a:latin typeface="Aptos Narrow" panose="020B0004020202020204" pitchFamily="34" charset="0"/>
                        </a:rPr>
                        <a:t> A</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0,6</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476"/>
                    </a:solidFill>
                  </a:tcPr>
                </a:tc>
                <a:tc>
                  <a:txBody>
                    <a:bodyPr/>
                    <a:lstStyle/>
                    <a:p>
                      <a:pPr algn="r" fontAlgn="b">
                        <a:buNone/>
                      </a:pPr>
                      <a:r>
                        <a:rPr lang="fr-FR" sz="1000" b="0" i="0" u="none" strike="noStrike">
                          <a:solidFill>
                            <a:srgbClr val="000000"/>
                          </a:solidFill>
                          <a:effectLst/>
                          <a:latin typeface="Aptos Narrow" panose="020B0004020202020204" pitchFamily="34" charset="0"/>
                        </a:rPr>
                        <a:t>-5,8</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370"/>
                    </a:solidFill>
                  </a:tcPr>
                </a:tc>
                <a:tc>
                  <a:txBody>
                    <a:bodyPr/>
                    <a:lstStyle/>
                    <a:p>
                      <a:pPr algn="r" fontAlgn="b">
                        <a:buNone/>
                      </a:pPr>
                      <a:r>
                        <a:rPr lang="fr-FR" sz="1000" b="0" i="0" u="none" strike="noStrike">
                          <a:solidFill>
                            <a:srgbClr val="00B050"/>
                          </a:solidFill>
                          <a:effectLst/>
                          <a:latin typeface="Aptos Narrow" panose="020B0004020202020204" pitchFamily="34" charset="0"/>
                        </a:rPr>
                        <a:t>6,4</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94716572"/>
                  </a:ext>
                </a:extLst>
              </a:tr>
              <a:tr h="163882">
                <a:tc>
                  <a:txBody>
                    <a:bodyPr/>
                    <a:lstStyle/>
                    <a:p>
                      <a:pPr algn="l" fontAlgn="b">
                        <a:buNone/>
                      </a:pPr>
                      <a:r>
                        <a:rPr lang="fr-FR" sz="1000" b="0" i="0" u="none" strike="noStrike">
                          <a:solidFill>
                            <a:srgbClr val="000000"/>
                          </a:solidFill>
                          <a:effectLst/>
                          <a:latin typeface="Aptos Narrow" panose="020B0004020202020204" pitchFamily="34" charset="0"/>
                        </a:rPr>
                        <a:t> R</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8,6</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D7E"/>
                    </a:solidFill>
                  </a:tcPr>
                </a:tc>
                <a:tc>
                  <a:txBody>
                    <a:bodyPr/>
                    <a:lstStyle/>
                    <a:p>
                      <a:pPr algn="r" fontAlgn="b">
                        <a:buNone/>
                      </a:pPr>
                      <a:r>
                        <a:rPr lang="fr-FR" sz="1000" b="0" i="0" u="none" strike="noStrike">
                          <a:solidFill>
                            <a:srgbClr val="000000"/>
                          </a:solidFill>
                          <a:effectLst/>
                          <a:latin typeface="Aptos Narrow" panose="020B0004020202020204" pitchFamily="34" charset="0"/>
                        </a:rPr>
                        <a:t>9,5</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27F"/>
                    </a:solidFill>
                  </a:tcPr>
                </a:tc>
                <a:tc>
                  <a:txBody>
                    <a:bodyPr/>
                    <a:lstStyle/>
                    <a:p>
                      <a:pPr algn="r" fontAlgn="b">
                        <a:buNone/>
                      </a:pPr>
                      <a:r>
                        <a:rPr lang="fr-FR" sz="1000" b="0" i="0" u="none" strike="noStrike">
                          <a:solidFill>
                            <a:srgbClr val="FF0000"/>
                          </a:solidFill>
                          <a:effectLst/>
                          <a:latin typeface="Aptos Narrow" panose="020B0004020202020204" pitchFamily="34" charset="0"/>
                        </a:rPr>
                        <a:t>-0,8</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37733661"/>
                  </a:ext>
                </a:extLst>
              </a:tr>
              <a:tr h="163882">
                <a:tc>
                  <a:txBody>
                    <a:bodyPr/>
                    <a:lstStyle/>
                    <a:p>
                      <a:pPr algn="l" fontAlgn="b">
                        <a:buNone/>
                      </a:pPr>
                      <a:r>
                        <a:rPr lang="fr-FR" sz="1000" b="0" i="0" u="none" strike="noStrike">
                          <a:solidFill>
                            <a:srgbClr val="000000"/>
                          </a:solidFill>
                          <a:effectLst/>
                          <a:latin typeface="Aptos Narrow" panose="020B0004020202020204" pitchFamily="34" charset="0"/>
                        </a:rPr>
                        <a:t> T</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-10,9</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96B"/>
                    </a:solidFill>
                  </a:tcPr>
                </a:tc>
                <a:tc>
                  <a:txBody>
                    <a:bodyPr/>
                    <a:lstStyle/>
                    <a:p>
                      <a:pPr algn="r" fontAlgn="b">
                        <a:buNone/>
                      </a:pPr>
                      <a:r>
                        <a:rPr lang="fr-FR" sz="1000" b="0" i="0" u="none" strike="noStrike">
                          <a:solidFill>
                            <a:srgbClr val="000000"/>
                          </a:solidFill>
                          <a:effectLst/>
                          <a:latin typeface="Aptos Narrow" panose="020B0004020202020204" pitchFamily="34" charset="0"/>
                        </a:rPr>
                        <a:t>-9,2</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16C"/>
                    </a:solidFill>
                  </a:tcPr>
                </a:tc>
                <a:tc>
                  <a:txBody>
                    <a:bodyPr/>
                    <a:lstStyle/>
                    <a:p>
                      <a:pPr algn="r" fontAlgn="b">
                        <a:buNone/>
                      </a:pPr>
                      <a:r>
                        <a:rPr lang="fr-FR" sz="1000" b="0" i="0" u="none" strike="noStrike">
                          <a:solidFill>
                            <a:srgbClr val="FF0000"/>
                          </a:solidFill>
                          <a:effectLst/>
                          <a:latin typeface="Aptos Narrow" panose="020B0004020202020204" pitchFamily="34" charset="0"/>
                        </a:rPr>
                        <a:t>-1,6</a:t>
                      </a:r>
                    </a:p>
                  </a:txBody>
                  <a:tcPr marL="5651" marR="5651" marT="5651"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83766050"/>
                  </a:ext>
                </a:extLst>
              </a:tr>
            </a:tbl>
          </a:graphicData>
        </a:graphic>
      </p:graphicFrame>
      <p:sp>
        <p:nvSpPr>
          <p:cNvPr id="9" name="Rechthoek 4">
            <a:extLst>
              <a:ext uri="{FF2B5EF4-FFF2-40B4-BE49-F238E27FC236}">
                <a16:creationId xmlns:a16="http://schemas.microsoft.com/office/drawing/2014/main" id="{370F45BF-A052-9A16-313E-8FC39339A06E}"/>
              </a:ext>
            </a:extLst>
          </p:cNvPr>
          <p:cNvSpPr/>
          <p:nvPr/>
        </p:nvSpPr>
        <p:spPr>
          <a:xfrm>
            <a:off x="-1" y="978100"/>
            <a:ext cx="6934201" cy="1696720"/>
          </a:xfrm>
          <a:prstGeom prst="rect">
            <a:avLst/>
          </a:prstGeom>
          <a:solidFill>
            <a:schemeClr val="accent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1"/>
                </a:solidFill>
                <a:latin typeface="+mj-lt"/>
                <a:ea typeface="Calibri"/>
                <a:cs typeface="Calibri"/>
              </a:rPr>
              <a:t>NPS Repeaters &gt; NPS Trialist and </a:t>
            </a:r>
            <a:r>
              <a:rPr lang="en-US" sz="1200" b="1" err="1">
                <a:solidFill>
                  <a:schemeClr val="tx1"/>
                </a:solidFill>
                <a:latin typeface="+mj-lt"/>
                <a:ea typeface="Calibri"/>
                <a:cs typeface="Calibri"/>
              </a:rPr>
              <a:t>ReActivated</a:t>
            </a:r>
            <a:r>
              <a:rPr lang="en-US" sz="1200" b="1">
                <a:solidFill>
                  <a:schemeClr val="tx1"/>
                </a:solidFill>
                <a:latin typeface="+mj-lt"/>
                <a:ea typeface="Calibri"/>
                <a:cs typeface="Calibri"/>
              </a:rPr>
              <a:t> guest.</a:t>
            </a:r>
          </a:p>
          <a:p>
            <a:pPr marL="720725" lvl="2" indent="-161925">
              <a:lnSpc>
                <a:spcPct val="120000"/>
              </a:lnSpc>
              <a:buFont typeface="Arial" panose="020B0604020202020204" pitchFamily="34" charset="0"/>
              <a:buChar char="•"/>
            </a:pPr>
            <a:r>
              <a:rPr lang="en-US" sz="1200" b="1">
                <a:solidFill>
                  <a:schemeClr val="tx1"/>
                </a:solidFill>
                <a:latin typeface="+mj-lt"/>
                <a:ea typeface="Calibri"/>
                <a:cs typeface="Calibri"/>
              </a:rPr>
              <a:t>All segments improved in all parks of Germany.</a:t>
            </a:r>
          </a:p>
          <a:p>
            <a:pPr marL="720725" lvl="2" indent="-161925">
              <a:lnSpc>
                <a:spcPct val="120000"/>
              </a:lnSpc>
              <a:buFont typeface="Arial" panose="020B0604020202020204" pitchFamily="34" charset="0"/>
              <a:buChar char="•"/>
            </a:pPr>
            <a:r>
              <a:rPr lang="en-US" sz="1200" b="1">
                <a:solidFill>
                  <a:schemeClr val="tx1"/>
                </a:solidFill>
                <a:latin typeface="+mj-lt"/>
                <a:ea typeface="Calibri"/>
                <a:cs typeface="Calibri"/>
              </a:rPr>
              <a:t>Only Trialists and Repeaters guest of Park </a:t>
            </a:r>
            <a:r>
              <a:rPr lang="en-US" sz="1200" b="1" err="1">
                <a:solidFill>
                  <a:schemeClr val="tx1"/>
                </a:solidFill>
                <a:latin typeface="+mj-lt"/>
                <a:ea typeface="Calibri"/>
                <a:cs typeface="Calibri"/>
              </a:rPr>
              <a:t>Nordseeküste</a:t>
            </a:r>
            <a:r>
              <a:rPr lang="en-US" sz="1200" b="1">
                <a:solidFill>
                  <a:schemeClr val="tx1"/>
                </a:solidFill>
                <a:latin typeface="+mj-lt"/>
                <a:ea typeface="Calibri"/>
                <a:cs typeface="Calibri"/>
              </a:rPr>
              <a:t> decreased.</a:t>
            </a:r>
          </a:p>
        </p:txBody>
      </p:sp>
      <p:sp>
        <p:nvSpPr>
          <p:cNvPr id="10" name="Rectangle 9">
            <a:extLst>
              <a:ext uri="{FF2B5EF4-FFF2-40B4-BE49-F238E27FC236}">
                <a16:creationId xmlns:a16="http://schemas.microsoft.com/office/drawing/2014/main" id="{E81CC193-95D7-B186-B251-FB8778305075}"/>
              </a:ext>
            </a:extLst>
          </p:cNvPr>
          <p:cNvSpPr/>
          <p:nvPr/>
        </p:nvSpPr>
        <p:spPr>
          <a:xfrm rot="16200000">
            <a:off x="-617105" y="1646060"/>
            <a:ext cx="1656000" cy="37547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2"/>
                </a:solidFill>
                <a:ea typeface="Calibri"/>
                <a:cs typeface="Calibri"/>
              </a:rPr>
              <a:t>Analysis</a:t>
            </a:r>
            <a:endParaRPr lang="en-US" sz="1100">
              <a:solidFill>
                <a:schemeClr val="accent2"/>
              </a:solidFill>
            </a:endParaRPr>
          </a:p>
        </p:txBody>
      </p:sp>
    </p:spTree>
    <p:extLst>
      <p:ext uri="{BB962C8B-B14F-4D97-AF65-F5344CB8AC3E}">
        <p14:creationId xmlns:p14="http://schemas.microsoft.com/office/powerpoint/2010/main" val="4110026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4057E-BF46-C325-6C08-325AF953E1F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0765-EC26-1E4C-9575-D6E1F05DAA39}"/>
              </a:ext>
            </a:extLst>
          </p:cNvPr>
          <p:cNvSpPr>
            <a:spLocks noGrp="1"/>
          </p:cNvSpPr>
          <p:nvPr>
            <p:ph type="sldNum" sz="quarter" idx="12"/>
          </p:nvPr>
        </p:nvSpPr>
        <p:spPr/>
        <p:txBody>
          <a:bodyPr/>
          <a:lstStyle/>
          <a:p>
            <a:fld id="{0D2E6A04-B99A-6C4D-8942-945F97C9E705}" type="slidenum">
              <a:rPr lang="en-US" smtClean="0"/>
              <a:pPr/>
              <a:t>46</a:t>
            </a:fld>
            <a:endParaRPr lang="en-US"/>
          </a:p>
        </p:txBody>
      </p:sp>
      <p:sp>
        <p:nvSpPr>
          <p:cNvPr id="3" name="Date Placeholder 2">
            <a:extLst>
              <a:ext uri="{FF2B5EF4-FFF2-40B4-BE49-F238E27FC236}">
                <a16:creationId xmlns:a16="http://schemas.microsoft.com/office/drawing/2014/main" id="{FA0DBFDE-3841-9151-8114-34275F9337EE}"/>
              </a:ext>
            </a:extLst>
          </p:cNvPr>
          <p:cNvSpPr>
            <a:spLocks noGrp="1"/>
          </p:cNvSpPr>
          <p:nvPr>
            <p:ph type="dt" sz="half" idx="10"/>
          </p:nvPr>
        </p:nvSpPr>
        <p:spPr/>
        <p:txBody>
          <a:bodyPr/>
          <a:lstStyle/>
          <a:p>
            <a:fld id="{05C20A28-4BAC-4477-9026-1E123DBFBC43}" type="datetime1">
              <a:rPr lang="fr-FR" smtClean="0"/>
              <a:t>27/11/2025</a:t>
            </a:fld>
            <a:endParaRPr lang="en-US"/>
          </a:p>
        </p:txBody>
      </p:sp>
      <p:sp>
        <p:nvSpPr>
          <p:cNvPr id="5" name="Title 4">
            <a:extLst>
              <a:ext uri="{FF2B5EF4-FFF2-40B4-BE49-F238E27FC236}">
                <a16:creationId xmlns:a16="http://schemas.microsoft.com/office/drawing/2014/main" id="{F4BDD1EE-A0E4-28BD-9AED-6DF6E4D58031}"/>
              </a:ext>
            </a:extLst>
          </p:cNvPr>
          <p:cNvSpPr>
            <a:spLocks noGrp="1"/>
          </p:cNvSpPr>
          <p:nvPr>
            <p:ph type="title"/>
          </p:nvPr>
        </p:nvSpPr>
        <p:spPr/>
        <p:txBody>
          <a:bodyPr/>
          <a:lstStyle/>
          <a:p>
            <a:r>
              <a:rPr lang="fr-FR"/>
              <a:t>Germany – NPS per </a:t>
            </a:r>
            <a:r>
              <a:rPr lang="fr-FR" err="1"/>
              <a:t>household</a:t>
            </a:r>
            <a:r>
              <a:rPr lang="fr-FR"/>
              <a:t> structure</a:t>
            </a:r>
          </a:p>
        </p:txBody>
      </p:sp>
      <p:sp>
        <p:nvSpPr>
          <p:cNvPr id="6" name="Rechthoek 4">
            <a:extLst>
              <a:ext uri="{FF2B5EF4-FFF2-40B4-BE49-F238E27FC236}">
                <a16:creationId xmlns:a16="http://schemas.microsoft.com/office/drawing/2014/main" id="{04DF79F4-596D-B44E-51E3-C0DE5CA101DD}"/>
              </a:ext>
            </a:extLst>
          </p:cNvPr>
          <p:cNvSpPr/>
          <p:nvPr/>
        </p:nvSpPr>
        <p:spPr>
          <a:xfrm>
            <a:off x="-1" y="978100"/>
            <a:ext cx="6934201" cy="1696720"/>
          </a:xfrm>
          <a:prstGeom prst="rect">
            <a:avLst/>
          </a:prstGeom>
          <a:solidFill>
            <a:schemeClr val="accent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1"/>
                </a:solidFill>
                <a:latin typeface="+mj-lt"/>
                <a:ea typeface="Calibri"/>
                <a:cs typeface="Calibri"/>
              </a:rPr>
              <a:t>Data are slightly different because a part of total booking don’t get household structure information.</a:t>
            </a:r>
          </a:p>
          <a:p>
            <a:pPr marL="720725" lvl="2" indent="-161925">
              <a:lnSpc>
                <a:spcPct val="120000"/>
              </a:lnSpc>
              <a:buFont typeface="Arial" panose="020B0604020202020204" pitchFamily="34" charset="0"/>
              <a:buChar char="•"/>
            </a:pPr>
            <a:r>
              <a:rPr lang="en-US" sz="1200" b="1">
                <a:solidFill>
                  <a:schemeClr val="tx1"/>
                </a:solidFill>
                <a:latin typeface="+mj-lt"/>
                <a:ea typeface="Calibri"/>
                <a:cs typeface="Calibri"/>
              </a:rPr>
              <a:t>Seniors and family with 3;4 are the highest NPS.</a:t>
            </a:r>
          </a:p>
          <a:p>
            <a:pPr marL="720725" lvl="2" indent="-161925">
              <a:lnSpc>
                <a:spcPct val="120000"/>
              </a:lnSpc>
              <a:buFont typeface="Arial" panose="020B0604020202020204" pitchFamily="34" charset="0"/>
              <a:buChar char="•"/>
            </a:pPr>
            <a:r>
              <a:rPr lang="en-US" sz="1200" b="1">
                <a:solidFill>
                  <a:schemeClr val="tx1"/>
                </a:solidFill>
                <a:latin typeface="+mj-lt"/>
                <a:ea typeface="Calibri"/>
                <a:cs typeface="Calibri"/>
              </a:rPr>
              <a:t>Young Adults, 0;2 and 12;17 are the lowest NPS.</a:t>
            </a:r>
          </a:p>
          <a:p>
            <a:pPr marL="720725" lvl="2" indent="-161925">
              <a:lnSpc>
                <a:spcPct val="120000"/>
              </a:lnSpc>
              <a:buFont typeface="Arial" panose="020B0604020202020204" pitchFamily="34" charset="0"/>
              <a:buChar char="•"/>
            </a:pPr>
            <a:r>
              <a:rPr lang="en-US" sz="1200" b="1">
                <a:solidFill>
                  <a:schemeClr val="tx1"/>
                </a:solidFill>
                <a:latin typeface="+mj-lt"/>
                <a:ea typeface="Calibri"/>
                <a:cs typeface="Calibri"/>
              </a:rPr>
              <a:t>German parks increased on all household structure.</a:t>
            </a:r>
          </a:p>
          <a:p>
            <a:pPr marL="720725" lvl="2" indent="-161925">
              <a:lnSpc>
                <a:spcPct val="120000"/>
              </a:lnSpc>
              <a:buFont typeface="Arial" panose="020B0604020202020204" pitchFamily="34" charset="0"/>
              <a:buChar char="•"/>
            </a:pPr>
            <a:r>
              <a:rPr lang="en-US" sz="1200" b="1">
                <a:solidFill>
                  <a:schemeClr val="tx1"/>
                </a:solidFill>
                <a:latin typeface="+mj-lt"/>
                <a:ea typeface="Calibri"/>
                <a:cs typeface="Calibri"/>
              </a:rPr>
              <a:t>Only Park </a:t>
            </a:r>
            <a:r>
              <a:rPr lang="en-US" sz="1200" b="1" err="1">
                <a:solidFill>
                  <a:schemeClr val="tx1"/>
                </a:solidFill>
                <a:latin typeface="+mj-lt"/>
                <a:ea typeface="Calibri"/>
                <a:cs typeface="Calibri"/>
              </a:rPr>
              <a:t>Nordseeküste</a:t>
            </a:r>
            <a:r>
              <a:rPr lang="en-US" sz="1200" b="1">
                <a:solidFill>
                  <a:schemeClr val="tx1"/>
                </a:solidFill>
                <a:latin typeface="+mj-lt"/>
                <a:ea typeface="Calibri"/>
                <a:cs typeface="Calibri"/>
              </a:rPr>
              <a:t> lost few points on 0;2, 5;11 and seniors.</a:t>
            </a:r>
          </a:p>
        </p:txBody>
      </p:sp>
      <p:sp>
        <p:nvSpPr>
          <p:cNvPr id="7" name="Rectangle 6">
            <a:extLst>
              <a:ext uri="{FF2B5EF4-FFF2-40B4-BE49-F238E27FC236}">
                <a16:creationId xmlns:a16="http://schemas.microsoft.com/office/drawing/2014/main" id="{64E92A30-EA0B-6309-9516-5CC98A5830C1}"/>
              </a:ext>
            </a:extLst>
          </p:cNvPr>
          <p:cNvSpPr/>
          <p:nvPr/>
        </p:nvSpPr>
        <p:spPr>
          <a:xfrm rot="16200000">
            <a:off x="-617105" y="1646060"/>
            <a:ext cx="1656000" cy="37547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2"/>
                </a:solidFill>
                <a:ea typeface="Calibri"/>
                <a:cs typeface="Calibri"/>
              </a:rPr>
              <a:t>Analysis</a:t>
            </a:r>
            <a:endParaRPr lang="en-US" sz="1100">
              <a:solidFill>
                <a:schemeClr val="accent2"/>
              </a:solidFill>
            </a:endParaRPr>
          </a:p>
        </p:txBody>
      </p:sp>
      <p:graphicFrame>
        <p:nvGraphicFramePr>
          <p:cNvPr id="8" name="Table 7">
            <a:extLst>
              <a:ext uri="{FF2B5EF4-FFF2-40B4-BE49-F238E27FC236}">
                <a16:creationId xmlns:a16="http://schemas.microsoft.com/office/drawing/2014/main" id="{CDD097FC-3C20-05F3-AEFB-1517B754B8F4}"/>
              </a:ext>
            </a:extLst>
          </p:cNvPr>
          <p:cNvGraphicFramePr>
            <a:graphicFrameLocks noGrp="1"/>
          </p:cNvGraphicFramePr>
          <p:nvPr>
            <p:extLst>
              <p:ext uri="{D42A27DB-BD31-4B8C-83A1-F6EECF244321}">
                <p14:modId xmlns:p14="http://schemas.microsoft.com/office/powerpoint/2010/main" val="2399489619"/>
              </p:ext>
            </p:extLst>
          </p:nvPr>
        </p:nvGraphicFramePr>
        <p:xfrm>
          <a:off x="334963" y="3023668"/>
          <a:ext cx="2989261" cy="3101580"/>
        </p:xfrm>
        <a:graphic>
          <a:graphicData uri="http://schemas.openxmlformats.org/drawingml/2006/table">
            <a:tbl>
              <a:tblPr/>
              <a:tblGrid>
                <a:gridCol w="1883739">
                  <a:extLst>
                    <a:ext uri="{9D8B030D-6E8A-4147-A177-3AD203B41FA5}">
                      <a16:colId xmlns:a16="http://schemas.microsoft.com/office/drawing/2014/main" val="140824093"/>
                    </a:ext>
                  </a:extLst>
                </a:gridCol>
                <a:gridCol w="380781">
                  <a:extLst>
                    <a:ext uri="{9D8B030D-6E8A-4147-A177-3AD203B41FA5}">
                      <a16:colId xmlns:a16="http://schemas.microsoft.com/office/drawing/2014/main" val="4142246304"/>
                    </a:ext>
                  </a:extLst>
                </a:gridCol>
                <a:gridCol w="380781">
                  <a:extLst>
                    <a:ext uri="{9D8B030D-6E8A-4147-A177-3AD203B41FA5}">
                      <a16:colId xmlns:a16="http://schemas.microsoft.com/office/drawing/2014/main" val="1350521282"/>
                    </a:ext>
                  </a:extLst>
                </a:gridCol>
                <a:gridCol w="343960">
                  <a:extLst>
                    <a:ext uri="{9D8B030D-6E8A-4147-A177-3AD203B41FA5}">
                      <a16:colId xmlns:a16="http://schemas.microsoft.com/office/drawing/2014/main" val="2055927949"/>
                    </a:ext>
                  </a:extLst>
                </a:gridCol>
              </a:tblGrid>
              <a:tr h="77702">
                <a:tc>
                  <a:txBody>
                    <a:bodyPr/>
                    <a:lstStyle/>
                    <a:p>
                      <a:pPr algn="l" fontAlgn="b">
                        <a:buNone/>
                      </a:pPr>
                      <a:endParaRPr lang="fr-FR" sz="1000" b="0" i="0" u="none" strike="noStrike">
                        <a:solidFill>
                          <a:srgbClr val="000000"/>
                        </a:solidFill>
                        <a:effectLst/>
                        <a:latin typeface="Aptos Narrow" panose="020B0004020202020204" pitchFamily="34" charset="0"/>
                      </a:endParaRP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Evol </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89993197"/>
                  </a:ext>
                </a:extLst>
              </a:tr>
              <a:tr h="77702">
                <a:tc>
                  <a:txBody>
                    <a:bodyPr/>
                    <a:lstStyle/>
                    <a:p>
                      <a:pPr algn="l" fontAlgn="b">
                        <a:buNone/>
                      </a:pPr>
                      <a:endParaRPr lang="fr-FR" sz="1000" b="0" i="0" u="none" strike="noStrike">
                        <a:solidFill>
                          <a:srgbClr val="000000"/>
                        </a:solidFill>
                        <a:effectLst/>
                        <a:latin typeface="Aptos Narrow" panose="020B0004020202020204" pitchFamily="34" charset="0"/>
                      </a:endParaRP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20,8</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BE683"/>
                    </a:solidFill>
                  </a:tcPr>
                </a:tc>
                <a:tc>
                  <a:txBody>
                    <a:bodyPr/>
                    <a:lstStyle/>
                    <a:p>
                      <a:pPr algn="r" fontAlgn="b">
                        <a:buNone/>
                      </a:pPr>
                      <a:r>
                        <a:rPr lang="fr-FR" sz="1000" b="0" i="0" u="none" strike="noStrike">
                          <a:solidFill>
                            <a:srgbClr val="000000"/>
                          </a:solidFill>
                          <a:effectLst/>
                          <a:latin typeface="Aptos Narrow" panose="020B0004020202020204" pitchFamily="34" charset="0"/>
                        </a:rPr>
                        <a:t>15,0</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282"/>
                    </a:solidFill>
                  </a:tcPr>
                </a:tc>
                <a:tc>
                  <a:txBody>
                    <a:bodyPr/>
                    <a:lstStyle/>
                    <a:p>
                      <a:pPr algn="r" fontAlgn="b">
                        <a:buNone/>
                      </a:pPr>
                      <a:r>
                        <a:rPr lang="fr-FR" sz="1000" b="0" i="0" u="none" strike="noStrike">
                          <a:solidFill>
                            <a:srgbClr val="00B050"/>
                          </a:solidFill>
                          <a:effectLst/>
                          <a:latin typeface="Aptos Narrow" panose="020B0004020202020204" pitchFamily="34" charset="0"/>
                        </a:rPr>
                        <a:t>5,8</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86473428"/>
                  </a:ext>
                </a:extLst>
              </a:tr>
              <a:tr h="77702">
                <a:tc>
                  <a:txBody>
                    <a:bodyPr/>
                    <a:lstStyle/>
                    <a:p>
                      <a:pPr algn="l" fontAlgn="b">
                        <a:buNone/>
                      </a:pPr>
                      <a:r>
                        <a:rPr lang="fr-FR" sz="1000" b="1" i="0" u="none" strike="noStrike">
                          <a:solidFill>
                            <a:srgbClr val="000000"/>
                          </a:solidFill>
                          <a:effectLst/>
                          <a:latin typeface="Aptos Narrow" panose="020B0004020202020204" pitchFamily="34" charset="0"/>
                        </a:rPr>
                        <a:t>Bispinger Heide</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21,2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9E583"/>
                    </a:solidFill>
                  </a:tcPr>
                </a:tc>
                <a:tc>
                  <a:txBody>
                    <a:bodyPr/>
                    <a:lstStyle/>
                    <a:p>
                      <a:pPr algn="r" fontAlgn="b">
                        <a:buNone/>
                      </a:pPr>
                      <a:r>
                        <a:rPr lang="fr-FR" sz="1000" b="1" i="0" u="none" strike="noStrike">
                          <a:solidFill>
                            <a:srgbClr val="000000"/>
                          </a:solidFill>
                          <a:effectLst/>
                          <a:latin typeface="Aptos Narrow" panose="020B0004020202020204" pitchFamily="34" charset="0"/>
                        </a:rPr>
                        <a:t>11,1</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47F"/>
                    </a:solidFill>
                  </a:tcPr>
                </a:tc>
                <a:tc>
                  <a:txBody>
                    <a:bodyPr/>
                    <a:lstStyle/>
                    <a:p>
                      <a:pPr algn="r" fontAlgn="b">
                        <a:buNone/>
                      </a:pPr>
                      <a:r>
                        <a:rPr lang="fr-FR" sz="1000" b="1" i="0" u="none" strike="noStrike">
                          <a:solidFill>
                            <a:srgbClr val="00B050"/>
                          </a:solidFill>
                          <a:effectLst/>
                          <a:latin typeface="Aptos Narrow" panose="020B0004020202020204" pitchFamily="34" charset="0"/>
                        </a:rPr>
                        <a:t>10,1</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23729825"/>
                  </a:ext>
                </a:extLst>
              </a:tr>
              <a:tr h="77702">
                <a:tc>
                  <a:txBody>
                    <a:bodyPr/>
                    <a:lstStyle/>
                    <a:p>
                      <a:pPr algn="l" fontAlgn="b">
                        <a:buNone/>
                      </a:pPr>
                      <a:r>
                        <a:rPr lang="fr-FR" sz="1000" b="0" i="0" u="none" strike="noStrike">
                          <a:solidFill>
                            <a:srgbClr val="000000"/>
                          </a:solidFill>
                          <a:effectLst/>
                          <a:latin typeface="Aptos Narrow" panose="020B0004020202020204" pitchFamily="34" charset="0"/>
                        </a:rPr>
                        <a:t> Adults 35-54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17,5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B84"/>
                    </a:solidFill>
                  </a:tcPr>
                </a:tc>
                <a:tc>
                  <a:txBody>
                    <a:bodyPr/>
                    <a:lstStyle/>
                    <a:p>
                      <a:pPr algn="r" fontAlgn="b">
                        <a:buNone/>
                      </a:pPr>
                      <a:r>
                        <a:rPr lang="fr-FR" sz="1000" b="0" i="0" u="none" strike="noStrike">
                          <a:solidFill>
                            <a:srgbClr val="000000"/>
                          </a:solidFill>
                          <a:effectLst/>
                          <a:latin typeface="Aptos Narrow" panose="020B0004020202020204" pitchFamily="34" charset="0"/>
                        </a:rPr>
                        <a:t>10,4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17F"/>
                    </a:solidFill>
                  </a:tcPr>
                </a:tc>
                <a:tc>
                  <a:txBody>
                    <a:bodyPr/>
                    <a:lstStyle/>
                    <a:p>
                      <a:pPr algn="r" fontAlgn="b">
                        <a:buNone/>
                      </a:pPr>
                      <a:r>
                        <a:rPr lang="fr-FR" sz="1000" b="0" i="0" u="none" strike="noStrike">
                          <a:solidFill>
                            <a:srgbClr val="00B050"/>
                          </a:solidFill>
                          <a:effectLst/>
                          <a:latin typeface="Aptos Narrow" panose="020B0004020202020204" pitchFamily="34" charset="0"/>
                        </a:rPr>
                        <a:t>7,1</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68194732"/>
                  </a:ext>
                </a:extLst>
              </a:tr>
              <a:tr h="77702">
                <a:tc>
                  <a:txBody>
                    <a:bodyPr/>
                    <a:lstStyle/>
                    <a:p>
                      <a:pPr algn="l" fontAlgn="b">
                        <a:buNone/>
                      </a:pPr>
                      <a:r>
                        <a:rPr lang="fr-FR" sz="1000" b="0" i="0" u="none" strike="noStrike">
                          <a:solidFill>
                            <a:srgbClr val="000000"/>
                          </a:solidFill>
                          <a:effectLst/>
                          <a:latin typeface="Aptos Narrow" panose="020B0004020202020204" pitchFamily="34" charset="0"/>
                        </a:rPr>
                        <a:t> Family with Children 0-2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14,5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182"/>
                    </a:solidFill>
                  </a:tcPr>
                </a:tc>
                <a:tc>
                  <a:txBody>
                    <a:bodyPr/>
                    <a:lstStyle/>
                    <a:p>
                      <a:pPr algn="r" fontAlgn="b">
                        <a:buNone/>
                      </a:pPr>
                      <a:r>
                        <a:rPr lang="fr-FR" sz="1000" b="0" i="0" u="none" strike="noStrike">
                          <a:solidFill>
                            <a:srgbClr val="000000"/>
                          </a:solidFill>
                          <a:effectLst/>
                          <a:latin typeface="Aptos Narrow" panose="020B0004020202020204" pitchFamily="34" charset="0"/>
                        </a:rPr>
                        <a:t>7,0</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57C"/>
                    </a:solidFill>
                  </a:tcPr>
                </a:tc>
                <a:tc>
                  <a:txBody>
                    <a:bodyPr/>
                    <a:lstStyle/>
                    <a:p>
                      <a:pPr algn="r" fontAlgn="b">
                        <a:buNone/>
                      </a:pPr>
                      <a:r>
                        <a:rPr lang="fr-FR" sz="1000" b="0" i="0" u="none" strike="noStrike">
                          <a:solidFill>
                            <a:srgbClr val="00B050"/>
                          </a:solidFill>
                          <a:effectLst/>
                          <a:latin typeface="Aptos Narrow" panose="020B0004020202020204" pitchFamily="34" charset="0"/>
                        </a:rPr>
                        <a:t>7,6</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12945813"/>
                  </a:ext>
                </a:extLst>
              </a:tr>
              <a:tr h="77702">
                <a:tc>
                  <a:txBody>
                    <a:bodyPr/>
                    <a:lstStyle/>
                    <a:p>
                      <a:pPr algn="l" fontAlgn="b">
                        <a:buNone/>
                      </a:pPr>
                      <a:r>
                        <a:rPr lang="fr-FR" sz="1000" b="0" i="0" u="none" strike="noStrike">
                          <a:solidFill>
                            <a:srgbClr val="000000"/>
                          </a:solidFill>
                          <a:effectLst/>
                          <a:latin typeface="Aptos Narrow" panose="020B0004020202020204" pitchFamily="34" charset="0"/>
                        </a:rPr>
                        <a:t> Family with Children 12-17</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17,4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B84"/>
                    </a:solidFill>
                  </a:tcPr>
                </a:tc>
                <a:tc>
                  <a:txBody>
                    <a:bodyPr/>
                    <a:lstStyle/>
                    <a:p>
                      <a:pPr algn="r" fontAlgn="b">
                        <a:buNone/>
                      </a:pPr>
                      <a:r>
                        <a:rPr lang="fr-FR" sz="1000" b="0" i="0" u="none" strike="noStrike">
                          <a:solidFill>
                            <a:srgbClr val="000000"/>
                          </a:solidFill>
                          <a:effectLst/>
                          <a:latin typeface="Aptos Narrow" panose="020B0004020202020204" pitchFamily="34" charset="0"/>
                        </a:rPr>
                        <a:t>6,8</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47C"/>
                    </a:solidFill>
                  </a:tcPr>
                </a:tc>
                <a:tc>
                  <a:txBody>
                    <a:bodyPr/>
                    <a:lstStyle/>
                    <a:p>
                      <a:pPr algn="r" fontAlgn="b">
                        <a:buNone/>
                      </a:pPr>
                      <a:r>
                        <a:rPr lang="fr-FR" sz="1000" b="0" i="0" u="none" strike="noStrike">
                          <a:solidFill>
                            <a:srgbClr val="00B050"/>
                          </a:solidFill>
                          <a:effectLst/>
                          <a:latin typeface="Aptos Narrow" panose="020B0004020202020204" pitchFamily="34" charset="0"/>
                        </a:rPr>
                        <a:t>10,6</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30011180"/>
                  </a:ext>
                </a:extLst>
              </a:tr>
              <a:tr h="77702">
                <a:tc>
                  <a:txBody>
                    <a:bodyPr/>
                    <a:lstStyle/>
                    <a:p>
                      <a:pPr algn="l" fontAlgn="b">
                        <a:buNone/>
                      </a:pPr>
                      <a:r>
                        <a:rPr lang="fr-FR" sz="1000" b="0" i="0" u="none" strike="noStrike">
                          <a:solidFill>
                            <a:srgbClr val="000000"/>
                          </a:solidFill>
                          <a:effectLst/>
                          <a:latin typeface="Aptos Narrow" panose="020B0004020202020204" pitchFamily="34" charset="0"/>
                        </a:rPr>
                        <a:t> Family with Children 3-4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21,2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9E583"/>
                    </a:solidFill>
                  </a:tcPr>
                </a:tc>
                <a:tc>
                  <a:txBody>
                    <a:bodyPr/>
                    <a:lstStyle/>
                    <a:p>
                      <a:pPr algn="r" fontAlgn="b">
                        <a:buNone/>
                      </a:pPr>
                      <a:r>
                        <a:rPr lang="fr-FR" sz="1000" b="0" i="0" u="none" strike="noStrike">
                          <a:solidFill>
                            <a:srgbClr val="000000"/>
                          </a:solidFill>
                          <a:effectLst/>
                          <a:latin typeface="Aptos Narrow" panose="020B0004020202020204" pitchFamily="34" charset="0"/>
                        </a:rPr>
                        <a:t>10,3</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17F"/>
                    </a:solidFill>
                  </a:tcPr>
                </a:tc>
                <a:tc>
                  <a:txBody>
                    <a:bodyPr/>
                    <a:lstStyle/>
                    <a:p>
                      <a:pPr algn="r" fontAlgn="b">
                        <a:buNone/>
                      </a:pPr>
                      <a:r>
                        <a:rPr lang="fr-FR" sz="1000" b="0" i="0" u="none" strike="noStrike">
                          <a:solidFill>
                            <a:srgbClr val="00B050"/>
                          </a:solidFill>
                          <a:effectLst/>
                          <a:latin typeface="Aptos Narrow" panose="020B0004020202020204" pitchFamily="34" charset="0"/>
                        </a:rPr>
                        <a:t>10,9</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60138796"/>
                  </a:ext>
                </a:extLst>
              </a:tr>
              <a:tr h="77702">
                <a:tc>
                  <a:txBody>
                    <a:bodyPr/>
                    <a:lstStyle/>
                    <a:p>
                      <a:pPr algn="l" fontAlgn="b">
                        <a:buNone/>
                      </a:pPr>
                      <a:r>
                        <a:rPr lang="fr-FR" sz="1000" b="0" i="0" u="none" strike="noStrike">
                          <a:solidFill>
                            <a:srgbClr val="000000"/>
                          </a:solidFill>
                          <a:effectLst/>
                          <a:latin typeface="Aptos Narrow" panose="020B0004020202020204" pitchFamily="34" charset="0"/>
                        </a:rPr>
                        <a:t> Family with Children 5-11</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21,5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8E583"/>
                    </a:solidFill>
                  </a:tcPr>
                </a:tc>
                <a:tc>
                  <a:txBody>
                    <a:bodyPr/>
                    <a:lstStyle/>
                    <a:p>
                      <a:pPr algn="r" fontAlgn="b">
                        <a:buNone/>
                      </a:pPr>
                      <a:r>
                        <a:rPr lang="fr-FR" sz="1000" b="0" i="0" u="none" strike="noStrike">
                          <a:solidFill>
                            <a:srgbClr val="000000"/>
                          </a:solidFill>
                          <a:effectLst/>
                          <a:latin typeface="Aptos Narrow" panose="020B0004020202020204" pitchFamily="34" charset="0"/>
                        </a:rPr>
                        <a:t>10,3</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17F"/>
                    </a:solidFill>
                  </a:tcPr>
                </a:tc>
                <a:tc>
                  <a:txBody>
                    <a:bodyPr/>
                    <a:lstStyle/>
                    <a:p>
                      <a:pPr algn="r" fontAlgn="b">
                        <a:buNone/>
                      </a:pPr>
                      <a:r>
                        <a:rPr lang="fr-FR" sz="1000" b="0" i="0" u="none" strike="noStrike">
                          <a:solidFill>
                            <a:srgbClr val="00B050"/>
                          </a:solidFill>
                          <a:effectLst/>
                          <a:latin typeface="Aptos Narrow" panose="020B0004020202020204" pitchFamily="34" charset="0"/>
                        </a:rPr>
                        <a:t>11,1</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85753453"/>
                  </a:ext>
                </a:extLst>
              </a:tr>
              <a:tr h="77702">
                <a:tc>
                  <a:txBody>
                    <a:bodyPr/>
                    <a:lstStyle/>
                    <a:p>
                      <a:pPr algn="l" fontAlgn="b">
                        <a:buNone/>
                      </a:pPr>
                      <a:r>
                        <a:rPr lang="fr-FR" sz="1000" b="0" i="0" u="none" strike="noStrike">
                          <a:solidFill>
                            <a:srgbClr val="000000"/>
                          </a:solidFill>
                          <a:effectLst/>
                          <a:latin typeface="Aptos Narrow" panose="020B0004020202020204" pitchFamily="34" charset="0"/>
                        </a:rPr>
                        <a:t> Seniors active 55-74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29,7</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9D780"/>
                    </a:solidFill>
                  </a:tcPr>
                </a:tc>
                <a:tc>
                  <a:txBody>
                    <a:bodyPr/>
                    <a:lstStyle/>
                    <a:p>
                      <a:pPr algn="r" fontAlgn="b">
                        <a:buNone/>
                      </a:pPr>
                      <a:r>
                        <a:rPr lang="fr-FR" sz="1000" b="0" i="0" u="none" strike="noStrike">
                          <a:solidFill>
                            <a:srgbClr val="000000"/>
                          </a:solidFill>
                          <a:effectLst/>
                          <a:latin typeface="Aptos Narrow" panose="020B0004020202020204" pitchFamily="34" charset="0"/>
                        </a:rPr>
                        <a:t>22,6</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1E383"/>
                    </a:solidFill>
                  </a:tcPr>
                </a:tc>
                <a:tc>
                  <a:txBody>
                    <a:bodyPr/>
                    <a:lstStyle/>
                    <a:p>
                      <a:pPr algn="r" fontAlgn="b">
                        <a:buNone/>
                      </a:pPr>
                      <a:r>
                        <a:rPr lang="fr-FR" sz="1000" b="0" i="0" u="none" strike="noStrike">
                          <a:solidFill>
                            <a:srgbClr val="00B050"/>
                          </a:solidFill>
                          <a:effectLst/>
                          <a:latin typeface="Aptos Narrow" panose="020B0004020202020204" pitchFamily="34" charset="0"/>
                        </a:rPr>
                        <a:t>7,1</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63512047"/>
                  </a:ext>
                </a:extLst>
              </a:tr>
              <a:tr h="77702">
                <a:tc>
                  <a:txBody>
                    <a:bodyPr/>
                    <a:lstStyle/>
                    <a:p>
                      <a:pPr algn="l" fontAlgn="b">
                        <a:buNone/>
                      </a:pPr>
                      <a:r>
                        <a:rPr lang="fr-FR" sz="1000" b="0" i="0" u="none" strike="noStrike">
                          <a:solidFill>
                            <a:srgbClr val="000000"/>
                          </a:solidFill>
                          <a:effectLst/>
                          <a:latin typeface="Aptos Narrow" panose="020B0004020202020204" pitchFamily="34" charset="0"/>
                        </a:rPr>
                        <a:t> Seniors&gt;75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30,0</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7D780"/>
                    </a:solidFill>
                  </a:tcPr>
                </a:tc>
                <a:tc>
                  <a:txBody>
                    <a:bodyPr/>
                    <a:lstStyle/>
                    <a:p>
                      <a:pPr algn="r" fontAlgn="b">
                        <a:buNone/>
                      </a:pPr>
                      <a:r>
                        <a:rPr lang="fr-FR" sz="1000" b="0" i="0" u="none" strike="noStrike">
                          <a:solidFill>
                            <a:srgbClr val="000000"/>
                          </a:solidFill>
                          <a:effectLst/>
                          <a:latin typeface="Aptos Narrow" panose="020B0004020202020204" pitchFamily="34" charset="0"/>
                        </a:rPr>
                        <a:t>14,1</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F81"/>
                    </a:solidFill>
                  </a:tcPr>
                </a:tc>
                <a:tc>
                  <a:txBody>
                    <a:bodyPr/>
                    <a:lstStyle/>
                    <a:p>
                      <a:pPr algn="r" fontAlgn="b">
                        <a:buNone/>
                      </a:pPr>
                      <a:r>
                        <a:rPr lang="fr-FR" sz="1000" b="0" i="0" u="none" strike="noStrike">
                          <a:solidFill>
                            <a:srgbClr val="00B050"/>
                          </a:solidFill>
                          <a:effectLst/>
                          <a:latin typeface="Aptos Narrow" panose="020B0004020202020204" pitchFamily="34" charset="0"/>
                        </a:rPr>
                        <a:t>15,9</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446148"/>
                  </a:ext>
                </a:extLst>
              </a:tr>
              <a:tr h="77702">
                <a:tc>
                  <a:txBody>
                    <a:bodyPr/>
                    <a:lstStyle/>
                    <a:p>
                      <a:pPr algn="l" fontAlgn="b">
                        <a:buNone/>
                      </a:pPr>
                      <a:r>
                        <a:rPr lang="fr-FR" sz="1000" b="0" i="0" u="none" strike="noStrike">
                          <a:solidFill>
                            <a:srgbClr val="000000"/>
                          </a:solidFill>
                          <a:effectLst/>
                          <a:latin typeface="Aptos Narrow" panose="020B0004020202020204" pitchFamily="34" charset="0"/>
                        </a:rPr>
                        <a:t> Young Adults 18-34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17,5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B84"/>
                    </a:solidFill>
                  </a:tcPr>
                </a:tc>
                <a:tc>
                  <a:txBody>
                    <a:bodyPr/>
                    <a:lstStyle/>
                    <a:p>
                      <a:pPr algn="r" fontAlgn="b">
                        <a:buNone/>
                      </a:pPr>
                      <a:r>
                        <a:rPr lang="fr-FR" sz="1000" b="0" i="0" u="none" strike="noStrike">
                          <a:solidFill>
                            <a:srgbClr val="000000"/>
                          </a:solidFill>
                          <a:effectLst/>
                          <a:latin typeface="Aptos Narrow" panose="020B0004020202020204" pitchFamily="34" charset="0"/>
                        </a:rPr>
                        <a:t>8,0</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97D"/>
                    </a:solidFill>
                  </a:tcPr>
                </a:tc>
                <a:tc>
                  <a:txBody>
                    <a:bodyPr/>
                    <a:lstStyle/>
                    <a:p>
                      <a:pPr algn="r" fontAlgn="b">
                        <a:buNone/>
                      </a:pPr>
                      <a:r>
                        <a:rPr lang="fr-FR" sz="1000" b="0" i="0" u="none" strike="noStrike">
                          <a:solidFill>
                            <a:srgbClr val="00B050"/>
                          </a:solidFill>
                          <a:effectLst/>
                          <a:latin typeface="Aptos Narrow" panose="020B0004020202020204" pitchFamily="34" charset="0"/>
                        </a:rPr>
                        <a:t>9,5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48037711"/>
                  </a:ext>
                </a:extLst>
              </a:tr>
              <a:tr h="77702">
                <a:tc>
                  <a:txBody>
                    <a:bodyPr/>
                    <a:lstStyle/>
                    <a:p>
                      <a:pPr algn="l" fontAlgn="b">
                        <a:buNone/>
                      </a:pPr>
                      <a:r>
                        <a:rPr lang="fr-FR" sz="1000" b="1" i="0" u="none" strike="noStrike">
                          <a:solidFill>
                            <a:srgbClr val="000000"/>
                          </a:solidFill>
                          <a:effectLst/>
                          <a:latin typeface="Aptos Narrow" panose="020B0004020202020204" pitchFamily="34" charset="0"/>
                        </a:rPr>
                        <a:t>Park Allgäu</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17,7</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EB84"/>
                    </a:solidFill>
                  </a:tcPr>
                </a:tc>
                <a:tc>
                  <a:txBody>
                    <a:bodyPr/>
                    <a:lstStyle/>
                    <a:p>
                      <a:pPr algn="r" fontAlgn="b">
                        <a:buNone/>
                      </a:pPr>
                      <a:r>
                        <a:rPr lang="fr-FR" sz="1000" b="1" i="0" u="none" strike="noStrike">
                          <a:solidFill>
                            <a:srgbClr val="000000"/>
                          </a:solidFill>
                          <a:effectLst/>
                          <a:latin typeface="Aptos Narrow" panose="020B0004020202020204" pitchFamily="34" charset="0"/>
                        </a:rPr>
                        <a:t>14,2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F81"/>
                    </a:solidFill>
                  </a:tcPr>
                </a:tc>
                <a:tc>
                  <a:txBody>
                    <a:bodyPr/>
                    <a:lstStyle/>
                    <a:p>
                      <a:pPr algn="r" fontAlgn="b">
                        <a:buNone/>
                      </a:pPr>
                      <a:r>
                        <a:rPr lang="fr-FR" sz="1000" b="1" i="0" u="none" strike="noStrike">
                          <a:solidFill>
                            <a:srgbClr val="00B050"/>
                          </a:solidFill>
                          <a:effectLst/>
                          <a:latin typeface="Aptos Narrow" panose="020B0004020202020204" pitchFamily="34" charset="0"/>
                        </a:rPr>
                        <a:t>3,5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41980992"/>
                  </a:ext>
                </a:extLst>
              </a:tr>
              <a:tr h="77702">
                <a:tc>
                  <a:txBody>
                    <a:bodyPr/>
                    <a:lstStyle/>
                    <a:p>
                      <a:pPr algn="l" fontAlgn="b">
                        <a:buNone/>
                      </a:pPr>
                      <a:r>
                        <a:rPr lang="fr-FR" sz="1000" b="0" i="0" u="none" strike="noStrike">
                          <a:solidFill>
                            <a:srgbClr val="000000"/>
                          </a:solidFill>
                          <a:effectLst/>
                          <a:latin typeface="Aptos Narrow" panose="020B0004020202020204" pitchFamily="34" charset="0"/>
                        </a:rPr>
                        <a:t> Adults 35-54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17,1</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A83"/>
                    </a:solidFill>
                  </a:tcPr>
                </a:tc>
                <a:tc>
                  <a:txBody>
                    <a:bodyPr/>
                    <a:lstStyle/>
                    <a:p>
                      <a:pPr algn="r" fontAlgn="b">
                        <a:buNone/>
                      </a:pPr>
                      <a:r>
                        <a:rPr lang="fr-FR" sz="1000" b="0" i="0" u="none" strike="noStrike">
                          <a:solidFill>
                            <a:srgbClr val="000000"/>
                          </a:solidFill>
                          <a:effectLst/>
                          <a:latin typeface="Aptos Narrow" panose="020B0004020202020204" pitchFamily="34" charset="0"/>
                        </a:rPr>
                        <a:t>14,4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082"/>
                    </a:solidFill>
                  </a:tcPr>
                </a:tc>
                <a:tc>
                  <a:txBody>
                    <a:bodyPr/>
                    <a:lstStyle/>
                    <a:p>
                      <a:pPr algn="r" fontAlgn="b">
                        <a:buNone/>
                      </a:pPr>
                      <a:r>
                        <a:rPr lang="fr-FR" sz="1000" b="0" i="0" u="none" strike="noStrike">
                          <a:solidFill>
                            <a:srgbClr val="00B050"/>
                          </a:solidFill>
                          <a:effectLst/>
                          <a:latin typeface="Aptos Narrow" panose="020B0004020202020204" pitchFamily="34" charset="0"/>
                        </a:rPr>
                        <a:t>2,7</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05332498"/>
                  </a:ext>
                </a:extLst>
              </a:tr>
              <a:tr h="77702">
                <a:tc>
                  <a:txBody>
                    <a:bodyPr/>
                    <a:lstStyle/>
                    <a:p>
                      <a:pPr algn="l" fontAlgn="b">
                        <a:buNone/>
                      </a:pPr>
                      <a:r>
                        <a:rPr lang="fr-FR" sz="1000" b="0" i="0" u="none" strike="noStrike">
                          <a:solidFill>
                            <a:srgbClr val="000000"/>
                          </a:solidFill>
                          <a:effectLst/>
                          <a:latin typeface="Aptos Narrow" panose="020B0004020202020204" pitchFamily="34" charset="0"/>
                        </a:rPr>
                        <a:t> Family with Children 0-2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15,5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482"/>
                    </a:solidFill>
                  </a:tcPr>
                </a:tc>
                <a:tc>
                  <a:txBody>
                    <a:bodyPr/>
                    <a:lstStyle/>
                    <a:p>
                      <a:pPr algn="r" fontAlgn="b">
                        <a:buNone/>
                      </a:pPr>
                      <a:r>
                        <a:rPr lang="fr-FR" sz="1000" b="0" i="0" u="none" strike="noStrike">
                          <a:solidFill>
                            <a:srgbClr val="000000"/>
                          </a:solidFill>
                          <a:effectLst/>
                          <a:latin typeface="Aptos Narrow" panose="020B0004020202020204" pitchFamily="34" charset="0"/>
                        </a:rPr>
                        <a:t>9,6</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F7E"/>
                    </a:solidFill>
                  </a:tcPr>
                </a:tc>
                <a:tc>
                  <a:txBody>
                    <a:bodyPr/>
                    <a:lstStyle/>
                    <a:p>
                      <a:pPr algn="r" fontAlgn="b">
                        <a:buNone/>
                      </a:pPr>
                      <a:r>
                        <a:rPr lang="fr-FR" sz="1000" b="0" i="0" u="none" strike="noStrike">
                          <a:solidFill>
                            <a:srgbClr val="00B050"/>
                          </a:solidFill>
                          <a:effectLst/>
                          <a:latin typeface="Aptos Narrow" panose="020B0004020202020204" pitchFamily="34" charset="0"/>
                        </a:rPr>
                        <a:t>5,9</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79084966"/>
                  </a:ext>
                </a:extLst>
              </a:tr>
              <a:tr h="77702">
                <a:tc>
                  <a:txBody>
                    <a:bodyPr/>
                    <a:lstStyle/>
                    <a:p>
                      <a:pPr algn="l" fontAlgn="b">
                        <a:buNone/>
                      </a:pPr>
                      <a:r>
                        <a:rPr lang="fr-FR" sz="1000" b="0" i="0" u="none" strike="noStrike">
                          <a:solidFill>
                            <a:srgbClr val="000000"/>
                          </a:solidFill>
                          <a:effectLst/>
                          <a:latin typeface="Aptos Narrow" panose="020B0004020202020204" pitchFamily="34" charset="0"/>
                        </a:rPr>
                        <a:t> Family with Children 12-17</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17,2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A83"/>
                    </a:solidFill>
                  </a:tcPr>
                </a:tc>
                <a:tc>
                  <a:txBody>
                    <a:bodyPr/>
                    <a:lstStyle/>
                    <a:p>
                      <a:pPr algn="r" fontAlgn="b">
                        <a:buNone/>
                      </a:pPr>
                      <a:r>
                        <a:rPr lang="fr-FR" sz="1000" b="0" i="0" u="none" strike="noStrike">
                          <a:solidFill>
                            <a:srgbClr val="000000"/>
                          </a:solidFill>
                          <a:effectLst/>
                          <a:latin typeface="Aptos Narrow" panose="020B0004020202020204" pitchFamily="34" charset="0"/>
                        </a:rPr>
                        <a:t>13,0</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B80"/>
                    </a:solidFill>
                  </a:tcPr>
                </a:tc>
                <a:tc>
                  <a:txBody>
                    <a:bodyPr/>
                    <a:lstStyle/>
                    <a:p>
                      <a:pPr algn="r" fontAlgn="b">
                        <a:buNone/>
                      </a:pPr>
                      <a:r>
                        <a:rPr lang="fr-FR" sz="1000" b="0" i="0" u="none" strike="noStrike">
                          <a:solidFill>
                            <a:srgbClr val="00B050"/>
                          </a:solidFill>
                          <a:effectLst/>
                          <a:latin typeface="Aptos Narrow" panose="020B0004020202020204" pitchFamily="34" charset="0"/>
                        </a:rPr>
                        <a:t>4,2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88421063"/>
                  </a:ext>
                </a:extLst>
              </a:tr>
              <a:tr h="77702">
                <a:tc>
                  <a:txBody>
                    <a:bodyPr/>
                    <a:lstStyle/>
                    <a:p>
                      <a:pPr algn="l" fontAlgn="b">
                        <a:buNone/>
                      </a:pPr>
                      <a:r>
                        <a:rPr lang="fr-FR" sz="1000" b="0" i="0" u="none" strike="noStrike">
                          <a:solidFill>
                            <a:srgbClr val="000000"/>
                          </a:solidFill>
                          <a:effectLst/>
                          <a:latin typeface="Aptos Narrow" panose="020B0004020202020204" pitchFamily="34" charset="0"/>
                        </a:rPr>
                        <a:t> Family with Children 3-4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20,1</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FE784"/>
                    </a:solidFill>
                  </a:tcPr>
                </a:tc>
                <a:tc>
                  <a:txBody>
                    <a:bodyPr/>
                    <a:lstStyle/>
                    <a:p>
                      <a:pPr algn="r" fontAlgn="b">
                        <a:buNone/>
                      </a:pPr>
                      <a:r>
                        <a:rPr lang="fr-FR" sz="1000" b="0" i="0" u="none" strike="noStrike">
                          <a:solidFill>
                            <a:srgbClr val="000000"/>
                          </a:solidFill>
                          <a:effectLst/>
                          <a:latin typeface="Aptos Narrow" panose="020B0004020202020204" pitchFamily="34" charset="0"/>
                        </a:rPr>
                        <a:t>17,5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B84"/>
                    </a:solidFill>
                  </a:tcPr>
                </a:tc>
                <a:tc>
                  <a:txBody>
                    <a:bodyPr/>
                    <a:lstStyle/>
                    <a:p>
                      <a:pPr algn="r" fontAlgn="b">
                        <a:buNone/>
                      </a:pPr>
                      <a:r>
                        <a:rPr lang="fr-FR" sz="1000" b="0" i="0" u="none" strike="noStrike">
                          <a:solidFill>
                            <a:srgbClr val="00B050"/>
                          </a:solidFill>
                          <a:effectLst/>
                          <a:latin typeface="Aptos Narrow" panose="020B0004020202020204" pitchFamily="34" charset="0"/>
                        </a:rPr>
                        <a:t>2,6</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59892899"/>
                  </a:ext>
                </a:extLst>
              </a:tr>
              <a:tr h="77702">
                <a:tc>
                  <a:txBody>
                    <a:bodyPr/>
                    <a:lstStyle/>
                    <a:p>
                      <a:pPr algn="l" fontAlgn="b">
                        <a:buNone/>
                      </a:pPr>
                      <a:r>
                        <a:rPr lang="fr-FR" sz="1000" b="0" i="0" u="none" strike="noStrike">
                          <a:solidFill>
                            <a:srgbClr val="000000"/>
                          </a:solidFill>
                          <a:effectLst/>
                          <a:latin typeface="Aptos Narrow" panose="020B0004020202020204" pitchFamily="34" charset="0"/>
                        </a:rPr>
                        <a:t> Family with Children 5-11</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15,3</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382"/>
                    </a:solidFill>
                  </a:tcPr>
                </a:tc>
                <a:tc>
                  <a:txBody>
                    <a:bodyPr/>
                    <a:lstStyle/>
                    <a:p>
                      <a:pPr algn="r" fontAlgn="b">
                        <a:buNone/>
                      </a:pPr>
                      <a:r>
                        <a:rPr lang="fr-FR" sz="1000" b="0" i="0" u="none" strike="noStrike">
                          <a:solidFill>
                            <a:srgbClr val="000000"/>
                          </a:solidFill>
                          <a:effectLst/>
                          <a:latin typeface="Aptos Narrow" panose="020B0004020202020204" pitchFamily="34" charset="0"/>
                        </a:rPr>
                        <a:t>13,4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C81"/>
                    </a:solidFill>
                  </a:tcPr>
                </a:tc>
                <a:tc>
                  <a:txBody>
                    <a:bodyPr/>
                    <a:lstStyle/>
                    <a:p>
                      <a:pPr algn="r" fontAlgn="b">
                        <a:buNone/>
                      </a:pPr>
                      <a:r>
                        <a:rPr lang="fr-FR" sz="1000" b="0" i="0" u="none" strike="noStrike">
                          <a:solidFill>
                            <a:srgbClr val="00B050"/>
                          </a:solidFill>
                          <a:effectLst/>
                          <a:latin typeface="Aptos Narrow" panose="020B0004020202020204" pitchFamily="34" charset="0"/>
                        </a:rPr>
                        <a:t>1,8</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35015377"/>
                  </a:ext>
                </a:extLst>
              </a:tr>
              <a:tr h="77702">
                <a:tc>
                  <a:txBody>
                    <a:bodyPr/>
                    <a:lstStyle/>
                    <a:p>
                      <a:pPr algn="l" fontAlgn="b">
                        <a:buNone/>
                      </a:pPr>
                      <a:r>
                        <a:rPr lang="fr-FR" sz="1000" b="0" i="0" u="none" strike="noStrike">
                          <a:solidFill>
                            <a:srgbClr val="000000"/>
                          </a:solidFill>
                          <a:effectLst/>
                          <a:latin typeface="Aptos Narrow" panose="020B0004020202020204" pitchFamily="34" charset="0"/>
                        </a:rPr>
                        <a:t> Seniors active 55-74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28,8</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ED881"/>
                    </a:solidFill>
                  </a:tcPr>
                </a:tc>
                <a:tc>
                  <a:txBody>
                    <a:bodyPr/>
                    <a:lstStyle/>
                    <a:p>
                      <a:pPr algn="r" fontAlgn="b">
                        <a:buNone/>
                      </a:pPr>
                      <a:r>
                        <a:rPr lang="fr-FR" sz="1000" b="0" i="0" u="none" strike="noStrike">
                          <a:solidFill>
                            <a:srgbClr val="000000"/>
                          </a:solidFill>
                          <a:effectLst/>
                          <a:latin typeface="Aptos Narrow" panose="020B0004020202020204" pitchFamily="34" charset="0"/>
                        </a:rPr>
                        <a:t>21,3</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9E583"/>
                    </a:solidFill>
                  </a:tcPr>
                </a:tc>
                <a:tc>
                  <a:txBody>
                    <a:bodyPr/>
                    <a:lstStyle/>
                    <a:p>
                      <a:pPr algn="r" fontAlgn="b">
                        <a:buNone/>
                      </a:pPr>
                      <a:r>
                        <a:rPr lang="fr-FR" sz="1000" b="0" i="0" u="none" strike="noStrike">
                          <a:solidFill>
                            <a:srgbClr val="00B050"/>
                          </a:solidFill>
                          <a:effectLst/>
                          <a:latin typeface="Aptos Narrow" panose="020B0004020202020204" pitchFamily="34" charset="0"/>
                        </a:rPr>
                        <a:t>7,5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59458771"/>
                  </a:ext>
                </a:extLst>
              </a:tr>
              <a:tr h="77702">
                <a:tc>
                  <a:txBody>
                    <a:bodyPr/>
                    <a:lstStyle/>
                    <a:p>
                      <a:pPr algn="l" fontAlgn="b">
                        <a:buNone/>
                      </a:pPr>
                      <a:r>
                        <a:rPr lang="fr-FR" sz="1000" b="0" i="0" u="none" strike="noStrike">
                          <a:solidFill>
                            <a:srgbClr val="000000"/>
                          </a:solidFill>
                          <a:effectLst/>
                          <a:latin typeface="Aptos Narrow" panose="020B0004020202020204" pitchFamily="34" charset="0"/>
                        </a:rPr>
                        <a:t> Seniors&gt;75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31,5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ED480"/>
                    </a:solidFill>
                  </a:tcPr>
                </a:tc>
                <a:tc>
                  <a:txBody>
                    <a:bodyPr/>
                    <a:lstStyle/>
                    <a:p>
                      <a:pPr algn="r" fontAlgn="b">
                        <a:buNone/>
                      </a:pPr>
                      <a:r>
                        <a:rPr lang="fr-FR" sz="1000" b="0" i="0" u="none" strike="noStrike">
                          <a:solidFill>
                            <a:srgbClr val="000000"/>
                          </a:solidFill>
                          <a:effectLst/>
                          <a:latin typeface="Aptos Narrow" panose="020B0004020202020204" pitchFamily="34" charset="0"/>
                        </a:rPr>
                        <a:t>19,0</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6E984"/>
                    </a:solidFill>
                  </a:tcPr>
                </a:tc>
                <a:tc>
                  <a:txBody>
                    <a:bodyPr/>
                    <a:lstStyle/>
                    <a:p>
                      <a:pPr algn="r" fontAlgn="b">
                        <a:buNone/>
                      </a:pPr>
                      <a:r>
                        <a:rPr lang="fr-FR" sz="1000" b="0" i="0" u="none" strike="noStrike">
                          <a:solidFill>
                            <a:srgbClr val="00B050"/>
                          </a:solidFill>
                          <a:effectLst/>
                          <a:latin typeface="Aptos Narrow" panose="020B0004020202020204" pitchFamily="34" charset="0"/>
                        </a:rPr>
                        <a:t>12,5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33888358"/>
                  </a:ext>
                </a:extLst>
              </a:tr>
              <a:tr h="77702">
                <a:tc>
                  <a:txBody>
                    <a:bodyPr/>
                    <a:lstStyle/>
                    <a:p>
                      <a:pPr algn="l" fontAlgn="b">
                        <a:buNone/>
                      </a:pPr>
                      <a:r>
                        <a:rPr lang="fr-FR" sz="1000" b="0" i="0" u="none" strike="noStrike">
                          <a:solidFill>
                            <a:srgbClr val="000000"/>
                          </a:solidFill>
                          <a:effectLst/>
                          <a:latin typeface="Aptos Narrow" panose="020B0004020202020204" pitchFamily="34" charset="0"/>
                        </a:rPr>
                        <a:t> Young </a:t>
                      </a:r>
                      <a:r>
                        <a:rPr lang="fr-FR" sz="1000" b="0" i="0" u="none" strike="noStrike" err="1">
                          <a:solidFill>
                            <a:srgbClr val="000000"/>
                          </a:solidFill>
                          <a:effectLst/>
                          <a:latin typeface="Aptos Narrow" panose="020B0004020202020204" pitchFamily="34" charset="0"/>
                        </a:rPr>
                        <a:t>Adults</a:t>
                      </a:r>
                      <a:r>
                        <a:rPr lang="fr-FR" sz="1000" b="0" i="0" u="none" strike="noStrike">
                          <a:solidFill>
                            <a:srgbClr val="000000"/>
                          </a:solidFill>
                          <a:effectLst/>
                          <a:latin typeface="Aptos Narrow" panose="020B0004020202020204" pitchFamily="34" charset="0"/>
                        </a:rPr>
                        <a:t> 18-34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14,9</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282"/>
                    </a:solidFill>
                  </a:tcPr>
                </a:tc>
                <a:tc>
                  <a:txBody>
                    <a:bodyPr/>
                    <a:lstStyle/>
                    <a:p>
                      <a:pPr algn="r" fontAlgn="b">
                        <a:buNone/>
                      </a:pPr>
                      <a:r>
                        <a:rPr lang="fr-FR" sz="1000" b="0" i="0" u="none" strike="noStrike">
                          <a:solidFill>
                            <a:srgbClr val="000000"/>
                          </a:solidFill>
                          <a:effectLst/>
                          <a:latin typeface="Aptos Narrow" panose="020B0004020202020204" pitchFamily="34" charset="0"/>
                        </a:rPr>
                        <a:t>10,1</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07E"/>
                    </a:solidFill>
                  </a:tcPr>
                </a:tc>
                <a:tc>
                  <a:txBody>
                    <a:bodyPr/>
                    <a:lstStyle/>
                    <a:p>
                      <a:pPr algn="r" fontAlgn="b">
                        <a:buNone/>
                      </a:pPr>
                      <a:r>
                        <a:rPr lang="fr-FR" sz="1000" b="0" i="0" u="none" strike="noStrike">
                          <a:solidFill>
                            <a:srgbClr val="00B050"/>
                          </a:solidFill>
                          <a:effectLst/>
                          <a:latin typeface="Aptos Narrow" panose="020B0004020202020204" pitchFamily="34" charset="0"/>
                        </a:rPr>
                        <a:t>4,8</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53799681"/>
                  </a:ext>
                </a:extLst>
              </a:tr>
            </a:tbl>
          </a:graphicData>
        </a:graphic>
      </p:graphicFrame>
      <p:graphicFrame>
        <p:nvGraphicFramePr>
          <p:cNvPr id="9" name="Table 8">
            <a:extLst>
              <a:ext uri="{FF2B5EF4-FFF2-40B4-BE49-F238E27FC236}">
                <a16:creationId xmlns:a16="http://schemas.microsoft.com/office/drawing/2014/main" id="{DE631696-CDE3-4842-BB82-4AA0AE4AEC8A}"/>
              </a:ext>
            </a:extLst>
          </p:cNvPr>
          <p:cNvGraphicFramePr>
            <a:graphicFrameLocks noGrp="1"/>
          </p:cNvGraphicFramePr>
          <p:nvPr>
            <p:extLst>
              <p:ext uri="{D42A27DB-BD31-4B8C-83A1-F6EECF244321}">
                <p14:modId xmlns:p14="http://schemas.microsoft.com/office/powerpoint/2010/main" val="53353115"/>
              </p:ext>
            </p:extLst>
          </p:nvPr>
        </p:nvGraphicFramePr>
        <p:xfrm>
          <a:off x="3879452" y="3018386"/>
          <a:ext cx="3054748" cy="3101579"/>
        </p:xfrm>
        <a:graphic>
          <a:graphicData uri="http://schemas.openxmlformats.org/drawingml/2006/table">
            <a:tbl>
              <a:tblPr/>
              <a:tblGrid>
                <a:gridCol w="1842946">
                  <a:extLst>
                    <a:ext uri="{9D8B030D-6E8A-4147-A177-3AD203B41FA5}">
                      <a16:colId xmlns:a16="http://schemas.microsoft.com/office/drawing/2014/main" val="1110043425"/>
                    </a:ext>
                  </a:extLst>
                </a:gridCol>
                <a:gridCol w="403934">
                  <a:extLst>
                    <a:ext uri="{9D8B030D-6E8A-4147-A177-3AD203B41FA5}">
                      <a16:colId xmlns:a16="http://schemas.microsoft.com/office/drawing/2014/main" val="2381515906"/>
                    </a:ext>
                  </a:extLst>
                </a:gridCol>
                <a:gridCol w="403934">
                  <a:extLst>
                    <a:ext uri="{9D8B030D-6E8A-4147-A177-3AD203B41FA5}">
                      <a16:colId xmlns:a16="http://schemas.microsoft.com/office/drawing/2014/main" val="1079487043"/>
                    </a:ext>
                  </a:extLst>
                </a:gridCol>
                <a:gridCol w="403934">
                  <a:extLst>
                    <a:ext uri="{9D8B030D-6E8A-4147-A177-3AD203B41FA5}">
                      <a16:colId xmlns:a16="http://schemas.microsoft.com/office/drawing/2014/main" val="3008022222"/>
                    </a:ext>
                  </a:extLst>
                </a:gridCol>
              </a:tblGrid>
              <a:tr h="163241">
                <a:tc>
                  <a:txBody>
                    <a:bodyPr/>
                    <a:lstStyle/>
                    <a:p>
                      <a:pPr algn="l" fontAlgn="b">
                        <a:buNone/>
                      </a:pPr>
                      <a:endParaRPr lang="fr-FR" sz="1000" b="0" i="0" u="none" strike="noStrike">
                        <a:solidFill>
                          <a:srgbClr val="000000"/>
                        </a:solidFill>
                        <a:effectLst/>
                        <a:latin typeface="Aptos Narrow" panose="020B0004020202020204" pitchFamily="34" charset="0"/>
                      </a:endParaRP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Evol </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74257774"/>
                  </a:ext>
                </a:extLst>
              </a:tr>
              <a:tr h="163241">
                <a:tc>
                  <a:txBody>
                    <a:bodyPr/>
                    <a:lstStyle/>
                    <a:p>
                      <a:pPr algn="l" fontAlgn="b">
                        <a:buNone/>
                      </a:pPr>
                      <a:r>
                        <a:rPr lang="fr-FR" sz="1000" b="1" i="0" u="none" strike="noStrike">
                          <a:solidFill>
                            <a:srgbClr val="000000"/>
                          </a:solidFill>
                          <a:effectLst/>
                          <a:latin typeface="Aptos Narrow" panose="020B0004020202020204" pitchFamily="34" charset="0"/>
                        </a:rPr>
                        <a:t>Park </a:t>
                      </a:r>
                      <a:r>
                        <a:rPr lang="fr-FR" sz="1000" b="1" i="0" u="none" strike="noStrike" err="1">
                          <a:solidFill>
                            <a:srgbClr val="000000"/>
                          </a:solidFill>
                          <a:effectLst/>
                          <a:latin typeface="Aptos Narrow" panose="020B0004020202020204" pitchFamily="34" charset="0"/>
                        </a:rPr>
                        <a:t>Bostalsee</a:t>
                      </a:r>
                      <a:endParaRPr lang="fr-FR" sz="1000" b="1" i="0" u="none" strike="noStrike">
                        <a:solidFill>
                          <a:srgbClr val="000000"/>
                        </a:solidFill>
                        <a:effectLst/>
                        <a:latin typeface="Aptos Narrow" panose="020B0004020202020204" pitchFamily="34" charset="0"/>
                      </a:endParaRP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24,6</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6E082"/>
                    </a:solidFill>
                  </a:tcPr>
                </a:tc>
                <a:tc>
                  <a:txBody>
                    <a:bodyPr/>
                    <a:lstStyle/>
                    <a:p>
                      <a:pPr algn="r" fontAlgn="b">
                        <a:buNone/>
                      </a:pPr>
                      <a:r>
                        <a:rPr lang="fr-FR" sz="1000" b="1" i="0" u="none" strike="noStrike">
                          <a:solidFill>
                            <a:srgbClr val="000000"/>
                          </a:solidFill>
                          <a:effectLst/>
                          <a:latin typeface="Aptos Narrow" panose="020B0004020202020204" pitchFamily="34" charset="0"/>
                        </a:rPr>
                        <a:t>12,2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880"/>
                    </a:solidFill>
                  </a:tcPr>
                </a:tc>
                <a:tc>
                  <a:txBody>
                    <a:bodyPr/>
                    <a:lstStyle/>
                    <a:p>
                      <a:pPr algn="r" fontAlgn="b">
                        <a:buNone/>
                      </a:pPr>
                      <a:r>
                        <a:rPr lang="fr-FR" sz="1000" b="1" i="0" u="none" strike="noStrike">
                          <a:solidFill>
                            <a:srgbClr val="00B050"/>
                          </a:solidFill>
                          <a:effectLst/>
                          <a:latin typeface="Aptos Narrow" panose="020B0004020202020204" pitchFamily="34" charset="0"/>
                        </a:rPr>
                        <a:t>12,3</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01380607"/>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Adults 35-54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20,4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EE683"/>
                    </a:solidFill>
                  </a:tcPr>
                </a:tc>
                <a:tc>
                  <a:txBody>
                    <a:bodyPr/>
                    <a:lstStyle/>
                    <a:p>
                      <a:pPr algn="r" fontAlgn="b">
                        <a:buNone/>
                      </a:pPr>
                      <a:r>
                        <a:rPr lang="fr-FR" sz="1000" b="0" i="0" u="none" strike="noStrike">
                          <a:solidFill>
                            <a:srgbClr val="000000"/>
                          </a:solidFill>
                          <a:effectLst/>
                          <a:latin typeface="Aptos Narrow" panose="020B0004020202020204" pitchFamily="34" charset="0"/>
                        </a:rPr>
                        <a:t>16,3</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783"/>
                    </a:solidFill>
                  </a:tcPr>
                </a:tc>
                <a:tc>
                  <a:txBody>
                    <a:bodyPr/>
                    <a:lstStyle/>
                    <a:p>
                      <a:pPr algn="r" fontAlgn="b">
                        <a:buNone/>
                      </a:pPr>
                      <a:r>
                        <a:rPr lang="fr-FR" sz="1000" b="0" i="0" u="none" strike="noStrike">
                          <a:solidFill>
                            <a:srgbClr val="00B050"/>
                          </a:solidFill>
                          <a:effectLst/>
                          <a:latin typeface="Aptos Narrow" panose="020B0004020202020204" pitchFamily="34" charset="0"/>
                        </a:rPr>
                        <a:t>4,1</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63181358"/>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Family with Children 0-2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24,0</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9E082"/>
                    </a:solidFill>
                  </a:tcPr>
                </a:tc>
                <a:tc>
                  <a:txBody>
                    <a:bodyPr/>
                    <a:lstStyle/>
                    <a:p>
                      <a:pPr algn="r" fontAlgn="b">
                        <a:buNone/>
                      </a:pPr>
                      <a:r>
                        <a:rPr lang="fr-FR" sz="1000" b="0" i="0" u="none" strike="noStrike">
                          <a:solidFill>
                            <a:srgbClr val="000000"/>
                          </a:solidFill>
                          <a:effectLst/>
                          <a:latin typeface="Aptos Narrow" panose="020B0004020202020204" pitchFamily="34" charset="0"/>
                        </a:rPr>
                        <a:t>9,6</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E7E"/>
                    </a:solidFill>
                  </a:tcPr>
                </a:tc>
                <a:tc>
                  <a:txBody>
                    <a:bodyPr/>
                    <a:lstStyle/>
                    <a:p>
                      <a:pPr algn="r" fontAlgn="b">
                        <a:buNone/>
                      </a:pPr>
                      <a:r>
                        <a:rPr lang="fr-FR" sz="1000" b="0" i="0" u="none" strike="noStrike">
                          <a:solidFill>
                            <a:srgbClr val="00B050"/>
                          </a:solidFill>
                          <a:effectLst/>
                          <a:latin typeface="Aptos Narrow" panose="020B0004020202020204" pitchFamily="34" charset="0"/>
                        </a:rPr>
                        <a:t>14,4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22191238"/>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Family </a:t>
                      </a:r>
                      <a:r>
                        <a:rPr lang="fr-FR" sz="1000" b="0" i="0" u="none" strike="noStrike" err="1">
                          <a:solidFill>
                            <a:srgbClr val="000000"/>
                          </a:solidFill>
                          <a:effectLst/>
                          <a:latin typeface="Aptos Narrow" panose="020B0004020202020204" pitchFamily="34" charset="0"/>
                        </a:rPr>
                        <a:t>with</a:t>
                      </a:r>
                      <a:r>
                        <a:rPr lang="fr-FR" sz="1000" b="0" i="0" u="none" strike="noStrike">
                          <a:solidFill>
                            <a:srgbClr val="000000"/>
                          </a:solidFill>
                          <a:effectLst/>
                          <a:latin typeface="Aptos Narrow" panose="020B0004020202020204" pitchFamily="34" charset="0"/>
                        </a:rPr>
                        <a:t> </a:t>
                      </a:r>
                      <a:r>
                        <a:rPr lang="fr-FR" sz="1000" b="0" i="0" u="none" strike="noStrike" err="1">
                          <a:solidFill>
                            <a:srgbClr val="000000"/>
                          </a:solidFill>
                          <a:effectLst/>
                          <a:latin typeface="Aptos Narrow" panose="020B0004020202020204" pitchFamily="34" charset="0"/>
                        </a:rPr>
                        <a:t>Children</a:t>
                      </a:r>
                      <a:r>
                        <a:rPr lang="fr-FR" sz="1000" b="0" i="0" u="none" strike="noStrike">
                          <a:solidFill>
                            <a:srgbClr val="000000"/>
                          </a:solidFill>
                          <a:effectLst/>
                          <a:latin typeface="Aptos Narrow" panose="020B0004020202020204" pitchFamily="34" charset="0"/>
                        </a:rPr>
                        <a:t> 12-17</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23,0</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FE283"/>
                    </a:solidFill>
                  </a:tcPr>
                </a:tc>
                <a:tc>
                  <a:txBody>
                    <a:bodyPr/>
                    <a:lstStyle/>
                    <a:p>
                      <a:pPr algn="r" fontAlgn="b">
                        <a:buNone/>
                      </a:pPr>
                      <a:r>
                        <a:rPr lang="fr-FR" sz="1000" b="0" i="0" u="none" strike="noStrike">
                          <a:solidFill>
                            <a:srgbClr val="000000"/>
                          </a:solidFill>
                          <a:effectLst/>
                          <a:latin typeface="Aptos Narrow" panose="020B0004020202020204" pitchFamily="34" charset="0"/>
                        </a:rPr>
                        <a:t>12,3</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880"/>
                    </a:solidFill>
                  </a:tcPr>
                </a:tc>
                <a:tc>
                  <a:txBody>
                    <a:bodyPr/>
                    <a:lstStyle/>
                    <a:p>
                      <a:pPr algn="r" fontAlgn="b">
                        <a:buNone/>
                      </a:pPr>
                      <a:r>
                        <a:rPr lang="fr-FR" sz="1000" b="0" i="0" u="none" strike="noStrike">
                          <a:solidFill>
                            <a:srgbClr val="00B050"/>
                          </a:solidFill>
                          <a:effectLst/>
                          <a:latin typeface="Aptos Narrow" panose="020B0004020202020204" pitchFamily="34" charset="0"/>
                        </a:rPr>
                        <a:t>10,7</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83264102"/>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Family with Children 3-4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22,5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2E383"/>
                    </a:solidFill>
                  </a:tcPr>
                </a:tc>
                <a:tc>
                  <a:txBody>
                    <a:bodyPr/>
                    <a:lstStyle/>
                    <a:p>
                      <a:pPr algn="r" fontAlgn="b">
                        <a:buNone/>
                      </a:pPr>
                      <a:r>
                        <a:rPr lang="fr-FR" sz="1000" b="0" i="0" u="none" strike="noStrike">
                          <a:solidFill>
                            <a:srgbClr val="000000"/>
                          </a:solidFill>
                          <a:effectLst/>
                          <a:latin typeface="Aptos Narrow" panose="020B0004020202020204" pitchFamily="34" charset="0"/>
                        </a:rPr>
                        <a:t>8,9</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C7E"/>
                    </a:solidFill>
                  </a:tcPr>
                </a:tc>
                <a:tc>
                  <a:txBody>
                    <a:bodyPr/>
                    <a:lstStyle/>
                    <a:p>
                      <a:pPr algn="r" fontAlgn="b">
                        <a:buNone/>
                      </a:pPr>
                      <a:r>
                        <a:rPr lang="fr-FR" sz="1000" b="0" i="0" u="none" strike="noStrike">
                          <a:solidFill>
                            <a:srgbClr val="00B050"/>
                          </a:solidFill>
                          <a:effectLst/>
                          <a:latin typeface="Aptos Narrow" panose="020B0004020202020204" pitchFamily="34" charset="0"/>
                        </a:rPr>
                        <a:t>13,6</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53709164"/>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Family with Children 5-11</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26,1</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DDD82"/>
                    </a:solidFill>
                  </a:tcPr>
                </a:tc>
                <a:tc>
                  <a:txBody>
                    <a:bodyPr/>
                    <a:lstStyle/>
                    <a:p>
                      <a:pPr algn="r" fontAlgn="b">
                        <a:buNone/>
                      </a:pPr>
                      <a:r>
                        <a:rPr lang="fr-FR" sz="1000" b="0" i="0" u="none" strike="noStrike">
                          <a:solidFill>
                            <a:srgbClr val="000000"/>
                          </a:solidFill>
                          <a:effectLst/>
                          <a:latin typeface="Aptos Narrow" panose="020B0004020202020204" pitchFamily="34" charset="0"/>
                        </a:rPr>
                        <a:t>11,4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57F"/>
                    </a:solidFill>
                  </a:tcPr>
                </a:tc>
                <a:tc>
                  <a:txBody>
                    <a:bodyPr/>
                    <a:lstStyle/>
                    <a:p>
                      <a:pPr algn="r" fontAlgn="b">
                        <a:buNone/>
                      </a:pPr>
                      <a:r>
                        <a:rPr lang="fr-FR" sz="1000" b="0" i="0" u="none" strike="noStrike">
                          <a:solidFill>
                            <a:srgbClr val="00B050"/>
                          </a:solidFill>
                          <a:effectLst/>
                          <a:latin typeface="Aptos Narrow" panose="020B0004020202020204" pitchFamily="34" charset="0"/>
                        </a:rPr>
                        <a:t>14,7</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98105529"/>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Seniors active 55-74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27,7</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4DA81"/>
                    </a:solidFill>
                  </a:tcPr>
                </a:tc>
                <a:tc>
                  <a:txBody>
                    <a:bodyPr/>
                    <a:lstStyle/>
                    <a:p>
                      <a:pPr algn="r" fontAlgn="b">
                        <a:buNone/>
                      </a:pPr>
                      <a:r>
                        <a:rPr lang="fr-FR" sz="1000" b="0" i="0" u="none" strike="noStrike">
                          <a:solidFill>
                            <a:srgbClr val="000000"/>
                          </a:solidFill>
                          <a:effectLst/>
                          <a:latin typeface="Aptos Narrow" panose="020B0004020202020204" pitchFamily="34" charset="0"/>
                        </a:rPr>
                        <a:t>19,8</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1E784"/>
                    </a:solidFill>
                  </a:tcPr>
                </a:tc>
                <a:tc>
                  <a:txBody>
                    <a:bodyPr/>
                    <a:lstStyle/>
                    <a:p>
                      <a:pPr algn="r" fontAlgn="b">
                        <a:buNone/>
                      </a:pPr>
                      <a:r>
                        <a:rPr lang="fr-FR" sz="1000" b="0" i="0" u="none" strike="noStrike">
                          <a:solidFill>
                            <a:srgbClr val="00B050"/>
                          </a:solidFill>
                          <a:effectLst/>
                          <a:latin typeface="Aptos Narrow" panose="020B0004020202020204" pitchFamily="34" charset="0"/>
                        </a:rPr>
                        <a:t>7,9</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64450390"/>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Seniors&gt;75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20,2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FE784"/>
                    </a:solidFill>
                  </a:tcPr>
                </a:tc>
                <a:tc>
                  <a:txBody>
                    <a:bodyPr/>
                    <a:lstStyle/>
                    <a:p>
                      <a:pPr algn="r" fontAlgn="b">
                        <a:buNone/>
                      </a:pPr>
                      <a:r>
                        <a:rPr lang="fr-FR" sz="1000" b="0" i="0" u="none" strike="noStrike">
                          <a:solidFill>
                            <a:srgbClr val="000000"/>
                          </a:solidFill>
                          <a:effectLst/>
                          <a:latin typeface="Aptos Narrow" panose="020B0004020202020204" pitchFamily="34" charset="0"/>
                        </a:rPr>
                        <a:t>17,9</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EA84"/>
                    </a:solidFill>
                  </a:tcPr>
                </a:tc>
                <a:tc>
                  <a:txBody>
                    <a:bodyPr/>
                    <a:lstStyle/>
                    <a:p>
                      <a:pPr algn="r" fontAlgn="b">
                        <a:buNone/>
                      </a:pPr>
                      <a:r>
                        <a:rPr lang="fr-FR" sz="1000" b="0" i="0" u="none" strike="noStrike">
                          <a:solidFill>
                            <a:srgbClr val="00B050"/>
                          </a:solidFill>
                          <a:effectLst/>
                          <a:latin typeface="Aptos Narrow" panose="020B0004020202020204" pitchFamily="34" charset="0"/>
                        </a:rPr>
                        <a:t>2,3</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65933331"/>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Young Adults 18-34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22,4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2E383"/>
                    </a:solidFill>
                  </a:tcPr>
                </a:tc>
                <a:tc>
                  <a:txBody>
                    <a:bodyPr/>
                    <a:lstStyle/>
                    <a:p>
                      <a:pPr algn="r" fontAlgn="b">
                        <a:buNone/>
                      </a:pPr>
                      <a:r>
                        <a:rPr lang="fr-FR" sz="1000" b="0" i="0" u="none" strike="noStrike">
                          <a:solidFill>
                            <a:srgbClr val="000000"/>
                          </a:solidFill>
                          <a:effectLst/>
                          <a:latin typeface="Aptos Narrow" panose="020B0004020202020204" pitchFamily="34" charset="0"/>
                        </a:rPr>
                        <a:t>3,7</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97A"/>
                    </a:solidFill>
                  </a:tcPr>
                </a:tc>
                <a:tc>
                  <a:txBody>
                    <a:bodyPr/>
                    <a:lstStyle/>
                    <a:p>
                      <a:pPr algn="r" fontAlgn="b">
                        <a:buNone/>
                      </a:pPr>
                      <a:r>
                        <a:rPr lang="fr-FR" sz="1000" b="0" i="0" u="none" strike="noStrike">
                          <a:solidFill>
                            <a:srgbClr val="00B050"/>
                          </a:solidFill>
                          <a:effectLst/>
                          <a:latin typeface="Aptos Narrow" panose="020B0004020202020204" pitchFamily="34" charset="0"/>
                        </a:rPr>
                        <a:t>18,6</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0363041"/>
                  </a:ext>
                </a:extLst>
              </a:tr>
              <a:tr h="163241">
                <a:tc>
                  <a:txBody>
                    <a:bodyPr/>
                    <a:lstStyle/>
                    <a:p>
                      <a:pPr algn="l" fontAlgn="b">
                        <a:buNone/>
                      </a:pPr>
                      <a:r>
                        <a:rPr lang="fr-FR" sz="1000" b="1" i="0" u="none" strike="noStrike">
                          <a:solidFill>
                            <a:srgbClr val="000000"/>
                          </a:solidFill>
                          <a:effectLst/>
                          <a:latin typeface="Aptos Narrow" panose="020B0004020202020204" pitchFamily="34" charset="0"/>
                        </a:rPr>
                        <a:t>Park Eifel</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22,4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2E383"/>
                    </a:solidFill>
                  </a:tcPr>
                </a:tc>
                <a:tc>
                  <a:txBody>
                    <a:bodyPr/>
                    <a:lstStyle/>
                    <a:p>
                      <a:pPr algn="r" fontAlgn="b">
                        <a:buNone/>
                      </a:pPr>
                      <a:r>
                        <a:rPr lang="fr-FR" sz="1000" b="1" i="0" u="none" strike="noStrike">
                          <a:solidFill>
                            <a:srgbClr val="000000"/>
                          </a:solidFill>
                          <a:effectLst/>
                          <a:latin typeface="Aptos Narrow" panose="020B0004020202020204" pitchFamily="34" charset="0"/>
                        </a:rPr>
                        <a:t>14,3</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081"/>
                    </a:solidFill>
                  </a:tcPr>
                </a:tc>
                <a:tc>
                  <a:txBody>
                    <a:bodyPr/>
                    <a:lstStyle/>
                    <a:p>
                      <a:pPr algn="r" fontAlgn="b">
                        <a:buNone/>
                      </a:pPr>
                      <a:r>
                        <a:rPr lang="fr-FR" sz="1000" b="1" i="0" u="none" strike="noStrike">
                          <a:solidFill>
                            <a:srgbClr val="00B050"/>
                          </a:solidFill>
                          <a:effectLst/>
                          <a:latin typeface="Aptos Narrow" panose="020B0004020202020204" pitchFamily="34" charset="0"/>
                        </a:rPr>
                        <a:t>8,0</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55871533"/>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Adults 35-54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22,5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2E383"/>
                    </a:solidFill>
                  </a:tcPr>
                </a:tc>
                <a:tc>
                  <a:txBody>
                    <a:bodyPr/>
                    <a:lstStyle/>
                    <a:p>
                      <a:pPr algn="r" fontAlgn="b">
                        <a:buNone/>
                      </a:pPr>
                      <a:r>
                        <a:rPr lang="fr-FR" sz="1000" b="0" i="0" u="none" strike="noStrike">
                          <a:solidFill>
                            <a:srgbClr val="000000"/>
                          </a:solidFill>
                          <a:effectLst/>
                          <a:latin typeface="Aptos Narrow" panose="020B0004020202020204" pitchFamily="34" charset="0"/>
                        </a:rPr>
                        <a:t>14,1</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F81"/>
                    </a:solidFill>
                  </a:tcPr>
                </a:tc>
                <a:tc>
                  <a:txBody>
                    <a:bodyPr/>
                    <a:lstStyle/>
                    <a:p>
                      <a:pPr algn="r" fontAlgn="b">
                        <a:buNone/>
                      </a:pPr>
                      <a:r>
                        <a:rPr lang="fr-FR" sz="1000" b="0" i="0" u="none" strike="noStrike">
                          <a:solidFill>
                            <a:srgbClr val="00B050"/>
                          </a:solidFill>
                          <a:effectLst/>
                          <a:latin typeface="Aptos Narrow" panose="020B0004020202020204" pitchFamily="34" charset="0"/>
                        </a:rPr>
                        <a:t>8,4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80995868"/>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Family with Children 0-2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19,0</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6E984"/>
                    </a:solidFill>
                  </a:tcPr>
                </a:tc>
                <a:tc>
                  <a:txBody>
                    <a:bodyPr/>
                    <a:lstStyle/>
                    <a:p>
                      <a:pPr algn="r" fontAlgn="b">
                        <a:buNone/>
                      </a:pPr>
                      <a:r>
                        <a:rPr lang="fr-FR" sz="1000" b="0" i="0" u="none" strike="noStrike">
                          <a:solidFill>
                            <a:srgbClr val="000000"/>
                          </a:solidFill>
                          <a:effectLst/>
                          <a:latin typeface="Aptos Narrow" panose="020B0004020202020204" pitchFamily="34" charset="0"/>
                        </a:rPr>
                        <a:t>12,0</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780"/>
                    </a:solidFill>
                  </a:tcPr>
                </a:tc>
                <a:tc>
                  <a:txBody>
                    <a:bodyPr/>
                    <a:lstStyle/>
                    <a:p>
                      <a:pPr algn="r" fontAlgn="b">
                        <a:buNone/>
                      </a:pPr>
                      <a:r>
                        <a:rPr lang="fr-FR" sz="1000" b="0" i="0" u="none" strike="noStrike">
                          <a:solidFill>
                            <a:srgbClr val="00B050"/>
                          </a:solidFill>
                          <a:effectLst/>
                          <a:latin typeface="Aptos Narrow" panose="020B0004020202020204" pitchFamily="34" charset="0"/>
                        </a:rPr>
                        <a:t>7,0</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67061999"/>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Family with Children 12-17</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11,6</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680"/>
                    </a:solidFill>
                  </a:tcPr>
                </a:tc>
                <a:tc>
                  <a:txBody>
                    <a:bodyPr/>
                    <a:lstStyle/>
                    <a:p>
                      <a:pPr algn="r" fontAlgn="b">
                        <a:buNone/>
                      </a:pPr>
                      <a:r>
                        <a:rPr lang="fr-FR" sz="1000" b="0" i="0" u="none" strike="noStrike">
                          <a:solidFill>
                            <a:srgbClr val="000000"/>
                          </a:solidFill>
                          <a:effectLst/>
                          <a:latin typeface="Aptos Narrow" panose="020B0004020202020204" pitchFamily="34" charset="0"/>
                        </a:rPr>
                        <a:t>1,1</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F78"/>
                    </a:solidFill>
                  </a:tcPr>
                </a:tc>
                <a:tc>
                  <a:txBody>
                    <a:bodyPr/>
                    <a:lstStyle/>
                    <a:p>
                      <a:pPr algn="r" fontAlgn="b">
                        <a:buNone/>
                      </a:pPr>
                      <a:r>
                        <a:rPr lang="fr-FR" sz="1000" b="0" i="0" u="none" strike="noStrike">
                          <a:solidFill>
                            <a:srgbClr val="00B050"/>
                          </a:solidFill>
                          <a:effectLst/>
                          <a:latin typeface="Aptos Narrow" panose="020B0004020202020204" pitchFamily="34" charset="0"/>
                        </a:rPr>
                        <a:t>10,6</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70225627"/>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Family with Children 3-4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28,9</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DD881"/>
                    </a:solidFill>
                  </a:tcPr>
                </a:tc>
                <a:tc>
                  <a:txBody>
                    <a:bodyPr/>
                    <a:lstStyle/>
                    <a:p>
                      <a:pPr algn="r" fontAlgn="b">
                        <a:buNone/>
                      </a:pPr>
                      <a:r>
                        <a:rPr lang="fr-FR" sz="1000" b="0" i="0" u="none" strike="noStrike">
                          <a:solidFill>
                            <a:srgbClr val="000000"/>
                          </a:solidFill>
                          <a:effectLst/>
                          <a:latin typeface="Aptos Narrow" panose="020B0004020202020204" pitchFamily="34" charset="0"/>
                        </a:rPr>
                        <a:t>15,7</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582"/>
                    </a:solidFill>
                  </a:tcPr>
                </a:tc>
                <a:tc>
                  <a:txBody>
                    <a:bodyPr/>
                    <a:lstStyle/>
                    <a:p>
                      <a:pPr algn="r" fontAlgn="b">
                        <a:buNone/>
                      </a:pPr>
                      <a:r>
                        <a:rPr lang="fr-FR" sz="1000" b="0" i="0" u="none" strike="noStrike">
                          <a:solidFill>
                            <a:srgbClr val="00B050"/>
                          </a:solidFill>
                          <a:effectLst/>
                          <a:latin typeface="Aptos Narrow" panose="020B0004020202020204" pitchFamily="34" charset="0"/>
                        </a:rPr>
                        <a:t>13,3</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52999218"/>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Family with Children 5-11</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23,4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CE182"/>
                    </a:solidFill>
                  </a:tcPr>
                </a:tc>
                <a:tc>
                  <a:txBody>
                    <a:bodyPr/>
                    <a:lstStyle/>
                    <a:p>
                      <a:pPr algn="r" fontAlgn="b">
                        <a:buNone/>
                      </a:pPr>
                      <a:r>
                        <a:rPr lang="fr-FR" sz="1000" b="0" i="0" u="none" strike="noStrike">
                          <a:solidFill>
                            <a:srgbClr val="000000"/>
                          </a:solidFill>
                          <a:effectLst/>
                          <a:latin typeface="Aptos Narrow" panose="020B0004020202020204" pitchFamily="34" charset="0"/>
                        </a:rPr>
                        <a:t>13,5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D81"/>
                    </a:solidFill>
                  </a:tcPr>
                </a:tc>
                <a:tc>
                  <a:txBody>
                    <a:bodyPr/>
                    <a:lstStyle/>
                    <a:p>
                      <a:pPr algn="r" fontAlgn="b">
                        <a:buNone/>
                      </a:pPr>
                      <a:r>
                        <a:rPr lang="fr-FR" sz="1000" b="0" i="0" u="none" strike="noStrike">
                          <a:solidFill>
                            <a:srgbClr val="00B050"/>
                          </a:solidFill>
                          <a:effectLst/>
                          <a:latin typeface="Aptos Narrow" panose="020B0004020202020204" pitchFamily="34" charset="0"/>
                        </a:rPr>
                        <a:t>10,0</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58907198"/>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Seniors active 55-74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26,3</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CDD82"/>
                    </a:solidFill>
                  </a:tcPr>
                </a:tc>
                <a:tc>
                  <a:txBody>
                    <a:bodyPr/>
                    <a:lstStyle/>
                    <a:p>
                      <a:pPr algn="r" fontAlgn="b">
                        <a:buNone/>
                      </a:pPr>
                      <a:r>
                        <a:rPr lang="fr-FR" sz="1000" b="0" i="0" u="none" strike="noStrike">
                          <a:solidFill>
                            <a:srgbClr val="000000"/>
                          </a:solidFill>
                          <a:effectLst/>
                          <a:latin typeface="Aptos Narrow" panose="020B0004020202020204" pitchFamily="34" charset="0"/>
                        </a:rPr>
                        <a:t>26,1</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DDD82"/>
                    </a:solidFill>
                  </a:tcPr>
                </a:tc>
                <a:tc>
                  <a:txBody>
                    <a:bodyPr/>
                    <a:lstStyle/>
                    <a:p>
                      <a:pPr algn="r" fontAlgn="b">
                        <a:buNone/>
                      </a:pPr>
                      <a:r>
                        <a:rPr lang="fr-FR" sz="1000" b="0" i="0" u="none" strike="noStrike">
                          <a:solidFill>
                            <a:srgbClr val="00B050"/>
                          </a:solidFill>
                          <a:effectLst/>
                          <a:latin typeface="Aptos Narrow" panose="020B0004020202020204" pitchFamily="34" charset="0"/>
                        </a:rPr>
                        <a:t>0,2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46311710"/>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Seniors&gt;75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32,7</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8D27F"/>
                    </a:solidFill>
                  </a:tcPr>
                </a:tc>
                <a:tc>
                  <a:txBody>
                    <a:bodyPr/>
                    <a:lstStyle/>
                    <a:p>
                      <a:pPr algn="r" fontAlgn="b">
                        <a:buNone/>
                      </a:pPr>
                      <a:r>
                        <a:rPr lang="fr-FR" sz="1000" b="0" i="0" u="none" strike="noStrike">
                          <a:solidFill>
                            <a:srgbClr val="000000"/>
                          </a:solidFill>
                          <a:effectLst/>
                          <a:latin typeface="Aptos Narrow" panose="020B0004020202020204" pitchFamily="34" charset="0"/>
                        </a:rPr>
                        <a:t>22,2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3E383"/>
                    </a:solidFill>
                  </a:tcPr>
                </a:tc>
                <a:tc>
                  <a:txBody>
                    <a:bodyPr/>
                    <a:lstStyle/>
                    <a:p>
                      <a:pPr algn="r" fontAlgn="b">
                        <a:buNone/>
                      </a:pPr>
                      <a:r>
                        <a:rPr lang="fr-FR" sz="1000" b="0" i="0" u="none" strike="noStrike">
                          <a:solidFill>
                            <a:srgbClr val="00B050"/>
                          </a:solidFill>
                          <a:effectLst/>
                          <a:latin typeface="Aptos Narrow" panose="020B0004020202020204" pitchFamily="34" charset="0"/>
                        </a:rPr>
                        <a:t>10,5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69020059"/>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Young Adults 18-34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9,9</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07E"/>
                    </a:solidFill>
                  </a:tcPr>
                </a:tc>
                <a:tc>
                  <a:txBody>
                    <a:bodyPr/>
                    <a:lstStyle/>
                    <a:p>
                      <a:pPr algn="r" fontAlgn="b">
                        <a:buNone/>
                      </a:pPr>
                      <a:r>
                        <a:rPr lang="fr-FR" sz="1000" b="0" i="0" u="none" strike="noStrike">
                          <a:solidFill>
                            <a:srgbClr val="000000"/>
                          </a:solidFill>
                          <a:effectLst/>
                          <a:latin typeface="Aptos Narrow" panose="020B0004020202020204" pitchFamily="34" charset="0"/>
                        </a:rPr>
                        <a:t>13,3</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C81"/>
                    </a:solidFill>
                  </a:tcPr>
                </a:tc>
                <a:tc>
                  <a:txBody>
                    <a:bodyPr/>
                    <a:lstStyle/>
                    <a:p>
                      <a:pPr algn="r" fontAlgn="b">
                        <a:buNone/>
                      </a:pPr>
                      <a:r>
                        <a:rPr lang="fr-FR" sz="1000" b="0" i="0" u="none" strike="noStrike">
                          <a:solidFill>
                            <a:srgbClr val="FF0000"/>
                          </a:solidFill>
                          <a:effectLst/>
                          <a:latin typeface="Aptos Narrow" panose="020B0004020202020204" pitchFamily="34" charset="0"/>
                        </a:rPr>
                        <a:t>-3,4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22663518"/>
                  </a:ext>
                </a:extLst>
              </a:tr>
            </a:tbl>
          </a:graphicData>
        </a:graphic>
      </p:graphicFrame>
      <p:graphicFrame>
        <p:nvGraphicFramePr>
          <p:cNvPr id="10" name="Table 9">
            <a:extLst>
              <a:ext uri="{FF2B5EF4-FFF2-40B4-BE49-F238E27FC236}">
                <a16:creationId xmlns:a16="http://schemas.microsoft.com/office/drawing/2014/main" id="{94B496F2-132E-765D-6E46-72CB692E74E5}"/>
              </a:ext>
            </a:extLst>
          </p:cNvPr>
          <p:cNvGraphicFramePr>
            <a:graphicFrameLocks noGrp="1"/>
          </p:cNvGraphicFramePr>
          <p:nvPr>
            <p:extLst>
              <p:ext uri="{D42A27DB-BD31-4B8C-83A1-F6EECF244321}">
                <p14:modId xmlns:p14="http://schemas.microsoft.com/office/powerpoint/2010/main" val="341638590"/>
              </p:ext>
            </p:extLst>
          </p:nvPr>
        </p:nvGraphicFramePr>
        <p:xfrm>
          <a:off x="7489428" y="3018386"/>
          <a:ext cx="3292871" cy="3101579"/>
        </p:xfrm>
        <a:graphic>
          <a:graphicData uri="http://schemas.openxmlformats.org/drawingml/2006/table">
            <a:tbl>
              <a:tblPr/>
              <a:tblGrid>
                <a:gridCol w="1986608">
                  <a:extLst>
                    <a:ext uri="{9D8B030D-6E8A-4147-A177-3AD203B41FA5}">
                      <a16:colId xmlns:a16="http://schemas.microsoft.com/office/drawing/2014/main" val="1004418243"/>
                    </a:ext>
                  </a:extLst>
                </a:gridCol>
                <a:gridCol w="435421">
                  <a:extLst>
                    <a:ext uri="{9D8B030D-6E8A-4147-A177-3AD203B41FA5}">
                      <a16:colId xmlns:a16="http://schemas.microsoft.com/office/drawing/2014/main" val="4109404814"/>
                    </a:ext>
                  </a:extLst>
                </a:gridCol>
                <a:gridCol w="435421">
                  <a:extLst>
                    <a:ext uri="{9D8B030D-6E8A-4147-A177-3AD203B41FA5}">
                      <a16:colId xmlns:a16="http://schemas.microsoft.com/office/drawing/2014/main" val="3537142726"/>
                    </a:ext>
                  </a:extLst>
                </a:gridCol>
                <a:gridCol w="435421">
                  <a:extLst>
                    <a:ext uri="{9D8B030D-6E8A-4147-A177-3AD203B41FA5}">
                      <a16:colId xmlns:a16="http://schemas.microsoft.com/office/drawing/2014/main" val="1365298872"/>
                    </a:ext>
                  </a:extLst>
                </a:gridCol>
              </a:tblGrid>
              <a:tr h="163241">
                <a:tc>
                  <a:txBody>
                    <a:bodyPr/>
                    <a:lstStyle/>
                    <a:p>
                      <a:pPr algn="l" fontAlgn="b">
                        <a:buNone/>
                      </a:pPr>
                      <a:endParaRPr lang="fr-FR" sz="1000" b="0" i="0" u="none" strike="noStrike">
                        <a:solidFill>
                          <a:srgbClr val="000000"/>
                        </a:solidFill>
                        <a:effectLst/>
                        <a:latin typeface="Aptos Narrow" panose="020B0004020202020204" pitchFamily="34" charset="0"/>
                      </a:endParaRP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Evol </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04147662"/>
                  </a:ext>
                </a:extLst>
              </a:tr>
              <a:tr h="163241">
                <a:tc>
                  <a:txBody>
                    <a:bodyPr/>
                    <a:lstStyle/>
                    <a:p>
                      <a:pPr algn="l" fontAlgn="b">
                        <a:buNone/>
                      </a:pPr>
                      <a:r>
                        <a:rPr lang="fr-FR" sz="1000" b="1" i="0" u="none" strike="noStrike">
                          <a:solidFill>
                            <a:srgbClr val="000000"/>
                          </a:solidFill>
                          <a:effectLst/>
                          <a:latin typeface="Aptos Narrow" panose="020B0004020202020204" pitchFamily="34" charset="0"/>
                        </a:rPr>
                        <a:t>Park </a:t>
                      </a:r>
                      <a:r>
                        <a:rPr lang="fr-FR" sz="1000" b="1" i="0" u="none" strike="noStrike" err="1">
                          <a:solidFill>
                            <a:srgbClr val="000000"/>
                          </a:solidFill>
                          <a:effectLst/>
                          <a:latin typeface="Aptos Narrow" panose="020B0004020202020204" pitchFamily="34" charset="0"/>
                        </a:rPr>
                        <a:t>Hochsauerland</a:t>
                      </a:r>
                      <a:endParaRPr lang="fr-FR" sz="1000" b="1" i="0" u="none" strike="noStrike">
                        <a:solidFill>
                          <a:srgbClr val="000000"/>
                        </a:solidFill>
                        <a:effectLst/>
                        <a:latin typeface="Aptos Narrow" panose="020B0004020202020204" pitchFamily="34" charset="0"/>
                      </a:endParaRP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35,7</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6CD7E"/>
                    </a:solidFill>
                  </a:tcPr>
                </a:tc>
                <a:tc>
                  <a:txBody>
                    <a:bodyPr/>
                    <a:lstStyle/>
                    <a:p>
                      <a:pPr algn="r" fontAlgn="b">
                        <a:buNone/>
                      </a:pPr>
                      <a:r>
                        <a:rPr lang="fr-FR" sz="1000" b="1" i="0" u="none" strike="noStrike">
                          <a:solidFill>
                            <a:srgbClr val="000000"/>
                          </a:solidFill>
                          <a:effectLst/>
                          <a:latin typeface="Aptos Narrow" panose="020B0004020202020204" pitchFamily="34" charset="0"/>
                        </a:rPr>
                        <a:t>32,5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9D27F"/>
                    </a:solidFill>
                  </a:tcPr>
                </a:tc>
                <a:tc>
                  <a:txBody>
                    <a:bodyPr/>
                    <a:lstStyle/>
                    <a:p>
                      <a:pPr algn="r" fontAlgn="b">
                        <a:buNone/>
                      </a:pPr>
                      <a:r>
                        <a:rPr lang="fr-FR" sz="1000" b="1" i="0" u="none" strike="noStrike">
                          <a:solidFill>
                            <a:srgbClr val="00B050"/>
                          </a:solidFill>
                          <a:effectLst/>
                          <a:latin typeface="Aptos Narrow" panose="020B0004020202020204" pitchFamily="34" charset="0"/>
                        </a:rPr>
                        <a:t>3,2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30688314"/>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Adults 35-54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36,5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2CC7E"/>
                    </a:solidFill>
                  </a:tcPr>
                </a:tc>
                <a:tc>
                  <a:txBody>
                    <a:bodyPr/>
                    <a:lstStyle/>
                    <a:p>
                      <a:pPr algn="r" fontAlgn="b">
                        <a:buNone/>
                      </a:pPr>
                      <a:r>
                        <a:rPr lang="fr-FR" sz="1000" b="0" i="0" u="none" strike="noStrike">
                          <a:solidFill>
                            <a:srgbClr val="000000"/>
                          </a:solidFill>
                          <a:effectLst/>
                          <a:latin typeface="Aptos Narrow" panose="020B0004020202020204" pitchFamily="34" charset="0"/>
                        </a:rPr>
                        <a:t>31,3</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0D580"/>
                    </a:solidFill>
                  </a:tcPr>
                </a:tc>
                <a:tc>
                  <a:txBody>
                    <a:bodyPr/>
                    <a:lstStyle/>
                    <a:p>
                      <a:pPr algn="r" fontAlgn="b">
                        <a:buNone/>
                      </a:pPr>
                      <a:r>
                        <a:rPr lang="fr-FR" sz="1000" b="0" i="0" u="none" strike="noStrike">
                          <a:solidFill>
                            <a:srgbClr val="00B050"/>
                          </a:solidFill>
                          <a:effectLst/>
                          <a:latin typeface="Aptos Narrow" panose="020B0004020202020204" pitchFamily="34" charset="0"/>
                        </a:rPr>
                        <a:t>5,2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27500315"/>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Family with Children 0-2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35,4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8CE7F"/>
                    </a:solidFill>
                  </a:tcPr>
                </a:tc>
                <a:tc>
                  <a:txBody>
                    <a:bodyPr/>
                    <a:lstStyle/>
                    <a:p>
                      <a:pPr algn="r" fontAlgn="b">
                        <a:buNone/>
                      </a:pPr>
                      <a:r>
                        <a:rPr lang="fr-FR" sz="1000" b="0" i="0" u="none" strike="noStrike">
                          <a:solidFill>
                            <a:srgbClr val="000000"/>
                          </a:solidFill>
                          <a:effectLst/>
                          <a:latin typeface="Aptos Narrow" panose="020B0004020202020204" pitchFamily="34" charset="0"/>
                        </a:rPr>
                        <a:t>30,2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6D680"/>
                    </a:solidFill>
                  </a:tcPr>
                </a:tc>
                <a:tc>
                  <a:txBody>
                    <a:bodyPr/>
                    <a:lstStyle/>
                    <a:p>
                      <a:pPr algn="r" fontAlgn="b">
                        <a:buNone/>
                      </a:pPr>
                      <a:r>
                        <a:rPr lang="fr-FR" sz="1000" b="0" i="0" u="none" strike="noStrike">
                          <a:solidFill>
                            <a:srgbClr val="00B050"/>
                          </a:solidFill>
                          <a:effectLst/>
                          <a:latin typeface="Aptos Narrow" panose="020B0004020202020204" pitchFamily="34" charset="0"/>
                        </a:rPr>
                        <a:t>5,2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72288180"/>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Family with Children 12-17</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28,3</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1D981"/>
                    </a:solidFill>
                  </a:tcPr>
                </a:tc>
                <a:tc>
                  <a:txBody>
                    <a:bodyPr/>
                    <a:lstStyle/>
                    <a:p>
                      <a:pPr algn="r" fontAlgn="b">
                        <a:buNone/>
                      </a:pPr>
                      <a:r>
                        <a:rPr lang="fr-FR" sz="1000" b="0" i="0" u="none" strike="noStrike">
                          <a:solidFill>
                            <a:srgbClr val="000000"/>
                          </a:solidFill>
                          <a:effectLst/>
                          <a:latin typeface="Aptos Narrow" panose="020B0004020202020204" pitchFamily="34" charset="0"/>
                        </a:rPr>
                        <a:t>26,7</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ADC81"/>
                    </a:solidFill>
                  </a:tcPr>
                </a:tc>
                <a:tc>
                  <a:txBody>
                    <a:bodyPr/>
                    <a:lstStyle/>
                    <a:p>
                      <a:pPr algn="r" fontAlgn="b">
                        <a:buNone/>
                      </a:pPr>
                      <a:r>
                        <a:rPr lang="fr-FR" sz="1000" b="0" i="0" u="none" strike="noStrike">
                          <a:solidFill>
                            <a:srgbClr val="00B050"/>
                          </a:solidFill>
                          <a:effectLst/>
                          <a:latin typeface="Aptos Narrow" panose="020B0004020202020204" pitchFamily="34" charset="0"/>
                        </a:rPr>
                        <a:t>1,7</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33899491"/>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Family with Children 3-4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33,9</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1D07F"/>
                    </a:solidFill>
                  </a:tcPr>
                </a:tc>
                <a:tc>
                  <a:txBody>
                    <a:bodyPr/>
                    <a:lstStyle/>
                    <a:p>
                      <a:pPr algn="r" fontAlgn="b">
                        <a:buNone/>
                      </a:pPr>
                      <a:r>
                        <a:rPr lang="fr-FR" sz="1000" b="0" i="0" u="none" strike="noStrike">
                          <a:solidFill>
                            <a:srgbClr val="000000"/>
                          </a:solidFill>
                          <a:effectLst/>
                          <a:latin typeface="Aptos Narrow" panose="020B0004020202020204" pitchFamily="34" charset="0"/>
                        </a:rPr>
                        <a:t>29,2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CD881"/>
                    </a:solidFill>
                  </a:tcPr>
                </a:tc>
                <a:tc>
                  <a:txBody>
                    <a:bodyPr/>
                    <a:lstStyle/>
                    <a:p>
                      <a:pPr algn="r" fontAlgn="b">
                        <a:buNone/>
                      </a:pPr>
                      <a:r>
                        <a:rPr lang="fr-FR" sz="1000" b="0" i="0" u="none" strike="noStrike">
                          <a:solidFill>
                            <a:srgbClr val="00B050"/>
                          </a:solidFill>
                          <a:effectLst/>
                          <a:latin typeface="Aptos Narrow" panose="020B0004020202020204" pitchFamily="34" charset="0"/>
                        </a:rPr>
                        <a:t>4,7</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30755566"/>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Family with Children 5-11</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35,5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7CD7E"/>
                    </a:solidFill>
                  </a:tcPr>
                </a:tc>
                <a:tc>
                  <a:txBody>
                    <a:bodyPr/>
                    <a:lstStyle/>
                    <a:p>
                      <a:pPr algn="r" fontAlgn="b">
                        <a:buNone/>
                      </a:pPr>
                      <a:r>
                        <a:rPr lang="fr-FR" sz="1000" b="0" i="0" u="none" strike="noStrike">
                          <a:solidFill>
                            <a:srgbClr val="000000"/>
                          </a:solidFill>
                          <a:effectLst/>
                          <a:latin typeface="Aptos Narrow" panose="020B0004020202020204" pitchFamily="34" charset="0"/>
                        </a:rPr>
                        <a:t>32,3</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AD380"/>
                    </a:solidFill>
                  </a:tcPr>
                </a:tc>
                <a:tc>
                  <a:txBody>
                    <a:bodyPr/>
                    <a:lstStyle/>
                    <a:p>
                      <a:pPr algn="r" fontAlgn="b">
                        <a:buNone/>
                      </a:pPr>
                      <a:r>
                        <a:rPr lang="fr-FR" sz="1000" b="0" i="0" u="none" strike="noStrike">
                          <a:solidFill>
                            <a:srgbClr val="00B050"/>
                          </a:solidFill>
                          <a:effectLst/>
                          <a:latin typeface="Aptos Narrow" panose="020B0004020202020204" pitchFamily="34" charset="0"/>
                        </a:rPr>
                        <a:t>3,2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69829676"/>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Seniors active 55-74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42,2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2C37C"/>
                    </a:solidFill>
                  </a:tcPr>
                </a:tc>
                <a:tc>
                  <a:txBody>
                    <a:bodyPr/>
                    <a:lstStyle/>
                    <a:p>
                      <a:pPr algn="r" fontAlgn="b">
                        <a:buNone/>
                      </a:pPr>
                      <a:r>
                        <a:rPr lang="fr-FR" sz="1000" b="0" i="0" u="none" strike="noStrike">
                          <a:solidFill>
                            <a:srgbClr val="000000"/>
                          </a:solidFill>
                          <a:effectLst/>
                          <a:latin typeface="Aptos Narrow" panose="020B0004020202020204" pitchFamily="34" charset="0"/>
                        </a:rPr>
                        <a:t>43,1</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CC17C"/>
                    </a:solidFill>
                  </a:tcPr>
                </a:tc>
                <a:tc>
                  <a:txBody>
                    <a:bodyPr/>
                    <a:lstStyle/>
                    <a:p>
                      <a:pPr algn="r" fontAlgn="b">
                        <a:buNone/>
                      </a:pPr>
                      <a:r>
                        <a:rPr lang="fr-FR" sz="1000" b="0" i="0" u="none" strike="noStrike">
                          <a:solidFill>
                            <a:srgbClr val="FF0000"/>
                          </a:solidFill>
                          <a:effectLst/>
                          <a:latin typeface="Aptos Narrow" panose="020B0004020202020204" pitchFamily="34" charset="0"/>
                        </a:rPr>
                        <a:t>-1,0</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45711259"/>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Seniors&gt;75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44,7</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1000" b="0" i="0" u="none" strike="noStrike">
                          <a:solidFill>
                            <a:srgbClr val="000000"/>
                          </a:solidFill>
                          <a:effectLst/>
                          <a:latin typeface="Aptos Narrow" panose="020B0004020202020204" pitchFamily="34" charset="0"/>
                        </a:rPr>
                        <a:t>41,5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6C47D"/>
                    </a:solidFill>
                  </a:tcPr>
                </a:tc>
                <a:tc>
                  <a:txBody>
                    <a:bodyPr/>
                    <a:lstStyle/>
                    <a:p>
                      <a:pPr algn="r" fontAlgn="b">
                        <a:buNone/>
                      </a:pPr>
                      <a:r>
                        <a:rPr lang="fr-FR" sz="1000" b="0" i="0" u="none" strike="noStrike">
                          <a:solidFill>
                            <a:srgbClr val="00B050"/>
                          </a:solidFill>
                          <a:effectLst/>
                          <a:latin typeface="Aptos Narrow" panose="020B0004020202020204" pitchFamily="34" charset="0"/>
                        </a:rPr>
                        <a:t>3,2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66016168"/>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Young Adults 18-34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32,0</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CD380"/>
                    </a:solidFill>
                  </a:tcPr>
                </a:tc>
                <a:tc>
                  <a:txBody>
                    <a:bodyPr/>
                    <a:lstStyle/>
                    <a:p>
                      <a:pPr algn="r" fontAlgn="b">
                        <a:buNone/>
                      </a:pPr>
                      <a:r>
                        <a:rPr lang="fr-FR" sz="1000" b="0" i="0" u="none" strike="noStrike">
                          <a:solidFill>
                            <a:srgbClr val="000000"/>
                          </a:solidFill>
                          <a:effectLst/>
                          <a:latin typeface="Aptos Narrow" panose="020B0004020202020204" pitchFamily="34" charset="0"/>
                        </a:rPr>
                        <a:t>22,3</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3E383"/>
                    </a:solidFill>
                  </a:tcPr>
                </a:tc>
                <a:tc>
                  <a:txBody>
                    <a:bodyPr/>
                    <a:lstStyle/>
                    <a:p>
                      <a:pPr algn="r" fontAlgn="b">
                        <a:buNone/>
                      </a:pPr>
                      <a:r>
                        <a:rPr lang="fr-FR" sz="1000" b="0" i="0" u="none" strike="noStrike">
                          <a:solidFill>
                            <a:srgbClr val="00B050"/>
                          </a:solidFill>
                          <a:effectLst/>
                          <a:latin typeface="Aptos Narrow" panose="020B0004020202020204" pitchFamily="34" charset="0"/>
                        </a:rPr>
                        <a:t>9,8</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24929715"/>
                  </a:ext>
                </a:extLst>
              </a:tr>
              <a:tr h="163241">
                <a:tc>
                  <a:txBody>
                    <a:bodyPr/>
                    <a:lstStyle/>
                    <a:p>
                      <a:pPr algn="l" fontAlgn="b">
                        <a:buNone/>
                      </a:pPr>
                      <a:r>
                        <a:rPr lang="fr-FR" sz="1000" b="1" i="0" u="none" strike="noStrike">
                          <a:solidFill>
                            <a:srgbClr val="000000"/>
                          </a:solidFill>
                          <a:effectLst/>
                          <a:latin typeface="Aptos Narrow" panose="020B0004020202020204" pitchFamily="34" charset="0"/>
                        </a:rPr>
                        <a:t>Park Nordseeküste</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-0,5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A77"/>
                    </a:solidFill>
                  </a:tcPr>
                </a:tc>
                <a:tc>
                  <a:txBody>
                    <a:bodyPr/>
                    <a:lstStyle/>
                    <a:p>
                      <a:pPr algn="r" fontAlgn="b">
                        <a:buNone/>
                      </a:pPr>
                      <a:r>
                        <a:rPr lang="fr-FR" sz="1000" b="1" i="0" u="none" strike="noStrike">
                          <a:solidFill>
                            <a:srgbClr val="000000"/>
                          </a:solidFill>
                          <a:effectLst/>
                          <a:latin typeface="Aptos Narrow" panose="020B0004020202020204" pitchFamily="34" charset="0"/>
                        </a:rPr>
                        <a:t>0,5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D78"/>
                    </a:solidFill>
                  </a:tcPr>
                </a:tc>
                <a:tc>
                  <a:txBody>
                    <a:bodyPr/>
                    <a:lstStyle/>
                    <a:p>
                      <a:pPr algn="r" fontAlgn="b">
                        <a:buNone/>
                      </a:pPr>
                      <a:r>
                        <a:rPr lang="fr-FR" sz="1000" b="1" i="0" u="none" strike="noStrike">
                          <a:solidFill>
                            <a:srgbClr val="FF0000"/>
                          </a:solidFill>
                          <a:effectLst/>
                          <a:latin typeface="Aptos Narrow" panose="020B0004020202020204" pitchFamily="34" charset="0"/>
                        </a:rPr>
                        <a:t>-1,0</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6040894"/>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Adults 35-54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3,9</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A7A"/>
                    </a:solidFill>
                  </a:tcPr>
                </a:tc>
                <a:tc>
                  <a:txBody>
                    <a:bodyPr/>
                    <a:lstStyle/>
                    <a:p>
                      <a:pPr algn="r" fontAlgn="b">
                        <a:buNone/>
                      </a:pPr>
                      <a:r>
                        <a:rPr lang="fr-FR" sz="1000" b="0" i="0" u="none" strike="noStrike">
                          <a:solidFill>
                            <a:srgbClr val="000000"/>
                          </a:solidFill>
                          <a:effectLst/>
                          <a:latin typeface="Aptos Narrow" panose="020B0004020202020204" pitchFamily="34" charset="0"/>
                        </a:rPr>
                        <a:t>7,2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67C"/>
                    </a:solidFill>
                  </a:tcPr>
                </a:tc>
                <a:tc>
                  <a:txBody>
                    <a:bodyPr/>
                    <a:lstStyle/>
                    <a:p>
                      <a:pPr algn="r" fontAlgn="b">
                        <a:buNone/>
                      </a:pPr>
                      <a:r>
                        <a:rPr lang="fr-FR" sz="1000" b="0" i="0" u="none" strike="noStrike">
                          <a:solidFill>
                            <a:srgbClr val="FF0000"/>
                          </a:solidFill>
                          <a:effectLst/>
                          <a:latin typeface="Aptos Narrow" panose="020B0004020202020204" pitchFamily="34" charset="0"/>
                        </a:rPr>
                        <a:t>-3,3</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9760622"/>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Family with Children 0-2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-18,4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96B"/>
                    </a:solidFill>
                  </a:tcPr>
                </a:tc>
                <a:tc>
                  <a:txBody>
                    <a:bodyPr/>
                    <a:lstStyle/>
                    <a:p>
                      <a:pPr algn="r" fontAlgn="b">
                        <a:buNone/>
                      </a:pPr>
                      <a:r>
                        <a:rPr lang="fr-FR" sz="1000" b="0" i="0" u="none" strike="noStrike">
                          <a:solidFill>
                            <a:srgbClr val="000000"/>
                          </a:solidFill>
                          <a:effectLst/>
                          <a:latin typeface="Aptos Narrow" panose="020B0004020202020204" pitchFamily="34" charset="0"/>
                        </a:rPr>
                        <a:t>-10,8</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470"/>
                    </a:solidFill>
                  </a:tcPr>
                </a:tc>
                <a:tc>
                  <a:txBody>
                    <a:bodyPr/>
                    <a:lstStyle/>
                    <a:p>
                      <a:pPr algn="r" fontAlgn="b">
                        <a:buNone/>
                      </a:pPr>
                      <a:r>
                        <a:rPr lang="fr-FR" sz="1000" b="0" i="0" u="none" strike="noStrike">
                          <a:solidFill>
                            <a:srgbClr val="FF0000"/>
                          </a:solidFill>
                          <a:effectLst/>
                          <a:latin typeface="Aptos Narrow" panose="020B0004020202020204" pitchFamily="34" charset="0"/>
                        </a:rPr>
                        <a:t>-7,6</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9991606"/>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Family with Children 12-17</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A075"/>
                    </a:solidFill>
                  </a:tcPr>
                </a:tc>
                <a:tc>
                  <a:txBody>
                    <a:bodyPr/>
                    <a:lstStyle/>
                    <a:p>
                      <a:pPr algn="r" fontAlgn="b">
                        <a:buNone/>
                      </a:pPr>
                      <a:r>
                        <a:rPr lang="fr-FR" sz="1000" b="0" i="0" u="none" strike="noStrike">
                          <a:solidFill>
                            <a:srgbClr val="000000"/>
                          </a:solidFill>
                          <a:effectLst/>
                          <a:latin typeface="Aptos Narrow" panose="020B0004020202020204" pitchFamily="34" charset="0"/>
                        </a:rPr>
                        <a:t>-3,2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A075"/>
                    </a:solidFill>
                  </a:tcPr>
                </a:tc>
                <a:tc>
                  <a:txBody>
                    <a:bodyPr/>
                    <a:lstStyle/>
                    <a:p>
                      <a:pPr algn="r" fontAlgn="b">
                        <a:buNone/>
                      </a:pPr>
                      <a:r>
                        <a:rPr lang="fr-FR" sz="1000" b="0" i="0" u="none" strike="noStrike">
                          <a:solidFill>
                            <a:srgbClr val="00B050"/>
                          </a:solidFill>
                          <a:effectLst/>
                          <a:latin typeface="Aptos Narrow" panose="020B0004020202020204" pitchFamily="34" charset="0"/>
                        </a:rPr>
                        <a:t>0,1</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26994894"/>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Family with Children 3-4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1,7</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B279"/>
                    </a:solidFill>
                  </a:tcPr>
                </a:tc>
                <a:tc>
                  <a:txBody>
                    <a:bodyPr/>
                    <a:lstStyle/>
                    <a:p>
                      <a:pPr algn="r" fontAlgn="b">
                        <a:buNone/>
                      </a:pPr>
                      <a:r>
                        <a:rPr lang="fr-FR" sz="1000" b="0" i="0" u="none" strike="noStrike">
                          <a:solidFill>
                            <a:srgbClr val="000000"/>
                          </a:solidFill>
                          <a:effectLst/>
                          <a:latin typeface="Aptos Narrow" panose="020B0004020202020204" pitchFamily="34" charset="0"/>
                        </a:rPr>
                        <a:t>-5,4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874"/>
                    </a:solidFill>
                  </a:tcPr>
                </a:tc>
                <a:tc>
                  <a:txBody>
                    <a:bodyPr/>
                    <a:lstStyle/>
                    <a:p>
                      <a:pPr algn="r" fontAlgn="b">
                        <a:buNone/>
                      </a:pPr>
                      <a:r>
                        <a:rPr lang="fr-FR" sz="1000" b="0" i="0" u="none" strike="noStrike">
                          <a:solidFill>
                            <a:srgbClr val="00B050"/>
                          </a:solidFill>
                          <a:effectLst/>
                          <a:latin typeface="Aptos Narrow" panose="020B0004020202020204" pitchFamily="34" charset="0"/>
                        </a:rPr>
                        <a:t>7,1</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13606447"/>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Family with Children 5-11</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-3,8</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E75"/>
                    </a:solidFill>
                  </a:tcPr>
                </a:tc>
                <a:tc>
                  <a:txBody>
                    <a:bodyPr/>
                    <a:lstStyle/>
                    <a:p>
                      <a:pPr algn="r" fontAlgn="b">
                        <a:buNone/>
                      </a:pPr>
                      <a:r>
                        <a:rPr lang="fr-FR" sz="1000" b="0" i="0" u="none" strike="noStrike">
                          <a:solidFill>
                            <a:srgbClr val="000000"/>
                          </a:solidFill>
                          <a:effectLst/>
                          <a:latin typeface="Aptos Narrow" panose="020B0004020202020204" pitchFamily="34" charset="0"/>
                        </a:rPr>
                        <a:t>-2,2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476"/>
                    </a:solidFill>
                  </a:tcPr>
                </a:tc>
                <a:tc>
                  <a:txBody>
                    <a:bodyPr/>
                    <a:lstStyle/>
                    <a:p>
                      <a:pPr algn="r" fontAlgn="b">
                        <a:buNone/>
                      </a:pPr>
                      <a:r>
                        <a:rPr lang="fr-FR" sz="1000" b="0" i="0" u="none" strike="noStrike">
                          <a:solidFill>
                            <a:srgbClr val="FF0000"/>
                          </a:solidFill>
                          <a:effectLst/>
                          <a:latin typeface="Aptos Narrow" panose="020B0004020202020204" pitchFamily="34" charset="0"/>
                        </a:rPr>
                        <a:t>-1,6</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6255081"/>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Seniors active 55-74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12,7</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A80"/>
                    </a:solidFill>
                  </a:tcPr>
                </a:tc>
                <a:tc>
                  <a:txBody>
                    <a:bodyPr/>
                    <a:lstStyle/>
                    <a:p>
                      <a:pPr algn="r" fontAlgn="b">
                        <a:buNone/>
                      </a:pPr>
                      <a:r>
                        <a:rPr lang="fr-FR" sz="1000" b="0" i="0" u="none" strike="noStrike">
                          <a:solidFill>
                            <a:srgbClr val="000000"/>
                          </a:solidFill>
                          <a:effectLst/>
                          <a:latin typeface="Aptos Narrow" panose="020B0004020202020204" pitchFamily="34" charset="0"/>
                        </a:rPr>
                        <a:t>17,0</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983"/>
                    </a:solidFill>
                  </a:tcPr>
                </a:tc>
                <a:tc>
                  <a:txBody>
                    <a:bodyPr/>
                    <a:lstStyle/>
                    <a:p>
                      <a:pPr algn="r" fontAlgn="b">
                        <a:buNone/>
                      </a:pPr>
                      <a:r>
                        <a:rPr lang="fr-FR" sz="1000" b="0" i="0" u="none" strike="noStrike">
                          <a:solidFill>
                            <a:srgbClr val="FF0000"/>
                          </a:solidFill>
                          <a:effectLst/>
                          <a:latin typeface="Aptos Narrow" panose="020B0004020202020204" pitchFamily="34" charset="0"/>
                        </a:rPr>
                        <a:t>-4,3</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76932524"/>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Seniors&gt;75</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4,8</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D7B"/>
                    </a:solidFill>
                  </a:tcPr>
                </a:tc>
                <a:tc>
                  <a:txBody>
                    <a:bodyPr/>
                    <a:lstStyle/>
                    <a:p>
                      <a:pPr algn="r" fontAlgn="b">
                        <a:buNone/>
                      </a:pPr>
                      <a:r>
                        <a:rPr lang="fr-FR" sz="1000" b="0" i="0" u="none" strike="noStrike">
                          <a:solidFill>
                            <a:srgbClr val="000000"/>
                          </a:solidFill>
                          <a:effectLst/>
                          <a:latin typeface="Aptos Narrow" panose="020B0004020202020204" pitchFamily="34" charset="0"/>
                        </a:rPr>
                        <a:t>13,9</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E81"/>
                    </a:solidFill>
                  </a:tcPr>
                </a:tc>
                <a:tc>
                  <a:txBody>
                    <a:bodyPr/>
                    <a:lstStyle/>
                    <a:p>
                      <a:pPr algn="r" fontAlgn="b">
                        <a:buNone/>
                      </a:pPr>
                      <a:r>
                        <a:rPr lang="fr-FR" sz="1000" b="0" i="0" u="none" strike="noStrike">
                          <a:solidFill>
                            <a:srgbClr val="FF0000"/>
                          </a:solidFill>
                          <a:effectLst/>
                          <a:latin typeface="Aptos Narrow" panose="020B0004020202020204" pitchFamily="34" charset="0"/>
                        </a:rPr>
                        <a:t>-9,2</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54901037"/>
                  </a:ext>
                </a:extLst>
              </a:tr>
              <a:tr h="163241">
                <a:tc>
                  <a:txBody>
                    <a:bodyPr/>
                    <a:lstStyle/>
                    <a:p>
                      <a:pPr algn="l" fontAlgn="b">
                        <a:buNone/>
                      </a:pPr>
                      <a:r>
                        <a:rPr lang="fr-FR" sz="1000" b="0" i="0" u="none" strike="noStrike">
                          <a:solidFill>
                            <a:srgbClr val="000000"/>
                          </a:solidFill>
                          <a:effectLst/>
                          <a:latin typeface="Aptos Narrow" panose="020B0004020202020204" pitchFamily="34" charset="0"/>
                        </a:rPr>
                        <a:t> Young Adults 18-34</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-9,0</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B71"/>
                    </a:solidFill>
                  </a:tcPr>
                </a:tc>
                <a:tc>
                  <a:txBody>
                    <a:bodyPr/>
                    <a:lstStyle/>
                    <a:p>
                      <a:pPr algn="r" fontAlgn="b">
                        <a:buNone/>
                      </a:pPr>
                      <a:r>
                        <a:rPr lang="fr-FR" sz="1000" b="0" i="0" u="none" strike="noStrike">
                          <a:solidFill>
                            <a:srgbClr val="000000"/>
                          </a:solidFill>
                          <a:effectLst/>
                          <a:latin typeface="Aptos Narrow" panose="020B0004020202020204" pitchFamily="34" charset="0"/>
                        </a:rPr>
                        <a:t>-15,3</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46D"/>
                    </a:solidFill>
                  </a:tcPr>
                </a:tc>
                <a:tc>
                  <a:txBody>
                    <a:bodyPr/>
                    <a:lstStyle/>
                    <a:p>
                      <a:pPr algn="r" fontAlgn="b">
                        <a:buNone/>
                      </a:pPr>
                      <a:r>
                        <a:rPr lang="fr-FR" sz="1000" b="0" i="0" u="none" strike="noStrike">
                          <a:solidFill>
                            <a:srgbClr val="00B050"/>
                          </a:solidFill>
                          <a:effectLst/>
                          <a:latin typeface="Aptos Narrow" panose="020B0004020202020204" pitchFamily="34" charset="0"/>
                        </a:rPr>
                        <a:t>6,3</a:t>
                      </a:r>
                    </a:p>
                  </a:txBody>
                  <a:tcPr marL="2679" marR="2679" marT="267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4189882"/>
                  </a:ext>
                </a:extLst>
              </a:tr>
            </a:tbl>
          </a:graphicData>
        </a:graphic>
      </p:graphicFrame>
      <p:graphicFrame>
        <p:nvGraphicFramePr>
          <p:cNvPr id="11" name="Table 10">
            <a:extLst>
              <a:ext uri="{FF2B5EF4-FFF2-40B4-BE49-F238E27FC236}">
                <a16:creationId xmlns:a16="http://schemas.microsoft.com/office/drawing/2014/main" id="{8C6F0349-BB78-9111-BC0B-5945985B9E19}"/>
              </a:ext>
            </a:extLst>
          </p:cNvPr>
          <p:cNvGraphicFramePr>
            <a:graphicFrameLocks noGrp="1"/>
          </p:cNvGraphicFramePr>
          <p:nvPr>
            <p:extLst>
              <p:ext uri="{D42A27DB-BD31-4B8C-83A1-F6EECF244321}">
                <p14:modId xmlns:p14="http://schemas.microsoft.com/office/powerpoint/2010/main" val="2959121036"/>
              </p:ext>
            </p:extLst>
          </p:nvPr>
        </p:nvGraphicFramePr>
        <p:xfrm>
          <a:off x="7283449" y="978100"/>
          <a:ext cx="4574922" cy="1841500"/>
        </p:xfrm>
        <a:graphic>
          <a:graphicData uri="http://schemas.openxmlformats.org/drawingml/2006/table">
            <a:tbl>
              <a:tblPr/>
              <a:tblGrid>
                <a:gridCol w="1969668">
                  <a:extLst>
                    <a:ext uri="{9D8B030D-6E8A-4147-A177-3AD203B41FA5}">
                      <a16:colId xmlns:a16="http://schemas.microsoft.com/office/drawing/2014/main" val="2177537785"/>
                    </a:ext>
                  </a:extLst>
                </a:gridCol>
                <a:gridCol w="868418">
                  <a:extLst>
                    <a:ext uri="{9D8B030D-6E8A-4147-A177-3AD203B41FA5}">
                      <a16:colId xmlns:a16="http://schemas.microsoft.com/office/drawing/2014/main" val="3265525788"/>
                    </a:ext>
                  </a:extLst>
                </a:gridCol>
                <a:gridCol w="868418">
                  <a:extLst>
                    <a:ext uri="{9D8B030D-6E8A-4147-A177-3AD203B41FA5}">
                      <a16:colId xmlns:a16="http://schemas.microsoft.com/office/drawing/2014/main" val="3031041412"/>
                    </a:ext>
                  </a:extLst>
                </a:gridCol>
                <a:gridCol w="868418">
                  <a:extLst>
                    <a:ext uri="{9D8B030D-6E8A-4147-A177-3AD203B41FA5}">
                      <a16:colId xmlns:a16="http://schemas.microsoft.com/office/drawing/2014/main" val="2911226758"/>
                    </a:ext>
                  </a:extLst>
                </a:gridCol>
              </a:tblGrid>
              <a:tr h="184150">
                <a:tc>
                  <a:txBody>
                    <a:bodyPr/>
                    <a:lstStyle/>
                    <a:p>
                      <a:pPr algn="l" fontAlgn="b">
                        <a:buNone/>
                      </a:pPr>
                      <a:endParaRPr lang="fr-FR" sz="1000" b="0"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Evol </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28830457"/>
                  </a:ext>
                </a:extLst>
              </a:tr>
              <a:tr h="184150">
                <a:tc>
                  <a:txBody>
                    <a:bodyPr/>
                    <a:lstStyle/>
                    <a:p>
                      <a:pPr algn="l" fontAlgn="b">
                        <a:buNone/>
                      </a:pPr>
                      <a:r>
                        <a:rPr lang="fr-FR" sz="1000" b="0" i="0" u="none" strike="noStrike">
                          <a:solidFill>
                            <a:srgbClr val="000000"/>
                          </a:solidFill>
                          <a:effectLst/>
                          <a:latin typeface="Aptos Narrow" panose="020B0004020202020204" pitchFamily="34" charset="0"/>
                        </a:rPr>
                        <a:t> Seniors active 55-74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29,4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1000" b="0" i="0" u="none" strike="noStrike">
                          <a:solidFill>
                            <a:srgbClr val="000000"/>
                          </a:solidFill>
                          <a:effectLst/>
                          <a:latin typeface="Aptos Narrow" panose="020B0004020202020204" pitchFamily="34" charset="0"/>
                        </a:rPr>
                        <a:t>26,2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BC680"/>
                    </a:solidFill>
                  </a:tcPr>
                </a:tc>
                <a:tc>
                  <a:txBody>
                    <a:bodyPr/>
                    <a:lstStyle/>
                    <a:p>
                      <a:pPr algn="r" fontAlgn="b">
                        <a:buNone/>
                      </a:pPr>
                      <a:r>
                        <a:rPr lang="fr-FR" sz="1000" b="1" i="0" u="none" strike="noStrike">
                          <a:solidFill>
                            <a:srgbClr val="00B050"/>
                          </a:solidFill>
                          <a:effectLst/>
                          <a:latin typeface="Aptos Narrow" panose="020B0004020202020204" pitchFamily="34" charset="0"/>
                        </a:rPr>
                        <a:t>3,2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62824243"/>
                  </a:ext>
                </a:extLst>
              </a:tr>
              <a:tr h="184150">
                <a:tc>
                  <a:txBody>
                    <a:bodyPr/>
                    <a:lstStyle/>
                    <a:p>
                      <a:pPr algn="l" fontAlgn="b">
                        <a:buNone/>
                      </a:pPr>
                      <a:r>
                        <a:rPr lang="fr-FR" sz="1000" b="0" i="0" u="none" strike="noStrike">
                          <a:solidFill>
                            <a:srgbClr val="000000"/>
                          </a:solidFill>
                          <a:effectLst/>
                          <a:latin typeface="Aptos Narrow" panose="020B0004020202020204" pitchFamily="34" charset="0"/>
                        </a:rPr>
                        <a:t> Seniors&gt;75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6BF7C"/>
                    </a:solidFill>
                  </a:tcPr>
                </a:tc>
                <a:tc>
                  <a:txBody>
                    <a:bodyPr/>
                    <a:lstStyle/>
                    <a:p>
                      <a:pPr algn="r" fontAlgn="b">
                        <a:buNone/>
                      </a:pPr>
                      <a:r>
                        <a:rPr lang="fr-FR" sz="1000" b="0" i="0" u="none" strike="noStrike">
                          <a:solidFill>
                            <a:srgbClr val="000000"/>
                          </a:solidFill>
                          <a:effectLst/>
                          <a:latin typeface="Aptos Narrow" panose="020B0004020202020204" pitchFamily="34" charset="0"/>
                        </a:rPr>
                        <a:t>22,5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6CE86"/>
                    </a:solidFill>
                  </a:tcPr>
                </a:tc>
                <a:tc>
                  <a:txBody>
                    <a:bodyPr/>
                    <a:lstStyle/>
                    <a:p>
                      <a:pPr algn="r" fontAlgn="b">
                        <a:buNone/>
                      </a:pPr>
                      <a:r>
                        <a:rPr lang="fr-FR" sz="1000" b="1" i="0" u="none" strike="noStrike">
                          <a:solidFill>
                            <a:srgbClr val="00B050"/>
                          </a:solidFill>
                          <a:effectLst/>
                          <a:latin typeface="Aptos Narrow" panose="020B0004020202020204" pitchFamily="34" charset="0"/>
                        </a:rPr>
                        <a:t>6,5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37894935"/>
                  </a:ext>
                </a:extLst>
              </a:tr>
              <a:tr h="184150">
                <a:tc>
                  <a:txBody>
                    <a:bodyPr/>
                    <a:lstStyle/>
                    <a:p>
                      <a:pPr algn="l" fontAlgn="b">
                        <a:buNone/>
                      </a:pPr>
                      <a:r>
                        <a:rPr lang="fr-FR" sz="1000" b="0" i="0" u="none" strike="noStrike">
                          <a:solidFill>
                            <a:srgbClr val="000000"/>
                          </a:solidFill>
                          <a:effectLst/>
                          <a:latin typeface="Aptos Narrow" panose="020B0004020202020204" pitchFamily="34" charset="0"/>
                        </a:rPr>
                        <a:t> Family with Children 3-4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22,6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5CE86"/>
                    </a:solidFill>
                  </a:tcPr>
                </a:tc>
                <a:tc>
                  <a:txBody>
                    <a:bodyPr/>
                    <a:lstStyle/>
                    <a:p>
                      <a:pPr algn="r" fontAlgn="b">
                        <a:buNone/>
                      </a:pPr>
                      <a:r>
                        <a:rPr lang="fr-FR" sz="1000" b="0" i="0" u="none" strike="noStrike">
                          <a:solidFill>
                            <a:srgbClr val="000000"/>
                          </a:solidFill>
                          <a:effectLst/>
                          <a:latin typeface="Aptos Narrow" panose="020B0004020202020204" pitchFamily="34" charset="0"/>
                        </a:rPr>
                        <a:t>14,9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DE092"/>
                    </a:solidFill>
                  </a:tcPr>
                </a:tc>
                <a:tc>
                  <a:txBody>
                    <a:bodyPr/>
                    <a:lstStyle/>
                    <a:p>
                      <a:pPr algn="r" fontAlgn="b">
                        <a:buNone/>
                      </a:pPr>
                      <a:r>
                        <a:rPr lang="fr-FR" sz="1000" b="1" i="0" u="none" strike="noStrike">
                          <a:solidFill>
                            <a:srgbClr val="00B050"/>
                          </a:solidFill>
                          <a:effectLst/>
                          <a:latin typeface="Aptos Narrow" panose="020B0004020202020204" pitchFamily="34" charset="0"/>
                        </a:rPr>
                        <a:t>7,7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62903571"/>
                  </a:ext>
                </a:extLst>
              </a:tr>
              <a:tr h="184150">
                <a:tc>
                  <a:txBody>
                    <a:bodyPr/>
                    <a:lstStyle/>
                    <a:p>
                      <a:pPr algn="l" fontAlgn="b">
                        <a:buNone/>
                      </a:pPr>
                      <a:r>
                        <a:rPr lang="fr-FR" sz="1000" b="1" i="0" u="none" strike="noStrike">
                          <a:solidFill>
                            <a:srgbClr val="000000"/>
                          </a:solidFill>
                          <a:effectLst/>
                          <a:latin typeface="Aptos Narrow" panose="020B0004020202020204" pitchFamily="34" charset="0"/>
                        </a:rPr>
                        <a:t>Total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20,8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2D289"/>
                    </a:solidFill>
                  </a:tcPr>
                </a:tc>
                <a:tc>
                  <a:txBody>
                    <a:bodyPr/>
                    <a:lstStyle/>
                    <a:p>
                      <a:pPr algn="r" fontAlgn="b">
                        <a:buNone/>
                      </a:pPr>
                      <a:r>
                        <a:rPr lang="fr-FR" sz="1000" b="1" i="0" u="none" strike="noStrike">
                          <a:solidFill>
                            <a:srgbClr val="000000"/>
                          </a:solidFill>
                          <a:effectLst/>
                          <a:latin typeface="Aptos Narrow" panose="020B0004020202020204" pitchFamily="34" charset="0"/>
                        </a:rPr>
                        <a:t>15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CDF92"/>
                    </a:solidFill>
                  </a:tcPr>
                </a:tc>
                <a:tc>
                  <a:txBody>
                    <a:bodyPr/>
                    <a:lstStyle/>
                    <a:p>
                      <a:pPr algn="r" fontAlgn="b">
                        <a:buNone/>
                      </a:pPr>
                      <a:r>
                        <a:rPr lang="fr-FR" sz="1000" b="1" i="0" u="none" strike="noStrike">
                          <a:solidFill>
                            <a:srgbClr val="00B050"/>
                          </a:solidFill>
                          <a:effectLst/>
                          <a:latin typeface="Aptos Narrow" panose="020B0004020202020204" pitchFamily="34" charset="0"/>
                        </a:rPr>
                        <a:t>5,8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27916109"/>
                  </a:ext>
                </a:extLst>
              </a:tr>
              <a:tr h="184150">
                <a:tc>
                  <a:txBody>
                    <a:bodyPr/>
                    <a:lstStyle/>
                    <a:p>
                      <a:pPr algn="l" fontAlgn="b">
                        <a:buNone/>
                      </a:pPr>
                      <a:r>
                        <a:rPr lang="fr-FR" sz="1000" b="0" i="0" u="none" strike="noStrike">
                          <a:solidFill>
                            <a:srgbClr val="000000"/>
                          </a:solidFill>
                          <a:effectLst/>
                          <a:latin typeface="Aptos Narrow" panose="020B0004020202020204" pitchFamily="34" charset="0"/>
                        </a:rPr>
                        <a:t> Adults 35-54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19,9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8D48A"/>
                    </a:solidFill>
                  </a:tcPr>
                </a:tc>
                <a:tc>
                  <a:txBody>
                    <a:bodyPr/>
                    <a:lstStyle/>
                    <a:p>
                      <a:pPr algn="r" fontAlgn="b">
                        <a:buNone/>
                      </a:pPr>
                      <a:r>
                        <a:rPr lang="fr-FR" sz="1000" b="0" i="0" u="none" strike="noStrike">
                          <a:solidFill>
                            <a:srgbClr val="000000"/>
                          </a:solidFill>
                          <a:effectLst/>
                          <a:latin typeface="Aptos Narrow" panose="020B0004020202020204" pitchFamily="34" charset="0"/>
                        </a:rPr>
                        <a:t>15,6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8DE91"/>
                    </a:solidFill>
                  </a:tcPr>
                </a:tc>
                <a:tc>
                  <a:txBody>
                    <a:bodyPr/>
                    <a:lstStyle/>
                    <a:p>
                      <a:pPr algn="r" fontAlgn="b">
                        <a:buNone/>
                      </a:pPr>
                      <a:r>
                        <a:rPr lang="fr-FR" sz="1000" b="1" i="0" u="none" strike="noStrike">
                          <a:solidFill>
                            <a:srgbClr val="00B050"/>
                          </a:solidFill>
                          <a:effectLst/>
                          <a:latin typeface="Aptos Narrow" panose="020B0004020202020204" pitchFamily="34" charset="0"/>
                        </a:rPr>
                        <a:t>4,3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58500983"/>
                  </a:ext>
                </a:extLst>
              </a:tr>
              <a:tr h="184150">
                <a:tc>
                  <a:txBody>
                    <a:bodyPr/>
                    <a:lstStyle/>
                    <a:p>
                      <a:pPr algn="l" fontAlgn="b">
                        <a:buNone/>
                      </a:pPr>
                      <a:r>
                        <a:rPr lang="fr-FR" sz="1000" b="0" i="0" u="none" strike="noStrike">
                          <a:solidFill>
                            <a:srgbClr val="000000"/>
                          </a:solidFill>
                          <a:effectLst/>
                          <a:latin typeface="Aptos Narrow" panose="020B0004020202020204" pitchFamily="34" charset="0"/>
                        </a:rPr>
                        <a:t> Family with Children 5-11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19,9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8D48A"/>
                    </a:solidFill>
                  </a:tcPr>
                </a:tc>
                <a:tc>
                  <a:txBody>
                    <a:bodyPr/>
                    <a:lstStyle/>
                    <a:p>
                      <a:pPr algn="r" fontAlgn="b">
                        <a:buNone/>
                      </a:pPr>
                      <a:r>
                        <a:rPr lang="fr-FR" sz="1000" b="0" i="0" u="none" strike="noStrike">
                          <a:solidFill>
                            <a:srgbClr val="000000"/>
                          </a:solidFill>
                          <a:effectLst/>
                          <a:latin typeface="Aptos Narrow" panose="020B0004020202020204" pitchFamily="34" charset="0"/>
                        </a:rPr>
                        <a:t>14,2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2E193"/>
                    </a:solidFill>
                  </a:tcPr>
                </a:tc>
                <a:tc>
                  <a:txBody>
                    <a:bodyPr/>
                    <a:lstStyle/>
                    <a:p>
                      <a:pPr algn="r" fontAlgn="b">
                        <a:buNone/>
                      </a:pPr>
                      <a:r>
                        <a:rPr lang="fr-FR" sz="1000" b="1" i="0" u="none" strike="noStrike">
                          <a:solidFill>
                            <a:srgbClr val="00B050"/>
                          </a:solidFill>
                          <a:effectLst/>
                          <a:latin typeface="Aptos Narrow" panose="020B0004020202020204" pitchFamily="34" charset="0"/>
                        </a:rPr>
                        <a:t>5,7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44648824"/>
                  </a:ext>
                </a:extLst>
              </a:tr>
              <a:tr h="184150">
                <a:tc>
                  <a:txBody>
                    <a:bodyPr/>
                    <a:lstStyle/>
                    <a:p>
                      <a:pPr algn="l" fontAlgn="b">
                        <a:buNone/>
                      </a:pPr>
                      <a:r>
                        <a:rPr lang="fr-FR" sz="1000" b="0" i="0" u="none" strike="noStrike">
                          <a:solidFill>
                            <a:srgbClr val="000000"/>
                          </a:solidFill>
                          <a:effectLst/>
                          <a:latin typeface="Aptos Narrow" panose="020B0004020202020204" pitchFamily="34" charset="0"/>
                        </a:rPr>
                        <a:t> Family with Children 12-17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DDB8F"/>
                    </a:solidFill>
                  </a:tcPr>
                </a:tc>
                <a:tc>
                  <a:txBody>
                    <a:bodyPr/>
                    <a:lstStyle/>
                    <a:p>
                      <a:pPr algn="r" fontAlgn="b">
                        <a:buNone/>
                      </a:pPr>
                      <a:r>
                        <a:rPr lang="fr-FR" sz="1000" b="0" i="0" u="none" strike="noStrike">
                          <a:solidFill>
                            <a:srgbClr val="000000"/>
                          </a:solidFill>
                          <a:effectLst/>
                          <a:latin typeface="Aptos Narrow" panose="020B0004020202020204" pitchFamily="34" charset="0"/>
                        </a:rPr>
                        <a:t>11,2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8E897"/>
                    </a:solidFill>
                  </a:tcPr>
                </a:tc>
                <a:tc>
                  <a:txBody>
                    <a:bodyPr/>
                    <a:lstStyle/>
                    <a:p>
                      <a:pPr algn="r" fontAlgn="b">
                        <a:buNone/>
                      </a:pPr>
                      <a:r>
                        <a:rPr lang="fr-FR" sz="1000" b="1" i="0" u="none" strike="noStrike">
                          <a:solidFill>
                            <a:srgbClr val="00B050"/>
                          </a:solidFill>
                          <a:effectLst/>
                          <a:latin typeface="Aptos Narrow" panose="020B0004020202020204" pitchFamily="34" charset="0"/>
                        </a:rPr>
                        <a:t>5,8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0490960"/>
                  </a:ext>
                </a:extLst>
              </a:tr>
              <a:tr h="184150">
                <a:tc>
                  <a:txBody>
                    <a:bodyPr/>
                    <a:lstStyle/>
                    <a:p>
                      <a:pPr algn="l" fontAlgn="b">
                        <a:buNone/>
                      </a:pPr>
                      <a:r>
                        <a:rPr lang="fr-FR" sz="1000" b="0" i="0" u="none" strike="noStrike">
                          <a:solidFill>
                            <a:srgbClr val="000000"/>
                          </a:solidFill>
                          <a:effectLst/>
                          <a:latin typeface="Aptos Narrow" panose="020B0004020202020204" pitchFamily="34" charset="0"/>
                        </a:rPr>
                        <a:t> Family with Children 0-2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16,5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1DC8F"/>
                    </a:solidFill>
                  </a:tcPr>
                </a:tc>
                <a:tc>
                  <a:txBody>
                    <a:bodyPr/>
                    <a:lstStyle/>
                    <a:p>
                      <a:pPr algn="r" fontAlgn="b">
                        <a:buNone/>
                      </a:pPr>
                      <a:r>
                        <a:rPr lang="fr-FR" sz="1000" b="0" i="0" u="none" strike="noStrike">
                          <a:solidFill>
                            <a:srgbClr val="000000"/>
                          </a:solidFill>
                          <a:effectLst/>
                          <a:latin typeface="Aptos Narrow" panose="020B0004020202020204" pitchFamily="34" charset="0"/>
                        </a:rPr>
                        <a:t>10,7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BE998"/>
                    </a:solidFill>
                  </a:tcPr>
                </a:tc>
                <a:tc>
                  <a:txBody>
                    <a:bodyPr/>
                    <a:lstStyle/>
                    <a:p>
                      <a:pPr algn="r" fontAlgn="b">
                        <a:buNone/>
                      </a:pPr>
                      <a:r>
                        <a:rPr lang="fr-FR" sz="1000" b="1" i="0" u="none" strike="noStrike">
                          <a:solidFill>
                            <a:srgbClr val="00B050"/>
                          </a:solidFill>
                          <a:effectLst/>
                          <a:latin typeface="Aptos Narrow" panose="020B0004020202020204" pitchFamily="34" charset="0"/>
                        </a:rPr>
                        <a:t>5,8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32974866"/>
                  </a:ext>
                </a:extLst>
              </a:tr>
              <a:tr h="184150">
                <a:tc>
                  <a:txBody>
                    <a:bodyPr/>
                    <a:lstStyle/>
                    <a:p>
                      <a:pPr algn="l" fontAlgn="b">
                        <a:buNone/>
                      </a:pPr>
                      <a:r>
                        <a:rPr lang="fr-FR" sz="1000" b="0" i="0" u="none" strike="noStrike">
                          <a:solidFill>
                            <a:srgbClr val="000000"/>
                          </a:solidFill>
                          <a:effectLst/>
                          <a:latin typeface="Aptos Narrow" panose="020B0004020202020204" pitchFamily="34" charset="0"/>
                        </a:rPr>
                        <a:t> Young Adults 18-34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14,9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DE092"/>
                    </a:solidFill>
                  </a:tcPr>
                </a:tc>
                <a:tc>
                  <a:txBody>
                    <a:bodyPr/>
                    <a:lstStyle/>
                    <a:p>
                      <a:pPr algn="r" fontAlgn="b">
                        <a:buNone/>
                      </a:pPr>
                      <a:r>
                        <a:rPr lang="fr-FR" sz="1000" b="0" i="0" u="none" strike="noStrike">
                          <a:solidFill>
                            <a:srgbClr val="000000"/>
                          </a:solidFill>
                          <a:effectLst/>
                          <a:latin typeface="Aptos Narrow" panose="020B0004020202020204" pitchFamily="34" charset="0"/>
                        </a:rPr>
                        <a:t>7,9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F9C"/>
                    </a:solidFill>
                  </a:tcPr>
                </a:tc>
                <a:tc>
                  <a:txBody>
                    <a:bodyPr/>
                    <a:lstStyle/>
                    <a:p>
                      <a:pPr algn="r" fontAlgn="b">
                        <a:buNone/>
                      </a:pPr>
                      <a:r>
                        <a:rPr lang="fr-FR" sz="1000" b="1" i="0" u="none" strike="noStrike">
                          <a:solidFill>
                            <a:srgbClr val="00B050"/>
                          </a:solidFill>
                          <a:effectLst/>
                          <a:latin typeface="Aptos Narrow" panose="020B0004020202020204" pitchFamily="34" charset="0"/>
                        </a:rPr>
                        <a:t>7,0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63714975"/>
                  </a:ext>
                </a:extLst>
              </a:tr>
            </a:tbl>
          </a:graphicData>
        </a:graphic>
      </p:graphicFrame>
    </p:spTree>
    <p:extLst>
      <p:ext uri="{BB962C8B-B14F-4D97-AF65-F5344CB8AC3E}">
        <p14:creationId xmlns:p14="http://schemas.microsoft.com/office/powerpoint/2010/main" val="23703547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AA96D-E6C6-F6CE-004E-CBD3B300E59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459D38-9B9B-73C8-53A0-05D694F6F5FC}"/>
              </a:ext>
            </a:extLst>
          </p:cNvPr>
          <p:cNvSpPr>
            <a:spLocks noGrp="1"/>
          </p:cNvSpPr>
          <p:nvPr>
            <p:ph type="sldNum" sz="quarter" idx="12"/>
          </p:nvPr>
        </p:nvSpPr>
        <p:spPr/>
        <p:txBody>
          <a:bodyPr/>
          <a:lstStyle/>
          <a:p>
            <a:fld id="{0D2E6A04-B99A-6C4D-8942-945F97C9E705}" type="slidenum">
              <a:rPr lang="en-US" smtClean="0"/>
              <a:pPr/>
              <a:t>47</a:t>
            </a:fld>
            <a:endParaRPr lang="en-US"/>
          </a:p>
        </p:txBody>
      </p:sp>
      <p:sp>
        <p:nvSpPr>
          <p:cNvPr id="3" name="Date Placeholder 2">
            <a:extLst>
              <a:ext uri="{FF2B5EF4-FFF2-40B4-BE49-F238E27FC236}">
                <a16:creationId xmlns:a16="http://schemas.microsoft.com/office/drawing/2014/main" id="{3EA5D371-3D92-5FB5-90BD-57F36FB06891}"/>
              </a:ext>
            </a:extLst>
          </p:cNvPr>
          <p:cNvSpPr>
            <a:spLocks noGrp="1"/>
          </p:cNvSpPr>
          <p:nvPr>
            <p:ph type="dt" sz="half" idx="10"/>
          </p:nvPr>
        </p:nvSpPr>
        <p:spPr/>
        <p:txBody>
          <a:bodyPr/>
          <a:lstStyle/>
          <a:p>
            <a:fld id="{05C20A28-4BAC-4477-9026-1E123DBFBC43}" type="datetime1">
              <a:rPr lang="fr-FR" smtClean="0"/>
              <a:t>27/11/2025</a:t>
            </a:fld>
            <a:endParaRPr lang="en-US"/>
          </a:p>
        </p:txBody>
      </p:sp>
      <p:sp>
        <p:nvSpPr>
          <p:cNvPr id="5" name="Title 4">
            <a:extLst>
              <a:ext uri="{FF2B5EF4-FFF2-40B4-BE49-F238E27FC236}">
                <a16:creationId xmlns:a16="http://schemas.microsoft.com/office/drawing/2014/main" id="{08F5DFDF-6B70-4E47-3D02-F5622B720ED2}"/>
              </a:ext>
            </a:extLst>
          </p:cNvPr>
          <p:cNvSpPr>
            <a:spLocks noGrp="1"/>
          </p:cNvSpPr>
          <p:nvPr>
            <p:ph type="title"/>
          </p:nvPr>
        </p:nvSpPr>
        <p:spPr/>
        <p:txBody>
          <a:bodyPr/>
          <a:lstStyle/>
          <a:p>
            <a:r>
              <a:rPr lang="fr-FR"/>
              <a:t>Germany – NPS per </a:t>
            </a:r>
            <a:r>
              <a:rPr lang="fr-FR" err="1"/>
              <a:t>customer</a:t>
            </a:r>
            <a:r>
              <a:rPr lang="fr-FR"/>
              <a:t> country</a:t>
            </a:r>
          </a:p>
        </p:txBody>
      </p:sp>
      <p:sp>
        <p:nvSpPr>
          <p:cNvPr id="6" name="Rechthoek 4">
            <a:extLst>
              <a:ext uri="{FF2B5EF4-FFF2-40B4-BE49-F238E27FC236}">
                <a16:creationId xmlns:a16="http://schemas.microsoft.com/office/drawing/2014/main" id="{58EF6D58-BC28-F1C9-56C0-FB524D98B9FE}"/>
              </a:ext>
            </a:extLst>
          </p:cNvPr>
          <p:cNvSpPr/>
          <p:nvPr/>
        </p:nvSpPr>
        <p:spPr>
          <a:xfrm>
            <a:off x="-1" y="978100"/>
            <a:ext cx="6934201" cy="1696720"/>
          </a:xfrm>
          <a:prstGeom prst="rect">
            <a:avLst/>
          </a:prstGeom>
          <a:solidFill>
            <a:schemeClr val="accent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1"/>
                </a:solidFill>
                <a:ea typeface="Calibri"/>
                <a:cs typeface="Calibri"/>
              </a:rPr>
              <a:t>GB, IL, FR, BE origin are the highest NPS.</a:t>
            </a:r>
          </a:p>
          <a:p>
            <a:pPr marL="720725" lvl="2" indent="-161925">
              <a:lnSpc>
                <a:spcPct val="120000"/>
              </a:lnSpc>
              <a:buFont typeface="Arial" panose="020B0604020202020204" pitchFamily="34" charset="0"/>
              <a:buChar char="•"/>
            </a:pPr>
            <a:r>
              <a:rPr lang="en-US" sz="1200" b="1">
                <a:solidFill>
                  <a:schemeClr val="tx1"/>
                </a:solidFill>
                <a:ea typeface="Calibri"/>
                <a:cs typeface="Calibri"/>
              </a:rPr>
              <a:t>AT, NL, CH and DK are the lowest NPS below average.</a:t>
            </a:r>
          </a:p>
          <a:p>
            <a:pPr marL="720725" lvl="2" indent="-161925">
              <a:lnSpc>
                <a:spcPct val="120000"/>
              </a:lnSpc>
              <a:buFont typeface="Arial" panose="020B0604020202020204" pitchFamily="34" charset="0"/>
              <a:buChar char="•"/>
            </a:pPr>
            <a:r>
              <a:rPr lang="en-US" sz="1200" b="1">
                <a:solidFill>
                  <a:schemeClr val="tx1"/>
                </a:solidFill>
                <a:ea typeface="Calibri"/>
                <a:cs typeface="Calibri"/>
              </a:rPr>
              <a:t>Increase of all origin except IL, AT and DK.</a:t>
            </a:r>
          </a:p>
          <a:p>
            <a:pPr marL="720725" lvl="2" indent="-161925">
              <a:lnSpc>
                <a:spcPct val="120000"/>
              </a:lnSpc>
              <a:buFont typeface="Arial" panose="020B0604020202020204" pitchFamily="34" charset="0"/>
              <a:buChar char="•"/>
            </a:pPr>
            <a:r>
              <a:rPr lang="en-US" sz="1200" b="1">
                <a:solidFill>
                  <a:schemeClr val="tx1"/>
                </a:solidFill>
                <a:ea typeface="Calibri"/>
                <a:cs typeface="Calibri"/>
              </a:rPr>
              <a:t>NPS Park </a:t>
            </a:r>
            <a:r>
              <a:rPr lang="en-US" sz="1200" b="1" err="1">
                <a:solidFill>
                  <a:schemeClr val="tx1"/>
                </a:solidFill>
                <a:ea typeface="Calibri"/>
                <a:cs typeface="Calibri"/>
              </a:rPr>
              <a:t>Allgaü</a:t>
            </a:r>
            <a:r>
              <a:rPr lang="en-US" sz="1200" b="1">
                <a:solidFill>
                  <a:schemeClr val="tx1"/>
                </a:solidFill>
                <a:ea typeface="Calibri"/>
                <a:cs typeface="Calibri"/>
              </a:rPr>
              <a:t> increased mainly on local origin, and BE / NL origin (most of the volumes) whereas it decreased on other origin like FR, BE, GB, AT.</a:t>
            </a:r>
            <a:endParaRPr lang="en-US" sz="1200">
              <a:solidFill>
                <a:schemeClr val="tx1"/>
              </a:solidFill>
              <a:ea typeface="Calibri"/>
              <a:cs typeface="Calibri"/>
            </a:endParaRPr>
          </a:p>
        </p:txBody>
      </p:sp>
      <p:sp>
        <p:nvSpPr>
          <p:cNvPr id="7" name="Rectangle 6">
            <a:extLst>
              <a:ext uri="{FF2B5EF4-FFF2-40B4-BE49-F238E27FC236}">
                <a16:creationId xmlns:a16="http://schemas.microsoft.com/office/drawing/2014/main" id="{41D3A7DF-6A58-3ECF-0699-EF7D8A413909}"/>
              </a:ext>
            </a:extLst>
          </p:cNvPr>
          <p:cNvSpPr/>
          <p:nvPr/>
        </p:nvSpPr>
        <p:spPr>
          <a:xfrm rot="16200000">
            <a:off x="-617105" y="1646060"/>
            <a:ext cx="1656000" cy="37547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2"/>
                </a:solidFill>
                <a:ea typeface="Calibri"/>
                <a:cs typeface="Calibri"/>
              </a:rPr>
              <a:t>Analysis</a:t>
            </a:r>
            <a:endParaRPr lang="en-US" sz="1100">
              <a:solidFill>
                <a:schemeClr val="accent2"/>
              </a:solidFill>
            </a:endParaRPr>
          </a:p>
        </p:txBody>
      </p:sp>
      <p:graphicFrame>
        <p:nvGraphicFramePr>
          <p:cNvPr id="8" name="Table 7">
            <a:extLst>
              <a:ext uri="{FF2B5EF4-FFF2-40B4-BE49-F238E27FC236}">
                <a16:creationId xmlns:a16="http://schemas.microsoft.com/office/drawing/2014/main" id="{3AB2A84A-CA46-B2A5-3CC0-252C187BBAFA}"/>
              </a:ext>
            </a:extLst>
          </p:cNvPr>
          <p:cNvGraphicFramePr>
            <a:graphicFrameLocks noGrp="1"/>
          </p:cNvGraphicFramePr>
          <p:nvPr>
            <p:extLst>
              <p:ext uri="{D42A27DB-BD31-4B8C-83A1-F6EECF244321}">
                <p14:modId xmlns:p14="http://schemas.microsoft.com/office/powerpoint/2010/main" val="1811236085"/>
              </p:ext>
            </p:extLst>
          </p:nvPr>
        </p:nvGraphicFramePr>
        <p:xfrm>
          <a:off x="1065385" y="3150699"/>
          <a:ext cx="2430290" cy="2953629"/>
        </p:xfrm>
        <a:graphic>
          <a:graphicData uri="http://schemas.openxmlformats.org/drawingml/2006/table">
            <a:tbl>
              <a:tblPr/>
              <a:tblGrid>
                <a:gridCol w="1223525">
                  <a:extLst>
                    <a:ext uri="{9D8B030D-6E8A-4147-A177-3AD203B41FA5}">
                      <a16:colId xmlns:a16="http://schemas.microsoft.com/office/drawing/2014/main" val="3589026791"/>
                    </a:ext>
                  </a:extLst>
                </a:gridCol>
                <a:gridCol w="402255">
                  <a:extLst>
                    <a:ext uri="{9D8B030D-6E8A-4147-A177-3AD203B41FA5}">
                      <a16:colId xmlns:a16="http://schemas.microsoft.com/office/drawing/2014/main" val="1384425893"/>
                    </a:ext>
                  </a:extLst>
                </a:gridCol>
                <a:gridCol w="402255">
                  <a:extLst>
                    <a:ext uri="{9D8B030D-6E8A-4147-A177-3AD203B41FA5}">
                      <a16:colId xmlns:a16="http://schemas.microsoft.com/office/drawing/2014/main" val="1107847802"/>
                    </a:ext>
                  </a:extLst>
                </a:gridCol>
                <a:gridCol w="402255">
                  <a:extLst>
                    <a:ext uri="{9D8B030D-6E8A-4147-A177-3AD203B41FA5}">
                      <a16:colId xmlns:a16="http://schemas.microsoft.com/office/drawing/2014/main" val="3660744688"/>
                    </a:ext>
                  </a:extLst>
                </a:gridCol>
              </a:tblGrid>
              <a:tr h="101194">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66344357"/>
                  </a:ext>
                </a:extLst>
              </a:tr>
              <a:tr h="101194">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20,7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3E884"/>
                    </a:solidFill>
                  </a:tcPr>
                </a:tc>
                <a:tc>
                  <a:txBody>
                    <a:bodyPr/>
                    <a:lstStyle/>
                    <a:p>
                      <a:pPr algn="r" fontAlgn="b">
                        <a:buNone/>
                      </a:pPr>
                      <a:r>
                        <a:rPr lang="fr-FR" sz="900" b="0" i="0" u="none" strike="noStrike">
                          <a:solidFill>
                            <a:srgbClr val="000000"/>
                          </a:solidFill>
                          <a:effectLst/>
                          <a:latin typeface="Aptos Narrow" panose="020B0004020202020204" pitchFamily="34" charset="0"/>
                        </a:rPr>
                        <a:t>14,7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182"/>
                    </a:solidFill>
                  </a:tcPr>
                </a:tc>
                <a:tc>
                  <a:txBody>
                    <a:bodyPr/>
                    <a:lstStyle/>
                    <a:p>
                      <a:pPr algn="r" fontAlgn="b">
                        <a:buNone/>
                      </a:pPr>
                      <a:r>
                        <a:rPr lang="fr-FR" sz="900" b="0" i="0" u="none" strike="noStrike">
                          <a:solidFill>
                            <a:srgbClr val="00B050"/>
                          </a:solidFill>
                          <a:effectLst/>
                          <a:latin typeface="Aptos Narrow" panose="020B0004020202020204" pitchFamily="34" charset="0"/>
                        </a:rPr>
                        <a:t>6,0</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14039434"/>
                  </a:ext>
                </a:extLst>
              </a:tr>
              <a:tr h="101194">
                <a:tc>
                  <a:txBody>
                    <a:bodyPr/>
                    <a:lstStyle/>
                    <a:p>
                      <a:pPr algn="l" fontAlgn="b">
                        <a:buNone/>
                      </a:pPr>
                      <a:r>
                        <a:rPr lang="fr-FR" sz="900" b="1" i="0" u="none" strike="noStrike">
                          <a:solidFill>
                            <a:srgbClr val="000000"/>
                          </a:solidFill>
                          <a:effectLst/>
                          <a:latin typeface="Aptos Narrow" panose="020B0004020202020204" pitchFamily="34" charset="0"/>
                        </a:rPr>
                        <a:t>Bispinger Heide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21,1</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1E784"/>
                    </a:solidFill>
                  </a:tcPr>
                </a:tc>
                <a:tc>
                  <a:txBody>
                    <a:bodyPr/>
                    <a:lstStyle/>
                    <a:p>
                      <a:pPr algn="r" fontAlgn="b">
                        <a:buNone/>
                      </a:pPr>
                      <a:r>
                        <a:rPr lang="fr-FR" sz="900" b="1" i="0" u="none" strike="noStrike">
                          <a:solidFill>
                            <a:srgbClr val="000000"/>
                          </a:solidFill>
                          <a:effectLst/>
                          <a:latin typeface="Aptos Narrow" panose="020B0004020202020204" pitchFamily="34" charset="0"/>
                        </a:rPr>
                        <a:t>11,0</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47F"/>
                    </a:solidFill>
                  </a:tcPr>
                </a:tc>
                <a:tc>
                  <a:txBody>
                    <a:bodyPr/>
                    <a:lstStyle/>
                    <a:p>
                      <a:pPr algn="r" fontAlgn="b">
                        <a:buNone/>
                      </a:pPr>
                      <a:r>
                        <a:rPr lang="fr-FR" sz="900" b="0" i="0" u="none" strike="noStrike">
                          <a:solidFill>
                            <a:srgbClr val="00B050"/>
                          </a:solidFill>
                          <a:effectLst/>
                          <a:latin typeface="Aptos Narrow" panose="020B0004020202020204" pitchFamily="34" charset="0"/>
                        </a:rPr>
                        <a:t>10,2</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58821261"/>
                  </a:ext>
                </a:extLst>
              </a:tr>
              <a:tr h="101194">
                <a:tc>
                  <a:txBody>
                    <a:bodyPr/>
                    <a:lstStyle/>
                    <a:p>
                      <a:pPr algn="l" fontAlgn="b">
                        <a:buNone/>
                      </a:pPr>
                      <a:r>
                        <a:rPr lang="fr-FR" sz="900" b="0" i="0" u="none" strike="noStrike">
                          <a:solidFill>
                            <a:srgbClr val="000000"/>
                          </a:solidFill>
                          <a:effectLst/>
                          <a:latin typeface="Aptos Narrow" panose="020B0004020202020204" pitchFamily="34" charset="0"/>
                        </a:rPr>
                        <a:t> BE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26,5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BE182"/>
                    </a:solidFill>
                  </a:tcPr>
                </a:tc>
                <a:tc>
                  <a:txBody>
                    <a:bodyPr/>
                    <a:lstStyle/>
                    <a:p>
                      <a:pPr algn="r" fontAlgn="b">
                        <a:buNone/>
                      </a:pPr>
                      <a:r>
                        <a:rPr lang="fr-FR" sz="900" b="0" i="0" u="none" strike="noStrike">
                          <a:solidFill>
                            <a:srgbClr val="000000"/>
                          </a:solidFill>
                          <a:effectLst/>
                          <a:latin typeface="Aptos Narrow" panose="020B0004020202020204" pitchFamily="34" charset="0"/>
                        </a:rPr>
                        <a:t>4,3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E7B"/>
                    </a:solidFill>
                  </a:tcPr>
                </a:tc>
                <a:tc>
                  <a:txBody>
                    <a:bodyPr/>
                    <a:lstStyle/>
                    <a:p>
                      <a:pPr algn="r" fontAlgn="b">
                        <a:buNone/>
                      </a:pPr>
                      <a:r>
                        <a:rPr lang="fr-FR" sz="900" b="0" i="0" u="none" strike="noStrike">
                          <a:solidFill>
                            <a:srgbClr val="00B050"/>
                          </a:solidFill>
                          <a:effectLst/>
                          <a:latin typeface="Aptos Narrow" panose="020B0004020202020204" pitchFamily="34" charset="0"/>
                        </a:rPr>
                        <a:t>22,3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44588722"/>
                  </a:ext>
                </a:extLst>
              </a:tr>
              <a:tr h="101194">
                <a:tc>
                  <a:txBody>
                    <a:bodyPr/>
                    <a:lstStyle/>
                    <a:p>
                      <a:pPr algn="l" fontAlgn="b">
                        <a:buNone/>
                      </a:pPr>
                      <a:r>
                        <a:rPr lang="fr-FR" sz="900" b="0" i="0" u="none" strike="noStrike">
                          <a:solidFill>
                            <a:srgbClr val="000000"/>
                          </a:solidFill>
                          <a:effectLst/>
                          <a:latin typeface="Aptos Narrow" panose="020B0004020202020204" pitchFamily="34" charset="0"/>
                        </a:rPr>
                        <a:t> DE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21,9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EE683"/>
                    </a:solidFill>
                  </a:tcPr>
                </a:tc>
                <a:tc>
                  <a:txBody>
                    <a:bodyPr/>
                    <a:lstStyle/>
                    <a:p>
                      <a:pPr algn="r" fontAlgn="b">
                        <a:buNone/>
                      </a:pPr>
                      <a:r>
                        <a:rPr lang="fr-FR" sz="900" b="0" i="0" u="none" strike="noStrike">
                          <a:solidFill>
                            <a:srgbClr val="000000"/>
                          </a:solidFill>
                          <a:effectLst/>
                          <a:latin typeface="Aptos Narrow" panose="020B0004020202020204" pitchFamily="34" charset="0"/>
                        </a:rPr>
                        <a:t>11,5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680"/>
                    </a:solidFill>
                  </a:tcPr>
                </a:tc>
                <a:tc>
                  <a:txBody>
                    <a:bodyPr/>
                    <a:lstStyle/>
                    <a:p>
                      <a:pPr algn="r" fontAlgn="b">
                        <a:buNone/>
                      </a:pPr>
                      <a:r>
                        <a:rPr lang="fr-FR" sz="900" b="0" i="0" u="none" strike="noStrike">
                          <a:solidFill>
                            <a:srgbClr val="00B050"/>
                          </a:solidFill>
                          <a:effectLst/>
                          <a:latin typeface="Aptos Narrow" panose="020B0004020202020204" pitchFamily="34" charset="0"/>
                        </a:rPr>
                        <a:t>10,4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20839710"/>
                  </a:ext>
                </a:extLst>
              </a:tr>
              <a:tr h="101194">
                <a:tc>
                  <a:txBody>
                    <a:bodyPr/>
                    <a:lstStyle/>
                    <a:p>
                      <a:pPr algn="l" fontAlgn="b">
                        <a:buNone/>
                      </a:pPr>
                      <a:r>
                        <a:rPr lang="fr-FR" sz="900" b="0" i="0" u="none" strike="noStrike">
                          <a:solidFill>
                            <a:srgbClr val="000000"/>
                          </a:solidFill>
                          <a:effectLst/>
                          <a:latin typeface="Aptos Narrow" panose="020B0004020202020204" pitchFamily="34" charset="0"/>
                        </a:rPr>
                        <a:t> DK</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6,6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67C"/>
                    </a:solidFill>
                  </a:tcPr>
                </a:tc>
                <a:tc>
                  <a:txBody>
                    <a:bodyPr/>
                    <a:lstStyle/>
                    <a:p>
                      <a:pPr algn="r" fontAlgn="b">
                        <a:buNone/>
                      </a:pPr>
                      <a:r>
                        <a:rPr lang="fr-FR" sz="900" b="0" i="0" u="none" strike="noStrike">
                          <a:solidFill>
                            <a:srgbClr val="000000"/>
                          </a:solidFill>
                          <a:effectLst/>
                          <a:latin typeface="Aptos Narrow" panose="020B0004020202020204" pitchFamily="34" charset="0"/>
                        </a:rPr>
                        <a:t>12,7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A80"/>
                    </a:solidFill>
                  </a:tcPr>
                </a:tc>
                <a:tc>
                  <a:txBody>
                    <a:bodyPr/>
                    <a:lstStyle/>
                    <a:p>
                      <a:pPr algn="r" fontAlgn="b">
                        <a:buNone/>
                      </a:pPr>
                      <a:r>
                        <a:rPr lang="fr-FR" sz="900" b="0" i="0" u="none" strike="noStrike">
                          <a:solidFill>
                            <a:srgbClr val="FF0000"/>
                          </a:solidFill>
                          <a:effectLst/>
                          <a:latin typeface="Aptos Narrow" panose="020B0004020202020204" pitchFamily="34" charset="0"/>
                        </a:rPr>
                        <a:t>-6,1</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82861562"/>
                  </a:ext>
                </a:extLst>
              </a:tr>
              <a:tr h="101194">
                <a:tc>
                  <a:txBody>
                    <a:bodyPr/>
                    <a:lstStyle/>
                    <a:p>
                      <a:pPr algn="l" fontAlgn="b">
                        <a:buNone/>
                      </a:pPr>
                      <a:r>
                        <a:rPr lang="fr-FR" sz="900" b="0" i="0" u="none" strike="noStrike">
                          <a:solidFill>
                            <a:srgbClr val="000000"/>
                          </a:solidFill>
                          <a:effectLst/>
                          <a:latin typeface="Aptos Narrow" panose="020B0004020202020204" pitchFamily="34" charset="0"/>
                        </a:rPr>
                        <a:t> NL</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D7B"/>
                    </a:solidFill>
                  </a:tcPr>
                </a:tc>
                <a:tc>
                  <a:txBody>
                    <a:bodyPr/>
                    <a:lstStyle/>
                    <a:p>
                      <a:pPr algn="r" fontAlgn="b">
                        <a:buNone/>
                      </a:pPr>
                      <a:r>
                        <a:rPr lang="fr-FR" sz="900" b="0" i="0" u="none" strike="noStrike">
                          <a:solidFill>
                            <a:srgbClr val="000000"/>
                          </a:solidFill>
                          <a:effectLst/>
                          <a:latin typeface="Aptos Narrow" panose="020B0004020202020204" pitchFamily="34" charset="0"/>
                        </a:rPr>
                        <a:t>-6,9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974"/>
                    </a:solidFill>
                  </a:tcPr>
                </a:tc>
                <a:tc>
                  <a:txBody>
                    <a:bodyPr/>
                    <a:lstStyle/>
                    <a:p>
                      <a:pPr algn="r" fontAlgn="b">
                        <a:buNone/>
                      </a:pPr>
                      <a:r>
                        <a:rPr lang="fr-FR" sz="900" b="0" i="0" u="none" strike="noStrike">
                          <a:solidFill>
                            <a:srgbClr val="00B050"/>
                          </a:solidFill>
                          <a:effectLst/>
                          <a:latin typeface="Aptos Narrow" panose="020B0004020202020204" pitchFamily="34" charset="0"/>
                        </a:rPr>
                        <a:t>10,8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36885780"/>
                  </a:ext>
                </a:extLst>
              </a:tr>
              <a:tr h="101194">
                <a:tc>
                  <a:txBody>
                    <a:bodyPr/>
                    <a:lstStyle/>
                    <a:p>
                      <a:pPr algn="l" fontAlgn="b">
                        <a:buNone/>
                      </a:pPr>
                      <a:r>
                        <a:rPr lang="fr-FR" sz="900" b="1" i="0" u="none" strike="noStrike">
                          <a:solidFill>
                            <a:srgbClr val="000000"/>
                          </a:solidFill>
                          <a:effectLst/>
                          <a:latin typeface="Aptos Narrow" panose="020B0004020202020204" pitchFamily="34" charset="0"/>
                        </a:rPr>
                        <a:t>Park Allgäu</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17,5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A83"/>
                    </a:solidFill>
                  </a:tcPr>
                </a:tc>
                <a:tc>
                  <a:txBody>
                    <a:bodyPr/>
                    <a:lstStyle/>
                    <a:p>
                      <a:pPr algn="r" fontAlgn="b">
                        <a:buNone/>
                      </a:pPr>
                      <a:r>
                        <a:rPr lang="fr-FR" sz="900" b="1" i="0" u="none" strike="noStrike">
                          <a:solidFill>
                            <a:srgbClr val="000000"/>
                          </a:solidFill>
                          <a:effectLst/>
                          <a:latin typeface="Aptos Narrow" panose="020B0004020202020204" pitchFamily="34" charset="0"/>
                        </a:rPr>
                        <a:t>13,8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E81"/>
                    </a:solidFill>
                  </a:tcPr>
                </a:tc>
                <a:tc>
                  <a:txBody>
                    <a:bodyPr/>
                    <a:lstStyle/>
                    <a:p>
                      <a:pPr algn="r" fontAlgn="b">
                        <a:buNone/>
                      </a:pPr>
                      <a:r>
                        <a:rPr lang="fr-FR" sz="900" b="0" i="0" u="none" strike="noStrike">
                          <a:solidFill>
                            <a:srgbClr val="00B050"/>
                          </a:solidFill>
                          <a:effectLst/>
                          <a:latin typeface="Aptos Narrow" panose="020B0004020202020204" pitchFamily="34" charset="0"/>
                        </a:rPr>
                        <a:t>3,7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418164"/>
                  </a:ext>
                </a:extLst>
              </a:tr>
              <a:tr h="101194">
                <a:tc>
                  <a:txBody>
                    <a:bodyPr/>
                    <a:lstStyle/>
                    <a:p>
                      <a:pPr algn="l" fontAlgn="b">
                        <a:buNone/>
                      </a:pPr>
                      <a:r>
                        <a:rPr lang="fr-FR" sz="900" b="0" i="0" u="none" strike="noStrike">
                          <a:solidFill>
                            <a:srgbClr val="000000"/>
                          </a:solidFill>
                          <a:effectLst/>
                          <a:latin typeface="Aptos Narrow" panose="020B0004020202020204" pitchFamily="34" charset="0"/>
                        </a:rPr>
                        <a:t> AT</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17,5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A83"/>
                    </a:solidFill>
                  </a:tcPr>
                </a:tc>
                <a:tc>
                  <a:txBody>
                    <a:bodyPr/>
                    <a:lstStyle/>
                    <a:p>
                      <a:pPr algn="r" fontAlgn="b">
                        <a:buNone/>
                      </a:pPr>
                      <a:r>
                        <a:rPr lang="fr-FR" sz="900" b="0" i="0" u="none" strike="noStrike">
                          <a:solidFill>
                            <a:srgbClr val="000000"/>
                          </a:solidFill>
                          <a:effectLst/>
                          <a:latin typeface="Aptos Narrow" panose="020B0004020202020204" pitchFamily="34" charset="0"/>
                        </a:rPr>
                        <a:t>30,5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BDC81"/>
                    </a:solidFill>
                  </a:tcPr>
                </a:tc>
                <a:tc>
                  <a:txBody>
                    <a:bodyPr/>
                    <a:lstStyle/>
                    <a:p>
                      <a:pPr algn="r" fontAlgn="b">
                        <a:buNone/>
                      </a:pPr>
                      <a:r>
                        <a:rPr lang="fr-FR" sz="900" b="0" i="0" u="none" strike="noStrike">
                          <a:solidFill>
                            <a:srgbClr val="FF0000"/>
                          </a:solidFill>
                          <a:effectLst/>
                          <a:latin typeface="Aptos Narrow" panose="020B0004020202020204" pitchFamily="34" charset="0"/>
                        </a:rPr>
                        <a:t>-13,0</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15108851"/>
                  </a:ext>
                </a:extLst>
              </a:tr>
              <a:tr h="101194">
                <a:tc>
                  <a:txBody>
                    <a:bodyPr/>
                    <a:lstStyle/>
                    <a:p>
                      <a:pPr algn="l" fontAlgn="b">
                        <a:buNone/>
                      </a:pPr>
                      <a:r>
                        <a:rPr lang="fr-FR" sz="900" b="0" i="0" u="none" strike="noStrike">
                          <a:solidFill>
                            <a:srgbClr val="000000"/>
                          </a:solidFill>
                          <a:effectLst/>
                          <a:latin typeface="Aptos Narrow" panose="020B0004020202020204" pitchFamily="34" charset="0"/>
                        </a:rPr>
                        <a:t> BE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22,9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AE583"/>
                    </a:solidFill>
                  </a:tcPr>
                </a:tc>
                <a:tc>
                  <a:txBody>
                    <a:bodyPr/>
                    <a:lstStyle/>
                    <a:p>
                      <a:pPr algn="r" fontAlgn="b">
                        <a:buNone/>
                      </a:pPr>
                      <a:r>
                        <a:rPr lang="fr-FR" sz="900" b="0" i="0" u="none" strike="noStrike">
                          <a:solidFill>
                            <a:srgbClr val="000000"/>
                          </a:solidFill>
                          <a:effectLst/>
                          <a:latin typeface="Aptos Narrow" panose="020B0004020202020204" pitchFamily="34" charset="0"/>
                        </a:rPr>
                        <a:t>30,7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ADC81"/>
                    </a:solidFill>
                  </a:tcPr>
                </a:tc>
                <a:tc>
                  <a:txBody>
                    <a:bodyPr/>
                    <a:lstStyle/>
                    <a:p>
                      <a:pPr algn="r" fontAlgn="b">
                        <a:buNone/>
                      </a:pPr>
                      <a:r>
                        <a:rPr lang="fr-FR" sz="900" b="0" i="0" u="none" strike="noStrike">
                          <a:solidFill>
                            <a:srgbClr val="FF0000"/>
                          </a:solidFill>
                          <a:effectLst/>
                          <a:latin typeface="Aptos Narrow" panose="020B0004020202020204" pitchFamily="34" charset="0"/>
                        </a:rPr>
                        <a:t>-7,8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86882162"/>
                  </a:ext>
                </a:extLst>
              </a:tr>
              <a:tr h="101194">
                <a:tc>
                  <a:txBody>
                    <a:bodyPr/>
                    <a:lstStyle/>
                    <a:p>
                      <a:pPr algn="l" fontAlgn="b">
                        <a:buNone/>
                      </a:pPr>
                      <a:r>
                        <a:rPr lang="fr-FR" sz="900" b="0" i="0" u="none" strike="noStrike">
                          <a:solidFill>
                            <a:srgbClr val="000000"/>
                          </a:solidFill>
                          <a:effectLst/>
                          <a:latin typeface="Aptos Narrow" panose="020B0004020202020204" pitchFamily="34" charset="0"/>
                        </a:rPr>
                        <a:t> CH</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12,0</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880"/>
                    </a:solidFill>
                  </a:tcPr>
                </a:tc>
                <a:tc>
                  <a:txBody>
                    <a:bodyPr/>
                    <a:lstStyle/>
                    <a:p>
                      <a:pPr algn="r" fontAlgn="b">
                        <a:buNone/>
                      </a:pPr>
                      <a:r>
                        <a:rPr lang="fr-FR" sz="900" b="0" i="0" u="none" strike="noStrike">
                          <a:solidFill>
                            <a:srgbClr val="000000"/>
                          </a:solidFill>
                          <a:effectLst/>
                          <a:latin typeface="Aptos Narrow" panose="020B0004020202020204" pitchFamily="34" charset="0"/>
                        </a:rPr>
                        <a:t>12,1</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880"/>
                    </a:solidFill>
                  </a:tcPr>
                </a:tc>
                <a:tc>
                  <a:txBody>
                    <a:bodyPr/>
                    <a:lstStyle/>
                    <a:p>
                      <a:pPr algn="r" fontAlgn="b">
                        <a:buNone/>
                      </a:pPr>
                      <a:r>
                        <a:rPr lang="fr-FR" sz="900" b="0" i="0" u="none" strike="noStrike">
                          <a:solidFill>
                            <a:srgbClr val="FF0000"/>
                          </a:solidFill>
                          <a:effectLst/>
                          <a:latin typeface="Aptos Narrow" panose="020B0004020202020204" pitchFamily="34" charset="0"/>
                        </a:rPr>
                        <a:t>-0,1</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31912314"/>
                  </a:ext>
                </a:extLst>
              </a:tr>
              <a:tr h="101194">
                <a:tc>
                  <a:txBody>
                    <a:bodyPr/>
                    <a:lstStyle/>
                    <a:p>
                      <a:pPr algn="l" fontAlgn="b">
                        <a:buNone/>
                      </a:pPr>
                      <a:r>
                        <a:rPr lang="fr-FR" sz="900" b="0" i="0" u="none" strike="noStrike">
                          <a:solidFill>
                            <a:srgbClr val="000000"/>
                          </a:solidFill>
                          <a:effectLst/>
                          <a:latin typeface="Aptos Narrow" panose="020B0004020202020204" pitchFamily="34" charset="0"/>
                        </a:rPr>
                        <a:t> DE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17,5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A83"/>
                    </a:solidFill>
                  </a:tcPr>
                </a:tc>
                <a:tc>
                  <a:txBody>
                    <a:bodyPr/>
                    <a:lstStyle/>
                    <a:p>
                      <a:pPr algn="r" fontAlgn="b">
                        <a:buNone/>
                      </a:pPr>
                      <a:r>
                        <a:rPr lang="fr-FR" sz="900" b="0" i="0" u="none" strike="noStrike">
                          <a:solidFill>
                            <a:srgbClr val="000000"/>
                          </a:solidFill>
                          <a:effectLst/>
                          <a:latin typeface="Aptos Narrow" panose="020B0004020202020204" pitchFamily="34" charset="0"/>
                        </a:rPr>
                        <a:t>12,9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B80"/>
                    </a:solidFill>
                  </a:tcPr>
                </a:tc>
                <a:tc>
                  <a:txBody>
                    <a:bodyPr/>
                    <a:lstStyle/>
                    <a:p>
                      <a:pPr algn="r" fontAlgn="b">
                        <a:buNone/>
                      </a:pPr>
                      <a:r>
                        <a:rPr lang="fr-FR" sz="900" b="0" i="0" u="none" strike="noStrike">
                          <a:solidFill>
                            <a:srgbClr val="00B050"/>
                          </a:solidFill>
                          <a:effectLst/>
                          <a:latin typeface="Aptos Narrow" panose="020B0004020202020204" pitchFamily="34" charset="0"/>
                        </a:rPr>
                        <a:t>4,6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80746518"/>
                  </a:ext>
                </a:extLst>
              </a:tr>
              <a:tr h="101194">
                <a:tc>
                  <a:txBody>
                    <a:bodyPr/>
                    <a:lstStyle/>
                    <a:p>
                      <a:pPr algn="l" fontAlgn="b">
                        <a:buNone/>
                      </a:pPr>
                      <a:r>
                        <a:rPr lang="fr-FR" sz="900" b="0" i="0" u="none" strike="noStrike">
                          <a:solidFill>
                            <a:srgbClr val="000000"/>
                          </a:solidFill>
                          <a:effectLst/>
                          <a:latin typeface="Aptos Narrow" panose="020B0004020202020204" pitchFamily="34" charset="0"/>
                        </a:rPr>
                        <a:t> DK</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B7A"/>
                    </a:solidFill>
                  </a:tcPr>
                </a:tc>
                <a:tc>
                  <a:txBody>
                    <a:bodyPr/>
                    <a:lstStyle/>
                    <a:p>
                      <a:pPr algn="r" fontAlgn="b">
                        <a:buNone/>
                      </a:pPr>
                      <a:r>
                        <a:rPr lang="fr-FR" sz="900" b="0" i="0" u="none" strike="noStrike">
                          <a:solidFill>
                            <a:srgbClr val="000000"/>
                          </a:solidFill>
                          <a:effectLst/>
                          <a:latin typeface="Aptos Narrow" panose="020B0004020202020204" pitchFamily="34" charset="0"/>
                        </a:rPr>
                        <a:t>9,1</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E7E"/>
                    </a:solidFill>
                  </a:tcPr>
                </a:tc>
                <a:tc>
                  <a:txBody>
                    <a:bodyPr/>
                    <a:lstStyle/>
                    <a:p>
                      <a:pPr algn="r" fontAlgn="b">
                        <a:buNone/>
                      </a:pPr>
                      <a:r>
                        <a:rPr lang="fr-FR" sz="900" b="0" i="0" u="none" strike="noStrike">
                          <a:solidFill>
                            <a:srgbClr val="FF0000"/>
                          </a:solidFill>
                          <a:effectLst/>
                          <a:latin typeface="Aptos Narrow" panose="020B0004020202020204" pitchFamily="34" charset="0"/>
                        </a:rPr>
                        <a:t>-5,8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16327901"/>
                  </a:ext>
                </a:extLst>
              </a:tr>
              <a:tr h="101194">
                <a:tc>
                  <a:txBody>
                    <a:bodyPr/>
                    <a:lstStyle/>
                    <a:p>
                      <a:pPr algn="l" fontAlgn="b">
                        <a:buNone/>
                      </a:pPr>
                      <a:r>
                        <a:rPr lang="fr-FR" sz="900" b="0" i="0" u="none" strike="noStrike">
                          <a:solidFill>
                            <a:srgbClr val="000000"/>
                          </a:solidFill>
                          <a:effectLst/>
                          <a:latin typeface="Aptos Narrow" panose="020B0004020202020204" pitchFamily="34" charset="0"/>
                        </a:rPr>
                        <a:t> FR</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39,5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7D27F"/>
                    </a:solidFill>
                  </a:tcPr>
                </a:tc>
                <a:tc>
                  <a:txBody>
                    <a:bodyPr/>
                    <a:lstStyle/>
                    <a:p>
                      <a:pPr algn="r" fontAlgn="b">
                        <a:buNone/>
                      </a:pPr>
                      <a:r>
                        <a:rPr lang="fr-FR" sz="900" b="0" i="0" u="none" strike="noStrike">
                          <a:solidFill>
                            <a:srgbClr val="000000"/>
                          </a:solidFill>
                          <a:effectLst/>
                          <a:latin typeface="Aptos Narrow" panose="020B0004020202020204" pitchFamily="34" charset="0"/>
                        </a:rPr>
                        <a:t>43,9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5CD7E"/>
                    </a:solidFill>
                  </a:tcPr>
                </a:tc>
                <a:tc>
                  <a:txBody>
                    <a:bodyPr/>
                    <a:lstStyle/>
                    <a:p>
                      <a:pPr algn="r" fontAlgn="b">
                        <a:buNone/>
                      </a:pPr>
                      <a:r>
                        <a:rPr lang="fr-FR" sz="900" b="0" i="0" u="none" strike="noStrike">
                          <a:solidFill>
                            <a:srgbClr val="FF0000"/>
                          </a:solidFill>
                          <a:effectLst/>
                          <a:latin typeface="Aptos Narrow" panose="020B0004020202020204" pitchFamily="34" charset="0"/>
                        </a:rPr>
                        <a:t>-4,4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82399908"/>
                  </a:ext>
                </a:extLst>
              </a:tr>
              <a:tr h="101194">
                <a:tc>
                  <a:txBody>
                    <a:bodyPr/>
                    <a:lstStyle/>
                    <a:p>
                      <a:pPr algn="l" fontAlgn="b">
                        <a:buNone/>
                      </a:pPr>
                      <a:r>
                        <a:rPr lang="fr-FR" sz="900" b="0" i="0" u="none" strike="noStrike">
                          <a:solidFill>
                            <a:srgbClr val="000000"/>
                          </a:solidFill>
                          <a:effectLst/>
                          <a:latin typeface="Aptos Narrow" panose="020B0004020202020204" pitchFamily="34" charset="0"/>
                        </a:rPr>
                        <a:t> GB</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38,9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9D380"/>
                    </a:solidFill>
                  </a:tcPr>
                </a:tc>
                <a:tc>
                  <a:txBody>
                    <a:bodyPr/>
                    <a:lstStyle/>
                    <a:p>
                      <a:pPr algn="r" fontAlgn="b">
                        <a:buNone/>
                      </a:pPr>
                      <a:r>
                        <a:rPr lang="fr-FR" sz="900" b="0" i="0" u="none" strike="noStrike">
                          <a:solidFill>
                            <a:srgbClr val="000000"/>
                          </a:solidFill>
                          <a:effectLst/>
                          <a:latin typeface="Aptos Narrow" panose="020B0004020202020204" pitchFamily="34" charset="0"/>
                        </a:rPr>
                        <a:t>56,1</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900" b="0" i="0" u="none" strike="noStrike">
                          <a:solidFill>
                            <a:srgbClr val="FF0000"/>
                          </a:solidFill>
                          <a:effectLst/>
                          <a:latin typeface="Aptos Narrow" panose="020B0004020202020204" pitchFamily="34" charset="0"/>
                        </a:rPr>
                        <a:t>-17,2</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48165828"/>
                  </a:ext>
                </a:extLst>
              </a:tr>
              <a:tr h="101194">
                <a:tc>
                  <a:txBody>
                    <a:bodyPr/>
                    <a:lstStyle/>
                    <a:p>
                      <a:pPr algn="l" fontAlgn="b">
                        <a:buNone/>
                      </a:pPr>
                      <a:r>
                        <a:rPr lang="fr-FR" sz="900" b="0" i="0" u="none" strike="noStrike">
                          <a:solidFill>
                            <a:srgbClr val="000000"/>
                          </a:solidFill>
                          <a:effectLst/>
                          <a:latin typeface="Aptos Narrow" panose="020B0004020202020204" pitchFamily="34" charset="0"/>
                        </a:rPr>
                        <a:t> IL</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44,4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3CC7E"/>
                    </a:solidFill>
                  </a:tcPr>
                </a:tc>
                <a:tc>
                  <a:txBody>
                    <a:bodyPr/>
                    <a:lstStyle/>
                    <a:p>
                      <a:pPr algn="r" fontAlgn="b">
                        <a:buNone/>
                      </a:pPr>
                      <a:r>
                        <a:rPr lang="fr-FR" sz="900" b="0" i="0" u="none" strike="noStrike">
                          <a:solidFill>
                            <a:srgbClr val="000000"/>
                          </a:solidFill>
                          <a:effectLst/>
                          <a:latin typeface="Aptos Narrow" panose="020B0004020202020204" pitchFamily="34" charset="0"/>
                        </a:rPr>
                        <a:t>45,2</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0CB7E"/>
                    </a:solidFill>
                  </a:tcPr>
                </a:tc>
                <a:tc>
                  <a:txBody>
                    <a:bodyPr/>
                    <a:lstStyle/>
                    <a:p>
                      <a:pPr algn="r" fontAlgn="b">
                        <a:buNone/>
                      </a:pPr>
                      <a:r>
                        <a:rPr lang="fr-FR" sz="900" b="0" i="0" u="none" strike="noStrike">
                          <a:solidFill>
                            <a:srgbClr val="FF0000"/>
                          </a:solidFill>
                          <a:effectLst/>
                          <a:latin typeface="Aptos Narrow" panose="020B0004020202020204" pitchFamily="34" charset="0"/>
                        </a:rPr>
                        <a:t>-0,7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00528738"/>
                  </a:ext>
                </a:extLst>
              </a:tr>
              <a:tr h="101194">
                <a:tc>
                  <a:txBody>
                    <a:bodyPr/>
                    <a:lstStyle/>
                    <a:p>
                      <a:pPr algn="l" fontAlgn="b">
                        <a:buNone/>
                      </a:pPr>
                      <a:r>
                        <a:rPr lang="fr-FR" sz="900" b="0" i="0" u="none" strike="noStrike">
                          <a:solidFill>
                            <a:srgbClr val="000000"/>
                          </a:solidFill>
                          <a:effectLst/>
                          <a:latin typeface="Aptos Narrow" panose="020B0004020202020204" pitchFamily="34" charset="0"/>
                        </a:rPr>
                        <a:t> LU</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29,5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FDE82"/>
                    </a:solidFill>
                  </a:tcPr>
                </a:tc>
                <a:tc>
                  <a:txBody>
                    <a:bodyPr/>
                    <a:lstStyle/>
                    <a:p>
                      <a:pPr algn="r" fontAlgn="b">
                        <a:buNone/>
                      </a:pPr>
                      <a:r>
                        <a:rPr lang="fr-FR" sz="900" b="0" i="0" u="none" strike="noStrike">
                          <a:solidFill>
                            <a:srgbClr val="000000"/>
                          </a:solidFill>
                          <a:effectLst/>
                          <a:latin typeface="Aptos Narrow" panose="020B0004020202020204" pitchFamily="34" charset="0"/>
                        </a:rPr>
                        <a:t>18,4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EB84"/>
                    </a:solidFill>
                  </a:tcPr>
                </a:tc>
                <a:tc>
                  <a:txBody>
                    <a:bodyPr/>
                    <a:lstStyle/>
                    <a:p>
                      <a:pPr algn="r" fontAlgn="b">
                        <a:buNone/>
                      </a:pPr>
                      <a:r>
                        <a:rPr lang="fr-FR" sz="900" b="0" i="0" u="none" strike="noStrike">
                          <a:solidFill>
                            <a:srgbClr val="00B050"/>
                          </a:solidFill>
                          <a:effectLst/>
                          <a:latin typeface="Aptos Narrow" panose="020B0004020202020204" pitchFamily="34" charset="0"/>
                        </a:rPr>
                        <a:t>11,1</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07974382"/>
                  </a:ext>
                </a:extLst>
              </a:tr>
              <a:tr h="101194">
                <a:tc>
                  <a:txBody>
                    <a:bodyPr/>
                    <a:lstStyle/>
                    <a:p>
                      <a:pPr algn="l" fontAlgn="b">
                        <a:buNone/>
                      </a:pPr>
                      <a:r>
                        <a:rPr lang="fr-FR" sz="900" b="0" i="0" u="none" strike="noStrike">
                          <a:solidFill>
                            <a:srgbClr val="000000"/>
                          </a:solidFill>
                          <a:effectLst/>
                          <a:latin typeface="Aptos Narrow" panose="020B0004020202020204" pitchFamily="34" charset="0"/>
                        </a:rPr>
                        <a:t> NL</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17,8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B84"/>
                    </a:solidFill>
                  </a:tcPr>
                </a:tc>
                <a:tc>
                  <a:txBody>
                    <a:bodyPr/>
                    <a:lstStyle/>
                    <a:p>
                      <a:pPr algn="r" fontAlgn="b">
                        <a:buNone/>
                      </a:pPr>
                      <a:r>
                        <a:rPr lang="fr-FR" sz="900" b="0" i="0" u="none" strike="noStrike">
                          <a:solidFill>
                            <a:srgbClr val="000000"/>
                          </a:solidFill>
                          <a:effectLst/>
                          <a:latin typeface="Aptos Narrow" panose="020B0004020202020204" pitchFamily="34" charset="0"/>
                        </a:rPr>
                        <a:t>12,3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980"/>
                    </a:solidFill>
                  </a:tcPr>
                </a:tc>
                <a:tc>
                  <a:txBody>
                    <a:bodyPr/>
                    <a:lstStyle/>
                    <a:p>
                      <a:pPr algn="r" fontAlgn="b">
                        <a:buNone/>
                      </a:pPr>
                      <a:r>
                        <a:rPr lang="fr-FR" sz="900" b="0" i="0" u="none" strike="noStrike">
                          <a:solidFill>
                            <a:srgbClr val="00B050"/>
                          </a:solidFill>
                          <a:effectLst/>
                          <a:latin typeface="Aptos Narrow" panose="020B0004020202020204" pitchFamily="34" charset="0"/>
                        </a:rPr>
                        <a:t>5,6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97826116"/>
                  </a:ext>
                </a:extLst>
              </a:tr>
              <a:tr h="101194">
                <a:tc>
                  <a:txBody>
                    <a:bodyPr/>
                    <a:lstStyle/>
                    <a:p>
                      <a:pPr algn="l" fontAlgn="b">
                        <a:buNone/>
                      </a:pPr>
                      <a:r>
                        <a:rPr lang="fr-FR" sz="900" b="0" i="0" u="none" strike="noStrike">
                          <a:solidFill>
                            <a:srgbClr val="000000"/>
                          </a:solidFill>
                          <a:effectLst/>
                          <a:latin typeface="Aptos Narrow" panose="020B0004020202020204" pitchFamily="34" charset="0"/>
                        </a:rPr>
                        <a:t> BE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97A"/>
                    </a:solidFill>
                  </a:tcPr>
                </a:tc>
                <a:tc>
                  <a:txBody>
                    <a:bodyPr/>
                    <a:lstStyle/>
                    <a:p>
                      <a:pPr algn="r" fontAlgn="b">
                        <a:buNone/>
                      </a:pPr>
                      <a:r>
                        <a:rPr lang="fr-FR" sz="900" b="0" i="0" u="none" strike="noStrike">
                          <a:solidFill>
                            <a:srgbClr val="000000"/>
                          </a:solidFill>
                          <a:effectLst/>
                          <a:latin typeface="Aptos Narrow" panose="020B0004020202020204" pitchFamily="34" charset="0"/>
                        </a:rPr>
                        <a:t>-10,7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D71"/>
                    </a:solidFill>
                  </a:tcPr>
                </a:tc>
                <a:tc>
                  <a:txBody>
                    <a:bodyPr/>
                    <a:lstStyle/>
                    <a:p>
                      <a:pPr algn="r" fontAlgn="b">
                        <a:buNone/>
                      </a:pPr>
                      <a:r>
                        <a:rPr lang="fr-FR" sz="900" b="0" i="0" u="none" strike="noStrike">
                          <a:solidFill>
                            <a:srgbClr val="00B050"/>
                          </a:solidFill>
                          <a:effectLst/>
                          <a:latin typeface="Aptos Narrow" panose="020B0004020202020204" pitchFamily="34" charset="0"/>
                        </a:rPr>
                        <a:t>13,5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50899925"/>
                  </a:ext>
                </a:extLst>
              </a:tr>
              <a:tr h="101194">
                <a:tc>
                  <a:txBody>
                    <a:bodyPr/>
                    <a:lstStyle/>
                    <a:p>
                      <a:pPr algn="l" fontAlgn="b">
                        <a:buNone/>
                      </a:pPr>
                      <a:r>
                        <a:rPr lang="fr-FR" sz="900" b="0" i="0" u="none" strike="noStrike">
                          <a:solidFill>
                            <a:srgbClr val="000000"/>
                          </a:solidFill>
                          <a:effectLst/>
                          <a:latin typeface="Aptos Narrow" panose="020B0004020202020204" pitchFamily="34" charset="0"/>
                        </a:rPr>
                        <a:t> DE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1,0</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379"/>
                    </a:solidFill>
                  </a:tcPr>
                </a:tc>
                <a:tc>
                  <a:txBody>
                    <a:bodyPr/>
                    <a:lstStyle/>
                    <a:p>
                      <a:pPr algn="r" fontAlgn="b">
                        <a:buNone/>
                      </a:pPr>
                      <a:r>
                        <a:rPr lang="fr-FR" sz="900" b="0" i="0" u="none" strike="noStrike">
                          <a:solidFill>
                            <a:srgbClr val="000000"/>
                          </a:solidFill>
                          <a:effectLst/>
                          <a:latin typeface="Aptos Narrow" panose="020B0004020202020204" pitchFamily="34" charset="0"/>
                        </a:rPr>
                        <a:t>1,1</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479"/>
                    </a:solidFill>
                  </a:tcPr>
                </a:tc>
                <a:tc>
                  <a:txBody>
                    <a:bodyPr/>
                    <a:lstStyle/>
                    <a:p>
                      <a:pPr algn="r" fontAlgn="b">
                        <a:buNone/>
                      </a:pPr>
                      <a:r>
                        <a:rPr lang="fr-FR" sz="900" b="0" i="0" u="none" strike="noStrike">
                          <a:solidFill>
                            <a:srgbClr val="FF0000"/>
                          </a:solidFill>
                          <a:effectLst/>
                          <a:latin typeface="Aptos Narrow" panose="020B0004020202020204" pitchFamily="34" charset="0"/>
                        </a:rPr>
                        <a:t>-0,1</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60268800"/>
                  </a:ext>
                </a:extLst>
              </a:tr>
              <a:tr h="101194">
                <a:tc>
                  <a:txBody>
                    <a:bodyPr/>
                    <a:lstStyle/>
                    <a:p>
                      <a:pPr algn="l" fontAlgn="b">
                        <a:buNone/>
                      </a:pPr>
                      <a:r>
                        <a:rPr lang="fr-FR" sz="900" b="0" i="0" u="none" strike="noStrike">
                          <a:solidFill>
                            <a:srgbClr val="000000"/>
                          </a:solidFill>
                          <a:effectLst/>
                          <a:latin typeface="Aptos Narrow" panose="020B0004020202020204" pitchFamily="34" charset="0"/>
                        </a:rPr>
                        <a:t> NL</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-10,3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8E72"/>
                    </a:solidFill>
                  </a:tcPr>
                </a:tc>
                <a:tc>
                  <a:txBody>
                    <a:bodyPr/>
                    <a:lstStyle/>
                    <a:p>
                      <a:pPr algn="r" fontAlgn="b">
                        <a:buNone/>
                      </a:pPr>
                      <a:r>
                        <a:rPr lang="fr-FR" sz="900" b="0" i="0" u="none" strike="noStrike">
                          <a:solidFill>
                            <a:srgbClr val="000000"/>
                          </a:solidFill>
                          <a:effectLst/>
                          <a:latin typeface="Aptos Narrow" panose="020B0004020202020204" pitchFamily="34" charset="0"/>
                        </a:rPr>
                        <a:t>-21,7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96B"/>
                    </a:solidFill>
                  </a:tcPr>
                </a:tc>
                <a:tc>
                  <a:txBody>
                    <a:bodyPr/>
                    <a:lstStyle/>
                    <a:p>
                      <a:pPr algn="r" fontAlgn="b">
                        <a:buNone/>
                      </a:pPr>
                      <a:r>
                        <a:rPr lang="fr-FR" sz="900" b="0" i="0" u="none" strike="noStrike">
                          <a:solidFill>
                            <a:srgbClr val="00B050"/>
                          </a:solidFill>
                          <a:effectLst/>
                          <a:latin typeface="Aptos Narrow" panose="020B0004020202020204" pitchFamily="34" charset="0"/>
                        </a:rPr>
                        <a:t>11,3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88254978"/>
                  </a:ext>
                </a:extLst>
              </a:tr>
            </a:tbl>
          </a:graphicData>
        </a:graphic>
      </p:graphicFrame>
      <p:graphicFrame>
        <p:nvGraphicFramePr>
          <p:cNvPr id="9" name="Table 8">
            <a:extLst>
              <a:ext uri="{FF2B5EF4-FFF2-40B4-BE49-F238E27FC236}">
                <a16:creationId xmlns:a16="http://schemas.microsoft.com/office/drawing/2014/main" id="{4ADD438A-AC0F-4197-8989-7306A091C0D7}"/>
              </a:ext>
            </a:extLst>
          </p:cNvPr>
          <p:cNvGraphicFramePr>
            <a:graphicFrameLocks noGrp="1"/>
          </p:cNvGraphicFramePr>
          <p:nvPr>
            <p:extLst>
              <p:ext uri="{D42A27DB-BD31-4B8C-83A1-F6EECF244321}">
                <p14:modId xmlns:p14="http://schemas.microsoft.com/office/powerpoint/2010/main" val="822052238"/>
              </p:ext>
            </p:extLst>
          </p:nvPr>
        </p:nvGraphicFramePr>
        <p:xfrm>
          <a:off x="3988685" y="3150698"/>
          <a:ext cx="2650241" cy="2953632"/>
        </p:xfrm>
        <a:graphic>
          <a:graphicData uri="http://schemas.openxmlformats.org/drawingml/2006/table">
            <a:tbl>
              <a:tblPr/>
              <a:tblGrid>
                <a:gridCol w="1334258">
                  <a:extLst>
                    <a:ext uri="{9D8B030D-6E8A-4147-A177-3AD203B41FA5}">
                      <a16:colId xmlns:a16="http://schemas.microsoft.com/office/drawing/2014/main" val="61391800"/>
                    </a:ext>
                  </a:extLst>
                </a:gridCol>
                <a:gridCol w="438661">
                  <a:extLst>
                    <a:ext uri="{9D8B030D-6E8A-4147-A177-3AD203B41FA5}">
                      <a16:colId xmlns:a16="http://schemas.microsoft.com/office/drawing/2014/main" val="1030465191"/>
                    </a:ext>
                  </a:extLst>
                </a:gridCol>
                <a:gridCol w="438661">
                  <a:extLst>
                    <a:ext uri="{9D8B030D-6E8A-4147-A177-3AD203B41FA5}">
                      <a16:colId xmlns:a16="http://schemas.microsoft.com/office/drawing/2014/main" val="567805148"/>
                    </a:ext>
                  </a:extLst>
                </a:gridCol>
                <a:gridCol w="438661">
                  <a:extLst>
                    <a:ext uri="{9D8B030D-6E8A-4147-A177-3AD203B41FA5}">
                      <a16:colId xmlns:a16="http://schemas.microsoft.com/office/drawing/2014/main" val="2234962935"/>
                    </a:ext>
                  </a:extLst>
                </a:gridCol>
              </a:tblGrid>
              <a:tr h="184602">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93289355"/>
                  </a:ext>
                </a:extLst>
              </a:tr>
              <a:tr h="184602">
                <a:tc>
                  <a:txBody>
                    <a:bodyPr/>
                    <a:lstStyle/>
                    <a:p>
                      <a:pPr algn="l" fontAlgn="b">
                        <a:buNone/>
                      </a:pPr>
                      <a:r>
                        <a:rPr lang="fr-FR" sz="900" b="1" i="0" u="none" strike="noStrike">
                          <a:solidFill>
                            <a:srgbClr val="000000"/>
                          </a:solidFill>
                          <a:effectLst/>
                          <a:latin typeface="Aptos Narrow" panose="020B0004020202020204" pitchFamily="34" charset="0"/>
                        </a:rPr>
                        <a:t>Park </a:t>
                      </a:r>
                      <a:r>
                        <a:rPr lang="fr-FR" sz="900" b="1" i="0" u="none" strike="noStrike" err="1">
                          <a:solidFill>
                            <a:srgbClr val="000000"/>
                          </a:solidFill>
                          <a:effectLst/>
                          <a:latin typeface="Aptos Narrow" panose="020B0004020202020204" pitchFamily="34" charset="0"/>
                        </a:rPr>
                        <a:t>Bostalsee</a:t>
                      </a:r>
                      <a:endParaRPr lang="fr-FR" sz="900" b="1" i="0" u="none" strike="noStrike">
                        <a:solidFill>
                          <a:srgbClr val="000000"/>
                        </a:solidFill>
                        <a:effectLst/>
                        <a:latin typeface="Aptos Narrow" panose="020B0004020202020204" pitchFamily="34" charset="0"/>
                      </a:endParaRP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24,3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5E483"/>
                    </a:solidFill>
                  </a:tcPr>
                </a:tc>
                <a:tc>
                  <a:txBody>
                    <a:bodyPr/>
                    <a:lstStyle/>
                    <a:p>
                      <a:pPr algn="r" fontAlgn="b">
                        <a:buNone/>
                      </a:pPr>
                      <a:r>
                        <a:rPr lang="fr-FR" sz="900" b="1" i="0" u="none" strike="noStrike">
                          <a:solidFill>
                            <a:srgbClr val="000000"/>
                          </a:solidFill>
                          <a:effectLst/>
                          <a:latin typeface="Aptos Narrow" panose="020B0004020202020204" pitchFamily="34" charset="0"/>
                        </a:rPr>
                        <a:t>12,6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A80"/>
                    </a:solidFill>
                  </a:tcPr>
                </a:tc>
                <a:tc>
                  <a:txBody>
                    <a:bodyPr/>
                    <a:lstStyle/>
                    <a:p>
                      <a:pPr algn="r" fontAlgn="b">
                        <a:buNone/>
                      </a:pPr>
                      <a:r>
                        <a:rPr lang="fr-FR" sz="900" b="0" i="0" u="none" strike="noStrike">
                          <a:solidFill>
                            <a:srgbClr val="00B050"/>
                          </a:solidFill>
                          <a:effectLst/>
                          <a:latin typeface="Aptos Narrow" panose="020B0004020202020204" pitchFamily="34" charset="0"/>
                        </a:rPr>
                        <a:t>11,7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74730475"/>
                  </a:ext>
                </a:extLst>
              </a:tr>
              <a:tr h="184602">
                <a:tc>
                  <a:txBody>
                    <a:bodyPr/>
                    <a:lstStyle/>
                    <a:p>
                      <a:pPr algn="l" fontAlgn="b">
                        <a:buNone/>
                      </a:pPr>
                      <a:r>
                        <a:rPr lang="fr-FR" sz="900" b="0" i="0" u="none" strike="noStrike">
                          <a:solidFill>
                            <a:srgbClr val="000000"/>
                          </a:solidFill>
                          <a:effectLst/>
                          <a:latin typeface="Aptos Narrow" panose="020B0004020202020204" pitchFamily="34" charset="0"/>
                        </a:rPr>
                        <a:t> BE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33,7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FD981"/>
                    </a:solidFill>
                  </a:tcPr>
                </a:tc>
                <a:tc>
                  <a:txBody>
                    <a:bodyPr/>
                    <a:lstStyle/>
                    <a:p>
                      <a:pPr algn="r" fontAlgn="b">
                        <a:buNone/>
                      </a:pPr>
                      <a:r>
                        <a:rPr lang="fr-FR" sz="900" b="0" i="0" u="none" strike="noStrike">
                          <a:solidFill>
                            <a:srgbClr val="000000"/>
                          </a:solidFill>
                          <a:effectLst/>
                          <a:latin typeface="Aptos Narrow" panose="020B0004020202020204" pitchFamily="34" charset="0"/>
                        </a:rPr>
                        <a:t>26,9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AE182"/>
                    </a:solidFill>
                  </a:tcPr>
                </a:tc>
                <a:tc>
                  <a:txBody>
                    <a:bodyPr/>
                    <a:lstStyle/>
                    <a:p>
                      <a:pPr algn="r" fontAlgn="b">
                        <a:buNone/>
                      </a:pPr>
                      <a:r>
                        <a:rPr lang="fr-FR" sz="900" b="0" i="0" u="none" strike="noStrike">
                          <a:solidFill>
                            <a:srgbClr val="00B050"/>
                          </a:solidFill>
                          <a:effectLst/>
                          <a:latin typeface="Aptos Narrow" panose="020B0004020202020204" pitchFamily="34" charset="0"/>
                        </a:rPr>
                        <a:t>6,8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10140727"/>
                  </a:ext>
                </a:extLst>
              </a:tr>
              <a:tr h="184602">
                <a:tc>
                  <a:txBody>
                    <a:bodyPr/>
                    <a:lstStyle/>
                    <a:p>
                      <a:pPr algn="l" fontAlgn="b">
                        <a:buNone/>
                      </a:pPr>
                      <a:r>
                        <a:rPr lang="fr-FR" sz="900" b="0" i="0" u="none" strike="noStrike">
                          <a:solidFill>
                            <a:srgbClr val="000000"/>
                          </a:solidFill>
                          <a:effectLst/>
                          <a:latin typeface="Aptos Narrow" panose="020B0004020202020204" pitchFamily="34" charset="0"/>
                        </a:rPr>
                        <a:t> CH</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14,9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182"/>
                    </a:solidFill>
                  </a:tcPr>
                </a:tc>
                <a:tc>
                  <a:txBody>
                    <a:bodyPr/>
                    <a:lstStyle/>
                    <a:p>
                      <a:pPr algn="r" fontAlgn="b">
                        <a:buNone/>
                      </a:pPr>
                      <a:r>
                        <a:rPr lang="fr-FR" sz="900" b="0" i="0" u="none" strike="noStrike">
                          <a:solidFill>
                            <a:srgbClr val="000000"/>
                          </a:solidFill>
                          <a:effectLst/>
                          <a:latin typeface="Aptos Narrow" panose="020B0004020202020204" pitchFamily="34" charset="0"/>
                        </a:rPr>
                        <a:t>-1,0</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D78"/>
                    </a:solidFill>
                  </a:tcPr>
                </a:tc>
                <a:tc>
                  <a:txBody>
                    <a:bodyPr/>
                    <a:lstStyle/>
                    <a:p>
                      <a:pPr algn="r" fontAlgn="b">
                        <a:buNone/>
                      </a:pPr>
                      <a:r>
                        <a:rPr lang="fr-FR" sz="900" b="0" i="0" u="none" strike="noStrike">
                          <a:solidFill>
                            <a:srgbClr val="00B050"/>
                          </a:solidFill>
                          <a:effectLst/>
                          <a:latin typeface="Aptos Narrow" panose="020B0004020202020204" pitchFamily="34" charset="0"/>
                        </a:rPr>
                        <a:t>15,9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92253961"/>
                  </a:ext>
                </a:extLst>
              </a:tr>
              <a:tr h="184602">
                <a:tc>
                  <a:txBody>
                    <a:bodyPr/>
                    <a:lstStyle/>
                    <a:p>
                      <a:pPr algn="l" fontAlgn="b">
                        <a:buNone/>
                      </a:pPr>
                      <a:r>
                        <a:rPr lang="fr-FR" sz="900" b="0" i="0" u="none" strike="noStrike">
                          <a:solidFill>
                            <a:srgbClr val="000000"/>
                          </a:solidFill>
                          <a:effectLst/>
                          <a:latin typeface="Aptos Narrow" panose="020B0004020202020204" pitchFamily="34" charset="0"/>
                        </a:rPr>
                        <a:t> DE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24,5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4E483"/>
                    </a:solidFill>
                  </a:tcPr>
                </a:tc>
                <a:tc>
                  <a:txBody>
                    <a:bodyPr/>
                    <a:lstStyle/>
                    <a:p>
                      <a:pPr algn="r" fontAlgn="b">
                        <a:buNone/>
                      </a:pPr>
                      <a:r>
                        <a:rPr lang="fr-FR" sz="900" b="0" i="0" u="none" strike="noStrike">
                          <a:solidFill>
                            <a:srgbClr val="000000"/>
                          </a:solidFill>
                          <a:effectLst/>
                          <a:latin typeface="Aptos Narrow" panose="020B0004020202020204" pitchFamily="34" charset="0"/>
                        </a:rPr>
                        <a:t>12,1</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880"/>
                    </a:solidFill>
                  </a:tcPr>
                </a:tc>
                <a:tc>
                  <a:txBody>
                    <a:bodyPr/>
                    <a:lstStyle/>
                    <a:p>
                      <a:pPr algn="r" fontAlgn="b">
                        <a:buNone/>
                      </a:pPr>
                      <a:r>
                        <a:rPr lang="fr-FR" sz="900" b="0" i="0" u="none" strike="noStrike">
                          <a:solidFill>
                            <a:srgbClr val="00B050"/>
                          </a:solidFill>
                          <a:effectLst/>
                          <a:latin typeface="Aptos Narrow" panose="020B0004020202020204" pitchFamily="34" charset="0"/>
                        </a:rPr>
                        <a:t>12,4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85528872"/>
                  </a:ext>
                </a:extLst>
              </a:tr>
              <a:tr h="184602">
                <a:tc>
                  <a:txBody>
                    <a:bodyPr/>
                    <a:lstStyle/>
                    <a:p>
                      <a:pPr algn="l" fontAlgn="b">
                        <a:buNone/>
                      </a:pPr>
                      <a:r>
                        <a:rPr lang="fr-FR" sz="900" b="0" i="0" u="none" strike="noStrike">
                          <a:solidFill>
                            <a:srgbClr val="000000"/>
                          </a:solidFill>
                          <a:effectLst/>
                          <a:latin typeface="Aptos Narrow" panose="020B0004020202020204" pitchFamily="34" charset="0"/>
                        </a:rPr>
                        <a:t> FR</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32,3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4DA81"/>
                    </a:solidFill>
                  </a:tcPr>
                </a:tc>
                <a:tc>
                  <a:txBody>
                    <a:bodyPr/>
                    <a:lstStyle/>
                    <a:p>
                      <a:pPr algn="r" fontAlgn="b">
                        <a:buNone/>
                      </a:pPr>
                      <a:r>
                        <a:rPr lang="fr-FR" sz="900" b="0" i="0" u="none" strike="noStrike">
                          <a:solidFill>
                            <a:srgbClr val="000000"/>
                          </a:solidFill>
                          <a:effectLst/>
                          <a:latin typeface="Aptos Narrow" panose="020B0004020202020204" pitchFamily="34" charset="0"/>
                        </a:rPr>
                        <a:t>28,0</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5DF82"/>
                    </a:solidFill>
                  </a:tcPr>
                </a:tc>
                <a:tc>
                  <a:txBody>
                    <a:bodyPr/>
                    <a:lstStyle/>
                    <a:p>
                      <a:pPr algn="r" fontAlgn="b">
                        <a:buNone/>
                      </a:pPr>
                      <a:r>
                        <a:rPr lang="fr-FR" sz="900" b="0" i="0" u="none" strike="noStrike">
                          <a:solidFill>
                            <a:srgbClr val="00B050"/>
                          </a:solidFill>
                          <a:effectLst/>
                          <a:latin typeface="Aptos Narrow" panose="020B0004020202020204" pitchFamily="34" charset="0"/>
                        </a:rPr>
                        <a:t>4,3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91422526"/>
                  </a:ext>
                </a:extLst>
              </a:tr>
              <a:tr h="184602">
                <a:tc>
                  <a:txBody>
                    <a:bodyPr/>
                    <a:lstStyle/>
                    <a:p>
                      <a:pPr algn="l" fontAlgn="b">
                        <a:buNone/>
                      </a:pPr>
                      <a:r>
                        <a:rPr lang="fr-FR" sz="900" b="0" i="0" u="none" strike="noStrike">
                          <a:solidFill>
                            <a:srgbClr val="000000"/>
                          </a:solidFill>
                          <a:effectLst/>
                          <a:latin typeface="Aptos Narrow" panose="020B0004020202020204" pitchFamily="34" charset="0"/>
                        </a:rPr>
                        <a:t> LU</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25,0</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2E383"/>
                    </a:solidFill>
                  </a:tcPr>
                </a:tc>
                <a:tc>
                  <a:txBody>
                    <a:bodyPr/>
                    <a:lstStyle/>
                    <a:p>
                      <a:pPr algn="r" fontAlgn="b">
                        <a:buNone/>
                      </a:pPr>
                      <a:r>
                        <a:rPr lang="fr-FR" sz="900" b="0" i="0" u="none" strike="noStrike">
                          <a:solidFill>
                            <a:srgbClr val="000000"/>
                          </a:solidFill>
                          <a:effectLst/>
                          <a:latin typeface="Aptos Narrow" panose="020B0004020202020204" pitchFamily="34" charset="0"/>
                        </a:rPr>
                        <a:t>9,3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F7E"/>
                    </a:solidFill>
                  </a:tcPr>
                </a:tc>
                <a:tc>
                  <a:txBody>
                    <a:bodyPr/>
                    <a:lstStyle/>
                    <a:p>
                      <a:pPr algn="r" fontAlgn="b">
                        <a:buNone/>
                      </a:pPr>
                      <a:r>
                        <a:rPr lang="fr-FR" sz="900" b="0" i="0" u="none" strike="noStrike">
                          <a:solidFill>
                            <a:srgbClr val="00B050"/>
                          </a:solidFill>
                          <a:effectLst/>
                          <a:latin typeface="Aptos Narrow" panose="020B0004020202020204" pitchFamily="34" charset="0"/>
                        </a:rPr>
                        <a:t>15,7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33420459"/>
                  </a:ext>
                </a:extLst>
              </a:tr>
              <a:tr h="184602">
                <a:tc>
                  <a:txBody>
                    <a:bodyPr/>
                    <a:lstStyle/>
                    <a:p>
                      <a:pPr algn="l" fontAlgn="b">
                        <a:buNone/>
                      </a:pPr>
                      <a:r>
                        <a:rPr lang="fr-FR" sz="900" b="0" i="0" u="none" strike="noStrike">
                          <a:solidFill>
                            <a:srgbClr val="000000"/>
                          </a:solidFill>
                          <a:effectLst/>
                          <a:latin typeface="Aptos Narrow" panose="020B0004020202020204" pitchFamily="34" charset="0"/>
                        </a:rPr>
                        <a:t> NL</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11,5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680"/>
                    </a:solidFill>
                  </a:tcPr>
                </a:tc>
                <a:tc>
                  <a:txBody>
                    <a:bodyPr/>
                    <a:lstStyle/>
                    <a:p>
                      <a:pPr algn="r" fontAlgn="b">
                        <a:buNone/>
                      </a:pPr>
                      <a:r>
                        <a:rPr lang="fr-FR" sz="900" b="0" i="0" u="none" strike="noStrike">
                          <a:solidFill>
                            <a:srgbClr val="000000"/>
                          </a:solidFill>
                          <a:effectLst/>
                          <a:latin typeface="Aptos Narrow" panose="020B0004020202020204" pitchFamily="34" charset="0"/>
                        </a:rPr>
                        <a:t>2,6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97A"/>
                    </a:solidFill>
                  </a:tcPr>
                </a:tc>
                <a:tc>
                  <a:txBody>
                    <a:bodyPr/>
                    <a:lstStyle/>
                    <a:p>
                      <a:pPr algn="r" fontAlgn="b">
                        <a:buNone/>
                      </a:pPr>
                      <a:r>
                        <a:rPr lang="fr-FR" sz="900" b="0" i="0" u="none" strike="noStrike">
                          <a:solidFill>
                            <a:srgbClr val="00B050"/>
                          </a:solidFill>
                          <a:effectLst/>
                          <a:latin typeface="Aptos Narrow" panose="020B0004020202020204" pitchFamily="34" charset="0"/>
                        </a:rPr>
                        <a:t>8,9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15496017"/>
                  </a:ext>
                </a:extLst>
              </a:tr>
              <a:tr h="184602">
                <a:tc>
                  <a:txBody>
                    <a:bodyPr/>
                    <a:lstStyle/>
                    <a:p>
                      <a:pPr algn="l" fontAlgn="b">
                        <a:buNone/>
                      </a:pPr>
                      <a:r>
                        <a:rPr lang="fr-FR" sz="900" b="1" i="0" u="none" strike="noStrike">
                          <a:solidFill>
                            <a:srgbClr val="000000"/>
                          </a:solidFill>
                          <a:effectLst/>
                          <a:latin typeface="Aptos Narrow" panose="020B0004020202020204" pitchFamily="34" charset="0"/>
                        </a:rPr>
                        <a:t>Park Eifel</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22,4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CE683"/>
                    </a:solidFill>
                  </a:tcPr>
                </a:tc>
                <a:tc>
                  <a:txBody>
                    <a:bodyPr/>
                    <a:lstStyle/>
                    <a:p>
                      <a:pPr algn="r" fontAlgn="b">
                        <a:buNone/>
                      </a:pPr>
                      <a:r>
                        <a:rPr lang="fr-FR" sz="900" b="1" i="0" u="none" strike="noStrike">
                          <a:solidFill>
                            <a:srgbClr val="000000"/>
                          </a:solidFill>
                          <a:effectLst/>
                          <a:latin typeface="Aptos Narrow" panose="020B0004020202020204" pitchFamily="34" charset="0"/>
                        </a:rPr>
                        <a:t>13,9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E81"/>
                    </a:solidFill>
                  </a:tcPr>
                </a:tc>
                <a:tc>
                  <a:txBody>
                    <a:bodyPr/>
                    <a:lstStyle/>
                    <a:p>
                      <a:pPr algn="r" fontAlgn="b">
                        <a:buNone/>
                      </a:pPr>
                      <a:r>
                        <a:rPr lang="fr-FR" sz="900" b="0" i="0" u="none" strike="noStrike">
                          <a:solidFill>
                            <a:srgbClr val="00B050"/>
                          </a:solidFill>
                          <a:effectLst/>
                          <a:latin typeface="Aptos Narrow" panose="020B0004020202020204" pitchFamily="34" charset="0"/>
                        </a:rPr>
                        <a:t>8,4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83401065"/>
                  </a:ext>
                </a:extLst>
              </a:tr>
              <a:tr h="184602">
                <a:tc>
                  <a:txBody>
                    <a:bodyPr/>
                    <a:lstStyle/>
                    <a:p>
                      <a:pPr algn="l" fontAlgn="b">
                        <a:buNone/>
                      </a:pPr>
                      <a:r>
                        <a:rPr lang="fr-FR" sz="900" b="0" i="0" u="none" strike="noStrike">
                          <a:solidFill>
                            <a:srgbClr val="000000"/>
                          </a:solidFill>
                          <a:effectLst/>
                          <a:latin typeface="Aptos Narrow" panose="020B0004020202020204" pitchFamily="34" charset="0"/>
                        </a:rPr>
                        <a:t> BE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28,1</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5DF82"/>
                    </a:solidFill>
                  </a:tcPr>
                </a:tc>
                <a:tc>
                  <a:txBody>
                    <a:bodyPr/>
                    <a:lstStyle/>
                    <a:p>
                      <a:pPr algn="r" fontAlgn="b">
                        <a:buNone/>
                      </a:pPr>
                      <a:r>
                        <a:rPr lang="fr-FR" sz="900" b="0" i="0" u="none" strike="noStrike">
                          <a:solidFill>
                            <a:srgbClr val="000000"/>
                          </a:solidFill>
                          <a:effectLst/>
                          <a:latin typeface="Aptos Narrow" panose="020B0004020202020204" pitchFamily="34" charset="0"/>
                        </a:rPr>
                        <a:t>25,5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0E283"/>
                    </a:solidFill>
                  </a:tcPr>
                </a:tc>
                <a:tc>
                  <a:txBody>
                    <a:bodyPr/>
                    <a:lstStyle/>
                    <a:p>
                      <a:pPr algn="r" fontAlgn="b">
                        <a:buNone/>
                      </a:pPr>
                      <a:r>
                        <a:rPr lang="fr-FR" sz="900" b="0" i="0" u="none" strike="noStrike">
                          <a:solidFill>
                            <a:srgbClr val="00B050"/>
                          </a:solidFill>
                          <a:effectLst/>
                          <a:latin typeface="Aptos Narrow" panose="020B0004020202020204" pitchFamily="34" charset="0"/>
                        </a:rPr>
                        <a:t>2,6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71556638"/>
                  </a:ext>
                </a:extLst>
              </a:tr>
              <a:tr h="184602">
                <a:tc>
                  <a:txBody>
                    <a:bodyPr/>
                    <a:lstStyle/>
                    <a:p>
                      <a:pPr algn="l" fontAlgn="b">
                        <a:buNone/>
                      </a:pPr>
                      <a:r>
                        <a:rPr lang="fr-FR" sz="900" b="0" i="0" u="none" strike="noStrike">
                          <a:solidFill>
                            <a:srgbClr val="000000"/>
                          </a:solidFill>
                          <a:effectLst/>
                          <a:latin typeface="Aptos Narrow" panose="020B0004020202020204" pitchFamily="34" charset="0"/>
                        </a:rPr>
                        <a:t> CH</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28,6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3DF82"/>
                    </a:solidFill>
                  </a:tcPr>
                </a:tc>
                <a:tc>
                  <a:txBody>
                    <a:bodyPr/>
                    <a:lstStyle/>
                    <a:p>
                      <a:pPr algn="r" fontAlgn="b">
                        <a:buNone/>
                      </a:pPr>
                      <a:r>
                        <a:rPr lang="fr-FR" sz="900" b="0" i="0" u="none" strike="noStrike">
                          <a:solidFill>
                            <a:srgbClr val="000000"/>
                          </a:solidFill>
                          <a:effectLst/>
                          <a:latin typeface="Aptos Narrow" panose="020B0004020202020204" pitchFamily="34" charset="0"/>
                        </a:rPr>
                        <a:t>10,5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37F"/>
                    </a:solidFill>
                  </a:tcPr>
                </a:tc>
                <a:tc>
                  <a:txBody>
                    <a:bodyPr/>
                    <a:lstStyle/>
                    <a:p>
                      <a:pPr algn="r" fontAlgn="b">
                        <a:buNone/>
                      </a:pPr>
                      <a:r>
                        <a:rPr lang="fr-FR" sz="900" b="0" i="0" u="none" strike="noStrike">
                          <a:solidFill>
                            <a:srgbClr val="00B050"/>
                          </a:solidFill>
                          <a:effectLst/>
                          <a:latin typeface="Aptos Narrow" panose="020B0004020202020204" pitchFamily="34" charset="0"/>
                        </a:rPr>
                        <a:t>18,0</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44766157"/>
                  </a:ext>
                </a:extLst>
              </a:tr>
              <a:tr h="184602">
                <a:tc>
                  <a:txBody>
                    <a:bodyPr/>
                    <a:lstStyle/>
                    <a:p>
                      <a:pPr algn="l" fontAlgn="b">
                        <a:buNone/>
                      </a:pPr>
                      <a:r>
                        <a:rPr lang="fr-FR" sz="900" b="0" i="0" u="none" strike="noStrike">
                          <a:solidFill>
                            <a:srgbClr val="000000"/>
                          </a:solidFill>
                          <a:effectLst/>
                          <a:latin typeface="Aptos Narrow" panose="020B0004020202020204" pitchFamily="34" charset="0"/>
                        </a:rPr>
                        <a:t> DE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24,7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3E383"/>
                    </a:solidFill>
                  </a:tcPr>
                </a:tc>
                <a:tc>
                  <a:txBody>
                    <a:bodyPr/>
                    <a:lstStyle/>
                    <a:p>
                      <a:pPr algn="r" fontAlgn="b">
                        <a:buNone/>
                      </a:pPr>
                      <a:r>
                        <a:rPr lang="fr-FR" sz="900" b="0" i="0" u="none" strike="noStrike">
                          <a:solidFill>
                            <a:srgbClr val="000000"/>
                          </a:solidFill>
                          <a:effectLst/>
                          <a:latin typeface="Aptos Narrow" panose="020B0004020202020204" pitchFamily="34" charset="0"/>
                        </a:rPr>
                        <a:t>14,4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081"/>
                    </a:solidFill>
                  </a:tcPr>
                </a:tc>
                <a:tc>
                  <a:txBody>
                    <a:bodyPr/>
                    <a:lstStyle/>
                    <a:p>
                      <a:pPr algn="r" fontAlgn="b">
                        <a:buNone/>
                      </a:pPr>
                      <a:r>
                        <a:rPr lang="fr-FR" sz="900" b="0" i="0" u="none" strike="noStrike">
                          <a:solidFill>
                            <a:srgbClr val="00B050"/>
                          </a:solidFill>
                          <a:effectLst/>
                          <a:latin typeface="Aptos Narrow" panose="020B0004020202020204" pitchFamily="34" charset="0"/>
                        </a:rPr>
                        <a:t>10,3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2434532"/>
                  </a:ext>
                </a:extLst>
              </a:tr>
              <a:tr h="184602">
                <a:tc>
                  <a:txBody>
                    <a:bodyPr/>
                    <a:lstStyle/>
                    <a:p>
                      <a:pPr algn="l" fontAlgn="b">
                        <a:buNone/>
                      </a:pPr>
                      <a:r>
                        <a:rPr lang="fr-FR" sz="900" b="0" i="0" u="none" strike="noStrike">
                          <a:solidFill>
                            <a:srgbClr val="000000"/>
                          </a:solidFill>
                          <a:effectLst/>
                          <a:latin typeface="Aptos Narrow" panose="020B0004020202020204" pitchFamily="34" charset="0"/>
                        </a:rPr>
                        <a:t> FR</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17,3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983"/>
                    </a:solidFill>
                  </a:tcPr>
                </a:tc>
                <a:tc>
                  <a:txBody>
                    <a:bodyPr/>
                    <a:lstStyle/>
                    <a:p>
                      <a:pPr algn="r" fontAlgn="b">
                        <a:buNone/>
                      </a:pPr>
                      <a:r>
                        <a:rPr lang="fr-FR" sz="900" b="0" i="0" u="none" strike="noStrike">
                          <a:solidFill>
                            <a:srgbClr val="000000"/>
                          </a:solidFill>
                          <a:effectLst/>
                          <a:latin typeface="Aptos Narrow" panose="020B0004020202020204" pitchFamily="34" charset="0"/>
                        </a:rPr>
                        <a:t>1,6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579"/>
                    </a:solidFill>
                  </a:tcPr>
                </a:tc>
                <a:tc>
                  <a:txBody>
                    <a:bodyPr/>
                    <a:lstStyle/>
                    <a:p>
                      <a:pPr algn="r" fontAlgn="b">
                        <a:buNone/>
                      </a:pPr>
                      <a:r>
                        <a:rPr lang="fr-FR" sz="900" b="0" i="0" u="none" strike="noStrike">
                          <a:solidFill>
                            <a:srgbClr val="00B050"/>
                          </a:solidFill>
                          <a:effectLst/>
                          <a:latin typeface="Aptos Narrow" panose="020B0004020202020204" pitchFamily="34" charset="0"/>
                        </a:rPr>
                        <a:t>15,7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69861194"/>
                  </a:ext>
                </a:extLst>
              </a:tr>
              <a:tr h="184602">
                <a:tc>
                  <a:txBody>
                    <a:bodyPr/>
                    <a:lstStyle/>
                    <a:p>
                      <a:pPr algn="l" fontAlgn="b">
                        <a:buNone/>
                      </a:pPr>
                      <a:r>
                        <a:rPr lang="fr-FR" sz="900" b="0" i="0" u="none" strike="noStrike">
                          <a:solidFill>
                            <a:srgbClr val="000000"/>
                          </a:solidFill>
                          <a:effectLst/>
                          <a:latin typeface="Aptos Narrow" panose="020B0004020202020204" pitchFamily="34" charset="0"/>
                        </a:rPr>
                        <a:t> GB</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27,6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7E082"/>
                    </a:solidFill>
                  </a:tcPr>
                </a:tc>
                <a:tc>
                  <a:txBody>
                    <a:bodyPr/>
                    <a:lstStyle/>
                    <a:p>
                      <a:pPr algn="r" fontAlgn="b">
                        <a:buNone/>
                      </a:pPr>
                      <a:r>
                        <a:rPr lang="fr-FR" sz="900" b="0" i="0" u="none" strike="noStrike">
                          <a:solidFill>
                            <a:srgbClr val="000000"/>
                          </a:solidFill>
                          <a:effectLst/>
                          <a:latin typeface="Aptos Narrow" panose="020B0004020202020204" pitchFamily="34" charset="0"/>
                        </a:rPr>
                        <a:t>23,8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7E483"/>
                    </a:solidFill>
                  </a:tcPr>
                </a:tc>
                <a:tc>
                  <a:txBody>
                    <a:bodyPr/>
                    <a:lstStyle/>
                    <a:p>
                      <a:pPr algn="r" fontAlgn="b">
                        <a:buNone/>
                      </a:pPr>
                      <a:r>
                        <a:rPr lang="fr-FR" sz="900" b="0" i="0" u="none" strike="noStrike">
                          <a:solidFill>
                            <a:srgbClr val="00B050"/>
                          </a:solidFill>
                          <a:effectLst/>
                          <a:latin typeface="Aptos Narrow" panose="020B0004020202020204" pitchFamily="34" charset="0"/>
                        </a:rPr>
                        <a:t>3,8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95436474"/>
                  </a:ext>
                </a:extLst>
              </a:tr>
              <a:tr h="184602">
                <a:tc>
                  <a:txBody>
                    <a:bodyPr/>
                    <a:lstStyle/>
                    <a:p>
                      <a:pPr algn="l" fontAlgn="b">
                        <a:buNone/>
                      </a:pPr>
                      <a:r>
                        <a:rPr lang="fr-FR" sz="900" b="0" i="0" u="none" strike="noStrike">
                          <a:solidFill>
                            <a:srgbClr val="000000"/>
                          </a:solidFill>
                          <a:effectLst/>
                          <a:latin typeface="Aptos Narrow" panose="020B0004020202020204" pitchFamily="34" charset="0"/>
                        </a:rPr>
                        <a:t> LU</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25,9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EE283"/>
                    </a:solidFill>
                  </a:tcPr>
                </a:tc>
                <a:tc>
                  <a:txBody>
                    <a:bodyPr/>
                    <a:lstStyle/>
                    <a:p>
                      <a:pPr algn="r" fontAlgn="b">
                        <a:buNone/>
                      </a:pPr>
                      <a:r>
                        <a:rPr lang="fr-FR" sz="900" b="0" i="0" u="none" strike="noStrike">
                          <a:solidFill>
                            <a:srgbClr val="000000"/>
                          </a:solidFill>
                          <a:effectLst/>
                          <a:latin typeface="Aptos Narrow" panose="020B0004020202020204" pitchFamily="34" charset="0"/>
                        </a:rPr>
                        <a:t>10,5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37F"/>
                    </a:solidFill>
                  </a:tcPr>
                </a:tc>
                <a:tc>
                  <a:txBody>
                    <a:bodyPr/>
                    <a:lstStyle/>
                    <a:p>
                      <a:pPr algn="r" fontAlgn="b">
                        <a:buNone/>
                      </a:pPr>
                      <a:r>
                        <a:rPr lang="fr-FR" sz="900" b="0" i="0" u="none" strike="noStrike">
                          <a:solidFill>
                            <a:srgbClr val="00B050"/>
                          </a:solidFill>
                          <a:effectLst/>
                          <a:latin typeface="Aptos Narrow" panose="020B0004020202020204" pitchFamily="34" charset="0"/>
                        </a:rPr>
                        <a:t>15,4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31752500"/>
                  </a:ext>
                </a:extLst>
              </a:tr>
              <a:tr h="184602">
                <a:tc>
                  <a:txBody>
                    <a:bodyPr/>
                    <a:lstStyle/>
                    <a:p>
                      <a:pPr algn="l" fontAlgn="b">
                        <a:buNone/>
                      </a:pPr>
                      <a:r>
                        <a:rPr lang="fr-FR" sz="900" b="0" i="0" u="none" strike="noStrike">
                          <a:solidFill>
                            <a:srgbClr val="000000"/>
                          </a:solidFill>
                          <a:effectLst/>
                          <a:latin typeface="Aptos Narrow" panose="020B0004020202020204" pitchFamily="34" charset="0"/>
                        </a:rPr>
                        <a:t> NL</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10,9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47F"/>
                    </a:solidFill>
                  </a:tcPr>
                </a:tc>
                <a:tc>
                  <a:txBody>
                    <a:bodyPr/>
                    <a:lstStyle/>
                    <a:p>
                      <a:pPr algn="r" fontAlgn="b">
                        <a:buNone/>
                      </a:pPr>
                      <a:r>
                        <a:rPr lang="fr-FR" sz="900" b="0" i="0" u="none" strike="noStrike">
                          <a:solidFill>
                            <a:srgbClr val="000000"/>
                          </a:solidFill>
                          <a:effectLst/>
                          <a:latin typeface="Aptos Narrow" panose="020B0004020202020204" pitchFamily="34" charset="0"/>
                        </a:rPr>
                        <a:t>8,9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E7E"/>
                    </a:solidFill>
                  </a:tcPr>
                </a:tc>
                <a:tc>
                  <a:txBody>
                    <a:bodyPr/>
                    <a:lstStyle/>
                    <a:p>
                      <a:pPr algn="r" fontAlgn="b">
                        <a:buNone/>
                      </a:pPr>
                      <a:r>
                        <a:rPr lang="fr-FR" sz="900" b="0" i="0" u="none" strike="noStrike">
                          <a:solidFill>
                            <a:srgbClr val="00B050"/>
                          </a:solidFill>
                          <a:effectLst/>
                          <a:latin typeface="Aptos Narrow" panose="020B0004020202020204" pitchFamily="34" charset="0"/>
                        </a:rPr>
                        <a:t>2,0</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14883672"/>
                  </a:ext>
                </a:extLst>
              </a:tr>
            </a:tbl>
          </a:graphicData>
        </a:graphic>
      </p:graphicFrame>
      <p:graphicFrame>
        <p:nvGraphicFramePr>
          <p:cNvPr id="10" name="Table 9">
            <a:extLst>
              <a:ext uri="{FF2B5EF4-FFF2-40B4-BE49-F238E27FC236}">
                <a16:creationId xmlns:a16="http://schemas.microsoft.com/office/drawing/2014/main" id="{D87C4B58-2D11-1158-5BB2-A6662276AFD5}"/>
              </a:ext>
            </a:extLst>
          </p:cNvPr>
          <p:cNvGraphicFramePr>
            <a:graphicFrameLocks noGrp="1"/>
          </p:cNvGraphicFramePr>
          <p:nvPr>
            <p:extLst>
              <p:ext uri="{D42A27DB-BD31-4B8C-83A1-F6EECF244321}">
                <p14:modId xmlns:p14="http://schemas.microsoft.com/office/powerpoint/2010/main" val="990622864"/>
              </p:ext>
            </p:extLst>
          </p:nvPr>
        </p:nvGraphicFramePr>
        <p:xfrm>
          <a:off x="7131936" y="3158146"/>
          <a:ext cx="2735966" cy="2953632"/>
        </p:xfrm>
        <a:graphic>
          <a:graphicData uri="http://schemas.openxmlformats.org/drawingml/2006/table">
            <a:tbl>
              <a:tblPr/>
              <a:tblGrid>
                <a:gridCol w="1377416">
                  <a:extLst>
                    <a:ext uri="{9D8B030D-6E8A-4147-A177-3AD203B41FA5}">
                      <a16:colId xmlns:a16="http://schemas.microsoft.com/office/drawing/2014/main" val="786805794"/>
                    </a:ext>
                  </a:extLst>
                </a:gridCol>
                <a:gridCol w="452850">
                  <a:extLst>
                    <a:ext uri="{9D8B030D-6E8A-4147-A177-3AD203B41FA5}">
                      <a16:colId xmlns:a16="http://schemas.microsoft.com/office/drawing/2014/main" val="4144719268"/>
                    </a:ext>
                  </a:extLst>
                </a:gridCol>
                <a:gridCol w="452850">
                  <a:extLst>
                    <a:ext uri="{9D8B030D-6E8A-4147-A177-3AD203B41FA5}">
                      <a16:colId xmlns:a16="http://schemas.microsoft.com/office/drawing/2014/main" val="2713518561"/>
                    </a:ext>
                  </a:extLst>
                </a:gridCol>
                <a:gridCol w="452850">
                  <a:extLst>
                    <a:ext uri="{9D8B030D-6E8A-4147-A177-3AD203B41FA5}">
                      <a16:colId xmlns:a16="http://schemas.microsoft.com/office/drawing/2014/main" val="1172964867"/>
                    </a:ext>
                  </a:extLst>
                </a:gridCol>
              </a:tblGrid>
              <a:tr h="268512">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09619448"/>
                  </a:ext>
                </a:extLst>
              </a:tr>
              <a:tr h="268512">
                <a:tc>
                  <a:txBody>
                    <a:bodyPr/>
                    <a:lstStyle/>
                    <a:p>
                      <a:pPr algn="l" fontAlgn="b">
                        <a:buNone/>
                      </a:pPr>
                      <a:r>
                        <a:rPr lang="fr-FR" sz="900" b="1" i="0" u="none" strike="noStrike">
                          <a:solidFill>
                            <a:srgbClr val="000000"/>
                          </a:solidFill>
                          <a:effectLst/>
                          <a:latin typeface="Aptos Narrow" panose="020B0004020202020204" pitchFamily="34" charset="0"/>
                        </a:rPr>
                        <a:t>Park </a:t>
                      </a:r>
                      <a:r>
                        <a:rPr lang="fr-FR" sz="900" b="1" i="0" u="none" strike="noStrike" err="1">
                          <a:solidFill>
                            <a:srgbClr val="000000"/>
                          </a:solidFill>
                          <a:effectLst/>
                          <a:latin typeface="Aptos Narrow" panose="020B0004020202020204" pitchFamily="34" charset="0"/>
                        </a:rPr>
                        <a:t>Hochsauerland</a:t>
                      </a:r>
                      <a:endParaRPr lang="fr-FR" sz="900" b="1" i="0" u="none" strike="noStrike">
                        <a:solidFill>
                          <a:srgbClr val="000000"/>
                        </a:solidFill>
                        <a:effectLst/>
                        <a:latin typeface="Aptos Narrow" panose="020B0004020202020204" pitchFamily="34" charset="0"/>
                      </a:endParaRP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35,6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6D680"/>
                    </a:solidFill>
                  </a:tcPr>
                </a:tc>
                <a:tc>
                  <a:txBody>
                    <a:bodyPr/>
                    <a:lstStyle/>
                    <a:p>
                      <a:pPr algn="r" fontAlgn="b">
                        <a:buNone/>
                      </a:pPr>
                      <a:r>
                        <a:rPr lang="fr-FR" sz="900" b="1" i="0" u="none" strike="noStrike">
                          <a:solidFill>
                            <a:srgbClr val="000000"/>
                          </a:solidFill>
                          <a:effectLst/>
                          <a:latin typeface="Aptos Narrow" panose="020B0004020202020204" pitchFamily="34" charset="0"/>
                        </a:rPr>
                        <a:t>32,2</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4DA81"/>
                    </a:solidFill>
                  </a:tcPr>
                </a:tc>
                <a:tc>
                  <a:txBody>
                    <a:bodyPr/>
                    <a:lstStyle/>
                    <a:p>
                      <a:pPr algn="r" fontAlgn="b">
                        <a:buNone/>
                      </a:pPr>
                      <a:r>
                        <a:rPr lang="fr-FR" sz="900" b="0" i="0" u="none" strike="noStrike">
                          <a:solidFill>
                            <a:srgbClr val="00B050"/>
                          </a:solidFill>
                          <a:effectLst/>
                          <a:latin typeface="Aptos Narrow" panose="020B0004020202020204" pitchFamily="34" charset="0"/>
                        </a:rPr>
                        <a:t>3,4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07724564"/>
                  </a:ext>
                </a:extLst>
              </a:tr>
              <a:tr h="268512">
                <a:tc>
                  <a:txBody>
                    <a:bodyPr/>
                    <a:lstStyle/>
                    <a:p>
                      <a:pPr algn="l" fontAlgn="b">
                        <a:buNone/>
                      </a:pPr>
                      <a:r>
                        <a:rPr lang="fr-FR" sz="900" b="0" i="0" u="none" strike="noStrike">
                          <a:solidFill>
                            <a:srgbClr val="000000"/>
                          </a:solidFill>
                          <a:effectLst/>
                          <a:latin typeface="Aptos Narrow" panose="020B0004020202020204" pitchFamily="34" charset="0"/>
                        </a:rPr>
                        <a:t> BE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42,9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9CE7F"/>
                    </a:solidFill>
                  </a:tcPr>
                </a:tc>
                <a:tc>
                  <a:txBody>
                    <a:bodyPr/>
                    <a:lstStyle/>
                    <a:p>
                      <a:pPr algn="r" fontAlgn="b">
                        <a:buNone/>
                      </a:pPr>
                      <a:r>
                        <a:rPr lang="fr-FR" sz="900" b="0" i="0" u="none" strike="noStrike">
                          <a:solidFill>
                            <a:srgbClr val="000000"/>
                          </a:solidFill>
                          <a:effectLst/>
                          <a:latin typeface="Aptos Narrow" panose="020B0004020202020204" pitchFamily="34" charset="0"/>
                        </a:rPr>
                        <a:t>30,8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ADC81"/>
                    </a:solidFill>
                  </a:tcPr>
                </a:tc>
                <a:tc>
                  <a:txBody>
                    <a:bodyPr/>
                    <a:lstStyle/>
                    <a:p>
                      <a:pPr algn="r" fontAlgn="b">
                        <a:buNone/>
                      </a:pPr>
                      <a:r>
                        <a:rPr lang="fr-FR" sz="900" b="0" i="0" u="none" strike="noStrike">
                          <a:solidFill>
                            <a:srgbClr val="00B050"/>
                          </a:solidFill>
                          <a:effectLst/>
                          <a:latin typeface="Aptos Narrow" panose="020B0004020202020204" pitchFamily="34" charset="0"/>
                        </a:rPr>
                        <a:t>12,1</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07217070"/>
                  </a:ext>
                </a:extLst>
              </a:tr>
              <a:tr h="268512">
                <a:tc>
                  <a:txBody>
                    <a:bodyPr/>
                    <a:lstStyle/>
                    <a:p>
                      <a:pPr algn="l" fontAlgn="b">
                        <a:buNone/>
                      </a:pPr>
                      <a:r>
                        <a:rPr lang="fr-FR" sz="900" b="0" i="0" u="none" strike="noStrike">
                          <a:solidFill>
                            <a:srgbClr val="000000"/>
                          </a:solidFill>
                          <a:effectLst/>
                          <a:latin typeface="Aptos Narrow" panose="020B0004020202020204" pitchFamily="34" charset="0"/>
                        </a:rPr>
                        <a:t> DE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38,6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BD380"/>
                    </a:solidFill>
                  </a:tcPr>
                </a:tc>
                <a:tc>
                  <a:txBody>
                    <a:bodyPr/>
                    <a:lstStyle/>
                    <a:p>
                      <a:pPr algn="r" fontAlgn="b">
                        <a:buNone/>
                      </a:pPr>
                      <a:r>
                        <a:rPr lang="fr-FR" sz="900" b="0" i="0" u="none" strike="noStrike">
                          <a:solidFill>
                            <a:srgbClr val="000000"/>
                          </a:solidFill>
                          <a:effectLst/>
                          <a:latin typeface="Aptos Narrow" panose="020B0004020202020204" pitchFamily="34" charset="0"/>
                        </a:rPr>
                        <a:t>34,3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CD881"/>
                    </a:solidFill>
                  </a:tcPr>
                </a:tc>
                <a:tc>
                  <a:txBody>
                    <a:bodyPr/>
                    <a:lstStyle/>
                    <a:p>
                      <a:pPr algn="r" fontAlgn="b">
                        <a:buNone/>
                      </a:pPr>
                      <a:r>
                        <a:rPr lang="fr-FR" sz="900" b="0" i="0" u="none" strike="noStrike">
                          <a:solidFill>
                            <a:srgbClr val="00B050"/>
                          </a:solidFill>
                          <a:effectLst/>
                          <a:latin typeface="Aptos Narrow" panose="020B0004020202020204" pitchFamily="34" charset="0"/>
                        </a:rPr>
                        <a:t>4,3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44148434"/>
                  </a:ext>
                </a:extLst>
              </a:tr>
              <a:tr h="268512">
                <a:tc>
                  <a:txBody>
                    <a:bodyPr/>
                    <a:lstStyle/>
                    <a:p>
                      <a:pPr algn="l" fontAlgn="b">
                        <a:buNone/>
                      </a:pPr>
                      <a:r>
                        <a:rPr lang="fr-FR" sz="900" b="0" i="0" u="none" strike="noStrike">
                          <a:solidFill>
                            <a:srgbClr val="000000"/>
                          </a:solidFill>
                          <a:effectLst/>
                          <a:latin typeface="Aptos Narrow" panose="020B0004020202020204" pitchFamily="34" charset="0"/>
                        </a:rPr>
                        <a:t> DK</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22,6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CE683"/>
                    </a:solidFill>
                  </a:tcPr>
                </a:tc>
                <a:tc>
                  <a:txBody>
                    <a:bodyPr/>
                    <a:lstStyle/>
                    <a:p>
                      <a:pPr algn="r" fontAlgn="b">
                        <a:buNone/>
                      </a:pPr>
                      <a:r>
                        <a:rPr lang="fr-FR" sz="900" b="0" i="0" u="none" strike="noStrike">
                          <a:solidFill>
                            <a:srgbClr val="000000"/>
                          </a:solidFill>
                          <a:effectLst/>
                          <a:latin typeface="Aptos Narrow" panose="020B0004020202020204" pitchFamily="34" charset="0"/>
                        </a:rPr>
                        <a:t>9,1</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E7E"/>
                    </a:solidFill>
                  </a:tcPr>
                </a:tc>
                <a:tc>
                  <a:txBody>
                    <a:bodyPr/>
                    <a:lstStyle/>
                    <a:p>
                      <a:pPr algn="r" fontAlgn="b">
                        <a:buNone/>
                      </a:pPr>
                      <a:r>
                        <a:rPr lang="fr-FR" sz="900" b="0" i="0" u="none" strike="noStrike">
                          <a:solidFill>
                            <a:srgbClr val="00B050"/>
                          </a:solidFill>
                          <a:effectLst/>
                          <a:latin typeface="Aptos Narrow" panose="020B0004020202020204" pitchFamily="34" charset="0"/>
                        </a:rPr>
                        <a:t>13,5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51863900"/>
                  </a:ext>
                </a:extLst>
              </a:tr>
              <a:tr h="268512">
                <a:tc>
                  <a:txBody>
                    <a:bodyPr/>
                    <a:lstStyle/>
                    <a:p>
                      <a:pPr algn="l" fontAlgn="b">
                        <a:buNone/>
                      </a:pPr>
                      <a:r>
                        <a:rPr lang="fr-FR" sz="900" b="0" i="0" u="none" strike="noStrike">
                          <a:solidFill>
                            <a:srgbClr val="000000"/>
                          </a:solidFill>
                          <a:effectLst/>
                          <a:latin typeface="Aptos Narrow" panose="020B0004020202020204" pitchFamily="34" charset="0"/>
                        </a:rPr>
                        <a:t> FR</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23,5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8E583"/>
                    </a:solidFill>
                  </a:tcPr>
                </a:tc>
                <a:tc>
                  <a:txBody>
                    <a:bodyPr/>
                    <a:lstStyle/>
                    <a:p>
                      <a:pPr algn="r" fontAlgn="b">
                        <a:buNone/>
                      </a:pPr>
                      <a:r>
                        <a:rPr lang="fr-FR" sz="900" b="0" i="0" u="none" strike="noStrike">
                          <a:solidFill>
                            <a:srgbClr val="000000"/>
                          </a:solidFill>
                          <a:effectLst/>
                          <a:latin typeface="Aptos Narrow" panose="020B0004020202020204" pitchFamily="34" charset="0"/>
                        </a:rPr>
                        <a:t>29,2</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1DE82"/>
                    </a:solidFill>
                  </a:tcPr>
                </a:tc>
                <a:tc>
                  <a:txBody>
                    <a:bodyPr/>
                    <a:lstStyle/>
                    <a:p>
                      <a:pPr algn="r" fontAlgn="b">
                        <a:buNone/>
                      </a:pPr>
                      <a:r>
                        <a:rPr lang="fr-FR" sz="900" b="0" i="0" u="none" strike="noStrike">
                          <a:solidFill>
                            <a:srgbClr val="FF0000"/>
                          </a:solidFill>
                          <a:effectLst/>
                          <a:latin typeface="Aptos Narrow" panose="020B0004020202020204" pitchFamily="34" charset="0"/>
                        </a:rPr>
                        <a:t>-5,6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64216949"/>
                  </a:ext>
                </a:extLst>
              </a:tr>
              <a:tr h="268512">
                <a:tc>
                  <a:txBody>
                    <a:bodyPr/>
                    <a:lstStyle/>
                    <a:p>
                      <a:pPr algn="l" fontAlgn="b">
                        <a:buNone/>
                      </a:pPr>
                      <a:r>
                        <a:rPr lang="fr-FR" sz="900" b="0" i="0" u="none" strike="noStrike">
                          <a:solidFill>
                            <a:srgbClr val="000000"/>
                          </a:solidFill>
                          <a:effectLst/>
                          <a:latin typeface="Aptos Narrow" panose="020B0004020202020204" pitchFamily="34" charset="0"/>
                        </a:rPr>
                        <a:t> NL</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19,5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E984"/>
                    </a:solidFill>
                  </a:tcPr>
                </a:tc>
                <a:tc>
                  <a:txBody>
                    <a:bodyPr/>
                    <a:lstStyle/>
                    <a:p>
                      <a:pPr algn="r" fontAlgn="b">
                        <a:buNone/>
                      </a:pPr>
                      <a:r>
                        <a:rPr lang="fr-FR" sz="900" b="0" i="0" u="none" strike="noStrike">
                          <a:solidFill>
                            <a:srgbClr val="000000"/>
                          </a:solidFill>
                          <a:effectLst/>
                          <a:latin typeface="Aptos Narrow" panose="020B0004020202020204" pitchFamily="34" charset="0"/>
                        </a:rPr>
                        <a:t>20,4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5E884"/>
                    </a:solidFill>
                  </a:tcPr>
                </a:tc>
                <a:tc>
                  <a:txBody>
                    <a:bodyPr/>
                    <a:lstStyle/>
                    <a:p>
                      <a:pPr algn="r" fontAlgn="b">
                        <a:buNone/>
                      </a:pPr>
                      <a:r>
                        <a:rPr lang="fr-FR" sz="900" b="0" i="0" u="none" strike="noStrike">
                          <a:solidFill>
                            <a:srgbClr val="FF0000"/>
                          </a:solidFill>
                          <a:effectLst/>
                          <a:latin typeface="Aptos Narrow" panose="020B0004020202020204" pitchFamily="34" charset="0"/>
                        </a:rPr>
                        <a:t>-0,8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28740227"/>
                  </a:ext>
                </a:extLst>
              </a:tr>
              <a:tr h="268512">
                <a:tc>
                  <a:txBody>
                    <a:bodyPr/>
                    <a:lstStyle/>
                    <a:p>
                      <a:pPr algn="l" fontAlgn="b">
                        <a:buNone/>
                      </a:pPr>
                      <a:r>
                        <a:rPr lang="fr-FR" sz="900" b="1" i="0" u="none" strike="noStrike">
                          <a:solidFill>
                            <a:srgbClr val="000000"/>
                          </a:solidFill>
                          <a:effectLst/>
                          <a:latin typeface="Aptos Narrow" panose="020B0004020202020204" pitchFamily="34" charset="0"/>
                        </a:rPr>
                        <a:t>Park Nordseeküste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0,3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B178"/>
                    </a:solidFill>
                  </a:tcPr>
                </a:tc>
                <a:tc>
                  <a:txBody>
                    <a:bodyPr/>
                    <a:lstStyle/>
                    <a:p>
                      <a:pPr algn="r" fontAlgn="b">
                        <a:buNone/>
                      </a:pPr>
                      <a:r>
                        <a:rPr lang="fr-FR" sz="900" b="1" i="0" u="none" strike="noStrike">
                          <a:solidFill>
                            <a:srgbClr val="000000"/>
                          </a:solidFill>
                          <a:effectLst/>
                          <a:latin typeface="Aptos Narrow" panose="020B0004020202020204" pitchFamily="34" charset="0"/>
                        </a:rPr>
                        <a:t>0,1</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B178"/>
                    </a:solidFill>
                  </a:tcPr>
                </a:tc>
                <a:tc>
                  <a:txBody>
                    <a:bodyPr/>
                    <a:lstStyle/>
                    <a:p>
                      <a:pPr algn="r" fontAlgn="b">
                        <a:buNone/>
                      </a:pPr>
                      <a:r>
                        <a:rPr lang="fr-FR" sz="900" b="0" i="0" u="none" strike="noStrike">
                          <a:solidFill>
                            <a:srgbClr val="00B050"/>
                          </a:solidFill>
                          <a:effectLst/>
                          <a:latin typeface="Aptos Narrow" panose="020B0004020202020204" pitchFamily="34" charset="0"/>
                        </a:rPr>
                        <a:t>0,2</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60066572"/>
                  </a:ext>
                </a:extLst>
              </a:tr>
              <a:tr h="268512">
                <a:tc>
                  <a:txBody>
                    <a:bodyPr/>
                    <a:lstStyle/>
                    <a:p>
                      <a:pPr algn="l" fontAlgn="b">
                        <a:buNone/>
                      </a:pPr>
                      <a:r>
                        <a:rPr lang="fr-FR" sz="900" b="0" i="0" u="none" strike="noStrike">
                          <a:solidFill>
                            <a:srgbClr val="000000"/>
                          </a:solidFill>
                          <a:effectLst/>
                          <a:latin typeface="Aptos Narrow" panose="020B0004020202020204" pitchFamily="34" charset="0"/>
                        </a:rPr>
                        <a:t> BE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97A"/>
                    </a:solidFill>
                  </a:tcPr>
                </a:tc>
                <a:tc>
                  <a:txBody>
                    <a:bodyPr/>
                    <a:lstStyle/>
                    <a:p>
                      <a:pPr algn="r" fontAlgn="b">
                        <a:buNone/>
                      </a:pPr>
                      <a:r>
                        <a:rPr lang="fr-FR" sz="900" b="0" i="0" u="none" strike="noStrike">
                          <a:solidFill>
                            <a:srgbClr val="000000"/>
                          </a:solidFill>
                          <a:effectLst/>
                          <a:latin typeface="Aptos Narrow" panose="020B0004020202020204" pitchFamily="34" charset="0"/>
                        </a:rPr>
                        <a:t>-10,7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D71"/>
                    </a:solidFill>
                  </a:tcPr>
                </a:tc>
                <a:tc>
                  <a:txBody>
                    <a:bodyPr/>
                    <a:lstStyle/>
                    <a:p>
                      <a:pPr algn="r" fontAlgn="b">
                        <a:buNone/>
                      </a:pPr>
                      <a:r>
                        <a:rPr lang="fr-FR" sz="900" b="0" i="0" u="none" strike="noStrike">
                          <a:solidFill>
                            <a:srgbClr val="00B050"/>
                          </a:solidFill>
                          <a:effectLst/>
                          <a:latin typeface="Aptos Narrow" panose="020B0004020202020204" pitchFamily="34" charset="0"/>
                        </a:rPr>
                        <a:t>13,5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39380185"/>
                  </a:ext>
                </a:extLst>
              </a:tr>
              <a:tr h="268512">
                <a:tc>
                  <a:txBody>
                    <a:bodyPr/>
                    <a:lstStyle/>
                    <a:p>
                      <a:pPr algn="l" fontAlgn="b">
                        <a:buNone/>
                      </a:pPr>
                      <a:r>
                        <a:rPr lang="fr-FR" sz="900" b="0" i="0" u="none" strike="noStrike">
                          <a:solidFill>
                            <a:srgbClr val="000000"/>
                          </a:solidFill>
                          <a:effectLst/>
                          <a:latin typeface="Aptos Narrow" panose="020B0004020202020204" pitchFamily="34" charset="0"/>
                        </a:rPr>
                        <a:t> DE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1,0</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379"/>
                    </a:solidFill>
                  </a:tcPr>
                </a:tc>
                <a:tc>
                  <a:txBody>
                    <a:bodyPr/>
                    <a:lstStyle/>
                    <a:p>
                      <a:pPr algn="r" fontAlgn="b">
                        <a:buNone/>
                      </a:pPr>
                      <a:r>
                        <a:rPr lang="fr-FR" sz="900" b="0" i="0" u="none" strike="noStrike">
                          <a:solidFill>
                            <a:srgbClr val="000000"/>
                          </a:solidFill>
                          <a:effectLst/>
                          <a:latin typeface="Aptos Narrow" panose="020B0004020202020204" pitchFamily="34" charset="0"/>
                        </a:rPr>
                        <a:t>1,1</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479"/>
                    </a:solidFill>
                  </a:tcPr>
                </a:tc>
                <a:tc>
                  <a:txBody>
                    <a:bodyPr/>
                    <a:lstStyle/>
                    <a:p>
                      <a:pPr algn="r" fontAlgn="b">
                        <a:buNone/>
                      </a:pPr>
                      <a:r>
                        <a:rPr lang="fr-FR" sz="900" b="0" i="0" u="none" strike="noStrike">
                          <a:solidFill>
                            <a:srgbClr val="FF0000"/>
                          </a:solidFill>
                          <a:effectLst/>
                          <a:latin typeface="Aptos Narrow" panose="020B0004020202020204" pitchFamily="34" charset="0"/>
                        </a:rPr>
                        <a:t>-0,1</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53496011"/>
                  </a:ext>
                </a:extLst>
              </a:tr>
              <a:tr h="268512">
                <a:tc>
                  <a:txBody>
                    <a:bodyPr/>
                    <a:lstStyle/>
                    <a:p>
                      <a:pPr algn="l" fontAlgn="b">
                        <a:buNone/>
                      </a:pPr>
                      <a:r>
                        <a:rPr lang="fr-FR" sz="900" b="0" i="0" u="none" strike="noStrike">
                          <a:solidFill>
                            <a:srgbClr val="000000"/>
                          </a:solidFill>
                          <a:effectLst/>
                          <a:latin typeface="Aptos Narrow" panose="020B0004020202020204" pitchFamily="34" charset="0"/>
                        </a:rPr>
                        <a:t> NL</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-10,3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8E72"/>
                    </a:solidFill>
                  </a:tcPr>
                </a:tc>
                <a:tc>
                  <a:txBody>
                    <a:bodyPr/>
                    <a:lstStyle/>
                    <a:p>
                      <a:pPr algn="r" fontAlgn="b">
                        <a:buNone/>
                      </a:pPr>
                      <a:r>
                        <a:rPr lang="fr-FR" sz="900" b="0" i="0" u="none" strike="noStrike">
                          <a:solidFill>
                            <a:srgbClr val="000000"/>
                          </a:solidFill>
                          <a:effectLst/>
                          <a:latin typeface="Aptos Narrow" panose="020B0004020202020204" pitchFamily="34" charset="0"/>
                        </a:rPr>
                        <a:t>-21,7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96B"/>
                    </a:solidFill>
                  </a:tcPr>
                </a:tc>
                <a:tc>
                  <a:txBody>
                    <a:bodyPr/>
                    <a:lstStyle/>
                    <a:p>
                      <a:pPr algn="r" fontAlgn="b">
                        <a:buNone/>
                      </a:pPr>
                      <a:r>
                        <a:rPr lang="fr-FR" sz="900" b="0" i="0" u="none" strike="noStrike">
                          <a:solidFill>
                            <a:srgbClr val="00B050"/>
                          </a:solidFill>
                          <a:effectLst/>
                          <a:latin typeface="Aptos Narrow" panose="020B0004020202020204" pitchFamily="34" charset="0"/>
                        </a:rPr>
                        <a:t>11,3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90445499"/>
                  </a:ext>
                </a:extLst>
              </a:tr>
            </a:tbl>
          </a:graphicData>
        </a:graphic>
      </p:graphicFrame>
      <p:graphicFrame>
        <p:nvGraphicFramePr>
          <p:cNvPr id="11" name="Table 10">
            <a:extLst>
              <a:ext uri="{FF2B5EF4-FFF2-40B4-BE49-F238E27FC236}">
                <a16:creationId xmlns:a16="http://schemas.microsoft.com/office/drawing/2014/main" id="{E0191E4E-F7CA-1982-DB75-10B040283643}"/>
              </a:ext>
            </a:extLst>
          </p:cNvPr>
          <p:cNvGraphicFramePr>
            <a:graphicFrameLocks noGrp="1"/>
          </p:cNvGraphicFramePr>
          <p:nvPr>
            <p:extLst>
              <p:ext uri="{D42A27DB-BD31-4B8C-83A1-F6EECF244321}">
                <p14:modId xmlns:p14="http://schemas.microsoft.com/office/powerpoint/2010/main" val="473991899"/>
              </p:ext>
            </p:extLst>
          </p:nvPr>
        </p:nvGraphicFramePr>
        <p:xfrm>
          <a:off x="7658100" y="978100"/>
          <a:ext cx="3381960" cy="1956009"/>
        </p:xfrm>
        <a:graphic>
          <a:graphicData uri="http://schemas.openxmlformats.org/drawingml/2006/table">
            <a:tbl>
              <a:tblPr/>
              <a:tblGrid>
                <a:gridCol w="845490">
                  <a:extLst>
                    <a:ext uri="{9D8B030D-6E8A-4147-A177-3AD203B41FA5}">
                      <a16:colId xmlns:a16="http://schemas.microsoft.com/office/drawing/2014/main" val="3899895372"/>
                    </a:ext>
                  </a:extLst>
                </a:gridCol>
                <a:gridCol w="845490">
                  <a:extLst>
                    <a:ext uri="{9D8B030D-6E8A-4147-A177-3AD203B41FA5}">
                      <a16:colId xmlns:a16="http://schemas.microsoft.com/office/drawing/2014/main" val="1581867068"/>
                    </a:ext>
                  </a:extLst>
                </a:gridCol>
                <a:gridCol w="845490">
                  <a:extLst>
                    <a:ext uri="{9D8B030D-6E8A-4147-A177-3AD203B41FA5}">
                      <a16:colId xmlns:a16="http://schemas.microsoft.com/office/drawing/2014/main" val="2272815065"/>
                    </a:ext>
                  </a:extLst>
                </a:gridCol>
                <a:gridCol w="845490">
                  <a:extLst>
                    <a:ext uri="{9D8B030D-6E8A-4147-A177-3AD203B41FA5}">
                      <a16:colId xmlns:a16="http://schemas.microsoft.com/office/drawing/2014/main" val="3784298112"/>
                    </a:ext>
                  </a:extLst>
                </a:gridCol>
              </a:tblGrid>
              <a:tr h="209759">
                <a:tc>
                  <a:txBody>
                    <a:bodyPr/>
                    <a:lstStyle/>
                    <a:p>
                      <a:pPr algn="l" fontAlgn="b">
                        <a:buNone/>
                      </a:pPr>
                      <a:endParaRPr lang="fr-FR" sz="1000" b="0" i="0" u="none" strike="noStrike">
                        <a:solidFill>
                          <a:srgbClr val="000000"/>
                        </a:solidFill>
                        <a:effectLst/>
                        <a:latin typeface="Arial" panose="020B06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Evol </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17184343"/>
                  </a:ext>
                </a:extLst>
              </a:tr>
              <a:tr h="135178">
                <a:tc>
                  <a:txBody>
                    <a:bodyPr/>
                    <a:lstStyle/>
                    <a:p>
                      <a:pPr algn="l" fontAlgn="b">
                        <a:buNone/>
                      </a:pPr>
                      <a:r>
                        <a:rPr lang="fr-FR" sz="1000" b="0" i="0" u="none" strike="noStrike">
                          <a:solidFill>
                            <a:srgbClr val="000000"/>
                          </a:solidFill>
                          <a:effectLst/>
                          <a:latin typeface="Aptos Narrow" panose="020B0004020202020204" pitchFamily="34" charset="0"/>
                        </a:rPr>
                        <a:t>GB</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43,7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5C47F"/>
                    </a:solidFill>
                  </a:tcPr>
                </a:tc>
                <a:tc>
                  <a:txBody>
                    <a:bodyPr/>
                    <a:lstStyle/>
                    <a:p>
                      <a:pPr algn="r" fontAlgn="b">
                        <a:buNone/>
                      </a:pPr>
                      <a:r>
                        <a:rPr lang="fr-FR" sz="1000" b="0" i="0" u="none" strike="noStrike">
                          <a:solidFill>
                            <a:srgbClr val="000000"/>
                          </a:solidFill>
                          <a:effectLst/>
                          <a:latin typeface="Aptos Narrow" panose="020B0004020202020204" pitchFamily="34" charset="0"/>
                        </a:rPr>
                        <a:t>42,7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9C580"/>
                    </a:solidFill>
                  </a:tcPr>
                </a:tc>
                <a:tc>
                  <a:txBody>
                    <a:bodyPr/>
                    <a:lstStyle/>
                    <a:p>
                      <a:pPr algn="r" fontAlgn="b">
                        <a:buNone/>
                      </a:pPr>
                      <a:r>
                        <a:rPr lang="fr-FR" sz="1000" b="0" i="0" u="none" strike="noStrike">
                          <a:solidFill>
                            <a:srgbClr val="00B050"/>
                          </a:solidFill>
                          <a:effectLst/>
                          <a:latin typeface="Aptos Narrow" panose="020B0004020202020204" pitchFamily="34" charset="0"/>
                        </a:rPr>
                        <a:t>1,0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03402662"/>
                  </a:ext>
                </a:extLst>
              </a:tr>
              <a:tr h="135178">
                <a:tc>
                  <a:txBody>
                    <a:bodyPr/>
                    <a:lstStyle/>
                    <a:p>
                      <a:pPr algn="l" fontAlgn="b">
                        <a:buNone/>
                      </a:pPr>
                      <a:r>
                        <a:rPr lang="fr-FR" sz="1000" b="0" i="0" u="none" strike="noStrike">
                          <a:solidFill>
                            <a:srgbClr val="000000"/>
                          </a:solidFill>
                          <a:effectLst/>
                          <a:latin typeface="Aptos Narrow" panose="020B0004020202020204" pitchFamily="34" charset="0"/>
                        </a:rPr>
                        <a:t>IL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38,6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8CA83"/>
                    </a:solidFill>
                  </a:tcPr>
                </a:tc>
                <a:tc>
                  <a:txBody>
                    <a:bodyPr/>
                    <a:lstStyle/>
                    <a:p>
                      <a:pPr algn="r" fontAlgn="b">
                        <a:buNone/>
                      </a:pPr>
                      <a:r>
                        <a:rPr lang="fr-FR" sz="1000" b="0" i="0" u="none" strike="noStrike">
                          <a:solidFill>
                            <a:srgbClr val="000000"/>
                          </a:solidFill>
                          <a:effectLst/>
                          <a:latin typeface="Aptos Narrow" panose="020B0004020202020204" pitchFamily="34" charset="0"/>
                        </a:rPr>
                        <a:t>48,3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1000" b="0" i="0" u="none" strike="noStrike">
                          <a:solidFill>
                            <a:srgbClr val="FF0000"/>
                          </a:solidFill>
                          <a:effectLst/>
                          <a:latin typeface="Aptos Narrow" panose="020B0004020202020204" pitchFamily="34" charset="0"/>
                        </a:rPr>
                        <a:t>-9,7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56093415"/>
                  </a:ext>
                </a:extLst>
              </a:tr>
              <a:tr h="135178">
                <a:tc>
                  <a:txBody>
                    <a:bodyPr/>
                    <a:lstStyle/>
                    <a:p>
                      <a:pPr algn="l" fontAlgn="b">
                        <a:buNone/>
                      </a:pPr>
                      <a:r>
                        <a:rPr lang="fr-FR" sz="1000" b="0" i="0" u="none" strike="noStrike">
                          <a:solidFill>
                            <a:srgbClr val="000000"/>
                          </a:solidFill>
                          <a:effectLst/>
                          <a:latin typeface="Aptos Narrow" panose="020B0004020202020204" pitchFamily="34" charset="0"/>
                        </a:rPr>
                        <a:t>FR</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31,5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3D389"/>
                    </a:solidFill>
                  </a:tcPr>
                </a:tc>
                <a:tc>
                  <a:txBody>
                    <a:bodyPr/>
                    <a:lstStyle/>
                    <a:p>
                      <a:pPr algn="r" fontAlgn="b">
                        <a:buNone/>
                      </a:pPr>
                      <a:r>
                        <a:rPr lang="fr-FR" sz="1000" b="0" i="0" u="none" strike="noStrike">
                          <a:solidFill>
                            <a:srgbClr val="000000"/>
                          </a:solidFill>
                          <a:effectLst/>
                          <a:latin typeface="Aptos Narrow" panose="020B0004020202020204" pitchFamily="34" charset="0"/>
                        </a:rPr>
                        <a:t>29,9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AD48A"/>
                    </a:solidFill>
                  </a:tcPr>
                </a:tc>
                <a:tc>
                  <a:txBody>
                    <a:bodyPr/>
                    <a:lstStyle/>
                    <a:p>
                      <a:pPr algn="r" fontAlgn="b">
                        <a:buNone/>
                      </a:pPr>
                      <a:r>
                        <a:rPr lang="fr-FR" sz="1000" b="0" i="0" u="none" strike="noStrike">
                          <a:solidFill>
                            <a:srgbClr val="00B050"/>
                          </a:solidFill>
                          <a:effectLst/>
                          <a:latin typeface="Aptos Narrow" panose="020B0004020202020204" pitchFamily="34" charset="0"/>
                        </a:rPr>
                        <a:t>1,6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16337348"/>
                  </a:ext>
                </a:extLst>
              </a:tr>
              <a:tr h="135178">
                <a:tc>
                  <a:txBody>
                    <a:bodyPr/>
                    <a:lstStyle/>
                    <a:p>
                      <a:pPr algn="l" fontAlgn="b">
                        <a:buNone/>
                      </a:pPr>
                      <a:r>
                        <a:rPr lang="fr-FR" sz="1000" b="0" i="0" u="none" strike="noStrike">
                          <a:solidFill>
                            <a:srgbClr val="000000"/>
                          </a:solidFill>
                          <a:effectLst/>
                          <a:latin typeface="Aptos Narrow" panose="020B0004020202020204" pitchFamily="34" charset="0"/>
                        </a:rPr>
                        <a:t>BE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30,1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9D48A"/>
                    </a:solidFill>
                  </a:tcPr>
                </a:tc>
                <a:tc>
                  <a:txBody>
                    <a:bodyPr/>
                    <a:lstStyle/>
                    <a:p>
                      <a:pPr algn="r" fontAlgn="b">
                        <a:buNone/>
                      </a:pPr>
                      <a:r>
                        <a:rPr lang="fr-FR" sz="1000" b="0" i="0" u="none" strike="noStrike">
                          <a:solidFill>
                            <a:srgbClr val="000000"/>
                          </a:solidFill>
                          <a:effectLst/>
                          <a:latin typeface="Aptos Narrow" panose="020B0004020202020204" pitchFamily="34" charset="0"/>
                        </a:rPr>
                        <a:t>26,3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7D98D"/>
                    </a:solidFill>
                  </a:tcPr>
                </a:tc>
                <a:tc>
                  <a:txBody>
                    <a:bodyPr/>
                    <a:lstStyle/>
                    <a:p>
                      <a:pPr algn="r" fontAlgn="b">
                        <a:buNone/>
                      </a:pPr>
                      <a:r>
                        <a:rPr lang="fr-FR" sz="1000" b="0" i="0" u="none" strike="noStrike">
                          <a:solidFill>
                            <a:srgbClr val="00B050"/>
                          </a:solidFill>
                          <a:effectLst/>
                          <a:latin typeface="Aptos Narrow" panose="020B0004020202020204" pitchFamily="34" charset="0"/>
                        </a:rPr>
                        <a:t>3,8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35150690"/>
                  </a:ext>
                </a:extLst>
              </a:tr>
              <a:tr h="135178">
                <a:tc>
                  <a:txBody>
                    <a:bodyPr/>
                    <a:lstStyle/>
                    <a:p>
                      <a:pPr algn="l" fontAlgn="b">
                        <a:buNone/>
                      </a:pPr>
                      <a:r>
                        <a:rPr lang="fr-FR" sz="1000" b="0" i="0" u="none" strike="noStrike">
                          <a:solidFill>
                            <a:srgbClr val="000000"/>
                          </a:solidFill>
                          <a:effectLst/>
                          <a:latin typeface="Aptos Narrow" panose="020B0004020202020204" pitchFamily="34" charset="0"/>
                        </a:rPr>
                        <a:t>LU</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27,1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4D88D"/>
                    </a:solidFill>
                  </a:tcPr>
                </a:tc>
                <a:tc>
                  <a:txBody>
                    <a:bodyPr/>
                    <a:lstStyle/>
                    <a:p>
                      <a:pPr algn="r" fontAlgn="b">
                        <a:buNone/>
                      </a:pPr>
                      <a:r>
                        <a:rPr lang="fr-FR" sz="1000" b="0" i="0" u="none" strike="noStrike">
                          <a:solidFill>
                            <a:srgbClr val="000000"/>
                          </a:solidFill>
                          <a:effectLst/>
                          <a:latin typeface="Aptos Narrow" panose="020B0004020202020204" pitchFamily="34" charset="0"/>
                        </a:rPr>
                        <a:t>9,6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7ED9B"/>
                    </a:solidFill>
                  </a:tcPr>
                </a:tc>
                <a:tc>
                  <a:txBody>
                    <a:bodyPr/>
                    <a:lstStyle/>
                    <a:p>
                      <a:pPr algn="r" fontAlgn="b">
                        <a:buNone/>
                      </a:pPr>
                      <a:r>
                        <a:rPr lang="fr-FR" sz="1000" b="0" i="0" u="none" strike="noStrike">
                          <a:solidFill>
                            <a:srgbClr val="00B050"/>
                          </a:solidFill>
                          <a:effectLst/>
                          <a:latin typeface="Aptos Narrow" panose="020B0004020202020204" pitchFamily="34" charset="0"/>
                        </a:rPr>
                        <a:t>17,5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46593800"/>
                  </a:ext>
                </a:extLst>
              </a:tr>
              <a:tr h="135178">
                <a:tc>
                  <a:txBody>
                    <a:bodyPr/>
                    <a:lstStyle/>
                    <a:p>
                      <a:pPr algn="l" fontAlgn="b">
                        <a:buNone/>
                      </a:pPr>
                      <a:r>
                        <a:rPr lang="fr-FR" sz="1000" b="0" i="0" u="none" strike="noStrike">
                          <a:solidFill>
                            <a:srgbClr val="000000"/>
                          </a:solidFill>
                          <a:effectLst/>
                          <a:latin typeface="Aptos Narrow" panose="020B0004020202020204" pitchFamily="34" charset="0"/>
                        </a:rPr>
                        <a:t>DE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21,4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ADF91"/>
                    </a:solidFill>
                  </a:tcPr>
                </a:tc>
                <a:tc>
                  <a:txBody>
                    <a:bodyPr/>
                    <a:lstStyle/>
                    <a:p>
                      <a:pPr algn="r" fontAlgn="b">
                        <a:buNone/>
                      </a:pPr>
                      <a:r>
                        <a:rPr lang="fr-FR" sz="1000" b="0" i="0" u="none" strike="noStrike">
                          <a:solidFill>
                            <a:srgbClr val="000000"/>
                          </a:solidFill>
                          <a:effectLst/>
                          <a:latin typeface="Aptos Narrow" panose="020B0004020202020204" pitchFamily="34" charset="0"/>
                        </a:rPr>
                        <a:t>14,7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3E797"/>
                    </a:solidFill>
                  </a:tcPr>
                </a:tc>
                <a:tc>
                  <a:txBody>
                    <a:bodyPr/>
                    <a:lstStyle/>
                    <a:p>
                      <a:pPr algn="r" fontAlgn="b">
                        <a:buNone/>
                      </a:pPr>
                      <a:r>
                        <a:rPr lang="fr-FR" sz="1000" b="0" i="0" u="none" strike="noStrike">
                          <a:solidFill>
                            <a:srgbClr val="00B050"/>
                          </a:solidFill>
                          <a:effectLst/>
                          <a:latin typeface="Aptos Narrow" panose="020B0004020202020204" pitchFamily="34" charset="0"/>
                        </a:rPr>
                        <a:t>6,7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48595646"/>
                  </a:ext>
                </a:extLst>
              </a:tr>
              <a:tr h="135178">
                <a:tc>
                  <a:txBody>
                    <a:bodyPr/>
                    <a:lstStyle/>
                    <a:p>
                      <a:pPr algn="l" fontAlgn="b">
                        <a:buNone/>
                      </a:pPr>
                      <a:r>
                        <a:rPr lang="fr-FR" sz="1000" b="1" i="0" u="none" strike="noStrike">
                          <a:solidFill>
                            <a:srgbClr val="000000"/>
                          </a:solidFill>
                          <a:effectLst/>
                          <a:latin typeface="Aptos Narrow" panose="020B0004020202020204" pitchFamily="34" charset="0"/>
                        </a:rPr>
                        <a:t>Total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20,7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CDF92"/>
                    </a:solidFill>
                  </a:tcPr>
                </a:tc>
                <a:tc>
                  <a:txBody>
                    <a:bodyPr/>
                    <a:lstStyle/>
                    <a:p>
                      <a:pPr algn="r" fontAlgn="b">
                        <a:buNone/>
                      </a:pPr>
                      <a:r>
                        <a:rPr lang="fr-FR" sz="1000" b="1" i="0" u="none" strike="noStrike">
                          <a:solidFill>
                            <a:srgbClr val="000000"/>
                          </a:solidFill>
                          <a:effectLst/>
                          <a:latin typeface="Aptos Narrow" panose="020B0004020202020204" pitchFamily="34" charset="0"/>
                        </a:rPr>
                        <a:t>14,7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3E797"/>
                    </a:solidFill>
                  </a:tcPr>
                </a:tc>
                <a:tc>
                  <a:txBody>
                    <a:bodyPr/>
                    <a:lstStyle/>
                    <a:p>
                      <a:pPr algn="r" fontAlgn="b">
                        <a:buNone/>
                      </a:pPr>
                      <a:r>
                        <a:rPr lang="fr-FR" sz="1000" b="1" i="0" u="none" strike="noStrike">
                          <a:solidFill>
                            <a:srgbClr val="00B050"/>
                          </a:solidFill>
                          <a:effectLst/>
                          <a:latin typeface="Aptos Narrow" panose="020B0004020202020204" pitchFamily="34" charset="0"/>
                        </a:rPr>
                        <a:t>6,0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361650"/>
                  </a:ext>
                </a:extLst>
              </a:tr>
              <a:tr h="135178">
                <a:tc>
                  <a:txBody>
                    <a:bodyPr/>
                    <a:lstStyle/>
                    <a:p>
                      <a:pPr algn="l" fontAlgn="b">
                        <a:buNone/>
                      </a:pPr>
                      <a:r>
                        <a:rPr lang="fr-FR" sz="1000" b="0" i="0" u="none" strike="noStrike">
                          <a:solidFill>
                            <a:srgbClr val="000000"/>
                          </a:solidFill>
                          <a:effectLst/>
                          <a:latin typeface="Aptos Narrow" panose="020B0004020202020204" pitchFamily="34" charset="0"/>
                        </a:rPr>
                        <a:t>AT</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16,4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DE595"/>
                    </a:solidFill>
                  </a:tcPr>
                </a:tc>
                <a:tc>
                  <a:txBody>
                    <a:bodyPr/>
                    <a:lstStyle/>
                    <a:p>
                      <a:pPr algn="r" fontAlgn="b">
                        <a:buNone/>
                      </a:pPr>
                      <a:r>
                        <a:rPr lang="fr-FR" sz="1000" b="0" i="0" u="none" strike="noStrike">
                          <a:solidFill>
                            <a:srgbClr val="000000"/>
                          </a:solidFill>
                          <a:effectLst/>
                          <a:latin typeface="Aptos Narrow" panose="020B0004020202020204" pitchFamily="34" charset="0"/>
                        </a:rPr>
                        <a:t>28,4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FD68C"/>
                    </a:solidFill>
                  </a:tcPr>
                </a:tc>
                <a:tc>
                  <a:txBody>
                    <a:bodyPr/>
                    <a:lstStyle/>
                    <a:p>
                      <a:pPr algn="r" fontAlgn="b">
                        <a:buNone/>
                      </a:pPr>
                      <a:r>
                        <a:rPr lang="fr-FR" sz="1000" b="0" i="0" u="none" strike="noStrike">
                          <a:solidFill>
                            <a:srgbClr val="FF0000"/>
                          </a:solidFill>
                          <a:effectLst/>
                          <a:latin typeface="Aptos Narrow" panose="020B0004020202020204" pitchFamily="34" charset="0"/>
                        </a:rPr>
                        <a:t>-12,0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48414106"/>
                  </a:ext>
                </a:extLst>
              </a:tr>
              <a:tr h="135178">
                <a:tc>
                  <a:txBody>
                    <a:bodyPr/>
                    <a:lstStyle/>
                    <a:p>
                      <a:pPr algn="l" fontAlgn="b">
                        <a:buNone/>
                      </a:pPr>
                      <a:r>
                        <a:rPr lang="fr-FR" sz="1000" b="0" i="0" u="none" strike="noStrike">
                          <a:solidFill>
                            <a:srgbClr val="000000"/>
                          </a:solidFill>
                          <a:effectLst/>
                          <a:latin typeface="Aptos Narrow" panose="020B0004020202020204" pitchFamily="34" charset="0"/>
                        </a:rPr>
                        <a:t>NL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12,8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BE998"/>
                    </a:solidFill>
                  </a:tcPr>
                </a:tc>
                <a:tc>
                  <a:txBody>
                    <a:bodyPr/>
                    <a:lstStyle/>
                    <a:p>
                      <a:pPr algn="r" fontAlgn="b">
                        <a:buNone/>
                      </a:pPr>
                      <a:r>
                        <a:rPr lang="fr-FR" sz="1000" b="0" i="0" u="none" strike="noStrike">
                          <a:solidFill>
                            <a:srgbClr val="000000"/>
                          </a:solidFill>
                          <a:effectLst/>
                          <a:latin typeface="Aptos Narrow" panose="020B0004020202020204" pitchFamily="34" charset="0"/>
                        </a:rPr>
                        <a:t>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ED9B"/>
                    </a:solidFill>
                  </a:tcPr>
                </a:tc>
                <a:tc>
                  <a:txBody>
                    <a:bodyPr/>
                    <a:lstStyle/>
                    <a:p>
                      <a:pPr algn="r" fontAlgn="b">
                        <a:buNone/>
                      </a:pPr>
                      <a:r>
                        <a:rPr lang="fr-FR" sz="1000" b="0" i="0" u="none" strike="noStrike">
                          <a:solidFill>
                            <a:srgbClr val="00B050"/>
                          </a:solidFill>
                          <a:effectLst/>
                          <a:latin typeface="Aptos Narrow" panose="020B0004020202020204" pitchFamily="34" charset="0"/>
                        </a:rPr>
                        <a:t>3,8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66938128"/>
                  </a:ext>
                </a:extLst>
              </a:tr>
              <a:tr h="135178">
                <a:tc>
                  <a:txBody>
                    <a:bodyPr/>
                    <a:lstStyle/>
                    <a:p>
                      <a:pPr algn="l" fontAlgn="b">
                        <a:buNone/>
                      </a:pPr>
                      <a:r>
                        <a:rPr lang="fr-FR" sz="1000" b="0" i="0" u="none" strike="noStrike">
                          <a:solidFill>
                            <a:srgbClr val="000000"/>
                          </a:solidFill>
                          <a:effectLst/>
                          <a:latin typeface="Aptos Narrow" panose="020B0004020202020204" pitchFamily="34" charset="0"/>
                        </a:rPr>
                        <a:t>CH</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EEA99"/>
                    </a:solidFill>
                  </a:tcPr>
                </a:tc>
                <a:tc>
                  <a:txBody>
                    <a:bodyPr/>
                    <a:lstStyle/>
                    <a:p>
                      <a:pPr algn="r" fontAlgn="b">
                        <a:buNone/>
                      </a:pPr>
                      <a:r>
                        <a:rPr lang="fr-FR" sz="1000" b="0" i="0" u="none" strike="noStrike">
                          <a:solidFill>
                            <a:srgbClr val="000000"/>
                          </a:solidFill>
                          <a:effectLst/>
                          <a:latin typeface="Aptos Narrow" panose="020B0004020202020204" pitchFamily="34" charset="0"/>
                        </a:rPr>
                        <a:t>11,6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FEA99"/>
                    </a:solidFill>
                  </a:tcPr>
                </a:tc>
                <a:tc>
                  <a:txBody>
                    <a:bodyPr/>
                    <a:lstStyle/>
                    <a:p>
                      <a:pPr algn="r" fontAlgn="b">
                        <a:buNone/>
                      </a:pPr>
                      <a:r>
                        <a:rPr lang="fr-FR" sz="1000" b="0" i="0" u="none" strike="noStrike">
                          <a:solidFill>
                            <a:srgbClr val="00B050"/>
                          </a:solidFill>
                          <a:effectLst/>
                          <a:latin typeface="Aptos Narrow" panose="020B0004020202020204" pitchFamily="34" charset="0"/>
                        </a:rPr>
                        <a:t>0,4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05856079"/>
                  </a:ext>
                </a:extLst>
              </a:tr>
              <a:tr h="135178">
                <a:tc>
                  <a:txBody>
                    <a:bodyPr/>
                    <a:lstStyle/>
                    <a:p>
                      <a:pPr algn="l" fontAlgn="b">
                        <a:buNone/>
                      </a:pPr>
                      <a:r>
                        <a:rPr lang="fr-FR" sz="1000" b="0" i="0" u="none" strike="noStrike">
                          <a:solidFill>
                            <a:srgbClr val="000000"/>
                          </a:solidFill>
                          <a:effectLst/>
                          <a:latin typeface="Aptos Narrow" panose="020B0004020202020204" pitchFamily="34" charset="0"/>
                        </a:rPr>
                        <a:t>DK</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7,3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F9C"/>
                    </a:solidFill>
                  </a:tcPr>
                </a:tc>
                <a:tc>
                  <a:txBody>
                    <a:bodyPr/>
                    <a:lstStyle/>
                    <a:p>
                      <a:pPr algn="r" fontAlgn="b">
                        <a:buNone/>
                      </a:pPr>
                      <a:r>
                        <a:rPr lang="fr-FR" sz="1000" b="0" i="0" u="none" strike="noStrike">
                          <a:solidFill>
                            <a:srgbClr val="000000"/>
                          </a:solidFill>
                          <a:effectLst/>
                          <a:latin typeface="Aptos Narrow" panose="020B0004020202020204" pitchFamily="34" charset="0"/>
                        </a:rPr>
                        <a:t>12,4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CE998"/>
                    </a:solidFill>
                  </a:tcPr>
                </a:tc>
                <a:tc>
                  <a:txBody>
                    <a:bodyPr/>
                    <a:lstStyle/>
                    <a:p>
                      <a:pPr algn="r" fontAlgn="b">
                        <a:buNone/>
                      </a:pPr>
                      <a:r>
                        <a:rPr lang="fr-FR" sz="1000" b="0" i="0" u="none" strike="noStrike">
                          <a:solidFill>
                            <a:srgbClr val="FF0000"/>
                          </a:solidFill>
                          <a:effectLst/>
                          <a:latin typeface="Aptos Narrow" panose="020B0004020202020204" pitchFamily="34" charset="0"/>
                        </a:rPr>
                        <a:t>-5,1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29075323"/>
                  </a:ext>
                </a:extLst>
              </a:tr>
            </a:tbl>
          </a:graphicData>
        </a:graphic>
      </p:graphicFrame>
    </p:spTree>
    <p:extLst>
      <p:ext uri="{BB962C8B-B14F-4D97-AF65-F5344CB8AC3E}">
        <p14:creationId xmlns:p14="http://schemas.microsoft.com/office/powerpoint/2010/main" val="3995186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ED621-D5FB-97A8-ADEA-50BEB16FEC5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3B1D12-884F-7596-33AB-0DB4FBA09DB1}"/>
              </a:ext>
            </a:extLst>
          </p:cNvPr>
          <p:cNvSpPr>
            <a:spLocks noGrp="1"/>
          </p:cNvSpPr>
          <p:nvPr>
            <p:ph type="sldNum" sz="quarter" idx="12"/>
          </p:nvPr>
        </p:nvSpPr>
        <p:spPr/>
        <p:txBody>
          <a:bodyPr/>
          <a:lstStyle/>
          <a:p>
            <a:fld id="{0D2E6A04-B99A-6C4D-8942-945F97C9E705}" type="slidenum">
              <a:rPr lang="en-US" smtClean="0"/>
              <a:pPr/>
              <a:t>48</a:t>
            </a:fld>
            <a:endParaRPr lang="en-US"/>
          </a:p>
        </p:txBody>
      </p:sp>
      <p:sp>
        <p:nvSpPr>
          <p:cNvPr id="3" name="Date Placeholder 2">
            <a:extLst>
              <a:ext uri="{FF2B5EF4-FFF2-40B4-BE49-F238E27FC236}">
                <a16:creationId xmlns:a16="http://schemas.microsoft.com/office/drawing/2014/main" id="{AE213B83-CB25-5E0E-22B0-33D250C75C25}"/>
              </a:ext>
            </a:extLst>
          </p:cNvPr>
          <p:cNvSpPr>
            <a:spLocks noGrp="1"/>
          </p:cNvSpPr>
          <p:nvPr>
            <p:ph type="dt" sz="half" idx="10"/>
          </p:nvPr>
        </p:nvSpPr>
        <p:spPr/>
        <p:txBody>
          <a:bodyPr/>
          <a:lstStyle/>
          <a:p>
            <a:fld id="{05C20A28-4BAC-4477-9026-1E123DBFBC43}" type="datetime1">
              <a:rPr lang="fr-FR" smtClean="0"/>
              <a:t>27/11/2025</a:t>
            </a:fld>
            <a:endParaRPr lang="en-US"/>
          </a:p>
        </p:txBody>
      </p:sp>
      <p:sp>
        <p:nvSpPr>
          <p:cNvPr id="5" name="Title 4">
            <a:extLst>
              <a:ext uri="{FF2B5EF4-FFF2-40B4-BE49-F238E27FC236}">
                <a16:creationId xmlns:a16="http://schemas.microsoft.com/office/drawing/2014/main" id="{90C600E8-424C-C1DA-16B8-3850EDAB6A99}"/>
              </a:ext>
            </a:extLst>
          </p:cNvPr>
          <p:cNvSpPr>
            <a:spLocks noGrp="1"/>
          </p:cNvSpPr>
          <p:nvPr>
            <p:ph type="title"/>
          </p:nvPr>
        </p:nvSpPr>
        <p:spPr/>
        <p:txBody>
          <a:bodyPr/>
          <a:lstStyle/>
          <a:p>
            <a:r>
              <a:rPr lang="fr-FR"/>
              <a:t>Germany – NPS per villa </a:t>
            </a:r>
            <a:r>
              <a:rPr lang="fr-FR" err="1"/>
              <a:t>category</a:t>
            </a:r>
            <a:r>
              <a:rPr lang="fr-FR"/>
              <a:t> (</a:t>
            </a:r>
            <a:r>
              <a:rPr lang="fr-FR" err="1"/>
              <a:t>comfort</a:t>
            </a:r>
            <a:r>
              <a:rPr lang="fr-FR"/>
              <a:t> </a:t>
            </a:r>
            <a:r>
              <a:rPr lang="fr-FR" err="1"/>
              <a:t>level</a:t>
            </a:r>
            <a:r>
              <a:rPr lang="fr-FR"/>
              <a:t>)</a:t>
            </a:r>
          </a:p>
        </p:txBody>
      </p:sp>
      <p:sp>
        <p:nvSpPr>
          <p:cNvPr id="6" name="Rechthoek 4">
            <a:extLst>
              <a:ext uri="{FF2B5EF4-FFF2-40B4-BE49-F238E27FC236}">
                <a16:creationId xmlns:a16="http://schemas.microsoft.com/office/drawing/2014/main" id="{2D7D27DB-BB64-71BB-FB4E-4ED5FF812311}"/>
              </a:ext>
            </a:extLst>
          </p:cNvPr>
          <p:cNvSpPr/>
          <p:nvPr/>
        </p:nvSpPr>
        <p:spPr>
          <a:xfrm>
            <a:off x="-1" y="978100"/>
            <a:ext cx="6934201" cy="1696720"/>
          </a:xfrm>
          <a:prstGeom prst="rect">
            <a:avLst/>
          </a:prstGeom>
          <a:solidFill>
            <a:schemeClr val="accent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1"/>
                </a:solidFill>
                <a:ea typeface="Calibri"/>
                <a:cs typeface="Calibri"/>
              </a:rPr>
              <a:t>NPS of all villa types increased vs </a:t>
            </a:r>
            <a:r>
              <a:rPr lang="en-US" sz="1200" b="1" err="1">
                <a:solidFill>
                  <a:schemeClr val="tx1"/>
                </a:solidFill>
                <a:ea typeface="Calibri"/>
                <a:cs typeface="Calibri"/>
              </a:rPr>
              <a:t>ly</a:t>
            </a:r>
            <a:r>
              <a:rPr lang="en-US" sz="1200" b="1">
                <a:solidFill>
                  <a:schemeClr val="tx1"/>
                </a:solidFill>
                <a:ea typeface="Calibri"/>
                <a:cs typeface="Calibri"/>
              </a:rPr>
              <a:t>.</a:t>
            </a:r>
          </a:p>
          <a:p>
            <a:pPr marL="720725" lvl="2" indent="-161925">
              <a:lnSpc>
                <a:spcPct val="120000"/>
              </a:lnSpc>
              <a:buFont typeface="Arial" panose="020B0604020202020204" pitchFamily="34" charset="0"/>
              <a:buChar char="•"/>
            </a:pPr>
            <a:r>
              <a:rPr lang="en-US" sz="1200" b="1">
                <a:solidFill>
                  <a:schemeClr val="tx1"/>
                </a:solidFill>
                <a:ea typeface="Calibri"/>
                <a:cs typeface="Calibri"/>
              </a:rPr>
              <a:t>Overall, the NPS is higher on special cottages than regular with TOP Villa type on Treehouse and Boathouse.</a:t>
            </a:r>
          </a:p>
          <a:p>
            <a:pPr marL="720725" lvl="2" indent="-161925">
              <a:lnSpc>
                <a:spcPct val="120000"/>
              </a:lnSpc>
              <a:buFont typeface="Arial" panose="020B0604020202020204" pitchFamily="34" charset="0"/>
              <a:buChar char="•"/>
            </a:pPr>
            <a:r>
              <a:rPr lang="en-US" sz="1200" b="1">
                <a:solidFill>
                  <a:schemeClr val="tx1"/>
                </a:solidFill>
                <a:ea typeface="Calibri"/>
                <a:cs typeface="Calibri"/>
              </a:rPr>
              <a:t>Within regulars (Eden) VIP and Exclusive Wellness are the lowest NPS.</a:t>
            </a:r>
          </a:p>
          <a:p>
            <a:pPr marL="720725" lvl="2" indent="-161925">
              <a:lnSpc>
                <a:spcPct val="120000"/>
              </a:lnSpc>
              <a:buFont typeface="Arial" panose="020B0604020202020204" pitchFamily="34" charset="0"/>
              <a:buChar char="•"/>
            </a:pPr>
            <a:r>
              <a:rPr lang="en-US" sz="1200" b="1">
                <a:solidFill>
                  <a:schemeClr val="tx1"/>
                </a:solidFill>
                <a:ea typeface="Calibri"/>
                <a:cs typeface="Calibri"/>
              </a:rPr>
              <a:t>In other categories, Hotel (</a:t>
            </a:r>
            <a:r>
              <a:rPr lang="en-US" sz="1200" b="1" err="1">
                <a:solidFill>
                  <a:schemeClr val="tx1"/>
                </a:solidFill>
                <a:ea typeface="Calibri"/>
                <a:cs typeface="Calibri"/>
              </a:rPr>
              <a:t>Hochsauerland</a:t>
            </a:r>
            <a:r>
              <a:rPr lang="en-US" sz="1200" b="1">
                <a:solidFill>
                  <a:schemeClr val="tx1"/>
                </a:solidFill>
                <a:ea typeface="Calibri"/>
                <a:cs typeface="Calibri"/>
              </a:rPr>
              <a:t>) is the highest NPS whereas Apartments (</a:t>
            </a:r>
            <a:r>
              <a:rPr lang="en-US" sz="1200" b="1" err="1">
                <a:solidFill>
                  <a:schemeClr val="tx1"/>
                </a:solidFill>
                <a:ea typeface="Calibri"/>
                <a:cs typeface="Calibri"/>
              </a:rPr>
              <a:t>Nordseeküste</a:t>
            </a:r>
            <a:r>
              <a:rPr lang="en-US" sz="1200" b="1">
                <a:solidFill>
                  <a:schemeClr val="tx1"/>
                </a:solidFill>
                <a:ea typeface="Calibri"/>
                <a:cs typeface="Calibri"/>
              </a:rPr>
              <a:t>) are the most critical.</a:t>
            </a:r>
          </a:p>
        </p:txBody>
      </p:sp>
      <p:sp>
        <p:nvSpPr>
          <p:cNvPr id="7" name="Rectangle 6">
            <a:extLst>
              <a:ext uri="{FF2B5EF4-FFF2-40B4-BE49-F238E27FC236}">
                <a16:creationId xmlns:a16="http://schemas.microsoft.com/office/drawing/2014/main" id="{C3C4C2FF-410E-89CE-EFA8-5C2E1E3A90A5}"/>
              </a:ext>
            </a:extLst>
          </p:cNvPr>
          <p:cNvSpPr/>
          <p:nvPr/>
        </p:nvSpPr>
        <p:spPr>
          <a:xfrm rot="16200000">
            <a:off x="-617105" y="1646060"/>
            <a:ext cx="1656000" cy="37547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2"/>
                </a:solidFill>
                <a:ea typeface="Calibri"/>
                <a:cs typeface="Calibri"/>
              </a:rPr>
              <a:t>Analysis</a:t>
            </a:r>
            <a:endParaRPr lang="en-US" sz="1100">
              <a:solidFill>
                <a:schemeClr val="accent2"/>
              </a:solidFill>
            </a:endParaRPr>
          </a:p>
        </p:txBody>
      </p:sp>
      <p:graphicFrame>
        <p:nvGraphicFramePr>
          <p:cNvPr id="8" name="Table 7">
            <a:extLst>
              <a:ext uri="{FF2B5EF4-FFF2-40B4-BE49-F238E27FC236}">
                <a16:creationId xmlns:a16="http://schemas.microsoft.com/office/drawing/2014/main" id="{250E7530-10A5-6056-B323-417EF271DB0C}"/>
              </a:ext>
            </a:extLst>
          </p:cNvPr>
          <p:cNvGraphicFramePr>
            <a:graphicFrameLocks noGrp="1"/>
          </p:cNvGraphicFramePr>
          <p:nvPr>
            <p:extLst>
              <p:ext uri="{D42A27DB-BD31-4B8C-83A1-F6EECF244321}">
                <p14:modId xmlns:p14="http://schemas.microsoft.com/office/powerpoint/2010/main" val="996610044"/>
              </p:ext>
            </p:extLst>
          </p:nvPr>
        </p:nvGraphicFramePr>
        <p:xfrm>
          <a:off x="398635" y="2909369"/>
          <a:ext cx="2672224" cy="3085720"/>
        </p:xfrm>
        <a:graphic>
          <a:graphicData uri="http://schemas.openxmlformats.org/drawingml/2006/table">
            <a:tbl>
              <a:tblPr/>
              <a:tblGrid>
                <a:gridCol w="1302829">
                  <a:extLst>
                    <a:ext uri="{9D8B030D-6E8A-4147-A177-3AD203B41FA5}">
                      <a16:colId xmlns:a16="http://schemas.microsoft.com/office/drawing/2014/main" val="882861132"/>
                    </a:ext>
                  </a:extLst>
                </a:gridCol>
                <a:gridCol w="456465">
                  <a:extLst>
                    <a:ext uri="{9D8B030D-6E8A-4147-A177-3AD203B41FA5}">
                      <a16:colId xmlns:a16="http://schemas.microsoft.com/office/drawing/2014/main" val="4041192241"/>
                    </a:ext>
                  </a:extLst>
                </a:gridCol>
                <a:gridCol w="456465">
                  <a:extLst>
                    <a:ext uri="{9D8B030D-6E8A-4147-A177-3AD203B41FA5}">
                      <a16:colId xmlns:a16="http://schemas.microsoft.com/office/drawing/2014/main" val="2028314773"/>
                    </a:ext>
                  </a:extLst>
                </a:gridCol>
                <a:gridCol w="456465">
                  <a:extLst>
                    <a:ext uri="{9D8B030D-6E8A-4147-A177-3AD203B41FA5}">
                      <a16:colId xmlns:a16="http://schemas.microsoft.com/office/drawing/2014/main" val="3105355594"/>
                    </a:ext>
                  </a:extLst>
                </a:gridCol>
              </a:tblGrid>
              <a:tr h="98894">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43498739"/>
                  </a:ext>
                </a:extLst>
              </a:tr>
              <a:tr h="98894">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20,7</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E784"/>
                    </a:solidFill>
                  </a:tcPr>
                </a:tc>
                <a:tc>
                  <a:txBody>
                    <a:bodyPr/>
                    <a:lstStyle/>
                    <a:p>
                      <a:pPr algn="r" fontAlgn="b">
                        <a:buNone/>
                      </a:pPr>
                      <a:r>
                        <a:rPr lang="fr-FR" sz="900" b="0" i="0" u="none" strike="noStrike">
                          <a:solidFill>
                            <a:srgbClr val="000000"/>
                          </a:solidFill>
                          <a:effectLst/>
                          <a:latin typeface="Aptos Narrow" panose="020B0004020202020204" pitchFamily="34" charset="0"/>
                        </a:rPr>
                        <a:t>14,7</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F81"/>
                    </a:solidFill>
                  </a:tcPr>
                </a:tc>
                <a:tc>
                  <a:txBody>
                    <a:bodyPr/>
                    <a:lstStyle/>
                    <a:p>
                      <a:pPr algn="r" fontAlgn="b">
                        <a:buNone/>
                      </a:pPr>
                      <a:r>
                        <a:rPr lang="fr-FR" sz="900" b="0" i="0" u="none" strike="noStrike">
                          <a:solidFill>
                            <a:srgbClr val="00B050"/>
                          </a:solidFill>
                          <a:effectLst/>
                          <a:latin typeface="Aptos Narrow" panose="020B0004020202020204" pitchFamily="34" charset="0"/>
                        </a:rPr>
                        <a:t>6,0</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73935073"/>
                  </a:ext>
                </a:extLst>
              </a:tr>
              <a:tr h="98894">
                <a:tc>
                  <a:txBody>
                    <a:bodyPr/>
                    <a:lstStyle/>
                    <a:p>
                      <a:pPr algn="l" fontAlgn="b">
                        <a:buNone/>
                      </a:pPr>
                      <a:r>
                        <a:rPr lang="fr-FR" sz="900" b="1" i="0" u="none" strike="noStrike">
                          <a:solidFill>
                            <a:srgbClr val="000000"/>
                          </a:solidFill>
                          <a:effectLst/>
                          <a:latin typeface="Aptos Narrow" panose="020B0004020202020204" pitchFamily="34" charset="0"/>
                        </a:rPr>
                        <a:t>Bispinger Heide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21,1</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0E784"/>
                    </a:solidFill>
                  </a:tcPr>
                </a:tc>
                <a:tc>
                  <a:txBody>
                    <a:bodyPr/>
                    <a:lstStyle/>
                    <a:p>
                      <a:pPr algn="r" fontAlgn="b">
                        <a:buNone/>
                      </a:pPr>
                      <a:r>
                        <a:rPr lang="fr-FR" sz="900" b="1" i="0" u="none" strike="noStrike">
                          <a:solidFill>
                            <a:srgbClr val="000000"/>
                          </a:solidFill>
                          <a:effectLst/>
                          <a:latin typeface="Aptos Narrow" panose="020B0004020202020204" pitchFamily="34" charset="0"/>
                        </a:rPr>
                        <a:t>11,0</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C7E"/>
                    </a:solidFill>
                  </a:tcPr>
                </a:tc>
                <a:tc>
                  <a:txBody>
                    <a:bodyPr/>
                    <a:lstStyle/>
                    <a:p>
                      <a:pPr algn="r" fontAlgn="b">
                        <a:buNone/>
                      </a:pPr>
                      <a:r>
                        <a:rPr lang="fr-FR" sz="900" b="1" i="0" u="none" strike="noStrike">
                          <a:solidFill>
                            <a:srgbClr val="00B050"/>
                          </a:solidFill>
                          <a:effectLst/>
                          <a:latin typeface="Aptos Narrow" panose="020B0004020202020204" pitchFamily="34" charset="0"/>
                        </a:rPr>
                        <a:t>10,2</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80748559"/>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Boathouse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33,5</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0D981"/>
                    </a:solidFill>
                  </a:tcPr>
                </a:tc>
                <a:tc>
                  <a:txBody>
                    <a:bodyPr/>
                    <a:lstStyle/>
                    <a:p>
                      <a:pPr algn="r" fontAlgn="b">
                        <a:buNone/>
                      </a:pPr>
                      <a:r>
                        <a:rPr lang="fr-FR" sz="900" b="0" i="0" u="none" strike="noStrike">
                          <a:solidFill>
                            <a:srgbClr val="000000"/>
                          </a:solidFill>
                          <a:effectLst/>
                          <a:latin typeface="Aptos Narrow" panose="020B0004020202020204" pitchFamily="34" charset="0"/>
                        </a:rPr>
                        <a:t>17,7</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EB84"/>
                    </a:solidFill>
                  </a:tcPr>
                </a:tc>
                <a:tc>
                  <a:txBody>
                    <a:bodyPr/>
                    <a:lstStyle/>
                    <a:p>
                      <a:pPr algn="r" fontAlgn="b">
                        <a:buNone/>
                      </a:pPr>
                      <a:r>
                        <a:rPr lang="fr-FR" sz="900" b="0" i="0" u="none" strike="noStrike">
                          <a:solidFill>
                            <a:srgbClr val="00B050"/>
                          </a:solidFill>
                          <a:effectLst/>
                          <a:latin typeface="Aptos Narrow" panose="020B0004020202020204" pitchFamily="34" charset="0"/>
                        </a:rPr>
                        <a:t>15,8</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99653788"/>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Comfort cottage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22,6</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AE583"/>
                    </a:solidFill>
                  </a:tcPr>
                </a:tc>
                <a:tc>
                  <a:txBody>
                    <a:bodyPr/>
                    <a:lstStyle/>
                    <a:p>
                      <a:pPr algn="r" fontAlgn="b">
                        <a:buNone/>
                      </a:pPr>
                      <a:r>
                        <a:rPr lang="fr-FR" sz="900" b="0" i="0" u="none" strike="noStrike">
                          <a:solidFill>
                            <a:srgbClr val="000000"/>
                          </a:solidFill>
                          <a:effectLst/>
                          <a:latin typeface="Aptos Narrow" panose="020B0004020202020204" pitchFamily="34" charset="0"/>
                        </a:rPr>
                        <a:t>9,0</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27C"/>
                    </a:solidFill>
                  </a:tcPr>
                </a:tc>
                <a:tc>
                  <a:txBody>
                    <a:bodyPr/>
                    <a:lstStyle/>
                    <a:p>
                      <a:pPr algn="r" fontAlgn="b">
                        <a:buNone/>
                      </a:pPr>
                      <a:r>
                        <a:rPr lang="fr-FR" sz="900" b="0" i="0" u="none" strike="noStrike">
                          <a:solidFill>
                            <a:srgbClr val="00B050"/>
                          </a:solidFill>
                          <a:effectLst/>
                          <a:latin typeface="Aptos Narrow" panose="020B0004020202020204" pitchFamily="34" charset="0"/>
                        </a:rPr>
                        <a:t>13,5</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64496405"/>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Eden Premium cottage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16,4</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783"/>
                    </a:solidFill>
                  </a:tcPr>
                </a:tc>
                <a:tc>
                  <a:txBody>
                    <a:bodyPr/>
                    <a:lstStyle/>
                    <a:p>
                      <a:pPr algn="r" fontAlgn="b">
                        <a:buNone/>
                      </a:pPr>
                      <a:r>
                        <a:rPr lang="fr-FR" sz="900" b="0" i="0" u="none" strike="noStrike">
                          <a:solidFill>
                            <a:srgbClr val="000000"/>
                          </a:solidFill>
                          <a:effectLst/>
                          <a:latin typeface="Aptos Narrow" panose="020B0004020202020204" pitchFamily="34" charset="0"/>
                        </a:rPr>
                        <a:t>1,9</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E75"/>
                    </a:solidFill>
                  </a:tcPr>
                </a:tc>
                <a:tc>
                  <a:txBody>
                    <a:bodyPr/>
                    <a:lstStyle/>
                    <a:p>
                      <a:pPr algn="r" fontAlgn="b">
                        <a:buNone/>
                      </a:pPr>
                      <a:r>
                        <a:rPr lang="fr-FR" sz="900" b="0" i="0" u="none" strike="noStrike">
                          <a:solidFill>
                            <a:srgbClr val="00B050"/>
                          </a:solidFill>
                          <a:effectLst/>
                          <a:latin typeface="Aptos Narrow" panose="020B0004020202020204" pitchFamily="34" charset="0"/>
                        </a:rPr>
                        <a:t>14,5</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53526152"/>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Eden VIP cottage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-0,6</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172"/>
                    </a:solidFill>
                  </a:tcPr>
                </a:tc>
                <a:tc>
                  <a:txBody>
                    <a:bodyPr/>
                    <a:lstStyle/>
                    <a:p>
                      <a:pPr algn="r" fontAlgn="b">
                        <a:buNone/>
                      </a:pPr>
                      <a:r>
                        <a:rPr lang="fr-FR" sz="900" b="0" i="0" u="none" strike="noStrike">
                          <a:solidFill>
                            <a:srgbClr val="000000"/>
                          </a:solidFill>
                          <a:effectLst/>
                          <a:latin typeface="Aptos Narrow" panose="020B0004020202020204" pitchFamily="34" charset="0"/>
                        </a:rPr>
                        <a:t>-6,1</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66D"/>
                    </a:solidFill>
                  </a:tcPr>
                </a:tc>
                <a:tc>
                  <a:txBody>
                    <a:bodyPr/>
                    <a:lstStyle/>
                    <a:p>
                      <a:pPr algn="r" fontAlgn="b">
                        <a:buNone/>
                      </a:pPr>
                      <a:r>
                        <a:rPr lang="fr-FR" sz="900" b="0" i="0" u="none" strike="noStrike">
                          <a:solidFill>
                            <a:srgbClr val="00B050"/>
                          </a:solidFill>
                          <a:effectLst/>
                          <a:latin typeface="Aptos Narrow" panose="020B0004020202020204" pitchFamily="34" charset="0"/>
                        </a:rPr>
                        <a:t>5,5</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67304523"/>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Premium Hotel</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31,7</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8DB81"/>
                    </a:solidFill>
                  </a:tcPr>
                </a:tc>
                <a:tc>
                  <a:txBody>
                    <a:bodyPr/>
                    <a:lstStyle/>
                    <a:p>
                      <a:pPr algn="r" fontAlgn="b">
                        <a:buNone/>
                      </a:pPr>
                      <a:r>
                        <a:rPr lang="fr-FR" sz="900" b="0" i="0" u="none" strike="noStrike">
                          <a:solidFill>
                            <a:srgbClr val="000000"/>
                          </a:solidFill>
                          <a:effectLst/>
                          <a:latin typeface="Aptos Narrow" panose="020B0004020202020204" pitchFamily="34" charset="0"/>
                        </a:rPr>
                        <a:t>32,2</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6DB81"/>
                    </a:solidFill>
                  </a:tcPr>
                </a:tc>
                <a:tc>
                  <a:txBody>
                    <a:bodyPr/>
                    <a:lstStyle/>
                    <a:p>
                      <a:pPr algn="r" fontAlgn="b">
                        <a:buNone/>
                      </a:pPr>
                      <a:r>
                        <a:rPr lang="fr-FR" sz="900" b="0" i="0" u="none" strike="noStrike">
                          <a:solidFill>
                            <a:srgbClr val="FF0000"/>
                          </a:solidFill>
                          <a:effectLst/>
                          <a:latin typeface="Aptos Narrow" panose="020B0004020202020204" pitchFamily="34" charset="0"/>
                        </a:rPr>
                        <a:t>-0,5</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26577598"/>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Premium Kids cottage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35,0</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BD881"/>
                    </a:solidFill>
                  </a:tcPr>
                </a:tc>
                <a:tc>
                  <a:txBody>
                    <a:bodyPr/>
                    <a:lstStyle/>
                    <a:p>
                      <a:pPr algn="r" fontAlgn="b">
                        <a:buNone/>
                      </a:pPr>
                      <a:r>
                        <a:rPr lang="fr-FR" sz="900" b="0" i="0" u="none" strike="noStrike">
                          <a:solidFill>
                            <a:srgbClr val="000000"/>
                          </a:solidFill>
                          <a:effectLst/>
                          <a:latin typeface="Aptos Narrow" panose="020B0004020202020204" pitchFamily="34" charset="0"/>
                        </a:rPr>
                        <a:t>17,0</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A83"/>
                    </a:solidFill>
                  </a:tcPr>
                </a:tc>
                <a:tc>
                  <a:txBody>
                    <a:bodyPr/>
                    <a:lstStyle/>
                    <a:p>
                      <a:pPr algn="r" fontAlgn="b">
                        <a:buNone/>
                      </a:pPr>
                      <a:r>
                        <a:rPr lang="fr-FR" sz="900" b="0" i="0" u="none" strike="noStrike">
                          <a:solidFill>
                            <a:srgbClr val="00B050"/>
                          </a:solidFill>
                          <a:effectLst/>
                          <a:latin typeface="Aptos Narrow" panose="020B0004020202020204" pitchFamily="34" charset="0"/>
                        </a:rPr>
                        <a:t>18,0</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40538411"/>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Premium cottage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24,0</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5E483"/>
                    </a:solidFill>
                  </a:tcPr>
                </a:tc>
                <a:tc>
                  <a:txBody>
                    <a:bodyPr/>
                    <a:lstStyle/>
                    <a:p>
                      <a:pPr algn="r" fontAlgn="b">
                        <a:buNone/>
                      </a:pPr>
                      <a:r>
                        <a:rPr lang="fr-FR" sz="900" b="0" i="0" u="none" strike="noStrike">
                          <a:solidFill>
                            <a:srgbClr val="000000"/>
                          </a:solidFill>
                          <a:effectLst/>
                          <a:latin typeface="Aptos Narrow" panose="020B0004020202020204" pitchFamily="34" charset="0"/>
                        </a:rPr>
                        <a:t>13,0</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67F"/>
                    </a:solidFill>
                  </a:tcPr>
                </a:tc>
                <a:tc>
                  <a:txBody>
                    <a:bodyPr/>
                    <a:lstStyle/>
                    <a:p>
                      <a:pPr algn="r" fontAlgn="b">
                        <a:buNone/>
                      </a:pPr>
                      <a:r>
                        <a:rPr lang="fr-FR" sz="900" b="0" i="0" u="none" strike="noStrike">
                          <a:solidFill>
                            <a:srgbClr val="00B050"/>
                          </a:solidFill>
                          <a:effectLst/>
                          <a:latin typeface="Aptos Narrow" panose="020B0004020202020204" pitchFamily="34" charset="0"/>
                        </a:rPr>
                        <a:t>11,1</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87751213"/>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Premium cottage Wheelchair</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26,1</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DE283"/>
                    </a:solidFill>
                  </a:tcPr>
                </a:tc>
                <a:tc>
                  <a:txBody>
                    <a:bodyPr/>
                    <a:lstStyle/>
                    <a:p>
                      <a:pPr algn="r" fontAlgn="b">
                        <a:buNone/>
                      </a:pPr>
                      <a:r>
                        <a:rPr lang="fr-FR" sz="900" b="0" i="0" u="none" strike="noStrike">
                          <a:solidFill>
                            <a:srgbClr val="000000"/>
                          </a:solidFill>
                          <a:effectLst/>
                          <a:latin typeface="Aptos Narrow" panose="020B0004020202020204" pitchFamily="34" charset="0"/>
                        </a:rPr>
                        <a:t>1,4</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B74"/>
                    </a:solidFill>
                  </a:tcPr>
                </a:tc>
                <a:tc>
                  <a:txBody>
                    <a:bodyPr/>
                    <a:lstStyle/>
                    <a:p>
                      <a:pPr algn="r" fontAlgn="b">
                        <a:buNone/>
                      </a:pPr>
                      <a:r>
                        <a:rPr lang="fr-FR" sz="900" b="0" i="0" u="none" strike="noStrike">
                          <a:solidFill>
                            <a:srgbClr val="00B050"/>
                          </a:solidFill>
                          <a:effectLst/>
                          <a:latin typeface="Aptos Narrow" panose="020B0004020202020204" pitchFamily="34" charset="0"/>
                        </a:rPr>
                        <a:t>24,7</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71710630"/>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Treehouse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34,7</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CD881"/>
                    </a:solidFill>
                  </a:tcPr>
                </a:tc>
                <a:tc>
                  <a:txBody>
                    <a:bodyPr/>
                    <a:lstStyle/>
                    <a:p>
                      <a:pPr algn="r" fontAlgn="b">
                        <a:buNone/>
                      </a:pPr>
                      <a:r>
                        <a:rPr lang="fr-FR" sz="900" b="0" i="0" u="none" strike="noStrike">
                          <a:solidFill>
                            <a:srgbClr val="000000"/>
                          </a:solidFill>
                          <a:effectLst/>
                          <a:latin typeface="Aptos Narrow" panose="020B0004020202020204" pitchFamily="34" charset="0"/>
                        </a:rPr>
                        <a:t>30,6</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CDD82"/>
                    </a:solidFill>
                  </a:tcPr>
                </a:tc>
                <a:tc>
                  <a:txBody>
                    <a:bodyPr/>
                    <a:lstStyle/>
                    <a:p>
                      <a:pPr algn="r" fontAlgn="b">
                        <a:buNone/>
                      </a:pPr>
                      <a:r>
                        <a:rPr lang="fr-FR" sz="900" b="0" i="0" u="none" strike="noStrike">
                          <a:solidFill>
                            <a:srgbClr val="00B050"/>
                          </a:solidFill>
                          <a:effectLst/>
                          <a:latin typeface="Aptos Narrow" panose="020B0004020202020204" pitchFamily="34" charset="0"/>
                        </a:rPr>
                        <a:t>4,1</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1876614"/>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VIP cottage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15,6</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382"/>
                    </a:solidFill>
                  </a:tcPr>
                </a:tc>
                <a:tc>
                  <a:txBody>
                    <a:bodyPr/>
                    <a:lstStyle/>
                    <a:p>
                      <a:pPr algn="r" fontAlgn="b">
                        <a:buNone/>
                      </a:pPr>
                      <a:r>
                        <a:rPr lang="fr-FR" sz="900" b="0" i="0" u="none" strike="noStrike">
                          <a:solidFill>
                            <a:srgbClr val="000000"/>
                          </a:solidFill>
                          <a:effectLst/>
                          <a:latin typeface="Aptos Narrow" panose="020B0004020202020204" pitchFamily="34" charset="0"/>
                        </a:rPr>
                        <a:t>8,5</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F7B"/>
                    </a:solidFill>
                  </a:tcPr>
                </a:tc>
                <a:tc>
                  <a:txBody>
                    <a:bodyPr/>
                    <a:lstStyle/>
                    <a:p>
                      <a:pPr algn="r" fontAlgn="b">
                        <a:buNone/>
                      </a:pPr>
                      <a:r>
                        <a:rPr lang="fr-FR" sz="900" b="0" i="0" u="none" strike="noStrike">
                          <a:solidFill>
                            <a:srgbClr val="00B050"/>
                          </a:solidFill>
                          <a:effectLst/>
                          <a:latin typeface="Aptos Narrow" panose="020B0004020202020204" pitchFamily="34" charset="0"/>
                        </a:rPr>
                        <a:t>7,1</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88258346"/>
                  </a:ext>
                </a:extLst>
              </a:tr>
              <a:tr h="98894">
                <a:tc>
                  <a:txBody>
                    <a:bodyPr/>
                    <a:lstStyle/>
                    <a:p>
                      <a:pPr algn="l" fontAlgn="b">
                        <a:buNone/>
                      </a:pPr>
                      <a:r>
                        <a:rPr lang="fr-FR" sz="900" b="1" i="0" u="none" strike="noStrike">
                          <a:solidFill>
                            <a:srgbClr val="000000"/>
                          </a:solidFill>
                          <a:effectLst/>
                          <a:latin typeface="Aptos Narrow" panose="020B0004020202020204" pitchFamily="34" charset="0"/>
                        </a:rPr>
                        <a:t>Park Allgäu</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17,5</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B84"/>
                    </a:solidFill>
                  </a:tcPr>
                </a:tc>
                <a:tc>
                  <a:txBody>
                    <a:bodyPr/>
                    <a:lstStyle/>
                    <a:p>
                      <a:pPr algn="r" fontAlgn="b">
                        <a:buNone/>
                      </a:pPr>
                      <a:r>
                        <a:rPr lang="fr-FR" sz="900" b="1" i="0" u="none" strike="noStrike">
                          <a:solidFill>
                            <a:srgbClr val="000000"/>
                          </a:solidFill>
                          <a:effectLst/>
                          <a:latin typeface="Aptos Narrow" panose="020B0004020202020204" pitchFamily="34" charset="0"/>
                        </a:rPr>
                        <a:t>13,8</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A80"/>
                    </a:solidFill>
                  </a:tcPr>
                </a:tc>
                <a:tc>
                  <a:txBody>
                    <a:bodyPr/>
                    <a:lstStyle/>
                    <a:p>
                      <a:pPr algn="r" fontAlgn="b">
                        <a:buNone/>
                      </a:pPr>
                      <a:r>
                        <a:rPr lang="fr-FR" sz="900" b="1" i="0" u="none" strike="noStrike">
                          <a:solidFill>
                            <a:srgbClr val="00B050"/>
                          </a:solidFill>
                          <a:effectLst/>
                          <a:latin typeface="Aptos Narrow" panose="020B0004020202020204" pitchFamily="34" charset="0"/>
                        </a:rPr>
                        <a:t>3,7</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46247495"/>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Comfort cottage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20,4</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3E884"/>
                    </a:solidFill>
                  </a:tcPr>
                </a:tc>
                <a:tc>
                  <a:txBody>
                    <a:bodyPr/>
                    <a:lstStyle/>
                    <a:p>
                      <a:pPr algn="r" fontAlgn="b">
                        <a:buNone/>
                      </a:pPr>
                      <a:r>
                        <a:rPr lang="fr-FR" sz="900" b="0" i="0" u="none" strike="noStrike">
                          <a:solidFill>
                            <a:srgbClr val="000000"/>
                          </a:solidFill>
                          <a:effectLst/>
                          <a:latin typeface="Aptos Narrow" panose="020B0004020202020204" pitchFamily="34" charset="0"/>
                        </a:rPr>
                        <a:t>14,8</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F81"/>
                    </a:solidFill>
                  </a:tcPr>
                </a:tc>
                <a:tc>
                  <a:txBody>
                    <a:bodyPr/>
                    <a:lstStyle/>
                    <a:p>
                      <a:pPr algn="r" fontAlgn="b">
                        <a:buNone/>
                      </a:pPr>
                      <a:r>
                        <a:rPr lang="fr-FR" sz="900" b="0" i="0" u="none" strike="noStrike">
                          <a:solidFill>
                            <a:srgbClr val="00B050"/>
                          </a:solidFill>
                          <a:effectLst/>
                          <a:latin typeface="Aptos Narrow" panose="020B0004020202020204" pitchFamily="34" charset="0"/>
                        </a:rPr>
                        <a:t>5,6</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06790382"/>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Exclusive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23,9</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6E483"/>
                    </a:solidFill>
                  </a:tcPr>
                </a:tc>
                <a:tc>
                  <a:txBody>
                    <a:bodyPr/>
                    <a:lstStyle/>
                    <a:p>
                      <a:pPr algn="r" fontAlgn="b">
                        <a:buNone/>
                      </a:pPr>
                      <a:r>
                        <a:rPr lang="fr-FR" sz="900" b="0" i="0" u="none" strike="noStrike">
                          <a:solidFill>
                            <a:srgbClr val="000000"/>
                          </a:solidFill>
                          <a:effectLst/>
                          <a:latin typeface="Aptos Narrow" panose="020B0004020202020204" pitchFamily="34" charset="0"/>
                        </a:rPr>
                        <a:t>18,1</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EA84"/>
                    </a:solidFill>
                  </a:tcPr>
                </a:tc>
                <a:tc>
                  <a:txBody>
                    <a:bodyPr/>
                    <a:lstStyle/>
                    <a:p>
                      <a:pPr algn="r" fontAlgn="b">
                        <a:buNone/>
                      </a:pPr>
                      <a:r>
                        <a:rPr lang="fr-FR" sz="900" b="0" i="0" u="none" strike="noStrike">
                          <a:solidFill>
                            <a:srgbClr val="00B050"/>
                          </a:solidFill>
                          <a:effectLst/>
                          <a:latin typeface="Aptos Narrow" panose="020B0004020202020204" pitchFamily="34" charset="0"/>
                        </a:rPr>
                        <a:t>5,8</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84278057"/>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Exclusive Wellness</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11,3</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D7E"/>
                    </a:solidFill>
                  </a:tcPr>
                </a:tc>
                <a:tc>
                  <a:txBody>
                    <a:bodyPr/>
                    <a:lstStyle/>
                    <a:p>
                      <a:pPr algn="r" fontAlgn="b">
                        <a:buNone/>
                      </a:pPr>
                      <a:r>
                        <a:rPr lang="fr-FR" sz="900" b="0" i="0" u="none" strike="noStrike">
                          <a:solidFill>
                            <a:srgbClr val="000000"/>
                          </a:solidFill>
                          <a:effectLst/>
                          <a:latin typeface="Aptos Narrow" panose="020B0004020202020204" pitchFamily="34" charset="0"/>
                        </a:rPr>
                        <a:t>9,0</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27C"/>
                    </a:solidFill>
                  </a:tcPr>
                </a:tc>
                <a:tc>
                  <a:txBody>
                    <a:bodyPr/>
                    <a:lstStyle/>
                    <a:p>
                      <a:pPr algn="r" fontAlgn="b">
                        <a:buNone/>
                      </a:pPr>
                      <a:r>
                        <a:rPr lang="fr-FR" sz="900" b="0" i="0" u="none" strike="noStrike">
                          <a:solidFill>
                            <a:srgbClr val="00B050"/>
                          </a:solidFill>
                          <a:effectLst/>
                          <a:latin typeface="Aptos Narrow" panose="020B0004020202020204" pitchFamily="34" charset="0"/>
                        </a:rPr>
                        <a:t>2,3</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46201305"/>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Premium cottage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17,2</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B84"/>
                    </a:solidFill>
                  </a:tcPr>
                </a:tc>
                <a:tc>
                  <a:txBody>
                    <a:bodyPr/>
                    <a:lstStyle/>
                    <a:p>
                      <a:pPr algn="r" fontAlgn="b">
                        <a:buNone/>
                      </a:pPr>
                      <a:r>
                        <a:rPr lang="fr-FR" sz="900" b="0" i="0" u="none" strike="noStrike">
                          <a:solidFill>
                            <a:srgbClr val="000000"/>
                          </a:solidFill>
                          <a:effectLst/>
                          <a:latin typeface="Aptos Narrow" panose="020B0004020202020204" pitchFamily="34" charset="0"/>
                        </a:rPr>
                        <a:t>13,8</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A80"/>
                    </a:solidFill>
                  </a:tcPr>
                </a:tc>
                <a:tc>
                  <a:txBody>
                    <a:bodyPr/>
                    <a:lstStyle/>
                    <a:p>
                      <a:pPr algn="r" fontAlgn="b">
                        <a:buNone/>
                      </a:pPr>
                      <a:r>
                        <a:rPr lang="fr-FR" sz="900" b="0" i="0" u="none" strike="noStrike">
                          <a:solidFill>
                            <a:srgbClr val="00B050"/>
                          </a:solidFill>
                          <a:effectLst/>
                          <a:latin typeface="Aptos Narrow" panose="020B0004020202020204" pitchFamily="34" charset="0"/>
                        </a:rPr>
                        <a:t>3,4</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6612763"/>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Premium cottage Wheelchair</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16,0</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582"/>
                    </a:solidFill>
                  </a:tcPr>
                </a:tc>
                <a:tc>
                  <a:txBody>
                    <a:bodyPr/>
                    <a:lstStyle/>
                    <a:p>
                      <a:pPr algn="r" fontAlgn="b">
                        <a:buNone/>
                      </a:pPr>
                      <a:r>
                        <a:rPr lang="fr-FR" sz="900" b="0" i="0" u="none" strike="noStrike">
                          <a:solidFill>
                            <a:srgbClr val="000000"/>
                          </a:solidFill>
                          <a:effectLst/>
                          <a:latin typeface="Aptos Narrow" panose="020B0004020202020204" pitchFamily="34" charset="0"/>
                        </a:rPr>
                        <a:t>1,8</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D75"/>
                    </a:solidFill>
                  </a:tcPr>
                </a:tc>
                <a:tc>
                  <a:txBody>
                    <a:bodyPr/>
                    <a:lstStyle/>
                    <a:p>
                      <a:pPr algn="r" fontAlgn="b">
                        <a:buNone/>
                      </a:pPr>
                      <a:r>
                        <a:rPr lang="fr-FR" sz="900" b="0" i="0" u="none" strike="noStrike">
                          <a:solidFill>
                            <a:srgbClr val="00B050"/>
                          </a:solidFill>
                          <a:effectLst/>
                          <a:latin typeface="Aptos Narrow" panose="020B0004020202020204" pitchFamily="34" charset="0"/>
                        </a:rPr>
                        <a:t>14,3</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89988984"/>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VIP cottage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9,7</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57C"/>
                    </a:solidFill>
                  </a:tcPr>
                </a:tc>
                <a:tc>
                  <a:txBody>
                    <a:bodyPr/>
                    <a:lstStyle/>
                    <a:p>
                      <a:pPr algn="r" fontAlgn="b">
                        <a:buNone/>
                      </a:pPr>
                      <a:r>
                        <a:rPr lang="fr-FR" sz="900" b="0" i="0" u="none" strike="noStrike">
                          <a:solidFill>
                            <a:srgbClr val="000000"/>
                          </a:solidFill>
                          <a:effectLst/>
                          <a:latin typeface="Aptos Narrow" panose="020B0004020202020204" pitchFamily="34" charset="0"/>
                        </a:rPr>
                        <a:t>9,9</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67D"/>
                    </a:solidFill>
                  </a:tcPr>
                </a:tc>
                <a:tc>
                  <a:txBody>
                    <a:bodyPr/>
                    <a:lstStyle/>
                    <a:p>
                      <a:pPr algn="r" fontAlgn="b">
                        <a:buNone/>
                      </a:pPr>
                      <a:r>
                        <a:rPr lang="fr-FR" sz="900" b="0" i="0" u="none" strike="noStrike">
                          <a:solidFill>
                            <a:srgbClr val="FF0000"/>
                          </a:solidFill>
                          <a:effectLst/>
                          <a:latin typeface="Aptos Narrow" panose="020B0004020202020204" pitchFamily="34" charset="0"/>
                        </a:rPr>
                        <a:t>-0,2</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02507365"/>
                  </a:ext>
                </a:extLst>
              </a:tr>
            </a:tbl>
          </a:graphicData>
        </a:graphic>
      </p:graphicFrame>
      <p:graphicFrame>
        <p:nvGraphicFramePr>
          <p:cNvPr id="9" name="Table 8">
            <a:extLst>
              <a:ext uri="{FF2B5EF4-FFF2-40B4-BE49-F238E27FC236}">
                <a16:creationId xmlns:a16="http://schemas.microsoft.com/office/drawing/2014/main" id="{7183047C-E791-19F0-2DC3-465692990732}"/>
              </a:ext>
            </a:extLst>
          </p:cNvPr>
          <p:cNvGraphicFramePr>
            <a:graphicFrameLocks noGrp="1"/>
          </p:cNvGraphicFramePr>
          <p:nvPr>
            <p:extLst>
              <p:ext uri="{D42A27DB-BD31-4B8C-83A1-F6EECF244321}">
                <p14:modId xmlns:p14="http://schemas.microsoft.com/office/powerpoint/2010/main" val="2826598476"/>
              </p:ext>
            </p:extLst>
          </p:nvPr>
        </p:nvGraphicFramePr>
        <p:xfrm>
          <a:off x="3360782" y="3911424"/>
          <a:ext cx="2460659" cy="1557860"/>
        </p:xfrm>
        <a:graphic>
          <a:graphicData uri="http://schemas.openxmlformats.org/drawingml/2006/table">
            <a:tbl>
              <a:tblPr/>
              <a:tblGrid>
                <a:gridCol w="1199681">
                  <a:extLst>
                    <a:ext uri="{9D8B030D-6E8A-4147-A177-3AD203B41FA5}">
                      <a16:colId xmlns:a16="http://schemas.microsoft.com/office/drawing/2014/main" val="3365572938"/>
                    </a:ext>
                  </a:extLst>
                </a:gridCol>
                <a:gridCol w="420326">
                  <a:extLst>
                    <a:ext uri="{9D8B030D-6E8A-4147-A177-3AD203B41FA5}">
                      <a16:colId xmlns:a16="http://schemas.microsoft.com/office/drawing/2014/main" val="3031065532"/>
                    </a:ext>
                  </a:extLst>
                </a:gridCol>
                <a:gridCol w="420326">
                  <a:extLst>
                    <a:ext uri="{9D8B030D-6E8A-4147-A177-3AD203B41FA5}">
                      <a16:colId xmlns:a16="http://schemas.microsoft.com/office/drawing/2014/main" val="1527165218"/>
                    </a:ext>
                  </a:extLst>
                </a:gridCol>
                <a:gridCol w="420326">
                  <a:extLst>
                    <a:ext uri="{9D8B030D-6E8A-4147-A177-3AD203B41FA5}">
                      <a16:colId xmlns:a16="http://schemas.microsoft.com/office/drawing/2014/main" val="3650451393"/>
                    </a:ext>
                  </a:extLst>
                </a:gridCol>
              </a:tblGrid>
              <a:tr h="155786">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69295536"/>
                  </a:ext>
                </a:extLst>
              </a:tr>
              <a:tr h="155786">
                <a:tc>
                  <a:txBody>
                    <a:bodyPr/>
                    <a:lstStyle/>
                    <a:p>
                      <a:pPr algn="l" fontAlgn="b">
                        <a:buNone/>
                      </a:pPr>
                      <a:r>
                        <a:rPr lang="fr-FR" sz="900" b="1" i="0" u="none" strike="noStrike">
                          <a:solidFill>
                            <a:srgbClr val="000000"/>
                          </a:solidFill>
                          <a:effectLst/>
                          <a:latin typeface="Aptos Narrow" panose="020B0004020202020204" pitchFamily="34" charset="0"/>
                        </a:rPr>
                        <a:t>Park </a:t>
                      </a:r>
                      <a:r>
                        <a:rPr lang="fr-FR" sz="900" b="1" i="0" u="none" strike="noStrike" err="1">
                          <a:solidFill>
                            <a:srgbClr val="000000"/>
                          </a:solidFill>
                          <a:effectLst/>
                          <a:latin typeface="Aptos Narrow" panose="020B0004020202020204" pitchFamily="34" charset="0"/>
                        </a:rPr>
                        <a:t>Bostalsee</a:t>
                      </a:r>
                      <a:endParaRPr lang="fr-FR" sz="900" b="1" i="0" u="none" strike="noStrike">
                        <a:solidFill>
                          <a:srgbClr val="000000"/>
                        </a:solidFill>
                        <a:effectLst/>
                        <a:latin typeface="Aptos Narrow" panose="020B0004020202020204" pitchFamily="34" charset="0"/>
                      </a:endParaRP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24,3</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4E483"/>
                    </a:solidFill>
                  </a:tcPr>
                </a:tc>
                <a:tc>
                  <a:txBody>
                    <a:bodyPr/>
                    <a:lstStyle/>
                    <a:p>
                      <a:pPr algn="r" fontAlgn="b">
                        <a:buNone/>
                      </a:pPr>
                      <a:r>
                        <a:rPr lang="fr-FR" sz="900" b="1" i="0" u="none" strike="noStrike">
                          <a:solidFill>
                            <a:srgbClr val="000000"/>
                          </a:solidFill>
                          <a:effectLst/>
                          <a:latin typeface="Aptos Narrow" panose="020B0004020202020204" pitchFamily="34" charset="0"/>
                        </a:rPr>
                        <a:t>12,6</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47F"/>
                    </a:solidFill>
                  </a:tcPr>
                </a:tc>
                <a:tc>
                  <a:txBody>
                    <a:bodyPr/>
                    <a:lstStyle/>
                    <a:p>
                      <a:pPr algn="r" fontAlgn="b">
                        <a:buNone/>
                      </a:pPr>
                      <a:r>
                        <a:rPr lang="fr-FR" sz="900" b="1" i="0" u="none" strike="noStrike">
                          <a:solidFill>
                            <a:srgbClr val="00B050"/>
                          </a:solidFill>
                          <a:effectLst/>
                          <a:latin typeface="Aptos Narrow" panose="020B0004020202020204" pitchFamily="34" charset="0"/>
                        </a:rPr>
                        <a:t>11,7</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58480966"/>
                  </a:ext>
                </a:extLst>
              </a:tr>
              <a:tr h="155786">
                <a:tc>
                  <a:txBody>
                    <a:bodyPr/>
                    <a:lstStyle/>
                    <a:p>
                      <a:pPr algn="l" fontAlgn="b">
                        <a:buNone/>
                      </a:pPr>
                      <a:r>
                        <a:rPr lang="fr-FR" sz="900" b="0" i="0" u="none" strike="noStrike">
                          <a:solidFill>
                            <a:srgbClr val="000000"/>
                          </a:solidFill>
                          <a:effectLst/>
                          <a:latin typeface="Aptos Narrow" panose="020B0004020202020204" pitchFamily="34" charset="0"/>
                        </a:rPr>
                        <a:t> Comfort cottage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24,0</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5E483"/>
                    </a:solidFill>
                  </a:tcPr>
                </a:tc>
                <a:tc>
                  <a:txBody>
                    <a:bodyPr/>
                    <a:lstStyle/>
                    <a:p>
                      <a:pPr algn="r" fontAlgn="b">
                        <a:buNone/>
                      </a:pPr>
                      <a:r>
                        <a:rPr lang="fr-FR" sz="900" b="0" i="0" u="none" strike="noStrike">
                          <a:solidFill>
                            <a:srgbClr val="000000"/>
                          </a:solidFill>
                          <a:effectLst/>
                          <a:latin typeface="Aptos Narrow" panose="020B0004020202020204" pitchFamily="34" charset="0"/>
                        </a:rPr>
                        <a:t>13,0</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680"/>
                    </a:solidFill>
                  </a:tcPr>
                </a:tc>
                <a:tc>
                  <a:txBody>
                    <a:bodyPr/>
                    <a:lstStyle/>
                    <a:p>
                      <a:pPr algn="r" fontAlgn="b">
                        <a:buNone/>
                      </a:pPr>
                      <a:r>
                        <a:rPr lang="fr-FR" sz="900" b="0" i="0" u="none" strike="noStrike">
                          <a:solidFill>
                            <a:srgbClr val="00B050"/>
                          </a:solidFill>
                          <a:effectLst/>
                          <a:latin typeface="Aptos Narrow" panose="020B0004020202020204" pitchFamily="34" charset="0"/>
                        </a:rPr>
                        <a:t>11,0</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15902978"/>
                  </a:ext>
                </a:extLst>
              </a:tr>
              <a:tr h="155786">
                <a:tc>
                  <a:txBody>
                    <a:bodyPr/>
                    <a:lstStyle/>
                    <a:p>
                      <a:pPr algn="l" fontAlgn="b">
                        <a:buNone/>
                      </a:pPr>
                      <a:r>
                        <a:rPr lang="fr-FR" sz="900" b="0" i="0" u="none" strike="noStrike">
                          <a:solidFill>
                            <a:srgbClr val="000000"/>
                          </a:solidFill>
                          <a:effectLst/>
                          <a:latin typeface="Aptos Narrow" panose="020B0004020202020204" pitchFamily="34" charset="0"/>
                        </a:rPr>
                        <a:t> Premium cottage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27,9</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6E082"/>
                    </a:solidFill>
                  </a:tcPr>
                </a:tc>
                <a:tc>
                  <a:txBody>
                    <a:bodyPr/>
                    <a:lstStyle/>
                    <a:p>
                      <a:pPr algn="r" fontAlgn="b">
                        <a:buNone/>
                      </a:pPr>
                      <a:r>
                        <a:rPr lang="fr-FR" sz="900" b="0" i="0" u="none" strike="noStrike">
                          <a:solidFill>
                            <a:srgbClr val="000000"/>
                          </a:solidFill>
                          <a:effectLst/>
                          <a:latin typeface="Aptos Narrow" panose="020B0004020202020204" pitchFamily="34" charset="0"/>
                        </a:rPr>
                        <a:t>14,8</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F81"/>
                    </a:solidFill>
                  </a:tcPr>
                </a:tc>
                <a:tc>
                  <a:txBody>
                    <a:bodyPr/>
                    <a:lstStyle/>
                    <a:p>
                      <a:pPr algn="r" fontAlgn="b">
                        <a:buNone/>
                      </a:pPr>
                      <a:r>
                        <a:rPr lang="fr-FR" sz="900" b="0" i="0" u="none" strike="noStrike">
                          <a:solidFill>
                            <a:srgbClr val="00B050"/>
                          </a:solidFill>
                          <a:effectLst/>
                          <a:latin typeface="Aptos Narrow" panose="020B0004020202020204" pitchFamily="34" charset="0"/>
                        </a:rPr>
                        <a:t>13,1</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53315227"/>
                  </a:ext>
                </a:extLst>
              </a:tr>
              <a:tr h="155786">
                <a:tc>
                  <a:txBody>
                    <a:bodyPr/>
                    <a:lstStyle/>
                    <a:p>
                      <a:pPr algn="l" fontAlgn="b">
                        <a:buNone/>
                      </a:pPr>
                      <a:r>
                        <a:rPr lang="fr-FR" sz="900" b="0" i="0" u="none" strike="noStrike">
                          <a:solidFill>
                            <a:srgbClr val="000000"/>
                          </a:solidFill>
                          <a:effectLst/>
                          <a:latin typeface="Aptos Narrow" panose="020B0004020202020204" pitchFamily="34" charset="0"/>
                        </a:rPr>
                        <a:t> VIP cottage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17,3</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B84"/>
                    </a:solidFill>
                  </a:tcPr>
                </a:tc>
                <a:tc>
                  <a:txBody>
                    <a:bodyPr/>
                    <a:lstStyle/>
                    <a:p>
                      <a:pPr algn="r" fontAlgn="b">
                        <a:buNone/>
                      </a:pPr>
                      <a:r>
                        <a:rPr lang="fr-FR" sz="900" b="0" i="0" u="none" strike="noStrike">
                          <a:solidFill>
                            <a:srgbClr val="000000"/>
                          </a:solidFill>
                          <a:effectLst/>
                          <a:latin typeface="Aptos Narrow" panose="020B0004020202020204" pitchFamily="34" charset="0"/>
                        </a:rPr>
                        <a:t>5,8</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B179"/>
                    </a:solidFill>
                  </a:tcPr>
                </a:tc>
                <a:tc>
                  <a:txBody>
                    <a:bodyPr/>
                    <a:lstStyle/>
                    <a:p>
                      <a:pPr algn="r" fontAlgn="b">
                        <a:buNone/>
                      </a:pPr>
                      <a:r>
                        <a:rPr lang="fr-FR" sz="900" b="0" i="0" u="none" strike="noStrike">
                          <a:solidFill>
                            <a:srgbClr val="00B050"/>
                          </a:solidFill>
                          <a:effectLst/>
                          <a:latin typeface="Aptos Narrow" panose="020B0004020202020204" pitchFamily="34" charset="0"/>
                        </a:rPr>
                        <a:t>11,6</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06635178"/>
                  </a:ext>
                </a:extLst>
              </a:tr>
              <a:tr h="155786">
                <a:tc>
                  <a:txBody>
                    <a:bodyPr/>
                    <a:lstStyle/>
                    <a:p>
                      <a:pPr algn="l" fontAlgn="b">
                        <a:buNone/>
                      </a:pPr>
                      <a:r>
                        <a:rPr lang="fr-FR" sz="900" b="1" i="0" u="none" strike="noStrike">
                          <a:solidFill>
                            <a:srgbClr val="000000"/>
                          </a:solidFill>
                          <a:effectLst/>
                          <a:latin typeface="Aptos Narrow" panose="020B0004020202020204" pitchFamily="34" charset="0"/>
                        </a:rPr>
                        <a:t>Park Eifel</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22,4</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BE683"/>
                    </a:solidFill>
                  </a:tcPr>
                </a:tc>
                <a:tc>
                  <a:txBody>
                    <a:bodyPr/>
                    <a:lstStyle/>
                    <a:p>
                      <a:pPr algn="r" fontAlgn="b">
                        <a:buNone/>
                      </a:pPr>
                      <a:r>
                        <a:rPr lang="fr-FR" sz="900" b="1" i="0" u="none" strike="noStrike">
                          <a:solidFill>
                            <a:srgbClr val="000000"/>
                          </a:solidFill>
                          <a:effectLst/>
                          <a:latin typeface="Aptos Narrow" panose="020B0004020202020204" pitchFamily="34" charset="0"/>
                        </a:rPr>
                        <a:t>13,9</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A80"/>
                    </a:solidFill>
                  </a:tcPr>
                </a:tc>
                <a:tc>
                  <a:txBody>
                    <a:bodyPr/>
                    <a:lstStyle/>
                    <a:p>
                      <a:pPr algn="r" fontAlgn="b">
                        <a:buNone/>
                      </a:pPr>
                      <a:r>
                        <a:rPr lang="fr-FR" sz="900" b="1" i="0" u="none" strike="noStrike">
                          <a:solidFill>
                            <a:srgbClr val="00B050"/>
                          </a:solidFill>
                          <a:effectLst/>
                          <a:latin typeface="Aptos Narrow" panose="020B0004020202020204" pitchFamily="34" charset="0"/>
                        </a:rPr>
                        <a:t>8,5</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60578880"/>
                  </a:ext>
                </a:extLst>
              </a:tr>
              <a:tr h="155786">
                <a:tc>
                  <a:txBody>
                    <a:bodyPr/>
                    <a:lstStyle/>
                    <a:p>
                      <a:pPr algn="l" fontAlgn="b">
                        <a:buNone/>
                      </a:pPr>
                      <a:r>
                        <a:rPr lang="fr-FR" sz="900" b="0" i="0" u="none" strike="noStrike">
                          <a:solidFill>
                            <a:srgbClr val="000000"/>
                          </a:solidFill>
                          <a:effectLst/>
                          <a:latin typeface="Aptos Narrow" panose="020B0004020202020204" pitchFamily="34" charset="0"/>
                        </a:rPr>
                        <a:t> Comfort cottage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24,3</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4E483"/>
                    </a:solidFill>
                  </a:tcPr>
                </a:tc>
                <a:tc>
                  <a:txBody>
                    <a:bodyPr/>
                    <a:lstStyle/>
                    <a:p>
                      <a:pPr algn="r" fontAlgn="b">
                        <a:buNone/>
                      </a:pPr>
                      <a:r>
                        <a:rPr lang="fr-FR" sz="900" b="0" i="0" u="none" strike="noStrike">
                          <a:solidFill>
                            <a:srgbClr val="000000"/>
                          </a:solidFill>
                          <a:effectLst/>
                          <a:latin typeface="Aptos Narrow" panose="020B0004020202020204" pitchFamily="34" charset="0"/>
                        </a:rPr>
                        <a:t>15,2</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182"/>
                    </a:solidFill>
                  </a:tcPr>
                </a:tc>
                <a:tc>
                  <a:txBody>
                    <a:bodyPr/>
                    <a:lstStyle/>
                    <a:p>
                      <a:pPr algn="r" fontAlgn="b">
                        <a:buNone/>
                      </a:pPr>
                      <a:r>
                        <a:rPr lang="fr-FR" sz="900" b="0" i="0" u="none" strike="noStrike">
                          <a:solidFill>
                            <a:srgbClr val="00B050"/>
                          </a:solidFill>
                          <a:effectLst/>
                          <a:latin typeface="Aptos Narrow" panose="020B0004020202020204" pitchFamily="34" charset="0"/>
                        </a:rPr>
                        <a:t>9,1</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28741951"/>
                  </a:ext>
                </a:extLst>
              </a:tr>
              <a:tr h="155786">
                <a:tc>
                  <a:txBody>
                    <a:bodyPr/>
                    <a:lstStyle/>
                    <a:p>
                      <a:pPr algn="l" fontAlgn="b">
                        <a:buNone/>
                      </a:pPr>
                      <a:r>
                        <a:rPr lang="fr-FR" sz="900" b="0" i="0" u="none" strike="noStrike">
                          <a:solidFill>
                            <a:srgbClr val="000000"/>
                          </a:solidFill>
                          <a:effectLst/>
                          <a:latin typeface="Aptos Narrow" panose="020B0004020202020204" pitchFamily="34" charset="0"/>
                        </a:rPr>
                        <a:t> Premium Kids cottage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19,2</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E984"/>
                    </a:solidFill>
                  </a:tcPr>
                </a:tc>
                <a:tc>
                  <a:txBody>
                    <a:bodyPr/>
                    <a:lstStyle/>
                    <a:p>
                      <a:pPr algn="r" fontAlgn="b">
                        <a:buNone/>
                      </a:pPr>
                      <a:r>
                        <a:rPr lang="fr-FR" sz="900" b="0" i="0" u="none" strike="noStrike">
                          <a:solidFill>
                            <a:srgbClr val="000000"/>
                          </a:solidFill>
                          <a:effectLst/>
                          <a:latin typeface="Aptos Narrow" panose="020B0004020202020204" pitchFamily="34" charset="0"/>
                        </a:rPr>
                        <a:t>17,2</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B84"/>
                    </a:solidFill>
                  </a:tcPr>
                </a:tc>
                <a:tc>
                  <a:txBody>
                    <a:bodyPr/>
                    <a:lstStyle/>
                    <a:p>
                      <a:pPr algn="r" fontAlgn="b">
                        <a:buNone/>
                      </a:pPr>
                      <a:r>
                        <a:rPr lang="fr-FR" sz="900" b="0" i="0" u="none" strike="noStrike">
                          <a:solidFill>
                            <a:srgbClr val="00B050"/>
                          </a:solidFill>
                          <a:effectLst/>
                          <a:latin typeface="Aptos Narrow" panose="020B0004020202020204" pitchFamily="34" charset="0"/>
                        </a:rPr>
                        <a:t>1,9</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65933031"/>
                  </a:ext>
                </a:extLst>
              </a:tr>
              <a:tr h="155786">
                <a:tc>
                  <a:txBody>
                    <a:bodyPr/>
                    <a:lstStyle/>
                    <a:p>
                      <a:pPr algn="l" fontAlgn="b">
                        <a:buNone/>
                      </a:pPr>
                      <a:r>
                        <a:rPr lang="fr-FR" sz="900" b="0" i="0" u="none" strike="noStrike">
                          <a:solidFill>
                            <a:srgbClr val="000000"/>
                          </a:solidFill>
                          <a:effectLst/>
                          <a:latin typeface="Aptos Narrow" panose="020B0004020202020204" pitchFamily="34" charset="0"/>
                        </a:rPr>
                        <a:t> Premium cottage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22,4</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BE683"/>
                    </a:solidFill>
                  </a:tcPr>
                </a:tc>
                <a:tc>
                  <a:txBody>
                    <a:bodyPr/>
                    <a:lstStyle/>
                    <a:p>
                      <a:pPr algn="r" fontAlgn="b">
                        <a:buNone/>
                      </a:pPr>
                      <a:r>
                        <a:rPr lang="fr-FR" sz="900" b="0" i="0" u="none" strike="noStrike">
                          <a:solidFill>
                            <a:srgbClr val="000000"/>
                          </a:solidFill>
                          <a:effectLst/>
                          <a:latin typeface="Aptos Narrow" panose="020B0004020202020204" pitchFamily="34" charset="0"/>
                        </a:rPr>
                        <a:t>16,9</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983"/>
                    </a:solidFill>
                  </a:tcPr>
                </a:tc>
                <a:tc>
                  <a:txBody>
                    <a:bodyPr/>
                    <a:lstStyle/>
                    <a:p>
                      <a:pPr algn="r" fontAlgn="b">
                        <a:buNone/>
                      </a:pPr>
                      <a:r>
                        <a:rPr lang="fr-FR" sz="900" b="0" i="0" u="none" strike="noStrike">
                          <a:solidFill>
                            <a:srgbClr val="00B050"/>
                          </a:solidFill>
                          <a:effectLst/>
                          <a:latin typeface="Aptos Narrow" panose="020B0004020202020204" pitchFamily="34" charset="0"/>
                        </a:rPr>
                        <a:t>5,6</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19798687"/>
                  </a:ext>
                </a:extLst>
              </a:tr>
              <a:tr h="155786">
                <a:tc>
                  <a:txBody>
                    <a:bodyPr/>
                    <a:lstStyle/>
                    <a:p>
                      <a:pPr algn="l" fontAlgn="b">
                        <a:buNone/>
                      </a:pPr>
                      <a:r>
                        <a:rPr lang="fr-FR" sz="900" b="0" i="0" u="none" strike="noStrike">
                          <a:solidFill>
                            <a:srgbClr val="000000"/>
                          </a:solidFill>
                          <a:effectLst/>
                          <a:latin typeface="Aptos Narrow" panose="020B0004020202020204" pitchFamily="34" charset="0"/>
                        </a:rPr>
                        <a:t> VIP cottage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19,5</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6E984"/>
                    </a:solidFill>
                  </a:tcPr>
                </a:tc>
                <a:tc>
                  <a:txBody>
                    <a:bodyPr/>
                    <a:lstStyle/>
                    <a:p>
                      <a:pPr algn="r" fontAlgn="b">
                        <a:buNone/>
                      </a:pPr>
                      <a:r>
                        <a:rPr lang="fr-FR" sz="900" b="0" i="0" u="none" strike="noStrike">
                          <a:solidFill>
                            <a:srgbClr val="000000"/>
                          </a:solidFill>
                          <a:effectLst/>
                          <a:latin typeface="Aptos Narrow" panose="020B0004020202020204" pitchFamily="34" charset="0"/>
                        </a:rPr>
                        <a:t>5,1</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E78"/>
                    </a:solidFill>
                  </a:tcPr>
                </a:tc>
                <a:tc>
                  <a:txBody>
                    <a:bodyPr/>
                    <a:lstStyle/>
                    <a:p>
                      <a:pPr algn="r" fontAlgn="b">
                        <a:buNone/>
                      </a:pPr>
                      <a:r>
                        <a:rPr lang="fr-FR" sz="900" b="0" i="0" u="none" strike="noStrike">
                          <a:solidFill>
                            <a:srgbClr val="00B050"/>
                          </a:solidFill>
                          <a:effectLst/>
                          <a:latin typeface="Aptos Narrow" panose="020B0004020202020204" pitchFamily="34" charset="0"/>
                        </a:rPr>
                        <a:t>14,4</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40698259"/>
                  </a:ext>
                </a:extLst>
              </a:tr>
            </a:tbl>
          </a:graphicData>
        </a:graphic>
      </p:graphicFrame>
      <p:graphicFrame>
        <p:nvGraphicFramePr>
          <p:cNvPr id="10" name="Table 9">
            <a:extLst>
              <a:ext uri="{FF2B5EF4-FFF2-40B4-BE49-F238E27FC236}">
                <a16:creationId xmlns:a16="http://schemas.microsoft.com/office/drawing/2014/main" id="{B5F1E730-5516-D86C-EF2F-8A51261AF58D}"/>
              </a:ext>
            </a:extLst>
          </p:cNvPr>
          <p:cNvGraphicFramePr>
            <a:graphicFrameLocks noGrp="1"/>
          </p:cNvGraphicFramePr>
          <p:nvPr>
            <p:extLst>
              <p:ext uri="{D42A27DB-BD31-4B8C-83A1-F6EECF244321}">
                <p14:modId xmlns:p14="http://schemas.microsoft.com/office/powerpoint/2010/main" val="1705088276"/>
              </p:ext>
            </p:extLst>
          </p:nvPr>
        </p:nvGraphicFramePr>
        <p:xfrm>
          <a:off x="6120787" y="3916530"/>
          <a:ext cx="3000356" cy="2249120"/>
        </p:xfrm>
        <a:graphic>
          <a:graphicData uri="http://schemas.openxmlformats.org/drawingml/2006/table">
            <a:tbl>
              <a:tblPr/>
              <a:tblGrid>
                <a:gridCol w="1462808">
                  <a:extLst>
                    <a:ext uri="{9D8B030D-6E8A-4147-A177-3AD203B41FA5}">
                      <a16:colId xmlns:a16="http://schemas.microsoft.com/office/drawing/2014/main" val="2816078242"/>
                    </a:ext>
                  </a:extLst>
                </a:gridCol>
                <a:gridCol w="512516">
                  <a:extLst>
                    <a:ext uri="{9D8B030D-6E8A-4147-A177-3AD203B41FA5}">
                      <a16:colId xmlns:a16="http://schemas.microsoft.com/office/drawing/2014/main" val="2599251937"/>
                    </a:ext>
                  </a:extLst>
                </a:gridCol>
                <a:gridCol w="512516">
                  <a:extLst>
                    <a:ext uri="{9D8B030D-6E8A-4147-A177-3AD203B41FA5}">
                      <a16:colId xmlns:a16="http://schemas.microsoft.com/office/drawing/2014/main" val="526455097"/>
                    </a:ext>
                  </a:extLst>
                </a:gridCol>
                <a:gridCol w="512516">
                  <a:extLst>
                    <a:ext uri="{9D8B030D-6E8A-4147-A177-3AD203B41FA5}">
                      <a16:colId xmlns:a16="http://schemas.microsoft.com/office/drawing/2014/main" val="1673716461"/>
                    </a:ext>
                  </a:extLst>
                </a:gridCol>
              </a:tblGrid>
              <a:tr h="98894">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89360281"/>
                  </a:ext>
                </a:extLst>
              </a:tr>
              <a:tr h="98894">
                <a:tc>
                  <a:txBody>
                    <a:bodyPr/>
                    <a:lstStyle/>
                    <a:p>
                      <a:pPr algn="l" fontAlgn="b">
                        <a:buNone/>
                      </a:pPr>
                      <a:r>
                        <a:rPr lang="fr-FR" sz="900" b="1" i="0" u="none" strike="noStrike">
                          <a:solidFill>
                            <a:srgbClr val="000000"/>
                          </a:solidFill>
                          <a:effectLst/>
                          <a:latin typeface="Aptos Narrow" panose="020B0004020202020204" pitchFamily="34" charset="0"/>
                        </a:rPr>
                        <a:t>Park </a:t>
                      </a:r>
                      <a:r>
                        <a:rPr lang="fr-FR" sz="900" b="1" i="0" u="none" strike="noStrike" err="1">
                          <a:solidFill>
                            <a:srgbClr val="000000"/>
                          </a:solidFill>
                          <a:effectLst/>
                          <a:latin typeface="Aptos Narrow" panose="020B0004020202020204" pitchFamily="34" charset="0"/>
                        </a:rPr>
                        <a:t>Hochsauerland</a:t>
                      </a:r>
                      <a:endParaRPr lang="fr-FR" sz="900" b="1" i="0" u="none" strike="noStrike">
                        <a:solidFill>
                          <a:srgbClr val="000000"/>
                        </a:solidFill>
                        <a:effectLst/>
                        <a:latin typeface="Aptos Narrow" panose="020B0004020202020204" pitchFamily="34" charset="0"/>
                      </a:endParaRP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35,6</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8D780"/>
                    </a:solidFill>
                  </a:tcPr>
                </a:tc>
                <a:tc>
                  <a:txBody>
                    <a:bodyPr/>
                    <a:lstStyle/>
                    <a:p>
                      <a:pPr algn="r" fontAlgn="b">
                        <a:buNone/>
                      </a:pPr>
                      <a:r>
                        <a:rPr lang="fr-FR" sz="900" b="1" i="0" u="none" strike="noStrike">
                          <a:solidFill>
                            <a:srgbClr val="000000"/>
                          </a:solidFill>
                          <a:effectLst/>
                          <a:latin typeface="Aptos Narrow" panose="020B0004020202020204" pitchFamily="34" charset="0"/>
                        </a:rPr>
                        <a:t>32,2</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6DB81"/>
                    </a:solidFill>
                  </a:tcPr>
                </a:tc>
                <a:tc>
                  <a:txBody>
                    <a:bodyPr/>
                    <a:lstStyle/>
                    <a:p>
                      <a:pPr algn="r" fontAlgn="b">
                        <a:buNone/>
                      </a:pPr>
                      <a:r>
                        <a:rPr lang="fr-FR" sz="900" b="1" i="0" u="none" strike="noStrike">
                          <a:solidFill>
                            <a:srgbClr val="00B050"/>
                          </a:solidFill>
                          <a:effectLst/>
                          <a:latin typeface="Aptos Narrow" panose="020B0004020202020204" pitchFamily="34" charset="0"/>
                        </a:rPr>
                        <a:t>3,5</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18552542"/>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Comfort cottage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37,2</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3D580"/>
                    </a:solidFill>
                  </a:tcPr>
                </a:tc>
                <a:tc>
                  <a:txBody>
                    <a:bodyPr/>
                    <a:lstStyle/>
                    <a:p>
                      <a:pPr algn="r" fontAlgn="b">
                        <a:buNone/>
                      </a:pPr>
                      <a:r>
                        <a:rPr lang="fr-FR" sz="900" b="0" i="0" u="none" strike="noStrike">
                          <a:solidFill>
                            <a:srgbClr val="000000"/>
                          </a:solidFill>
                          <a:effectLst/>
                          <a:latin typeface="Aptos Narrow" panose="020B0004020202020204" pitchFamily="34" charset="0"/>
                        </a:rPr>
                        <a:t>33,4</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1D981"/>
                    </a:solidFill>
                  </a:tcPr>
                </a:tc>
                <a:tc>
                  <a:txBody>
                    <a:bodyPr/>
                    <a:lstStyle/>
                    <a:p>
                      <a:pPr algn="r" fontAlgn="b">
                        <a:buNone/>
                      </a:pPr>
                      <a:r>
                        <a:rPr lang="fr-FR" sz="900" b="0" i="0" u="none" strike="noStrike">
                          <a:solidFill>
                            <a:srgbClr val="00B050"/>
                          </a:solidFill>
                          <a:effectLst/>
                          <a:latin typeface="Aptos Narrow" panose="020B0004020202020204" pitchFamily="34" charset="0"/>
                        </a:rPr>
                        <a:t>3,7</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31297362"/>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Hotel Premium Wheelchair</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57,8</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900" b="0" i="0" u="none" strike="noStrike">
                          <a:solidFill>
                            <a:srgbClr val="000000"/>
                          </a:solidFill>
                          <a:effectLst/>
                          <a:latin typeface="Aptos Narrow" panose="020B0004020202020204" pitchFamily="34" charset="0"/>
                        </a:rPr>
                        <a:t>25,8</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EE283"/>
                    </a:solidFill>
                  </a:tcPr>
                </a:tc>
                <a:tc>
                  <a:txBody>
                    <a:bodyPr/>
                    <a:lstStyle/>
                    <a:p>
                      <a:pPr algn="r" fontAlgn="b">
                        <a:buNone/>
                      </a:pPr>
                      <a:r>
                        <a:rPr lang="fr-FR" sz="900" b="0" i="0" u="none" strike="noStrike">
                          <a:solidFill>
                            <a:srgbClr val="00B050"/>
                          </a:solidFill>
                          <a:effectLst/>
                          <a:latin typeface="Aptos Narrow" panose="020B0004020202020204" pitchFamily="34" charset="0"/>
                        </a:rPr>
                        <a:t>32,0</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81125894"/>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Premium </a:t>
                      </a:r>
                      <a:r>
                        <a:rPr lang="fr-FR" sz="900" b="0" i="0" u="none" strike="noStrike" err="1">
                          <a:solidFill>
                            <a:srgbClr val="000000"/>
                          </a:solidFill>
                          <a:effectLst/>
                          <a:latin typeface="Aptos Narrow" panose="020B0004020202020204" pitchFamily="34" charset="0"/>
                        </a:rPr>
                        <a:t>Hotel</a:t>
                      </a:r>
                      <a:endParaRPr lang="fr-FR" sz="900" b="0" i="0" u="none" strike="noStrike">
                        <a:solidFill>
                          <a:srgbClr val="000000"/>
                        </a:solidFill>
                        <a:effectLst/>
                        <a:latin typeface="Aptos Narrow" panose="020B0004020202020204" pitchFamily="34" charset="0"/>
                      </a:endParaRP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45,5</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3CC7E"/>
                    </a:solidFill>
                  </a:tcPr>
                </a:tc>
                <a:tc>
                  <a:txBody>
                    <a:bodyPr/>
                    <a:lstStyle/>
                    <a:p>
                      <a:pPr algn="r" fontAlgn="b">
                        <a:buNone/>
                      </a:pPr>
                      <a:r>
                        <a:rPr lang="fr-FR" sz="900" b="0" i="0" u="none" strike="noStrike">
                          <a:solidFill>
                            <a:srgbClr val="000000"/>
                          </a:solidFill>
                          <a:effectLst/>
                          <a:latin typeface="Aptos Narrow" panose="020B0004020202020204" pitchFamily="34" charset="0"/>
                        </a:rPr>
                        <a:t>37,2</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3D580"/>
                    </a:solidFill>
                  </a:tcPr>
                </a:tc>
                <a:tc>
                  <a:txBody>
                    <a:bodyPr/>
                    <a:lstStyle/>
                    <a:p>
                      <a:pPr algn="r" fontAlgn="b">
                        <a:buNone/>
                      </a:pPr>
                      <a:r>
                        <a:rPr lang="fr-FR" sz="900" b="0" i="0" u="none" strike="noStrike">
                          <a:solidFill>
                            <a:srgbClr val="00B050"/>
                          </a:solidFill>
                          <a:effectLst/>
                          <a:latin typeface="Aptos Narrow" panose="020B0004020202020204" pitchFamily="34" charset="0"/>
                        </a:rPr>
                        <a:t>8,3</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58785947"/>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Premium Kids cottage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37,4</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2D580"/>
                    </a:solidFill>
                  </a:tcPr>
                </a:tc>
                <a:tc>
                  <a:txBody>
                    <a:bodyPr/>
                    <a:lstStyle/>
                    <a:p>
                      <a:pPr algn="r" fontAlgn="b">
                        <a:buNone/>
                      </a:pPr>
                      <a:r>
                        <a:rPr lang="fr-FR" sz="900" b="0" i="0" u="none" strike="noStrike">
                          <a:solidFill>
                            <a:srgbClr val="000000"/>
                          </a:solidFill>
                          <a:effectLst/>
                          <a:latin typeface="Aptos Narrow" panose="020B0004020202020204" pitchFamily="34" charset="0"/>
                        </a:rPr>
                        <a:t>34,7</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CD881"/>
                    </a:solidFill>
                  </a:tcPr>
                </a:tc>
                <a:tc>
                  <a:txBody>
                    <a:bodyPr/>
                    <a:lstStyle/>
                    <a:p>
                      <a:pPr algn="r" fontAlgn="b">
                        <a:buNone/>
                      </a:pPr>
                      <a:r>
                        <a:rPr lang="fr-FR" sz="900" b="0" i="0" u="none" strike="noStrike">
                          <a:solidFill>
                            <a:srgbClr val="00B050"/>
                          </a:solidFill>
                          <a:effectLst/>
                          <a:latin typeface="Aptos Narrow" panose="020B0004020202020204" pitchFamily="34" charset="0"/>
                        </a:rPr>
                        <a:t>2,7</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01213770"/>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Premium cottage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34,1</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ED981"/>
                    </a:solidFill>
                  </a:tcPr>
                </a:tc>
                <a:tc>
                  <a:txBody>
                    <a:bodyPr/>
                    <a:lstStyle/>
                    <a:p>
                      <a:pPr algn="r" fontAlgn="b">
                        <a:buNone/>
                      </a:pPr>
                      <a:r>
                        <a:rPr lang="fr-FR" sz="900" b="0" i="0" u="none" strike="noStrike">
                          <a:solidFill>
                            <a:srgbClr val="000000"/>
                          </a:solidFill>
                          <a:effectLst/>
                          <a:latin typeface="Aptos Narrow" panose="020B0004020202020204" pitchFamily="34" charset="0"/>
                        </a:rPr>
                        <a:t>31,7</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7DB81"/>
                    </a:solidFill>
                  </a:tcPr>
                </a:tc>
                <a:tc>
                  <a:txBody>
                    <a:bodyPr/>
                    <a:lstStyle/>
                    <a:p>
                      <a:pPr algn="r" fontAlgn="b">
                        <a:buNone/>
                      </a:pPr>
                      <a:r>
                        <a:rPr lang="fr-FR" sz="900" b="0" i="0" u="none" strike="noStrike">
                          <a:solidFill>
                            <a:srgbClr val="00B050"/>
                          </a:solidFill>
                          <a:effectLst/>
                          <a:latin typeface="Aptos Narrow" panose="020B0004020202020204" pitchFamily="34" charset="0"/>
                        </a:rPr>
                        <a:t>2,4</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33266460"/>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Premium cottage Wheelchair</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24,6</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3E383"/>
                    </a:solidFill>
                  </a:tcPr>
                </a:tc>
                <a:tc>
                  <a:txBody>
                    <a:bodyPr/>
                    <a:lstStyle/>
                    <a:p>
                      <a:pPr algn="r" fontAlgn="b">
                        <a:buNone/>
                      </a:pPr>
                      <a:r>
                        <a:rPr lang="fr-FR" sz="900" b="0" i="0" u="none" strike="noStrike">
                          <a:solidFill>
                            <a:srgbClr val="000000"/>
                          </a:solidFill>
                          <a:effectLst/>
                          <a:latin typeface="Aptos Narrow" panose="020B0004020202020204" pitchFamily="34" charset="0"/>
                        </a:rPr>
                        <a:t>38,1</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FD480"/>
                    </a:solidFill>
                  </a:tcPr>
                </a:tc>
                <a:tc>
                  <a:txBody>
                    <a:bodyPr/>
                    <a:lstStyle/>
                    <a:p>
                      <a:pPr algn="r" fontAlgn="b">
                        <a:buNone/>
                      </a:pPr>
                      <a:r>
                        <a:rPr lang="fr-FR" sz="900" b="0" i="0" u="none" strike="noStrike">
                          <a:solidFill>
                            <a:srgbClr val="FF0000"/>
                          </a:solidFill>
                          <a:effectLst/>
                          <a:latin typeface="Aptos Narrow" panose="020B0004020202020204" pitchFamily="34" charset="0"/>
                        </a:rPr>
                        <a:t>-13,5</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75460650"/>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VIP cottage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27,8</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6E082"/>
                    </a:solidFill>
                  </a:tcPr>
                </a:tc>
                <a:tc>
                  <a:txBody>
                    <a:bodyPr/>
                    <a:lstStyle/>
                    <a:p>
                      <a:pPr algn="r" fontAlgn="b">
                        <a:buNone/>
                      </a:pPr>
                      <a:r>
                        <a:rPr lang="fr-FR" sz="900" b="0" i="0" u="none" strike="noStrike">
                          <a:solidFill>
                            <a:srgbClr val="000000"/>
                          </a:solidFill>
                          <a:effectLst/>
                          <a:latin typeface="Aptos Narrow" panose="020B0004020202020204" pitchFamily="34" charset="0"/>
                        </a:rPr>
                        <a:t>27,2</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9E082"/>
                    </a:solidFill>
                  </a:tcPr>
                </a:tc>
                <a:tc>
                  <a:txBody>
                    <a:bodyPr/>
                    <a:lstStyle/>
                    <a:p>
                      <a:pPr algn="r" fontAlgn="b">
                        <a:buNone/>
                      </a:pPr>
                      <a:r>
                        <a:rPr lang="fr-FR" sz="900" b="0" i="0" u="none" strike="noStrike">
                          <a:solidFill>
                            <a:srgbClr val="00B050"/>
                          </a:solidFill>
                          <a:effectLst/>
                          <a:latin typeface="Aptos Narrow" panose="020B0004020202020204" pitchFamily="34" charset="0"/>
                        </a:rPr>
                        <a:t>0,6</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38449889"/>
                  </a:ext>
                </a:extLst>
              </a:tr>
              <a:tr h="98894">
                <a:tc>
                  <a:txBody>
                    <a:bodyPr/>
                    <a:lstStyle/>
                    <a:p>
                      <a:pPr algn="l" fontAlgn="b">
                        <a:buNone/>
                      </a:pPr>
                      <a:r>
                        <a:rPr lang="fr-FR" sz="900" b="1" i="0" u="none" strike="noStrike">
                          <a:solidFill>
                            <a:srgbClr val="000000"/>
                          </a:solidFill>
                          <a:effectLst/>
                          <a:latin typeface="Aptos Narrow" panose="020B0004020202020204" pitchFamily="34" charset="0"/>
                        </a:rPr>
                        <a:t>Park Nordseeküste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0,3</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673"/>
                    </a:solidFill>
                  </a:tcPr>
                </a:tc>
                <a:tc>
                  <a:txBody>
                    <a:bodyPr/>
                    <a:lstStyle/>
                    <a:p>
                      <a:pPr algn="r" fontAlgn="b">
                        <a:buNone/>
                      </a:pPr>
                      <a:r>
                        <a:rPr lang="fr-FR" sz="900" b="1" i="0" u="none" strike="noStrike">
                          <a:solidFill>
                            <a:srgbClr val="000000"/>
                          </a:solidFill>
                          <a:effectLst/>
                          <a:latin typeface="Aptos Narrow" panose="020B0004020202020204" pitchFamily="34" charset="0"/>
                        </a:rPr>
                        <a:t>0,1</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573"/>
                    </a:solidFill>
                  </a:tcPr>
                </a:tc>
                <a:tc>
                  <a:txBody>
                    <a:bodyPr/>
                    <a:lstStyle/>
                    <a:p>
                      <a:pPr algn="r" fontAlgn="b">
                        <a:buNone/>
                      </a:pPr>
                      <a:r>
                        <a:rPr lang="fr-FR" sz="900" b="1" i="0" u="none" strike="noStrike">
                          <a:solidFill>
                            <a:srgbClr val="00B050"/>
                          </a:solidFill>
                          <a:effectLst/>
                          <a:latin typeface="Aptos Narrow" panose="020B0004020202020204" pitchFamily="34" charset="0"/>
                        </a:rPr>
                        <a:t>0,2</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37177803"/>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Apartment Comfort</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1,9</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E75"/>
                    </a:solidFill>
                  </a:tcPr>
                </a:tc>
                <a:tc>
                  <a:txBody>
                    <a:bodyPr/>
                    <a:lstStyle/>
                    <a:p>
                      <a:pPr algn="r" fontAlgn="b">
                        <a:buNone/>
                      </a:pPr>
                      <a:r>
                        <a:rPr lang="fr-FR" sz="900" b="0" i="0" u="none" strike="noStrike">
                          <a:solidFill>
                            <a:srgbClr val="000000"/>
                          </a:solidFill>
                          <a:effectLst/>
                          <a:latin typeface="Aptos Narrow" panose="020B0004020202020204" pitchFamily="34" charset="0"/>
                        </a:rPr>
                        <a:t>1,3</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B74"/>
                    </a:solidFill>
                  </a:tcPr>
                </a:tc>
                <a:tc>
                  <a:txBody>
                    <a:bodyPr/>
                    <a:lstStyle/>
                    <a:p>
                      <a:pPr algn="r" fontAlgn="b">
                        <a:buNone/>
                      </a:pPr>
                      <a:r>
                        <a:rPr lang="fr-FR" sz="900" b="0" i="0" u="none" strike="noStrike">
                          <a:solidFill>
                            <a:srgbClr val="00B050"/>
                          </a:solidFill>
                          <a:effectLst/>
                          <a:latin typeface="Aptos Narrow" panose="020B0004020202020204" pitchFamily="34" charset="0"/>
                        </a:rPr>
                        <a:t>0,6</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70863832"/>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Appartement VIP</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1,3</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B74"/>
                    </a:solidFill>
                  </a:tcPr>
                </a:tc>
                <a:tc>
                  <a:txBody>
                    <a:bodyPr/>
                    <a:lstStyle/>
                    <a:p>
                      <a:pPr algn="r" fontAlgn="b">
                        <a:buNone/>
                      </a:pPr>
                      <a:r>
                        <a:rPr lang="fr-FR" sz="900" b="0" i="0" u="none" strike="noStrike">
                          <a:solidFill>
                            <a:srgbClr val="000000"/>
                          </a:solidFill>
                          <a:effectLst/>
                          <a:latin typeface="Aptos Narrow" panose="020B0004020202020204" pitchFamily="34" charset="0"/>
                        </a:rPr>
                        <a:t>-3,1</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570"/>
                    </a:solidFill>
                  </a:tcPr>
                </a:tc>
                <a:tc>
                  <a:txBody>
                    <a:bodyPr/>
                    <a:lstStyle/>
                    <a:p>
                      <a:pPr algn="r" fontAlgn="b">
                        <a:buNone/>
                      </a:pPr>
                      <a:r>
                        <a:rPr lang="fr-FR" sz="900" b="0" i="0" u="none" strike="noStrike">
                          <a:solidFill>
                            <a:srgbClr val="00B050"/>
                          </a:solidFill>
                          <a:effectLst/>
                          <a:latin typeface="Aptos Narrow" panose="020B0004020202020204" pitchFamily="34" charset="0"/>
                        </a:rPr>
                        <a:t>4,4</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02167994"/>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Comfort cottage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-3,5</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26F"/>
                    </a:solidFill>
                  </a:tcPr>
                </a:tc>
                <a:tc>
                  <a:txBody>
                    <a:bodyPr/>
                    <a:lstStyle/>
                    <a:p>
                      <a:pPr algn="r" fontAlgn="b">
                        <a:buNone/>
                      </a:pPr>
                      <a:r>
                        <a:rPr lang="fr-FR" sz="900" b="0" i="0" u="none" strike="noStrike">
                          <a:solidFill>
                            <a:srgbClr val="000000"/>
                          </a:solidFill>
                          <a:effectLst/>
                          <a:latin typeface="Aptos Narrow" panose="020B0004020202020204" pitchFamily="34" charset="0"/>
                        </a:rPr>
                        <a:t>-6,4</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46D"/>
                    </a:solidFill>
                  </a:tcPr>
                </a:tc>
                <a:tc>
                  <a:txBody>
                    <a:bodyPr/>
                    <a:lstStyle/>
                    <a:p>
                      <a:pPr algn="r" fontAlgn="b">
                        <a:buNone/>
                      </a:pPr>
                      <a:r>
                        <a:rPr lang="fr-FR" sz="900" b="0" i="0" u="none" strike="noStrike">
                          <a:solidFill>
                            <a:srgbClr val="00B050"/>
                          </a:solidFill>
                          <a:effectLst/>
                          <a:latin typeface="Aptos Narrow" panose="020B0004020202020204" pitchFamily="34" charset="0"/>
                        </a:rPr>
                        <a:t>2,8</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59385592"/>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Premium Hotel</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14,1</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B81"/>
                    </a:solidFill>
                  </a:tcPr>
                </a:tc>
                <a:tc>
                  <a:txBody>
                    <a:bodyPr/>
                    <a:lstStyle/>
                    <a:p>
                      <a:pPr algn="r" fontAlgn="b">
                        <a:buNone/>
                      </a:pPr>
                      <a:r>
                        <a:rPr lang="fr-FR" sz="900" b="0" i="0" u="none" strike="noStrike">
                          <a:solidFill>
                            <a:srgbClr val="000000"/>
                          </a:solidFill>
                          <a:effectLst/>
                          <a:latin typeface="Aptos Narrow" panose="020B0004020202020204" pitchFamily="34" charset="0"/>
                        </a:rPr>
                        <a:t>16,3</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783"/>
                    </a:solidFill>
                  </a:tcPr>
                </a:tc>
                <a:tc>
                  <a:txBody>
                    <a:bodyPr/>
                    <a:lstStyle/>
                    <a:p>
                      <a:pPr algn="r" fontAlgn="b">
                        <a:buNone/>
                      </a:pPr>
                      <a:r>
                        <a:rPr lang="fr-FR" sz="900" b="0" i="0" u="none" strike="noStrike">
                          <a:solidFill>
                            <a:srgbClr val="FF0000"/>
                          </a:solidFill>
                          <a:effectLst/>
                          <a:latin typeface="Aptos Narrow" panose="020B0004020202020204" pitchFamily="34" charset="0"/>
                        </a:rPr>
                        <a:t>-2,2</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88358763"/>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Premium cottage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-3,4</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370"/>
                    </a:solidFill>
                  </a:tcPr>
                </a:tc>
                <a:tc>
                  <a:txBody>
                    <a:bodyPr/>
                    <a:lstStyle/>
                    <a:p>
                      <a:pPr algn="r" fontAlgn="b">
                        <a:buNone/>
                      </a:pPr>
                      <a:r>
                        <a:rPr lang="fr-FR" sz="900" b="0" i="0" u="none" strike="noStrike">
                          <a:solidFill>
                            <a:srgbClr val="000000"/>
                          </a:solidFill>
                          <a:effectLst/>
                          <a:latin typeface="Aptos Narrow" panose="020B0004020202020204" pitchFamily="34" charset="0"/>
                        </a:rPr>
                        <a:t>-5,5</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96E"/>
                    </a:solidFill>
                  </a:tcPr>
                </a:tc>
                <a:tc>
                  <a:txBody>
                    <a:bodyPr/>
                    <a:lstStyle/>
                    <a:p>
                      <a:pPr algn="r" fontAlgn="b">
                        <a:buNone/>
                      </a:pPr>
                      <a:r>
                        <a:rPr lang="fr-FR" sz="900" b="0" i="0" u="none" strike="noStrike">
                          <a:solidFill>
                            <a:srgbClr val="00B050"/>
                          </a:solidFill>
                          <a:effectLst/>
                          <a:latin typeface="Aptos Narrow" panose="020B0004020202020204" pitchFamily="34" charset="0"/>
                        </a:rPr>
                        <a:t>2,1</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2470587"/>
                  </a:ext>
                </a:extLst>
              </a:tr>
              <a:tr h="98894">
                <a:tc>
                  <a:txBody>
                    <a:bodyPr/>
                    <a:lstStyle/>
                    <a:p>
                      <a:pPr algn="l" fontAlgn="b">
                        <a:buNone/>
                      </a:pPr>
                      <a:r>
                        <a:rPr lang="fr-FR" sz="900" b="0" i="0" u="none" strike="noStrike">
                          <a:solidFill>
                            <a:srgbClr val="000000"/>
                          </a:solidFill>
                          <a:effectLst/>
                          <a:latin typeface="Aptos Narrow" panose="020B0004020202020204" pitchFamily="34" charset="0"/>
                        </a:rPr>
                        <a:t> VIP cottage</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-8,6</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96B"/>
                    </a:solidFill>
                  </a:tcPr>
                </a:tc>
                <a:tc>
                  <a:txBody>
                    <a:bodyPr/>
                    <a:lstStyle/>
                    <a:p>
                      <a:pPr algn="r" fontAlgn="b">
                        <a:buNone/>
                      </a:pPr>
                      <a:r>
                        <a:rPr lang="fr-FR" sz="900" b="0" i="0" u="none" strike="noStrike">
                          <a:solidFill>
                            <a:srgbClr val="000000"/>
                          </a:solidFill>
                          <a:effectLst/>
                          <a:latin typeface="Aptos Narrow" panose="020B0004020202020204" pitchFamily="34" charset="0"/>
                        </a:rPr>
                        <a:t>-3,4</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370"/>
                    </a:solidFill>
                  </a:tcPr>
                </a:tc>
                <a:tc>
                  <a:txBody>
                    <a:bodyPr/>
                    <a:lstStyle/>
                    <a:p>
                      <a:pPr algn="r" fontAlgn="b">
                        <a:buNone/>
                      </a:pPr>
                      <a:r>
                        <a:rPr lang="fr-FR" sz="900" b="0" i="0" u="none" strike="noStrike">
                          <a:solidFill>
                            <a:srgbClr val="FF0000"/>
                          </a:solidFill>
                          <a:effectLst/>
                          <a:latin typeface="Aptos Narrow" panose="020B0004020202020204" pitchFamily="34" charset="0"/>
                        </a:rPr>
                        <a:t>-5,2</a:t>
                      </a:r>
                    </a:p>
                  </a:txBody>
                  <a:tcPr marL="3410" marR="3410" marT="341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56517434"/>
                  </a:ext>
                </a:extLst>
              </a:tr>
            </a:tbl>
          </a:graphicData>
        </a:graphic>
      </p:graphicFrame>
      <p:graphicFrame>
        <p:nvGraphicFramePr>
          <p:cNvPr id="11" name="Table 10">
            <a:extLst>
              <a:ext uri="{FF2B5EF4-FFF2-40B4-BE49-F238E27FC236}">
                <a16:creationId xmlns:a16="http://schemas.microsoft.com/office/drawing/2014/main" id="{17822427-79CA-7A0A-6752-379CC2160974}"/>
              </a:ext>
            </a:extLst>
          </p:cNvPr>
          <p:cNvGraphicFramePr>
            <a:graphicFrameLocks noGrp="1"/>
          </p:cNvGraphicFramePr>
          <p:nvPr>
            <p:extLst>
              <p:ext uri="{D42A27DB-BD31-4B8C-83A1-F6EECF244321}">
                <p14:modId xmlns:p14="http://schemas.microsoft.com/office/powerpoint/2010/main" val="632555297"/>
              </p:ext>
            </p:extLst>
          </p:nvPr>
        </p:nvGraphicFramePr>
        <p:xfrm>
          <a:off x="7727282" y="978100"/>
          <a:ext cx="3543300" cy="2567684"/>
        </p:xfrm>
        <a:graphic>
          <a:graphicData uri="http://schemas.openxmlformats.org/drawingml/2006/table">
            <a:tbl>
              <a:tblPr/>
              <a:tblGrid>
                <a:gridCol w="1714500">
                  <a:extLst>
                    <a:ext uri="{9D8B030D-6E8A-4147-A177-3AD203B41FA5}">
                      <a16:colId xmlns:a16="http://schemas.microsoft.com/office/drawing/2014/main" val="2061593218"/>
                    </a:ext>
                  </a:extLst>
                </a:gridCol>
                <a:gridCol w="609600">
                  <a:extLst>
                    <a:ext uri="{9D8B030D-6E8A-4147-A177-3AD203B41FA5}">
                      <a16:colId xmlns:a16="http://schemas.microsoft.com/office/drawing/2014/main" val="2782071537"/>
                    </a:ext>
                  </a:extLst>
                </a:gridCol>
                <a:gridCol w="609600">
                  <a:extLst>
                    <a:ext uri="{9D8B030D-6E8A-4147-A177-3AD203B41FA5}">
                      <a16:colId xmlns:a16="http://schemas.microsoft.com/office/drawing/2014/main" val="1942404882"/>
                    </a:ext>
                  </a:extLst>
                </a:gridCol>
                <a:gridCol w="609600">
                  <a:extLst>
                    <a:ext uri="{9D8B030D-6E8A-4147-A177-3AD203B41FA5}">
                      <a16:colId xmlns:a16="http://schemas.microsoft.com/office/drawing/2014/main" val="1701784721"/>
                    </a:ext>
                  </a:extLst>
                </a:gridCol>
              </a:tblGrid>
              <a:tr h="150894">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97995089"/>
                  </a:ext>
                </a:extLst>
              </a:tr>
              <a:tr h="150894">
                <a:tc>
                  <a:txBody>
                    <a:bodyPr/>
                    <a:lstStyle/>
                    <a:p>
                      <a:pPr algn="l" fontAlgn="b">
                        <a:buNone/>
                      </a:pPr>
                      <a:r>
                        <a:rPr lang="fr-FR" sz="900" b="0" i="0" u="none" strike="noStrike">
                          <a:solidFill>
                            <a:srgbClr val="000000"/>
                          </a:solidFill>
                          <a:effectLst/>
                          <a:latin typeface="Aptos Narrow" panose="020B0004020202020204" pitchFamily="34" charset="0"/>
                        </a:rPr>
                        <a:t>Hotel Premium Wheelchair</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57,8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900" b="0" i="0" u="none" strike="noStrike">
                          <a:solidFill>
                            <a:srgbClr val="000000"/>
                          </a:solidFill>
                          <a:effectLst/>
                          <a:latin typeface="Aptos Narrow" panose="020B0004020202020204" pitchFamily="34" charset="0"/>
                        </a:rPr>
                        <a:t>25,8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EE283"/>
                    </a:solidFill>
                  </a:tcPr>
                </a:tc>
                <a:tc>
                  <a:txBody>
                    <a:bodyPr/>
                    <a:lstStyle/>
                    <a:p>
                      <a:pPr algn="r" fontAlgn="b">
                        <a:buNone/>
                      </a:pPr>
                      <a:r>
                        <a:rPr lang="fr-FR" sz="900" b="0" i="0" u="none" strike="noStrike">
                          <a:solidFill>
                            <a:srgbClr val="00B050"/>
                          </a:solidFill>
                          <a:effectLst/>
                          <a:latin typeface="Aptos Narrow" panose="020B0004020202020204" pitchFamily="34" charset="0"/>
                        </a:rPr>
                        <a:t>32,0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90192067"/>
                  </a:ext>
                </a:extLst>
              </a:tr>
              <a:tr h="150894">
                <a:tc>
                  <a:txBody>
                    <a:bodyPr/>
                    <a:lstStyle/>
                    <a:p>
                      <a:pPr algn="l" fontAlgn="b">
                        <a:buNone/>
                      </a:pPr>
                      <a:r>
                        <a:rPr lang="fr-FR" sz="900" b="0" i="0" u="none" strike="noStrike">
                          <a:solidFill>
                            <a:srgbClr val="000000"/>
                          </a:solidFill>
                          <a:effectLst/>
                          <a:latin typeface="Aptos Narrow" panose="020B0004020202020204" pitchFamily="34" charset="0"/>
                        </a:rPr>
                        <a:t>Treehouse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34,7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CD881"/>
                    </a:solidFill>
                  </a:tcPr>
                </a:tc>
                <a:tc>
                  <a:txBody>
                    <a:bodyPr/>
                    <a:lstStyle/>
                    <a:p>
                      <a:pPr algn="r" fontAlgn="b">
                        <a:buNone/>
                      </a:pPr>
                      <a:r>
                        <a:rPr lang="fr-FR" sz="900" b="0" i="0" u="none" strike="noStrike">
                          <a:solidFill>
                            <a:srgbClr val="000000"/>
                          </a:solidFill>
                          <a:effectLst/>
                          <a:latin typeface="Aptos Narrow" panose="020B0004020202020204" pitchFamily="34" charset="0"/>
                        </a:rPr>
                        <a:t>30,6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CDD82"/>
                    </a:solidFill>
                  </a:tcPr>
                </a:tc>
                <a:tc>
                  <a:txBody>
                    <a:bodyPr/>
                    <a:lstStyle/>
                    <a:p>
                      <a:pPr algn="r" fontAlgn="b">
                        <a:buNone/>
                      </a:pPr>
                      <a:r>
                        <a:rPr lang="fr-FR" sz="900" b="0" i="0" u="none" strike="noStrike">
                          <a:solidFill>
                            <a:srgbClr val="00B050"/>
                          </a:solidFill>
                          <a:effectLst/>
                          <a:latin typeface="Aptos Narrow" panose="020B0004020202020204" pitchFamily="34" charset="0"/>
                        </a:rPr>
                        <a:t>4,1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99744464"/>
                  </a:ext>
                </a:extLst>
              </a:tr>
              <a:tr h="150894">
                <a:tc>
                  <a:txBody>
                    <a:bodyPr/>
                    <a:lstStyle/>
                    <a:p>
                      <a:pPr algn="l" fontAlgn="b">
                        <a:buNone/>
                      </a:pPr>
                      <a:r>
                        <a:rPr lang="fr-FR" sz="900" b="0" i="0" u="none" strike="noStrike">
                          <a:solidFill>
                            <a:srgbClr val="000000"/>
                          </a:solidFill>
                          <a:effectLst/>
                          <a:latin typeface="Aptos Narrow" panose="020B0004020202020204" pitchFamily="34" charset="0"/>
                        </a:rPr>
                        <a:t>Boathouse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33,5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0D981"/>
                    </a:solidFill>
                  </a:tcPr>
                </a:tc>
                <a:tc>
                  <a:txBody>
                    <a:bodyPr/>
                    <a:lstStyle/>
                    <a:p>
                      <a:pPr algn="r" fontAlgn="b">
                        <a:buNone/>
                      </a:pPr>
                      <a:r>
                        <a:rPr lang="fr-FR" sz="900" b="0" i="0" u="none" strike="noStrike">
                          <a:solidFill>
                            <a:srgbClr val="000000"/>
                          </a:solidFill>
                          <a:effectLst/>
                          <a:latin typeface="Aptos Narrow" panose="020B0004020202020204" pitchFamily="34" charset="0"/>
                        </a:rPr>
                        <a:t>17,7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EB84"/>
                    </a:solidFill>
                  </a:tcPr>
                </a:tc>
                <a:tc>
                  <a:txBody>
                    <a:bodyPr/>
                    <a:lstStyle/>
                    <a:p>
                      <a:pPr algn="r" fontAlgn="b">
                        <a:buNone/>
                      </a:pPr>
                      <a:r>
                        <a:rPr lang="fr-FR" sz="900" b="0" i="0" u="none" strike="noStrike">
                          <a:solidFill>
                            <a:srgbClr val="00B050"/>
                          </a:solidFill>
                          <a:effectLst/>
                          <a:latin typeface="Aptos Narrow" panose="020B0004020202020204" pitchFamily="34" charset="0"/>
                        </a:rPr>
                        <a:t>15,8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11308875"/>
                  </a:ext>
                </a:extLst>
              </a:tr>
              <a:tr h="150894">
                <a:tc>
                  <a:txBody>
                    <a:bodyPr/>
                    <a:lstStyle/>
                    <a:p>
                      <a:pPr algn="l" fontAlgn="b">
                        <a:buNone/>
                      </a:pPr>
                      <a:r>
                        <a:rPr lang="fr-FR" sz="900" b="0" i="0" u="none" strike="noStrike">
                          <a:solidFill>
                            <a:srgbClr val="000000"/>
                          </a:solidFill>
                          <a:effectLst/>
                          <a:latin typeface="Aptos Narrow" panose="020B0004020202020204" pitchFamily="34" charset="0"/>
                        </a:rPr>
                        <a:t>Premium Kids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30,9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BDC81"/>
                    </a:solidFill>
                  </a:tcPr>
                </a:tc>
                <a:tc>
                  <a:txBody>
                    <a:bodyPr/>
                    <a:lstStyle/>
                    <a:p>
                      <a:pPr algn="r" fontAlgn="b">
                        <a:buNone/>
                      </a:pPr>
                      <a:r>
                        <a:rPr lang="fr-FR" sz="900" b="0" i="0" u="none" strike="noStrike">
                          <a:solidFill>
                            <a:srgbClr val="000000"/>
                          </a:solidFill>
                          <a:effectLst/>
                          <a:latin typeface="Aptos Narrow" panose="020B0004020202020204" pitchFamily="34" charset="0"/>
                        </a:rPr>
                        <a:t>24,4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3E383"/>
                    </a:solidFill>
                  </a:tcPr>
                </a:tc>
                <a:tc>
                  <a:txBody>
                    <a:bodyPr/>
                    <a:lstStyle/>
                    <a:p>
                      <a:pPr algn="r" fontAlgn="b">
                        <a:buNone/>
                      </a:pPr>
                      <a:r>
                        <a:rPr lang="fr-FR" sz="900" b="0" i="0" u="none" strike="noStrike">
                          <a:solidFill>
                            <a:srgbClr val="00B050"/>
                          </a:solidFill>
                          <a:effectLst/>
                          <a:latin typeface="Aptos Narrow" panose="020B0004020202020204" pitchFamily="34" charset="0"/>
                        </a:rPr>
                        <a:t>6,5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5609614"/>
                  </a:ext>
                </a:extLst>
              </a:tr>
              <a:tr h="153380">
                <a:tc>
                  <a:txBody>
                    <a:bodyPr/>
                    <a:lstStyle/>
                    <a:p>
                      <a:pPr algn="l" fontAlgn="b">
                        <a:buNone/>
                      </a:pPr>
                      <a:r>
                        <a:rPr lang="fr-FR" sz="900" b="0" i="0" u="none" strike="noStrike">
                          <a:solidFill>
                            <a:srgbClr val="000000"/>
                          </a:solidFill>
                          <a:effectLst/>
                          <a:latin typeface="Aptos Narrow" panose="020B0004020202020204" pitchFamily="34" charset="0"/>
                        </a:rPr>
                        <a:t>Premium Hotel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30,7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BDC81"/>
                    </a:solidFill>
                  </a:tcPr>
                </a:tc>
                <a:tc>
                  <a:txBody>
                    <a:bodyPr/>
                    <a:lstStyle/>
                    <a:p>
                      <a:pPr algn="r" fontAlgn="b">
                        <a:buNone/>
                      </a:pPr>
                      <a:r>
                        <a:rPr lang="fr-FR" sz="900" b="0" i="0" u="none" strike="noStrike">
                          <a:solidFill>
                            <a:srgbClr val="000000"/>
                          </a:solidFill>
                          <a:effectLst/>
                          <a:latin typeface="Aptos Narrow" panose="020B0004020202020204" pitchFamily="34" charset="0"/>
                        </a:rPr>
                        <a:t>28,6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3DF82"/>
                    </a:solidFill>
                  </a:tcPr>
                </a:tc>
                <a:tc>
                  <a:txBody>
                    <a:bodyPr/>
                    <a:lstStyle/>
                    <a:p>
                      <a:pPr algn="r" fontAlgn="b">
                        <a:buNone/>
                      </a:pPr>
                      <a:r>
                        <a:rPr lang="fr-FR" sz="900" b="0" i="0" u="none" strike="noStrike">
                          <a:solidFill>
                            <a:srgbClr val="00B050"/>
                          </a:solidFill>
                          <a:effectLst/>
                          <a:latin typeface="Aptos Narrow" panose="020B0004020202020204" pitchFamily="34" charset="0"/>
                        </a:rPr>
                        <a:t>2,1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30439260"/>
                  </a:ext>
                </a:extLst>
              </a:tr>
              <a:tr h="150894">
                <a:tc>
                  <a:txBody>
                    <a:bodyPr/>
                    <a:lstStyle/>
                    <a:p>
                      <a:pPr algn="l" fontAlgn="b">
                        <a:buNone/>
                      </a:pPr>
                      <a:r>
                        <a:rPr lang="fr-FR" sz="900" b="0" i="0" u="none" strike="noStrike">
                          <a:solidFill>
                            <a:srgbClr val="000000"/>
                          </a:solidFill>
                          <a:effectLst/>
                          <a:latin typeface="Aptos Narrow" panose="020B0004020202020204" pitchFamily="34" charset="0"/>
                        </a:rPr>
                        <a:t>Exclusive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23,9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5E483"/>
                    </a:solidFill>
                  </a:tcPr>
                </a:tc>
                <a:tc>
                  <a:txBody>
                    <a:bodyPr/>
                    <a:lstStyle/>
                    <a:p>
                      <a:pPr algn="r" fontAlgn="b">
                        <a:buNone/>
                      </a:pPr>
                      <a:r>
                        <a:rPr lang="fr-FR" sz="900" b="1" i="0" u="none" strike="noStrike">
                          <a:solidFill>
                            <a:srgbClr val="000000"/>
                          </a:solidFill>
                          <a:effectLst/>
                          <a:latin typeface="Aptos Narrow" panose="020B0004020202020204" pitchFamily="34" charset="0"/>
                        </a:rPr>
                        <a:t>18,1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EA84"/>
                    </a:solidFill>
                  </a:tcPr>
                </a:tc>
                <a:tc>
                  <a:txBody>
                    <a:bodyPr/>
                    <a:lstStyle/>
                    <a:p>
                      <a:pPr algn="r" fontAlgn="b">
                        <a:buNone/>
                      </a:pPr>
                      <a:r>
                        <a:rPr lang="fr-FR" sz="900" b="0" i="0" u="none" strike="noStrike">
                          <a:solidFill>
                            <a:srgbClr val="00B050"/>
                          </a:solidFill>
                          <a:effectLst/>
                          <a:latin typeface="Aptos Narrow" panose="020B0004020202020204" pitchFamily="34" charset="0"/>
                        </a:rPr>
                        <a:t>5,8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35973982"/>
                  </a:ext>
                </a:extLst>
              </a:tr>
              <a:tr h="150894">
                <a:tc>
                  <a:txBody>
                    <a:bodyPr/>
                    <a:lstStyle/>
                    <a:p>
                      <a:pPr algn="l" fontAlgn="b">
                        <a:buNone/>
                      </a:pPr>
                      <a:r>
                        <a:rPr lang="fr-FR" sz="900" b="0" i="0" u="none" strike="noStrike">
                          <a:solidFill>
                            <a:srgbClr val="000000"/>
                          </a:solidFill>
                          <a:effectLst/>
                          <a:latin typeface="Aptos Narrow" panose="020B0004020202020204" pitchFamily="34" charset="0"/>
                        </a:rPr>
                        <a:t>Premium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22,6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AE583"/>
                    </a:solidFill>
                  </a:tcPr>
                </a:tc>
                <a:tc>
                  <a:txBody>
                    <a:bodyPr/>
                    <a:lstStyle/>
                    <a:p>
                      <a:pPr algn="r" fontAlgn="b">
                        <a:buNone/>
                      </a:pPr>
                      <a:r>
                        <a:rPr lang="fr-FR" sz="900" b="0" i="0" u="none" strike="noStrike">
                          <a:solidFill>
                            <a:srgbClr val="000000"/>
                          </a:solidFill>
                          <a:effectLst/>
                          <a:latin typeface="Aptos Narrow" panose="020B0004020202020204" pitchFamily="34" charset="0"/>
                        </a:rPr>
                        <a:t>16,4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783"/>
                    </a:solidFill>
                  </a:tcPr>
                </a:tc>
                <a:tc>
                  <a:txBody>
                    <a:bodyPr/>
                    <a:lstStyle/>
                    <a:p>
                      <a:pPr algn="r" fontAlgn="b">
                        <a:buNone/>
                      </a:pPr>
                      <a:r>
                        <a:rPr lang="fr-FR" sz="900" b="0" i="0" u="none" strike="noStrike">
                          <a:solidFill>
                            <a:srgbClr val="00B050"/>
                          </a:solidFill>
                          <a:effectLst/>
                          <a:latin typeface="Aptos Narrow" panose="020B0004020202020204" pitchFamily="34" charset="0"/>
                        </a:rPr>
                        <a:t>6,2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81754601"/>
                  </a:ext>
                </a:extLst>
              </a:tr>
              <a:tr h="150894">
                <a:tc>
                  <a:txBody>
                    <a:bodyPr/>
                    <a:lstStyle/>
                    <a:p>
                      <a:pPr algn="l" fontAlgn="b">
                        <a:buNone/>
                      </a:pPr>
                      <a:r>
                        <a:rPr lang="fr-FR" sz="900" b="0" i="0" u="none" strike="noStrike">
                          <a:solidFill>
                            <a:srgbClr val="000000"/>
                          </a:solidFill>
                          <a:effectLst/>
                          <a:latin typeface="Aptos Narrow" panose="020B0004020202020204" pitchFamily="34" charset="0"/>
                        </a:rPr>
                        <a:t>Comfort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BE583"/>
                    </a:solidFill>
                  </a:tcPr>
                </a:tc>
                <a:tc>
                  <a:txBody>
                    <a:bodyPr/>
                    <a:lstStyle/>
                    <a:p>
                      <a:pPr algn="r" fontAlgn="b">
                        <a:buNone/>
                      </a:pPr>
                      <a:r>
                        <a:rPr lang="fr-FR" sz="900" b="0" i="0" u="none" strike="noStrike">
                          <a:solidFill>
                            <a:srgbClr val="000000"/>
                          </a:solidFill>
                          <a:effectLst/>
                          <a:latin typeface="Aptos Narrow" panose="020B0004020202020204" pitchFamily="34" charset="0"/>
                        </a:rPr>
                        <a:t>15,0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F81"/>
                    </a:solidFill>
                  </a:tcPr>
                </a:tc>
                <a:tc>
                  <a:txBody>
                    <a:bodyPr/>
                    <a:lstStyle/>
                    <a:p>
                      <a:pPr algn="r" fontAlgn="b">
                        <a:buNone/>
                      </a:pPr>
                      <a:r>
                        <a:rPr lang="fr-FR" sz="900" b="0" i="0" u="none" strike="noStrike">
                          <a:solidFill>
                            <a:srgbClr val="00B050"/>
                          </a:solidFill>
                          <a:effectLst/>
                          <a:latin typeface="Aptos Narrow" panose="020B0004020202020204" pitchFamily="34" charset="0"/>
                        </a:rPr>
                        <a:t>7,6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13131331"/>
                  </a:ext>
                </a:extLst>
              </a:tr>
              <a:tr h="150894">
                <a:tc>
                  <a:txBody>
                    <a:bodyPr/>
                    <a:lstStyle/>
                    <a:p>
                      <a:pPr algn="l" fontAlgn="b">
                        <a:buNone/>
                      </a:pPr>
                      <a:r>
                        <a:rPr lang="fr-FR" sz="900" b="0" i="0" u="none" strike="noStrike">
                          <a:solidFill>
                            <a:srgbClr val="000000"/>
                          </a:solidFill>
                          <a:effectLst/>
                          <a:latin typeface="Aptos Narrow" panose="020B0004020202020204" pitchFamily="34" charset="0"/>
                        </a:rPr>
                        <a:t>Premium cottage Wheelchair</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21,1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0E784"/>
                    </a:solidFill>
                  </a:tcPr>
                </a:tc>
                <a:tc>
                  <a:txBody>
                    <a:bodyPr/>
                    <a:lstStyle/>
                    <a:p>
                      <a:pPr algn="r" fontAlgn="b">
                        <a:buNone/>
                      </a:pPr>
                      <a:r>
                        <a:rPr lang="fr-FR" sz="900" b="1" i="0" u="none" strike="noStrike">
                          <a:solidFill>
                            <a:srgbClr val="000000"/>
                          </a:solidFill>
                          <a:effectLst/>
                          <a:latin typeface="Aptos Narrow" panose="020B0004020202020204" pitchFamily="34" charset="0"/>
                        </a:rPr>
                        <a:t>11,0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87D"/>
                    </a:solidFill>
                  </a:tcPr>
                </a:tc>
                <a:tc>
                  <a:txBody>
                    <a:bodyPr/>
                    <a:lstStyle/>
                    <a:p>
                      <a:pPr algn="r" fontAlgn="b">
                        <a:buNone/>
                      </a:pPr>
                      <a:r>
                        <a:rPr lang="fr-FR" sz="900" b="0" i="0" u="none" strike="noStrike">
                          <a:solidFill>
                            <a:srgbClr val="00B050"/>
                          </a:solidFill>
                          <a:effectLst/>
                          <a:latin typeface="Aptos Narrow" panose="020B0004020202020204" pitchFamily="34" charset="0"/>
                        </a:rPr>
                        <a:t>10,1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86139832"/>
                  </a:ext>
                </a:extLst>
              </a:tr>
              <a:tr h="150894">
                <a:tc>
                  <a:txBody>
                    <a:bodyPr/>
                    <a:lstStyle/>
                    <a:p>
                      <a:pPr algn="l" fontAlgn="b">
                        <a:buNone/>
                      </a:pPr>
                      <a:r>
                        <a:rPr lang="fr-FR" sz="900" b="1" i="0" u="none" strike="noStrike">
                          <a:solidFill>
                            <a:srgbClr val="000000"/>
                          </a:solidFill>
                          <a:effectLst/>
                          <a:latin typeface="Aptos Narrow" panose="020B0004020202020204" pitchFamily="34" charset="0"/>
                        </a:rPr>
                        <a:t>Total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20,7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1E784"/>
                    </a:solidFill>
                  </a:tcPr>
                </a:tc>
                <a:tc>
                  <a:txBody>
                    <a:bodyPr/>
                    <a:lstStyle/>
                    <a:p>
                      <a:pPr algn="r" fontAlgn="b">
                        <a:buNone/>
                      </a:pPr>
                      <a:r>
                        <a:rPr lang="fr-FR" sz="900" b="1" i="0" u="none" strike="noStrike">
                          <a:solidFill>
                            <a:srgbClr val="000000"/>
                          </a:solidFill>
                          <a:effectLst/>
                          <a:latin typeface="Aptos Narrow" panose="020B0004020202020204" pitchFamily="34" charset="0"/>
                        </a:rPr>
                        <a:t>14,7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D81"/>
                    </a:solidFill>
                  </a:tcPr>
                </a:tc>
                <a:tc>
                  <a:txBody>
                    <a:bodyPr/>
                    <a:lstStyle/>
                    <a:p>
                      <a:pPr algn="r" fontAlgn="b">
                        <a:buNone/>
                      </a:pPr>
                      <a:r>
                        <a:rPr lang="fr-FR" sz="900" b="1" i="0" u="none" strike="noStrike">
                          <a:solidFill>
                            <a:srgbClr val="00B050"/>
                          </a:solidFill>
                          <a:effectLst/>
                          <a:latin typeface="Aptos Narrow" panose="020B0004020202020204" pitchFamily="34" charset="0"/>
                        </a:rPr>
                        <a:t>6,0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07757770"/>
                  </a:ext>
                </a:extLst>
              </a:tr>
              <a:tr h="150894">
                <a:tc>
                  <a:txBody>
                    <a:bodyPr/>
                    <a:lstStyle/>
                    <a:p>
                      <a:pPr algn="l" fontAlgn="b">
                        <a:buNone/>
                      </a:pPr>
                      <a:r>
                        <a:rPr lang="fr-FR" sz="900" b="0" i="0" u="none" strike="noStrike">
                          <a:solidFill>
                            <a:srgbClr val="000000"/>
                          </a:solidFill>
                          <a:effectLst/>
                          <a:latin typeface="Aptos Narrow" panose="020B0004020202020204" pitchFamily="34" charset="0"/>
                        </a:rPr>
                        <a:t>Eden Premium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16,4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783"/>
                    </a:solidFill>
                  </a:tcPr>
                </a:tc>
                <a:tc>
                  <a:txBody>
                    <a:bodyPr/>
                    <a:lstStyle/>
                    <a:p>
                      <a:pPr algn="r" fontAlgn="b">
                        <a:buNone/>
                      </a:pPr>
                      <a:r>
                        <a:rPr lang="fr-FR" sz="900" b="0" i="0" u="none" strike="noStrike">
                          <a:solidFill>
                            <a:srgbClr val="000000"/>
                          </a:solidFill>
                          <a:effectLst/>
                          <a:latin typeface="Aptos Narrow" panose="020B0004020202020204" pitchFamily="34" charset="0"/>
                        </a:rPr>
                        <a:t>1,9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573"/>
                    </a:solidFill>
                  </a:tcPr>
                </a:tc>
                <a:tc>
                  <a:txBody>
                    <a:bodyPr/>
                    <a:lstStyle/>
                    <a:p>
                      <a:pPr algn="r" fontAlgn="b">
                        <a:buNone/>
                      </a:pPr>
                      <a:r>
                        <a:rPr lang="fr-FR" sz="900" b="0" i="0" u="none" strike="noStrike">
                          <a:solidFill>
                            <a:srgbClr val="00B050"/>
                          </a:solidFill>
                          <a:effectLst/>
                          <a:latin typeface="Aptos Narrow" panose="020B0004020202020204" pitchFamily="34" charset="0"/>
                        </a:rPr>
                        <a:t>14,5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40269814"/>
                  </a:ext>
                </a:extLst>
              </a:tr>
              <a:tr h="150894">
                <a:tc>
                  <a:txBody>
                    <a:bodyPr/>
                    <a:lstStyle/>
                    <a:p>
                      <a:pPr algn="l" fontAlgn="b">
                        <a:buNone/>
                      </a:pPr>
                      <a:r>
                        <a:rPr lang="fr-FR" sz="900" b="0" i="0" u="none" strike="noStrike">
                          <a:solidFill>
                            <a:srgbClr val="000000"/>
                          </a:solidFill>
                          <a:effectLst/>
                          <a:latin typeface="Aptos Narrow" panose="020B0004020202020204" pitchFamily="34" charset="0"/>
                        </a:rPr>
                        <a:t>VIP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13,9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980"/>
                    </a:solidFill>
                  </a:tcPr>
                </a:tc>
                <a:tc>
                  <a:txBody>
                    <a:bodyPr/>
                    <a:lstStyle/>
                    <a:p>
                      <a:pPr algn="r" fontAlgn="b">
                        <a:buNone/>
                      </a:pPr>
                      <a:r>
                        <a:rPr lang="fr-FR" sz="900" b="0" i="0" u="none" strike="noStrike">
                          <a:solidFill>
                            <a:srgbClr val="000000"/>
                          </a:solidFill>
                          <a:effectLst/>
                          <a:latin typeface="Aptos Narrow" panose="020B0004020202020204" pitchFamily="34" charset="0"/>
                        </a:rPr>
                        <a:t>10,1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37C"/>
                    </a:solidFill>
                  </a:tcPr>
                </a:tc>
                <a:tc>
                  <a:txBody>
                    <a:bodyPr/>
                    <a:lstStyle/>
                    <a:p>
                      <a:pPr algn="r" fontAlgn="b">
                        <a:buNone/>
                      </a:pPr>
                      <a:r>
                        <a:rPr lang="fr-FR" sz="900" b="0" i="0" u="none" strike="noStrike">
                          <a:solidFill>
                            <a:srgbClr val="00B050"/>
                          </a:solidFill>
                          <a:effectLst/>
                          <a:latin typeface="Aptos Narrow" panose="020B0004020202020204" pitchFamily="34" charset="0"/>
                        </a:rPr>
                        <a:t>3,8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215752"/>
                  </a:ext>
                </a:extLst>
              </a:tr>
              <a:tr h="150894">
                <a:tc>
                  <a:txBody>
                    <a:bodyPr/>
                    <a:lstStyle/>
                    <a:p>
                      <a:pPr algn="l" fontAlgn="b">
                        <a:buNone/>
                      </a:pPr>
                      <a:r>
                        <a:rPr lang="fr-FR" sz="900" b="0" i="0" u="none" strike="noStrike">
                          <a:solidFill>
                            <a:srgbClr val="000000"/>
                          </a:solidFill>
                          <a:effectLst/>
                          <a:latin typeface="Aptos Narrow" panose="020B0004020202020204" pitchFamily="34" charset="0"/>
                        </a:rPr>
                        <a:t>Exclusive Wellness</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11,3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A7D"/>
                    </a:solidFill>
                  </a:tcPr>
                </a:tc>
                <a:tc>
                  <a:txBody>
                    <a:bodyPr/>
                    <a:lstStyle/>
                    <a:p>
                      <a:pPr algn="r" fontAlgn="b">
                        <a:buNone/>
                      </a:pPr>
                      <a:r>
                        <a:rPr lang="fr-FR" sz="900" b="0" i="0" u="none" strike="noStrike">
                          <a:solidFill>
                            <a:srgbClr val="000000"/>
                          </a:solidFill>
                          <a:effectLst/>
                          <a:latin typeface="Aptos Narrow" panose="020B0004020202020204" pitchFamily="34" charset="0"/>
                        </a:rPr>
                        <a:t>9,0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D7B"/>
                    </a:solidFill>
                  </a:tcPr>
                </a:tc>
                <a:tc>
                  <a:txBody>
                    <a:bodyPr/>
                    <a:lstStyle/>
                    <a:p>
                      <a:pPr algn="r" fontAlgn="b">
                        <a:buNone/>
                      </a:pPr>
                      <a:r>
                        <a:rPr lang="fr-FR" sz="900" b="0" i="0" u="none" strike="noStrike">
                          <a:solidFill>
                            <a:srgbClr val="00B050"/>
                          </a:solidFill>
                          <a:effectLst/>
                          <a:latin typeface="Aptos Narrow" panose="020B0004020202020204" pitchFamily="34" charset="0"/>
                        </a:rPr>
                        <a:t>2,3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84798883"/>
                  </a:ext>
                </a:extLst>
              </a:tr>
              <a:tr h="150894">
                <a:tc>
                  <a:txBody>
                    <a:bodyPr/>
                    <a:lstStyle/>
                    <a:p>
                      <a:pPr algn="l" fontAlgn="b">
                        <a:buNone/>
                      </a:pPr>
                      <a:r>
                        <a:rPr lang="fr-FR" sz="900" b="0" i="0" u="none" strike="noStrike">
                          <a:solidFill>
                            <a:srgbClr val="000000"/>
                          </a:solidFill>
                          <a:effectLst/>
                          <a:latin typeface="Aptos Narrow" panose="020B0004020202020204" pitchFamily="34" charset="0"/>
                        </a:rPr>
                        <a:t>Apartment Comfort</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1,9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573"/>
                    </a:solidFill>
                  </a:tcPr>
                </a:tc>
                <a:tc>
                  <a:txBody>
                    <a:bodyPr/>
                    <a:lstStyle/>
                    <a:p>
                      <a:pPr algn="r" fontAlgn="b">
                        <a:buNone/>
                      </a:pPr>
                      <a:r>
                        <a:rPr lang="fr-FR" sz="900" b="1" i="0" u="none" strike="noStrike">
                          <a:solidFill>
                            <a:srgbClr val="000000"/>
                          </a:solidFill>
                          <a:effectLst/>
                          <a:latin typeface="Aptos Narrow" panose="020B0004020202020204" pitchFamily="34" charset="0"/>
                        </a:rPr>
                        <a:t>1,3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272"/>
                    </a:solidFill>
                  </a:tcPr>
                </a:tc>
                <a:tc>
                  <a:txBody>
                    <a:bodyPr/>
                    <a:lstStyle/>
                    <a:p>
                      <a:pPr algn="r" fontAlgn="b">
                        <a:buNone/>
                      </a:pPr>
                      <a:r>
                        <a:rPr lang="fr-FR" sz="900" b="0" i="0" u="none" strike="noStrike">
                          <a:solidFill>
                            <a:srgbClr val="00B050"/>
                          </a:solidFill>
                          <a:effectLst/>
                          <a:latin typeface="Aptos Narrow" panose="020B0004020202020204" pitchFamily="34" charset="0"/>
                        </a:rPr>
                        <a:t>0,6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77191401"/>
                  </a:ext>
                </a:extLst>
              </a:tr>
              <a:tr h="150894">
                <a:tc>
                  <a:txBody>
                    <a:bodyPr/>
                    <a:lstStyle/>
                    <a:p>
                      <a:pPr algn="l" fontAlgn="b">
                        <a:buNone/>
                      </a:pPr>
                      <a:r>
                        <a:rPr lang="fr-FR" sz="900" b="0" i="0" u="none" strike="noStrike">
                          <a:solidFill>
                            <a:srgbClr val="000000"/>
                          </a:solidFill>
                          <a:effectLst/>
                          <a:latin typeface="Aptos Narrow" panose="020B0004020202020204" pitchFamily="34" charset="0"/>
                        </a:rPr>
                        <a:t>Appartement VIP</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272"/>
                    </a:solidFill>
                  </a:tcPr>
                </a:tc>
                <a:tc>
                  <a:txBody>
                    <a:bodyPr/>
                    <a:lstStyle/>
                    <a:p>
                      <a:pPr algn="r" fontAlgn="b">
                        <a:buNone/>
                      </a:pPr>
                      <a:r>
                        <a:rPr lang="fr-FR" sz="900" b="0" i="0" u="none" strike="noStrike">
                          <a:solidFill>
                            <a:srgbClr val="000000"/>
                          </a:solidFill>
                          <a:effectLst/>
                          <a:latin typeface="Aptos Narrow" panose="020B0004020202020204" pitchFamily="34" charset="0"/>
                        </a:rPr>
                        <a:t>-3,1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96E"/>
                    </a:solidFill>
                  </a:tcPr>
                </a:tc>
                <a:tc>
                  <a:txBody>
                    <a:bodyPr/>
                    <a:lstStyle/>
                    <a:p>
                      <a:pPr algn="r" fontAlgn="b">
                        <a:buNone/>
                      </a:pPr>
                      <a:r>
                        <a:rPr lang="fr-FR" sz="900" b="0" i="0" u="none" strike="noStrike">
                          <a:solidFill>
                            <a:srgbClr val="00B050"/>
                          </a:solidFill>
                          <a:effectLst/>
                          <a:latin typeface="Aptos Narrow" panose="020B0004020202020204" pitchFamily="34" charset="0"/>
                        </a:rPr>
                        <a:t>4,4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041473"/>
                  </a:ext>
                </a:extLst>
              </a:tr>
              <a:tr h="150894">
                <a:tc>
                  <a:txBody>
                    <a:bodyPr/>
                    <a:lstStyle/>
                    <a:p>
                      <a:pPr algn="l" fontAlgn="b">
                        <a:buNone/>
                      </a:pPr>
                      <a:r>
                        <a:rPr lang="fr-FR" sz="900" b="0" i="0" u="none" strike="noStrike">
                          <a:solidFill>
                            <a:srgbClr val="000000"/>
                          </a:solidFill>
                          <a:effectLst/>
                          <a:latin typeface="Aptos Narrow" panose="020B0004020202020204" pitchFamily="34" charset="0"/>
                        </a:rPr>
                        <a:t>Eden VIP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-0,6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770"/>
                    </a:solidFill>
                  </a:tcPr>
                </a:tc>
                <a:tc>
                  <a:txBody>
                    <a:bodyPr/>
                    <a:lstStyle/>
                    <a:p>
                      <a:pPr algn="r" fontAlgn="b">
                        <a:buNone/>
                      </a:pPr>
                      <a:r>
                        <a:rPr lang="fr-FR" sz="900" b="0" i="0" u="none" strike="noStrike">
                          <a:solidFill>
                            <a:srgbClr val="000000"/>
                          </a:solidFill>
                          <a:effectLst/>
                          <a:latin typeface="Aptos Narrow" panose="020B0004020202020204" pitchFamily="34" charset="0"/>
                        </a:rPr>
                        <a:t>-6,1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96B"/>
                    </a:solidFill>
                  </a:tcPr>
                </a:tc>
                <a:tc>
                  <a:txBody>
                    <a:bodyPr/>
                    <a:lstStyle/>
                    <a:p>
                      <a:pPr algn="r" fontAlgn="b">
                        <a:buNone/>
                      </a:pPr>
                      <a:r>
                        <a:rPr lang="fr-FR" sz="900" b="0" i="0" u="none" strike="noStrike">
                          <a:solidFill>
                            <a:srgbClr val="00B050"/>
                          </a:solidFill>
                          <a:effectLst/>
                          <a:latin typeface="Aptos Narrow" panose="020B0004020202020204" pitchFamily="34" charset="0"/>
                        </a:rPr>
                        <a:t>5,5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07674931"/>
                  </a:ext>
                </a:extLst>
              </a:tr>
            </a:tbl>
          </a:graphicData>
        </a:graphic>
      </p:graphicFrame>
    </p:spTree>
    <p:extLst>
      <p:ext uri="{BB962C8B-B14F-4D97-AF65-F5344CB8AC3E}">
        <p14:creationId xmlns:p14="http://schemas.microsoft.com/office/powerpoint/2010/main" val="30616800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DF8A1-5B73-0D5B-71E7-354D06FEB0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A676D24-EAD3-27CF-E178-BF9626A55299}"/>
              </a:ext>
            </a:extLst>
          </p:cNvPr>
          <p:cNvSpPr>
            <a:spLocks noGrp="1"/>
          </p:cNvSpPr>
          <p:nvPr>
            <p:ph type="sldNum" sz="quarter" idx="12"/>
          </p:nvPr>
        </p:nvSpPr>
        <p:spPr/>
        <p:txBody>
          <a:bodyPr/>
          <a:lstStyle/>
          <a:p>
            <a:fld id="{0D2E6A04-B99A-6C4D-8942-945F97C9E705}" type="slidenum">
              <a:rPr lang="en-US" smtClean="0"/>
              <a:pPr/>
              <a:t>49</a:t>
            </a:fld>
            <a:endParaRPr lang="en-US"/>
          </a:p>
        </p:txBody>
      </p:sp>
      <p:sp>
        <p:nvSpPr>
          <p:cNvPr id="3" name="Date Placeholder 2">
            <a:extLst>
              <a:ext uri="{FF2B5EF4-FFF2-40B4-BE49-F238E27FC236}">
                <a16:creationId xmlns:a16="http://schemas.microsoft.com/office/drawing/2014/main" id="{A630F600-7E4B-752E-4181-63A4F1D158E6}"/>
              </a:ext>
            </a:extLst>
          </p:cNvPr>
          <p:cNvSpPr>
            <a:spLocks noGrp="1"/>
          </p:cNvSpPr>
          <p:nvPr>
            <p:ph type="dt" sz="half" idx="10"/>
          </p:nvPr>
        </p:nvSpPr>
        <p:spPr/>
        <p:txBody>
          <a:bodyPr/>
          <a:lstStyle/>
          <a:p>
            <a:fld id="{05C20A28-4BAC-4477-9026-1E123DBFBC43}" type="datetime1">
              <a:rPr lang="fr-FR" smtClean="0"/>
              <a:t>27/11/2025</a:t>
            </a:fld>
            <a:endParaRPr lang="en-US"/>
          </a:p>
        </p:txBody>
      </p:sp>
      <p:sp>
        <p:nvSpPr>
          <p:cNvPr id="5" name="Title 4">
            <a:extLst>
              <a:ext uri="{FF2B5EF4-FFF2-40B4-BE49-F238E27FC236}">
                <a16:creationId xmlns:a16="http://schemas.microsoft.com/office/drawing/2014/main" id="{C6E5465F-66CB-30D6-6FF8-E1BF35866B39}"/>
              </a:ext>
            </a:extLst>
          </p:cNvPr>
          <p:cNvSpPr>
            <a:spLocks noGrp="1"/>
          </p:cNvSpPr>
          <p:nvPr>
            <p:ph type="title"/>
          </p:nvPr>
        </p:nvSpPr>
        <p:spPr/>
        <p:txBody>
          <a:bodyPr/>
          <a:lstStyle/>
          <a:p>
            <a:r>
              <a:rPr lang="fr-FR"/>
              <a:t>Germany – text </a:t>
            </a:r>
            <a:r>
              <a:rPr lang="fr-FR" err="1"/>
              <a:t>analytics</a:t>
            </a:r>
            <a:r>
              <a:rPr lang="fr-FR"/>
              <a:t>, topics </a:t>
            </a:r>
            <a:r>
              <a:rPr lang="fr-FR" err="1"/>
              <a:t>comparision</a:t>
            </a:r>
            <a:r>
              <a:rPr lang="fr-FR"/>
              <a:t> vs N-1</a:t>
            </a:r>
          </a:p>
        </p:txBody>
      </p:sp>
      <p:sp>
        <p:nvSpPr>
          <p:cNvPr id="6" name="Rechthoek 4">
            <a:extLst>
              <a:ext uri="{FF2B5EF4-FFF2-40B4-BE49-F238E27FC236}">
                <a16:creationId xmlns:a16="http://schemas.microsoft.com/office/drawing/2014/main" id="{F7D6E502-96E2-FA7C-0260-F7990D44D1E5}"/>
              </a:ext>
            </a:extLst>
          </p:cNvPr>
          <p:cNvSpPr/>
          <p:nvPr/>
        </p:nvSpPr>
        <p:spPr>
          <a:xfrm>
            <a:off x="-1" y="978100"/>
            <a:ext cx="11858372" cy="1010720"/>
          </a:xfrm>
          <a:prstGeom prst="rect">
            <a:avLst/>
          </a:prstGeom>
          <a:solidFill>
            <a:schemeClr val="accent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1"/>
                </a:solidFill>
                <a:ea typeface="Calibri"/>
                <a:cs typeface="Calibri"/>
              </a:rPr>
              <a:t>All categories of topics from open comments improved compared to N-1, which means a decrease in the share of negative comments, and/or an increase in the share of positive comment volumes, explaining the overall improvement in the total NPS, except for value for money.</a:t>
            </a:r>
          </a:p>
        </p:txBody>
      </p:sp>
      <p:sp>
        <p:nvSpPr>
          <p:cNvPr id="7" name="Rectangle 6">
            <a:extLst>
              <a:ext uri="{FF2B5EF4-FFF2-40B4-BE49-F238E27FC236}">
                <a16:creationId xmlns:a16="http://schemas.microsoft.com/office/drawing/2014/main" id="{7CC71ECC-D740-7EB3-D194-F916046A2BAC}"/>
              </a:ext>
            </a:extLst>
          </p:cNvPr>
          <p:cNvSpPr/>
          <p:nvPr/>
        </p:nvSpPr>
        <p:spPr>
          <a:xfrm rot="16200000">
            <a:off x="-282336" y="1311292"/>
            <a:ext cx="986463" cy="37547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2"/>
                </a:solidFill>
                <a:ea typeface="Calibri"/>
                <a:cs typeface="Calibri"/>
              </a:rPr>
              <a:t>Analysis</a:t>
            </a:r>
            <a:endParaRPr lang="en-US" sz="1100">
              <a:solidFill>
                <a:schemeClr val="accent2"/>
              </a:solidFill>
            </a:endParaRPr>
          </a:p>
        </p:txBody>
      </p:sp>
      <p:pic>
        <p:nvPicPr>
          <p:cNvPr id="12" name="Picture 11">
            <a:extLst>
              <a:ext uri="{FF2B5EF4-FFF2-40B4-BE49-F238E27FC236}">
                <a16:creationId xmlns:a16="http://schemas.microsoft.com/office/drawing/2014/main" id="{25526C97-E459-AD89-45CC-43929E5189CF}"/>
              </a:ext>
            </a:extLst>
          </p:cNvPr>
          <p:cNvPicPr>
            <a:picLocks noChangeAspect="1"/>
          </p:cNvPicPr>
          <p:nvPr/>
        </p:nvPicPr>
        <p:blipFill>
          <a:blip r:embed="rId2"/>
          <a:stretch>
            <a:fillRect/>
          </a:stretch>
        </p:blipFill>
        <p:spPr>
          <a:xfrm>
            <a:off x="1442910" y="2246998"/>
            <a:ext cx="8972550" cy="4212138"/>
          </a:xfrm>
          <a:prstGeom prst="rect">
            <a:avLst/>
          </a:prstGeom>
        </p:spPr>
      </p:pic>
    </p:spTree>
    <p:extLst>
      <p:ext uri="{BB962C8B-B14F-4D97-AF65-F5344CB8AC3E}">
        <p14:creationId xmlns:p14="http://schemas.microsoft.com/office/powerpoint/2010/main" val="40865986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3AD0B-21E5-0DD3-9DE0-8A4A88C5878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07D164-FC13-8E6B-AAF6-5A02E732CE83}"/>
              </a:ext>
            </a:extLst>
          </p:cNvPr>
          <p:cNvSpPr>
            <a:spLocks noGrp="1"/>
          </p:cNvSpPr>
          <p:nvPr>
            <p:ph type="sldNum" sz="quarter" idx="12"/>
          </p:nvPr>
        </p:nvSpPr>
        <p:spPr/>
        <p:txBody>
          <a:bodyPr/>
          <a:lstStyle/>
          <a:p>
            <a:fld id="{0D2E6A04-B99A-6C4D-8942-945F97C9E705}" type="slidenum">
              <a:rPr lang="en-US" smtClean="0"/>
              <a:pPr/>
              <a:t>50</a:t>
            </a:fld>
            <a:endParaRPr lang="en-US"/>
          </a:p>
        </p:txBody>
      </p:sp>
      <p:sp>
        <p:nvSpPr>
          <p:cNvPr id="3" name="Date Placeholder 2">
            <a:extLst>
              <a:ext uri="{FF2B5EF4-FFF2-40B4-BE49-F238E27FC236}">
                <a16:creationId xmlns:a16="http://schemas.microsoft.com/office/drawing/2014/main" id="{83A69594-7DAD-4DAC-7F4C-1356BA1704E7}"/>
              </a:ext>
            </a:extLst>
          </p:cNvPr>
          <p:cNvSpPr>
            <a:spLocks noGrp="1"/>
          </p:cNvSpPr>
          <p:nvPr>
            <p:ph type="dt" sz="half" idx="10"/>
          </p:nvPr>
        </p:nvSpPr>
        <p:spPr/>
        <p:txBody>
          <a:bodyPr/>
          <a:lstStyle/>
          <a:p>
            <a:fld id="{05C20A28-4BAC-4477-9026-1E123DBFBC43}" type="datetime1">
              <a:rPr lang="fr-FR" smtClean="0"/>
              <a:t>27/11/2025</a:t>
            </a:fld>
            <a:endParaRPr lang="en-US"/>
          </a:p>
        </p:txBody>
      </p:sp>
      <p:sp>
        <p:nvSpPr>
          <p:cNvPr id="5" name="Title 4">
            <a:extLst>
              <a:ext uri="{FF2B5EF4-FFF2-40B4-BE49-F238E27FC236}">
                <a16:creationId xmlns:a16="http://schemas.microsoft.com/office/drawing/2014/main" id="{E2E9EE44-1D76-1747-3028-C283F1CF67C2}"/>
              </a:ext>
            </a:extLst>
          </p:cNvPr>
          <p:cNvSpPr>
            <a:spLocks noGrp="1"/>
          </p:cNvSpPr>
          <p:nvPr>
            <p:ph type="title"/>
          </p:nvPr>
        </p:nvSpPr>
        <p:spPr>
          <a:xfrm>
            <a:off x="334963" y="303238"/>
            <a:ext cx="11176317" cy="487938"/>
          </a:xfrm>
        </p:spPr>
        <p:txBody>
          <a:bodyPr/>
          <a:lstStyle/>
          <a:p>
            <a:r>
              <a:rPr lang="fr-FR"/>
              <a:t>Germany – text </a:t>
            </a:r>
            <a:r>
              <a:rPr lang="fr-FR" err="1"/>
              <a:t>analytics</a:t>
            </a:r>
            <a:r>
              <a:rPr lang="fr-FR"/>
              <a:t>, </a:t>
            </a:r>
            <a:r>
              <a:rPr lang="fr-FR" err="1"/>
              <a:t>bottom</a:t>
            </a:r>
            <a:r>
              <a:rPr lang="fr-FR"/>
              <a:t> topics </a:t>
            </a:r>
            <a:r>
              <a:rPr lang="fr-FR" err="1"/>
              <a:t>with</a:t>
            </a:r>
            <a:r>
              <a:rPr lang="fr-FR"/>
              <a:t> </a:t>
            </a:r>
            <a:r>
              <a:rPr lang="fr-FR" err="1"/>
              <a:t>higher</a:t>
            </a:r>
            <a:r>
              <a:rPr lang="fr-FR"/>
              <a:t> </a:t>
            </a:r>
            <a:r>
              <a:rPr lang="fr-FR" err="1"/>
              <a:t>negative</a:t>
            </a:r>
            <a:r>
              <a:rPr lang="fr-FR"/>
              <a:t> impact score on NPS</a:t>
            </a:r>
          </a:p>
        </p:txBody>
      </p:sp>
      <p:sp>
        <p:nvSpPr>
          <p:cNvPr id="6" name="Rechthoek 4">
            <a:extLst>
              <a:ext uri="{FF2B5EF4-FFF2-40B4-BE49-F238E27FC236}">
                <a16:creationId xmlns:a16="http://schemas.microsoft.com/office/drawing/2014/main" id="{743C2A72-2648-0EEC-D77F-A91C0D3AF59B}"/>
              </a:ext>
            </a:extLst>
          </p:cNvPr>
          <p:cNvSpPr/>
          <p:nvPr/>
        </p:nvSpPr>
        <p:spPr>
          <a:xfrm>
            <a:off x="-1" y="978100"/>
            <a:ext cx="11858372" cy="1010720"/>
          </a:xfrm>
          <a:prstGeom prst="rect">
            <a:avLst/>
          </a:prstGeom>
          <a:solidFill>
            <a:schemeClr val="accent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1"/>
                </a:solidFill>
                <a:ea typeface="Calibri"/>
                <a:cs typeface="Calibri"/>
              </a:rPr>
              <a:t>Cottage cleanliness and maintenance issues have the highest negative impact score on NPS, before staff attitude and helpfulness, central facilities and spa (mainly maintenance condition in accommodation).</a:t>
            </a:r>
          </a:p>
        </p:txBody>
      </p:sp>
      <p:sp>
        <p:nvSpPr>
          <p:cNvPr id="7" name="Rectangle 6">
            <a:extLst>
              <a:ext uri="{FF2B5EF4-FFF2-40B4-BE49-F238E27FC236}">
                <a16:creationId xmlns:a16="http://schemas.microsoft.com/office/drawing/2014/main" id="{79F4B80F-2EC4-8E48-8281-4A1EF282740B}"/>
              </a:ext>
            </a:extLst>
          </p:cNvPr>
          <p:cNvSpPr/>
          <p:nvPr/>
        </p:nvSpPr>
        <p:spPr>
          <a:xfrm rot="16200000">
            <a:off x="-282336" y="1311292"/>
            <a:ext cx="986463" cy="37547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2"/>
                </a:solidFill>
                <a:ea typeface="Calibri"/>
                <a:cs typeface="Calibri"/>
              </a:rPr>
              <a:t>Analysis</a:t>
            </a:r>
            <a:endParaRPr lang="en-US" sz="1100">
              <a:solidFill>
                <a:schemeClr val="accent2"/>
              </a:solidFill>
            </a:endParaRPr>
          </a:p>
        </p:txBody>
      </p:sp>
      <p:pic>
        <p:nvPicPr>
          <p:cNvPr id="8" name="Picture 7">
            <a:extLst>
              <a:ext uri="{FF2B5EF4-FFF2-40B4-BE49-F238E27FC236}">
                <a16:creationId xmlns:a16="http://schemas.microsoft.com/office/drawing/2014/main" id="{341AC5F3-A85F-EEB1-D498-EB0B6C25B479}"/>
              </a:ext>
            </a:extLst>
          </p:cNvPr>
          <p:cNvPicPr>
            <a:picLocks noChangeAspect="1"/>
          </p:cNvPicPr>
          <p:nvPr/>
        </p:nvPicPr>
        <p:blipFill>
          <a:blip r:embed="rId2"/>
          <a:stretch>
            <a:fillRect/>
          </a:stretch>
        </p:blipFill>
        <p:spPr>
          <a:xfrm>
            <a:off x="2175915" y="2462435"/>
            <a:ext cx="7840169" cy="3362794"/>
          </a:xfrm>
          <a:prstGeom prst="rect">
            <a:avLst/>
          </a:prstGeom>
        </p:spPr>
      </p:pic>
    </p:spTree>
    <p:extLst>
      <p:ext uri="{BB962C8B-B14F-4D97-AF65-F5344CB8AC3E}">
        <p14:creationId xmlns:p14="http://schemas.microsoft.com/office/powerpoint/2010/main" val="5364360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78E2EE-3528-3935-0184-F991226FC686}"/>
              </a:ext>
            </a:extLst>
          </p:cNvPr>
          <p:cNvSpPr>
            <a:spLocks noGrp="1"/>
          </p:cNvSpPr>
          <p:nvPr>
            <p:ph type="body" sz="quarter" idx="14"/>
          </p:nvPr>
        </p:nvSpPr>
        <p:spPr/>
        <p:txBody>
          <a:bodyPr/>
          <a:lstStyle/>
          <a:p>
            <a:r>
              <a:rPr lang="fr-FR"/>
              <a:t>France</a:t>
            </a:r>
          </a:p>
        </p:txBody>
      </p:sp>
      <p:sp>
        <p:nvSpPr>
          <p:cNvPr id="3" name="Text Placeholder 2">
            <a:extLst>
              <a:ext uri="{FF2B5EF4-FFF2-40B4-BE49-F238E27FC236}">
                <a16:creationId xmlns:a16="http://schemas.microsoft.com/office/drawing/2014/main" id="{549B2EBA-8C84-24AB-1A0D-8E4E8AE52C10}"/>
              </a:ext>
            </a:extLst>
          </p:cNvPr>
          <p:cNvSpPr>
            <a:spLocks noGrp="1"/>
          </p:cNvSpPr>
          <p:nvPr>
            <p:ph type="body" sz="quarter" idx="13"/>
          </p:nvPr>
        </p:nvSpPr>
        <p:spPr/>
        <p:txBody>
          <a:bodyPr/>
          <a:lstStyle/>
          <a:p>
            <a:r>
              <a:rPr lang="fr-FR"/>
              <a:t>NPS </a:t>
            </a:r>
            <a:r>
              <a:rPr lang="fr-FR" err="1"/>
              <a:t>Review</a:t>
            </a:r>
            <a:endParaRPr lang="fr-FR"/>
          </a:p>
        </p:txBody>
      </p:sp>
    </p:spTree>
    <p:extLst>
      <p:ext uri="{BB962C8B-B14F-4D97-AF65-F5344CB8AC3E}">
        <p14:creationId xmlns:p14="http://schemas.microsoft.com/office/powerpoint/2010/main" val="12298975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FEBF7-5E95-493C-BE72-5702EC33E94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CF400F-8A60-ABAC-4AF5-1142F696B774}"/>
              </a:ext>
            </a:extLst>
          </p:cNvPr>
          <p:cNvSpPr>
            <a:spLocks noGrp="1"/>
          </p:cNvSpPr>
          <p:nvPr>
            <p:ph type="sldNum" sz="quarter" idx="12"/>
          </p:nvPr>
        </p:nvSpPr>
        <p:spPr/>
        <p:txBody>
          <a:bodyPr/>
          <a:lstStyle/>
          <a:p>
            <a:fld id="{0D2E6A04-B99A-6C4D-8942-945F97C9E705}" type="slidenum">
              <a:rPr lang="en-US" smtClean="0"/>
              <a:pPr/>
              <a:t>52</a:t>
            </a:fld>
            <a:endParaRPr lang="en-US"/>
          </a:p>
        </p:txBody>
      </p:sp>
      <p:sp>
        <p:nvSpPr>
          <p:cNvPr id="3" name="Date Placeholder 2">
            <a:extLst>
              <a:ext uri="{FF2B5EF4-FFF2-40B4-BE49-F238E27FC236}">
                <a16:creationId xmlns:a16="http://schemas.microsoft.com/office/drawing/2014/main" id="{A4A0C482-8E34-CFE3-9C3C-A4A1B1B563F8}"/>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0FE577AA-10BD-6940-C359-09B22AD50E31}"/>
              </a:ext>
            </a:extLst>
          </p:cNvPr>
          <p:cNvSpPr>
            <a:spLocks noGrp="1"/>
          </p:cNvSpPr>
          <p:nvPr>
            <p:ph type="title"/>
          </p:nvPr>
        </p:nvSpPr>
        <p:spPr/>
        <p:txBody>
          <a:bodyPr/>
          <a:lstStyle/>
          <a:p>
            <a:r>
              <a:rPr lang="fr-FR"/>
              <a:t>France – </a:t>
            </a:r>
            <a:r>
              <a:rPr lang="fr-FR" err="1"/>
              <a:t>highest</a:t>
            </a:r>
            <a:r>
              <a:rPr lang="fr-FR"/>
              <a:t> contribution to NPS</a:t>
            </a:r>
          </a:p>
        </p:txBody>
      </p:sp>
      <p:sp>
        <p:nvSpPr>
          <p:cNvPr id="6" name="Rechthoek 4">
            <a:extLst>
              <a:ext uri="{FF2B5EF4-FFF2-40B4-BE49-F238E27FC236}">
                <a16:creationId xmlns:a16="http://schemas.microsoft.com/office/drawing/2014/main" id="{FEAF6324-2152-C3B6-1E1B-C69843F9DDA9}"/>
              </a:ext>
            </a:extLst>
          </p:cNvPr>
          <p:cNvSpPr/>
          <p:nvPr/>
        </p:nvSpPr>
        <p:spPr>
          <a:xfrm>
            <a:off x="-1" y="978100"/>
            <a:ext cx="11858372" cy="1010082"/>
          </a:xfrm>
          <a:prstGeom prst="rect">
            <a:avLst/>
          </a:prstGeom>
          <a:solidFill>
            <a:schemeClr val="accent6">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Continuous improvement vs N-1 for NPS</a:t>
            </a:r>
          </a:p>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Despite in June and July (due to decrease in cottage, weather condition, catering and leisure)</a:t>
            </a:r>
          </a:p>
        </p:txBody>
      </p:sp>
      <p:sp>
        <p:nvSpPr>
          <p:cNvPr id="7" name="Rectangle 6">
            <a:extLst>
              <a:ext uri="{FF2B5EF4-FFF2-40B4-BE49-F238E27FC236}">
                <a16:creationId xmlns:a16="http://schemas.microsoft.com/office/drawing/2014/main" id="{2369EF8E-CAF6-D750-AD4A-B317BD259140}"/>
              </a:ext>
            </a:extLst>
          </p:cNvPr>
          <p:cNvSpPr/>
          <p:nvPr/>
        </p:nvSpPr>
        <p:spPr>
          <a:xfrm rot="16200000">
            <a:off x="-282025" y="1310981"/>
            <a:ext cx="985841" cy="37547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6">
                    <a:lumMod val="20000"/>
                    <a:lumOff val="80000"/>
                  </a:schemeClr>
                </a:solidFill>
                <a:ea typeface="Calibri"/>
                <a:cs typeface="Calibri"/>
              </a:rPr>
              <a:t>Analysis</a:t>
            </a:r>
            <a:endParaRPr lang="en-US" sz="1100">
              <a:solidFill>
                <a:schemeClr val="accent6">
                  <a:lumMod val="20000"/>
                  <a:lumOff val="80000"/>
                </a:schemeClr>
              </a:solidFill>
            </a:endParaRPr>
          </a:p>
        </p:txBody>
      </p:sp>
      <p:pic>
        <p:nvPicPr>
          <p:cNvPr id="8" name="Picture 7">
            <a:extLst>
              <a:ext uri="{FF2B5EF4-FFF2-40B4-BE49-F238E27FC236}">
                <a16:creationId xmlns:a16="http://schemas.microsoft.com/office/drawing/2014/main" id="{E32B1101-8017-4C98-C3C3-96CB9E31E249}"/>
              </a:ext>
            </a:extLst>
          </p:cNvPr>
          <p:cNvPicPr>
            <a:picLocks noChangeAspect="1"/>
          </p:cNvPicPr>
          <p:nvPr/>
        </p:nvPicPr>
        <p:blipFill>
          <a:blip r:embed="rId2"/>
          <a:stretch>
            <a:fillRect/>
          </a:stretch>
        </p:blipFill>
        <p:spPr>
          <a:xfrm>
            <a:off x="1005840" y="1988182"/>
            <a:ext cx="9692640" cy="4190912"/>
          </a:xfrm>
          <a:prstGeom prst="rect">
            <a:avLst/>
          </a:prstGeom>
        </p:spPr>
      </p:pic>
    </p:spTree>
    <p:extLst>
      <p:ext uri="{BB962C8B-B14F-4D97-AF65-F5344CB8AC3E}">
        <p14:creationId xmlns:p14="http://schemas.microsoft.com/office/powerpoint/2010/main" val="17604003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68E28-46EC-0035-1785-FC896E4792A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954040-75A8-9C9D-0E8D-D9FFD1FC8F6B}"/>
              </a:ext>
            </a:extLst>
          </p:cNvPr>
          <p:cNvSpPr>
            <a:spLocks noGrp="1"/>
          </p:cNvSpPr>
          <p:nvPr>
            <p:ph type="sldNum" sz="quarter" idx="12"/>
          </p:nvPr>
        </p:nvSpPr>
        <p:spPr/>
        <p:txBody>
          <a:bodyPr/>
          <a:lstStyle/>
          <a:p>
            <a:fld id="{0D2E6A04-B99A-6C4D-8942-945F97C9E705}" type="slidenum">
              <a:rPr lang="en-US" smtClean="0"/>
              <a:pPr/>
              <a:t>53</a:t>
            </a:fld>
            <a:endParaRPr lang="en-US"/>
          </a:p>
        </p:txBody>
      </p:sp>
      <p:sp>
        <p:nvSpPr>
          <p:cNvPr id="3" name="Date Placeholder 2">
            <a:extLst>
              <a:ext uri="{FF2B5EF4-FFF2-40B4-BE49-F238E27FC236}">
                <a16:creationId xmlns:a16="http://schemas.microsoft.com/office/drawing/2014/main" id="{CFDA7AC0-C971-238D-801F-223C598749BC}"/>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78E21E93-9DA5-DE5E-3F03-A74D3AD0D0C3}"/>
              </a:ext>
            </a:extLst>
          </p:cNvPr>
          <p:cNvSpPr>
            <a:spLocks noGrp="1"/>
          </p:cNvSpPr>
          <p:nvPr>
            <p:ph type="title"/>
          </p:nvPr>
        </p:nvSpPr>
        <p:spPr/>
        <p:txBody>
          <a:bodyPr/>
          <a:lstStyle/>
          <a:p>
            <a:r>
              <a:rPr lang="fr-FR"/>
              <a:t>France – </a:t>
            </a:r>
            <a:r>
              <a:rPr lang="fr-FR" err="1"/>
              <a:t>highest</a:t>
            </a:r>
            <a:r>
              <a:rPr lang="fr-FR"/>
              <a:t> contribution to NPS</a:t>
            </a:r>
          </a:p>
        </p:txBody>
      </p:sp>
      <p:sp>
        <p:nvSpPr>
          <p:cNvPr id="6" name="Rechthoek 4">
            <a:extLst>
              <a:ext uri="{FF2B5EF4-FFF2-40B4-BE49-F238E27FC236}">
                <a16:creationId xmlns:a16="http://schemas.microsoft.com/office/drawing/2014/main" id="{E8351B7A-D253-AC59-B84F-50BC7EABB6FA}"/>
              </a:ext>
            </a:extLst>
          </p:cNvPr>
          <p:cNvSpPr/>
          <p:nvPr/>
        </p:nvSpPr>
        <p:spPr>
          <a:xfrm>
            <a:off x="-1" y="978100"/>
            <a:ext cx="4749801" cy="1696720"/>
          </a:xfrm>
          <a:prstGeom prst="rect">
            <a:avLst/>
          </a:prstGeom>
          <a:solidFill>
            <a:schemeClr val="accent6">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Main pillars are key on Net Promoter Score.</a:t>
            </a:r>
          </a:p>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Secondary pillars “Village safety”, “quality of the meals” are also key to impact Net Promoter Score.</a:t>
            </a:r>
          </a:p>
        </p:txBody>
      </p:sp>
      <p:sp>
        <p:nvSpPr>
          <p:cNvPr id="7" name="Rectangle 6">
            <a:extLst>
              <a:ext uri="{FF2B5EF4-FFF2-40B4-BE49-F238E27FC236}">
                <a16:creationId xmlns:a16="http://schemas.microsoft.com/office/drawing/2014/main" id="{39A92E2B-1B4D-6E40-9886-2007BE0C8959}"/>
              </a:ext>
            </a:extLst>
          </p:cNvPr>
          <p:cNvSpPr/>
          <p:nvPr/>
        </p:nvSpPr>
        <p:spPr>
          <a:xfrm rot="16200000">
            <a:off x="-617105" y="1646060"/>
            <a:ext cx="1656000" cy="37547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6">
                    <a:lumMod val="20000"/>
                    <a:lumOff val="80000"/>
                  </a:schemeClr>
                </a:solidFill>
                <a:ea typeface="Calibri"/>
                <a:cs typeface="Calibri"/>
              </a:rPr>
              <a:t>Analysis</a:t>
            </a:r>
            <a:endParaRPr lang="en-US" sz="1100">
              <a:solidFill>
                <a:schemeClr val="accent6">
                  <a:lumMod val="20000"/>
                  <a:lumOff val="80000"/>
                </a:schemeClr>
              </a:solidFill>
            </a:endParaRPr>
          </a:p>
        </p:txBody>
      </p:sp>
      <p:pic>
        <p:nvPicPr>
          <p:cNvPr id="12" name="Picture 11">
            <a:extLst>
              <a:ext uri="{FF2B5EF4-FFF2-40B4-BE49-F238E27FC236}">
                <a16:creationId xmlns:a16="http://schemas.microsoft.com/office/drawing/2014/main" id="{0735455B-3E1A-3EA9-933A-68BD7AC5C116}"/>
              </a:ext>
            </a:extLst>
          </p:cNvPr>
          <p:cNvPicPr>
            <a:picLocks noChangeAspect="1"/>
          </p:cNvPicPr>
          <p:nvPr/>
        </p:nvPicPr>
        <p:blipFill>
          <a:blip r:embed="rId2"/>
          <a:stretch>
            <a:fillRect/>
          </a:stretch>
        </p:blipFill>
        <p:spPr>
          <a:xfrm>
            <a:off x="4878674" y="1005798"/>
            <a:ext cx="6979697" cy="5179101"/>
          </a:xfrm>
          <a:prstGeom prst="rect">
            <a:avLst/>
          </a:prstGeom>
        </p:spPr>
      </p:pic>
    </p:spTree>
    <p:extLst>
      <p:ext uri="{BB962C8B-B14F-4D97-AF65-F5344CB8AC3E}">
        <p14:creationId xmlns:p14="http://schemas.microsoft.com/office/powerpoint/2010/main" val="14487524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4E9135-EAB1-71E1-8400-AAE80ED15D56}"/>
              </a:ext>
            </a:extLst>
          </p:cNvPr>
          <p:cNvSpPr>
            <a:spLocks noGrp="1"/>
          </p:cNvSpPr>
          <p:nvPr>
            <p:ph type="sldNum" sz="quarter" idx="12"/>
          </p:nvPr>
        </p:nvSpPr>
        <p:spPr/>
        <p:txBody>
          <a:bodyPr/>
          <a:lstStyle/>
          <a:p>
            <a:fld id="{0D2E6A04-B99A-6C4D-8942-945F97C9E705}" type="slidenum">
              <a:rPr lang="en-US" smtClean="0"/>
              <a:pPr/>
              <a:t>54</a:t>
            </a:fld>
            <a:endParaRPr lang="en-US"/>
          </a:p>
        </p:txBody>
      </p:sp>
      <p:sp>
        <p:nvSpPr>
          <p:cNvPr id="3" name="Date Placeholder 2">
            <a:extLst>
              <a:ext uri="{FF2B5EF4-FFF2-40B4-BE49-F238E27FC236}">
                <a16:creationId xmlns:a16="http://schemas.microsoft.com/office/drawing/2014/main" id="{12F0A632-28D4-DD5D-83E0-5DBEC43BF821}"/>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3E5F3331-DCF6-EF78-A30A-3B3D727304B8}"/>
              </a:ext>
            </a:extLst>
          </p:cNvPr>
          <p:cNvSpPr>
            <a:spLocks noGrp="1"/>
          </p:cNvSpPr>
          <p:nvPr>
            <p:ph type="title"/>
          </p:nvPr>
        </p:nvSpPr>
        <p:spPr/>
        <p:txBody>
          <a:bodyPr/>
          <a:lstStyle/>
          <a:p>
            <a:r>
              <a:rPr lang="fr-FR"/>
              <a:t>France – main </a:t>
            </a:r>
            <a:r>
              <a:rPr lang="fr-FR" err="1"/>
              <a:t>pillars</a:t>
            </a:r>
            <a:r>
              <a:rPr lang="fr-FR"/>
              <a:t> over </a:t>
            </a:r>
            <a:r>
              <a:rPr lang="fr-FR" err="1"/>
              <a:t>months</a:t>
            </a:r>
            <a:endParaRPr lang="fr-FR"/>
          </a:p>
        </p:txBody>
      </p:sp>
      <p:sp>
        <p:nvSpPr>
          <p:cNvPr id="6" name="Rechthoek 4">
            <a:extLst>
              <a:ext uri="{FF2B5EF4-FFF2-40B4-BE49-F238E27FC236}">
                <a16:creationId xmlns:a16="http://schemas.microsoft.com/office/drawing/2014/main" id="{F9FE3359-F3EA-415E-8482-6DD869C8B7BB}"/>
              </a:ext>
            </a:extLst>
          </p:cNvPr>
          <p:cNvSpPr/>
          <p:nvPr/>
        </p:nvSpPr>
        <p:spPr>
          <a:xfrm>
            <a:off x="-1" y="978100"/>
            <a:ext cx="11858372" cy="1015800"/>
          </a:xfrm>
          <a:prstGeom prst="rect">
            <a:avLst/>
          </a:prstGeom>
          <a:solidFill>
            <a:schemeClr val="accent6">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Direct impact between cottage general and its main attributes cleanliness and maintenance, with NPS and Overall satisfaction of the stay.</a:t>
            </a:r>
          </a:p>
          <a:p>
            <a:pPr marL="720725" lvl="2" indent="-161925">
              <a:lnSpc>
                <a:spcPct val="120000"/>
              </a:lnSpc>
              <a:buFont typeface="Arial" panose="020B0604020202020204" pitchFamily="34" charset="0"/>
              <a:buChar char="•"/>
            </a:pPr>
            <a:r>
              <a:rPr lang="en-US" sz="1200" b="1">
                <a:solidFill>
                  <a:schemeClr val="accent5"/>
                </a:solidFill>
                <a:ea typeface="Calibri"/>
                <a:cs typeface="Calibri"/>
              </a:rPr>
              <a:t>Improvement of all pillars compared to </a:t>
            </a:r>
            <a:r>
              <a:rPr lang="en-US" sz="1200" b="1" err="1">
                <a:solidFill>
                  <a:schemeClr val="accent5"/>
                </a:solidFill>
                <a:ea typeface="Calibri"/>
                <a:cs typeface="Calibri"/>
              </a:rPr>
              <a:t>ly</a:t>
            </a:r>
            <a:r>
              <a:rPr lang="en-US" sz="1200" b="1">
                <a:solidFill>
                  <a:schemeClr val="accent5"/>
                </a:solidFill>
                <a:ea typeface="Calibri"/>
                <a:cs typeface="Calibri"/>
              </a:rPr>
              <a:t>.</a:t>
            </a:r>
            <a:r>
              <a:rPr lang="en-US" sz="1200" b="1">
                <a:solidFill>
                  <a:schemeClr val="accent5"/>
                </a:solidFill>
                <a:latin typeface="+mj-lt"/>
                <a:ea typeface="Calibri"/>
                <a:cs typeface="Calibri"/>
              </a:rPr>
              <a:t> </a:t>
            </a:r>
          </a:p>
        </p:txBody>
      </p:sp>
      <p:sp>
        <p:nvSpPr>
          <p:cNvPr id="7" name="Rectangle 6">
            <a:extLst>
              <a:ext uri="{FF2B5EF4-FFF2-40B4-BE49-F238E27FC236}">
                <a16:creationId xmlns:a16="http://schemas.microsoft.com/office/drawing/2014/main" id="{A8386983-C556-6125-004A-D8AD2054C772}"/>
              </a:ext>
            </a:extLst>
          </p:cNvPr>
          <p:cNvSpPr/>
          <p:nvPr/>
        </p:nvSpPr>
        <p:spPr>
          <a:xfrm rot="16200000">
            <a:off x="-284816" y="1313773"/>
            <a:ext cx="991425" cy="37547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6">
                    <a:lumMod val="20000"/>
                    <a:lumOff val="80000"/>
                  </a:schemeClr>
                </a:solidFill>
                <a:ea typeface="Calibri"/>
                <a:cs typeface="Calibri"/>
              </a:rPr>
              <a:t>Analysis</a:t>
            </a:r>
            <a:endParaRPr lang="en-US" sz="1100">
              <a:solidFill>
                <a:schemeClr val="accent6">
                  <a:lumMod val="20000"/>
                  <a:lumOff val="80000"/>
                </a:schemeClr>
              </a:solidFill>
            </a:endParaRPr>
          </a:p>
        </p:txBody>
      </p:sp>
      <p:pic>
        <p:nvPicPr>
          <p:cNvPr id="12" name="Picture 11" descr="A screenshot of a computer&#10;&#10;AI-generated content may be incorrect.">
            <a:extLst>
              <a:ext uri="{FF2B5EF4-FFF2-40B4-BE49-F238E27FC236}">
                <a16:creationId xmlns:a16="http://schemas.microsoft.com/office/drawing/2014/main" id="{0525C948-4EF3-D4B1-EB1A-FC5E60F92E50}"/>
              </a:ext>
            </a:extLst>
          </p:cNvPr>
          <p:cNvPicPr>
            <a:picLocks noChangeAspect="1"/>
          </p:cNvPicPr>
          <p:nvPr/>
        </p:nvPicPr>
        <p:blipFill>
          <a:blip r:embed="rId2">
            <a:extLst>
              <a:ext uri="{28A0092B-C50C-407E-A947-70E740481C1C}">
                <a14:useLocalDpi xmlns:a14="http://schemas.microsoft.com/office/drawing/2010/main" val="0"/>
              </a:ext>
            </a:extLst>
          </a:blip>
          <a:srcRect t="1" b="45795"/>
          <a:stretch>
            <a:fillRect/>
          </a:stretch>
        </p:blipFill>
        <p:spPr>
          <a:xfrm>
            <a:off x="1676071" y="2180824"/>
            <a:ext cx="8839858" cy="4042176"/>
          </a:xfrm>
          <a:prstGeom prst="rect">
            <a:avLst/>
          </a:prstGeom>
        </p:spPr>
      </p:pic>
    </p:spTree>
    <p:extLst>
      <p:ext uri="{BB962C8B-B14F-4D97-AF65-F5344CB8AC3E}">
        <p14:creationId xmlns:p14="http://schemas.microsoft.com/office/powerpoint/2010/main" val="38662325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CFF9F-FC67-AB75-87C6-D13A848722F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ED85D6-66AB-CAF6-2B94-6FE0FF214F2D}"/>
              </a:ext>
            </a:extLst>
          </p:cNvPr>
          <p:cNvSpPr>
            <a:spLocks noGrp="1"/>
          </p:cNvSpPr>
          <p:nvPr>
            <p:ph type="sldNum" sz="quarter" idx="12"/>
          </p:nvPr>
        </p:nvSpPr>
        <p:spPr/>
        <p:txBody>
          <a:bodyPr/>
          <a:lstStyle/>
          <a:p>
            <a:fld id="{0D2E6A04-B99A-6C4D-8942-945F97C9E705}" type="slidenum">
              <a:rPr lang="en-US" smtClean="0"/>
              <a:pPr/>
              <a:t>55</a:t>
            </a:fld>
            <a:endParaRPr lang="en-US"/>
          </a:p>
        </p:txBody>
      </p:sp>
      <p:sp>
        <p:nvSpPr>
          <p:cNvPr id="3" name="Date Placeholder 2">
            <a:extLst>
              <a:ext uri="{FF2B5EF4-FFF2-40B4-BE49-F238E27FC236}">
                <a16:creationId xmlns:a16="http://schemas.microsoft.com/office/drawing/2014/main" id="{B41C9BA9-CB73-75C8-85B7-5BB21E73D55F}"/>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D8F9A5F3-26A7-B5B9-C926-BD89AF1513A6}"/>
              </a:ext>
            </a:extLst>
          </p:cNvPr>
          <p:cNvSpPr>
            <a:spLocks noGrp="1"/>
          </p:cNvSpPr>
          <p:nvPr>
            <p:ph type="title"/>
          </p:nvPr>
        </p:nvSpPr>
        <p:spPr/>
        <p:txBody>
          <a:bodyPr/>
          <a:lstStyle/>
          <a:p>
            <a:r>
              <a:rPr lang="fr-FR"/>
              <a:t>France – main </a:t>
            </a:r>
            <a:r>
              <a:rPr lang="fr-FR" err="1"/>
              <a:t>pillars</a:t>
            </a:r>
            <a:r>
              <a:rPr lang="fr-FR"/>
              <a:t> over </a:t>
            </a:r>
            <a:r>
              <a:rPr lang="fr-FR" err="1"/>
              <a:t>months</a:t>
            </a:r>
            <a:endParaRPr lang="fr-FR"/>
          </a:p>
        </p:txBody>
      </p:sp>
      <p:sp>
        <p:nvSpPr>
          <p:cNvPr id="6" name="Rechthoek 4">
            <a:extLst>
              <a:ext uri="{FF2B5EF4-FFF2-40B4-BE49-F238E27FC236}">
                <a16:creationId xmlns:a16="http://schemas.microsoft.com/office/drawing/2014/main" id="{FCA9113B-8C3C-CC6C-7530-CDBDB91E4789}"/>
              </a:ext>
            </a:extLst>
          </p:cNvPr>
          <p:cNvSpPr/>
          <p:nvPr/>
        </p:nvSpPr>
        <p:spPr>
          <a:xfrm>
            <a:off x="-1" y="978100"/>
            <a:ext cx="11858372" cy="1015800"/>
          </a:xfrm>
          <a:prstGeom prst="rect">
            <a:avLst/>
          </a:prstGeom>
          <a:solidFill>
            <a:schemeClr val="accent6">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Improvement of all pillars compared to </a:t>
            </a:r>
            <a:r>
              <a:rPr lang="en-US" sz="1200" b="1" err="1">
                <a:solidFill>
                  <a:schemeClr val="accent5"/>
                </a:solidFill>
                <a:latin typeface="+mj-lt"/>
                <a:ea typeface="Calibri"/>
                <a:cs typeface="Calibri"/>
              </a:rPr>
              <a:t>ly</a:t>
            </a:r>
            <a:r>
              <a:rPr lang="en-US" sz="1200" b="1">
                <a:solidFill>
                  <a:schemeClr val="accent5"/>
                </a:solidFill>
                <a:latin typeface="+mj-lt"/>
                <a:ea typeface="Calibri"/>
                <a:cs typeface="Calibri"/>
              </a:rPr>
              <a:t>.</a:t>
            </a:r>
          </a:p>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NSS catering offer increased and turned positive, but still low.</a:t>
            </a:r>
          </a:p>
        </p:txBody>
      </p:sp>
      <p:sp>
        <p:nvSpPr>
          <p:cNvPr id="7" name="Rectangle 6">
            <a:extLst>
              <a:ext uri="{FF2B5EF4-FFF2-40B4-BE49-F238E27FC236}">
                <a16:creationId xmlns:a16="http://schemas.microsoft.com/office/drawing/2014/main" id="{2B3CF8FB-A044-20E9-81F8-CD971B6C277B}"/>
              </a:ext>
            </a:extLst>
          </p:cNvPr>
          <p:cNvSpPr/>
          <p:nvPr/>
        </p:nvSpPr>
        <p:spPr>
          <a:xfrm rot="16200000">
            <a:off x="-284816" y="1313773"/>
            <a:ext cx="991425" cy="37547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6">
                    <a:lumMod val="20000"/>
                    <a:lumOff val="80000"/>
                  </a:schemeClr>
                </a:solidFill>
                <a:ea typeface="Calibri"/>
                <a:cs typeface="Calibri"/>
              </a:rPr>
              <a:t>Analysis</a:t>
            </a:r>
            <a:endParaRPr lang="en-US" sz="1100">
              <a:solidFill>
                <a:schemeClr val="accent6">
                  <a:lumMod val="20000"/>
                  <a:lumOff val="80000"/>
                </a:schemeClr>
              </a:solidFill>
            </a:endParaRPr>
          </a:p>
        </p:txBody>
      </p:sp>
      <p:pic>
        <p:nvPicPr>
          <p:cNvPr id="12" name="Picture 11" descr="A screenshot of a computer&#10;&#10;AI-generated content may be incorrect.">
            <a:extLst>
              <a:ext uri="{FF2B5EF4-FFF2-40B4-BE49-F238E27FC236}">
                <a16:creationId xmlns:a16="http://schemas.microsoft.com/office/drawing/2014/main" id="{1522AE81-539E-0F56-44B3-609E7F33EF2F}"/>
              </a:ext>
            </a:extLst>
          </p:cNvPr>
          <p:cNvPicPr>
            <a:picLocks noChangeAspect="1"/>
          </p:cNvPicPr>
          <p:nvPr/>
        </p:nvPicPr>
        <p:blipFill>
          <a:blip r:embed="rId2">
            <a:extLst>
              <a:ext uri="{28A0092B-C50C-407E-A947-70E740481C1C}">
                <a14:useLocalDpi xmlns:a14="http://schemas.microsoft.com/office/drawing/2010/main" val="0"/>
              </a:ext>
            </a:extLst>
          </a:blip>
          <a:srcRect b="86378"/>
          <a:stretch>
            <a:fillRect/>
          </a:stretch>
        </p:blipFill>
        <p:spPr>
          <a:xfrm>
            <a:off x="1676071" y="2180824"/>
            <a:ext cx="8839858" cy="1015800"/>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272B6F39-8B8A-14E5-D4A5-8F99EFE0A635}"/>
              </a:ext>
            </a:extLst>
          </p:cNvPr>
          <p:cNvPicPr>
            <a:picLocks noChangeAspect="1"/>
          </p:cNvPicPr>
          <p:nvPr/>
        </p:nvPicPr>
        <p:blipFill>
          <a:blip r:embed="rId2">
            <a:extLst>
              <a:ext uri="{28A0092B-C50C-407E-A947-70E740481C1C}">
                <a14:useLocalDpi xmlns:a14="http://schemas.microsoft.com/office/drawing/2010/main" val="0"/>
              </a:ext>
            </a:extLst>
          </a:blip>
          <a:srcRect t="54389"/>
          <a:stretch>
            <a:fillRect/>
          </a:stretch>
        </p:blipFill>
        <p:spPr>
          <a:xfrm>
            <a:off x="1676071" y="3153476"/>
            <a:ext cx="8839858" cy="3401285"/>
          </a:xfrm>
          <a:prstGeom prst="rect">
            <a:avLst/>
          </a:prstGeom>
        </p:spPr>
      </p:pic>
    </p:spTree>
    <p:extLst>
      <p:ext uri="{BB962C8B-B14F-4D97-AF65-F5344CB8AC3E}">
        <p14:creationId xmlns:p14="http://schemas.microsoft.com/office/powerpoint/2010/main" val="10484334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FE4D3-2B92-7B41-5172-BDB70502924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F6399F-C994-F055-6F38-0CFDA1FD9E63}"/>
              </a:ext>
            </a:extLst>
          </p:cNvPr>
          <p:cNvSpPr>
            <a:spLocks noGrp="1"/>
          </p:cNvSpPr>
          <p:nvPr>
            <p:ph type="sldNum" sz="quarter" idx="12"/>
          </p:nvPr>
        </p:nvSpPr>
        <p:spPr/>
        <p:txBody>
          <a:bodyPr/>
          <a:lstStyle/>
          <a:p>
            <a:fld id="{0D2E6A04-B99A-6C4D-8942-945F97C9E705}" type="slidenum">
              <a:rPr lang="en-US" smtClean="0"/>
              <a:pPr/>
              <a:t>56</a:t>
            </a:fld>
            <a:endParaRPr lang="en-US"/>
          </a:p>
        </p:txBody>
      </p:sp>
      <p:sp>
        <p:nvSpPr>
          <p:cNvPr id="3" name="Date Placeholder 2">
            <a:extLst>
              <a:ext uri="{FF2B5EF4-FFF2-40B4-BE49-F238E27FC236}">
                <a16:creationId xmlns:a16="http://schemas.microsoft.com/office/drawing/2014/main" id="{F529F41E-615D-ABFD-6CCD-E5496735A5BE}"/>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4BEEC864-2411-8DAB-9ACF-76087325D874}"/>
              </a:ext>
            </a:extLst>
          </p:cNvPr>
          <p:cNvSpPr>
            <a:spLocks noGrp="1"/>
          </p:cNvSpPr>
          <p:nvPr>
            <p:ph type="title"/>
          </p:nvPr>
        </p:nvSpPr>
        <p:spPr/>
        <p:txBody>
          <a:bodyPr/>
          <a:lstStyle/>
          <a:p>
            <a:r>
              <a:rPr lang="fr-FR"/>
              <a:t>France – </a:t>
            </a:r>
            <a:r>
              <a:rPr lang="fr-FR" err="1"/>
              <a:t>ranking</a:t>
            </a:r>
            <a:r>
              <a:rPr lang="fr-FR"/>
              <a:t> </a:t>
            </a:r>
            <a:r>
              <a:rPr lang="fr-FR" err="1"/>
              <a:t>parks</a:t>
            </a:r>
            <a:r>
              <a:rPr lang="fr-FR"/>
              <a:t> on main </a:t>
            </a:r>
            <a:r>
              <a:rPr lang="fr-FR" err="1"/>
              <a:t>pillars</a:t>
            </a:r>
            <a:endParaRPr lang="fr-FR"/>
          </a:p>
        </p:txBody>
      </p:sp>
      <p:sp>
        <p:nvSpPr>
          <p:cNvPr id="6" name="Rechthoek 4">
            <a:extLst>
              <a:ext uri="{FF2B5EF4-FFF2-40B4-BE49-F238E27FC236}">
                <a16:creationId xmlns:a16="http://schemas.microsoft.com/office/drawing/2014/main" id="{11A470A0-5FA8-2462-61E1-896F9FB8A2BE}"/>
              </a:ext>
            </a:extLst>
          </p:cNvPr>
          <p:cNvSpPr/>
          <p:nvPr/>
        </p:nvSpPr>
        <p:spPr>
          <a:xfrm>
            <a:off x="-1" y="978100"/>
            <a:ext cx="11858372" cy="1015800"/>
          </a:xfrm>
          <a:prstGeom prst="rect">
            <a:avLst/>
          </a:prstGeom>
          <a:solidFill>
            <a:schemeClr val="accent6">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Les Landes de Gascogne is TOP Villages for village and cottage experiences, before </a:t>
            </a:r>
            <a:r>
              <a:rPr lang="en-US" sz="1200" b="1">
                <a:solidFill>
                  <a:schemeClr val="accent5"/>
                </a:solidFill>
                <a:ea typeface="Calibri"/>
                <a:cs typeface="Calibri"/>
              </a:rPr>
              <a:t>Le Bois aux </a:t>
            </a:r>
            <a:r>
              <a:rPr lang="en-US" sz="1200" b="1" err="1">
                <a:solidFill>
                  <a:schemeClr val="accent5"/>
                </a:solidFill>
                <a:ea typeface="Calibri"/>
                <a:cs typeface="Calibri"/>
              </a:rPr>
              <a:t>Daims</a:t>
            </a:r>
            <a:r>
              <a:rPr lang="en-US" sz="1200" b="1">
                <a:solidFill>
                  <a:schemeClr val="accent5"/>
                </a:solidFill>
                <a:ea typeface="Calibri"/>
                <a:cs typeface="Calibri"/>
              </a:rPr>
              <a:t> and Les Trois Forêts</a:t>
            </a:r>
            <a:r>
              <a:rPr lang="en-US" sz="1200" b="1">
                <a:solidFill>
                  <a:schemeClr val="accent5"/>
                </a:solidFill>
                <a:latin typeface="+mj-lt"/>
                <a:ea typeface="Calibri"/>
                <a:cs typeface="Calibri"/>
              </a:rPr>
              <a:t>.</a:t>
            </a:r>
          </a:p>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Whereas Le Lac </a:t>
            </a:r>
            <a:r>
              <a:rPr lang="en-US" sz="1200" b="1" err="1">
                <a:solidFill>
                  <a:schemeClr val="accent5"/>
                </a:solidFill>
                <a:latin typeface="+mj-lt"/>
                <a:ea typeface="Calibri"/>
                <a:cs typeface="Calibri"/>
              </a:rPr>
              <a:t>d’Ailette</a:t>
            </a:r>
            <a:r>
              <a:rPr lang="en-US" sz="1200" b="1">
                <a:solidFill>
                  <a:schemeClr val="accent5"/>
                </a:solidFill>
                <a:latin typeface="+mj-lt"/>
                <a:ea typeface="Calibri"/>
                <a:cs typeface="Calibri"/>
              </a:rPr>
              <a:t> is at the bottom on both experiences.</a:t>
            </a:r>
          </a:p>
        </p:txBody>
      </p:sp>
      <p:sp>
        <p:nvSpPr>
          <p:cNvPr id="7" name="Rectangle 6">
            <a:extLst>
              <a:ext uri="{FF2B5EF4-FFF2-40B4-BE49-F238E27FC236}">
                <a16:creationId xmlns:a16="http://schemas.microsoft.com/office/drawing/2014/main" id="{94956BE2-4402-0745-6354-0362CAA30F55}"/>
              </a:ext>
            </a:extLst>
          </p:cNvPr>
          <p:cNvSpPr/>
          <p:nvPr/>
        </p:nvSpPr>
        <p:spPr>
          <a:xfrm rot="16200000">
            <a:off x="-284816" y="1313773"/>
            <a:ext cx="991425" cy="37547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6">
                    <a:lumMod val="20000"/>
                    <a:lumOff val="80000"/>
                  </a:schemeClr>
                </a:solidFill>
                <a:ea typeface="Calibri"/>
                <a:cs typeface="Calibri"/>
              </a:rPr>
              <a:t>Analysis</a:t>
            </a:r>
            <a:endParaRPr lang="en-US" sz="1100">
              <a:solidFill>
                <a:schemeClr val="accent6">
                  <a:lumMod val="20000"/>
                  <a:lumOff val="80000"/>
                </a:schemeClr>
              </a:solidFill>
            </a:endParaRPr>
          </a:p>
        </p:txBody>
      </p:sp>
      <p:pic>
        <p:nvPicPr>
          <p:cNvPr id="9" name="Picture 8">
            <a:extLst>
              <a:ext uri="{FF2B5EF4-FFF2-40B4-BE49-F238E27FC236}">
                <a16:creationId xmlns:a16="http://schemas.microsoft.com/office/drawing/2014/main" id="{6A9D6D5A-C131-0D98-750A-41357524BB0E}"/>
              </a:ext>
            </a:extLst>
          </p:cNvPr>
          <p:cNvPicPr>
            <a:picLocks noChangeAspect="1"/>
          </p:cNvPicPr>
          <p:nvPr/>
        </p:nvPicPr>
        <p:blipFill>
          <a:blip r:embed="rId2"/>
          <a:stretch>
            <a:fillRect/>
          </a:stretch>
        </p:blipFill>
        <p:spPr>
          <a:xfrm>
            <a:off x="129117" y="2180824"/>
            <a:ext cx="3826630" cy="2160000"/>
          </a:xfrm>
          <a:prstGeom prst="rect">
            <a:avLst/>
          </a:prstGeom>
        </p:spPr>
      </p:pic>
      <p:pic>
        <p:nvPicPr>
          <p:cNvPr id="10" name="Picture 9">
            <a:extLst>
              <a:ext uri="{FF2B5EF4-FFF2-40B4-BE49-F238E27FC236}">
                <a16:creationId xmlns:a16="http://schemas.microsoft.com/office/drawing/2014/main" id="{80EDC26E-44BC-B089-4E78-40296E9BDC13}"/>
              </a:ext>
            </a:extLst>
          </p:cNvPr>
          <p:cNvPicPr>
            <a:picLocks noChangeAspect="1"/>
          </p:cNvPicPr>
          <p:nvPr/>
        </p:nvPicPr>
        <p:blipFill>
          <a:blip r:embed="rId3"/>
          <a:stretch>
            <a:fillRect/>
          </a:stretch>
        </p:blipFill>
        <p:spPr>
          <a:xfrm>
            <a:off x="8236255" y="2180824"/>
            <a:ext cx="3696806" cy="2160000"/>
          </a:xfrm>
          <a:prstGeom prst="rect">
            <a:avLst/>
          </a:prstGeom>
        </p:spPr>
      </p:pic>
      <p:pic>
        <p:nvPicPr>
          <p:cNvPr id="13" name="Picture 12">
            <a:extLst>
              <a:ext uri="{FF2B5EF4-FFF2-40B4-BE49-F238E27FC236}">
                <a16:creationId xmlns:a16="http://schemas.microsoft.com/office/drawing/2014/main" id="{D4B0EDF3-24E2-A9A1-F219-A3B9E690F329}"/>
              </a:ext>
            </a:extLst>
          </p:cNvPr>
          <p:cNvPicPr>
            <a:picLocks noChangeAspect="1"/>
          </p:cNvPicPr>
          <p:nvPr/>
        </p:nvPicPr>
        <p:blipFill>
          <a:blip r:embed="rId4"/>
          <a:stretch>
            <a:fillRect/>
          </a:stretch>
        </p:blipFill>
        <p:spPr>
          <a:xfrm>
            <a:off x="129117" y="4394762"/>
            <a:ext cx="3579775" cy="2160000"/>
          </a:xfrm>
          <a:prstGeom prst="rect">
            <a:avLst/>
          </a:prstGeom>
        </p:spPr>
      </p:pic>
      <p:pic>
        <p:nvPicPr>
          <p:cNvPr id="15" name="Picture 14">
            <a:extLst>
              <a:ext uri="{FF2B5EF4-FFF2-40B4-BE49-F238E27FC236}">
                <a16:creationId xmlns:a16="http://schemas.microsoft.com/office/drawing/2014/main" id="{C6AA95B2-1DD6-1D96-1531-1AC1037E9FC2}"/>
              </a:ext>
            </a:extLst>
          </p:cNvPr>
          <p:cNvPicPr>
            <a:picLocks noChangeAspect="1"/>
          </p:cNvPicPr>
          <p:nvPr/>
        </p:nvPicPr>
        <p:blipFill>
          <a:blip r:embed="rId5"/>
          <a:stretch>
            <a:fillRect/>
          </a:stretch>
        </p:blipFill>
        <p:spPr>
          <a:xfrm>
            <a:off x="4163387" y="4299136"/>
            <a:ext cx="3562210" cy="2160000"/>
          </a:xfrm>
          <a:prstGeom prst="rect">
            <a:avLst/>
          </a:prstGeom>
        </p:spPr>
      </p:pic>
      <p:pic>
        <p:nvPicPr>
          <p:cNvPr id="17" name="Picture 16">
            <a:extLst>
              <a:ext uri="{FF2B5EF4-FFF2-40B4-BE49-F238E27FC236}">
                <a16:creationId xmlns:a16="http://schemas.microsoft.com/office/drawing/2014/main" id="{A428F520-2BF8-2EAD-BBE9-D89DCFCEAEB1}"/>
              </a:ext>
            </a:extLst>
          </p:cNvPr>
          <p:cNvPicPr>
            <a:picLocks noChangeAspect="1"/>
          </p:cNvPicPr>
          <p:nvPr/>
        </p:nvPicPr>
        <p:blipFill>
          <a:blip r:embed="rId6"/>
          <a:stretch>
            <a:fillRect/>
          </a:stretch>
        </p:blipFill>
        <p:spPr>
          <a:xfrm>
            <a:off x="8180092" y="4340824"/>
            <a:ext cx="3686480" cy="2160000"/>
          </a:xfrm>
          <a:prstGeom prst="rect">
            <a:avLst/>
          </a:prstGeom>
        </p:spPr>
      </p:pic>
      <p:pic>
        <p:nvPicPr>
          <p:cNvPr id="19" name="Picture 18">
            <a:extLst>
              <a:ext uri="{FF2B5EF4-FFF2-40B4-BE49-F238E27FC236}">
                <a16:creationId xmlns:a16="http://schemas.microsoft.com/office/drawing/2014/main" id="{B66E8731-9CFC-9494-9740-FE29A5E7D435}"/>
              </a:ext>
            </a:extLst>
          </p:cNvPr>
          <p:cNvPicPr>
            <a:picLocks noChangeAspect="1"/>
          </p:cNvPicPr>
          <p:nvPr/>
        </p:nvPicPr>
        <p:blipFill>
          <a:blip r:embed="rId7"/>
          <a:stretch>
            <a:fillRect/>
          </a:stretch>
        </p:blipFill>
        <p:spPr>
          <a:xfrm>
            <a:off x="4408132" y="2087362"/>
            <a:ext cx="3375737" cy="2160000"/>
          </a:xfrm>
          <a:prstGeom prst="rect">
            <a:avLst/>
          </a:prstGeom>
        </p:spPr>
      </p:pic>
    </p:spTree>
    <p:extLst>
      <p:ext uri="{BB962C8B-B14F-4D97-AF65-F5344CB8AC3E}">
        <p14:creationId xmlns:p14="http://schemas.microsoft.com/office/powerpoint/2010/main" val="38069342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DA886-162E-032C-AFA6-C44D6F3ECFB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B9358C-E78D-8394-87B7-364DAB210504}"/>
              </a:ext>
            </a:extLst>
          </p:cNvPr>
          <p:cNvSpPr>
            <a:spLocks noGrp="1"/>
          </p:cNvSpPr>
          <p:nvPr>
            <p:ph type="sldNum" sz="quarter" idx="12"/>
          </p:nvPr>
        </p:nvSpPr>
        <p:spPr/>
        <p:txBody>
          <a:bodyPr/>
          <a:lstStyle/>
          <a:p>
            <a:fld id="{0D2E6A04-B99A-6C4D-8942-945F97C9E705}" type="slidenum">
              <a:rPr lang="en-US" smtClean="0"/>
              <a:pPr/>
              <a:t>57</a:t>
            </a:fld>
            <a:endParaRPr lang="en-US"/>
          </a:p>
        </p:txBody>
      </p:sp>
      <p:sp>
        <p:nvSpPr>
          <p:cNvPr id="3" name="Date Placeholder 2">
            <a:extLst>
              <a:ext uri="{FF2B5EF4-FFF2-40B4-BE49-F238E27FC236}">
                <a16:creationId xmlns:a16="http://schemas.microsoft.com/office/drawing/2014/main" id="{12DE2696-2B91-D085-7314-31098392FFEB}"/>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8441C8C7-D415-2901-15CD-C929E71F8CC3}"/>
              </a:ext>
            </a:extLst>
          </p:cNvPr>
          <p:cNvSpPr>
            <a:spLocks noGrp="1"/>
          </p:cNvSpPr>
          <p:nvPr>
            <p:ph type="title"/>
          </p:nvPr>
        </p:nvSpPr>
        <p:spPr/>
        <p:txBody>
          <a:bodyPr/>
          <a:lstStyle/>
          <a:p>
            <a:r>
              <a:rPr lang="fr-FR"/>
              <a:t>France – </a:t>
            </a:r>
            <a:r>
              <a:rPr lang="fr-FR" err="1"/>
              <a:t>ranking</a:t>
            </a:r>
            <a:r>
              <a:rPr lang="fr-FR"/>
              <a:t> </a:t>
            </a:r>
            <a:r>
              <a:rPr lang="fr-FR" err="1"/>
              <a:t>parks</a:t>
            </a:r>
            <a:r>
              <a:rPr lang="fr-FR"/>
              <a:t> on main </a:t>
            </a:r>
            <a:r>
              <a:rPr lang="fr-FR" err="1"/>
              <a:t>pillars</a:t>
            </a:r>
            <a:endParaRPr lang="fr-FR"/>
          </a:p>
        </p:txBody>
      </p:sp>
      <p:sp>
        <p:nvSpPr>
          <p:cNvPr id="6" name="Rechthoek 4">
            <a:extLst>
              <a:ext uri="{FF2B5EF4-FFF2-40B4-BE49-F238E27FC236}">
                <a16:creationId xmlns:a16="http://schemas.microsoft.com/office/drawing/2014/main" id="{FA6125BB-5ADF-29AC-B2B3-D3EF2D8EB103}"/>
              </a:ext>
            </a:extLst>
          </p:cNvPr>
          <p:cNvSpPr/>
          <p:nvPr/>
        </p:nvSpPr>
        <p:spPr>
          <a:xfrm>
            <a:off x="-1" y="978100"/>
            <a:ext cx="11858372" cy="1091812"/>
          </a:xfrm>
          <a:prstGeom prst="rect">
            <a:avLst/>
          </a:prstGeom>
          <a:solidFill>
            <a:schemeClr val="accent6">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Le Bois aux </a:t>
            </a:r>
            <a:r>
              <a:rPr lang="en-US" sz="1200" b="1" err="1">
                <a:solidFill>
                  <a:schemeClr val="accent5"/>
                </a:solidFill>
                <a:latin typeface="+mj-lt"/>
                <a:ea typeface="Calibri"/>
                <a:cs typeface="Calibri"/>
              </a:rPr>
              <a:t>Daims</a:t>
            </a:r>
            <a:r>
              <a:rPr lang="en-US" sz="1200" b="1">
                <a:solidFill>
                  <a:schemeClr val="accent5"/>
                </a:solidFill>
                <a:latin typeface="+mj-lt"/>
                <a:ea typeface="Calibri"/>
                <a:cs typeface="Calibri"/>
              </a:rPr>
              <a:t> and Les Landes de Gascogne are TOP village for Aqua Mundo and leisure experiences.</a:t>
            </a:r>
          </a:p>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Le Bois aux </a:t>
            </a:r>
            <a:r>
              <a:rPr lang="en-US" sz="1200" b="1" err="1">
                <a:solidFill>
                  <a:schemeClr val="accent5"/>
                </a:solidFill>
                <a:latin typeface="+mj-lt"/>
                <a:ea typeface="Calibri"/>
                <a:cs typeface="Calibri"/>
              </a:rPr>
              <a:t>Daims</a:t>
            </a:r>
            <a:r>
              <a:rPr lang="en-US" sz="1200" b="1">
                <a:solidFill>
                  <a:schemeClr val="accent5"/>
                </a:solidFill>
                <a:latin typeface="+mj-lt"/>
                <a:ea typeface="Calibri"/>
                <a:cs typeface="Calibri"/>
              </a:rPr>
              <a:t> is TOP village on catering experience, despite low NSS.</a:t>
            </a:r>
          </a:p>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Les Landes de Gascogne, Villages Nature Paris and Les Trois Forêts are TOP village for Farm experience, before Le Bois aux </a:t>
            </a:r>
            <a:r>
              <a:rPr lang="en-US" sz="1200" b="1" err="1">
                <a:solidFill>
                  <a:schemeClr val="accent5"/>
                </a:solidFill>
                <a:latin typeface="+mj-lt"/>
                <a:ea typeface="Calibri"/>
                <a:cs typeface="Calibri"/>
              </a:rPr>
              <a:t>Daims</a:t>
            </a:r>
            <a:r>
              <a:rPr lang="en-US" sz="1200" b="1">
                <a:solidFill>
                  <a:schemeClr val="accent5"/>
                </a:solidFill>
                <a:latin typeface="+mj-lt"/>
                <a:ea typeface="Calibri"/>
                <a:cs typeface="Calibri"/>
              </a:rPr>
              <a:t>.</a:t>
            </a:r>
          </a:p>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Le Lac </a:t>
            </a:r>
            <a:r>
              <a:rPr lang="en-US" sz="1200" b="1" err="1">
                <a:solidFill>
                  <a:schemeClr val="accent5"/>
                </a:solidFill>
                <a:latin typeface="+mj-lt"/>
                <a:ea typeface="Calibri"/>
                <a:cs typeface="Calibri"/>
              </a:rPr>
              <a:t>d’Ailette</a:t>
            </a:r>
            <a:r>
              <a:rPr lang="en-US" sz="1200" b="1">
                <a:solidFill>
                  <a:schemeClr val="accent5"/>
                </a:solidFill>
                <a:latin typeface="+mj-lt"/>
                <a:ea typeface="Calibri"/>
                <a:cs typeface="Calibri"/>
              </a:rPr>
              <a:t> is also at the bottom for catering, leisure and farm experiences.</a:t>
            </a:r>
          </a:p>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Les Bois-Francs and Les Hauts de </a:t>
            </a:r>
            <a:r>
              <a:rPr lang="en-US" sz="1200" b="1" err="1">
                <a:solidFill>
                  <a:schemeClr val="accent5"/>
                </a:solidFill>
                <a:latin typeface="+mj-lt"/>
                <a:ea typeface="Calibri"/>
                <a:cs typeface="Calibri"/>
              </a:rPr>
              <a:t>Bruyères</a:t>
            </a:r>
            <a:r>
              <a:rPr lang="en-US" sz="1200" b="1">
                <a:solidFill>
                  <a:schemeClr val="accent5"/>
                </a:solidFill>
                <a:latin typeface="+mj-lt"/>
                <a:ea typeface="Calibri"/>
                <a:cs typeface="Calibri"/>
              </a:rPr>
              <a:t> are also at the bottom for farm experience.</a:t>
            </a:r>
          </a:p>
        </p:txBody>
      </p:sp>
      <p:sp>
        <p:nvSpPr>
          <p:cNvPr id="7" name="Rectangle 6">
            <a:extLst>
              <a:ext uri="{FF2B5EF4-FFF2-40B4-BE49-F238E27FC236}">
                <a16:creationId xmlns:a16="http://schemas.microsoft.com/office/drawing/2014/main" id="{EC85C25A-8E7F-2090-5662-DFDD1081078A}"/>
              </a:ext>
            </a:extLst>
          </p:cNvPr>
          <p:cNvSpPr/>
          <p:nvPr/>
        </p:nvSpPr>
        <p:spPr>
          <a:xfrm rot="16200000">
            <a:off x="-321910" y="1350866"/>
            <a:ext cx="1065613" cy="37547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6">
                    <a:lumMod val="20000"/>
                    <a:lumOff val="80000"/>
                  </a:schemeClr>
                </a:solidFill>
                <a:ea typeface="Calibri"/>
                <a:cs typeface="Calibri"/>
              </a:rPr>
              <a:t>Analysis</a:t>
            </a:r>
            <a:endParaRPr lang="en-US" sz="1100">
              <a:solidFill>
                <a:schemeClr val="accent6">
                  <a:lumMod val="20000"/>
                  <a:lumOff val="80000"/>
                </a:schemeClr>
              </a:solidFill>
            </a:endParaRPr>
          </a:p>
        </p:txBody>
      </p:sp>
      <p:pic>
        <p:nvPicPr>
          <p:cNvPr id="8" name="Picture 7">
            <a:extLst>
              <a:ext uri="{FF2B5EF4-FFF2-40B4-BE49-F238E27FC236}">
                <a16:creationId xmlns:a16="http://schemas.microsoft.com/office/drawing/2014/main" id="{A71F23B2-33B6-1AA9-FD4D-65ECEC19F418}"/>
              </a:ext>
            </a:extLst>
          </p:cNvPr>
          <p:cNvPicPr>
            <a:picLocks noChangeAspect="1"/>
          </p:cNvPicPr>
          <p:nvPr/>
        </p:nvPicPr>
        <p:blipFill>
          <a:blip r:embed="rId2"/>
          <a:stretch>
            <a:fillRect/>
          </a:stretch>
        </p:blipFill>
        <p:spPr>
          <a:xfrm>
            <a:off x="8213736" y="4527748"/>
            <a:ext cx="3683999" cy="2160000"/>
          </a:xfrm>
          <a:prstGeom prst="rect">
            <a:avLst/>
          </a:prstGeom>
        </p:spPr>
      </p:pic>
      <p:pic>
        <p:nvPicPr>
          <p:cNvPr id="12" name="Picture 11">
            <a:extLst>
              <a:ext uri="{FF2B5EF4-FFF2-40B4-BE49-F238E27FC236}">
                <a16:creationId xmlns:a16="http://schemas.microsoft.com/office/drawing/2014/main" id="{64096791-513D-F9FB-0B33-FBBCF41622D7}"/>
              </a:ext>
            </a:extLst>
          </p:cNvPr>
          <p:cNvPicPr>
            <a:picLocks noChangeAspect="1"/>
          </p:cNvPicPr>
          <p:nvPr/>
        </p:nvPicPr>
        <p:blipFill>
          <a:blip r:embed="rId3"/>
          <a:stretch>
            <a:fillRect/>
          </a:stretch>
        </p:blipFill>
        <p:spPr>
          <a:xfrm>
            <a:off x="487538" y="4527748"/>
            <a:ext cx="3527014" cy="2160000"/>
          </a:xfrm>
          <a:prstGeom prst="rect">
            <a:avLst/>
          </a:prstGeom>
        </p:spPr>
      </p:pic>
      <p:pic>
        <p:nvPicPr>
          <p:cNvPr id="14" name="Picture 13">
            <a:extLst>
              <a:ext uri="{FF2B5EF4-FFF2-40B4-BE49-F238E27FC236}">
                <a16:creationId xmlns:a16="http://schemas.microsoft.com/office/drawing/2014/main" id="{55E961FB-0F60-B3C5-B969-489F1022656C}"/>
              </a:ext>
            </a:extLst>
          </p:cNvPr>
          <p:cNvPicPr>
            <a:picLocks noChangeAspect="1"/>
          </p:cNvPicPr>
          <p:nvPr/>
        </p:nvPicPr>
        <p:blipFill>
          <a:blip r:embed="rId4"/>
          <a:stretch>
            <a:fillRect/>
          </a:stretch>
        </p:blipFill>
        <p:spPr>
          <a:xfrm>
            <a:off x="315198" y="2237974"/>
            <a:ext cx="3618151" cy="2160000"/>
          </a:xfrm>
          <a:prstGeom prst="rect">
            <a:avLst/>
          </a:prstGeom>
        </p:spPr>
      </p:pic>
      <p:pic>
        <p:nvPicPr>
          <p:cNvPr id="16" name="Picture 15">
            <a:extLst>
              <a:ext uri="{FF2B5EF4-FFF2-40B4-BE49-F238E27FC236}">
                <a16:creationId xmlns:a16="http://schemas.microsoft.com/office/drawing/2014/main" id="{F5D57468-071B-4665-1E78-2350D65B4AAB}"/>
              </a:ext>
            </a:extLst>
          </p:cNvPr>
          <p:cNvPicPr>
            <a:picLocks noChangeAspect="1"/>
          </p:cNvPicPr>
          <p:nvPr/>
        </p:nvPicPr>
        <p:blipFill>
          <a:blip r:embed="rId5"/>
          <a:stretch>
            <a:fillRect/>
          </a:stretch>
        </p:blipFill>
        <p:spPr>
          <a:xfrm>
            <a:off x="4224851" y="2237974"/>
            <a:ext cx="3616180" cy="2160000"/>
          </a:xfrm>
          <a:prstGeom prst="rect">
            <a:avLst/>
          </a:prstGeom>
        </p:spPr>
      </p:pic>
      <p:pic>
        <p:nvPicPr>
          <p:cNvPr id="18" name="Picture 17">
            <a:extLst>
              <a:ext uri="{FF2B5EF4-FFF2-40B4-BE49-F238E27FC236}">
                <a16:creationId xmlns:a16="http://schemas.microsoft.com/office/drawing/2014/main" id="{163B42CD-0D55-4DC6-5383-91BA185B431E}"/>
              </a:ext>
            </a:extLst>
          </p:cNvPr>
          <p:cNvPicPr>
            <a:picLocks noChangeAspect="1"/>
          </p:cNvPicPr>
          <p:nvPr/>
        </p:nvPicPr>
        <p:blipFill>
          <a:blip r:embed="rId6"/>
          <a:stretch>
            <a:fillRect/>
          </a:stretch>
        </p:blipFill>
        <p:spPr>
          <a:xfrm>
            <a:off x="8132533" y="2237974"/>
            <a:ext cx="3719326" cy="2160000"/>
          </a:xfrm>
          <a:prstGeom prst="rect">
            <a:avLst/>
          </a:prstGeom>
        </p:spPr>
      </p:pic>
      <p:pic>
        <p:nvPicPr>
          <p:cNvPr id="20" name="Picture 19">
            <a:extLst>
              <a:ext uri="{FF2B5EF4-FFF2-40B4-BE49-F238E27FC236}">
                <a16:creationId xmlns:a16="http://schemas.microsoft.com/office/drawing/2014/main" id="{EBD6134F-444B-935C-9339-59FC1BA5E123}"/>
              </a:ext>
            </a:extLst>
          </p:cNvPr>
          <p:cNvPicPr>
            <a:picLocks noChangeAspect="1"/>
          </p:cNvPicPr>
          <p:nvPr/>
        </p:nvPicPr>
        <p:blipFill>
          <a:blip r:embed="rId7"/>
          <a:stretch>
            <a:fillRect/>
          </a:stretch>
        </p:blipFill>
        <p:spPr>
          <a:xfrm>
            <a:off x="4309130" y="4527748"/>
            <a:ext cx="3610028" cy="2160000"/>
          </a:xfrm>
          <a:prstGeom prst="rect">
            <a:avLst/>
          </a:prstGeom>
        </p:spPr>
      </p:pic>
    </p:spTree>
    <p:extLst>
      <p:ext uri="{BB962C8B-B14F-4D97-AF65-F5344CB8AC3E}">
        <p14:creationId xmlns:p14="http://schemas.microsoft.com/office/powerpoint/2010/main" val="39670401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81EA2-82D0-BD5E-F0F6-84BBFC68BE1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C5C539-74DD-A4D4-8122-57A4DA445F20}"/>
              </a:ext>
            </a:extLst>
          </p:cNvPr>
          <p:cNvSpPr>
            <a:spLocks noGrp="1"/>
          </p:cNvSpPr>
          <p:nvPr>
            <p:ph type="sldNum" sz="quarter" idx="12"/>
          </p:nvPr>
        </p:nvSpPr>
        <p:spPr/>
        <p:txBody>
          <a:bodyPr/>
          <a:lstStyle/>
          <a:p>
            <a:fld id="{0D2E6A04-B99A-6C4D-8942-945F97C9E705}" type="slidenum">
              <a:rPr lang="en-US" smtClean="0"/>
              <a:pPr/>
              <a:t>58</a:t>
            </a:fld>
            <a:endParaRPr lang="en-US"/>
          </a:p>
        </p:txBody>
      </p:sp>
      <p:sp>
        <p:nvSpPr>
          <p:cNvPr id="3" name="Date Placeholder 2">
            <a:extLst>
              <a:ext uri="{FF2B5EF4-FFF2-40B4-BE49-F238E27FC236}">
                <a16:creationId xmlns:a16="http://schemas.microsoft.com/office/drawing/2014/main" id="{C8549216-1E5F-6ABF-2848-8FC72D5C6617}"/>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264D43C7-4EA7-57A3-881B-522FF51C7E98}"/>
              </a:ext>
            </a:extLst>
          </p:cNvPr>
          <p:cNvSpPr>
            <a:spLocks noGrp="1"/>
          </p:cNvSpPr>
          <p:nvPr>
            <p:ph type="title"/>
          </p:nvPr>
        </p:nvSpPr>
        <p:spPr/>
        <p:txBody>
          <a:bodyPr/>
          <a:lstStyle/>
          <a:p>
            <a:r>
              <a:rPr lang="fr-FR"/>
              <a:t>France – NPS per </a:t>
            </a:r>
            <a:r>
              <a:rPr lang="fr-FR" err="1"/>
              <a:t>trialist</a:t>
            </a:r>
            <a:r>
              <a:rPr lang="fr-FR"/>
              <a:t>/</a:t>
            </a:r>
            <a:r>
              <a:rPr lang="fr-FR" err="1"/>
              <a:t>repeaters</a:t>
            </a:r>
            <a:r>
              <a:rPr lang="fr-FR"/>
              <a:t>/</a:t>
            </a:r>
            <a:r>
              <a:rPr lang="fr-FR" err="1"/>
              <a:t>reactivated</a:t>
            </a:r>
            <a:endParaRPr lang="fr-FR"/>
          </a:p>
        </p:txBody>
      </p:sp>
      <p:sp>
        <p:nvSpPr>
          <p:cNvPr id="6" name="Rechthoek 4">
            <a:extLst>
              <a:ext uri="{FF2B5EF4-FFF2-40B4-BE49-F238E27FC236}">
                <a16:creationId xmlns:a16="http://schemas.microsoft.com/office/drawing/2014/main" id="{029C07E4-571B-3D36-B094-1A338FA44C29}"/>
              </a:ext>
            </a:extLst>
          </p:cNvPr>
          <p:cNvSpPr/>
          <p:nvPr/>
        </p:nvSpPr>
        <p:spPr>
          <a:xfrm>
            <a:off x="-1" y="978100"/>
            <a:ext cx="6934201" cy="1696720"/>
          </a:xfrm>
          <a:prstGeom prst="rect">
            <a:avLst/>
          </a:prstGeom>
          <a:solidFill>
            <a:schemeClr val="accent6">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NPS Trialist &gt; NPS Repeaters and </a:t>
            </a:r>
            <a:r>
              <a:rPr lang="en-US" sz="1200" b="1" err="1">
                <a:solidFill>
                  <a:schemeClr val="accent5"/>
                </a:solidFill>
                <a:latin typeface="+mj-lt"/>
                <a:ea typeface="Calibri"/>
                <a:cs typeface="Calibri"/>
              </a:rPr>
              <a:t>ReActivated</a:t>
            </a:r>
            <a:r>
              <a:rPr lang="en-US" sz="1200" b="1">
                <a:solidFill>
                  <a:schemeClr val="accent5"/>
                </a:solidFill>
                <a:latin typeface="+mj-lt"/>
                <a:ea typeface="Calibri"/>
                <a:cs typeface="Calibri"/>
              </a:rPr>
              <a:t> guest.</a:t>
            </a:r>
          </a:p>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All segments improved in all parks of France.</a:t>
            </a:r>
          </a:p>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+12,7 pts on Reactivated guest at Les Hauts de </a:t>
            </a:r>
            <a:r>
              <a:rPr lang="en-US" sz="1200" b="1" err="1">
                <a:solidFill>
                  <a:schemeClr val="accent5"/>
                </a:solidFill>
                <a:latin typeface="+mj-lt"/>
                <a:ea typeface="Calibri"/>
                <a:cs typeface="Calibri"/>
              </a:rPr>
              <a:t>Bruyères</a:t>
            </a:r>
            <a:r>
              <a:rPr lang="en-US" sz="1200" b="1">
                <a:solidFill>
                  <a:schemeClr val="accent5"/>
                </a:solidFill>
                <a:latin typeface="+mj-lt"/>
                <a:ea typeface="Calibri"/>
                <a:cs typeface="Calibri"/>
              </a:rPr>
              <a:t> (newly refurbished).</a:t>
            </a:r>
          </a:p>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High improvement also on </a:t>
            </a:r>
            <a:r>
              <a:rPr lang="en-US" sz="1200" b="1" err="1">
                <a:solidFill>
                  <a:schemeClr val="accent5"/>
                </a:solidFill>
                <a:latin typeface="+mj-lt"/>
                <a:ea typeface="Calibri"/>
                <a:cs typeface="Calibri"/>
              </a:rPr>
              <a:t>ReActivated</a:t>
            </a:r>
            <a:r>
              <a:rPr lang="en-US" sz="1200" b="1">
                <a:solidFill>
                  <a:schemeClr val="accent5"/>
                </a:solidFill>
                <a:latin typeface="+mj-lt"/>
                <a:ea typeface="Calibri"/>
                <a:cs typeface="Calibri"/>
              </a:rPr>
              <a:t> guest at les Bois-Francs, Le Bois-aux-</a:t>
            </a:r>
            <a:r>
              <a:rPr lang="en-US" sz="1200" b="1" err="1">
                <a:solidFill>
                  <a:schemeClr val="accent5"/>
                </a:solidFill>
                <a:latin typeface="+mj-lt"/>
                <a:ea typeface="Calibri"/>
                <a:cs typeface="Calibri"/>
              </a:rPr>
              <a:t>Daims</a:t>
            </a:r>
            <a:r>
              <a:rPr lang="en-US" sz="1200" b="1">
                <a:solidFill>
                  <a:schemeClr val="accent5"/>
                </a:solidFill>
                <a:latin typeface="+mj-lt"/>
                <a:ea typeface="Calibri"/>
                <a:cs typeface="Calibri"/>
              </a:rPr>
              <a:t> and Les Trois-Forêts. </a:t>
            </a:r>
          </a:p>
        </p:txBody>
      </p:sp>
      <p:sp>
        <p:nvSpPr>
          <p:cNvPr id="7" name="Rectangle 6">
            <a:extLst>
              <a:ext uri="{FF2B5EF4-FFF2-40B4-BE49-F238E27FC236}">
                <a16:creationId xmlns:a16="http://schemas.microsoft.com/office/drawing/2014/main" id="{14BB9AC6-4FF5-61F1-C0CF-F0172FDA4597}"/>
              </a:ext>
            </a:extLst>
          </p:cNvPr>
          <p:cNvSpPr/>
          <p:nvPr/>
        </p:nvSpPr>
        <p:spPr>
          <a:xfrm rot="16200000">
            <a:off x="-617105" y="1646060"/>
            <a:ext cx="1656000" cy="37547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6">
                    <a:lumMod val="20000"/>
                    <a:lumOff val="80000"/>
                  </a:schemeClr>
                </a:solidFill>
                <a:ea typeface="Calibri"/>
                <a:cs typeface="Calibri"/>
              </a:rPr>
              <a:t>Analysis</a:t>
            </a:r>
            <a:endParaRPr lang="en-US" sz="1100">
              <a:solidFill>
                <a:schemeClr val="accent6">
                  <a:lumMod val="20000"/>
                  <a:lumOff val="80000"/>
                </a:schemeClr>
              </a:solidFill>
            </a:endParaRPr>
          </a:p>
        </p:txBody>
      </p:sp>
      <p:graphicFrame>
        <p:nvGraphicFramePr>
          <p:cNvPr id="8" name="Table 7">
            <a:extLst>
              <a:ext uri="{FF2B5EF4-FFF2-40B4-BE49-F238E27FC236}">
                <a16:creationId xmlns:a16="http://schemas.microsoft.com/office/drawing/2014/main" id="{742DE895-F67F-5B9C-FD14-7C31DD70C2DA}"/>
              </a:ext>
            </a:extLst>
          </p:cNvPr>
          <p:cNvGraphicFramePr>
            <a:graphicFrameLocks noGrp="1"/>
          </p:cNvGraphicFramePr>
          <p:nvPr/>
        </p:nvGraphicFramePr>
        <p:xfrm>
          <a:off x="7619999" y="1132545"/>
          <a:ext cx="3267076" cy="1387830"/>
        </p:xfrm>
        <a:graphic>
          <a:graphicData uri="http://schemas.openxmlformats.org/drawingml/2006/table">
            <a:tbl>
              <a:tblPr/>
              <a:tblGrid>
                <a:gridCol w="816769">
                  <a:extLst>
                    <a:ext uri="{9D8B030D-6E8A-4147-A177-3AD203B41FA5}">
                      <a16:colId xmlns:a16="http://schemas.microsoft.com/office/drawing/2014/main" val="3839480159"/>
                    </a:ext>
                  </a:extLst>
                </a:gridCol>
                <a:gridCol w="816769">
                  <a:extLst>
                    <a:ext uri="{9D8B030D-6E8A-4147-A177-3AD203B41FA5}">
                      <a16:colId xmlns:a16="http://schemas.microsoft.com/office/drawing/2014/main" val="1477485056"/>
                    </a:ext>
                  </a:extLst>
                </a:gridCol>
                <a:gridCol w="816769">
                  <a:extLst>
                    <a:ext uri="{9D8B030D-6E8A-4147-A177-3AD203B41FA5}">
                      <a16:colId xmlns:a16="http://schemas.microsoft.com/office/drawing/2014/main" val="598701490"/>
                    </a:ext>
                  </a:extLst>
                </a:gridCol>
                <a:gridCol w="816769">
                  <a:extLst>
                    <a:ext uri="{9D8B030D-6E8A-4147-A177-3AD203B41FA5}">
                      <a16:colId xmlns:a16="http://schemas.microsoft.com/office/drawing/2014/main" val="98611219"/>
                    </a:ext>
                  </a:extLst>
                </a:gridCol>
              </a:tblGrid>
              <a:tr h="277566">
                <a:tc>
                  <a:txBody>
                    <a:bodyPr/>
                    <a:lstStyle/>
                    <a:p>
                      <a:pPr algn="l" fontAlgn="b">
                        <a:buNone/>
                      </a:pPr>
                      <a:endParaRPr lang="fr-FR" sz="1100" b="0"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5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50" b="1" i="0" u="none" strike="noStrike">
                          <a:solidFill>
                            <a:srgbClr val="000000"/>
                          </a:solidFill>
                          <a:effectLst/>
                          <a:latin typeface="Aptos Narrow" panose="020B0004020202020204" pitchFamily="34" charset="0"/>
                        </a:rPr>
                        <a:t>FY24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50" b="1" i="0" u="none" strike="noStrike">
                          <a:solidFill>
                            <a:srgbClr val="000000"/>
                          </a:solidFill>
                          <a:effectLst/>
                          <a:latin typeface="Aptos Narrow" panose="020B0004020202020204" pitchFamily="34" charset="0"/>
                        </a:rPr>
                        <a:t>Evol </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03712273"/>
                  </a:ext>
                </a:extLst>
              </a:tr>
              <a:tr h="277566">
                <a:tc>
                  <a:txBody>
                    <a:bodyPr/>
                    <a:lstStyle/>
                    <a:p>
                      <a:pPr algn="l" fontAlgn="b">
                        <a:buNone/>
                      </a:pPr>
                      <a:r>
                        <a:rPr lang="fr-FR" sz="1100" b="0" i="0" u="none" strike="noStrike">
                          <a:solidFill>
                            <a:srgbClr val="000000"/>
                          </a:solidFill>
                          <a:effectLst/>
                          <a:latin typeface="Aptos Narrow" panose="020B0004020202020204" pitchFamily="34" charset="0"/>
                        </a:rPr>
                        <a:t>T</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23,9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1100" b="0" i="0" u="none" strike="noStrike">
                          <a:solidFill>
                            <a:srgbClr val="000000"/>
                          </a:solidFill>
                          <a:effectLst/>
                          <a:latin typeface="Aptos Narrow" panose="020B0004020202020204" pitchFamily="34" charset="0"/>
                        </a:rPr>
                        <a:t>16,4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2D289"/>
                    </a:solidFill>
                  </a:tcPr>
                </a:tc>
                <a:tc>
                  <a:txBody>
                    <a:bodyPr/>
                    <a:lstStyle/>
                    <a:p>
                      <a:pPr algn="r" fontAlgn="b">
                        <a:buNone/>
                      </a:pPr>
                      <a:r>
                        <a:rPr lang="fr-FR" sz="1100" b="1" i="0" u="none" strike="noStrike">
                          <a:solidFill>
                            <a:srgbClr val="00B050"/>
                          </a:solidFill>
                          <a:effectLst/>
                          <a:latin typeface="Aptos Narrow" panose="020B0004020202020204" pitchFamily="34" charset="0"/>
                        </a:rPr>
                        <a:t>7,5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22995521"/>
                  </a:ext>
                </a:extLst>
              </a:tr>
              <a:tr h="277566">
                <a:tc>
                  <a:txBody>
                    <a:bodyPr/>
                    <a:lstStyle/>
                    <a:p>
                      <a:pPr algn="l" fontAlgn="b">
                        <a:buNone/>
                      </a:pPr>
                      <a:r>
                        <a:rPr lang="fr-FR" sz="1100" b="0" i="0" u="none" strike="noStrike">
                          <a:solidFill>
                            <a:srgbClr val="000000"/>
                          </a:solidFill>
                          <a:effectLst/>
                          <a:latin typeface="Aptos Narrow" panose="020B0004020202020204" pitchFamily="34" charset="0"/>
                        </a:rPr>
                        <a:t>R</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21,1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BC680"/>
                    </a:solidFill>
                  </a:tcPr>
                </a:tc>
                <a:tc>
                  <a:txBody>
                    <a:bodyPr/>
                    <a:lstStyle/>
                    <a:p>
                      <a:pPr algn="r" fontAlgn="b">
                        <a:buNone/>
                      </a:pPr>
                      <a:r>
                        <a:rPr lang="fr-FR" sz="1100" b="0" i="0" u="none" strike="noStrike">
                          <a:solidFill>
                            <a:srgbClr val="000000"/>
                          </a:solidFill>
                          <a:effectLst/>
                          <a:latin typeface="Aptos Narrow" panose="020B0004020202020204" pitchFamily="34" charset="0"/>
                        </a:rPr>
                        <a:t>16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5D389"/>
                    </a:solidFill>
                  </a:tcPr>
                </a:tc>
                <a:tc>
                  <a:txBody>
                    <a:bodyPr/>
                    <a:lstStyle/>
                    <a:p>
                      <a:pPr algn="r" fontAlgn="b">
                        <a:buNone/>
                      </a:pPr>
                      <a:r>
                        <a:rPr lang="fr-FR" sz="1100" b="1" i="0" u="none" strike="noStrike">
                          <a:solidFill>
                            <a:srgbClr val="00B050"/>
                          </a:solidFill>
                          <a:effectLst/>
                          <a:latin typeface="Aptos Narrow" panose="020B0004020202020204" pitchFamily="34" charset="0"/>
                        </a:rPr>
                        <a:t>5,1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31971371"/>
                  </a:ext>
                </a:extLst>
              </a:tr>
              <a:tr h="277566">
                <a:tc>
                  <a:txBody>
                    <a:bodyPr/>
                    <a:lstStyle/>
                    <a:p>
                      <a:pPr algn="l" fontAlgn="b">
                        <a:buNone/>
                      </a:pPr>
                      <a:r>
                        <a:rPr lang="fr-FR" sz="1100" b="1" i="0" u="none" strike="noStrike">
                          <a:solidFill>
                            <a:srgbClr val="000000"/>
                          </a:solidFill>
                          <a:effectLst/>
                          <a:latin typeface="Aptos Narrow" panose="020B0004020202020204" pitchFamily="34" charset="0"/>
                        </a:rPr>
                        <a:t>Total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1" i="0" u="none" strike="noStrike">
                          <a:solidFill>
                            <a:srgbClr val="000000"/>
                          </a:solidFill>
                          <a:effectLst/>
                          <a:latin typeface="Aptos Narrow" panose="020B0004020202020204" pitchFamily="34" charset="0"/>
                        </a:rPr>
                        <a:t>18,1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4CE86"/>
                    </a:solidFill>
                  </a:tcPr>
                </a:tc>
                <a:tc>
                  <a:txBody>
                    <a:bodyPr/>
                    <a:lstStyle/>
                    <a:p>
                      <a:pPr algn="r" fontAlgn="b">
                        <a:buNone/>
                      </a:pPr>
                      <a:r>
                        <a:rPr lang="fr-FR" sz="1100" b="1" i="0" u="none" strike="noStrike">
                          <a:solidFill>
                            <a:srgbClr val="000000"/>
                          </a:solidFill>
                          <a:effectLst/>
                          <a:latin typeface="Aptos Narrow" panose="020B0004020202020204" pitchFamily="34" charset="0"/>
                        </a:rPr>
                        <a:t>11,3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DE092"/>
                    </a:solidFill>
                  </a:tcPr>
                </a:tc>
                <a:tc>
                  <a:txBody>
                    <a:bodyPr/>
                    <a:lstStyle/>
                    <a:p>
                      <a:pPr algn="r" fontAlgn="b">
                        <a:buNone/>
                      </a:pPr>
                      <a:r>
                        <a:rPr lang="fr-FR" sz="1100" b="1" i="0" u="none" strike="noStrike">
                          <a:solidFill>
                            <a:srgbClr val="00B050"/>
                          </a:solidFill>
                          <a:effectLst/>
                          <a:latin typeface="Aptos Narrow" panose="020B0004020202020204" pitchFamily="34" charset="0"/>
                        </a:rPr>
                        <a:t>6,8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01648351"/>
                  </a:ext>
                </a:extLst>
              </a:tr>
              <a:tr h="277566">
                <a:tc>
                  <a:txBody>
                    <a:bodyPr/>
                    <a:lstStyle/>
                    <a:p>
                      <a:pPr algn="l" fontAlgn="b">
                        <a:buNone/>
                      </a:pPr>
                      <a:r>
                        <a:rPr lang="fr-FR" sz="1100" b="0" i="0" u="none" strike="noStrike">
                          <a:solidFill>
                            <a:srgbClr val="000000"/>
                          </a:solidFill>
                          <a:effectLst/>
                          <a:latin typeface="Aptos Narrow" panose="020B0004020202020204" pitchFamily="34" charset="0"/>
                        </a:rPr>
                        <a:t>A</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14,2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4D88D"/>
                    </a:solidFill>
                  </a:tcPr>
                </a:tc>
                <a:tc>
                  <a:txBody>
                    <a:bodyPr/>
                    <a:lstStyle/>
                    <a:p>
                      <a:pPr algn="r" fontAlgn="b">
                        <a:buNone/>
                      </a:pPr>
                      <a:r>
                        <a:rPr lang="fr-FR" sz="1100" b="0" i="0" u="none" strike="noStrike">
                          <a:solidFill>
                            <a:srgbClr val="000000"/>
                          </a:solidFill>
                          <a:effectLst/>
                          <a:latin typeface="Aptos Narrow" panose="020B0004020202020204" pitchFamily="34" charset="0"/>
                        </a:rPr>
                        <a:t>5,2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F9C"/>
                    </a:solidFill>
                  </a:tcPr>
                </a:tc>
                <a:tc>
                  <a:txBody>
                    <a:bodyPr/>
                    <a:lstStyle/>
                    <a:p>
                      <a:pPr algn="r" fontAlgn="b">
                        <a:buNone/>
                      </a:pPr>
                      <a:r>
                        <a:rPr lang="fr-FR" sz="1100" b="1" i="0" u="none" strike="noStrike">
                          <a:solidFill>
                            <a:srgbClr val="00B050"/>
                          </a:solidFill>
                          <a:effectLst/>
                          <a:latin typeface="Aptos Narrow" panose="020B0004020202020204" pitchFamily="34" charset="0"/>
                        </a:rPr>
                        <a:t>9,0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04283429"/>
                  </a:ext>
                </a:extLst>
              </a:tr>
            </a:tbl>
          </a:graphicData>
        </a:graphic>
      </p:graphicFrame>
      <p:graphicFrame>
        <p:nvGraphicFramePr>
          <p:cNvPr id="9" name="Table 8">
            <a:extLst>
              <a:ext uri="{FF2B5EF4-FFF2-40B4-BE49-F238E27FC236}">
                <a16:creationId xmlns:a16="http://schemas.microsoft.com/office/drawing/2014/main" id="{39D6E4B5-1CFA-4D79-BD36-97116B47B02A}"/>
              </a:ext>
            </a:extLst>
          </p:cNvPr>
          <p:cNvGraphicFramePr>
            <a:graphicFrameLocks noGrp="1"/>
          </p:cNvGraphicFramePr>
          <p:nvPr/>
        </p:nvGraphicFramePr>
        <p:xfrm>
          <a:off x="527885" y="3399886"/>
          <a:ext cx="3020930" cy="2203628"/>
        </p:xfrm>
        <a:graphic>
          <a:graphicData uri="http://schemas.openxmlformats.org/drawingml/2006/table">
            <a:tbl>
              <a:tblPr/>
              <a:tblGrid>
                <a:gridCol w="1580486">
                  <a:extLst>
                    <a:ext uri="{9D8B030D-6E8A-4147-A177-3AD203B41FA5}">
                      <a16:colId xmlns:a16="http://schemas.microsoft.com/office/drawing/2014/main" val="1360638554"/>
                    </a:ext>
                  </a:extLst>
                </a:gridCol>
                <a:gridCol w="480148">
                  <a:extLst>
                    <a:ext uri="{9D8B030D-6E8A-4147-A177-3AD203B41FA5}">
                      <a16:colId xmlns:a16="http://schemas.microsoft.com/office/drawing/2014/main" val="512505346"/>
                    </a:ext>
                  </a:extLst>
                </a:gridCol>
                <a:gridCol w="480148">
                  <a:extLst>
                    <a:ext uri="{9D8B030D-6E8A-4147-A177-3AD203B41FA5}">
                      <a16:colId xmlns:a16="http://schemas.microsoft.com/office/drawing/2014/main" val="152319803"/>
                    </a:ext>
                  </a:extLst>
                </a:gridCol>
                <a:gridCol w="480148">
                  <a:extLst>
                    <a:ext uri="{9D8B030D-6E8A-4147-A177-3AD203B41FA5}">
                      <a16:colId xmlns:a16="http://schemas.microsoft.com/office/drawing/2014/main" val="391209851"/>
                    </a:ext>
                  </a:extLst>
                </a:gridCol>
              </a:tblGrid>
              <a:tr h="145045">
                <a:tc>
                  <a:txBody>
                    <a:bodyPr/>
                    <a:lstStyle/>
                    <a:p>
                      <a:pPr algn="l" fontAlgn="b">
                        <a:buNone/>
                      </a:pPr>
                      <a:endParaRPr lang="fr-FR" sz="1000" b="0" i="0" u="none" strike="noStrike">
                        <a:solidFill>
                          <a:srgbClr val="000000"/>
                        </a:solidFill>
                        <a:effectLst/>
                        <a:latin typeface="Aptos Narrow" panose="020B0004020202020204" pitchFamily="34" charset="0"/>
                      </a:endParaRP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FY25</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FY24</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Evol </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10050401"/>
                  </a:ext>
                </a:extLst>
              </a:tr>
              <a:tr h="145045">
                <a:tc>
                  <a:txBody>
                    <a:bodyPr/>
                    <a:lstStyle/>
                    <a:p>
                      <a:pPr algn="l" fontAlgn="b">
                        <a:buNone/>
                      </a:pPr>
                      <a:endParaRPr lang="fr-FR" sz="1000" b="0" i="0" u="none" strike="noStrike">
                        <a:solidFill>
                          <a:srgbClr val="000000"/>
                        </a:solidFill>
                        <a:effectLst/>
                        <a:latin typeface="Aptos Narrow" panose="020B0004020202020204" pitchFamily="34" charset="0"/>
                      </a:endParaRP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22,0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1E383"/>
                    </a:solidFill>
                  </a:tcPr>
                </a:tc>
                <a:tc>
                  <a:txBody>
                    <a:bodyPr/>
                    <a:lstStyle/>
                    <a:p>
                      <a:pPr algn="r" fontAlgn="b">
                        <a:buNone/>
                      </a:pPr>
                      <a:r>
                        <a:rPr lang="fr-FR" sz="1000" b="0" i="0" u="none" strike="noStrike">
                          <a:solidFill>
                            <a:srgbClr val="000000"/>
                          </a:solidFill>
                          <a:effectLst/>
                          <a:latin typeface="Aptos Narrow" panose="020B0004020202020204" pitchFamily="34" charset="0"/>
                        </a:rPr>
                        <a:t>15,4</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EB84"/>
                    </a:solidFill>
                  </a:tcPr>
                </a:tc>
                <a:tc>
                  <a:txBody>
                    <a:bodyPr/>
                    <a:lstStyle/>
                    <a:p>
                      <a:pPr algn="r" fontAlgn="b">
                        <a:buNone/>
                      </a:pPr>
                      <a:r>
                        <a:rPr lang="fr-FR" sz="1000" b="0" i="0" u="none" strike="noStrike">
                          <a:solidFill>
                            <a:srgbClr val="00B050"/>
                          </a:solidFill>
                          <a:effectLst/>
                          <a:latin typeface="Aptos Narrow" panose="020B0004020202020204" pitchFamily="34" charset="0"/>
                        </a:rPr>
                        <a:t>6,6</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84818033"/>
                  </a:ext>
                </a:extLst>
              </a:tr>
              <a:tr h="145045">
                <a:tc>
                  <a:txBody>
                    <a:bodyPr/>
                    <a:lstStyle/>
                    <a:p>
                      <a:pPr algn="l" fontAlgn="b">
                        <a:buNone/>
                      </a:pPr>
                      <a:r>
                        <a:rPr lang="fr-FR" sz="1000" b="1" i="0" u="none" strike="noStrike">
                          <a:solidFill>
                            <a:srgbClr val="000000"/>
                          </a:solidFill>
                          <a:effectLst/>
                          <a:latin typeface="Aptos Narrow" panose="020B0004020202020204" pitchFamily="34" charset="0"/>
                        </a:rPr>
                        <a:t>Le Bois aux Daims</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33,7</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ED480"/>
                    </a:solidFill>
                  </a:tcPr>
                </a:tc>
                <a:tc>
                  <a:txBody>
                    <a:bodyPr/>
                    <a:lstStyle/>
                    <a:p>
                      <a:pPr algn="r" fontAlgn="b">
                        <a:buNone/>
                      </a:pPr>
                      <a:r>
                        <a:rPr lang="fr-FR" sz="1000" b="1" i="0" u="none" strike="noStrike">
                          <a:solidFill>
                            <a:srgbClr val="000000"/>
                          </a:solidFill>
                          <a:effectLst/>
                          <a:latin typeface="Aptos Narrow" panose="020B0004020202020204" pitchFamily="34" charset="0"/>
                        </a:rPr>
                        <a:t>23,0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DE182"/>
                    </a:solidFill>
                  </a:tcPr>
                </a:tc>
                <a:tc>
                  <a:txBody>
                    <a:bodyPr/>
                    <a:lstStyle/>
                    <a:p>
                      <a:pPr algn="r" fontAlgn="b">
                        <a:buNone/>
                      </a:pPr>
                      <a:r>
                        <a:rPr lang="fr-FR" sz="1000" b="1" i="0" u="none" strike="noStrike">
                          <a:solidFill>
                            <a:srgbClr val="00B050"/>
                          </a:solidFill>
                          <a:effectLst/>
                          <a:latin typeface="Aptos Narrow" panose="020B0004020202020204" pitchFamily="34" charset="0"/>
                        </a:rPr>
                        <a:t>10,7</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93521838"/>
                  </a:ext>
                </a:extLst>
              </a:tr>
              <a:tr h="145045">
                <a:tc>
                  <a:txBody>
                    <a:bodyPr/>
                    <a:lstStyle/>
                    <a:p>
                      <a:pPr algn="l" fontAlgn="b">
                        <a:buNone/>
                      </a:pPr>
                      <a:r>
                        <a:rPr lang="fr-FR" sz="1000" b="0" i="0" u="none" strike="noStrike">
                          <a:solidFill>
                            <a:srgbClr val="000000"/>
                          </a:solidFill>
                          <a:effectLst/>
                          <a:latin typeface="Aptos Narrow" panose="020B0004020202020204" pitchFamily="34" charset="0"/>
                        </a:rPr>
                        <a:t> A</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27,7</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8DC81"/>
                    </a:solidFill>
                  </a:tcPr>
                </a:tc>
                <a:tc>
                  <a:txBody>
                    <a:bodyPr/>
                    <a:lstStyle/>
                    <a:p>
                      <a:pPr algn="r" fontAlgn="b">
                        <a:buNone/>
                      </a:pPr>
                      <a:r>
                        <a:rPr lang="fr-FR" sz="1000" b="0" i="0" u="none" strike="noStrike">
                          <a:solidFill>
                            <a:srgbClr val="000000"/>
                          </a:solidFill>
                          <a:effectLst/>
                          <a:latin typeface="Aptos Narrow" panose="020B0004020202020204" pitchFamily="34" charset="0"/>
                        </a:rPr>
                        <a:t>12,5</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B81"/>
                    </a:solidFill>
                  </a:tcPr>
                </a:tc>
                <a:tc>
                  <a:txBody>
                    <a:bodyPr/>
                    <a:lstStyle/>
                    <a:p>
                      <a:pPr algn="r" fontAlgn="b">
                        <a:buNone/>
                      </a:pPr>
                      <a:r>
                        <a:rPr lang="fr-FR" sz="1000" b="0" i="0" u="none" strike="noStrike">
                          <a:solidFill>
                            <a:srgbClr val="00B050"/>
                          </a:solidFill>
                          <a:effectLst/>
                          <a:latin typeface="Aptos Narrow" panose="020B0004020202020204" pitchFamily="34" charset="0"/>
                        </a:rPr>
                        <a:t>15,2</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1472246"/>
                  </a:ext>
                </a:extLst>
              </a:tr>
              <a:tr h="145045">
                <a:tc>
                  <a:txBody>
                    <a:bodyPr/>
                    <a:lstStyle/>
                    <a:p>
                      <a:pPr algn="l" fontAlgn="b">
                        <a:buNone/>
                      </a:pPr>
                      <a:r>
                        <a:rPr lang="fr-FR" sz="1000" b="0" i="0" u="none" strike="noStrike">
                          <a:solidFill>
                            <a:srgbClr val="000000"/>
                          </a:solidFill>
                          <a:effectLst/>
                          <a:latin typeface="Aptos Narrow" panose="020B0004020202020204" pitchFamily="34" charset="0"/>
                        </a:rPr>
                        <a:t> R</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33,2</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0D580"/>
                    </a:solidFill>
                  </a:tcPr>
                </a:tc>
                <a:tc>
                  <a:txBody>
                    <a:bodyPr/>
                    <a:lstStyle/>
                    <a:p>
                      <a:pPr algn="r" fontAlgn="b">
                        <a:buNone/>
                      </a:pPr>
                      <a:r>
                        <a:rPr lang="fr-FR" sz="1000" b="0" i="0" u="none" strike="noStrike">
                          <a:solidFill>
                            <a:srgbClr val="000000"/>
                          </a:solidFill>
                          <a:effectLst/>
                          <a:latin typeface="Aptos Narrow" panose="020B0004020202020204" pitchFamily="34" charset="0"/>
                        </a:rPr>
                        <a:t>23,6</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AE182"/>
                    </a:solidFill>
                  </a:tcPr>
                </a:tc>
                <a:tc>
                  <a:txBody>
                    <a:bodyPr/>
                    <a:lstStyle/>
                    <a:p>
                      <a:pPr algn="r" fontAlgn="b">
                        <a:buNone/>
                      </a:pPr>
                      <a:r>
                        <a:rPr lang="fr-FR" sz="1000" b="0" i="0" u="none" strike="noStrike">
                          <a:solidFill>
                            <a:srgbClr val="00B050"/>
                          </a:solidFill>
                          <a:effectLst/>
                          <a:latin typeface="Aptos Narrow" panose="020B0004020202020204" pitchFamily="34" charset="0"/>
                        </a:rPr>
                        <a:t>9,7</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49325871"/>
                  </a:ext>
                </a:extLst>
              </a:tr>
              <a:tr h="145045">
                <a:tc>
                  <a:txBody>
                    <a:bodyPr/>
                    <a:lstStyle/>
                    <a:p>
                      <a:pPr algn="l" fontAlgn="b">
                        <a:buNone/>
                      </a:pPr>
                      <a:r>
                        <a:rPr lang="fr-FR" sz="1000" b="0" i="0" u="none" strike="noStrike">
                          <a:solidFill>
                            <a:srgbClr val="000000"/>
                          </a:solidFill>
                          <a:effectLst/>
                          <a:latin typeface="Aptos Narrow" panose="020B0004020202020204" pitchFamily="34" charset="0"/>
                        </a:rPr>
                        <a:t> T</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34,7</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AD380"/>
                    </a:solidFill>
                  </a:tcPr>
                </a:tc>
                <a:tc>
                  <a:txBody>
                    <a:bodyPr/>
                    <a:lstStyle/>
                    <a:p>
                      <a:pPr algn="r" fontAlgn="b">
                        <a:buNone/>
                      </a:pPr>
                      <a:r>
                        <a:rPr lang="fr-FR" sz="1000" b="0" i="0" u="none" strike="noStrike">
                          <a:solidFill>
                            <a:srgbClr val="000000"/>
                          </a:solidFill>
                          <a:effectLst/>
                          <a:latin typeface="Aptos Narrow" panose="020B0004020202020204" pitchFamily="34" charset="0"/>
                        </a:rPr>
                        <a:t>24,2</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8E082"/>
                    </a:solidFill>
                  </a:tcPr>
                </a:tc>
                <a:tc>
                  <a:txBody>
                    <a:bodyPr/>
                    <a:lstStyle/>
                    <a:p>
                      <a:pPr algn="r" fontAlgn="b">
                        <a:buNone/>
                      </a:pPr>
                      <a:r>
                        <a:rPr lang="fr-FR" sz="1000" b="0" i="0" u="none" strike="noStrike">
                          <a:solidFill>
                            <a:srgbClr val="00B050"/>
                          </a:solidFill>
                          <a:effectLst/>
                          <a:latin typeface="Aptos Narrow" panose="020B0004020202020204" pitchFamily="34" charset="0"/>
                        </a:rPr>
                        <a:t>10,6</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35556686"/>
                  </a:ext>
                </a:extLst>
              </a:tr>
              <a:tr h="145045">
                <a:tc>
                  <a:txBody>
                    <a:bodyPr/>
                    <a:lstStyle/>
                    <a:p>
                      <a:pPr algn="l" fontAlgn="b">
                        <a:buNone/>
                      </a:pPr>
                      <a:r>
                        <a:rPr lang="fr-FR" sz="1000" b="1" i="0" u="none" strike="noStrike">
                          <a:solidFill>
                            <a:srgbClr val="000000"/>
                          </a:solidFill>
                          <a:effectLst/>
                          <a:latin typeface="Aptos Narrow" panose="020B0004020202020204" pitchFamily="34" charset="0"/>
                        </a:rPr>
                        <a:t>Le Lac d'Ailette</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6,9</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87A"/>
                    </a:solidFill>
                  </a:tcPr>
                </a:tc>
                <a:tc>
                  <a:txBody>
                    <a:bodyPr/>
                    <a:lstStyle/>
                    <a:p>
                      <a:pPr algn="r" fontAlgn="b">
                        <a:buNone/>
                      </a:pPr>
                      <a:r>
                        <a:rPr lang="fr-FR" sz="1000" b="1" i="0" u="none" strike="noStrike">
                          <a:solidFill>
                            <a:srgbClr val="000000"/>
                          </a:solidFill>
                          <a:effectLst/>
                          <a:latin typeface="Aptos Narrow" panose="020B0004020202020204" pitchFamily="34" charset="0"/>
                        </a:rPr>
                        <a:t>4,2</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777"/>
                    </a:solidFill>
                  </a:tcPr>
                </a:tc>
                <a:tc>
                  <a:txBody>
                    <a:bodyPr/>
                    <a:lstStyle/>
                    <a:p>
                      <a:pPr algn="r" fontAlgn="b">
                        <a:buNone/>
                      </a:pPr>
                      <a:r>
                        <a:rPr lang="fr-FR" sz="1000" b="1" i="0" u="none" strike="noStrike">
                          <a:solidFill>
                            <a:srgbClr val="00B050"/>
                          </a:solidFill>
                          <a:effectLst/>
                          <a:latin typeface="Aptos Narrow" panose="020B0004020202020204" pitchFamily="34" charset="0"/>
                        </a:rPr>
                        <a:t>2,7</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1039369"/>
                  </a:ext>
                </a:extLst>
              </a:tr>
              <a:tr h="145045">
                <a:tc>
                  <a:txBody>
                    <a:bodyPr/>
                    <a:lstStyle/>
                    <a:p>
                      <a:pPr algn="l" fontAlgn="b">
                        <a:buNone/>
                      </a:pPr>
                      <a:r>
                        <a:rPr lang="fr-FR" sz="1000" b="0" i="0" u="none" strike="noStrike">
                          <a:solidFill>
                            <a:srgbClr val="000000"/>
                          </a:solidFill>
                          <a:effectLst/>
                          <a:latin typeface="Aptos Narrow" panose="020B0004020202020204" pitchFamily="34" charset="0"/>
                        </a:rPr>
                        <a:t> A</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1,8</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874"/>
                    </a:solidFill>
                  </a:tcPr>
                </a:tc>
                <a:tc>
                  <a:txBody>
                    <a:bodyPr/>
                    <a:lstStyle/>
                    <a:p>
                      <a:pPr algn="r" fontAlgn="b">
                        <a:buNone/>
                      </a:pPr>
                      <a:r>
                        <a:rPr lang="fr-FR" sz="1000" b="0" i="0" u="none" strike="noStrike">
                          <a:solidFill>
                            <a:srgbClr val="000000"/>
                          </a:solidFill>
                          <a:effectLst/>
                          <a:latin typeface="Aptos Narrow" panose="020B0004020202020204" pitchFamily="34" charset="0"/>
                        </a:rPr>
                        <a:t>-5,1</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D6B"/>
                    </a:solidFill>
                  </a:tcPr>
                </a:tc>
                <a:tc>
                  <a:txBody>
                    <a:bodyPr/>
                    <a:lstStyle/>
                    <a:p>
                      <a:pPr algn="r" fontAlgn="b">
                        <a:buNone/>
                      </a:pPr>
                      <a:r>
                        <a:rPr lang="fr-FR" sz="1000" b="0" i="0" u="none" strike="noStrike">
                          <a:solidFill>
                            <a:srgbClr val="00B050"/>
                          </a:solidFill>
                          <a:effectLst/>
                          <a:latin typeface="Aptos Narrow" panose="020B0004020202020204" pitchFamily="34" charset="0"/>
                        </a:rPr>
                        <a:t>6,9</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42916646"/>
                  </a:ext>
                </a:extLst>
              </a:tr>
              <a:tr h="145045">
                <a:tc>
                  <a:txBody>
                    <a:bodyPr/>
                    <a:lstStyle/>
                    <a:p>
                      <a:pPr algn="l" fontAlgn="b">
                        <a:buNone/>
                      </a:pPr>
                      <a:r>
                        <a:rPr lang="fr-FR" sz="1000" b="0" i="0" u="none" strike="noStrike">
                          <a:solidFill>
                            <a:srgbClr val="000000"/>
                          </a:solidFill>
                          <a:effectLst/>
                          <a:latin typeface="Aptos Narrow" panose="020B0004020202020204" pitchFamily="34" charset="0"/>
                        </a:rPr>
                        <a:t> R</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6,8</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77A"/>
                    </a:solidFill>
                  </a:tcPr>
                </a:tc>
                <a:tc>
                  <a:txBody>
                    <a:bodyPr/>
                    <a:lstStyle/>
                    <a:p>
                      <a:pPr algn="r" fontAlgn="b">
                        <a:buNone/>
                      </a:pPr>
                      <a:r>
                        <a:rPr lang="fr-FR" sz="1000" b="0" i="0" u="none" strike="noStrike">
                          <a:solidFill>
                            <a:srgbClr val="000000"/>
                          </a:solidFill>
                          <a:effectLst/>
                          <a:latin typeface="Aptos Narrow" panose="020B0004020202020204" pitchFamily="34" charset="0"/>
                        </a:rPr>
                        <a:t>6,8</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77A"/>
                    </a:solidFill>
                  </a:tcPr>
                </a:tc>
                <a:tc>
                  <a:txBody>
                    <a:bodyPr/>
                    <a:lstStyle/>
                    <a:p>
                      <a:pPr algn="r" fontAlgn="b">
                        <a:buNone/>
                      </a:pPr>
                      <a:r>
                        <a:rPr lang="fr-FR" sz="1000" b="0" i="0" u="none" strike="noStrike">
                          <a:solidFill>
                            <a:srgbClr val="00B050"/>
                          </a:solidFill>
                          <a:effectLst/>
                          <a:latin typeface="Aptos Narrow" panose="020B0004020202020204" pitchFamily="34" charset="0"/>
                        </a:rPr>
                        <a:t>0,0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04801092"/>
                  </a:ext>
                </a:extLst>
              </a:tr>
              <a:tr h="145045">
                <a:tc>
                  <a:txBody>
                    <a:bodyPr/>
                    <a:lstStyle/>
                    <a:p>
                      <a:pPr algn="l" fontAlgn="b">
                        <a:buNone/>
                      </a:pPr>
                      <a:r>
                        <a:rPr lang="fr-FR" sz="1000" b="0" i="0" u="none" strike="noStrike">
                          <a:solidFill>
                            <a:srgbClr val="000000"/>
                          </a:solidFill>
                          <a:effectLst/>
                          <a:latin typeface="Aptos Narrow" panose="020B0004020202020204" pitchFamily="34" charset="0"/>
                        </a:rPr>
                        <a:t> T</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7,9</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E7B"/>
                    </a:solidFill>
                  </a:tcPr>
                </a:tc>
                <a:tc>
                  <a:txBody>
                    <a:bodyPr/>
                    <a:lstStyle/>
                    <a:p>
                      <a:pPr algn="r" fontAlgn="b">
                        <a:buNone/>
                      </a:pPr>
                      <a:r>
                        <a:rPr lang="fr-FR" sz="1000" b="0" i="0" u="none" strike="noStrike">
                          <a:solidFill>
                            <a:srgbClr val="000000"/>
                          </a:solidFill>
                          <a:effectLst/>
                          <a:latin typeface="Aptos Narrow" panose="020B0004020202020204" pitchFamily="34" charset="0"/>
                        </a:rPr>
                        <a:t>2,5</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D75"/>
                    </a:solidFill>
                  </a:tcPr>
                </a:tc>
                <a:tc>
                  <a:txBody>
                    <a:bodyPr/>
                    <a:lstStyle/>
                    <a:p>
                      <a:pPr algn="r" fontAlgn="b">
                        <a:buNone/>
                      </a:pPr>
                      <a:r>
                        <a:rPr lang="fr-FR" sz="1000" b="0" i="0" u="none" strike="noStrike">
                          <a:solidFill>
                            <a:srgbClr val="00B050"/>
                          </a:solidFill>
                          <a:effectLst/>
                          <a:latin typeface="Aptos Narrow" panose="020B0004020202020204" pitchFamily="34" charset="0"/>
                        </a:rPr>
                        <a:t>5,3</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23585543"/>
                  </a:ext>
                </a:extLst>
              </a:tr>
              <a:tr h="145045">
                <a:tc>
                  <a:txBody>
                    <a:bodyPr/>
                    <a:lstStyle/>
                    <a:p>
                      <a:pPr algn="l" fontAlgn="b">
                        <a:buNone/>
                      </a:pPr>
                      <a:r>
                        <a:rPr lang="fr-FR" sz="1000" b="1" i="0" u="none" strike="noStrike">
                          <a:solidFill>
                            <a:srgbClr val="000000"/>
                          </a:solidFill>
                          <a:effectLst/>
                          <a:latin typeface="Aptos Narrow" panose="020B0004020202020204" pitchFamily="34" charset="0"/>
                        </a:rPr>
                        <a:t>Les Bois-Francs</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18,3</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1E784"/>
                    </a:solidFill>
                  </a:tcPr>
                </a:tc>
                <a:tc>
                  <a:txBody>
                    <a:bodyPr/>
                    <a:lstStyle/>
                    <a:p>
                      <a:pPr algn="r" fontAlgn="b">
                        <a:buNone/>
                      </a:pPr>
                      <a:r>
                        <a:rPr lang="fr-FR" sz="1000" b="1" i="0" u="none" strike="noStrike">
                          <a:solidFill>
                            <a:srgbClr val="000000"/>
                          </a:solidFill>
                          <a:effectLst/>
                          <a:latin typeface="Aptos Narrow" panose="020B0004020202020204" pitchFamily="34" charset="0"/>
                        </a:rPr>
                        <a:t>8,0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F7B"/>
                    </a:solidFill>
                  </a:tcPr>
                </a:tc>
                <a:tc>
                  <a:txBody>
                    <a:bodyPr/>
                    <a:lstStyle/>
                    <a:p>
                      <a:pPr algn="r" fontAlgn="b">
                        <a:buNone/>
                      </a:pPr>
                      <a:r>
                        <a:rPr lang="fr-FR" sz="1000" b="1" i="0" u="none" strike="noStrike">
                          <a:solidFill>
                            <a:srgbClr val="00B050"/>
                          </a:solidFill>
                          <a:effectLst/>
                          <a:latin typeface="Aptos Narrow" panose="020B0004020202020204" pitchFamily="34" charset="0"/>
                        </a:rPr>
                        <a:t>10,3</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767799"/>
                  </a:ext>
                </a:extLst>
              </a:tr>
              <a:tr h="145045">
                <a:tc>
                  <a:txBody>
                    <a:bodyPr/>
                    <a:lstStyle/>
                    <a:p>
                      <a:pPr algn="l" fontAlgn="b">
                        <a:buNone/>
                      </a:pPr>
                      <a:r>
                        <a:rPr lang="fr-FR" sz="1000" b="0" i="0" u="none" strike="noStrike">
                          <a:solidFill>
                            <a:srgbClr val="000000"/>
                          </a:solidFill>
                          <a:effectLst/>
                          <a:latin typeface="Aptos Narrow" panose="020B0004020202020204" pitchFamily="34" charset="0"/>
                        </a:rPr>
                        <a:t> A</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10,9</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17F"/>
                    </a:solidFill>
                  </a:tcPr>
                </a:tc>
                <a:tc>
                  <a:txBody>
                    <a:bodyPr/>
                    <a:lstStyle/>
                    <a:p>
                      <a:pPr algn="r" fontAlgn="b">
                        <a:buNone/>
                      </a:pPr>
                      <a:r>
                        <a:rPr lang="fr-FR" sz="1000" b="0" i="0" u="none" strike="noStrike">
                          <a:solidFill>
                            <a:srgbClr val="000000"/>
                          </a:solidFill>
                          <a:effectLst/>
                          <a:latin typeface="Aptos Narrow" panose="020B0004020202020204" pitchFamily="34" charset="0"/>
                        </a:rPr>
                        <a:t>-1,4</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470"/>
                    </a:solidFill>
                  </a:tcPr>
                </a:tc>
                <a:tc>
                  <a:txBody>
                    <a:bodyPr/>
                    <a:lstStyle/>
                    <a:p>
                      <a:pPr algn="r" fontAlgn="b">
                        <a:buNone/>
                      </a:pPr>
                      <a:r>
                        <a:rPr lang="fr-FR" sz="1000" b="0" i="0" u="none" strike="noStrike">
                          <a:solidFill>
                            <a:srgbClr val="00B050"/>
                          </a:solidFill>
                          <a:effectLst/>
                          <a:latin typeface="Aptos Narrow" panose="020B0004020202020204" pitchFamily="34" charset="0"/>
                        </a:rPr>
                        <a:t>12,3</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33035405"/>
                  </a:ext>
                </a:extLst>
              </a:tr>
              <a:tr h="145045">
                <a:tc>
                  <a:txBody>
                    <a:bodyPr/>
                    <a:lstStyle/>
                    <a:p>
                      <a:pPr algn="l" fontAlgn="b">
                        <a:buNone/>
                      </a:pPr>
                      <a:r>
                        <a:rPr lang="fr-FR" sz="1000" b="0" i="0" u="none" strike="noStrike">
                          <a:solidFill>
                            <a:srgbClr val="000000"/>
                          </a:solidFill>
                          <a:effectLst/>
                          <a:latin typeface="Aptos Narrow" panose="020B0004020202020204" pitchFamily="34" charset="0"/>
                        </a:rPr>
                        <a:t> R</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17,5</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4E884"/>
                    </a:solidFill>
                  </a:tcPr>
                </a:tc>
                <a:tc>
                  <a:txBody>
                    <a:bodyPr/>
                    <a:lstStyle/>
                    <a:p>
                      <a:pPr algn="r" fontAlgn="b">
                        <a:buNone/>
                      </a:pPr>
                      <a:r>
                        <a:rPr lang="fr-FR" sz="1000" b="0" i="0" u="none" strike="noStrike">
                          <a:solidFill>
                            <a:srgbClr val="000000"/>
                          </a:solidFill>
                          <a:effectLst/>
                          <a:latin typeface="Aptos Narrow" panose="020B0004020202020204" pitchFamily="34" charset="0"/>
                        </a:rPr>
                        <a:t>9,7</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A7D"/>
                    </a:solidFill>
                  </a:tcPr>
                </a:tc>
                <a:tc>
                  <a:txBody>
                    <a:bodyPr/>
                    <a:lstStyle/>
                    <a:p>
                      <a:pPr algn="r" fontAlgn="b">
                        <a:buNone/>
                      </a:pPr>
                      <a:r>
                        <a:rPr lang="fr-FR" sz="1000" b="0" i="0" u="none" strike="noStrike">
                          <a:solidFill>
                            <a:srgbClr val="00B050"/>
                          </a:solidFill>
                          <a:effectLst/>
                          <a:latin typeface="Aptos Narrow" panose="020B0004020202020204" pitchFamily="34" charset="0"/>
                        </a:rPr>
                        <a:t>7,8</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03478610"/>
                  </a:ext>
                </a:extLst>
              </a:tr>
              <a:tr h="145045">
                <a:tc>
                  <a:txBody>
                    <a:bodyPr/>
                    <a:lstStyle/>
                    <a:p>
                      <a:pPr algn="l" fontAlgn="b">
                        <a:buNone/>
                      </a:pPr>
                      <a:r>
                        <a:rPr lang="fr-FR" sz="1000" b="0" i="0" u="none" strike="noStrike">
                          <a:solidFill>
                            <a:srgbClr val="000000"/>
                          </a:solidFill>
                          <a:effectLst/>
                          <a:latin typeface="Aptos Narrow" panose="020B0004020202020204" pitchFamily="34" charset="0"/>
                        </a:rPr>
                        <a:t> T</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19,8</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BE583"/>
                    </a:solidFill>
                  </a:tcPr>
                </a:tc>
                <a:tc>
                  <a:txBody>
                    <a:bodyPr/>
                    <a:lstStyle/>
                    <a:p>
                      <a:pPr algn="r" fontAlgn="b">
                        <a:buNone/>
                      </a:pPr>
                      <a:r>
                        <a:rPr lang="fr-FR" sz="1000" b="0" i="0" u="none" strike="noStrike">
                          <a:solidFill>
                            <a:srgbClr val="000000"/>
                          </a:solidFill>
                          <a:effectLst/>
                          <a:latin typeface="Aptos Narrow" panose="020B0004020202020204" pitchFamily="34" charset="0"/>
                        </a:rPr>
                        <a:t>7,9</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E7B"/>
                    </a:solidFill>
                  </a:tcPr>
                </a:tc>
                <a:tc>
                  <a:txBody>
                    <a:bodyPr/>
                    <a:lstStyle/>
                    <a:p>
                      <a:pPr algn="r" fontAlgn="b">
                        <a:buNone/>
                      </a:pPr>
                      <a:r>
                        <a:rPr lang="fr-FR" sz="1000" b="0" i="0" u="none" strike="noStrike">
                          <a:solidFill>
                            <a:srgbClr val="00B050"/>
                          </a:solidFill>
                          <a:effectLst/>
                          <a:latin typeface="Aptos Narrow" panose="020B0004020202020204" pitchFamily="34" charset="0"/>
                        </a:rPr>
                        <a:t>11,9</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41036315"/>
                  </a:ext>
                </a:extLst>
              </a:tr>
            </a:tbl>
          </a:graphicData>
        </a:graphic>
      </p:graphicFrame>
      <p:graphicFrame>
        <p:nvGraphicFramePr>
          <p:cNvPr id="10" name="Table 9">
            <a:extLst>
              <a:ext uri="{FF2B5EF4-FFF2-40B4-BE49-F238E27FC236}">
                <a16:creationId xmlns:a16="http://schemas.microsoft.com/office/drawing/2014/main" id="{3A539A0E-650E-05CF-2D2A-B61728F76358}"/>
              </a:ext>
            </a:extLst>
          </p:cNvPr>
          <p:cNvGraphicFramePr>
            <a:graphicFrameLocks noGrp="1"/>
          </p:cNvGraphicFramePr>
          <p:nvPr/>
        </p:nvGraphicFramePr>
        <p:xfrm>
          <a:off x="3913270" y="3399886"/>
          <a:ext cx="3020930" cy="2675834"/>
        </p:xfrm>
        <a:graphic>
          <a:graphicData uri="http://schemas.openxmlformats.org/drawingml/2006/table">
            <a:tbl>
              <a:tblPr/>
              <a:tblGrid>
                <a:gridCol w="1580486">
                  <a:extLst>
                    <a:ext uri="{9D8B030D-6E8A-4147-A177-3AD203B41FA5}">
                      <a16:colId xmlns:a16="http://schemas.microsoft.com/office/drawing/2014/main" val="203743052"/>
                    </a:ext>
                  </a:extLst>
                </a:gridCol>
                <a:gridCol w="480148">
                  <a:extLst>
                    <a:ext uri="{9D8B030D-6E8A-4147-A177-3AD203B41FA5}">
                      <a16:colId xmlns:a16="http://schemas.microsoft.com/office/drawing/2014/main" val="3715701956"/>
                    </a:ext>
                  </a:extLst>
                </a:gridCol>
                <a:gridCol w="480148">
                  <a:extLst>
                    <a:ext uri="{9D8B030D-6E8A-4147-A177-3AD203B41FA5}">
                      <a16:colId xmlns:a16="http://schemas.microsoft.com/office/drawing/2014/main" val="2125844000"/>
                    </a:ext>
                  </a:extLst>
                </a:gridCol>
                <a:gridCol w="480148">
                  <a:extLst>
                    <a:ext uri="{9D8B030D-6E8A-4147-A177-3AD203B41FA5}">
                      <a16:colId xmlns:a16="http://schemas.microsoft.com/office/drawing/2014/main" val="357532257"/>
                    </a:ext>
                  </a:extLst>
                </a:gridCol>
              </a:tblGrid>
              <a:tr h="145045">
                <a:tc>
                  <a:txBody>
                    <a:bodyPr/>
                    <a:lstStyle/>
                    <a:p>
                      <a:pPr algn="l" fontAlgn="b">
                        <a:buNone/>
                      </a:pPr>
                      <a:endParaRPr lang="fr-FR" sz="1000" b="0" i="0" u="none" strike="noStrike">
                        <a:solidFill>
                          <a:srgbClr val="000000"/>
                        </a:solidFill>
                        <a:effectLst/>
                        <a:latin typeface="Aptos Narrow" panose="020B0004020202020204" pitchFamily="34" charset="0"/>
                      </a:endParaRP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FY25</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FY24</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Evol </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73890673"/>
                  </a:ext>
                </a:extLst>
              </a:tr>
              <a:tr h="145045">
                <a:tc>
                  <a:txBody>
                    <a:bodyPr/>
                    <a:lstStyle/>
                    <a:p>
                      <a:pPr algn="l" fontAlgn="b">
                        <a:buNone/>
                      </a:pPr>
                      <a:r>
                        <a:rPr lang="fr-FR" sz="1000" b="1" i="0" u="none" strike="noStrike">
                          <a:solidFill>
                            <a:srgbClr val="000000"/>
                          </a:solidFill>
                          <a:effectLst/>
                          <a:latin typeface="Aptos Narrow" panose="020B0004020202020204" pitchFamily="34" charset="0"/>
                        </a:rPr>
                        <a:t>Les Hauts de Bruyères</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15,2</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B84"/>
                    </a:solidFill>
                  </a:tcPr>
                </a:tc>
                <a:tc>
                  <a:txBody>
                    <a:bodyPr/>
                    <a:lstStyle/>
                    <a:p>
                      <a:pPr algn="r" fontAlgn="b">
                        <a:buNone/>
                      </a:pPr>
                      <a:r>
                        <a:rPr lang="fr-FR" sz="1000" b="1" i="0" u="none" strike="noStrike">
                          <a:solidFill>
                            <a:srgbClr val="000000"/>
                          </a:solidFill>
                          <a:effectLst/>
                          <a:latin typeface="Aptos Narrow" panose="020B0004020202020204" pitchFamily="34" charset="0"/>
                        </a:rPr>
                        <a:t>9,0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57C"/>
                    </a:solidFill>
                  </a:tcPr>
                </a:tc>
                <a:tc>
                  <a:txBody>
                    <a:bodyPr/>
                    <a:lstStyle/>
                    <a:p>
                      <a:pPr algn="r" fontAlgn="b">
                        <a:buNone/>
                      </a:pPr>
                      <a:r>
                        <a:rPr lang="fr-FR" sz="1000" b="1" i="0" u="none" strike="noStrike">
                          <a:solidFill>
                            <a:srgbClr val="00B050"/>
                          </a:solidFill>
                          <a:effectLst/>
                          <a:latin typeface="Aptos Narrow" panose="020B0004020202020204" pitchFamily="34" charset="0"/>
                        </a:rPr>
                        <a:t>6,2</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46876542"/>
                  </a:ext>
                </a:extLst>
              </a:tr>
              <a:tr h="145045">
                <a:tc>
                  <a:txBody>
                    <a:bodyPr/>
                    <a:lstStyle/>
                    <a:p>
                      <a:pPr algn="l" fontAlgn="b">
                        <a:buNone/>
                      </a:pPr>
                      <a:r>
                        <a:rPr lang="fr-FR" sz="1000" b="0" i="0" u="none" strike="noStrike">
                          <a:solidFill>
                            <a:srgbClr val="000000"/>
                          </a:solidFill>
                          <a:effectLst/>
                          <a:latin typeface="Aptos Narrow" panose="020B0004020202020204" pitchFamily="34" charset="0"/>
                        </a:rPr>
                        <a:t> A</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13,8</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382"/>
                    </a:solidFill>
                  </a:tcPr>
                </a:tc>
                <a:tc>
                  <a:txBody>
                    <a:bodyPr/>
                    <a:lstStyle/>
                    <a:p>
                      <a:pPr algn="r" fontAlgn="b">
                        <a:buNone/>
                      </a:pPr>
                      <a:r>
                        <a:rPr lang="fr-FR" sz="1000" b="0" i="0" u="none" strike="noStrike">
                          <a:solidFill>
                            <a:srgbClr val="000000"/>
                          </a:solidFill>
                          <a:effectLst/>
                          <a:latin typeface="Aptos Narrow" panose="020B0004020202020204" pitchFamily="34" charset="0"/>
                        </a:rPr>
                        <a:t>1,0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373"/>
                    </a:solidFill>
                  </a:tcPr>
                </a:tc>
                <a:tc>
                  <a:txBody>
                    <a:bodyPr/>
                    <a:lstStyle/>
                    <a:p>
                      <a:pPr algn="r" fontAlgn="b">
                        <a:buNone/>
                      </a:pPr>
                      <a:r>
                        <a:rPr lang="fr-FR" sz="1000" b="0" i="0" u="none" strike="noStrike">
                          <a:solidFill>
                            <a:srgbClr val="00B050"/>
                          </a:solidFill>
                          <a:effectLst/>
                          <a:latin typeface="Aptos Narrow" panose="020B0004020202020204" pitchFamily="34" charset="0"/>
                        </a:rPr>
                        <a:t>12,7</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96586088"/>
                  </a:ext>
                </a:extLst>
              </a:tr>
              <a:tr h="145045">
                <a:tc>
                  <a:txBody>
                    <a:bodyPr/>
                    <a:lstStyle/>
                    <a:p>
                      <a:pPr algn="l" fontAlgn="b">
                        <a:buNone/>
                      </a:pPr>
                      <a:r>
                        <a:rPr lang="fr-FR" sz="1000" b="0" i="0" u="none" strike="noStrike">
                          <a:solidFill>
                            <a:srgbClr val="000000"/>
                          </a:solidFill>
                          <a:effectLst/>
                          <a:latin typeface="Aptos Narrow" panose="020B0004020202020204" pitchFamily="34" charset="0"/>
                        </a:rPr>
                        <a:t> R</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14,7</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983"/>
                    </a:solidFill>
                  </a:tcPr>
                </a:tc>
                <a:tc>
                  <a:txBody>
                    <a:bodyPr/>
                    <a:lstStyle/>
                    <a:p>
                      <a:pPr algn="r" fontAlgn="b">
                        <a:buNone/>
                      </a:pPr>
                      <a:r>
                        <a:rPr lang="fr-FR" sz="1000" b="0" i="0" u="none" strike="noStrike">
                          <a:solidFill>
                            <a:srgbClr val="000000"/>
                          </a:solidFill>
                          <a:effectLst/>
                          <a:latin typeface="Aptos Narrow" panose="020B0004020202020204" pitchFamily="34" charset="0"/>
                        </a:rPr>
                        <a:t>11,3</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37F"/>
                    </a:solidFill>
                  </a:tcPr>
                </a:tc>
                <a:tc>
                  <a:txBody>
                    <a:bodyPr/>
                    <a:lstStyle/>
                    <a:p>
                      <a:pPr algn="r" fontAlgn="b">
                        <a:buNone/>
                      </a:pPr>
                      <a:r>
                        <a:rPr lang="fr-FR" sz="1000" b="0" i="0" u="none" strike="noStrike">
                          <a:solidFill>
                            <a:srgbClr val="00B050"/>
                          </a:solidFill>
                          <a:effectLst/>
                          <a:latin typeface="Aptos Narrow" panose="020B0004020202020204" pitchFamily="34" charset="0"/>
                        </a:rPr>
                        <a:t>3,4</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24862106"/>
                  </a:ext>
                </a:extLst>
              </a:tr>
              <a:tr h="145045">
                <a:tc>
                  <a:txBody>
                    <a:bodyPr/>
                    <a:lstStyle/>
                    <a:p>
                      <a:pPr algn="l" fontAlgn="b">
                        <a:buNone/>
                      </a:pPr>
                      <a:r>
                        <a:rPr lang="fr-FR" sz="1000" b="0" i="0" u="none" strike="noStrike">
                          <a:solidFill>
                            <a:srgbClr val="000000"/>
                          </a:solidFill>
                          <a:effectLst/>
                          <a:latin typeface="Aptos Narrow" panose="020B0004020202020204" pitchFamily="34" charset="0"/>
                        </a:rPr>
                        <a:t> T</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15,8</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EA84"/>
                    </a:solidFill>
                  </a:tcPr>
                </a:tc>
                <a:tc>
                  <a:txBody>
                    <a:bodyPr/>
                    <a:lstStyle/>
                    <a:p>
                      <a:pPr algn="r" fontAlgn="b">
                        <a:buNone/>
                      </a:pPr>
                      <a:r>
                        <a:rPr lang="fr-FR" sz="1000" b="0" i="0" u="none" strike="noStrike">
                          <a:solidFill>
                            <a:srgbClr val="000000"/>
                          </a:solidFill>
                          <a:effectLst/>
                          <a:latin typeface="Aptos Narrow" panose="020B0004020202020204" pitchFamily="34" charset="0"/>
                        </a:rPr>
                        <a:t>8,2</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07B"/>
                    </a:solidFill>
                  </a:tcPr>
                </a:tc>
                <a:tc>
                  <a:txBody>
                    <a:bodyPr/>
                    <a:lstStyle/>
                    <a:p>
                      <a:pPr algn="r" fontAlgn="b">
                        <a:buNone/>
                      </a:pPr>
                      <a:r>
                        <a:rPr lang="fr-FR" sz="1000" b="0" i="0" u="none" strike="noStrike">
                          <a:solidFill>
                            <a:srgbClr val="00B050"/>
                          </a:solidFill>
                          <a:effectLst/>
                          <a:latin typeface="Aptos Narrow" panose="020B0004020202020204" pitchFamily="34" charset="0"/>
                        </a:rPr>
                        <a:t>7,6</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22426222"/>
                  </a:ext>
                </a:extLst>
              </a:tr>
              <a:tr h="145045">
                <a:tc>
                  <a:txBody>
                    <a:bodyPr/>
                    <a:lstStyle/>
                    <a:p>
                      <a:pPr algn="l" fontAlgn="b">
                        <a:buNone/>
                      </a:pPr>
                      <a:r>
                        <a:rPr lang="fr-FR" sz="1000" b="1" i="0" u="none" strike="noStrike">
                          <a:solidFill>
                            <a:srgbClr val="000000"/>
                          </a:solidFill>
                          <a:effectLst/>
                          <a:latin typeface="Aptos Narrow" panose="020B0004020202020204" pitchFamily="34" charset="0"/>
                        </a:rPr>
                        <a:t>Les Landes de Gascogne</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48,5</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EC27C"/>
                    </a:solidFill>
                  </a:tcPr>
                </a:tc>
                <a:tc>
                  <a:txBody>
                    <a:bodyPr/>
                    <a:lstStyle/>
                    <a:p>
                      <a:pPr algn="r" fontAlgn="b">
                        <a:buNone/>
                      </a:pPr>
                      <a:r>
                        <a:rPr lang="fr-FR" sz="1000" b="1" i="0" u="none" strike="noStrike">
                          <a:solidFill>
                            <a:srgbClr val="000000"/>
                          </a:solidFill>
                          <a:effectLst/>
                          <a:latin typeface="Aptos Narrow" panose="020B0004020202020204" pitchFamily="34" charset="0"/>
                        </a:rPr>
                        <a:t>41,1</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FCB7E"/>
                    </a:solidFill>
                  </a:tcPr>
                </a:tc>
                <a:tc>
                  <a:txBody>
                    <a:bodyPr/>
                    <a:lstStyle/>
                    <a:p>
                      <a:pPr algn="r" fontAlgn="b">
                        <a:buNone/>
                      </a:pPr>
                      <a:r>
                        <a:rPr lang="fr-FR" sz="1000" b="1" i="0" u="none" strike="noStrike">
                          <a:solidFill>
                            <a:srgbClr val="00B050"/>
                          </a:solidFill>
                          <a:effectLst/>
                          <a:latin typeface="Aptos Narrow" panose="020B0004020202020204" pitchFamily="34" charset="0"/>
                        </a:rPr>
                        <a:t>7,4</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10272280"/>
                  </a:ext>
                </a:extLst>
              </a:tr>
              <a:tr h="145045">
                <a:tc>
                  <a:txBody>
                    <a:bodyPr/>
                    <a:lstStyle/>
                    <a:p>
                      <a:pPr algn="l" fontAlgn="b">
                        <a:buNone/>
                      </a:pPr>
                      <a:r>
                        <a:rPr lang="fr-FR" sz="1000" b="0" i="0" u="none" strike="noStrike">
                          <a:solidFill>
                            <a:srgbClr val="000000"/>
                          </a:solidFill>
                          <a:effectLst/>
                          <a:latin typeface="Aptos Narrow" panose="020B0004020202020204" pitchFamily="34" charset="0"/>
                        </a:rPr>
                        <a:t> A</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29,2</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2DA81"/>
                    </a:solidFill>
                  </a:tcPr>
                </a:tc>
                <a:tc>
                  <a:txBody>
                    <a:bodyPr/>
                    <a:lstStyle/>
                    <a:p>
                      <a:pPr algn="r" fontAlgn="b">
                        <a:buNone/>
                      </a:pPr>
                      <a:r>
                        <a:rPr lang="fr-FR" sz="1000" b="0" i="0" u="none" strike="noStrike">
                          <a:solidFill>
                            <a:srgbClr val="000000"/>
                          </a:solidFill>
                          <a:effectLst/>
                          <a:latin typeface="Aptos Narrow" panose="020B0004020202020204" pitchFamily="34" charset="0"/>
                        </a:rPr>
                        <a:t>23,8</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9E082"/>
                    </a:solidFill>
                  </a:tcPr>
                </a:tc>
                <a:tc>
                  <a:txBody>
                    <a:bodyPr/>
                    <a:lstStyle/>
                    <a:p>
                      <a:pPr algn="r" fontAlgn="b">
                        <a:buNone/>
                      </a:pPr>
                      <a:r>
                        <a:rPr lang="fr-FR" sz="1000" b="0" i="0" u="none" strike="noStrike">
                          <a:solidFill>
                            <a:srgbClr val="00B050"/>
                          </a:solidFill>
                          <a:effectLst/>
                          <a:latin typeface="Aptos Narrow" panose="020B0004020202020204" pitchFamily="34" charset="0"/>
                        </a:rPr>
                        <a:t>5,4</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83138348"/>
                  </a:ext>
                </a:extLst>
              </a:tr>
              <a:tr h="145045">
                <a:tc>
                  <a:txBody>
                    <a:bodyPr/>
                    <a:lstStyle/>
                    <a:p>
                      <a:pPr algn="l" fontAlgn="b">
                        <a:buNone/>
                      </a:pPr>
                      <a:r>
                        <a:rPr lang="fr-FR" sz="1000" b="0" i="0" u="none" strike="noStrike">
                          <a:solidFill>
                            <a:srgbClr val="000000"/>
                          </a:solidFill>
                          <a:effectLst/>
                          <a:latin typeface="Aptos Narrow" panose="020B0004020202020204" pitchFamily="34" charset="0"/>
                        </a:rPr>
                        <a:t> R</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46,5</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7C47D"/>
                    </a:solidFill>
                  </a:tcPr>
                </a:tc>
                <a:tc>
                  <a:txBody>
                    <a:bodyPr/>
                    <a:lstStyle/>
                    <a:p>
                      <a:pPr algn="r" fontAlgn="b">
                        <a:buNone/>
                      </a:pPr>
                      <a:r>
                        <a:rPr lang="fr-FR" sz="1000" b="0" i="0" u="none" strike="noStrike">
                          <a:solidFill>
                            <a:srgbClr val="000000"/>
                          </a:solidFill>
                          <a:effectLst/>
                          <a:latin typeface="Aptos Narrow" panose="020B0004020202020204" pitchFamily="34" charset="0"/>
                        </a:rPr>
                        <a:t>39,8</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4CC7E"/>
                    </a:solidFill>
                  </a:tcPr>
                </a:tc>
                <a:tc>
                  <a:txBody>
                    <a:bodyPr/>
                    <a:lstStyle/>
                    <a:p>
                      <a:pPr algn="r" fontAlgn="b">
                        <a:buNone/>
                      </a:pPr>
                      <a:r>
                        <a:rPr lang="fr-FR" sz="1000" b="0" i="0" u="none" strike="noStrike">
                          <a:solidFill>
                            <a:srgbClr val="00B050"/>
                          </a:solidFill>
                          <a:effectLst/>
                          <a:latin typeface="Aptos Narrow" panose="020B0004020202020204" pitchFamily="34" charset="0"/>
                        </a:rPr>
                        <a:t>6,7</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5463922"/>
                  </a:ext>
                </a:extLst>
              </a:tr>
              <a:tr h="145045">
                <a:tc>
                  <a:txBody>
                    <a:bodyPr/>
                    <a:lstStyle/>
                    <a:p>
                      <a:pPr algn="l" fontAlgn="b">
                        <a:buNone/>
                      </a:pPr>
                      <a:r>
                        <a:rPr lang="fr-FR" sz="1000" b="0" i="0" u="none" strike="noStrike">
                          <a:solidFill>
                            <a:srgbClr val="000000"/>
                          </a:solidFill>
                          <a:effectLst/>
                          <a:latin typeface="Aptos Narrow" panose="020B0004020202020204" pitchFamily="34" charset="0"/>
                        </a:rPr>
                        <a:t> T</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51,0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1000" b="0" i="0" u="none" strike="noStrike">
                          <a:solidFill>
                            <a:srgbClr val="000000"/>
                          </a:solidFill>
                          <a:effectLst/>
                          <a:latin typeface="Aptos Narrow" panose="020B0004020202020204" pitchFamily="34" charset="0"/>
                        </a:rPr>
                        <a:t>43,5</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4C87D"/>
                    </a:solidFill>
                  </a:tcPr>
                </a:tc>
                <a:tc>
                  <a:txBody>
                    <a:bodyPr/>
                    <a:lstStyle/>
                    <a:p>
                      <a:pPr algn="r" fontAlgn="b">
                        <a:buNone/>
                      </a:pPr>
                      <a:r>
                        <a:rPr lang="fr-FR" sz="1000" b="0" i="0" u="none" strike="noStrike">
                          <a:solidFill>
                            <a:srgbClr val="00B050"/>
                          </a:solidFill>
                          <a:effectLst/>
                          <a:latin typeface="Aptos Narrow" panose="020B0004020202020204" pitchFamily="34" charset="0"/>
                        </a:rPr>
                        <a:t>7,6</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2065798"/>
                  </a:ext>
                </a:extLst>
              </a:tr>
              <a:tr h="145045">
                <a:tc>
                  <a:txBody>
                    <a:bodyPr/>
                    <a:lstStyle/>
                    <a:p>
                      <a:pPr algn="l" fontAlgn="b">
                        <a:buNone/>
                      </a:pPr>
                      <a:r>
                        <a:rPr lang="fr-FR" sz="1000" b="1" i="0" u="none" strike="noStrike">
                          <a:solidFill>
                            <a:srgbClr val="000000"/>
                          </a:solidFill>
                          <a:effectLst/>
                          <a:latin typeface="Aptos Narrow" panose="020B0004020202020204" pitchFamily="34" charset="0"/>
                        </a:rPr>
                        <a:t>Les Trois Forêts</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27,2</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ADC81"/>
                    </a:solidFill>
                  </a:tcPr>
                </a:tc>
                <a:tc>
                  <a:txBody>
                    <a:bodyPr/>
                    <a:lstStyle/>
                    <a:p>
                      <a:pPr algn="r" fontAlgn="b">
                        <a:buNone/>
                      </a:pPr>
                      <a:r>
                        <a:rPr lang="fr-FR" sz="1000" b="1" i="0" u="none" strike="noStrike">
                          <a:solidFill>
                            <a:srgbClr val="000000"/>
                          </a:solidFill>
                          <a:effectLst/>
                          <a:latin typeface="Aptos Narrow" panose="020B0004020202020204" pitchFamily="34" charset="0"/>
                        </a:rPr>
                        <a:t>18,9</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EE784"/>
                    </a:solidFill>
                  </a:tcPr>
                </a:tc>
                <a:tc>
                  <a:txBody>
                    <a:bodyPr/>
                    <a:lstStyle/>
                    <a:p>
                      <a:pPr algn="r" fontAlgn="b">
                        <a:buNone/>
                      </a:pPr>
                      <a:r>
                        <a:rPr lang="fr-FR" sz="1000" b="1" i="0" u="none" strike="noStrike">
                          <a:solidFill>
                            <a:srgbClr val="00B050"/>
                          </a:solidFill>
                          <a:effectLst/>
                          <a:latin typeface="Aptos Narrow" panose="020B0004020202020204" pitchFamily="34" charset="0"/>
                        </a:rPr>
                        <a:t>8,3</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52619742"/>
                  </a:ext>
                </a:extLst>
              </a:tr>
              <a:tr h="145045">
                <a:tc>
                  <a:txBody>
                    <a:bodyPr/>
                    <a:lstStyle/>
                    <a:p>
                      <a:pPr algn="l" fontAlgn="b">
                        <a:buNone/>
                      </a:pPr>
                      <a:r>
                        <a:rPr lang="fr-FR" sz="1000" b="0" i="0" u="none" strike="noStrike">
                          <a:solidFill>
                            <a:srgbClr val="000000"/>
                          </a:solidFill>
                          <a:effectLst/>
                          <a:latin typeface="Aptos Narrow" panose="020B0004020202020204" pitchFamily="34" charset="0"/>
                        </a:rPr>
                        <a:t> A</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19,9</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AE583"/>
                    </a:solidFill>
                  </a:tcPr>
                </a:tc>
                <a:tc>
                  <a:txBody>
                    <a:bodyPr/>
                    <a:lstStyle/>
                    <a:p>
                      <a:pPr algn="r" fontAlgn="b">
                        <a:buNone/>
                      </a:pPr>
                      <a:r>
                        <a:rPr lang="fr-FR" sz="1000" b="0" i="0" u="none" strike="noStrike">
                          <a:solidFill>
                            <a:srgbClr val="000000"/>
                          </a:solidFill>
                          <a:effectLst/>
                          <a:latin typeface="Aptos Narrow" panose="020B0004020202020204" pitchFamily="34" charset="0"/>
                        </a:rPr>
                        <a:t>10,7</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07E"/>
                    </a:solidFill>
                  </a:tcPr>
                </a:tc>
                <a:tc>
                  <a:txBody>
                    <a:bodyPr/>
                    <a:lstStyle/>
                    <a:p>
                      <a:pPr algn="r" fontAlgn="b">
                        <a:buNone/>
                      </a:pPr>
                      <a:r>
                        <a:rPr lang="fr-FR" sz="1000" b="0" i="0" u="none" strike="noStrike">
                          <a:solidFill>
                            <a:srgbClr val="00B050"/>
                          </a:solidFill>
                          <a:effectLst/>
                          <a:latin typeface="Aptos Narrow" panose="020B0004020202020204" pitchFamily="34" charset="0"/>
                        </a:rPr>
                        <a:t>9,2</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96219551"/>
                  </a:ext>
                </a:extLst>
              </a:tr>
              <a:tr h="145045">
                <a:tc>
                  <a:txBody>
                    <a:bodyPr/>
                    <a:lstStyle/>
                    <a:p>
                      <a:pPr algn="l" fontAlgn="b">
                        <a:buNone/>
                      </a:pPr>
                      <a:r>
                        <a:rPr lang="fr-FR" sz="1000" b="0" i="0" u="none" strike="noStrike">
                          <a:solidFill>
                            <a:srgbClr val="000000"/>
                          </a:solidFill>
                          <a:effectLst/>
                          <a:latin typeface="Aptos Narrow" panose="020B0004020202020204" pitchFamily="34" charset="0"/>
                        </a:rPr>
                        <a:t> R</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29,4</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1D981"/>
                    </a:solidFill>
                  </a:tcPr>
                </a:tc>
                <a:tc>
                  <a:txBody>
                    <a:bodyPr/>
                    <a:lstStyle/>
                    <a:p>
                      <a:pPr algn="r" fontAlgn="b">
                        <a:buNone/>
                      </a:pPr>
                      <a:r>
                        <a:rPr lang="fr-FR" sz="1000" b="0" i="0" u="none" strike="noStrike">
                          <a:solidFill>
                            <a:srgbClr val="000000"/>
                          </a:solidFill>
                          <a:effectLst/>
                          <a:latin typeface="Aptos Narrow" panose="020B0004020202020204" pitchFamily="34" charset="0"/>
                        </a:rPr>
                        <a:t>21,5</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3E383"/>
                    </a:solidFill>
                  </a:tcPr>
                </a:tc>
                <a:tc>
                  <a:txBody>
                    <a:bodyPr/>
                    <a:lstStyle/>
                    <a:p>
                      <a:pPr algn="r" fontAlgn="b">
                        <a:buNone/>
                      </a:pPr>
                      <a:r>
                        <a:rPr lang="fr-FR" sz="1000" b="0" i="0" u="none" strike="noStrike">
                          <a:solidFill>
                            <a:srgbClr val="00B050"/>
                          </a:solidFill>
                          <a:effectLst/>
                          <a:latin typeface="Aptos Narrow" panose="020B0004020202020204" pitchFamily="34" charset="0"/>
                        </a:rPr>
                        <a:t>7,9</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36952241"/>
                  </a:ext>
                </a:extLst>
              </a:tr>
              <a:tr h="145045">
                <a:tc>
                  <a:txBody>
                    <a:bodyPr/>
                    <a:lstStyle/>
                    <a:p>
                      <a:pPr algn="l" fontAlgn="b">
                        <a:buNone/>
                      </a:pPr>
                      <a:r>
                        <a:rPr lang="fr-FR" sz="1000" b="0" i="0" u="none" strike="noStrike">
                          <a:solidFill>
                            <a:srgbClr val="000000"/>
                          </a:solidFill>
                          <a:effectLst/>
                          <a:latin typeface="Aptos Narrow" panose="020B0004020202020204" pitchFamily="34" charset="0"/>
                        </a:rPr>
                        <a:t> T</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25,4</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2DF82"/>
                    </a:solidFill>
                  </a:tcPr>
                </a:tc>
                <a:tc>
                  <a:txBody>
                    <a:bodyPr/>
                    <a:lstStyle/>
                    <a:p>
                      <a:pPr algn="r" fontAlgn="b">
                        <a:buNone/>
                      </a:pPr>
                      <a:r>
                        <a:rPr lang="fr-FR" sz="1000" b="0" i="0" u="none" strike="noStrike">
                          <a:solidFill>
                            <a:srgbClr val="000000"/>
                          </a:solidFill>
                          <a:effectLst/>
                          <a:latin typeface="Aptos Narrow" panose="020B0004020202020204" pitchFamily="34" charset="0"/>
                        </a:rPr>
                        <a:t>17,4</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5E884"/>
                    </a:solidFill>
                  </a:tcPr>
                </a:tc>
                <a:tc>
                  <a:txBody>
                    <a:bodyPr/>
                    <a:lstStyle/>
                    <a:p>
                      <a:pPr algn="r" fontAlgn="b">
                        <a:buNone/>
                      </a:pPr>
                      <a:r>
                        <a:rPr lang="fr-FR" sz="1000" b="0" i="0" u="none" strike="noStrike">
                          <a:solidFill>
                            <a:srgbClr val="00B050"/>
                          </a:solidFill>
                          <a:effectLst/>
                          <a:latin typeface="Aptos Narrow" panose="020B0004020202020204" pitchFamily="34" charset="0"/>
                        </a:rPr>
                        <a:t>8,0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30309179"/>
                  </a:ext>
                </a:extLst>
              </a:tr>
              <a:tr h="145045">
                <a:tc>
                  <a:txBody>
                    <a:bodyPr/>
                    <a:lstStyle/>
                    <a:p>
                      <a:pPr algn="l" fontAlgn="b">
                        <a:buNone/>
                      </a:pPr>
                      <a:r>
                        <a:rPr lang="fr-FR" sz="1000" b="1" i="0" u="none" strike="noStrike">
                          <a:solidFill>
                            <a:srgbClr val="000000"/>
                          </a:solidFill>
                          <a:effectLst/>
                          <a:latin typeface="Aptos Narrow" panose="020B0004020202020204" pitchFamily="34" charset="0"/>
                        </a:rPr>
                        <a:t>Villages Nature Paris</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8,8</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47C"/>
                    </a:solidFill>
                  </a:tcPr>
                </a:tc>
                <a:tc>
                  <a:txBody>
                    <a:bodyPr/>
                    <a:lstStyle/>
                    <a:p>
                      <a:pPr algn="r" fontAlgn="b">
                        <a:buNone/>
                      </a:pPr>
                      <a:r>
                        <a:rPr lang="fr-FR" sz="1000" b="1" i="0" u="none" strike="noStrike">
                          <a:solidFill>
                            <a:srgbClr val="000000"/>
                          </a:solidFill>
                          <a:effectLst/>
                          <a:latin typeface="Aptos Narrow" panose="020B0004020202020204" pitchFamily="34" charset="0"/>
                        </a:rPr>
                        <a:t>4,9</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C77"/>
                    </a:solidFill>
                  </a:tcPr>
                </a:tc>
                <a:tc>
                  <a:txBody>
                    <a:bodyPr/>
                    <a:lstStyle/>
                    <a:p>
                      <a:pPr algn="r" fontAlgn="b">
                        <a:buNone/>
                      </a:pPr>
                      <a:r>
                        <a:rPr lang="fr-FR" sz="1000" b="1" i="0" u="none" strike="noStrike">
                          <a:solidFill>
                            <a:srgbClr val="00B050"/>
                          </a:solidFill>
                          <a:effectLst/>
                          <a:latin typeface="Aptos Narrow" panose="020B0004020202020204" pitchFamily="34" charset="0"/>
                        </a:rPr>
                        <a:t>3,9</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78401584"/>
                  </a:ext>
                </a:extLst>
              </a:tr>
              <a:tr h="145045">
                <a:tc>
                  <a:txBody>
                    <a:bodyPr/>
                    <a:lstStyle/>
                    <a:p>
                      <a:pPr algn="l" fontAlgn="b">
                        <a:buNone/>
                      </a:pPr>
                      <a:r>
                        <a:rPr lang="fr-FR" sz="1000" b="0" i="0" u="none" strike="noStrike">
                          <a:solidFill>
                            <a:srgbClr val="000000"/>
                          </a:solidFill>
                          <a:effectLst/>
                          <a:latin typeface="Aptos Narrow" panose="020B0004020202020204" pitchFamily="34" charset="0"/>
                        </a:rPr>
                        <a:t> A</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-3,5</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76D"/>
                    </a:solidFill>
                  </a:tcPr>
                </a:tc>
                <a:tc>
                  <a:txBody>
                    <a:bodyPr/>
                    <a:lstStyle/>
                    <a:p>
                      <a:pPr algn="r" fontAlgn="b">
                        <a:buNone/>
                      </a:pPr>
                      <a:r>
                        <a:rPr lang="fr-FR" sz="1000" b="0" i="0" u="none" strike="noStrike">
                          <a:solidFill>
                            <a:srgbClr val="000000"/>
                          </a:solidFill>
                          <a:effectLst/>
                          <a:latin typeface="Aptos Narrow" panose="020B0004020202020204" pitchFamily="34" charset="0"/>
                        </a:rPr>
                        <a:t>-5,8</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96B"/>
                    </a:solidFill>
                  </a:tcPr>
                </a:tc>
                <a:tc>
                  <a:txBody>
                    <a:bodyPr/>
                    <a:lstStyle/>
                    <a:p>
                      <a:pPr algn="r" fontAlgn="b">
                        <a:buNone/>
                      </a:pPr>
                      <a:r>
                        <a:rPr lang="fr-FR" sz="1000" b="0" i="0" u="none" strike="noStrike">
                          <a:solidFill>
                            <a:srgbClr val="00B050"/>
                          </a:solidFill>
                          <a:effectLst/>
                          <a:latin typeface="Aptos Narrow" panose="020B0004020202020204" pitchFamily="34" charset="0"/>
                        </a:rPr>
                        <a:t>2,3</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20454395"/>
                  </a:ext>
                </a:extLst>
              </a:tr>
              <a:tr h="145045">
                <a:tc>
                  <a:txBody>
                    <a:bodyPr/>
                    <a:lstStyle/>
                    <a:p>
                      <a:pPr algn="l" fontAlgn="b">
                        <a:buNone/>
                      </a:pPr>
                      <a:r>
                        <a:rPr lang="fr-FR" sz="1000" b="0" i="0" u="none" strike="noStrike">
                          <a:solidFill>
                            <a:srgbClr val="000000"/>
                          </a:solidFill>
                          <a:effectLst/>
                          <a:latin typeface="Aptos Narrow" panose="020B0004020202020204" pitchFamily="34" charset="0"/>
                        </a:rPr>
                        <a:t> R</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7,5</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C7B"/>
                    </a:solidFill>
                  </a:tcPr>
                </a:tc>
                <a:tc>
                  <a:txBody>
                    <a:bodyPr/>
                    <a:lstStyle/>
                    <a:p>
                      <a:pPr algn="r" fontAlgn="b">
                        <a:buNone/>
                      </a:pPr>
                      <a:r>
                        <a:rPr lang="fr-FR" sz="1000" b="0" i="0" u="none" strike="noStrike">
                          <a:solidFill>
                            <a:srgbClr val="000000"/>
                          </a:solidFill>
                          <a:effectLst/>
                          <a:latin typeface="Aptos Narrow" panose="020B0004020202020204" pitchFamily="34" charset="0"/>
                        </a:rPr>
                        <a:t>4,4</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877"/>
                    </a:solidFill>
                  </a:tcPr>
                </a:tc>
                <a:tc>
                  <a:txBody>
                    <a:bodyPr/>
                    <a:lstStyle/>
                    <a:p>
                      <a:pPr algn="r" fontAlgn="b">
                        <a:buNone/>
                      </a:pPr>
                      <a:r>
                        <a:rPr lang="fr-FR" sz="1000" b="0" i="0" u="none" strike="noStrike">
                          <a:solidFill>
                            <a:srgbClr val="00B050"/>
                          </a:solidFill>
                          <a:effectLst/>
                          <a:latin typeface="Aptos Narrow" panose="020B0004020202020204" pitchFamily="34" charset="0"/>
                        </a:rPr>
                        <a:t>3,2</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34988690"/>
                  </a:ext>
                </a:extLst>
              </a:tr>
              <a:tr h="145045">
                <a:tc>
                  <a:txBody>
                    <a:bodyPr/>
                    <a:lstStyle/>
                    <a:p>
                      <a:pPr algn="l" fontAlgn="b">
                        <a:buNone/>
                      </a:pPr>
                      <a:r>
                        <a:rPr lang="fr-FR" sz="1000" b="0" i="0" u="none" strike="noStrike">
                          <a:solidFill>
                            <a:srgbClr val="000000"/>
                          </a:solidFill>
                          <a:effectLst/>
                          <a:latin typeface="Aptos Narrow" panose="020B0004020202020204" pitchFamily="34" charset="0"/>
                        </a:rPr>
                        <a:t> T</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11,5</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57F"/>
                    </a:solidFill>
                  </a:tcPr>
                </a:tc>
                <a:tc>
                  <a:txBody>
                    <a:bodyPr/>
                    <a:lstStyle/>
                    <a:p>
                      <a:pPr algn="r" fontAlgn="b">
                        <a:buNone/>
                      </a:pPr>
                      <a:r>
                        <a:rPr lang="fr-FR" sz="1000" b="0" i="0" u="none" strike="noStrike">
                          <a:solidFill>
                            <a:srgbClr val="000000"/>
                          </a:solidFill>
                          <a:effectLst/>
                          <a:latin typeface="Aptos Narrow" panose="020B0004020202020204" pitchFamily="34" charset="0"/>
                        </a:rPr>
                        <a:t>7,0</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97A"/>
                    </a:solidFill>
                  </a:tcPr>
                </a:tc>
                <a:tc>
                  <a:txBody>
                    <a:bodyPr/>
                    <a:lstStyle/>
                    <a:p>
                      <a:pPr algn="r" fontAlgn="b">
                        <a:buNone/>
                      </a:pPr>
                      <a:r>
                        <a:rPr lang="fr-FR" sz="1000" b="0" i="0" u="none" strike="noStrike">
                          <a:solidFill>
                            <a:srgbClr val="00B050"/>
                          </a:solidFill>
                          <a:effectLst/>
                          <a:latin typeface="Aptos Narrow" panose="020B0004020202020204" pitchFamily="34" charset="0"/>
                        </a:rPr>
                        <a:t>4,4</a:t>
                      </a:r>
                    </a:p>
                  </a:txBody>
                  <a:tcPr marL="5002" marR="5002" marT="500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38922904"/>
                  </a:ext>
                </a:extLst>
              </a:tr>
            </a:tbl>
          </a:graphicData>
        </a:graphic>
      </p:graphicFrame>
    </p:spTree>
    <p:extLst>
      <p:ext uri="{BB962C8B-B14F-4D97-AF65-F5344CB8AC3E}">
        <p14:creationId xmlns:p14="http://schemas.microsoft.com/office/powerpoint/2010/main" val="27427595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27C65-E55D-BE5D-F366-5C9A93D990F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4D365D-A856-9DFF-C2ED-318C38574768}"/>
              </a:ext>
            </a:extLst>
          </p:cNvPr>
          <p:cNvSpPr>
            <a:spLocks noGrp="1"/>
          </p:cNvSpPr>
          <p:nvPr>
            <p:ph type="sldNum" sz="quarter" idx="12"/>
          </p:nvPr>
        </p:nvSpPr>
        <p:spPr/>
        <p:txBody>
          <a:bodyPr/>
          <a:lstStyle/>
          <a:p>
            <a:fld id="{0D2E6A04-B99A-6C4D-8942-945F97C9E705}" type="slidenum">
              <a:rPr lang="en-US" smtClean="0"/>
              <a:pPr/>
              <a:t>59</a:t>
            </a:fld>
            <a:endParaRPr lang="en-US"/>
          </a:p>
        </p:txBody>
      </p:sp>
      <p:sp>
        <p:nvSpPr>
          <p:cNvPr id="3" name="Date Placeholder 2">
            <a:extLst>
              <a:ext uri="{FF2B5EF4-FFF2-40B4-BE49-F238E27FC236}">
                <a16:creationId xmlns:a16="http://schemas.microsoft.com/office/drawing/2014/main" id="{24D5A1A5-9B32-4EAA-3AD9-0D817CDD99E8}"/>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77568ECD-AA03-0775-1899-50A7C513FE87}"/>
              </a:ext>
            </a:extLst>
          </p:cNvPr>
          <p:cNvSpPr>
            <a:spLocks noGrp="1"/>
          </p:cNvSpPr>
          <p:nvPr>
            <p:ph type="title"/>
          </p:nvPr>
        </p:nvSpPr>
        <p:spPr/>
        <p:txBody>
          <a:bodyPr/>
          <a:lstStyle/>
          <a:p>
            <a:r>
              <a:rPr lang="fr-FR"/>
              <a:t>France – NPS per </a:t>
            </a:r>
            <a:r>
              <a:rPr lang="fr-FR" err="1"/>
              <a:t>household</a:t>
            </a:r>
            <a:r>
              <a:rPr lang="fr-FR"/>
              <a:t> structure</a:t>
            </a:r>
          </a:p>
        </p:txBody>
      </p:sp>
      <p:sp>
        <p:nvSpPr>
          <p:cNvPr id="6" name="Rechthoek 4">
            <a:extLst>
              <a:ext uri="{FF2B5EF4-FFF2-40B4-BE49-F238E27FC236}">
                <a16:creationId xmlns:a16="http://schemas.microsoft.com/office/drawing/2014/main" id="{F8AD5955-70C6-6FCA-84CE-EBC06C9FEBF0}"/>
              </a:ext>
            </a:extLst>
          </p:cNvPr>
          <p:cNvSpPr/>
          <p:nvPr/>
        </p:nvSpPr>
        <p:spPr>
          <a:xfrm>
            <a:off x="-1" y="978100"/>
            <a:ext cx="6934201" cy="1696720"/>
          </a:xfrm>
          <a:prstGeom prst="rect">
            <a:avLst/>
          </a:prstGeom>
          <a:solidFill>
            <a:schemeClr val="accent6">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accent5"/>
                </a:solidFill>
                <a:ea typeface="Calibri"/>
                <a:cs typeface="Calibri"/>
              </a:rPr>
              <a:t>Data are slightly different because a part of total booking don’t get household structure information.</a:t>
            </a:r>
          </a:p>
          <a:p>
            <a:pPr marL="720725" lvl="2" indent="-161925">
              <a:lnSpc>
                <a:spcPct val="120000"/>
              </a:lnSpc>
              <a:buFont typeface="Arial" panose="020B0604020202020204" pitchFamily="34" charset="0"/>
              <a:buChar char="•"/>
            </a:pPr>
            <a:r>
              <a:rPr lang="en-US" sz="1200" b="1">
                <a:solidFill>
                  <a:schemeClr val="accent5"/>
                </a:solidFill>
                <a:ea typeface="Calibri"/>
                <a:cs typeface="Calibri"/>
              </a:rPr>
              <a:t>French parks increased on all household structures. Only 12;17 decreased at le Lac </a:t>
            </a:r>
            <a:r>
              <a:rPr lang="en-US" sz="1200" b="1" err="1">
                <a:solidFill>
                  <a:schemeClr val="accent5"/>
                </a:solidFill>
                <a:ea typeface="Calibri"/>
                <a:cs typeface="Calibri"/>
              </a:rPr>
              <a:t>d’Ailette</a:t>
            </a:r>
            <a:endParaRPr lang="en-US" sz="1200" b="1">
              <a:solidFill>
                <a:schemeClr val="accent5"/>
              </a:solidFill>
              <a:ea typeface="Calibri"/>
              <a:cs typeface="Calibri"/>
            </a:endParaRPr>
          </a:p>
          <a:p>
            <a:pPr marL="720725" lvl="2" indent="-161925">
              <a:lnSpc>
                <a:spcPct val="120000"/>
              </a:lnSpc>
              <a:buFont typeface="Arial" panose="020B0604020202020204" pitchFamily="34" charset="0"/>
              <a:buChar char="•"/>
            </a:pPr>
            <a:r>
              <a:rPr lang="en-US" sz="1200" b="1">
                <a:solidFill>
                  <a:schemeClr val="accent5"/>
                </a:solidFill>
                <a:ea typeface="Calibri"/>
                <a:cs typeface="Calibri"/>
              </a:rPr>
              <a:t>Seniors, Young Adults 18;34 and 0;2 and 3;4 are the highest NPS.</a:t>
            </a:r>
          </a:p>
          <a:p>
            <a:pPr marL="720725" lvl="2" indent="-161925">
              <a:lnSpc>
                <a:spcPct val="120000"/>
              </a:lnSpc>
              <a:buFont typeface="Arial" panose="020B0604020202020204" pitchFamily="34" charset="0"/>
              <a:buChar char="•"/>
            </a:pPr>
            <a:r>
              <a:rPr lang="en-US" sz="1200" b="1">
                <a:solidFill>
                  <a:schemeClr val="accent5"/>
                </a:solidFill>
                <a:ea typeface="Calibri"/>
                <a:cs typeface="Calibri"/>
              </a:rPr>
              <a:t>12;17 are the lowest NPS, below average.</a:t>
            </a:r>
          </a:p>
        </p:txBody>
      </p:sp>
      <p:sp>
        <p:nvSpPr>
          <p:cNvPr id="7" name="Rectangle 6">
            <a:extLst>
              <a:ext uri="{FF2B5EF4-FFF2-40B4-BE49-F238E27FC236}">
                <a16:creationId xmlns:a16="http://schemas.microsoft.com/office/drawing/2014/main" id="{21E2AE4B-E17F-BCCA-CC5E-2AE0055482D2}"/>
              </a:ext>
            </a:extLst>
          </p:cNvPr>
          <p:cNvSpPr/>
          <p:nvPr/>
        </p:nvSpPr>
        <p:spPr>
          <a:xfrm rot="16200000">
            <a:off x="-617105" y="1646060"/>
            <a:ext cx="1656000" cy="37547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6">
                    <a:lumMod val="20000"/>
                    <a:lumOff val="80000"/>
                  </a:schemeClr>
                </a:solidFill>
                <a:ea typeface="Calibri"/>
                <a:cs typeface="Calibri"/>
              </a:rPr>
              <a:t>Analysis</a:t>
            </a:r>
            <a:endParaRPr lang="en-US" sz="1100">
              <a:solidFill>
                <a:schemeClr val="accent6">
                  <a:lumMod val="20000"/>
                  <a:lumOff val="80000"/>
                </a:schemeClr>
              </a:solidFill>
            </a:endParaRPr>
          </a:p>
        </p:txBody>
      </p:sp>
      <p:graphicFrame>
        <p:nvGraphicFramePr>
          <p:cNvPr id="8" name="Table 7">
            <a:extLst>
              <a:ext uri="{FF2B5EF4-FFF2-40B4-BE49-F238E27FC236}">
                <a16:creationId xmlns:a16="http://schemas.microsoft.com/office/drawing/2014/main" id="{0368DF36-3047-87C2-99E9-E5FFDD1B0556}"/>
              </a:ext>
            </a:extLst>
          </p:cNvPr>
          <p:cNvGraphicFramePr>
            <a:graphicFrameLocks noGrp="1"/>
          </p:cNvGraphicFramePr>
          <p:nvPr>
            <p:extLst>
              <p:ext uri="{D42A27DB-BD31-4B8C-83A1-F6EECF244321}">
                <p14:modId xmlns:p14="http://schemas.microsoft.com/office/powerpoint/2010/main" val="742877173"/>
              </p:ext>
            </p:extLst>
          </p:nvPr>
        </p:nvGraphicFramePr>
        <p:xfrm>
          <a:off x="8255000" y="1005799"/>
          <a:ext cx="3603370" cy="1892300"/>
        </p:xfrm>
        <a:graphic>
          <a:graphicData uri="http://schemas.openxmlformats.org/drawingml/2006/table">
            <a:tbl>
              <a:tblPr/>
              <a:tblGrid>
                <a:gridCol w="1726174">
                  <a:extLst>
                    <a:ext uri="{9D8B030D-6E8A-4147-A177-3AD203B41FA5}">
                      <a16:colId xmlns:a16="http://schemas.microsoft.com/office/drawing/2014/main" val="3725967551"/>
                    </a:ext>
                  </a:extLst>
                </a:gridCol>
                <a:gridCol w="625732">
                  <a:extLst>
                    <a:ext uri="{9D8B030D-6E8A-4147-A177-3AD203B41FA5}">
                      <a16:colId xmlns:a16="http://schemas.microsoft.com/office/drawing/2014/main" val="81379518"/>
                    </a:ext>
                  </a:extLst>
                </a:gridCol>
                <a:gridCol w="625732">
                  <a:extLst>
                    <a:ext uri="{9D8B030D-6E8A-4147-A177-3AD203B41FA5}">
                      <a16:colId xmlns:a16="http://schemas.microsoft.com/office/drawing/2014/main" val="3751157894"/>
                    </a:ext>
                  </a:extLst>
                </a:gridCol>
                <a:gridCol w="625732">
                  <a:extLst>
                    <a:ext uri="{9D8B030D-6E8A-4147-A177-3AD203B41FA5}">
                      <a16:colId xmlns:a16="http://schemas.microsoft.com/office/drawing/2014/main" val="3088851184"/>
                    </a:ext>
                  </a:extLst>
                </a:gridCol>
              </a:tblGrid>
              <a:tr h="149610">
                <a:tc>
                  <a:txBody>
                    <a:bodyPr/>
                    <a:lstStyle/>
                    <a:p>
                      <a:pPr algn="l" fontAlgn="b">
                        <a:buNone/>
                      </a:pPr>
                      <a:endParaRPr lang="fr-FR" sz="1200" b="0"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10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100" b="1" i="0" u="none" strike="noStrike">
                          <a:solidFill>
                            <a:srgbClr val="000000"/>
                          </a:solidFill>
                          <a:effectLst/>
                          <a:latin typeface="Aptos Narrow" panose="020B0004020202020204" pitchFamily="34" charset="0"/>
                        </a:rPr>
                        <a:t>FY24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100" b="1" i="0" u="none" strike="noStrike">
                          <a:solidFill>
                            <a:srgbClr val="000000"/>
                          </a:solidFill>
                          <a:effectLst/>
                          <a:latin typeface="Aptos Narrow" panose="020B0004020202020204" pitchFamily="34" charset="0"/>
                        </a:rPr>
                        <a:t>Evol </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03802008"/>
                  </a:ext>
                </a:extLst>
              </a:tr>
              <a:tr h="149610">
                <a:tc>
                  <a:txBody>
                    <a:bodyPr/>
                    <a:lstStyle/>
                    <a:p>
                      <a:pPr algn="l" fontAlgn="b">
                        <a:buNone/>
                      </a:pPr>
                      <a:r>
                        <a:rPr lang="fr-FR" sz="1200" b="0" i="0" u="none" strike="noStrike">
                          <a:solidFill>
                            <a:srgbClr val="000000"/>
                          </a:solidFill>
                          <a:effectLst/>
                          <a:latin typeface="Aptos Narrow" panose="020B0004020202020204" pitchFamily="34" charset="0"/>
                        </a:rPr>
                        <a:t> Seniors&gt;75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200" b="0" i="0" u="none" strike="noStrike">
                          <a:solidFill>
                            <a:srgbClr val="000000"/>
                          </a:solidFill>
                          <a:effectLst/>
                          <a:latin typeface="Aptos Narrow" panose="020B0004020202020204" pitchFamily="34" charset="0"/>
                        </a:rPr>
                        <a:t>36,5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1200" b="0" i="0" u="none" strike="noStrike">
                          <a:solidFill>
                            <a:srgbClr val="000000"/>
                          </a:solidFill>
                          <a:effectLst/>
                          <a:latin typeface="Aptos Narrow" panose="020B0004020202020204" pitchFamily="34" charset="0"/>
                        </a:rPr>
                        <a:t>27,2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8CF87"/>
                    </a:solidFill>
                  </a:tcPr>
                </a:tc>
                <a:tc>
                  <a:txBody>
                    <a:bodyPr/>
                    <a:lstStyle/>
                    <a:p>
                      <a:pPr algn="r" fontAlgn="b">
                        <a:buNone/>
                      </a:pPr>
                      <a:r>
                        <a:rPr lang="fr-FR" sz="1200" b="0" i="0" u="none" strike="noStrike">
                          <a:solidFill>
                            <a:srgbClr val="00B050"/>
                          </a:solidFill>
                          <a:effectLst/>
                          <a:latin typeface="Aptos Narrow" panose="020B0004020202020204" pitchFamily="34" charset="0"/>
                        </a:rPr>
                        <a:t>9,3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47376231"/>
                  </a:ext>
                </a:extLst>
              </a:tr>
              <a:tr h="149610">
                <a:tc>
                  <a:txBody>
                    <a:bodyPr/>
                    <a:lstStyle/>
                    <a:p>
                      <a:pPr algn="l" fontAlgn="b">
                        <a:buNone/>
                      </a:pPr>
                      <a:r>
                        <a:rPr lang="fr-FR" sz="1200" b="0" i="0" u="none" strike="noStrike">
                          <a:solidFill>
                            <a:srgbClr val="000000"/>
                          </a:solidFill>
                          <a:effectLst/>
                          <a:latin typeface="Aptos Narrow" panose="020B0004020202020204" pitchFamily="34" charset="0"/>
                        </a:rPr>
                        <a:t> Seniors active 55-74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200" b="0" i="0" u="none" strike="noStrike">
                          <a:solidFill>
                            <a:srgbClr val="000000"/>
                          </a:solidFill>
                          <a:effectLst/>
                          <a:latin typeface="Aptos Narrow" panose="020B0004020202020204" pitchFamily="34" charset="0"/>
                        </a:rPr>
                        <a:t>30,8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4C982"/>
                    </a:solidFill>
                  </a:tcPr>
                </a:tc>
                <a:tc>
                  <a:txBody>
                    <a:bodyPr/>
                    <a:lstStyle/>
                    <a:p>
                      <a:pPr algn="r" fontAlgn="b">
                        <a:buNone/>
                      </a:pPr>
                      <a:r>
                        <a:rPr lang="fr-FR" sz="1200" b="0" i="0" u="none" strike="noStrike">
                          <a:solidFill>
                            <a:srgbClr val="000000"/>
                          </a:solidFill>
                          <a:effectLst/>
                          <a:latin typeface="Aptos Narrow" panose="020B0004020202020204" pitchFamily="34" charset="0"/>
                        </a:rPr>
                        <a:t>23,8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CD58B"/>
                    </a:solidFill>
                  </a:tcPr>
                </a:tc>
                <a:tc>
                  <a:txBody>
                    <a:bodyPr/>
                    <a:lstStyle/>
                    <a:p>
                      <a:pPr algn="r" fontAlgn="b">
                        <a:buNone/>
                      </a:pPr>
                      <a:r>
                        <a:rPr lang="fr-FR" sz="1200" b="0" i="0" u="none" strike="noStrike">
                          <a:solidFill>
                            <a:srgbClr val="00B050"/>
                          </a:solidFill>
                          <a:effectLst/>
                          <a:latin typeface="Aptos Narrow" panose="020B0004020202020204" pitchFamily="34" charset="0"/>
                        </a:rPr>
                        <a:t>7,0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91079369"/>
                  </a:ext>
                </a:extLst>
              </a:tr>
              <a:tr h="149610">
                <a:tc>
                  <a:txBody>
                    <a:bodyPr/>
                    <a:lstStyle/>
                    <a:p>
                      <a:pPr algn="l" fontAlgn="b">
                        <a:buNone/>
                      </a:pPr>
                      <a:r>
                        <a:rPr lang="fr-FR" sz="1200" b="0" i="0" u="none" strike="noStrike">
                          <a:solidFill>
                            <a:srgbClr val="000000"/>
                          </a:solidFill>
                          <a:effectLst/>
                          <a:latin typeface="Aptos Narrow" panose="020B0004020202020204" pitchFamily="34" charset="0"/>
                        </a:rPr>
                        <a:t> Family with Children 3-4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200" b="0" i="0" u="none" strike="noStrike">
                          <a:solidFill>
                            <a:srgbClr val="000000"/>
                          </a:solidFill>
                          <a:effectLst/>
                          <a:latin typeface="Aptos Narrow" panose="020B0004020202020204" pitchFamily="34" charset="0"/>
                        </a:rPr>
                        <a:t>25,8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D288"/>
                    </a:solidFill>
                  </a:tcPr>
                </a:tc>
                <a:tc>
                  <a:txBody>
                    <a:bodyPr/>
                    <a:lstStyle/>
                    <a:p>
                      <a:pPr algn="r" fontAlgn="b">
                        <a:buNone/>
                      </a:pPr>
                      <a:r>
                        <a:rPr lang="fr-FR" sz="1200" b="0" i="0" u="none" strike="noStrike">
                          <a:solidFill>
                            <a:srgbClr val="000000"/>
                          </a:solidFill>
                          <a:effectLst/>
                          <a:latin typeface="Aptos Narrow" panose="020B0004020202020204" pitchFamily="34" charset="0"/>
                        </a:rPr>
                        <a:t>19,2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6DD90"/>
                    </a:solidFill>
                  </a:tcPr>
                </a:tc>
                <a:tc>
                  <a:txBody>
                    <a:bodyPr/>
                    <a:lstStyle/>
                    <a:p>
                      <a:pPr algn="r" fontAlgn="b">
                        <a:buNone/>
                      </a:pPr>
                      <a:r>
                        <a:rPr lang="fr-FR" sz="1200" b="0" i="0" u="none" strike="noStrike">
                          <a:solidFill>
                            <a:srgbClr val="00B050"/>
                          </a:solidFill>
                          <a:effectLst/>
                          <a:latin typeface="Aptos Narrow" panose="020B0004020202020204" pitchFamily="34" charset="0"/>
                        </a:rPr>
                        <a:t>6,6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73815969"/>
                  </a:ext>
                </a:extLst>
              </a:tr>
              <a:tr h="149610">
                <a:tc>
                  <a:txBody>
                    <a:bodyPr/>
                    <a:lstStyle/>
                    <a:p>
                      <a:pPr algn="l" fontAlgn="b">
                        <a:buNone/>
                      </a:pPr>
                      <a:r>
                        <a:rPr lang="fr-FR" sz="1200" b="0" i="0" u="none" strike="noStrike">
                          <a:solidFill>
                            <a:srgbClr val="000000"/>
                          </a:solidFill>
                          <a:effectLst/>
                          <a:latin typeface="Aptos Narrow" panose="020B0004020202020204" pitchFamily="34" charset="0"/>
                        </a:rPr>
                        <a:t> Young Adults 18-34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200" b="0" i="0" u="none" strike="noStrike">
                          <a:solidFill>
                            <a:srgbClr val="000000"/>
                          </a:solidFill>
                          <a:effectLst/>
                          <a:latin typeface="Aptos Narrow" panose="020B0004020202020204" pitchFamily="34" charset="0"/>
                        </a:rPr>
                        <a:t>25,3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3D389"/>
                    </a:solidFill>
                  </a:tcPr>
                </a:tc>
                <a:tc>
                  <a:txBody>
                    <a:bodyPr/>
                    <a:lstStyle/>
                    <a:p>
                      <a:pPr algn="r" fontAlgn="b">
                        <a:buNone/>
                      </a:pPr>
                      <a:r>
                        <a:rPr lang="fr-FR" sz="1200" b="0" i="0" u="none" strike="noStrike">
                          <a:solidFill>
                            <a:srgbClr val="000000"/>
                          </a:solidFill>
                          <a:effectLst/>
                          <a:latin typeface="Aptos Narrow" panose="020B0004020202020204" pitchFamily="34" charset="0"/>
                        </a:rPr>
                        <a:t>17,9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DE092"/>
                    </a:solidFill>
                  </a:tcPr>
                </a:tc>
                <a:tc>
                  <a:txBody>
                    <a:bodyPr/>
                    <a:lstStyle/>
                    <a:p>
                      <a:pPr algn="r" fontAlgn="b">
                        <a:buNone/>
                      </a:pPr>
                      <a:r>
                        <a:rPr lang="fr-FR" sz="1200" b="0" i="0" u="none" strike="noStrike">
                          <a:solidFill>
                            <a:srgbClr val="00B050"/>
                          </a:solidFill>
                          <a:effectLst/>
                          <a:latin typeface="Aptos Narrow" panose="020B0004020202020204" pitchFamily="34" charset="0"/>
                        </a:rPr>
                        <a:t>7,4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20858797"/>
                  </a:ext>
                </a:extLst>
              </a:tr>
              <a:tr h="149610">
                <a:tc>
                  <a:txBody>
                    <a:bodyPr/>
                    <a:lstStyle/>
                    <a:p>
                      <a:pPr algn="l" fontAlgn="b">
                        <a:buNone/>
                      </a:pPr>
                      <a:r>
                        <a:rPr lang="fr-FR" sz="1200" b="0" i="0" u="none" strike="noStrike">
                          <a:solidFill>
                            <a:srgbClr val="000000"/>
                          </a:solidFill>
                          <a:effectLst/>
                          <a:latin typeface="Aptos Narrow" panose="020B0004020202020204" pitchFamily="34" charset="0"/>
                        </a:rPr>
                        <a:t> Family with Children 0-2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200" b="0" i="0" u="none" strike="noStrike">
                          <a:solidFill>
                            <a:srgbClr val="000000"/>
                          </a:solidFill>
                          <a:effectLst/>
                          <a:latin typeface="Aptos Narrow" panose="020B0004020202020204" pitchFamily="34" charset="0"/>
                        </a:rPr>
                        <a:t>22,7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2D78C"/>
                    </a:solidFill>
                  </a:tcPr>
                </a:tc>
                <a:tc>
                  <a:txBody>
                    <a:bodyPr/>
                    <a:lstStyle/>
                    <a:p>
                      <a:pPr algn="r" fontAlgn="b">
                        <a:buNone/>
                      </a:pPr>
                      <a:r>
                        <a:rPr lang="fr-FR" sz="1200" b="0" i="0" u="none" strike="noStrike">
                          <a:solidFill>
                            <a:srgbClr val="000000"/>
                          </a:solidFill>
                          <a:effectLst/>
                          <a:latin typeface="Aptos Narrow" panose="020B0004020202020204" pitchFamily="34" charset="0"/>
                        </a:rPr>
                        <a:t>18,7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9DE91"/>
                    </a:solidFill>
                  </a:tcPr>
                </a:tc>
                <a:tc>
                  <a:txBody>
                    <a:bodyPr/>
                    <a:lstStyle/>
                    <a:p>
                      <a:pPr algn="r" fontAlgn="b">
                        <a:buNone/>
                      </a:pPr>
                      <a:r>
                        <a:rPr lang="fr-FR" sz="1200" b="0" i="0" u="none" strike="noStrike">
                          <a:solidFill>
                            <a:srgbClr val="00B050"/>
                          </a:solidFill>
                          <a:effectLst/>
                          <a:latin typeface="Aptos Narrow" panose="020B0004020202020204" pitchFamily="34" charset="0"/>
                        </a:rPr>
                        <a:t>4,0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96902206"/>
                  </a:ext>
                </a:extLst>
              </a:tr>
              <a:tr h="149610">
                <a:tc>
                  <a:txBody>
                    <a:bodyPr/>
                    <a:lstStyle/>
                    <a:p>
                      <a:pPr algn="l" fontAlgn="b">
                        <a:buNone/>
                      </a:pPr>
                      <a:r>
                        <a:rPr lang="fr-FR" sz="1200" b="1" i="0" u="none" strike="noStrike">
                          <a:solidFill>
                            <a:srgbClr val="000000"/>
                          </a:solidFill>
                          <a:effectLst/>
                          <a:latin typeface="Aptos Narrow" panose="020B0004020202020204" pitchFamily="34" charset="0"/>
                        </a:rPr>
                        <a:t>Total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200" b="0" i="0" u="none" strike="noStrike">
                          <a:solidFill>
                            <a:srgbClr val="000000"/>
                          </a:solidFill>
                          <a:effectLst/>
                          <a:latin typeface="Aptos Narrow" panose="020B0004020202020204" pitchFamily="34" charset="0"/>
                        </a:rPr>
                        <a:t>22,7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2D78C"/>
                    </a:solidFill>
                  </a:tcPr>
                </a:tc>
                <a:tc>
                  <a:txBody>
                    <a:bodyPr/>
                    <a:lstStyle/>
                    <a:p>
                      <a:pPr algn="r" fontAlgn="b">
                        <a:buNone/>
                      </a:pPr>
                      <a:r>
                        <a:rPr lang="fr-FR" sz="1200" b="0" i="0" u="none" strike="noStrike">
                          <a:solidFill>
                            <a:srgbClr val="000000"/>
                          </a:solidFill>
                          <a:effectLst/>
                          <a:latin typeface="Aptos Narrow" panose="020B0004020202020204" pitchFamily="34" charset="0"/>
                        </a:rPr>
                        <a:t>16,0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8E394"/>
                    </a:solidFill>
                  </a:tcPr>
                </a:tc>
                <a:tc>
                  <a:txBody>
                    <a:bodyPr/>
                    <a:lstStyle/>
                    <a:p>
                      <a:pPr algn="r" fontAlgn="b">
                        <a:buNone/>
                      </a:pPr>
                      <a:r>
                        <a:rPr lang="fr-FR" sz="1200" b="0" i="0" u="none" strike="noStrike">
                          <a:solidFill>
                            <a:srgbClr val="00B050"/>
                          </a:solidFill>
                          <a:effectLst/>
                          <a:latin typeface="Aptos Narrow" panose="020B0004020202020204" pitchFamily="34" charset="0"/>
                        </a:rPr>
                        <a:t>6,7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0268159"/>
                  </a:ext>
                </a:extLst>
              </a:tr>
              <a:tr h="149610">
                <a:tc>
                  <a:txBody>
                    <a:bodyPr/>
                    <a:lstStyle/>
                    <a:p>
                      <a:pPr algn="l" fontAlgn="b">
                        <a:buNone/>
                      </a:pPr>
                      <a:r>
                        <a:rPr lang="fr-FR" sz="1200" b="0" i="0" u="none" strike="noStrike">
                          <a:solidFill>
                            <a:srgbClr val="000000"/>
                          </a:solidFill>
                          <a:effectLst/>
                          <a:latin typeface="Aptos Narrow" panose="020B0004020202020204" pitchFamily="34" charset="0"/>
                        </a:rPr>
                        <a:t> Family </a:t>
                      </a:r>
                      <a:r>
                        <a:rPr lang="fr-FR" sz="1200" b="0" i="0" u="none" strike="noStrike" err="1">
                          <a:solidFill>
                            <a:srgbClr val="000000"/>
                          </a:solidFill>
                          <a:effectLst/>
                          <a:latin typeface="Aptos Narrow" panose="020B0004020202020204" pitchFamily="34" charset="0"/>
                        </a:rPr>
                        <a:t>with</a:t>
                      </a:r>
                      <a:r>
                        <a:rPr lang="fr-FR" sz="1200" b="0" i="0" u="none" strike="noStrike">
                          <a:solidFill>
                            <a:srgbClr val="000000"/>
                          </a:solidFill>
                          <a:effectLst/>
                          <a:latin typeface="Aptos Narrow" panose="020B0004020202020204" pitchFamily="34" charset="0"/>
                        </a:rPr>
                        <a:t> </a:t>
                      </a:r>
                      <a:r>
                        <a:rPr lang="fr-FR" sz="1200" b="0" i="0" u="none" strike="noStrike" err="1">
                          <a:solidFill>
                            <a:srgbClr val="000000"/>
                          </a:solidFill>
                          <a:effectLst/>
                          <a:latin typeface="Aptos Narrow" panose="020B0004020202020204" pitchFamily="34" charset="0"/>
                        </a:rPr>
                        <a:t>Children</a:t>
                      </a:r>
                      <a:r>
                        <a:rPr lang="fr-FR" sz="1200" b="0" i="0" u="none" strike="noStrike">
                          <a:solidFill>
                            <a:srgbClr val="000000"/>
                          </a:solidFill>
                          <a:effectLst/>
                          <a:latin typeface="Aptos Narrow" panose="020B0004020202020204" pitchFamily="34" charset="0"/>
                        </a:rPr>
                        <a:t> 5-11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200" b="0" i="0" u="none" strike="noStrike">
                          <a:solidFill>
                            <a:srgbClr val="000000"/>
                          </a:solidFill>
                          <a:effectLst/>
                          <a:latin typeface="Aptos Narrow" panose="020B0004020202020204" pitchFamily="34" charset="0"/>
                        </a:rPr>
                        <a:t>22,5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3D88C"/>
                    </a:solidFill>
                  </a:tcPr>
                </a:tc>
                <a:tc>
                  <a:txBody>
                    <a:bodyPr/>
                    <a:lstStyle/>
                    <a:p>
                      <a:pPr algn="r" fontAlgn="b">
                        <a:buNone/>
                      </a:pPr>
                      <a:r>
                        <a:rPr lang="fr-FR" sz="1200" b="0" i="0" u="none" strike="noStrike">
                          <a:solidFill>
                            <a:srgbClr val="000000"/>
                          </a:solidFill>
                          <a:effectLst/>
                          <a:latin typeface="Aptos Narrow" panose="020B0004020202020204" pitchFamily="34" charset="0"/>
                        </a:rPr>
                        <a:t>16,4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6E294"/>
                    </a:solidFill>
                  </a:tcPr>
                </a:tc>
                <a:tc>
                  <a:txBody>
                    <a:bodyPr/>
                    <a:lstStyle/>
                    <a:p>
                      <a:pPr algn="r" fontAlgn="b">
                        <a:buNone/>
                      </a:pPr>
                      <a:r>
                        <a:rPr lang="fr-FR" sz="1200" b="0" i="0" u="none" strike="noStrike">
                          <a:solidFill>
                            <a:srgbClr val="00B050"/>
                          </a:solidFill>
                          <a:effectLst/>
                          <a:latin typeface="Aptos Narrow" panose="020B0004020202020204" pitchFamily="34" charset="0"/>
                        </a:rPr>
                        <a:t>6,1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15451559"/>
                  </a:ext>
                </a:extLst>
              </a:tr>
              <a:tr h="149610">
                <a:tc>
                  <a:txBody>
                    <a:bodyPr/>
                    <a:lstStyle/>
                    <a:p>
                      <a:pPr algn="l" fontAlgn="b">
                        <a:buNone/>
                      </a:pPr>
                      <a:r>
                        <a:rPr lang="fr-FR" sz="1200" b="0" i="0" u="none" strike="noStrike">
                          <a:solidFill>
                            <a:srgbClr val="000000"/>
                          </a:solidFill>
                          <a:effectLst/>
                          <a:latin typeface="Aptos Narrow" panose="020B0004020202020204" pitchFamily="34" charset="0"/>
                        </a:rPr>
                        <a:t> Adults 35-54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200" b="0" i="0" u="none" strike="noStrike">
                          <a:solidFill>
                            <a:srgbClr val="000000"/>
                          </a:solidFill>
                          <a:effectLst/>
                          <a:latin typeface="Aptos Narrow" panose="020B0004020202020204" pitchFamily="34" charset="0"/>
                        </a:rPr>
                        <a:t>21,3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ADA8E"/>
                    </a:solidFill>
                  </a:tcPr>
                </a:tc>
                <a:tc>
                  <a:txBody>
                    <a:bodyPr/>
                    <a:lstStyle/>
                    <a:p>
                      <a:pPr algn="r" fontAlgn="b">
                        <a:buNone/>
                      </a:pPr>
                      <a:r>
                        <a:rPr lang="fr-FR" sz="1200" b="0" i="0" u="none" strike="noStrike">
                          <a:solidFill>
                            <a:srgbClr val="000000"/>
                          </a:solidFill>
                          <a:effectLst/>
                          <a:latin typeface="Aptos Narrow" panose="020B0004020202020204" pitchFamily="34" charset="0"/>
                        </a:rPr>
                        <a:t>15,1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DE595"/>
                    </a:solidFill>
                  </a:tcPr>
                </a:tc>
                <a:tc>
                  <a:txBody>
                    <a:bodyPr/>
                    <a:lstStyle/>
                    <a:p>
                      <a:pPr algn="r" fontAlgn="b">
                        <a:buNone/>
                      </a:pPr>
                      <a:r>
                        <a:rPr lang="fr-FR" sz="1200" b="0" i="0" u="none" strike="noStrike">
                          <a:solidFill>
                            <a:srgbClr val="00B050"/>
                          </a:solidFill>
                          <a:effectLst/>
                          <a:latin typeface="Aptos Narrow" panose="020B0004020202020204" pitchFamily="34" charset="0"/>
                        </a:rPr>
                        <a:t>6,2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1821689"/>
                  </a:ext>
                </a:extLst>
              </a:tr>
              <a:tr h="149610">
                <a:tc>
                  <a:txBody>
                    <a:bodyPr/>
                    <a:lstStyle/>
                    <a:p>
                      <a:pPr algn="l" fontAlgn="b">
                        <a:buNone/>
                      </a:pPr>
                      <a:r>
                        <a:rPr lang="fr-FR" sz="1200" b="0" i="0" u="none" strike="noStrike">
                          <a:solidFill>
                            <a:srgbClr val="000000"/>
                          </a:solidFill>
                          <a:effectLst/>
                          <a:latin typeface="Aptos Narrow" panose="020B0004020202020204" pitchFamily="34" charset="0"/>
                        </a:rPr>
                        <a:t> Family with Children 12-17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200" b="0" i="0" u="none" strike="noStrike">
                          <a:solidFill>
                            <a:srgbClr val="000000"/>
                          </a:solidFill>
                          <a:effectLst/>
                          <a:latin typeface="Aptos Narrow" panose="020B0004020202020204" pitchFamily="34" charset="0"/>
                        </a:rPr>
                        <a:t>16,4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6E294"/>
                    </a:solidFill>
                  </a:tcPr>
                </a:tc>
                <a:tc>
                  <a:txBody>
                    <a:bodyPr/>
                    <a:lstStyle/>
                    <a:p>
                      <a:pPr algn="r" fontAlgn="b">
                        <a:buNone/>
                      </a:pPr>
                      <a:r>
                        <a:rPr lang="fr-FR" sz="1200" b="0" i="0" u="none" strike="noStrike">
                          <a:solidFill>
                            <a:srgbClr val="000000"/>
                          </a:solidFill>
                          <a:effectLst/>
                          <a:latin typeface="Aptos Narrow" panose="020B0004020202020204" pitchFamily="34" charset="0"/>
                        </a:rPr>
                        <a:t>9,1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F9C"/>
                    </a:solidFill>
                  </a:tcPr>
                </a:tc>
                <a:tc>
                  <a:txBody>
                    <a:bodyPr/>
                    <a:lstStyle/>
                    <a:p>
                      <a:pPr algn="r" fontAlgn="b">
                        <a:buNone/>
                      </a:pPr>
                      <a:r>
                        <a:rPr lang="fr-FR" sz="1200" b="0" i="0" u="none" strike="noStrike">
                          <a:solidFill>
                            <a:srgbClr val="00B050"/>
                          </a:solidFill>
                          <a:effectLst/>
                          <a:latin typeface="Aptos Narrow" panose="020B0004020202020204" pitchFamily="34" charset="0"/>
                        </a:rPr>
                        <a:t>7,3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10196832"/>
                  </a:ext>
                </a:extLst>
              </a:tr>
            </a:tbl>
          </a:graphicData>
        </a:graphic>
      </p:graphicFrame>
      <p:graphicFrame>
        <p:nvGraphicFramePr>
          <p:cNvPr id="9" name="Table 8">
            <a:extLst>
              <a:ext uri="{FF2B5EF4-FFF2-40B4-BE49-F238E27FC236}">
                <a16:creationId xmlns:a16="http://schemas.microsoft.com/office/drawing/2014/main" id="{2AC1CDCA-FE87-EE65-C1BA-95C3C9459397}"/>
              </a:ext>
            </a:extLst>
          </p:cNvPr>
          <p:cNvGraphicFramePr>
            <a:graphicFrameLocks noGrp="1"/>
          </p:cNvGraphicFramePr>
          <p:nvPr>
            <p:extLst>
              <p:ext uri="{D42A27DB-BD31-4B8C-83A1-F6EECF244321}">
                <p14:modId xmlns:p14="http://schemas.microsoft.com/office/powerpoint/2010/main" val="4103825203"/>
              </p:ext>
            </p:extLst>
          </p:nvPr>
        </p:nvGraphicFramePr>
        <p:xfrm>
          <a:off x="210895" y="2861744"/>
          <a:ext cx="2984742" cy="2649892"/>
        </p:xfrm>
        <a:graphic>
          <a:graphicData uri="http://schemas.openxmlformats.org/drawingml/2006/table">
            <a:tbl>
              <a:tblPr/>
              <a:tblGrid>
                <a:gridCol w="1862541">
                  <a:extLst>
                    <a:ext uri="{9D8B030D-6E8A-4147-A177-3AD203B41FA5}">
                      <a16:colId xmlns:a16="http://schemas.microsoft.com/office/drawing/2014/main" val="894438441"/>
                    </a:ext>
                  </a:extLst>
                </a:gridCol>
                <a:gridCol w="374067">
                  <a:extLst>
                    <a:ext uri="{9D8B030D-6E8A-4147-A177-3AD203B41FA5}">
                      <a16:colId xmlns:a16="http://schemas.microsoft.com/office/drawing/2014/main" val="1875378815"/>
                    </a:ext>
                  </a:extLst>
                </a:gridCol>
                <a:gridCol w="374067">
                  <a:extLst>
                    <a:ext uri="{9D8B030D-6E8A-4147-A177-3AD203B41FA5}">
                      <a16:colId xmlns:a16="http://schemas.microsoft.com/office/drawing/2014/main" val="3344958042"/>
                    </a:ext>
                  </a:extLst>
                </a:gridCol>
                <a:gridCol w="374067">
                  <a:extLst>
                    <a:ext uri="{9D8B030D-6E8A-4147-A177-3AD203B41FA5}">
                      <a16:colId xmlns:a16="http://schemas.microsoft.com/office/drawing/2014/main" val="2196886729"/>
                    </a:ext>
                  </a:extLst>
                </a:gridCol>
              </a:tblGrid>
              <a:tr h="66944">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38690863"/>
                  </a:ext>
                </a:extLst>
              </a:tr>
              <a:tr h="66944">
                <a:tc>
                  <a:txBody>
                    <a:bodyPr/>
                    <a:lstStyle/>
                    <a:p>
                      <a:pPr algn="l" fontAlgn="b">
                        <a:buNone/>
                      </a:pPr>
                      <a:r>
                        <a:rPr lang="fr-FR" sz="900" b="1" i="0" u="none" strike="noStrike">
                          <a:solidFill>
                            <a:srgbClr val="000000"/>
                          </a:solidFill>
                          <a:effectLst/>
                          <a:latin typeface="Aptos Narrow" panose="020B0004020202020204" pitchFamily="34" charset="0"/>
                        </a:rPr>
                        <a:t>Le Bois aux Daims</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34,2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3DA81"/>
                    </a:solidFill>
                  </a:tcPr>
                </a:tc>
                <a:tc>
                  <a:txBody>
                    <a:bodyPr/>
                    <a:lstStyle/>
                    <a:p>
                      <a:pPr algn="r" fontAlgn="b">
                        <a:buNone/>
                      </a:pPr>
                      <a:r>
                        <a:rPr lang="fr-FR" sz="900" b="1" i="0" u="none" strike="noStrike">
                          <a:solidFill>
                            <a:srgbClr val="000000"/>
                          </a:solidFill>
                          <a:effectLst/>
                          <a:latin typeface="Aptos Narrow" panose="020B0004020202020204" pitchFamily="34" charset="0"/>
                        </a:rPr>
                        <a:t>23,4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DE683"/>
                    </a:solidFill>
                  </a:tcPr>
                </a:tc>
                <a:tc>
                  <a:txBody>
                    <a:bodyPr/>
                    <a:lstStyle/>
                    <a:p>
                      <a:pPr algn="r" fontAlgn="b">
                        <a:buNone/>
                      </a:pPr>
                      <a:r>
                        <a:rPr lang="fr-FR" sz="900" b="1" i="0" u="none" strike="noStrike">
                          <a:solidFill>
                            <a:srgbClr val="00B050"/>
                          </a:solidFill>
                          <a:effectLst/>
                          <a:latin typeface="Aptos Narrow" panose="020B0004020202020204" pitchFamily="34" charset="0"/>
                        </a:rPr>
                        <a:t>10,8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7432727"/>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Adults 35-54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32,0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CDD82"/>
                    </a:solidFill>
                  </a:tcPr>
                </a:tc>
                <a:tc>
                  <a:txBody>
                    <a:bodyPr/>
                    <a:lstStyle/>
                    <a:p>
                      <a:pPr algn="r" fontAlgn="b">
                        <a:buNone/>
                      </a:pPr>
                      <a:r>
                        <a:rPr lang="fr-FR" sz="900" b="0" i="0" u="none" strike="noStrike">
                          <a:solidFill>
                            <a:srgbClr val="000000"/>
                          </a:solidFill>
                          <a:effectLst/>
                          <a:latin typeface="Aptos Narrow" panose="020B0004020202020204" pitchFamily="34" charset="0"/>
                        </a:rPr>
                        <a:t>22,8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0E784"/>
                    </a:solidFill>
                  </a:tcPr>
                </a:tc>
                <a:tc>
                  <a:txBody>
                    <a:bodyPr/>
                    <a:lstStyle/>
                    <a:p>
                      <a:pPr algn="r" fontAlgn="b">
                        <a:buNone/>
                      </a:pPr>
                      <a:r>
                        <a:rPr lang="fr-FR" sz="900" b="0" i="0" u="none" strike="noStrike">
                          <a:solidFill>
                            <a:srgbClr val="00B050"/>
                          </a:solidFill>
                          <a:effectLst/>
                          <a:latin typeface="Aptos Narrow" panose="020B0004020202020204" pitchFamily="34" charset="0"/>
                        </a:rPr>
                        <a:t>9,2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18692341"/>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0-2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31,7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DDD82"/>
                    </a:solidFill>
                  </a:tcPr>
                </a:tc>
                <a:tc>
                  <a:txBody>
                    <a:bodyPr/>
                    <a:lstStyle/>
                    <a:p>
                      <a:pPr algn="r" fontAlgn="b">
                        <a:buNone/>
                      </a:pPr>
                      <a:r>
                        <a:rPr lang="fr-FR" sz="900" b="0" i="0" u="none" strike="noStrike">
                          <a:solidFill>
                            <a:srgbClr val="000000"/>
                          </a:solidFill>
                          <a:effectLst/>
                          <a:latin typeface="Aptos Narrow" panose="020B0004020202020204" pitchFamily="34" charset="0"/>
                        </a:rPr>
                        <a:t>27,7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CE182"/>
                    </a:solidFill>
                  </a:tcPr>
                </a:tc>
                <a:tc>
                  <a:txBody>
                    <a:bodyPr/>
                    <a:lstStyle/>
                    <a:p>
                      <a:pPr algn="r" fontAlgn="b">
                        <a:buNone/>
                      </a:pPr>
                      <a:r>
                        <a:rPr lang="fr-FR" sz="900" b="0" i="0" u="none" strike="noStrike">
                          <a:solidFill>
                            <a:srgbClr val="00B050"/>
                          </a:solidFill>
                          <a:effectLst/>
                          <a:latin typeface="Aptos Narrow" panose="020B0004020202020204" pitchFamily="34" charset="0"/>
                        </a:rPr>
                        <a:t>4,0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06404909"/>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12-17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30,7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1DE82"/>
                    </a:solidFill>
                  </a:tcPr>
                </a:tc>
                <a:tc>
                  <a:txBody>
                    <a:bodyPr/>
                    <a:lstStyle/>
                    <a:p>
                      <a:pPr algn="r" fontAlgn="b">
                        <a:buNone/>
                      </a:pPr>
                      <a:r>
                        <a:rPr lang="fr-FR" sz="900" b="0" i="0" u="none" strike="noStrike">
                          <a:solidFill>
                            <a:srgbClr val="000000"/>
                          </a:solidFill>
                          <a:effectLst/>
                          <a:latin typeface="Aptos Narrow" panose="020B0004020202020204" pitchFamily="34" charset="0"/>
                        </a:rPr>
                        <a:t>17,1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F81"/>
                    </a:solidFill>
                  </a:tcPr>
                </a:tc>
                <a:tc>
                  <a:txBody>
                    <a:bodyPr/>
                    <a:lstStyle/>
                    <a:p>
                      <a:pPr algn="r" fontAlgn="b">
                        <a:buNone/>
                      </a:pPr>
                      <a:r>
                        <a:rPr lang="fr-FR" sz="900" b="0" i="0" u="none" strike="noStrike">
                          <a:solidFill>
                            <a:srgbClr val="00B050"/>
                          </a:solidFill>
                          <a:effectLst/>
                          <a:latin typeface="Aptos Narrow" panose="020B0004020202020204" pitchFamily="34" charset="0"/>
                        </a:rPr>
                        <a:t>13,6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17219299"/>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36,5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AD780"/>
                    </a:solidFill>
                  </a:tcPr>
                </a:tc>
                <a:tc>
                  <a:txBody>
                    <a:bodyPr/>
                    <a:lstStyle/>
                    <a:p>
                      <a:pPr algn="r" fontAlgn="b">
                        <a:buNone/>
                      </a:pPr>
                      <a:r>
                        <a:rPr lang="fr-FR" sz="900" b="0" i="0" u="none" strike="noStrike">
                          <a:solidFill>
                            <a:srgbClr val="000000"/>
                          </a:solidFill>
                          <a:effectLst/>
                          <a:latin typeface="Aptos Narrow" panose="020B0004020202020204" pitchFamily="34" charset="0"/>
                        </a:rPr>
                        <a:t>27,5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DE283"/>
                    </a:solidFill>
                  </a:tcPr>
                </a:tc>
                <a:tc>
                  <a:txBody>
                    <a:bodyPr/>
                    <a:lstStyle/>
                    <a:p>
                      <a:pPr algn="r" fontAlgn="b">
                        <a:buNone/>
                      </a:pPr>
                      <a:r>
                        <a:rPr lang="fr-FR" sz="900" b="0" i="0" u="none" strike="noStrike">
                          <a:solidFill>
                            <a:srgbClr val="00B050"/>
                          </a:solidFill>
                          <a:effectLst/>
                          <a:latin typeface="Aptos Narrow" panose="020B0004020202020204" pitchFamily="34" charset="0"/>
                        </a:rPr>
                        <a:t>9,0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21656558"/>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5-11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32,8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9DC81"/>
                    </a:solidFill>
                  </a:tcPr>
                </a:tc>
                <a:tc>
                  <a:txBody>
                    <a:bodyPr/>
                    <a:lstStyle/>
                    <a:p>
                      <a:pPr algn="r" fontAlgn="b">
                        <a:buNone/>
                      </a:pPr>
                      <a:r>
                        <a:rPr lang="fr-FR" sz="900" b="0" i="0" u="none" strike="noStrike">
                          <a:solidFill>
                            <a:srgbClr val="000000"/>
                          </a:solidFill>
                          <a:effectLst/>
                          <a:latin typeface="Aptos Narrow" panose="020B0004020202020204" pitchFamily="34" charset="0"/>
                        </a:rPr>
                        <a:t>23,3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DE683"/>
                    </a:solidFill>
                  </a:tcPr>
                </a:tc>
                <a:tc>
                  <a:txBody>
                    <a:bodyPr/>
                    <a:lstStyle/>
                    <a:p>
                      <a:pPr algn="r" fontAlgn="b">
                        <a:buNone/>
                      </a:pPr>
                      <a:r>
                        <a:rPr lang="fr-FR" sz="900" b="0" i="0" u="none" strike="noStrike">
                          <a:solidFill>
                            <a:srgbClr val="00B050"/>
                          </a:solidFill>
                          <a:effectLst/>
                          <a:latin typeface="Aptos Narrow" panose="020B0004020202020204" pitchFamily="34" charset="0"/>
                        </a:rPr>
                        <a:t>9,4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01085921"/>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Seniors active 55-74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41,0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9D27F"/>
                    </a:solidFill>
                  </a:tcPr>
                </a:tc>
                <a:tc>
                  <a:txBody>
                    <a:bodyPr/>
                    <a:lstStyle/>
                    <a:p>
                      <a:pPr algn="r" fontAlgn="b">
                        <a:buNone/>
                      </a:pPr>
                      <a:r>
                        <a:rPr lang="fr-FR" sz="900" b="0" i="0" u="none" strike="noStrike">
                          <a:solidFill>
                            <a:srgbClr val="000000"/>
                          </a:solidFill>
                          <a:effectLst/>
                          <a:latin typeface="Aptos Narrow" panose="020B0004020202020204" pitchFamily="34" charset="0"/>
                        </a:rPr>
                        <a:t>27,9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BE182"/>
                    </a:solidFill>
                  </a:tcPr>
                </a:tc>
                <a:tc>
                  <a:txBody>
                    <a:bodyPr/>
                    <a:lstStyle/>
                    <a:p>
                      <a:pPr algn="r" fontAlgn="b">
                        <a:buNone/>
                      </a:pPr>
                      <a:r>
                        <a:rPr lang="fr-FR" sz="900" b="0" i="0" u="none" strike="noStrike">
                          <a:solidFill>
                            <a:srgbClr val="00B050"/>
                          </a:solidFill>
                          <a:effectLst/>
                          <a:latin typeface="Aptos Narrow" panose="020B0004020202020204" pitchFamily="34" charset="0"/>
                        </a:rPr>
                        <a:t>13,0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18173207"/>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Seniors&gt;75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47,1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1CC7E"/>
                    </a:solidFill>
                  </a:tcPr>
                </a:tc>
                <a:tc>
                  <a:txBody>
                    <a:bodyPr/>
                    <a:lstStyle/>
                    <a:p>
                      <a:pPr algn="r" fontAlgn="b">
                        <a:buNone/>
                      </a:pPr>
                      <a:r>
                        <a:rPr lang="fr-FR" sz="900" b="0" i="0" u="none" strike="noStrike">
                          <a:solidFill>
                            <a:srgbClr val="000000"/>
                          </a:solidFill>
                          <a:effectLst/>
                          <a:latin typeface="Aptos Narrow" panose="020B0004020202020204" pitchFamily="34" charset="0"/>
                        </a:rPr>
                        <a:t>34,8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1D981"/>
                    </a:solidFill>
                  </a:tcPr>
                </a:tc>
                <a:tc>
                  <a:txBody>
                    <a:bodyPr/>
                    <a:lstStyle/>
                    <a:p>
                      <a:pPr algn="r" fontAlgn="b">
                        <a:buNone/>
                      </a:pPr>
                      <a:r>
                        <a:rPr lang="fr-FR" sz="900" b="0" i="0" u="none" strike="noStrike">
                          <a:solidFill>
                            <a:srgbClr val="00B050"/>
                          </a:solidFill>
                          <a:effectLst/>
                          <a:latin typeface="Aptos Narrow" panose="020B0004020202020204" pitchFamily="34" charset="0"/>
                        </a:rPr>
                        <a:t>12,3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09859742"/>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Young Adults 18-34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38,5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3D580"/>
                    </a:solidFill>
                  </a:tcPr>
                </a:tc>
                <a:tc>
                  <a:txBody>
                    <a:bodyPr/>
                    <a:lstStyle/>
                    <a:p>
                      <a:pPr algn="r" fontAlgn="b">
                        <a:buNone/>
                      </a:pPr>
                      <a:r>
                        <a:rPr lang="fr-FR" sz="900" b="0" i="0" u="none" strike="noStrike">
                          <a:solidFill>
                            <a:srgbClr val="000000"/>
                          </a:solidFill>
                          <a:effectLst/>
                          <a:latin typeface="Aptos Narrow" panose="020B0004020202020204" pitchFamily="34" charset="0"/>
                        </a:rPr>
                        <a:t>29,7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4DF82"/>
                    </a:solidFill>
                  </a:tcPr>
                </a:tc>
                <a:tc>
                  <a:txBody>
                    <a:bodyPr/>
                    <a:lstStyle/>
                    <a:p>
                      <a:pPr algn="r" fontAlgn="b">
                        <a:buNone/>
                      </a:pPr>
                      <a:r>
                        <a:rPr lang="fr-FR" sz="900" b="0" i="0" u="none" strike="noStrike">
                          <a:solidFill>
                            <a:srgbClr val="00B050"/>
                          </a:solidFill>
                          <a:effectLst/>
                          <a:latin typeface="Aptos Narrow" panose="020B0004020202020204" pitchFamily="34" charset="0"/>
                        </a:rPr>
                        <a:t>8,7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13590201"/>
                  </a:ext>
                </a:extLst>
              </a:tr>
              <a:tr h="66944">
                <a:tc>
                  <a:txBody>
                    <a:bodyPr/>
                    <a:lstStyle/>
                    <a:p>
                      <a:pPr algn="l" fontAlgn="b">
                        <a:buNone/>
                      </a:pPr>
                      <a:r>
                        <a:rPr lang="fr-FR" sz="900" b="1" i="0" u="none" strike="noStrike">
                          <a:solidFill>
                            <a:srgbClr val="000000"/>
                          </a:solidFill>
                          <a:effectLst/>
                          <a:latin typeface="Aptos Narrow" panose="020B0004020202020204" pitchFamily="34" charset="0"/>
                        </a:rPr>
                        <a:t>Le Lac d'Ailette</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7,6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D75"/>
                    </a:solidFill>
                  </a:tcPr>
                </a:tc>
                <a:tc>
                  <a:txBody>
                    <a:bodyPr/>
                    <a:lstStyle/>
                    <a:p>
                      <a:pPr algn="r" fontAlgn="b">
                        <a:buNone/>
                      </a:pPr>
                      <a:r>
                        <a:rPr lang="fr-FR" sz="900" b="1" i="0" u="none" strike="noStrike">
                          <a:solidFill>
                            <a:srgbClr val="000000"/>
                          </a:solidFill>
                          <a:effectLst/>
                          <a:latin typeface="Aptos Narrow" panose="020B0004020202020204" pitchFamily="34" charset="0"/>
                        </a:rPr>
                        <a:t>4,9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A71"/>
                    </a:solidFill>
                  </a:tcPr>
                </a:tc>
                <a:tc>
                  <a:txBody>
                    <a:bodyPr/>
                    <a:lstStyle/>
                    <a:p>
                      <a:pPr algn="r" fontAlgn="b">
                        <a:buNone/>
                      </a:pPr>
                      <a:r>
                        <a:rPr lang="fr-FR" sz="900" b="1" i="0" u="none" strike="noStrike">
                          <a:solidFill>
                            <a:srgbClr val="00B050"/>
                          </a:solidFill>
                          <a:effectLst/>
                          <a:latin typeface="Aptos Narrow" panose="020B0004020202020204" pitchFamily="34" charset="0"/>
                        </a:rPr>
                        <a:t>2,7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74827282"/>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Adults 35-54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26F"/>
                    </a:solidFill>
                  </a:tcPr>
                </a:tc>
                <a:tc>
                  <a:txBody>
                    <a:bodyPr/>
                    <a:lstStyle/>
                    <a:p>
                      <a:pPr algn="r" fontAlgn="b">
                        <a:buNone/>
                      </a:pPr>
                      <a:r>
                        <a:rPr lang="fr-FR" sz="900" b="0" i="0" u="none" strike="noStrike">
                          <a:solidFill>
                            <a:srgbClr val="000000"/>
                          </a:solidFill>
                          <a:effectLst/>
                          <a:latin typeface="Aptos Narrow" panose="020B0004020202020204" pitchFamily="34" charset="0"/>
                        </a:rPr>
                        <a:t>1,0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F6C"/>
                    </a:solidFill>
                  </a:tcPr>
                </a:tc>
                <a:tc>
                  <a:txBody>
                    <a:bodyPr/>
                    <a:lstStyle/>
                    <a:p>
                      <a:pPr algn="r" fontAlgn="b">
                        <a:buNone/>
                      </a:pPr>
                      <a:r>
                        <a:rPr lang="fr-FR" sz="900" b="0" i="0" u="none" strike="noStrike">
                          <a:solidFill>
                            <a:srgbClr val="00B050"/>
                          </a:solidFill>
                          <a:effectLst/>
                          <a:latin typeface="Aptos Narrow" panose="020B0004020202020204" pitchFamily="34" charset="0"/>
                        </a:rPr>
                        <a:t>2,8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56940218"/>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0-2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0,7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C6B"/>
                    </a:solidFill>
                  </a:tcPr>
                </a:tc>
                <a:tc>
                  <a:txBody>
                    <a:bodyPr/>
                    <a:lstStyle/>
                    <a:p>
                      <a:pPr algn="r" fontAlgn="b">
                        <a:buNone/>
                      </a:pPr>
                      <a:r>
                        <a:rPr lang="fr-FR" sz="900" b="0" i="0" u="none" strike="noStrike">
                          <a:solidFill>
                            <a:srgbClr val="000000"/>
                          </a:solidFill>
                          <a:effectLst/>
                          <a:latin typeface="Aptos Narrow" panose="020B0004020202020204" pitchFamily="34" charset="0"/>
                        </a:rPr>
                        <a:t>3,2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7E6F"/>
                    </a:solidFill>
                  </a:tcPr>
                </a:tc>
                <a:tc>
                  <a:txBody>
                    <a:bodyPr/>
                    <a:lstStyle/>
                    <a:p>
                      <a:pPr algn="r" fontAlgn="b">
                        <a:buNone/>
                      </a:pPr>
                      <a:r>
                        <a:rPr lang="fr-FR" sz="900" b="0" i="0" u="none" strike="noStrike">
                          <a:solidFill>
                            <a:srgbClr val="FF0000"/>
                          </a:solidFill>
                          <a:effectLst/>
                          <a:latin typeface="Aptos Narrow" panose="020B0004020202020204" pitchFamily="34" charset="0"/>
                        </a:rPr>
                        <a:t>-2,6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44064711"/>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12-17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16F"/>
                    </a:solidFill>
                  </a:tcPr>
                </a:tc>
                <a:tc>
                  <a:txBody>
                    <a:bodyPr/>
                    <a:lstStyle/>
                    <a:p>
                      <a:pPr algn="r" fontAlgn="b">
                        <a:buNone/>
                      </a:pPr>
                      <a:r>
                        <a:rPr lang="fr-FR" sz="900" b="0" i="0" u="none" strike="noStrike">
                          <a:solidFill>
                            <a:srgbClr val="000000"/>
                          </a:solidFill>
                          <a:effectLst/>
                          <a:latin typeface="Aptos Narrow" panose="020B0004020202020204" pitchFamily="34" charset="0"/>
                        </a:rPr>
                        <a:t>0,2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96B"/>
                    </a:solidFill>
                  </a:tcPr>
                </a:tc>
                <a:tc>
                  <a:txBody>
                    <a:bodyPr/>
                    <a:lstStyle/>
                    <a:p>
                      <a:pPr algn="r" fontAlgn="b">
                        <a:buNone/>
                      </a:pPr>
                      <a:r>
                        <a:rPr lang="fr-FR" sz="900" b="0" i="0" u="none" strike="noStrike">
                          <a:solidFill>
                            <a:srgbClr val="00B050"/>
                          </a:solidFill>
                          <a:effectLst/>
                          <a:latin typeface="Aptos Narrow" panose="020B0004020202020204" pitchFamily="34" charset="0"/>
                        </a:rPr>
                        <a:t>3,6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48564769"/>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6,6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673"/>
                    </a:solidFill>
                  </a:tcPr>
                </a:tc>
                <a:tc>
                  <a:txBody>
                    <a:bodyPr/>
                    <a:lstStyle/>
                    <a:p>
                      <a:pPr algn="r" fontAlgn="b">
                        <a:buNone/>
                      </a:pPr>
                      <a:r>
                        <a:rPr lang="fr-FR" sz="900" b="0" i="0" u="none" strike="noStrike">
                          <a:solidFill>
                            <a:srgbClr val="000000"/>
                          </a:solidFill>
                          <a:effectLst/>
                          <a:latin typeface="Aptos Narrow" panose="020B0004020202020204" pitchFamily="34" charset="0"/>
                        </a:rPr>
                        <a:t>3,9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370"/>
                    </a:solidFill>
                  </a:tcPr>
                </a:tc>
                <a:tc>
                  <a:txBody>
                    <a:bodyPr/>
                    <a:lstStyle/>
                    <a:p>
                      <a:pPr algn="r" fontAlgn="b">
                        <a:buNone/>
                      </a:pPr>
                      <a:r>
                        <a:rPr lang="fr-FR" sz="900" b="0" i="0" u="none" strike="noStrike">
                          <a:solidFill>
                            <a:srgbClr val="00B050"/>
                          </a:solidFill>
                          <a:effectLst/>
                          <a:latin typeface="Aptos Narrow" panose="020B0004020202020204" pitchFamily="34" charset="0"/>
                        </a:rPr>
                        <a:t>2,6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32344503"/>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5-11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9,6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B77"/>
                    </a:solidFill>
                  </a:tcPr>
                </a:tc>
                <a:tc>
                  <a:txBody>
                    <a:bodyPr/>
                    <a:lstStyle/>
                    <a:p>
                      <a:pPr algn="r" fontAlgn="b">
                        <a:buNone/>
                      </a:pPr>
                      <a:r>
                        <a:rPr lang="fr-FR" sz="900" b="0" i="0" u="none" strike="noStrike">
                          <a:solidFill>
                            <a:srgbClr val="000000"/>
                          </a:solidFill>
                          <a:effectLst/>
                          <a:latin typeface="Aptos Narrow" panose="020B0004020202020204" pitchFamily="34" charset="0"/>
                        </a:rPr>
                        <a:t>6,5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573"/>
                    </a:solidFill>
                  </a:tcPr>
                </a:tc>
                <a:tc>
                  <a:txBody>
                    <a:bodyPr/>
                    <a:lstStyle/>
                    <a:p>
                      <a:pPr algn="r" fontAlgn="b">
                        <a:buNone/>
                      </a:pPr>
                      <a:r>
                        <a:rPr lang="fr-FR" sz="900" b="0" i="0" u="none" strike="noStrike">
                          <a:solidFill>
                            <a:srgbClr val="00B050"/>
                          </a:solidFill>
                          <a:effectLst/>
                          <a:latin typeface="Aptos Narrow" panose="020B0004020202020204" pitchFamily="34" charset="0"/>
                        </a:rPr>
                        <a:t>3,1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22579434"/>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Seniors active 55-74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17,4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282"/>
                    </a:solidFill>
                  </a:tcPr>
                </a:tc>
                <a:tc>
                  <a:txBody>
                    <a:bodyPr/>
                    <a:lstStyle/>
                    <a:p>
                      <a:pPr algn="r" fontAlgn="b">
                        <a:buNone/>
                      </a:pPr>
                      <a:r>
                        <a:rPr lang="fr-FR" sz="900" b="0" i="0" u="none" strike="noStrike">
                          <a:solidFill>
                            <a:srgbClr val="000000"/>
                          </a:solidFill>
                          <a:effectLst/>
                          <a:latin typeface="Aptos Narrow" panose="020B0004020202020204" pitchFamily="34" charset="0"/>
                        </a:rPr>
                        <a:t>13,8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97D"/>
                    </a:solidFill>
                  </a:tcPr>
                </a:tc>
                <a:tc>
                  <a:txBody>
                    <a:bodyPr/>
                    <a:lstStyle/>
                    <a:p>
                      <a:pPr algn="r" fontAlgn="b">
                        <a:buNone/>
                      </a:pPr>
                      <a:r>
                        <a:rPr lang="fr-FR" sz="900" b="0" i="0" u="none" strike="noStrike">
                          <a:solidFill>
                            <a:srgbClr val="00B050"/>
                          </a:solidFill>
                          <a:effectLst/>
                          <a:latin typeface="Aptos Narrow" panose="020B0004020202020204" pitchFamily="34" charset="0"/>
                        </a:rPr>
                        <a:t>3,6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59414122"/>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Seniors&gt;75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28,9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8E082"/>
                    </a:solidFill>
                  </a:tcPr>
                </a:tc>
                <a:tc>
                  <a:txBody>
                    <a:bodyPr/>
                    <a:lstStyle/>
                    <a:p>
                      <a:pPr algn="r" fontAlgn="b">
                        <a:buNone/>
                      </a:pPr>
                      <a:r>
                        <a:rPr lang="fr-FR" sz="900" b="0" i="0" u="none" strike="noStrike">
                          <a:solidFill>
                            <a:srgbClr val="000000"/>
                          </a:solidFill>
                          <a:effectLst/>
                          <a:latin typeface="Aptos Narrow" panose="020B0004020202020204" pitchFamily="34" charset="0"/>
                        </a:rPr>
                        <a:t>21,0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6E984"/>
                    </a:solidFill>
                  </a:tcPr>
                </a:tc>
                <a:tc>
                  <a:txBody>
                    <a:bodyPr/>
                    <a:lstStyle/>
                    <a:p>
                      <a:pPr algn="r" fontAlgn="b">
                        <a:buNone/>
                      </a:pPr>
                      <a:r>
                        <a:rPr lang="fr-FR" sz="900" b="0" i="0" u="none" strike="noStrike">
                          <a:solidFill>
                            <a:srgbClr val="00B050"/>
                          </a:solidFill>
                          <a:effectLst/>
                          <a:latin typeface="Aptos Narrow" panose="020B0004020202020204" pitchFamily="34" charset="0"/>
                        </a:rPr>
                        <a:t>7,9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98156304"/>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Young Adults 18-34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5,0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A71"/>
                    </a:solidFill>
                  </a:tcPr>
                </a:tc>
                <a:tc>
                  <a:txBody>
                    <a:bodyPr/>
                    <a:lstStyle/>
                    <a:p>
                      <a:pPr algn="r" fontAlgn="b">
                        <a:buNone/>
                      </a:pPr>
                      <a:r>
                        <a:rPr lang="fr-FR" sz="900" b="0" i="0" u="none" strike="noStrike">
                          <a:solidFill>
                            <a:srgbClr val="000000"/>
                          </a:solidFill>
                          <a:effectLst/>
                          <a:latin typeface="Aptos Narrow" panose="020B0004020202020204" pitchFamily="34" charset="0"/>
                        </a:rPr>
                        <a:t>5,6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8F72"/>
                    </a:solidFill>
                  </a:tcPr>
                </a:tc>
                <a:tc>
                  <a:txBody>
                    <a:bodyPr/>
                    <a:lstStyle/>
                    <a:p>
                      <a:pPr algn="r" fontAlgn="b">
                        <a:buNone/>
                      </a:pPr>
                      <a:r>
                        <a:rPr lang="fr-FR" sz="900" b="0" i="0" u="none" strike="noStrike">
                          <a:solidFill>
                            <a:srgbClr val="FF0000"/>
                          </a:solidFill>
                          <a:effectLst/>
                          <a:latin typeface="Aptos Narrow" panose="020B0004020202020204" pitchFamily="34" charset="0"/>
                        </a:rPr>
                        <a:t>-0,6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26171162"/>
                  </a:ext>
                </a:extLst>
              </a:tr>
            </a:tbl>
          </a:graphicData>
        </a:graphic>
      </p:graphicFrame>
      <p:graphicFrame>
        <p:nvGraphicFramePr>
          <p:cNvPr id="10" name="Table 9">
            <a:extLst>
              <a:ext uri="{FF2B5EF4-FFF2-40B4-BE49-F238E27FC236}">
                <a16:creationId xmlns:a16="http://schemas.microsoft.com/office/drawing/2014/main" id="{F379F64D-00B1-4CF7-E2C0-86EC210F07A7}"/>
              </a:ext>
            </a:extLst>
          </p:cNvPr>
          <p:cNvGraphicFramePr>
            <a:graphicFrameLocks noGrp="1"/>
          </p:cNvGraphicFramePr>
          <p:nvPr>
            <p:extLst>
              <p:ext uri="{D42A27DB-BD31-4B8C-83A1-F6EECF244321}">
                <p14:modId xmlns:p14="http://schemas.microsoft.com/office/powerpoint/2010/main" val="2199292632"/>
              </p:ext>
            </p:extLst>
          </p:nvPr>
        </p:nvGraphicFramePr>
        <p:xfrm>
          <a:off x="3560881" y="2861744"/>
          <a:ext cx="3138369" cy="3905104"/>
        </p:xfrm>
        <a:graphic>
          <a:graphicData uri="http://schemas.openxmlformats.org/drawingml/2006/table">
            <a:tbl>
              <a:tblPr/>
              <a:tblGrid>
                <a:gridCol w="1958406">
                  <a:extLst>
                    <a:ext uri="{9D8B030D-6E8A-4147-A177-3AD203B41FA5}">
                      <a16:colId xmlns:a16="http://schemas.microsoft.com/office/drawing/2014/main" val="987422063"/>
                    </a:ext>
                  </a:extLst>
                </a:gridCol>
                <a:gridCol w="393321">
                  <a:extLst>
                    <a:ext uri="{9D8B030D-6E8A-4147-A177-3AD203B41FA5}">
                      <a16:colId xmlns:a16="http://schemas.microsoft.com/office/drawing/2014/main" val="3244471006"/>
                    </a:ext>
                  </a:extLst>
                </a:gridCol>
                <a:gridCol w="393321">
                  <a:extLst>
                    <a:ext uri="{9D8B030D-6E8A-4147-A177-3AD203B41FA5}">
                      <a16:colId xmlns:a16="http://schemas.microsoft.com/office/drawing/2014/main" val="740552783"/>
                    </a:ext>
                  </a:extLst>
                </a:gridCol>
                <a:gridCol w="393321">
                  <a:extLst>
                    <a:ext uri="{9D8B030D-6E8A-4147-A177-3AD203B41FA5}">
                      <a16:colId xmlns:a16="http://schemas.microsoft.com/office/drawing/2014/main" val="1514917516"/>
                    </a:ext>
                  </a:extLst>
                </a:gridCol>
              </a:tblGrid>
              <a:tr h="66944">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50441514"/>
                  </a:ext>
                </a:extLst>
              </a:tr>
              <a:tr h="66944">
                <a:tc>
                  <a:txBody>
                    <a:bodyPr/>
                    <a:lstStyle/>
                    <a:p>
                      <a:pPr algn="l" fontAlgn="b">
                        <a:buNone/>
                      </a:pPr>
                      <a:r>
                        <a:rPr lang="fr-FR" sz="900" b="1" i="0" u="none" strike="noStrike">
                          <a:solidFill>
                            <a:srgbClr val="000000"/>
                          </a:solidFill>
                          <a:effectLst/>
                          <a:latin typeface="Aptos Narrow" panose="020B0004020202020204" pitchFamily="34" charset="0"/>
                        </a:rPr>
                        <a:t>Les Bois-Francs</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19,1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B84"/>
                    </a:solidFill>
                  </a:tcPr>
                </a:tc>
                <a:tc>
                  <a:txBody>
                    <a:bodyPr/>
                    <a:lstStyle/>
                    <a:p>
                      <a:pPr algn="r" fontAlgn="b">
                        <a:buNone/>
                      </a:pPr>
                      <a:r>
                        <a:rPr lang="fr-FR" sz="900" b="1" i="0" u="none" strike="noStrike">
                          <a:solidFill>
                            <a:srgbClr val="000000"/>
                          </a:solidFill>
                          <a:effectLst/>
                          <a:latin typeface="Aptos Narrow" panose="020B0004020202020204" pitchFamily="34" charset="0"/>
                        </a:rPr>
                        <a:t>8,3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275"/>
                    </a:solidFill>
                  </a:tcPr>
                </a:tc>
                <a:tc>
                  <a:txBody>
                    <a:bodyPr/>
                    <a:lstStyle/>
                    <a:p>
                      <a:pPr algn="r" fontAlgn="b">
                        <a:buNone/>
                      </a:pPr>
                      <a:r>
                        <a:rPr lang="fr-FR" sz="900" b="1" i="0" u="none" strike="noStrike">
                          <a:solidFill>
                            <a:srgbClr val="00B050"/>
                          </a:solidFill>
                          <a:effectLst/>
                          <a:latin typeface="Aptos Narrow" panose="020B0004020202020204" pitchFamily="34" charset="0"/>
                        </a:rPr>
                        <a:t>10,8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25279543"/>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Adults 35-54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18,1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783"/>
                    </a:solidFill>
                  </a:tcPr>
                </a:tc>
                <a:tc>
                  <a:txBody>
                    <a:bodyPr/>
                    <a:lstStyle/>
                    <a:p>
                      <a:pPr algn="r" fontAlgn="b">
                        <a:buNone/>
                      </a:pPr>
                      <a:r>
                        <a:rPr lang="fr-FR" sz="900" b="0" i="0" u="none" strike="noStrike">
                          <a:solidFill>
                            <a:srgbClr val="000000"/>
                          </a:solidFill>
                          <a:effectLst/>
                          <a:latin typeface="Aptos Narrow" panose="020B0004020202020204" pitchFamily="34" charset="0"/>
                        </a:rPr>
                        <a:t>7,6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C74"/>
                    </a:solidFill>
                  </a:tcPr>
                </a:tc>
                <a:tc>
                  <a:txBody>
                    <a:bodyPr/>
                    <a:lstStyle/>
                    <a:p>
                      <a:pPr algn="r" fontAlgn="b">
                        <a:buNone/>
                      </a:pPr>
                      <a:r>
                        <a:rPr lang="fr-FR" sz="900" b="0" i="0" u="none" strike="noStrike">
                          <a:solidFill>
                            <a:srgbClr val="00B050"/>
                          </a:solidFill>
                          <a:effectLst/>
                          <a:latin typeface="Aptos Narrow" panose="020B0004020202020204" pitchFamily="34" charset="0"/>
                        </a:rPr>
                        <a:t>10,6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51187451"/>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0-2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16,2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980"/>
                    </a:solidFill>
                  </a:tcPr>
                </a:tc>
                <a:tc>
                  <a:txBody>
                    <a:bodyPr/>
                    <a:lstStyle/>
                    <a:p>
                      <a:pPr algn="r" fontAlgn="b">
                        <a:buNone/>
                      </a:pPr>
                      <a:r>
                        <a:rPr lang="fr-FR" sz="900" b="0" i="0" u="none" strike="noStrike">
                          <a:solidFill>
                            <a:srgbClr val="000000"/>
                          </a:solidFill>
                          <a:effectLst/>
                          <a:latin typeface="Aptos Narrow" panose="020B0004020202020204" pitchFamily="34" charset="0"/>
                        </a:rPr>
                        <a:t>11,4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77A"/>
                    </a:solidFill>
                  </a:tcPr>
                </a:tc>
                <a:tc>
                  <a:txBody>
                    <a:bodyPr/>
                    <a:lstStyle/>
                    <a:p>
                      <a:pPr algn="r" fontAlgn="b">
                        <a:buNone/>
                      </a:pPr>
                      <a:r>
                        <a:rPr lang="fr-FR" sz="900" b="0" i="0" u="none" strike="noStrike">
                          <a:solidFill>
                            <a:srgbClr val="00B050"/>
                          </a:solidFill>
                          <a:effectLst/>
                          <a:latin typeface="Aptos Narrow" panose="020B0004020202020204" pitchFamily="34" charset="0"/>
                        </a:rPr>
                        <a:t>4,8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53103769"/>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12-17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13,5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67C"/>
                    </a:solidFill>
                  </a:tcPr>
                </a:tc>
                <a:tc>
                  <a:txBody>
                    <a:bodyPr/>
                    <a:lstStyle/>
                    <a:p>
                      <a:pPr algn="r" fontAlgn="b">
                        <a:buNone/>
                      </a:pPr>
                      <a:r>
                        <a:rPr lang="fr-FR" sz="900" b="0" i="0" u="none" strike="noStrike">
                          <a:solidFill>
                            <a:srgbClr val="000000"/>
                          </a:solidFill>
                          <a:effectLst/>
                          <a:latin typeface="Aptos Narrow" panose="020B0004020202020204" pitchFamily="34" charset="0"/>
                        </a:rPr>
                        <a:t>0,6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C6B"/>
                    </a:solidFill>
                  </a:tcPr>
                </a:tc>
                <a:tc>
                  <a:txBody>
                    <a:bodyPr/>
                    <a:lstStyle/>
                    <a:p>
                      <a:pPr algn="r" fontAlgn="b">
                        <a:buNone/>
                      </a:pPr>
                      <a:r>
                        <a:rPr lang="fr-FR" sz="900" b="0" i="0" u="none" strike="noStrike">
                          <a:solidFill>
                            <a:srgbClr val="00B050"/>
                          </a:solidFill>
                          <a:effectLst/>
                          <a:latin typeface="Aptos Narrow" panose="020B0004020202020204" pitchFamily="34" charset="0"/>
                        </a:rPr>
                        <a:t>12,9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95657759"/>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21,2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5E984"/>
                    </a:solidFill>
                  </a:tcPr>
                </a:tc>
                <a:tc>
                  <a:txBody>
                    <a:bodyPr/>
                    <a:lstStyle/>
                    <a:p>
                      <a:pPr algn="r" fontAlgn="b">
                        <a:buNone/>
                      </a:pPr>
                      <a:r>
                        <a:rPr lang="fr-FR" sz="900" b="0" i="0" u="none" strike="noStrike">
                          <a:solidFill>
                            <a:srgbClr val="000000"/>
                          </a:solidFill>
                          <a:effectLst/>
                          <a:latin typeface="Aptos Narrow" panose="020B0004020202020204" pitchFamily="34" charset="0"/>
                        </a:rPr>
                        <a:t>7,8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E75"/>
                    </a:solidFill>
                  </a:tcPr>
                </a:tc>
                <a:tc>
                  <a:txBody>
                    <a:bodyPr/>
                    <a:lstStyle/>
                    <a:p>
                      <a:pPr algn="r" fontAlgn="b">
                        <a:buNone/>
                      </a:pPr>
                      <a:r>
                        <a:rPr lang="fr-FR" sz="900" b="0" i="0" u="none" strike="noStrike">
                          <a:solidFill>
                            <a:srgbClr val="00B050"/>
                          </a:solidFill>
                          <a:effectLst/>
                          <a:latin typeface="Aptos Narrow" panose="020B0004020202020204" pitchFamily="34" charset="0"/>
                        </a:rPr>
                        <a:t>13,5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8677488"/>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5-11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18,2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783"/>
                    </a:solidFill>
                  </a:tcPr>
                </a:tc>
                <a:tc>
                  <a:txBody>
                    <a:bodyPr/>
                    <a:lstStyle/>
                    <a:p>
                      <a:pPr algn="r" fontAlgn="b">
                        <a:buNone/>
                      </a:pPr>
                      <a:r>
                        <a:rPr lang="fr-FR" sz="900" b="0" i="0" u="none" strike="noStrike">
                          <a:solidFill>
                            <a:srgbClr val="000000"/>
                          </a:solidFill>
                          <a:effectLst/>
                          <a:latin typeface="Aptos Narrow" panose="020B0004020202020204" pitchFamily="34" charset="0"/>
                        </a:rPr>
                        <a:t>7,9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F75"/>
                    </a:solidFill>
                  </a:tcPr>
                </a:tc>
                <a:tc>
                  <a:txBody>
                    <a:bodyPr/>
                    <a:lstStyle/>
                    <a:p>
                      <a:pPr algn="r" fontAlgn="b">
                        <a:buNone/>
                      </a:pPr>
                      <a:r>
                        <a:rPr lang="fr-FR" sz="900" b="0" i="0" u="none" strike="noStrike">
                          <a:solidFill>
                            <a:srgbClr val="00B050"/>
                          </a:solidFill>
                          <a:effectLst/>
                          <a:latin typeface="Aptos Narrow" panose="020B0004020202020204" pitchFamily="34" charset="0"/>
                        </a:rPr>
                        <a:t>10,3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8898334"/>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Seniors active 55-74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27,1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FE283"/>
                    </a:solidFill>
                  </a:tcPr>
                </a:tc>
                <a:tc>
                  <a:txBody>
                    <a:bodyPr/>
                    <a:lstStyle/>
                    <a:p>
                      <a:pPr algn="r" fontAlgn="b">
                        <a:buNone/>
                      </a:pPr>
                      <a:r>
                        <a:rPr lang="fr-FR" sz="900" b="0" i="0" u="none" strike="noStrike">
                          <a:solidFill>
                            <a:srgbClr val="000000"/>
                          </a:solidFill>
                          <a:effectLst/>
                          <a:latin typeface="Aptos Narrow" panose="020B0004020202020204" pitchFamily="34" charset="0"/>
                        </a:rPr>
                        <a:t>17,4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182"/>
                    </a:solidFill>
                  </a:tcPr>
                </a:tc>
                <a:tc>
                  <a:txBody>
                    <a:bodyPr/>
                    <a:lstStyle/>
                    <a:p>
                      <a:pPr algn="r" fontAlgn="b">
                        <a:buNone/>
                      </a:pPr>
                      <a:r>
                        <a:rPr lang="fr-FR" sz="900" b="0" i="0" u="none" strike="noStrike">
                          <a:solidFill>
                            <a:srgbClr val="00B050"/>
                          </a:solidFill>
                          <a:effectLst/>
                          <a:latin typeface="Aptos Narrow" panose="020B0004020202020204" pitchFamily="34" charset="0"/>
                        </a:rPr>
                        <a:t>9,7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34941754"/>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Seniors&gt;75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30,3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2DE82"/>
                    </a:solidFill>
                  </a:tcPr>
                </a:tc>
                <a:tc>
                  <a:txBody>
                    <a:bodyPr/>
                    <a:lstStyle/>
                    <a:p>
                      <a:pPr algn="r" fontAlgn="b">
                        <a:buNone/>
                      </a:pPr>
                      <a:r>
                        <a:rPr lang="fr-FR" sz="900" b="0" i="0" u="none" strike="noStrike">
                          <a:solidFill>
                            <a:srgbClr val="000000"/>
                          </a:solidFill>
                          <a:effectLst/>
                          <a:latin typeface="Aptos Narrow" panose="020B0004020202020204" pitchFamily="34" charset="0"/>
                        </a:rPr>
                        <a:t>13,7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87D"/>
                    </a:solidFill>
                  </a:tcPr>
                </a:tc>
                <a:tc>
                  <a:txBody>
                    <a:bodyPr/>
                    <a:lstStyle/>
                    <a:p>
                      <a:pPr algn="r" fontAlgn="b">
                        <a:buNone/>
                      </a:pPr>
                      <a:r>
                        <a:rPr lang="fr-FR" sz="900" b="0" i="0" u="none" strike="noStrike">
                          <a:solidFill>
                            <a:srgbClr val="00B050"/>
                          </a:solidFill>
                          <a:effectLst/>
                          <a:latin typeface="Aptos Narrow" panose="020B0004020202020204" pitchFamily="34" charset="0"/>
                        </a:rPr>
                        <a:t>16,6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03873596"/>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Young Adults 18-34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26,0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3E383"/>
                    </a:solidFill>
                  </a:tcPr>
                </a:tc>
                <a:tc>
                  <a:txBody>
                    <a:bodyPr/>
                    <a:lstStyle/>
                    <a:p>
                      <a:pPr algn="r" fontAlgn="b">
                        <a:buNone/>
                      </a:pPr>
                      <a:r>
                        <a:rPr lang="fr-FR" sz="900" b="0" i="0" u="none" strike="noStrike">
                          <a:solidFill>
                            <a:srgbClr val="000000"/>
                          </a:solidFill>
                          <a:effectLst/>
                          <a:latin typeface="Aptos Narrow" panose="020B0004020202020204" pitchFamily="34" charset="0"/>
                        </a:rPr>
                        <a:t>17,1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081"/>
                    </a:solidFill>
                  </a:tcPr>
                </a:tc>
                <a:tc>
                  <a:txBody>
                    <a:bodyPr/>
                    <a:lstStyle/>
                    <a:p>
                      <a:pPr algn="r" fontAlgn="b">
                        <a:buNone/>
                      </a:pPr>
                      <a:r>
                        <a:rPr lang="fr-FR" sz="900" b="0" i="0" u="none" strike="noStrike">
                          <a:solidFill>
                            <a:srgbClr val="00B050"/>
                          </a:solidFill>
                          <a:effectLst/>
                          <a:latin typeface="Aptos Narrow" panose="020B0004020202020204" pitchFamily="34" charset="0"/>
                        </a:rPr>
                        <a:t>8,9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9808268"/>
                  </a:ext>
                </a:extLst>
              </a:tr>
              <a:tr h="66944">
                <a:tc>
                  <a:txBody>
                    <a:bodyPr/>
                    <a:lstStyle/>
                    <a:p>
                      <a:pPr algn="l" fontAlgn="b">
                        <a:buNone/>
                      </a:pPr>
                      <a:r>
                        <a:rPr lang="fr-FR" sz="900" b="1" i="0" u="none" strike="noStrike">
                          <a:solidFill>
                            <a:srgbClr val="000000"/>
                          </a:solidFill>
                          <a:effectLst/>
                          <a:latin typeface="Aptos Narrow" panose="020B0004020202020204" pitchFamily="34" charset="0"/>
                        </a:rPr>
                        <a:t>Les Hauts de Bruyères</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15,9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780"/>
                    </a:solidFill>
                  </a:tcPr>
                </a:tc>
                <a:tc>
                  <a:txBody>
                    <a:bodyPr/>
                    <a:lstStyle/>
                    <a:p>
                      <a:pPr algn="r" fontAlgn="b">
                        <a:buNone/>
                      </a:pPr>
                      <a:r>
                        <a:rPr lang="fr-FR" sz="900" b="1" i="0" u="none" strike="noStrike">
                          <a:solidFill>
                            <a:srgbClr val="000000"/>
                          </a:solidFill>
                          <a:effectLst/>
                          <a:latin typeface="Aptos Narrow" panose="020B0004020202020204" pitchFamily="34" charset="0"/>
                        </a:rPr>
                        <a:t>9,9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D78"/>
                    </a:solidFill>
                  </a:tcPr>
                </a:tc>
                <a:tc>
                  <a:txBody>
                    <a:bodyPr/>
                    <a:lstStyle/>
                    <a:p>
                      <a:pPr algn="r" fontAlgn="b">
                        <a:buNone/>
                      </a:pPr>
                      <a:r>
                        <a:rPr lang="fr-FR" sz="900" b="1" i="0" u="none" strike="noStrike">
                          <a:solidFill>
                            <a:srgbClr val="00B050"/>
                          </a:solidFill>
                          <a:effectLst/>
                          <a:latin typeface="Aptos Narrow" panose="020B0004020202020204" pitchFamily="34" charset="0"/>
                        </a:rPr>
                        <a:t>6,0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77787556"/>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Adults 35-54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14,4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D7E"/>
                    </a:solidFill>
                  </a:tcPr>
                </a:tc>
                <a:tc>
                  <a:txBody>
                    <a:bodyPr/>
                    <a:lstStyle/>
                    <a:p>
                      <a:pPr algn="r" fontAlgn="b">
                        <a:buNone/>
                      </a:pPr>
                      <a:r>
                        <a:rPr lang="fr-FR" sz="900" b="0" i="0" u="none" strike="noStrike">
                          <a:solidFill>
                            <a:srgbClr val="000000"/>
                          </a:solidFill>
                          <a:effectLst/>
                          <a:latin typeface="Aptos Narrow" panose="020B0004020202020204" pitchFamily="34" charset="0"/>
                        </a:rPr>
                        <a:t>9,1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777"/>
                    </a:solidFill>
                  </a:tcPr>
                </a:tc>
                <a:tc>
                  <a:txBody>
                    <a:bodyPr/>
                    <a:lstStyle/>
                    <a:p>
                      <a:pPr algn="r" fontAlgn="b">
                        <a:buNone/>
                      </a:pPr>
                      <a:r>
                        <a:rPr lang="fr-FR" sz="900" b="0" i="0" u="none" strike="noStrike">
                          <a:solidFill>
                            <a:srgbClr val="00B050"/>
                          </a:solidFill>
                          <a:effectLst/>
                          <a:latin typeface="Aptos Narrow" panose="020B0004020202020204" pitchFamily="34" charset="0"/>
                        </a:rPr>
                        <a:t>5,3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62815144"/>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0-2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14,0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A7D"/>
                    </a:solidFill>
                  </a:tcPr>
                </a:tc>
                <a:tc>
                  <a:txBody>
                    <a:bodyPr/>
                    <a:lstStyle/>
                    <a:p>
                      <a:pPr algn="r" fontAlgn="b">
                        <a:buNone/>
                      </a:pPr>
                      <a:r>
                        <a:rPr lang="fr-FR" sz="900" b="0" i="0" u="none" strike="noStrike">
                          <a:solidFill>
                            <a:srgbClr val="000000"/>
                          </a:solidFill>
                          <a:effectLst/>
                          <a:latin typeface="Aptos Narrow" panose="020B0004020202020204" pitchFamily="34" charset="0"/>
                        </a:rPr>
                        <a:t>1,9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56D"/>
                    </a:solidFill>
                  </a:tcPr>
                </a:tc>
                <a:tc>
                  <a:txBody>
                    <a:bodyPr/>
                    <a:lstStyle/>
                    <a:p>
                      <a:pPr algn="r" fontAlgn="b">
                        <a:buNone/>
                      </a:pPr>
                      <a:r>
                        <a:rPr lang="fr-FR" sz="900" b="0" i="0" u="none" strike="noStrike">
                          <a:solidFill>
                            <a:srgbClr val="00B050"/>
                          </a:solidFill>
                          <a:effectLst/>
                          <a:latin typeface="Aptos Narrow" panose="020B0004020202020204" pitchFamily="34" charset="0"/>
                        </a:rPr>
                        <a:t>12,1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14915419"/>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12-17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10,6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B279"/>
                    </a:solidFill>
                  </a:tcPr>
                </a:tc>
                <a:tc>
                  <a:txBody>
                    <a:bodyPr/>
                    <a:lstStyle/>
                    <a:p>
                      <a:pPr algn="r" fontAlgn="b">
                        <a:buNone/>
                      </a:pPr>
                      <a:r>
                        <a:rPr lang="fr-FR" sz="900" b="0" i="0" u="none" strike="noStrike">
                          <a:solidFill>
                            <a:srgbClr val="000000"/>
                          </a:solidFill>
                          <a:effectLst/>
                          <a:latin typeface="Aptos Narrow" panose="020B0004020202020204" pitchFamily="34" charset="0"/>
                        </a:rPr>
                        <a:t>2,0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66D"/>
                    </a:solidFill>
                  </a:tcPr>
                </a:tc>
                <a:tc>
                  <a:txBody>
                    <a:bodyPr/>
                    <a:lstStyle/>
                    <a:p>
                      <a:pPr algn="r" fontAlgn="b">
                        <a:buNone/>
                      </a:pPr>
                      <a:r>
                        <a:rPr lang="fr-FR" sz="900" b="0" i="0" u="none" strike="noStrike">
                          <a:solidFill>
                            <a:srgbClr val="00B050"/>
                          </a:solidFill>
                          <a:effectLst/>
                          <a:latin typeface="Aptos Narrow" panose="020B0004020202020204" pitchFamily="34" charset="0"/>
                        </a:rPr>
                        <a:t>8,6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24231865"/>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15,2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27F"/>
                    </a:solidFill>
                  </a:tcPr>
                </a:tc>
                <a:tc>
                  <a:txBody>
                    <a:bodyPr/>
                    <a:lstStyle/>
                    <a:p>
                      <a:pPr algn="r" fontAlgn="b">
                        <a:buNone/>
                      </a:pPr>
                      <a:r>
                        <a:rPr lang="fr-FR" sz="900" b="0" i="0" u="none" strike="noStrike">
                          <a:solidFill>
                            <a:srgbClr val="000000"/>
                          </a:solidFill>
                          <a:effectLst/>
                          <a:latin typeface="Aptos Narrow" panose="020B0004020202020204" pitchFamily="34" charset="0"/>
                        </a:rPr>
                        <a:t>8,3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275"/>
                    </a:solidFill>
                  </a:tcPr>
                </a:tc>
                <a:tc>
                  <a:txBody>
                    <a:bodyPr/>
                    <a:lstStyle/>
                    <a:p>
                      <a:pPr algn="r" fontAlgn="b">
                        <a:buNone/>
                      </a:pPr>
                      <a:r>
                        <a:rPr lang="fr-FR" sz="900" b="0" i="0" u="none" strike="noStrike">
                          <a:solidFill>
                            <a:srgbClr val="00B050"/>
                          </a:solidFill>
                          <a:effectLst/>
                          <a:latin typeface="Aptos Narrow" panose="020B0004020202020204" pitchFamily="34" charset="0"/>
                        </a:rPr>
                        <a:t>7,0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26094848"/>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5-11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16,2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980"/>
                    </a:solidFill>
                  </a:tcPr>
                </a:tc>
                <a:tc>
                  <a:txBody>
                    <a:bodyPr/>
                    <a:lstStyle/>
                    <a:p>
                      <a:pPr algn="r" fontAlgn="b">
                        <a:buNone/>
                      </a:pPr>
                      <a:r>
                        <a:rPr lang="fr-FR" sz="900" b="0" i="0" u="none" strike="noStrike">
                          <a:solidFill>
                            <a:srgbClr val="000000"/>
                          </a:solidFill>
                          <a:effectLst/>
                          <a:latin typeface="Aptos Narrow" panose="020B0004020202020204" pitchFamily="34" charset="0"/>
                        </a:rPr>
                        <a:t>11,3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77A"/>
                    </a:solidFill>
                  </a:tcPr>
                </a:tc>
                <a:tc>
                  <a:txBody>
                    <a:bodyPr/>
                    <a:lstStyle/>
                    <a:p>
                      <a:pPr algn="r" fontAlgn="b">
                        <a:buNone/>
                      </a:pPr>
                      <a:r>
                        <a:rPr lang="fr-FR" sz="900" b="0" i="0" u="none" strike="noStrike">
                          <a:solidFill>
                            <a:srgbClr val="00B050"/>
                          </a:solidFill>
                          <a:effectLst/>
                          <a:latin typeface="Aptos Narrow" panose="020B0004020202020204" pitchFamily="34" charset="0"/>
                        </a:rPr>
                        <a:t>4,9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35685304"/>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Seniors active 55-74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22,3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1E784"/>
                    </a:solidFill>
                  </a:tcPr>
                </a:tc>
                <a:tc>
                  <a:txBody>
                    <a:bodyPr/>
                    <a:lstStyle/>
                    <a:p>
                      <a:pPr algn="r" fontAlgn="b">
                        <a:buNone/>
                      </a:pPr>
                      <a:r>
                        <a:rPr lang="fr-FR" sz="900" b="0" i="0" u="none" strike="noStrike">
                          <a:solidFill>
                            <a:srgbClr val="000000"/>
                          </a:solidFill>
                          <a:effectLst/>
                          <a:latin typeface="Aptos Narrow" panose="020B0004020202020204" pitchFamily="34" charset="0"/>
                        </a:rPr>
                        <a:t>19,2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EB84"/>
                    </a:solidFill>
                  </a:tcPr>
                </a:tc>
                <a:tc>
                  <a:txBody>
                    <a:bodyPr/>
                    <a:lstStyle/>
                    <a:p>
                      <a:pPr algn="r" fontAlgn="b">
                        <a:buNone/>
                      </a:pPr>
                      <a:r>
                        <a:rPr lang="fr-FR" sz="900" b="0" i="0" u="none" strike="noStrike">
                          <a:solidFill>
                            <a:srgbClr val="00B050"/>
                          </a:solidFill>
                          <a:effectLst/>
                          <a:latin typeface="Aptos Narrow" panose="020B0004020202020204" pitchFamily="34" charset="0"/>
                        </a:rPr>
                        <a:t>3,0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5904967"/>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Seniors&gt;75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34,0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4DA81"/>
                    </a:solidFill>
                  </a:tcPr>
                </a:tc>
                <a:tc>
                  <a:txBody>
                    <a:bodyPr/>
                    <a:lstStyle/>
                    <a:p>
                      <a:pPr algn="r" fontAlgn="b">
                        <a:buNone/>
                      </a:pPr>
                      <a:r>
                        <a:rPr lang="fr-FR" sz="900" b="0" i="0" u="none" strike="noStrike">
                          <a:solidFill>
                            <a:srgbClr val="000000"/>
                          </a:solidFill>
                          <a:effectLst/>
                          <a:latin typeface="Aptos Narrow" panose="020B0004020202020204" pitchFamily="34" charset="0"/>
                        </a:rPr>
                        <a:t>28,2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AE182"/>
                    </a:solidFill>
                  </a:tcPr>
                </a:tc>
                <a:tc>
                  <a:txBody>
                    <a:bodyPr/>
                    <a:lstStyle/>
                    <a:p>
                      <a:pPr algn="r" fontAlgn="b">
                        <a:buNone/>
                      </a:pPr>
                      <a:r>
                        <a:rPr lang="fr-FR" sz="900" b="0" i="0" u="none" strike="noStrike">
                          <a:solidFill>
                            <a:srgbClr val="00B050"/>
                          </a:solidFill>
                          <a:effectLst/>
                          <a:latin typeface="Aptos Narrow" panose="020B0004020202020204" pitchFamily="34" charset="0"/>
                        </a:rPr>
                        <a:t>5,8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92815299"/>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Young Adults 18-34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15,8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680"/>
                    </a:solidFill>
                  </a:tcPr>
                </a:tc>
                <a:tc>
                  <a:txBody>
                    <a:bodyPr/>
                    <a:lstStyle/>
                    <a:p>
                      <a:pPr algn="r" fontAlgn="b">
                        <a:buNone/>
                      </a:pPr>
                      <a:r>
                        <a:rPr lang="fr-FR" sz="900" b="0" i="0" u="none" strike="noStrike">
                          <a:solidFill>
                            <a:srgbClr val="000000"/>
                          </a:solidFill>
                          <a:effectLst/>
                          <a:latin typeface="Aptos Narrow" panose="020B0004020202020204" pitchFamily="34" charset="0"/>
                        </a:rPr>
                        <a:t>15,3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37F"/>
                    </a:solidFill>
                  </a:tcPr>
                </a:tc>
                <a:tc>
                  <a:txBody>
                    <a:bodyPr/>
                    <a:lstStyle/>
                    <a:p>
                      <a:pPr algn="r" fontAlgn="b">
                        <a:buNone/>
                      </a:pPr>
                      <a:r>
                        <a:rPr lang="fr-FR" sz="900" b="0" i="0" u="none" strike="noStrike">
                          <a:solidFill>
                            <a:srgbClr val="00B050"/>
                          </a:solidFill>
                          <a:effectLst/>
                          <a:latin typeface="Aptos Narrow" panose="020B0004020202020204" pitchFamily="34" charset="0"/>
                        </a:rPr>
                        <a:t>0,4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90524819"/>
                  </a:ext>
                </a:extLst>
              </a:tr>
              <a:tr h="66944">
                <a:tc>
                  <a:txBody>
                    <a:bodyPr/>
                    <a:lstStyle/>
                    <a:p>
                      <a:pPr algn="l" fontAlgn="b">
                        <a:buNone/>
                      </a:pPr>
                      <a:r>
                        <a:rPr lang="fr-FR" sz="900" b="1" i="0" u="none" strike="noStrike">
                          <a:solidFill>
                            <a:srgbClr val="000000"/>
                          </a:solidFill>
                          <a:effectLst/>
                          <a:latin typeface="Aptos Narrow" panose="020B0004020202020204" pitchFamily="34" charset="0"/>
                        </a:rPr>
                        <a:t>Les Landes de Gascogne</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49,5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8C97E"/>
                    </a:solidFill>
                  </a:tcPr>
                </a:tc>
                <a:tc>
                  <a:txBody>
                    <a:bodyPr/>
                    <a:lstStyle/>
                    <a:p>
                      <a:pPr algn="r" fontAlgn="b">
                        <a:buNone/>
                      </a:pPr>
                      <a:r>
                        <a:rPr lang="fr-FR" sz="900" b="1" i="0" u="none" strike="noStrike">
                          <a:solidFill>
                            <a:srgbClr val="000000"/>
                          </a:solidFill>
                          <a:effectLst/>
                          <a:latin typeface="Aptos Narrow" panose="020B0004020202020204" pitchFamily="34" charset="0"/>
                        </a:rPr>
                        <a:t>41,9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5D17F"/>
                    </a:solidFill>
                  </a:tcPr>
                </a:tc>
                <a:tc>
                  <a:txBody>
                    <a:bodyPr/>
                    <a:lstStyle/>
                    <a:p>
                      <a:pPr algn="r" fontAlgn="b">
                        <a:buNone/>
                      </a:pPr>
                      <a:r>
                        <a:rPr lang="fr-FR" sz="900" b="1" i="0" u="none" strike="noStrike">
                          <a:solidFill>
                            <a:srgbClr val="00B050"/>
                          </a:solidFill>
                          <a:effectLst/>
                          <a:latin typeface="Aptos Narrow" panose="020B0004020202020204" pitchFamily="34" charset="0"/>
                        </a:rPr>
                        <a:t>7,7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0053627"/>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Adults 35-54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42,0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5D17F"/>
                    </a:solidFill>
                  </a:tcPr>
                </a:tc>
                <a:tc>
                  <a:txBody>
                    <a:bodyPr/>
                    <a:lstStyle/>
                    <a:p>
                      <a:pPr algn="r" fontAlgn="b">
                        <a:buNone/>
                      </a:pPr>
                      <a:r>
                        <a:rPr lang="fr-FR" sz="900" b="0" i="0" u="none" strike="noStrike">
                          <a:solidFill>
                            <a:srgbClr val="000000"/>
                          </a:solidFill>
                          <a:effectLst/>
                          <a:latin typeface="Aptos Narrow" panose="020B0004020202020204" pitchFamily="34" charset="0"/>
                        </a:rPr>
                        <a:t>37,1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8D780"/>
                    </a:solidFill>
                  </a:tcPr>
                </a:tc>
                <a:tc>
                  <a:txBody>
                    <a:bodyPr/>
                    <a:lstStyle/>
                    <a:p>
                      <a:pPr algn="r" fontAlgn="b">
                        <a:buNone/>
                      </a:pPr>
                      <a:r>
                        <a:rPr lang="fr-FR" sz="900" b="0" i="0" u="none" strike="noStrike">
                          <a:solidFill>
                            <a:srgbClr val="00B050"/>
                          </a:solidFill>
                          <a:effectLst/>
                          <a:latin typeface="Aptos Narrow" panose="020B0004020202020204" pitchFamily="34" charset="0"/>
                        </a:rPr>
                        <a:t>5,0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97818324"/>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0-2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56,7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CC17C"/>
                    </a:solidFill>
                  </a:tcPr>
                </a:tc>
                <a:tc>
                  <a:txBody>
                    <a:bodyPr/>
                    <a:lstStyle/>
                    <a:p>
                      <a:pPr algn="r" fontAlgn="b">
                        <a:buNone/>
                      </a:pPr>
                      <a:r>
                        <a:rPr lang="fr-FR" sz="900" b="0" i="0" u="none" strike="noStrike">
                          <a:solidFill>
                            <a:srgbClr val="000000"/>
                          </a:solidFill>
                          <a:effectLst/>
                          <a:latin typeface="Aptos Narrow" panose="020B0004020202020204" pitchFamily="34" charset="0"/>
                        </a:rPr>
                        <a:t>52,1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DC67D"/>
                    </a:solidFill>
                  </a:tcPr>
                </a:tc>
                <a:tc>
                  <a:txBody>
                    <a:bodyPr/>
                    <a:lstStyle/>
                    <a:p>
                      <a:pPr algn="r" fontAlgn="b">
                        <a:buNone/>
                      </a:pPr>
                      <a:r>
                        <a:rPr lang="fr-FR" sz="900" b="0" i="0" u="none" strike="noStrike">
                          <a:solidFill>
                            <a:srgbClr val="00B050"/>
                          </a:solidFill>
                          <a:effectLst/>
                          <a:latin typeface="Aptos Narrow" panose="020B0004020202020204" pitchFamily="34" charset="0"/>
                        </a:rPr>
                        <a:t>4,5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44422156"/>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12-17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37,9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5D680"/>
                    </a:solidFill>
                  </a:tcPr>
                </a:tc>
                <a:tc>
                  <a:txBody>
                    <a:bodyPr/>
                    <a:lstStyle/>
                    <a:p>
                      <a:pPr algn="r" fontAlgn="b">
                        <a:buNone/>
                      </a:pPr>
                      <a:r>
                        <a:rPr lang="fr-FR" sz="900" b="0" i="0" u="none" strike="noStrike">
                          <a:solidFill>
                            <a:srgbClr val="000000"/>
                          </a:solidFill>
                          <a:effectLst/>
                          <a:latin typeface="Aptos Narrow" panose="020B0004020202020204" pitchFamily="34" charset="0"/>
                        </a:rPr>
                        <a:t>30,2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3DF82"/>
                    </a:solidFill>
                  </a:tcPr>
                </a:tc>
                <a:tc>
                  <a:txBody>
                    <a:bodyPr/>
                    <a:lstStyle/>
                    <a:p>
                      <a:pPr algn="r" fontAlgn="b">
                        <a:buNone/>
                      </a:pPr>
                      <a:r>
                        <a:rPr lang="fr-FR" sz="900" b="0" i="0" u="none" strike="noStrike">
                          <a:solidFill>
                            <a:srgbClr val="00B050"/>
                          </a:solidFill>
                          <a:effectLst/>
                          <a:latin typeface="Aptos Narrow" panose="020B0004020202020204" pitchFamily="34" charset="0"/>
                        </a:rPr>
                        <a:t>7,7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72266851"/>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58,8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900" b="0" i="0" u="none" strike="noStrike">
                          <a:solidFill>
                            <a:srgbClr val="000000"/>
                          </a:solidFill>
                          <a:effectLst/>
                          <a:latin typeface="Aptos Narrow" panose="020B0004020202020204" pitchFamily="34" charset="0"/>
                        </a:rPr>
                        <a:t>50,5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4C87D"/>
                    </a:solidFill>
                  </a:tcPr>
                </a:tc>
                <a:tc>
                  <a:txBody>
                    <a:bodyPr/>
                    <a:lstStyle/>
                    <a:p>
                      <a:pPr algn="r" fontAlgn="b">
                        <a:buNone/>
                      </a:pPr>
                      <a:r>
                        <a:rPr lang="fr-FR" sz="900" b="0" i="0" u="none" strike="noStrike">
                          <a:solidFill>
                            <a:srgbClr val="00B050"/>
                          </a:solidFill>
                          <a:effectLst/>
                          <a:latin typeface="Aptos Narrow" panose="020B0004020202020204" pitchFamily="34" charset="0"/>
                        </a:rPr>
                        <a:t>8,3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92738250"/>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5-11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52,5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CC67D"/>
                    </a:solidFill>
                  </a:tcPr>
                </a:tc>
                <a:tc>
                  <a:txBody>
                    <a:bodyPr/>
                    <a:lstStyle/>
                    <a:p>
                      <a:pPr algn="r" fontAlgn="b">
                        <a:buNone/>
                      </a:pPr>
                      <a:r>
                        <a:rPr lang="fr-FR" sz="900" b="0" i="0" u="none" strike="noStrike">
                          <a:solidFill>
                            <a:srgbClr val="000000"/>
                          </a:solidFill>
                          <a:effectLst/>
                          <a:latin typeface="Aptos Narrow" panose="020B0004020202020204" pitchFamily="34" charset="0"/>
                        </a:rPr>
                        <a:t>45,3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8CE7F"/>
                    </a:solidFill>
                  </a:tcPr>
                </a:tc>
                <a:tc>
                  <a:txBody>
                    <a:bodyPr/>
                    <a:lstStyle/>
                    <a:p>
                      <a:pPr algn="r" fontAlgn="b">
                        <a:buNone/>
                      </a:pPr>
                      <a:r>
                        <a:rPr lang="fr-FR" sz="900" b="0" i="0" u="none" strike="noStrike">
                          <a:solidFill>
                            <a:srgbClr val="00B050"/>
                          </a:solidFill>
                          <a:effectLst/>
                          <a:latin typeface="Aptos Narrow" panose="020B0004020202020204" pitchFamily="34" charset="0"/>
                        </a:rPr>
                        <a:t>7,3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81338949"/>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Seniors active 55-74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51,4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0C77D"/>
                    </a:solidFill>
                  </a:tcPr>
                </a:tc>
                <a:tc>
                  <a:txBody>
                    <a:bodyPr/>
                    <a:lstStyle/>
                    <a:p>
                      <a:pPr algn="r" fontAlgn="b">
                        <a:buNone/>
                      </a:pPr>
                      <a:r>
                        <a:rPr lang="fr-FR" sz="900" b="0" i="0" u="none" strike="noStrike">
                          <a:solidFill>
                            <a:srgbClr val="000000"/>
                          </a:solidFill>
                          <a:effectLst/>
                          <a:latin typeface="Aptos Narrow" panose="020B0004020202020204" pitchFamily="34" charset="0"/>
                        </a:rPr>
                        <a:t>46,4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4CC7E"/>
                    </a:solidFill>
                  </a:tcPr>
                </a:tc>
                <a:tc>
                  <a:txBody>
                    <a:bodyPr/>
                    <a:lstStyle/>
                    <a:p>
                      <a:pPr algn="r" fontAlgn="b">
                        <a:buNone/>
                      </a:pPr>
                      <a:r>
                        <a:rPr lang="fr-FR" sz="900" b="0" i="0" u="none" strike="noStrike">
                          <a:solidFill>
                            <a:srgbClr val="00B050"/>
                          </a:solidFill>
                          <a:effectLst/>
                          <a:latin typeface="Aptos Narrow" panose="020B0004020202020204" pitchFamily="34" charset="0"/>
                        </a:rPr>
                        <a:t>5,0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08602973"/>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Seniors&gt;75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49,3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8C97E"/>
                    </a:solidFill>
                  </a:tcPr>
                </a:tc>
                <a:tc>
                  <a:txBody>
                    <a:bodyPr/>
                    <a:lstStyle/>
                    <a:p>
                      <a:pPr algn="r" fontAlgn="b">
                        <a:buNone/>
                      </a:pPr>
                      <a:r>
                        <a:rPr lang="fr-FR" sz="900" b="0" i="0" u="none" strike="noStrike">
                          <a:solidFill>
                            <a:srgbClr val="000000"/>
                          </a:solidFill>
                          <a:effectLst/>
                          <a:latin typeface="Aptos Narrow" panose="020B0004020202020204" pitchFamily="34" charset="0"/>
                        </a:rPr>
                        <a:t>34,7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1DA81"/>
                    </a:solidFill>
                  </a:tcPr>
                </a:tc>
                <a:tc>
                  <a:txBody>
                    <a:bodyPr/>
                    <a:lstStyle/>
                    <a:p>
                      <a:pPr algn="r" fontAlgn="b">
                        <a:buNone/>
                      </a:pPr>
                      <a:r>
                        <a:rPr lang="fr-FR" sz="900" b="0" i="0" u="none" strike="noStrike">
                          <a:solidFill>
                            <a:srgbClr val="00B050"/>
                          </a:solidFill>
                          <a:effectLst/>
                          <a:latin typeface="Aptos Narrow" panose="020B0004020202020204" pitchFamily="34" charset="0"/>
                        </a:rPr>
                        <a:t>14,6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29093796"/>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Young Adults 18-34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56,2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DC17C"/>
                    </a:solidFill>
                  </a:tcPr>
                </a:tc>
                <a:tc>
                  <a:txBody>
                    <a:bodyPr/>
                    <a:lstStyle/>
                    <a:p>
                      <a:pPr algn="r" fontAlgn="b">
                        <a:buNone/>
                      </a:pPr>
                      <a:r>
                        <a:rPr lang="fr-FR" sz="900" b="0" i="0" u="none" strike="noStrike">
                          <a:solidFill>
                            <a:srgbClr val="000000"/>
                          </a:solidFill>
                          <a:effectLst/>
                          <a:latin typeface="Aptos Narrow" panose="020B0004020202020204" pitchFamily="34" charset="0"/>
                        </a:rPr>
                        <a:t>31,1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FDE82"/>
                    </a:solidFill>
                  </a:tcPr>
                </a:tc>
                <a:tc>
                  <a:txBody>
                    <a:bodyPr/>
                    <a:lstStyle/>
                    <a:p>
                      <a:pPr algn="r" fontAlgn="b">
                        <a:buNone/>
                      </a:pPr>
                      <a:r>
                        <a:rPr lang="fr-FR" sz="900" b="0" i="0" u="none" strike="noStrike">
                          <a:solidFill>
                            <a:srgbClr val="00B050"/>
                          </a:solidFill>
                          <a:effectLst/>
                          <a:latin typeface="Aptos Narrow" panose="020B0004020202020204" pitchFamily="34" charset="0"/>
                        </a:rPr>
                        <a:t>25,2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7129467"/>
                  </a:ext>
                </a:extLst>
              </a:tr>
            </a:tbl>
          </a:graphicData>
        </a:graphic>
      </p:graphicFrame>
      <p:graphicFrame>
        <p:nvGraphicFramePr>
          <p:cNvPr id="11" name="Table 10">
            <a:extLst>
              <a:ext uri="{FF2B5EF4-FFF2-40B4-BE49-F238E27FC236}">
                <a16:creationId xmlns:a16="http://schemas.microsoft.com/office/drawing/2014/main" id="{1812DF7A-B477-0AE1-9890-4B22BA730FCD}"/>
              </a:ext>
            </a:extLst>
          </p:cNvPr>
          <p:cNvGraphicFramePr>
            <a:graphicFrameLocks noGrp="1"/>
          </p:cNvGraphicFramePr>
          <p:nvPr>
            <p:extLst>
              <p:ext uri="{D42A27DB-BD31-4B8C-83A1-F6EECF244321}">
                <p14:modId xmlns:p14="http://schemas.microsoft.com/office/powerpoint/2010/main" val="1413250031"/>
              </p:ext>
            </p:extLst>
          </p:nvPr>
        </p:nvGraphicFramePr>
        <p:xfrm>
          <a:off x="7064494" y="3168980"/>
          <a:ext cx="3138369" cy="2649892"/>
        </p:xfrm>
        <a:graphic>
          <a:graphicData uri="http://schemas.openxmlformats.org/drawingml/2006/table">
            <a:tbl>
              <a:tblPr/>
              <a:tblGrid>
                <a:gridCol w="1958406">
                  <a:extLst>
                    <a:ext uri="{9D8B030D-6E8A-4147-A177-3AD203B41FA5}">
                      <a16:colId xmlns:a16="http://schemas.microsoft.com/office/drawing/2014/main" val="3504473148"/>
                    </a:ext>
                  </a:extLst>
                </a:gridCol>
                <a:gridCol w="393321">
                  <a:extLst>
                    <a:ext uri="{9D8B030D-6E8A-4147-A177-3AD203B41FA5}">
                      <a16:colId xmlns:a16="http://schemas.microsoft.com/office/drawing/2014/main" val="1326715404"/>
                    </a:ext>
                  </a:extLst>
                </a:gridCol>
                <a:gridCol w="393321">
                  <a:extLst>
                    <a:ext uri="{9D8B030D-6E8A-4147-A177-3AD203B41FA5}">
                      <a16:colId xmlns:a16="http://schemas.microsoft.com/office/drawing/2014/main" val="3652979651"/>
                    </a:ext>
                  </a:extLst>
                </a:gridCol>
                <a:gridCol w="393321">
                  <a:extLst>
                    <a:ext uri="{9D8B030D-6E8A-4147-A177-3AD203B41FA5}">
                      <a16:colId xmlns:a16="http://schemas.microsoft.com/office/drawing/2014/main" val="2723683007"/>
                    </a:ext>
                  </a:extLst>
                </a:gridCol>
              </a:tblGrid>
              <a:tr h="66944">
                <a:tc>
                  <a:txBody>
                    <a:bodyPr/>
                    <a:lstStyle/>
                    <a:p>
                      <a:pPr algn="l" fontAlgn="b">
                        <a:buNone/>
                      </a:pPr>
                      <a:endParaRPr lang="fr-FR" sz="900" b="0" i="0" u="none" strike="noStrike">
                        <a:solidFill>
                          <a:srgbClr val="000000"/>
                        </a:solidFill>
                        <a:effectLst/>
                        <a:latin typeface="Aptos Narrow" panose="020B0004020202020204" pitchFamily="34" charset="0"/>
                      </a:endParaRP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FY24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900" b="1" i="0" u="none" strike="noStrike">
                          <a:solidFill>
                            <a:srgbClr val="000000"/>
                          </a:solidFill>
                          <a:effectLst/>
                          <a:latin typeface="Aptos Narrow" panose="020B0004020202020204" pitchFamily="34" charset="0"/>
                        </a:rPr>
                        <a:t>Evol </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57271699"/>
                  </a:ext>
                </a:extLst>
              </a:tr>
              <a:tr h="66944">
                <a:tc>
                  <a:txBody>
                    <a:bodyPr/>
                    <a:lstStyle/>
                    <a:p>
                      <a:pPr algn="l" fontAlgn="b">
                        <a:buNone/>
                      </a:pPr>
                      <a:r>
                        <a:rPr lang="fr-FR" sz="900" b="1" i="0" u="none" strike="noStrike">
                          <a:solidFill>
                            <a:srgbClr val="000000"/>
                          </a:solidFill>
                          <a:effectLst/>
                          <a:latin typeface="Aptos Narrow" panose="020B0004020202020204" pitchFamily="34" charset="0"/>
                        </a:rPr>
                        <a:t>Les Trois Forêts</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27,2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EE283"/>
                    </a:solidFill>
                  </a:tcPr>
                </a:tc>
                <a:tc>
                  <a:txBody>
                    <a:bodyPr/>
                    <a:lstStyle/>
                    <a:p>
                      <a:pPr algn="r" fontAlgn="b">
                        <a:buNone/>
                      </a:pPr>
                      <a:r>
                        <a:rPr lang="fr-FR" sz="900" b="1" i="0" u="none" strike="noStrike">
                          <a:solidFill>
                            <a:srgbClr val="000000"/>
                          </a:solidFill>
                          <a:effectLst/>
                          <a:latin typeface="Aptos Narrow" panose="020B0004020202020204" pitchFamily="34" charset="0"/>
                        </a:rPr>
                        <a:t>19,3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EB84"/>
                    </a:solidFill>
                  </a:tcPr>
                </a:tc>
                <a:tc>
                  <a:txBody>
                    <a:bodyPr/>
                    <a:lstStyle/>
                    <a:p>
                      <a:pPr algn="r" fontAlgn="b">
                        <a:buNone/>
                      </a:pPr>
                      <a:r>
                        <a:rPr lang="fr-FR" sz="900" b="1" i="0" u="none" strike="noStrike">
                          <a:solidFill>
                            <a:srgbClr val="00B050"/>
                          </a:solidFill>
                          <a:effectLst/>
                          <a:latin typeface="Aptos Narrow" panose="020B0004020202020204" pitchFamily="34" charset="0"/>
                        </a:rPr>
                        <a:t>7,9</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90209572"/>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Adults 35-54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30,7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1DE82"/>
                    </a:solidFill>
                  </a:tcPr>
                </a:tc>
                <a:tc>
                  <a:txBody>
                    <a:bodyPr/>
                    <a:lstStyle/>
                    <a:p>
                      <a:pPr algn="r" fontAlgn="b">
                        <a:buNone/>
                      </a:pPr>
                      <a:r>
                        <a:rPr lang="fr-FR" sz="900" b="0" i="0" u="none" strike="noStrike">
                          <a:solidFill>
                            <a:srgbClr val="000000"/>
                          </a:solidFill>
                          <a:effectLst/>
                          <a:latin typeface="Aptos Narrow" panose="020B0004020202020204" pitchFamily="34" charset="0"/>
                        </a:rPr>
                        <a:t>22,3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1E784"/>
                    </a:solidFill>
                  </a:tcPr>
                </a:tc>
                <a:tc>
                  <a:txBody>
                    <a:bodyPr/>
                    <a:lstStyle/>
                    <a:p>
                      <a:pPr algn="r" fontAlgn="b">
                        <a:buNone/>
                      </a:pPr>
                      <a:r>
                        <a:rPr lang="fr-FR" sz="900" b="0" i="0" u="none" strike="noStrike">
                          <a:solidFill>
                            <a:srgbClr val="00B050"/>
                          </a:solidFill>
                          <a:effectLst/>
                          <a:latin typeface="Aptos Narrow" panose="020B0004020202020204" pitchFamily="34" charset="0"/>
                        </a:rPr>
                        <a:t>8,4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05715517"/>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0-2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33,8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5DB81"/>
                    </a:solidFill>
                  </a:tcPr>
                </a:tc>
                <a:tc>
                  <a:txBody>
                    <a:bodyPr/>
                    <a:lstStyle/>
                    <a:p>
                      <a:pPr algn="r" fontAlgn="b">
                        <a:buNone/>
                      </a:pPr>
                      <a:r>
                        <a:rPr lang="fr-FR" sz="900" b="0" i="0" u="none" strike="noStrike">
                          <a:solidFill>
                            <a:srgbClr val="000000"/>
                          </a:solidFill>
                          <a:effectLst/>
                          <a:latin typeface="Aptos Narrow" panose="020B0004020202020204" pitchFamily="34" charset="0"/>
                        </a:rPr>
                        <a:t>23,3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EE683"/>
                    </a:solidFill>
                  </a:tcPr>
                </a:tc>
                <a:tc>
                  <a:txBody>
                    <a:bodyPr/>
                    <a:lstStyle/>
                    <a:p>
                      <a:pPr algn="r" fontAlgn="b">
                        <a:buNone/>
                      </a:pPr>
                      <a:r>
                        <a:rPr lang="fr-FR" sz="900" b="0" i="0" u="none" strike="noStrike">
                          <a:solidFill>
                            <a:srgbClr val="00B050"/>
                          </a:solidFill>
                          <a:effectLst/>
                          <a:latin typeface="Aptos Narrow" panose="020B0004020202020204" pitchFamily="34" charset="0"/>
                        </a:rPr>
                        <a:t>10,5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08347098"/>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12-17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21,1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6E984"/>
                    </a:solidFill>
                  </a:tcPr>
                </a:tc>
                <a:tc>
                  <a:txBody>
                    <a:bodyPr/>
                    <a:lstStyle/>
                    <a:p>
                      <a:pPr algn="r" fontAlgn="b">
                        <a:buNone/>
                      </a:pPr>
                      <a:r>
                        <a:rPr lang="fr-FR" sz="900" b="0" i="0" u="none" strike="noStrike">
                          <a:solidFill>
                            <a:srgbClr val="000000"/>
                          </a:solidFill>
                          <a:effectLst/>
                          <a:latin typeface="Aptos Narrow" panose="020B0004020202020204" pitchFamily="34" charset="0"/>
                        </a:rPr>
                        <a:t>13,7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87D"/>
                    </a:solidFill>
                  </a:tcPr>
                </a:tc>
                <a:tc>
                  <a:txBody>
                    <a:bodyPr/>
                    <a:lstStyle/>
                    <a:p>
                      <a:pPr algn="r" fontAlgn="b">
                        <a:buNone/>
                      </a:pPr>
                      <a:r>
                        <a:rPr lang="fr-FR" sz="900" b="0" i="0" u="none" strike="noStrike">
                          <a:solidFill>
                            <a:srgbClr val="00B050"/>
                          </a:solidFill>
                          <a:effectLst/>
                          <a:latin typeface="Aptos Narrow" panose="020B0004020202020204" pitchFamily="34" charset="0"/>
                        </a:rPr>
                        <a:t>7,4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28890003"/>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29,3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6E082"/>
                    </a:solidFill>
                  </a:tcPr>
                </a:tc>
                <a:tc>
                  <a:txBody>
                    <a:bodyPr/>
                    <a:lstStyle/>
                    <a:p>
                      <a:pPr algn="r" fontAlgn="b">
                        <a:buNone/>
                      </a:pPr>
                      <a:r>
                        <a:rPr lang="fr-FR" sz="900" b="0" i="0" u="none" strike="noStrike">
                          <a:solidFill>
                            <a:srgbClr val="000000"/>
                          </a:solidFill>
                          <a:effectLst/>
                          <a:latin typeface="Aptos Narrow" panose="020B0004020202020204" pitchFamily="34" charset="0"/>
                        </a:rPr>
                        <a:t>21,5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4E884"/>
                    </a:solidFill>
                  </a:tcPr>
                </a:tc>
                <a:tc>
                  <a:txBody>
                    <a:bodyPr/>
                    <a:lstStyle/>
                    <a:p>
                      <a:pPr algn="r" fontAlgn="b">
                        <a:buNone/>
                      </a:pPr>
                      <a:r>
                        <a:rPr lang="fr-FR" sz="900" b="0" i="0" u="none" strike="noStrike">
                          <a:solidFill>
                            <a:srgbClr val="00B050"/>
                          </a:solidFill>
                          <a:effectLst/>
                          <a:latin typeface="Aptos Narrow" panose="020B0004020202020204" pitchFamily="34" charset="0"/>
                        </a:rPr>
                        <a:t>7,8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28624335"/>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5-11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24,4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9E583"/>
                    </a:solidFill>
                  </a:tcPr>
                </a:tc>
                <a:tc>
                  <a:txBody>
                    <a:bodyPr/>
                    <a:lstStyle/>
                    <a:p>
                      <a:pPr algn="r" fontAlgn="b">
                        <a:buNone/>
                      </a:pPr>
                      <a:r>
                        <a:rPr lang="fr-FR" sz="900" b="0" i="0" u="none" strike="noStrike">
                          <a:solidFill>
                            <a:srgbClr val="000000"/>
                          </a:solidFill>
                          <a:effectLst/>
                          <a:latin typeface="Aptos Narrow" panose="020B0004020202020204" pitchFamily="34" charset="0"/>
                        </a:rPr>
                        <a:t>17,6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382"/>
                    </a:solidFill>
                  </a:tcPr>
                </a:tc>
                <a:tc>
                  <a:txBody>
                    <a:bodyPr/>
                    <a:lstStyle/>
                    <a:p>
                      <a:pPr algn="r" fontAlgn="b">
                        <a:buNone/>
                      </a:pPr>
                      <a:r>
                        <a:rPr lang="fr-FR" sz="900" b="0" i="0" u="none" strike="noStrike">
                          <a:solidFill>
                            <a:srgbClr val="00B050"/>
                          </a:solidFill>
                          <a:effectLst/>
                          <a:latin typeface="Aptos Narrow" panose="020B0004020202020204" pitchFamily="34" charset="0"/>
                        </a:rPr>
                        <a:t>6,8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03832208"/>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Seniors active 55-74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38,1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4D680"/>
                    </a:solidFill>
                  </a:tcPr>
                </a:tc>
                <a:tc>
                  <a:txBody>
                    <a:bodyPr/>
                    <a:lstStyle/>
                    <a:p>
                      <a:pPr algn="r" fontAlgn="b">
                        <a:buNone/>
                      </a:pPr>
                      <a:r>
                        <a:rPr lang="fr-FR" sz="900" b="0" i="0" u="none" strike="noStrike">
                          <a:solidFill>
                            <a:srgbClr val="000000"/>
                          </a:solidFill>
                          <a:effectLst/>
                          <a:latin typeface="Aptos Narrow" panose="020B0004020202020204" pitchFamily="34" charset="0"/>
                        </a:rPr>
                        <a:t>28,8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8E082"/>
                    </a:solidFill>
                  </a:tcPr>
                </a:tc>
                <a:tc>
                  <a:txBody>
                    <a:bodyPr/>
                    <a:lstStyle/>
                    <a:p>
                      <a:pPr algn="r" fontAlgn="b">
                        <a:buNone/>
                      </a:pPr>
                      <a:r>
                        <a:rPr lang="fr-FR" sz="900" b="0" i="0" u="none" strike="noStrike">
                          <a:solidFill>
                            <a:srgbClr val="00B050"/>
                          </a:solidFill>
                          <a:effectLst/>
                          <a:latin typeface="Aptos Narrow" panose="020B0004020202020204" pitchFamily="34" charset="0"/>
                        </a:rPr>
                        <a:t>9,2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04132074"/>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Seniors&gt;75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41,3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7D27F"/>
                    </a:solidFill>
                  </a:tcPr>
                </a:tc>
                <a:tc>
                  <a:txBody>
                    <a:bodyPr/>
                    <a:lstStyle/>
                    <a:p>
                      <a:pPr algn="r" fontAlgn="b">
                        <a:buNone/>
                      </a:pPr>
                      <a:r>
                        <a:rPr lang="fr-FR" sz="900" b="0" i="0" u="none" strike="noStrike">
                          <a:solidFill>
                            <a:srgbClr val="000000"/>
                          </a:solidFill>
                          <a:effectLst/>
                          <a:latin typeface="Aptos Narrow" panose="020B0004020202020204" pitchFamily="34" charset="0"/>
                        </a:rPr>
                        <a:t>33,8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5DB81"/>
                    </a:solidFill>
                  </a:tcPr>
                </a:tc>
                <a:tc>
                  <a:txBody>
                    <a:bodyPr/>
                    <a:lstStyle/>
                    <a:p>
                      <a:pPr algn="r" fontAlgn="b">
                        <a:buNone/>
                      </a:pPr>
                      <a:r>
                        <a:rPr lang="fr-FR" sz="900" b="0" i="0" u="none" strike="noStrike">
                          <a:solidFill>
                            <a:srgbClr val="00B050"/>
                          </a:solidFill>
                          <a:effectLst/>
                          <a:latin typeface="Aptos Narrow" panose="020B0004020202020204" pitchFamily="34" charset="0"/>
                        </a:rPr>
                        <a:t>7,5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93407925"/>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Young Adults 18-34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32,1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BDC81"/>
                    </a:solidFill>
                  </a:tcPr>
                </a:tc>
                <a:tc>
                  <a:txBody>
                    <a:bodyPr/>
                    <a:lstStyle/>
                    <a:p>
                      <a:pPr algn="r" fontAlgn="b">
                        <a:buNone/>
                      </a:pPr>
                      <a:r>
                        <a:rPr lang="fr-FR" sz="900" b="0" i="0" u="none" strike="noStrike">
                          <a:solidFill>
                            <a:srgbClr val="000000"/>
                          </a:solidFill>
                          <a:effectLst/>
                          <a:latin typeface="Aptos Narrow" panose="020B0004020202020204" pitchFamily="34" charset="0"/>
                        </a:rPr>
                        <a:t>22,3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1E784"/>
                    </a:solidFill>
                  </a:tcPr>
                </a:tc>
                <a:tc>
                  <a:txBody>
                    <a:bodyPr/>
                    <a:lstStyle/>
                    <a:p>
                      <a:pPr algn="r" fontAlgn="b">
                        <a:buNone/>
                      </a:pPr>
                      <a:r>
                        <a:rPr lang="fr-FR" sz="900" b="0" i="0" u="none" strike="noStrike">
                          <a:solidFill>
                            <a:srgbClr val="00B050"/>
                          </a:solidFill>
                          <a:effectLst/>
                          <a:latin typeface="Aptos Narrow" panose="020B0004020202020204" pitchFamily="34" charset="0"/>
                        </a:rPr>
                        <a:t>9,8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01985682"/>
                  </a:ext>
                </a:extLst>
              </a:tr>
              <a:tr h="66944">
                <a:tc>
                  <a:txBody>
                    <a:bodyPr/>
                    <a:lstStyle/>
                    <a:p>
                      <a:pPr algn="l" fontAlgn="b">
                        <a:buNone/>
                      </a:pPr>
                      <a:r>
                        <a:rPr lang="fr-FR" sz="900" b="1" i="0" u="none" strike="noStrike">
                          <a:solidFill>
                            <a:srgbClr val="000000"/>
                          </a:solidFill>
                          <a:effectLst/>
                          <a:latin typeface="Aptos Narrow" panose="020B0004020202020204" pitchFamily="34" charset="0"/>
                        </a:rPr>
                        <a:t>Villages Nature Paris</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1" i="0" u="none" strike="noStrike">
                          <a:solidFill>
                            <a:srgbClr val="000000"/>
                          </a:solidFill>
                          <a:effectLst/>
                          <a:latin typeface="Aptos Narrow" panose="020B0004020202020204" pitchFamily="34" charset="0"/>
                        </a:rPr>
                        <a:t>9,7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C77"/>
                    </a:solidFill>
                  </a:tcPr>
                </a:tc>
                <a:tc>
                  <a:txBody>
                    <a:bodyPr/>
                    <a:lstStyle/>
                    <a:p>
                      <a:pPr algn="r" fontAlgn="b">
                        <a:buNone/>
                      </a:pPr>
                      <a:r>
                        <a:rPr lang="fr-FR" sz="900" b="1" i="0" u="none" strike="noStrike">
                          <a:solidFill>
                            <a:srgbClr val="000000"/>
                          </a:solidFill>
                          <a:effectLst/>
                          <a:latin typeface="Aptos Narrow" panose="020B0004020202020204" pitchFamily="34" charset="0"/>
                        </a:rPr>
                        <a:t>5,1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B71"/>
                    </a:solidFill>
                  </a:tcPr>
                </a:tc>
                <a:tc>
                  <a:txBody>
                    <a:bodyPr/>
                    <a:lstStyle/>
                    <a:p>
                      <a:pPr algn="r" fontAlgn="b">
                        <a:buNone/>
                      </a:pPr>
                      <a:r>
                        <a:rPr lang="fr-FR" sz="900" b="1" i="0" u="none" strike="noStrike">
                          <a:solidFill>
                            <a:srgbClr val="00B050"/>
                          </a:solidFill>
                          <a:effectLst/>
                          <a:latin typeface="Aptos Narrow" panose="020B0004020202020204" pitchFamily="34" charset="0"/>
                        </a:rPr>
                        <a:t>4,7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87105320"/>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Adults 35-54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8,1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A075"/>
                    </a:solidFill>
                  </a:tcPr>
                </a:tc>
                <a:tc>
                  <a:txBody>
                    <a:bodyPr/>
                    <a:lstStyle/>
                    <a:p>
                      <a:pPr algn="r" fontAlgn="b">
                        <a:buNone/>
                      </a:pPr>
                      <a:r>
                        <a:rPr lang="fr-FR" sz="900" b="0" i="0" u="none" strike="noStrike">
                          <a:solidFill>
                            <a:srgbClr val="000000"/>
                          </a:solidFill>
                          <a:effectLst/>
                          <a:latin typeface="Aptos Narrow" panose="020B0004020202020204" pitchFamily="34" charset="0"/>
                        </a:rPr>
                        <a:t>4,0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370"/>
                    </a:solidFill>
                  </a:tcPr>
                </a:tc>
                <a:tc>
                  <a:txBody>
                    <a:bodyPr/>
                    <a:lstStyle/>
                    <a:p>
                      <a:pPr algn="r" fontAlgn="b">
                        <a:buNone/>
                      </a:pPr>
                      <a:r>
                        <a:rPr lang="fr-FR" sz="900" b="0" i="0" u="none" strike="noStrike">
                          <a:solidFill>
                            <a:srgbClr val="00B050"/>
                          </a:solidFill>
                          <a:effectLst/>
                          <a:latin typeface="Aptos Narrow" panose="020B0004020202020204" pitchFamily="34" charset="0"/>
                        </a:rPr>
                        <a:t>4,1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88428997"/>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0-2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B6E"/>
                    </a:solidFill>
                  </a:tcPr>
                </a:tc>
                <a:tc>
                  <a:txBody>
                    <a:bodyPr/>
                    <a:lstStyle/>
                    <a:p>
                      <a:pPr algn="r" fontAlgn="b">
                        <a:buNone/>
                      </a:pPr>
                      <a:r>
                        <a:rPr lang="fr-FR" sz="900" b="0" i="0" u="none" strike="noStrike">
                          <a:solidFill>
                            <a:srgbClr val="000000"/>
                          </a:solidFill>
                          <a:effectLst/>
                          <a:latin typeface="Aptos Narrow" panose="020B0004020202020204" pitchFamily="34" charset="0"/>
                        </a:rPr>
                        <a:t>1,1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F6C"/>
                    </a:solidFill>
                  </a:tcPr>
                </a:tc>
                <a:tc>
                  <a:txBody>
                    <a:bodyPr/>
                    <a:lstStyle/>
                    <a:p>
                      <a:pPr algn="r" fontAlgn="b">
                        <a:buNone/>
                      </a:pPr>
                      <a:r>
                        <a:rPr lang="fr-FR" sz="900" b="0" i="0" u="none" strike="noStrike">
                          <a:solidFill>
                            <a:srgbClr val="00B050"/>
                          </a:solidFill>
                          <a:effectLst/>
                          <a:latin typeface="Aptos Narrow" panose="020B0004020202020204" pitchFamily="34" charset="0"/>
                        </a:rPr>
                        <a:t>1,6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7594922"/>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12-17</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3,2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7E6F"/>
                    </a:solidFill>
                  </a:tcPr>
                </a:tc>
                <a:tc>
                  <a:txBody>
                    <a:bodyPr/>
                    <a:lstStyle/>
                    <a:p>
                      <a:pPr algn="r" fontAlgn="b">
                        <a:buNone/>
                      </a:pPr>
                      <a:r>
                        <a:rPr lang="fr-FR" sz="900" b="0" i="0" u="none" strike="noStrike">
                          <a:solidFill>
                            <a:srgbClr val="000000"/>
                          </a:solidFill>
                          <a:effectLst/>
                          <a:latin typeface="Aptos Narrow" panose="020B0004020202020204" pitchFamily="34" charset="0"/>
                        </a:rPr>
                        <a:t>1,2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06C"/>
                    </a:solidFill>
                  </a:tcPr>
                </a:tc>
                <a:tc>
                  <a:txBody>
                    <a:bodyPr/>
                    <a:lstStyle/>
                    <a:p>
                      <a:pPr algn="r" fontAlgn="b">
                        <a:buNone/>
                      </a:pPr>
                      <a:r>
                        <a:rPr lang="fr-FR" sz="900" b="0" i="0" u="none" strike="noStrike">
                          <a:solidFill>
                            <a:srgbClr val="00B050"/>
                          </a:solidFill>
                          <a:effectLst/>
                          <a:latin typeface="Aptos Narrow" panose="020B0004020202020204" pitchFamily="34" charset="0"/>
                        </a:rPr>
                        <a:t>2,1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03974802"/>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15,8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780"/>
                    </a:solidFill>
                  </a:tcPr>
                </a:tc>
                <a:tc>
                  <a:txBody>
                    <a:bodyPr/>
                    <a:lstStyle/>
                    <a:p>
                      <a:pPr algn="r" fontAlgn="b">
                        <a:buNone/>
                      </a:pPr>
                      <a:r>
                        <a:rPr lang="fr-FR" sz="900" b="0" i="0" u="none" strike="noStrike">
                          <a:solidFill>
                            <a:srgbClr val="000000"/>
                          </a:solidFill>
                          <a:effectLst/>
                          <a:latin typeface="Aptos Narrow" panose="020B0004020202020204" pitchFamily="34" charset="0"/>
                        </a:rPr>
                        <a:t>6,0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272"/>
                    </a:solidFill>
                  </a:tcPr>
                </a:tc>
                <a:tc>
                  <a:txBody>
                    <a:bodyPr/>
                    <a:lstStyle/>
                    <a:p>
                      <a:pPr algn="r" fontAlgn="b">
                        <a:buNone/>
                      </a:pPr>
                      <a:r>
                        <a:rPr lang="fr-FR" sz="900" b="0" i="0" u="none" strike="noStrike">
                          <a:solidFill>
                            <a:srgbClr val="00B050"/>
                          </a:solidFill>
                          <a:effectLst/>
                          <a:latin typeface="Aptos Narrow" panose="020B0004020202020204" pitchFamily="34" charset="0"/>
                        </a:rPr>
                        <a:t>9,8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80639296"/>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Family with Children 5-11</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11,4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87A"/>
                    </a:solidFill>
                  </a:tcPr>
                </a:tc>
                <a:tc>
                  <a:txBody>
                    <a:bodyPr/>
                    <a:lstStyle/>
                    <a:p>
                      <a:pPr algn="r" fontAlgn="b">
                        <a:buNone/>
                      </a:pPr>
                      <a:r>
                        <a:rPr lang="fr-FR" sz="900" b="0" i="0" u="none" strike="noStrike">
                          <a:solidFill>
                            <a:srgbClr val="000000"/>
                          </a:solidFill>
                          <a:effectLst/>
                          <a:latin typeface="Aptos Narrow" panose="020B0004020202020204" pitchFamily="34" charset="0"/>
                        </a:rPr>
                        <a:t>7,0</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874"/>
                    </a:solidFill>
                  </a:tcPr>
                </a:tc>
                <a:tc>
                  <a:txBody>
                    <a:bodyPr/>
                    <a:lstStyle/>
                    <a:p>
                      <a:pPr algn="r" fontAlgn="b">
                        <a:buNone/>
                      </a:pPr>
                      <a:r>
                        <a:rPr lang="fr-FR" sz="900" b="0" i="0" u="none" strike="noStrike">
                          <a:solidFill>
                            <a:srgbClr val="00B050"/>
                          </a:solidFill>
                          <a:effectLst/>
                          <a:latin typeface="Aptos Narrow" panose="020B0004020202020204" pitchFamily="34" charset="0"/>
                        </a:rPr>
                        <a:t>4,5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72604322"/>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Seniors active 55-74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14,6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E7E"/>
                    </a:solidFill>
                  </a:tcPr>
                </a:tc>
                <a:tc>
                  <a:txBody>
                    <a:bodyPr/>
                    <a:lstStyle/>
                    <a:p>
                      <a:pPr algn="r" fontAlgn="b">
                        <a:buNone/>
                      </a:pPr>
                      <a:r>
                        <a:rPr lang="fr-FR" sz="900" b="0" i="0" u="none" strike="noStrike">
                          <a:solidFill>
                            <a:srgbClr val="000000"/>
                          </a:solidFill>
                          <a:effectLst/>
                          <a:latin typeface="Aptos Narrow" panose="020B0004020202020204" pitchFamily="34" charset="0"/>
                        </a:rPr>
                        <a:t>9,4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977"/>
                    </a:solidFill>
                  </a:tcPr>
                </a:tc>
                <a:tc>
                  <a:txBody>
                    <a:bodyPr/>
                    <a:lstStyle/>
                    <a:p>
                      <a:pPr algn="r" fontAlgn="b">
                        <a:buNone/>
                      </a:pPr>
                      <a:r>
                        <a:rPr lang="fr-FR" sz="900" b="0" i="0" u="none" strike="noStrike">
                          <a:solidFill>
                            <a:srgbClr val="00B050"/>
                          </a:solidFill>
                          <a:effectLst/>
                          <a:latin typeface="Aptos Narrow" panose="020B0004020202020204" pitchFamily="34" charset="0"/>
                        </a:rPr>
                        <a:t>5,2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56145028"/>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Seniors&gt;75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26,4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1E383"/>
                    </a:solidFill>
                  </a:tcPr>
                </a:tc>
                <a:tc>
                  <a:txBody>
                    <a:bodyPr/>
                    <a:lstStyle/>
                    <a:p>
                      <a:pPr algn="r" fontAlgn="b">
                        <a:buNone/>
                      </a:pPr>
                      <a:r>
                        <a:rPr lang="fr-FR" sz="900" b="0" i="0" u="none" strike="noStrike">
                          <a:solidFill>
                            <a:srgbClr val="000000"/>
                          </a:solidFill>
                          <a:effectLst/>
                          <a:latin typeface="Aptos Narrow" panose="020B0004020202020204" pitchFamily="34" charset="0"/>
                        </a:rPr>
                        <a:t>17,6</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382"/>
                    </a:solidFill>
                  </a:tcPr>
                </a:tc>
                <a:tc>
                  <a:txBody>
                    <a:bodyPr/>
                    <a:lstStyle/>
                    <a:p>
                      <a:pPr algn="r" fontAlgn="b">
                        <a:buNone/>
                      </a:pPr>
                      <a:r>
                        <a:rPr lang="fr-FR" sz="900" b="0" i="0" u="none" strike="noStrike">
                          <a:solidFill>
                            <a:srgbClr val="00B050"/>
                          </a:solidFill>
                          <a:effectLst/>
                          <a:latin typeface="Aptos Narrow" panose="020B0004020202020204" pitchFamily="34" charset="0"/>
                        </a:rPr>
                        <a:t>8,8</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70564939"/>
                  </a:ext>
                </a:extLst>
              </a:tr>
              <a:tr h="66944">
                <a:tc>
                  <a:txBody>
                    <a:bodyPr/>
                    <a:lstStyle/>
                    <a:p>
                      <a:pPr algn="l" fontAlgn="b">
                        <a:buNone/>
                      </a:pPr>
                      <a:r>
                        <a:rPr lang="fr-FR" sz="900" b="0" i="0" u="none" strike="noStrike">
                          <a:solidFill>
                            <a:srgbClr val="000000"/>
                          </a:solidFill>
                          <a:effectLst/>
                          <a:latin typeface="Aptos Narrow" panose="020B0004020202020204" pitchFamily="34" charset="0"/>
                        </a:rPr>
                        <a:t> Young Adults 18-34</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900" b="0" i="0" u="none" strike="noStrike">
                          <a:solidFill>
                            <a:srgbClr val="000000"/>
                          </a:solidFill>
                          <a:effectLst/>
                          <a:latin typeface="Aptos Narrow" panose="020B0004020202020204" pitchFamily="34" charset="0"/>
                        </a:rPr>
                        <a:t>14,5</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D7E"/>
                    </a:solidFill>
                  </a:tcPr>
                </a:tc>
                <a:tc>
                  <a:txBody>
                    <a:bodyPr/>
                    <a:lstStyle/>
                    <a:p>
                      <a:pPr algn="r" fontAlgn="b">
                        <a:buNone/>
                      </a:pPr>
                      <a:r>
                        <a:rPr lang="fr-FR" sz="900" b="0" i="0" u="none" strike="noStrike">
                          <a:solidFill>
                            <a:srgbClr val="000000"/>
                          </a:solidFill>
                          <a:effectLst/>
                          <a:latin typeface="Aptos Narrow" panose="020B0004020202020204" pitchFamily="34" charset="0"/>
                        </a:rPr>
                        <a:t>5,3</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D71"/>
                    </a:solidFill>
                  </a:tcPr>
                </a:tc>
                <a:tc>
                  <a:txBody>
                    <a:bodyPr/>
                    <a:lstStyle/>
                    <a:p>
                      <a:pPr algn="r" fontAlgn="b">
                        <a:buNone/>
                      </a:pPr>
                      <a:r>
                        <a:rPr lang="fr-FR" sz="900" b="0" i="0" u="none" strike="noStrike">
                          <a:solidFill>
                            <a:srgbClr val="00B050"/>
                          </a:solidFill>
                          <a:effectLst/>
                          <a:latin typeface="Aptos Narrow" panose="020B0004020202020204" pitchFamily="34" charset="0"/>
                        </a:rPr>
                        <a:t>9,2</a:t>
                      </a:r>
                    </a:p>
                  </a:txBody>
                  <a:tcPr marL="2308" marR="2308" marT="2308"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43740983"/>
                  </a:ext>
                </a:extLst>
              </a:tr>
            </a:tbl>
          </a:graphicData>
        </a:graphic>
      </p:graphicFrame>
    </p:spTree>
    <p:extLst>
      <p:ext uri="{BB962C8B-B14F-4D97-AF65-F5344CB8AC3E}">
        <p14:creationId xmlns:p14="http://schemas.microsoft.com/office/powerpoint/2010/main" val="30337563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1B2E0-9EA2-C224-1FDE-03D5890AB8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417FE6-43E3-2ED4-CF80-DF2485E1A66F}"/>
              </a:ext>
            </a:extLst>
          </p:cNvPr>
          <p:cNvSpPr>
            <a:spLocks noGrp="1"/>
          </p:cNvSpPr>
          <p:nvPr>
            <p:ph type="sldNum" sz="quarter" idx="12"/>
          </p:nvPr>
        </p:nvSpPr>
        <p:spPr/>
        <p:txBody>
          <a:bodyPr/>
          <a:lstStyle/>
          <a:p>
            <a:fld id="{0D2E6A04-B99A-6C4D-8942-945F97C9E705}" type="slidenum">
              <a:rPr lang="en-US" smtClean="0"/>
              <a:pPr/>
              <a:t>60</a:t>
            </a:fld>
            <a:endParaRPr lang="en-US"/>
          </a:p>
        </p:txBody>
      </p:sp>
      <p:sp>
        <p:nvSpPr>
          <p:cNvPr id="3" name="Date Placeholder 2">
            <a:extLst>
              <a:ext uri="{FF2B5EF4-FFF2-40B4-BE49-F238E27FC236}">
                <a16:creationId xmlns:a16="http://schemas.microsoft.com/office/drawing/2014/main" id="{78C15029-2353-DD0B-3371-403EAC15E696}"/>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6C7A2EDD-3CF6-B048-EA21-E27AB2A05E12}"/>
              </a:ext>
            </a:extLst>
          </p:cNvPr>
          <p:cNvSpPr>
            <a:spLocks noGrp="1"/>
          </p:cNvSpPr>
          <p:nvPr>
            <p:ph type="title"/>
          </p:nvPr>
        </p:nvSpPr>
        <p:spPr/>
        <p:txBody>
          <a:bodyPr/>
          <a:lstStyle/>
          <a:p>
            <a:r>
              <a:rPr lang="fr-FR"/>
              <a:t>France – NPS per </a:t>
            </a:r>
            <a:r>
              <a:rPr lang="fr-FR" err="1"/>
              <a:t>customer</a:t>
            </a:r>
            <a:r>
              <a:rPr lang="fr-FR"/>
              <a:t> country</a:t>
            </a:r>
          </a:p>
        </p:txBody>
      </p:sp>
      <p:sp>
        <p:nvSpPr>
          <p:cNvPr id="6" name="Rechthoek 4">
            <a:extLst>
              <a:ext uri="{FF2B5EF4-FFF2-40B4-BE49-F238E27FC236}">
                <a16:creationId xmlns:a16="http://schemas.microsoft.com/office/drawing/2014/main" id="{85EACF6F-AE76-308B-BBFA-1769DA8FBCE6}"/>
              </a:ext>
            </a:extLst>
          </p:cNvPr>
          <p:cNvSpPr/>
          <p:nvPr/>
        </p:nvSpPr>
        <p:spPr>
          <a:xfrm>
            <a:off x="-1" y="978100"/>
            <a:ext cx="6934201" cy="1696720"/>
          </a:xfrm>
          <a:prstGeom prst="rect">
            <a:avLst/>
          </a:prstGeom>
          <a:solidFill>
            <a:schemeClr val="accent6">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French guest are the highest NPS for most of the volumes on all parks.</a:t>
            </a:r>
          </a:p>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NL, BE and DK are the lowest NPS below average.</a:t>
            </a:r>
          </a:p>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Increase of all origin except IL, ES, CH, IE (very low % of total respondents).</a:t>
            </a:r>
          </a:p>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NPS French guest increased on all parks which impact the total FR country results. </a:t>
            </a:r>
          </a:p>
        </p:txBody>
      </p:sp>
      <p:sp>
        <p:nvSpPr>
          <p:cNvPr id="7" name="Rectangle 6">
            <a:extLst>
              <a:ext uri="{FF2B5EF4-FFF2-40B4-BE49-F238E27FC236}">
                <a16:creationId xmlns:a16="http://schemas.microsoft.com/office/drawing/2014/main" id="{9E178E93-E7B0-84F0-7FA2-43045FDD7865}"/>
              </a:ext>
            </a:extLst>
          </p:cNvPr>
          <p:cNvSpPr/>
          <p:nvPr/>
        </p:nvSpPr>
        <p:spPr>
          <a:xfrm rot="16200000">
            <a:off x="-617105" y="1646060"/>
            <a:ext cx="1656000" cy="37547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6">
                    <a:lumMod val="20000"/>
                    <a:lumOff val="80000"/>
                  </a:schemeClr>
                </a:solidFill>
                <a:ea typeface="Calibri"/>
                <a:cs typeface="Calibri"/>
              </a:rPr>
              <a:t>Analysis</a:t>
            </a:r>
            <a:endParaRPr lang="en-US" sz="1100">
              <a:solidFill>
                <a:schemeClr val="accent6">
                  <a:lumMod val="20000"/>
                  <a:lumOff val="80000"/>
                </a:schemeClr>
              </a:solidFill>
            </a:endParaRPr>
          </a:p>
        </p:txBody>
      </p:sp>
      <p:graphicFrame>
        <p:nvGraphicFramePr>
          <p:cNvPr id="8" name="Table 7">
            <a:extLst>
              <a:ext uri="{FF2B5EF4-FFF2-40B4-BE49-F238E27FC236}">
                <a16:creationId xmlns:a16="http://schemas.microsoft.com/office/drawing/2014/main" id="{789F8B24-1747-031C-8EE0-72BC0571A64C}"/>
              </a:ext>
            </a:extLst>
          </p:cNvPr>
          <p:cNvGraphicFramePr>
            <a:graphicFrameLocks noGrp="1"/>
          </p:cNvGraphicFramePr>
          <p:nvPr>
            <p:extLst>
              <p:ext uri="{D42A27DB-BD31-4B8C-83A1-F6EECF244321}">
                <p14:modId xmlns:p14="http://schemas.microsoft.com/office/powerpoint/2010/main" val="3775516883"/>
              </p:ext>
            </p:extLst>
          </p:nvPr>
        </p:nvGraphicFramePr>
        <p:xfrm>
          <a:off x="9448547" y="1005799"/>
          <a:ext cx="2409824" cy="2435860"/>
        </p:xfrm>
        <a:graphic>
          <a:graphicData uri="http://schemas.openxmlformats.org/drawingml/2006/table">
            <a:tbl>
              <a:tblPr/>
              <a:tblGrid>
                <a:gridCol w="602456">
                  <a:extLst>
                    <a:ext uri="{9D8B030D-6E8A-4147-A177-3AD203B41FA5}">
                      <a16:colId xmlns:a16="http://schemas.microsoft.com/office/drawing/2014/main" val="2240123671"/>
                    </a:ext>
                  </a:extLst>
                </a:gridCol>
                <a:gridCol w="602456">
                  <a:extLst>
                    <a:ext uri="{9D8B030D-6E8A-4147-A177-3AD203B41FA5}">
                      <a16:colId xmlns:a16="http://schemas.microsoft.com/office/drawing/2014/main" val="3731372851"/>
                    </a:ext>
                  </a:extLst>
                </a:gridCol>
                <a:gridCol w="602456">
                  <a:extLst>
                    <a:ext uri="{9D8B030D-6E8A-4147-A177-3AD203B41FA5}">
                      <a16:colId xmlns:a16="http://schemas.microsoft.com/office/drawing/2014/main" val="1898830722"/>
                    </a:ext>
                  </a:extLst>
                </a:gridCol>
                <a:gridCol w="602456">
                  <a:extLst>
                    <a:ext uri="{9D8B030D-6E8A-4147-A177-3AD203B41FA5}">
                      <a16:colId xmlns:a16="http://schemas.microsoft.com/office/drawing/2014/main" val="1362057658"/>
                    </a:ext>
                  </a:extLst>
                </a:gridCol>
              </a:tblGrid>
              <a:tr h="130288">
                <a:tc>
                  <a:txBody>
                    <a:bodyPr/>
                    <a:lstStyle/>
                    <a:p>
                      <a:pPr algn="l" fontAlgn="b">
                        <a:buNone/>
                      </a:pPr>
                      <a:endParaRPr lang="fr-FR" sz="1100" b="0"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10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100" b="1" i="0" u="none" strike="noStrike">
                          <a:solidFill>
                            <a:srgbClr val="000000"/>
                          </a:solidFill>
                          <a:effectLst/>
                          <a:latin typeface="Aptos Narrow" panose="020B0004020202020204" pitchFamily="34" charset="0"/>
                        </a:rPr>
                        <a:t>FY24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100" b="1" i="0" u="none" strike="noStrike">
                          <a:solidFill>
                            <a:srgbClr val="000000"/>
                          </a:solidFill>
                          <a:effectLst/>
                          <a:latin typeface="Aptos Narrow" panose="020B0004020202020204" pitchFamily="34" charset="0"/>
                        </a:rPr>
                        <a:t>Evol </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27376681"/>
                  </a:ext>
                </a:extLst>
              </a:tr>
              <a:tr h="130288">
                <a:tc>
                  <a:txBody>
                    <a:bodyPr/>
                    <a:lstStyle/>
                    <a:p>
                      <a:pPr algn="l" fontAlgn="b">
                        <a:buNone/>
                      </a:pPr>
                      <a:r>
                        <a:rPr lang="fr-FR" sz="1100" b="0" i="0" u="none" strike="noStrike">
                          <a:solidFill>
                            <a:srgbClr val="000000"/>
                          </a:solidFill>
                          <a:effectLst/>
                          <a:latin typeface="Aptos Narrow" panose="020B0004020202020204" pitchFamily="34" charset="0"/>
                        </a:rPr>
                        <a:t>ES</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45,5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ECB7E"/>
                    </a:solidFill>
                  </a:tcPr>
                </a:tc>
                <a:tc>
                  <a:txBody>
                    <a:bodyPr/>
                    <a:lstStyle/>
                    <a:p>
                      <a:pPr algn="r" fontAlgn="b">
                        <a:buNone/>
                      </a:pPr>
                      <a:r>
                        <a:rPr lang="fr-FR" sz="1100" b="0" i="0" u="none" strike="noStrike">
                          <a:solidFill>
                            <a:srgbClr val="000000"/>
                          </a:solidFill>
                          <a:effectLst/>
                          <a:latin typeface="Aptos Narrow" panose="020B0004020202020204" pitchFamily="34" charset="0"/>
                        </a:rPr>
                        <a:t>45,8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CCA7E"/>
                    </a:solidFill>
                  </a:tcPr>
                </a:tc>
                <a:tc>
                  <a:txBody>
                    <a:bodyPr/>
                    <a:lstStyle/>
                    <a:p>
                      <a:pPr algn="r" fontAlgn="b">
                        <a:buNone/>
                      </a:pPr>
                      <a:r>
                        <a:rPr lang="fr-FR" sz="1100" b="0" i="0" u="none" strike="noStrike">
                          <a:solidFill>
                            <a:srgbClr val="FF0000"/>
                          </a:solidFill>
                          <a:effectLst/>
                          <a:latin typeface="Aptos Narrow" panose="020B0004020202020204" pitchFamily="34" charset="0"/>
                        </a:rPr>
                        <a:t>-0,4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49742578"/>
                  </a:ext>
                </a:extLst>
              </a:tr>
              <a:tr h="130288">
                <a:tc>
                  <a:txBody>
                    <a:bodyPr/>
                    <a:lstStyle/>
                    <a:p>
                      <a:pPr algn="l" fontAlgn="b">
                        <a:buNone/>
                      </a:pPr>
                      <a:r>
                        <a:rPr lang="fr-FR" sz="1100" b="0" i="0" u="none" strike="noStrike">
                          <a:solidFill>
                            <a:srgbClr val="000000"/>
                          </a:solidFill>
                          <a:effectLst/>
                          <a:latin typeface="Aptos Narrow" panose="020B0004020202020204" pitchFamily="34" charset="0"/>
                        </a:rPr>
                        <a:t>IL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43,8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5CD7E"/>
                    </a:solidFill>
                  </a:tcPr>
                </a:tc>
                <a:tc>
                  <a:txBody>
                    <a:bodyPr/>
                    <a:lstStyle/>
                    <a:p>
                      <a:pPr algn="r" fontAlgn="b">
                        <a:buNone/>
                      </a:pPr>
                      <a:r>
                        <a:rPr lang="fr-FR" sz="1100" b="0" i="0" u="none" strike="noStrike">
                          <a:solidFill>
                            <a:srgbClr val="000000"/>
                          </a:solidFill>
                          <a:effectLst/>
                          <a:latin typeface="Aptos Narrow" panose="020B0004020202020204" pitchFamily="34" charset="0"/>
                        </a:rPr>
                        <a:t>55,9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1100" b="0" i="0" u="none" strike="noStrike">
                          <a:solidFill>
                            <a:srgbClr val="FF0000"/>
                          </a:solidFill>
                          <a:effectLst/>
                          <a:latin typeface="Aptos Narrow" panose="020B0004020202020204" pitchFamily="34" charset="0"/>
                        </a:rPr>
                        <a:t>-12,2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00718096"/>
                  </a:ext>
                </a:extLst>
              </a:tr>
              <a:tr h="130288">
                <a:tc>
                  <a:txBody>
                    <a:bodyPr/>
                    <a:lstStyle/>
                    <a:p>
                      <a:pPr algn="l" fontAlgn="b">
                        <a:buNone/>
                      </a:pPr>
                      <a:r>
                        <a:rPr lang="fr-FR" sz="1100" b="0" i="0" u="none" strike="noStrike">
                          <a:solidFill>
                            <a:srgbClr val="000000"/>
                          </a:solidFill>
                          <a:effectLst/>
                          <a:latin typeface="Aptos Narrow" panose="020B0004020202020204" pitchFamily="34" charset="0"/>
                        </a:rPr>
                        <a:t>FR</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24,4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3E383"/>
                    </a:solidFill>
                  </a:tcPr>
                </a:tc>
                <a:tc>
                  <a:txBody>
                    <a:bodyPr/>
                    <a:lstStyle/>
                    <a:p>
                      <a:pPr algn="r" fontAlgn="b">
                        <a:buNone/>
                      </a:pPr>
                      <a:r>
                        <a:rPr lang="fr-FR" sz="1100" b="0" i="0" u="none" strike="noStrike">
                          <a:solidFill>
                            <a:srgbClr val="000000"/>
                          </a:solidFill>
                          <a:effectLst/>
                          <a:latin typeface="Aptos Narrow" panose="020B0004020202020204" pitchFamily="34" charset="0"/>
                        </a:rPr>
                        <a:t>16,9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983"/>
                    </a:solidFill>
                  </a:tcPr>
                </a:tc>
                <a:tc>
                  <a:txBody>
                    <a:bodyPr/>
                    <a:lstStyle/>
                    <a:p>
                      <a:pPr algn="r" fontAlgn="b">
                        <a:buNone/>
                      </a:pPr>
                      <a:r>
                        <a:rPr lang="fr-FR" sz="1100" b="0" i="0" u="none" strike="noStrike">
                          <a:solidFill>
                            <a:srgbClr val="00B050"/>
                          </a:solidFill>
                          <a:effectLst/>
                          <a:latin typeface="Aptos Narrow" panose="020B0004020202020204" pitchFamily="34" charset="0"/>
                        </a:rPr>
                        <a:t>7,5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15433195"/>
                  </a:ext>
                </a:extLst>
              </a:tr>
              <a:tr h="130288">
                <a:tc>
                  <a:txBody>
                    <a:bodyPr/>
                    <a:lstStyle/>
                    <a:p>
                      <a:pPr algn="l" fontAlgn="b">
                        <a:buNone/>
                      </a:pPr>
                      <a:r>
                        <a:rPr lang="fr-FR" sz="1100" b="1" i="0" u="none" strike="noStrike">
                          <a:solidFill>
                            <a:srgbClr val="000000"/>
                          </a:solidFill>
                          <a:effectLst/>
                          <a:latin typeface="Aptos Narrow" panose="020B0004020202020204" pitchFamily="34" charset="0"/>
                        </a:rPr>
                        <a:t>Total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1" i="0" u="none" strike="noStrike">
                          <a:solidFill>
                            <a:srgbClr val="000000"/>
                          </a:solidFill>
                          <a:effectLst/>
                          <a:latin typeface="Aptos Narrow" panose="020B0004020202020204" pitchFamily="34" charset="0"/>
                        </a:rPr>
                        <a:t>22,0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CE683"/>
                    </a:solidFill>
                  </a:tcPr>
                </a:tc>
                <a:tc>
                  <a:txBody>
                    <a:bodyPr/>
                    <a:lstStyle/>
                    <a:p>
                      <a:pPr algn="r" fontAlgn="b">
                        <a:buNone/>
                      </a:pPr>
                      <a:r>
                        <a:rPr lang="fr-FR" sz="1100" b="1" i="0" u="none" strike="noStrike">
                          <a:solidFill>
                            <a:srgbClr val="000000"/>
                          </a:solidFill>
                          <a:effectLst/>
                          <a:latin typeface="Aptos Narrow" panose="020B0004020202020204" pitchFamily="34" charset="0"/>
                        </a:rPr>
                        <a:t>15,5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282"/>
                    </a:solidFill>
                  </a:tcPr>
                </a:tc>
                <a:tc>
                  <a:txBody>
                    <a:bodyPr/>
                    <a:lstStyle/>
                    <a:p>
                      <a:pPr algn="r" fontAlgn="b">
                        <a:buNone/>
                      </a:pPr>
                      <a:r>
                        <a:rPr lang="fr-FR" sz="1100" b="1" i="0" u="none" strike="noStrike">
                          <a:solidFill>
                            <a:srgbClr val="00B050"/>
                          </a:solidFill>
                          <a:effectLst/>
                          <a:latin typeface="Aptos Narrow" panose="020B0004020202020204" pitchFamily="34" charset="0"/>
                        </a:rPr>
                        <a:t>6,6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44978171"/>
                  </a:ext>
                </a:extLst>
              </a:tr>
              <a:tr h="130288">
                <a:tc>
                  <a:txBody>
                    <a:bodyPr/>
                    <a:lstStyle/>
                    <a:p>
                      <a:pPr algn="l" fontAlgn="b">
                        <a:buNone/>
                      </a:pPr>
                      <a:r>
                        <a:rPr lang="fr-FR" sz="1100" b="0" i="0" u="none" strike="noStrike">
                          <a:solidFill>
                            <a:srgbClr val="000000"/>
                          </a:solidFill>
                          <a:effectLst/>
                          <a:latin typeface="Aptos Narrow" panose="020B0004020202020204" pitchFamily="34" charset="0"/>
                        </a:rPr>
                        <a:t>LU</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21,5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FE784"/>
                    </a:solidFill>
                  </a:tcPr>
                </a:tc>
                <a:tc>
                  <a:txBody>
                    <a:bodyPr/>
                    <a:lstStyle/>
                    <a:p>
                      <a:pPr algn="r" fontAlgn="b">
                        <a:buNone/>
                      </a:pPr>
                      <a:r>
                        <a:rPr lang="fr-FR" sz="1100" b="0" i="0" u="none" strike="noStrike">
                          <a:solidFill>
                            <a:srgbClr val="000000"/>
                          </a:solidFill>
                          <a:effectLst/>
                          <a:latin typeface="Aptos Narrow" panose="020B0004020202020204" pitchFamily="34" charset="0"/>
                        </a:rPr>
                        <a:t>10,8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D7E"/>
                    </a:solidFill>
                  </a:tcPr>
                </a:tc>
                <a:tc>
                  <a:txBody>
                    <a:bodyPr/>
                    <a:lstStyle/>
                    <a:p>
                      <a:pPr algn="r" fontAlgn="b">
                        <a:buNone/>
                      </a:pPr>
                      <a:r>
                        <a:rPr lang="fr-FR" sz="1100" b="0" i="0" u="none" strike="noStrike">
                          <a:solidFill>
                            <a:srgbClr val="00B050"/>
                          </a:solidFill>
                          <a:effectLst/>
                          <a:latin typeface="Aptos Narrow" panose="020B0004020202020204" pitchFamily="34" charset="0"/>
                        </a:rPr>
                        <a:t>10,7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27966491"/>
                  </a:ext>
                </a:extLst>
              </a:tr>
              <a:tr h="130288">
                <a:tc>
                  <a:txBody>
                    <a:bodyPr/>
                    <a:lstStyle/>
                    <a:p>
                      <a:pPr algn="l" fontAlgn="b">
                        <a:buNone/>
                      </a:pPr>
                      <a:r>
                        <a:rPr lang="fr-FR" sz="1100" b="0" i="0" u="none" strike="noStrike">
                          <a:solidFill>
                            <a:srgbClr val="000000"/>
                          </a:solidFill>
                          <a:effectLst/>
                          <a:latin typeface="Aptos Narrow" panose="020B0004020202020204" pitchFamily="34" charset="0"/>
                        </a:rPr>
                        <a:t>CH</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20,9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1E784"/>
                    </a:solidFill>
                  </a:tcPr>
                </a:tc>
                <a:tc>
                  <a:txBody>
                    <a:bodyPr/>
                    <a:lstStyle/>
                    <a:p>
                      <a:pPr algn="r" fontAlgn="b">
                        <a:buNone/>
                      </a:pPr>
                      <a:r>
                        <a:rPr lang="fr-FR" sz="1100" b="0" i="0" u="none" strike="noStrike">
                          <a:solidFill>
                            <a:srgbClr val="000000"/>
                          </a:solidFill>
                          <a:effectLst/>
                          <a:latin typeface="Aptos Narrow" panose="020B0004020202020204" pitchFamily="34" charset="0"/>
                        </a:rPr>
                        <a:t>16,0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582"/>
                    </a:solidFill>
                  </a:tcPr>
                </a:tc>
                <a:tc>
                  <a:txBody>
                    <a:bodyPr/>
                    <a:lstStyle/>
                    <a:p>
                      <a:pPr algn="r" fontAlgn="b">
                        <a:buNone/>
                      </a:pPr>
                      <a:r>
                        <a:rPr lang="fr-FR" sz="1100" b="0" i="0" u="none" strike="noStrike">
                          <a:solidFill>
                            <a:srgbClr val="00B050"/>
                          </a:solidFill>
                          <a:effectLst/>
                          <a:latin typeface="Aptos Narrow" panose="020B0004020202020204" pitchFamily="34" charset="0"/>
                        </a:rPr>
                        <a:t>4,9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85219878"/>
                  </a:ext>
                </a:extLst>
              </a:tr>
              <a:tr h="130288">
                <a:tc>
                  <a:txBody>
                    <a:bodyPr/>
                    <a:lstStyle/>
                    <a:p>
                      <a:pPr algn="l" fontAlgn="b">
                        <a:buNone/>
                      </a:pPr>
                      <a:r>
                        <a:rPr lang="fr-FR" sz="1100" b="0" i="0" u="none" strike="noStrike">
                          <a:solidFill>
                            <a:srgbClr val="000000"/>
                          </a:solidFill>
                          <a:effectLst/>
                          <a:latin typeface="Aptos Narrow" panose="020B0004020202020204" pitchFamily="34" charset="0"/>
                        </a:rPr>
                        <a:t>DE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20,7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E884"/>
                    </a:solidFill>
                  </a:tcPr>
                </a:tc>
                <a:tc>
                  <a:txBody>
                    <a:bodyPr/>
                    <a:lstStyle/>
                    <a:p>
                      <a:pPr algn="r" fontAlgn="b">
                        <a:buNone/>
                      </a:pPr>
                      <a:r>
                        <a:rPr lang="fr-FR" sz="1100" b="0" i="0" u="none" strike="noStrike">
                          <a:solidFill>
                            <a:srgbClr val="000000"/>
                          </a:solidFill>
                          <a:effectLst/>
                          <a:latin typeface="Aptos Narrow" panose="020B0004020202020204" pitchFamily="34" charset="0"/>
                        </a:rPr>
                        <a:t>13,6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A80"/>
                    </a:solidFill>
                  </a:tcPr>
                </a:tc>
                <a:tc>
                  <a:txBody>
                    <a:bodyPr/>
                    <a:lstStyle/>
                    <a:p>
                      <a:pPr algn="r" fontAlgn="b">
                        <a:buNone/>
                      </a:pPr>
                      <a:r>
                        <a:rPr lang="fr-FR" sz="1100" b="0" i="0" u="none" strike="noStrike">
                          <a:solidFill>
                            <a:srgbClr val="00B050"/>
                          </a:solidFill>
                          <a:effectLst/>
                          <a:latin typeface="Aptos Narrow" panose="020B0004020202020204" pitchFamily="34" charset="0"/>
                        </a:rPr>
                        <a:t>7,1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68933202"/>
                  </a:ext>
                </a:extLst>
              </a:tr>
              <a:tr h="130288">
                <a:tc>
                  <a:txBody>
                    <a:bodyPr/>
                    <a:lstStyle/>
                    <a:p>
                      <a:pPr algn="l" fontAlgn="b">
                        <a:buNone/>
                      </a:pPr>
                      <a:r>
                        <a:rPr lang="fr-FR" sz="1100" b="0" i="0" u="none" strike="noStrike">
                          <a:solidFill>
                            <a:srgbClr val="000000"/>
                          </a:solidFill>
                          <a:effectLst/>
                          <a:latin typeface="Aptos Narrow" panose="020B0004020202020204" pitchFamily="34" charset="0"/>
                        </a:rPr>
                        <a:t>GB</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17,9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EB84"/>
                    </a:solidFill>
                  </a:tcPr>
                </a:tc>
                <a:tc>
                  <a:txBody>
                    <a:bodyPr/>
                    <a:lstStyle/>
                    <a:p>
                      <a:pPr algn="r" fontAlgn="b">
                        <a:buNone/>
                      </a:pPr>
                      <a:r>
                        <a:rPr lang="fr-FR" sz="1100" b="0" i="0" u="none" strike="noStrike">
                          <a:solidFill>
                            <a:srgbClr val="000000"/>
                          </a:solidFill>
                          <a:effectLst/>
                          <a:latin typeface="Aptos Narrow" panose="020B0004020202020204" pitchFamily="34" charset="0"/>
                        </a:rPr>
                        <a:t>20,1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4E884"/>
                    </a:solidFill>
                  </a:tcPr>
                </a:tc>
                <a:tc>
                  <a:txBody>
                    <a:bodyPr/>
                    <a:lstStyle/>
                    <a:p>
                      <a:pPr algn="r" fontAlgn="b">
                        <a:buNone/>
                      </a:pPr>
                      <a:r>
                        <a:rPr lang="fr-FR" sz="1100" b="0" i="0" u="none" strike="noStrike">
                          <a:solidFill>
                            <a:srgbClr val="FF0000"/>
                          </a:solidFill>
                          <a:effectLst/>
                          <a:latin typeface="Aptos Narrow" panose="020B0004020202020204" pitchFamily="34" charset="0"/>
                        </a:rPr>
                        <a:t>-2,2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50183416"/>
                  </a:ext>
                </a:extLst>
              </a:tr>
              <a:tr h="130288">
                <a:tc>
                  <a:txBody>
                    <a:bodyPr/>
                    <a:lstStyle/>
                    <a:p>
                      <a:pPr algn="l" fontAlgn="b">
                        <a:buNone/>
                      </a:pPr>
                      <a:r>
                        <a:rPr lang="fr-FR" sz="1100" b="0" i="0" u="none" strike="noStrike">
                          <a:solidFill>
                            <a:srgbClr val="000000"/>
                          </a:solidFill>
                          <a:effectLst/>
                          <a:latin typeface="Aptos Narrow" panose="020B0004020202020204" pitchFamily="34" charset="0"/>
                        </a:rPr>
                        <a:t>US</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17,6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B84"/>
                    </a:solidFill>
                  </a:tcPr>
                </a:tc>
                <a:tc>
                  <a:txBody>
                    <a:bodyPr/>
                    <a:lstStyle/>
                    <a:p>
                      <a:pPr algn="r" fontAlgn="b">
                        <a:buNone/>
                      </a:pPr>
                      <a:r>
                        <a:rPr lang="fr-FR" sz="1100" b="0" i="0" u="none" strike="noStrike">
                          <a:solidFill>
                            <a:srgbClr val="000000"/>
                          </a:solidFill>
                          <a:effectLst/>
                          <a:latin typeface="Aptos Narrow" panose="020B0004020202020204" pitchFamily="34" charset="0"/>
                        </a:rPr>
                        <a:t>0,0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D75"/>
                    </a:solidFill>
                  </a:tcPr>
                </a:tc>
                <a:tc>
                  <a:txBody>
                    <a:bodyPr/>
                    <a:lstStyle/>
                    <a:p>
                      <a:pPr algn="r" fontAlgn="b">
                        <a:buNone/>
                      </a:pPr>
                      <a:r>
                        <a:rPr lang="fr-FR" sz="1100" b="0" i="0" u="none" strike="noStrike">
                          <a:solidFill>
                            <a:srgbClr val="00B050"/>
                          </a:solidFill>
                          <a:effectLst/>
                          <a:latin typeface="Aptos Narrow" panose="020B0004020202020204" pitchFamily="34" charset="0"/>
                        </a:rPr>
                        <a:t>17,6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00121353"/>
                  </a:ext>
                </a:extLst>
              </a:tr>
              <a:tr h="130288">
                <a:tc>
                  <a:txBody>
                    <a:bodyPr/>
                    <a:lstStyle/>
                    <a:p>
                      <a:pPr algn="l" fontAlgn="b">
                        <a:buNone/>
                      </a:pPr>
                      <a:r>
                        <a:rPr lang="fr-FR" sz="1100" b="0" i="0" u="none" strike="noStrike">
                          <a:solidFill>
                            <a:srgbClr val="000000"/>
                          </a:solidFill>
                          <a:effectLst/>
                          <a:latin typeface="Aptos Narrow" panose="020B0004020202020204" pitchFamily="34" charset="0"/>
                        </a:rPr>
                        <a:t>BE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16,6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883"/>
                    </a:solidFill>
                  </a:tcPr>
                </a:tc>
                <a:tc>
                  <a:txBody>
                    <a:bodyPr/>
                    <a:lstStyle/>
                    <a:p>
                      <a:pPr algn="r" fontAlgn="b">
                        <a:buNone/>
                      </a:pPr>
                      <a:r>
                        <a:rPr lang="fr-FR" sz="1100" b="0" i="0" u="none" strike="noStrike">
                          <a:solidFill>
                            <a:srgbClr val="000000"/>
                          </a:solidFill>
                          <a:effectLst/>
                          <a:latin typeface="Aptos Narrow" panose="020B0004020202020204" pitchFamily="34" charset="0"/>
                        </a:rPr>
                        <a:t>14,0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C81"/>
                    </a:solidFill>
                  </a:tcPr>
                </a:tc>
                <a:tc>
                  <a:txBody>
                    <a:bodyPr/>
                    <a:lstStyle/>
                    <a:p>
                      <a:pPr algn="r" fontAlgn="b">
                        <a:buNone/>
                      </a:pPr>
                      <a:r>
                        <a:rPr lang="fr-FR" sz="1100" b="0" i="0" u="none" strike="noStrike">
                          <a:solidFill>
                            <a:srgbClr val="00B050"/>
                          </a:solidFill>
                          <a:effectLst/>
                          <a:latin typeface="Aptos Narrow" panose="020B0004020202020204" pitchFamily="34" charset="0"/>
                        </a:rPr>
                        <a:t>2,6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41177576"/>
                  </a:ext>
                </a:extLst>
              </a:tr>
              <a:tr h="130288">
                <a:tc>
                  <a:txBody>
                    <a:bodyPr/>
                    <a:lstStyle/>
                    <a:p>
                      <a:pPr algn="l" fontAlgn="b">
                        <a:buNone/>
                      </a:pPr>
                      <a:r>
                        <a:rPr lang="fr-FR" sz="1100" b="0" i="0" u="none" strike="noStrike">
                          <a:solidFill>
                            <a:srgbClr val="000000"/>
                          </a:solidFill>
                          <a:effectLst/>
                          <a:latin typeface="Aptos Narrow" panose="020B0004020202020204" pitchFamily="34" charset="0"/>
                        </a:rPr>
                        <a:t>IE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0,0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D75"/>
                    </a:solidFill>
                  </a:tcPr>
                </a:tc>
                <a:tc>
                  <a:txBody>
                    <a:bodyPr/>
                    <a:lstStyle/>
                    <a:p>
                      <a:pPr algn="r" fontAlgn="b">
                        <a:buNone/>
                      </a:pPr>
                      <a:r>
                        <a:rPr lang="fr-FR" sz="1100" b="0" i="0" u="none" strike="noStrike">
                          <a:solidFill>
                            <a:srgbClr val="000000"/>
                          </a:solidFill>
                          <a:effectLst/>
                          <a:latin typeface="Aptos Narrow" panose="020B0004020202020204" pitchFamily="34" charset="0"/>
                        </a:rPr>
                        <a:t>22,0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CE683"/>
                    </a:solidFill>
                  </a:tcPr>
                </a:tc>
                <a:tc>
                  <a:txBody>
                    <a:bodyPr/>
                    <a:lstStyle/>
                    <a:p>
                      <a:pPr algn="r" fontAlgn="b">
                        <a:buNone/>
                      </a:pPr>
                      <a:r>
                        <a:rPr lang="fr-FR" sz="1100" b="0" i="0" u="none" strike="noStrike">
                          <a:solidFill>
                            <a:srgbClr val="FF0000"/>
                          </a:solidFill>
                          <a:effectLst/>
                          <a:latin typeface="Aptos Narrow" panose="020B0004020202020204" pitchFamily="34" charset="0"/>
                        </a:rPr>
                        <a:t>-22,0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91818788"/>
                  </a:ext>
                </a:extLst>
              </a:tr>
              <a:tr h="130288">
                <a:tc>
                  <a:txBody>
                    <a:bodyPr/>
                    <a:lstStyle/>
                    <a:p>
                      <a:pPr algn="l" fontAlgn="b">
                        <a:buNone/>
                      </a:pPr>
                      <a:r>
                        <a:rPr lang="fr-FR" sz="1100" b="0" i="0" u="none" strike="noStrike">
                          <a:solidFill>
                            <a:srgbClr val="000000"/>
                          </a:solidFill>
                          <a:effectLst/>
                          <a:latin typeface="Aptos Narrow" panose="020B0004020202020204" pitchFamily="34" charset="0"/>
                        </a:rPr>
                        <a:t>DK</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-7,5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7C6E"/>
                    </a:solidFill>
                  </a:tcPr>
                </a:tc>
                <a:tc>
                  <a:txBody>
                    <a:bodyPr/>
                    <a:lstStyle/>
                    <a:p>
                      <a:pPr algn="r" fontAlgn="b">
                        <a:buNone/>
                      </a:pPr>
                      <a:r>
                        <a:rPr lang="fr-FR" sz="1100" b="0" i="0" u="none" strike="noStrike">
                          <a:solidFill>
                            <a:srgbClr val="000000"/>
                          </a:solidFill>
                          <a:effectLst/>
                          <a:latin typeface="Aptos Narrow" panose="020B0004020202020204" pitchFamily="34" charset="0"/>
                        </a:rPr>
                        <a:t>-11,5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A6B"/>
                    </a:solidFill>
                  </a:tcPr>
                </a:tc>
                <a:tc>
                  <a:txBody>
                    <a:bodyPr/>
                    <a:lstStyle/>
                    <a:p>
                      <a:pPr algn="r" fontAlgn="b">
                        <a:buNone/>
                      </a:pPr>
                      <a:r>
                        <a:rPr lang="fr-FR" sz="1100" b="0" i="0" u="none" strike="noStrike">
                          <a:solidFill>
                            <a:srgbClr val="00B050"/>
                          </a:solidFill>
                          <a:effectLst/>
                          <a:latin typeface="Aptos Narrow" panose="020B0004020202020204" pitchFamily="34" charset="0"/>
                        </a:rPr>
                        <a:t>4,0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89474045"/>
                  </a:ext>
                </a:extLst>
              </a:tr>
              <a:tr h="130288">
                <a:tc>
                  <a:txBody>
                    <a:bodyPr/>
                    <a:lstStyle/>
                    <a:p>
                      <a:pPr algn="l" fontAlgn="b">
                        <a:buNone/>
                      </a:pPr>
                      <a:r>
                        <a:rPr lang="fr-FR" sz="1100" b="0" i="0" u="none" strike="noStrike">
                          <a:solidFill>
                            <a:srgbClr val="000000"/>
                          </a:solidFill>
                          <a:effectLst/>
                          <a:latin typeface="Aptos Narrow" panose="020B0004020202020204" pitchFamily="34" charset="0"/>
                        </a:rPr>
                        <a:t>NL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-9,9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16C"/>
                    </a:solidFill>
                  </a:tcPr>
                </a:tc>
                <a:tc>
                  <a:txBody>
                    <a:bodyPr/>
                    <a:lstStyle/>
                    <a:p>
                      <a:pPr algn="r" fontAlgn="b">
                        <a:buNone/>
                      </a:pPr>
                      <a:r>
                        <a:rPr lang="fr-FR" sz="1100" b="0" i="0" u="none" strike="noStrike">
                          <a:solidFill>
                            <a:srgbClr val="000000"/>
                          </a:solidFill>
                          <a:effectLst/>
                          <a:latin typeface="Aptos Narrow" panose="020B0004020202020204" pitchFamily="34" charset="0"/>
                        </a:rPr>
                        <a:t>-11,8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96B"/>
                    </a:solidFill>
                  </a:tcPr>
                </a:tc>
                <a:tc>
                  <a:txBody>
                    <a:bodyPr/>
                    <a:lstStyle/>
                    <a:p>
                      <a:pPr algn="r" fontAlgn="b">
                        <a:buNone/>
                      </a:pPr>
                      <a:r>
                        <a:rPr lang="fr-FR" sz="1100" b="0" i="0" u="none" strike="noStrike">
                          <a:solidFill>
                            <a:srgbClr val="00B050"/>
                          </a:solidFill>
                          <a:effectLst/>
                          <a:latin typeface="Aptos Narrow" panose="020B0004020202020204" pitchFamily="34" charset="0"/>
                        </a:rPr>
                        <a:t>1,9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67855476"/>
                  </a:ext>
                </a:extLst>
              </a:tr>
            </a:tbl>
          </a:graphicData>
        </a:graphic>
      </p:graphicFrame>
      <p:graphicFrame>
        <p:nvGraphicFramePr>
          <p:cNvPr id="9" name="Table 8">
            <a:extLst>
              <a:ext uri="{FF2B5EF4-FFF2-40B4-BE49-F238E27FC236}">
                <a16:creationId xmlns:a16="http://schemas.microsoft.com/office/drawing/2014/main" id="{93DF21C7-629F-8620-92B9-B5EA8067D4BF}"/>
              </a:ext>
            </a:extLst>
          </p:cNvPr>
          <p:cNvGraphicFramePr>
            <a:graphicFrameLocks noGrp="1"/>
          </p:cNvGraphicFramePr>
          <p:nvPr>
            <p:extLst>
              <p:ext uri="{D42A27DB-BD31-4B8C-83A1-F6EECF244321}">
                <p14:modId xmlns:p14="http://schemas.microsoft.com/office/powerpoint/2010/main" val="3344914757"/>
              </p:ext>
            </p:extLst>
          </p:nvPr>
        </p:nvGraphicFramePr>
        <p:xfrm>
          <a:off x="127074" y="2925053"/>
          <a:ext cx="2387526" cy="2790576"/>
        </p:xfrm>
        <a:graphic>
          <a:graphicData uri="http://schemas.openxmlformats.org/drawingml/2006/table">
            <a:tbl>
              <a:tblPr/>
              <a:tblGrid>
                <a:gridCol w="1232775">
                  <a:extLst>
                    <a:ext uri="{9D8B030D-6E8A-4147-A177-3AD203B41FA5}">
                      <a16:colId xmlns:a16="http://schemas.microsoft.com/office/drawing/2014/main" val="4151109714"/>
                    </a:ext>
                  </a:extLst>
                </a:gridCol>
                <a:gridCol w="390119">
                  <a:extLst>
                    <a:ext uri="{9D8B030D-6E8A-4147-A177-3AD203B41FA5}">
                      <a16:colId xmlns:a16="http://schemas.microsoft.com/office/drawing/2014/main" val="2096682562"/>
                    </a:ext>
                  </a:extLst>
                </a:gridCol>
                <a:gridCol w="390119">
                  <a:extLst>
                    <a:ext uri="{9D8B030D-6E8A-4147-A177-3AD203B41FA5}">
                      <a16:colId xmlns:a16="http://schemas.microsoft.com/office/drawing/2014/main" val="4006594729"/>
                    </a:ext>
                  </a:extLst>
                </a:gridCol>
                <a:gridCol w="374513">
                  <a:extLst>
                    <a:ext uri="{9D8B030D-6E8A-4147-A177-3AD203B41FA5}">
                      <a16:colId xmlns:a16="http://schemas.microsoft.com/office/drawing/2014/main" val="3994337612"/>
                    </a:ext>
                  </a:extLst>
                </a:gridCol>
              </a:tblGrid>
              <a:tr h="76339">
                <a:tc>
                  <a:txBody>
                    <a:bodyPr/>
                    <a:lstStyle/>
                    <a:p>
                      <a:pPr algn="l" fontAlgn="b">
                        <a:buNone/>
                      </a:pPr>
                      <a:endParaRPr lang="fr-FR" sz="1000" b="0" i="0" u="none" strike="noStrike">
                        <a:solidFill>
                          <a:srgbClr val="000000"/>
                        </a:solidFill>
                        <a:effectLst/>
                        <a:latin typeface="Aptos Narrow" panose="020B0004020202020204" pitchFamily="34" charset="0"/>
                      </a:endParaRP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FY25</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FY24</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Evol </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43038091"/>
                  </a:ext>
                </a:extLst>
              </a:tr>
              <a:tr h="76339">
                <a:tc>
                  <a:txBody>
                    <a:bodyPr/>
                    <a:lstStyle/>
                    <a:p>
                      <a:pPr algn="l" fontAlgn="b">
                        <a:buNone/>
                      </a:pPr>
                      <a:endParaRPr lang="fr-FR" sz="1000" b="0" i="0" u="none" strike="noStrike">
                        <a:solidFill>
                          <a:srgbClr val="000000"/>
                        </a:solidFill>
                        <a:effectLst/>
                        <a:latin typeface="Aptos Narrow" panose="020B0004020202020204" pitchFamily="34" charset="0"/>
                      </a:endParaRP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22,0</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3E884"/>
                    </a:solidFill>
                  </a:tcPr>
                </a:tc>
                <a:tc>
                  <a:txBody>
                    <a:bodyPr/>
                    <a:lstStyle/>
                    <a:p>
                      <a:pPr algn="r" fontAlgn="b">
                        <a:buNone/>
                      </a:pPr>
                      <a:r>
                        <a:rPr lang="fr-FR" sz="1000" b="0" i="0" u="none" strike="noStrike">
                          <a:solidFill>
                            <a:srgbClr val="000000"/>
                          </a:solidFill>
                          <a:effectLst/>
                          <a:latin typeface="Aptos Narrow" panose="020B0004020202020204" pitchFamily="34" charset="0"/>
                        </a:rPr>
                        <a:t>15,5</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B84"/>
                    </a:solidFill>
                  </a:tcPr>
                </a:tc>
                <a:tc>
                  <a:txBody>
                    <a:bodyPr/>
                    <a:lstStyle/>
                    <a:p>
                      <a:pPr algn="r" fontAlgn="b">
                        <a:buNone/>
                      </a:pPr>
                      <a:r>
                        <a:rPr lang="fr-FR" sz="1000" b="0" i="0" u="none" strike="noStrike">
                          <a:solidFill>
                            <a:srgbClr val="00B050"/>
                          </a:solidFill>
                          <a:effectLst/>
                          <a:latin typeface="Aptos Narrow" panose="020B0004020202020204" pitchFamily="34" charset="0"/>
                        </a:rPr>
                        <a:t>6,6</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81364588"/>
                  </a:ext>
                </a:extLst>
              </a:tr>
              <a:tr h="76339">
                <a:tc>
                  <a:txBody>
                    <a:bodyPr/>
                    <a:lstStyle/>
                    <a:p>
                      <a:pPr algn="l" fontAlgn="b">
                        <a:buNone/>
                      </a:pPr>
                      <a:r>
                        <a:rPr lang="fr-FR" sz="1000" b="1" i="0" u="none" strike="noStrike">
                          <a:solidFill>
                            <a:srgbClr val="000000"/>
                          </a:solidFill>
                          <a:effectLst/>
                          <a:latin typeface="Aptos Narrow" panose="020B0004020202020204" pitchFamily="34" charset="0"/>
                        </a:rPr>
                        <a:t>Le Bois aux Daims</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33,7</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DE283"/>
                    </a:solidFill>
                  </a:tcPr>
                </a:tc>
                <a:tc>
                  <a:txBody>
                    <a:bodyPr/>
                    <a:lstStyle/>
                    <a:p>
                      <a:pPr algn="r" fontAlgn="b">
                        <a:buNone/>
                      </a:pPr>
                      <a:r>
                        <a:rPr lang="fr-FR" sz="1000" b="1" i="0" u="none" strike="noStrike">
                          <a:solidFill>
                            <a:srgbClr val="000000"/>
                          </a:solidFill>
                          <a:effectLst/>
                          <a:latin typeface="Aptos Narrow" panose="020B0004020202020204" pitchFamily="34" charset="0"/>
                        </a:rPr>
                        <a:t>23,1</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1E784"/>
                    </a:solidFill>
                  </a:tcPr>
                </a:tc>
                <a:tc>
                  <a:txBody>
                    <a:bodyPr/>
                    <a:lstStyle/>
                    <a:p>
                      <a:pPr algn="r" fontAlgn="b">
                        <a:buNone/>
                      </a:pPr>
                      <a:r>
                        <a:rPr lang="fr-FR" sz="1000" b="1" i="0" u="none" strike="noStrike">
                          <a:solidFill>
                            <a:srgbClr val="00B050"/>
                          </a:solidFill>
                          <a:effectLst/>
                          <a:latin typeface="Aptos Narrow" panose="020B0004020202020204" pitchFamily="34" charset="0"/>
                        </a:rPr>
                        <a:t>10,6</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84012582"/>
                  </a:ext>
                </a:extLst>
              </a:tr>
              <a:tr h="0">
                <a:tc>
                  <a:txBody>
                    <a:bodyPr/>
                    <a:lstStyle/>
                    <a:p>
                      <a:pPr algn="l" fontAlgn="b">
                        <a:buNone/>
                      </a:pPr>
                      <a:r>
                        <a:rPr lang="fr-FR" sz="1000" b="0" i="0" u="none" strike="noStrike">
                          <a:solidFill>
                            <a:srgbClr val="000000"/>
                          </a:solidFill>
                          <a:effectLst/>
                          <a:latin typeface="Aptos Narrow" panose="020B0004020202020204" pitchFamily="34" charset="0"/>
                        </a:rPr>
                        <a:t> BE</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43,5</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BDC81"/>
                    </a:solidFill>
                  </a:tcPr>
                </a:tc>
                <a:tc>
                  <a:txBody>
                    <a:bodyPr/>
                    <a:lstStyle/>
                    <a:p>
                      <a:pPr algn="r" fontAlgn="b">
                        <a:buNone/>
                      </a:pPr>
                      <a:r>
                        <a:rPr lang="fr-FR" sz="1000" b="0" i="0" u="none" strike="noStrike">
                          <a:solidFill>
                            <a:srgbClr val="000000"/>
                          </a:solidFill>
                          <a:effectLst/>
                          <a:latin typeface="Aptos Narrow" panose="020B0004020202020204" pitchFamily="34" charset="0"/>
                        </a:rPr>
                        <a:t>27,6</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9E583"/>
                    </a:solidFill>
                  </a:tcPr>
                </a:tc>
                <a:tc>
                  <a:txBody>
                    <a:bodyPr/>
                    <a:lstStyle/>
                    <a:p>
                      <a:pPr algn="r" fontAlgn="b">
                        <a:buNone/>
                      </a:pPr>
                      <a:r>
                        <a:rPr lang="fr-FR" sz="1000" b="0" i="0" u="none" strike="noStrike">
                          <a:solidFill>
                            <a:srgbClr val="00B050"/>
                          </a:solidFill>
                          <a:effectLst/>
                          <a:latin typeface="Aptos Narrow" panose="020B0004020202020204" pitchFamily="34" charset="0"/>
                        </a:rPr>
                        <a:t>15,9</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36564023"/>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CH</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55,2</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6D680"/>
                    </a:solidFill>
                  </a:tcPr>
                </a:tc>
                <a:tc>
                  <a:txBody>
                    <a:bodyPr/>
                    <a:lstStyle/>
                    <a:p>
                      <a:pPr algn="r" fontAlgn="b">
                        <a:buNone/>
                      </a:pPr>
                      <a:r>
                        <a:rPr lang="fr-FR" sz="1000" b="0" i="0" u="none" strike="noStrike">
                          <a:solidFill>
                            <a:srgbClr val="000000"/>
                          </a:solidFill>
                          <a:effectLst/>
                          <a:latin typeface="Aptos Narrow" panose="020B0004020202020204" pitchFamily="34" charset="0"/>
                        </a:rPr>
                        <a:t>34,7</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BE182"/>
                    </a:solidFill>
                  </a:tcPr>
                </a:tc>
                <a:tc>
                  <a:txBody>
                    <a:bodyPr/>
                    <a:lstStyle/>
                    <a:p>
                      <a:pPr algn="r" fontAlgn="b">
                        <a:buNone/>
                      </a:pPr>
                      <a:r>
                        <a:rPr lang="fr-FR" sz="1000" b="0" i="0" u="none" strike="noStrike">
                          <a:solidFill>
                            <a:srgbClr val="00B050"/>
                          </a:solidFill>
                          <a:effectLst/>
                          <a:latin typeface="Aptos Narrow" panose="020B0004020202020204" pitchFamily="34" charset="0"/>
                        </a:rPr>
                        <a:t>20,5</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01332600"/>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DE</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33,3</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EE283"/>
                    </a:solidFill>
                  </a:tcPr>
                </a:tc>
                <a:tc>
                  <a:txBody>
                    <a:bodyPr/>
                    <a:lstStyle/>
                    <a:p>
                      <a:pPr algn="r" fontAlgn="b">
                        <a:buNone/>
                      </a:pPr>
                      <a:r>
                        <a:rPr lang="fr-FR" sz="1000" b="0" i="0" u="none" strike="noStrike">
                          <a:solidFill>
                            <a:srgbClr val="000000"/>
                          </a:solidFill>
                          <a:effectLst/>
                          <a:latin typeface="Aptos Narrow" panose="020B0004020202020204" pitchFamily="34" charset="0"/>
                        </a:rPr>
                        <a:t>44,7</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9DC81"/>
                    </a:solidFill>
                  </a:tcPr>
                </a:tc>
                <a:tc>
                  <a:txBody>
                    <a:bodyPr/>
                    <a:lstStyle/>
                    <a:p>
                      <a:pPr algn="r" fontAlgn="b">
                        <a:buNone/>
                      </a:pPr>
                      <a:r>
                        <a:rPr lang="fr-FR" sz="1000" b="0" i="0" u="none" strike="noStrike">
                          <a:solidFill>
                            <a:srgbClr val="FF0000"/>
                          </a:solidFill>
                          <a:effectLst/>
                          <a:latin typeface="Aptos Narrow" panose="020B0004020202020204" pitchFamily="34" charset="0"/>
                        </a:rPr>
                        <a:t>-11,4</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28144106"/>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FR</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33,5</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EE283"/>
                    </a:solidFill>
                  </a:tcPr>
                </a:tc>
                <a:tc>
                  <a:txBody>
                    <a:bodyPr/>
                    <a:lstStyle/>
                    <a:p>
                      <a:pPr algn="r" fontAlgn="b">
                        <a:buNone/>
                      </a:pPr>
                      <a:r>
                        <a:rPr lang="fr-FR" sz="1000" b="0" i="0" u="none" strike="noStrike">
                          <a:solidFill>
                            <a:srgbClr val="000000"/>
                          </a:solidFill>
                          <a:effectLst/>
                          <a:latin typeface="Aptos Narrow" panose="020B0004020202020204" pitchFamily="34" charset="0"/>
                        </a:rPr>
                        <a:t>22,7</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1E784"/>
                    </a:solidFill>
                  </a:tcPr>
                </a:tc>
                <a:tc>
                  <a:txBody>
                    <a:bodyPr/>
                    <a:lstStyle/>
                    <a:p>
                      <a:pPr algn="r" fontAlgn="b">
                        <a:buNone/>
                      </a:pPr>
                      <a:r>
                        <a:rPr lang="fr-FR" sz="1000" b="0" i="0" u="none" strike="noStrike">
                          <a:solidFill>
                            <a:srgbClr val="00B050"/>
                          </a:solidFill>
                          <a:effectLst/>
                          <a:latin typeface="Aptos Narrow" panose="020B0004020202020204" pitchFamily="34" charset="0"/>
                        </a:rPr>
                        <a:t>10,8</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12961486"/>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GB</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50,0</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FD981"/>
                    </a:solidFill>
                  </a:tcPr>
                </a:tc>
                <a:tc>
                  <a:txBody>
                    <a:bodyPr/>
                    <a:lstStyle/>
                    <a:p>
                      <a:pPr algn="r" fontAlgn="b">
                        <a:buNone/>
                      </a:pPr>
                      <a:r>
                        <a:rPr lang="fr-FR" sz="1000" b="0" i="0" u="none" strike="noStrike">
                          <a:solidFill>
                            <a:srgbClr val="000000"/>
                          </a:solidFill>
                          <a:effectLst/>
                          <a:latin typeface="Aptos Narrow" panose="020B0004020202020204" pitchFamily="34" charset="0"/>
                        </a:rPr>
                        <a:t>41,8</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EDD82"/>
                    </a:solidFill>
                  </a:tcPr>
                </a:tc>
                <a:tc>
                  <a:txBody>
                    <a:bodyPr/>
                    <a:lstStyle/>
                    <a:p>
                      <a:pPr algn="r" fontAlgn="b">
                        <a:buNone/>
                      </a:pPr>
                      <a:r>
                        <a:rPr lang="fr-FR" sz="1000" b="0" i="0" u="none" strike="noStrike">
                          <a:solidFill>
                            <a:srgbClr val="00B050"/>
                          </a:solidFill>
                          <a:effectLst/>
                          <a:latin typeface="Aptos Narrow" panose="020B0004020202020204" pitchFamily="34" charset="0"/>
                        </a:rPr>
                        <a:t>8,2</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28216076"/>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NL</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19,5</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7E984"/>
                    </a:solidFill>
                  </a:tcPr>
                </a:tc>
                <a:tc>
                  <a:txBody>
                    <a:bodyPr/>
                    <a:lstStyle/>
                    <a:p>
                      <a:pPr algn="r" fontAlgn="b">
                        <a:buNone/>
                      </a:pPr>
                      <a:r>
                        <a:rPr lang="fr-FR" sz="1000" b="0" i="0" u="none" strike="noStrike">
                          <a:solidFill>
                            <a:srgbClr val="000000"/>
                          </a:solidFill>
                          <a:effectLst/>
                          <a:latin typeface="Aptos Narrow" panose="020B0004020202020204" pitchFamily="34" charset="0"/>
                        </a:rPr>
                        <a:t>7,0</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57F"/>
                    </a:solidFill>
                  </a:tcPr>
                </a:tc>
                <a:tc>
                  <a:txBody>
                    <a:bodyPr/>
                    <a:lstStyle/>
                    <a:p>
                      <a:pPr algn="r" fontAlgn="b">
                        <a:buNone/>
                      </a:pPr>
                      <a:r>
                        <a:rPr lang="fr-FR" sz="1000" b="0" i="0" u="none" strike="noStrike">
                          <a:solidFill>
                            <a:srgbClr val="00B050"/>
                          </a:solidFill>
                          <a:effectLst/>
                          <a:latin typeface="Aptos Narrow" panose="020B0004020202020204" pitchFamily="34" charset="0"/>
                        </a:rPr>
                        <a:t>12,4</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15149559"/>
                  </a:ext>
                </a:extLst>
              </a:tr>
              <a:tr h="76339">
                <a:tc>
                  <a:txBody>
                    <a:bodyPr/>
                    <a:lstStyle/>
                    <a:p>
                      <a:pPr algn="l" fontAlgn="b">
                        <a:buNone/>
                      </a:pPr>
                      <a:r>
                        <a:rPr lang="fr-FR" sz="1000" b="1" i="0" u="none" strike="noStrike">
                          <a:solidFill>
                            <a:srgbClr val="000000"/>
                          </a:solidFill>
                          <a:effectLst/>
                          <a:latin typeface="Aptos Narrow" panose="020B0004020202020204" pitchFamily="34" charset="0"/>
                        </a:rPr>
                        <a:t>Le Lac d'Ailette</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6,9</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57F"/>
                    </a:solidFill>
                  </a:tcPr>
                </a:tc>
                <a:tc>
                  <a:txBody>
                    <a:bodyPr/>
                    <a:lstStyle/>
                    <a:p>
                      <a:pPr algn="r" fontAlgn="b">
                        <a:buNone/>
                      </a:pPr>
                      <a:r>
                        <a:rPr lang="fr-FR" sz="1000" b="1" i="0" u="none" strike="noStrike">
                          <a:solidFill>
                            <a:srgbClr val="000000"/>
                          </a:solidFill>
                          <a:effectLst/>
                          <a:latin typeface="Aptos Narrow" panose="020B0004020202020204" pitchFamily="34" charset="0"/>
                        </a:rPr>
                        <a:t>4,4</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E7E"/>
                    </a:solidFill>
                  </a:tcPr>
                </a:tc>
                <a:tc>
                  <a:txBody>
                    <a:bodyPr/>
                    <a:lstStyle/>
                    <a:p>
                      <a:pPr algn="r" fontAlgn="b">
                        <a:buNone/>
                      </a:pPr>
                      <a:r>
                        <a:rPr lang="fr-FR" sz="1000" b="1" i="0" u="none" strike="noStrike">
                          <a:solidFill>
                            <a:srgbClr val="00B050"/>
                          </a:solidFill>
                          <a:effectLst/>
                          <a:latin typeface="Aptos Narrow" panose="020B0004020202020204" pitchFamily="34" charset="0"/>
                        </a:rPr>
                        <a:t>2,6</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53780399"/>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BE</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8,7</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980"/>
                    </a:solidFill>
                  </a:tcPr>
                </a:tc>
                <a:tc>
                  <a:txBody>
                    <a:bodyPr/>
                    <a:lstStyle/>
                    <a:p>
                      <a:pPr algn="r" fontAlgn="b">
                        <a:buNone/>
                      </a:pPr>
                      <a:r>
                        <a:rPr lang="fr-FR" sz="1000" b="0" i="0" u="none" strike="noStrike">
                          <a:solidFill>
                            <a:srgbClr val="000000"/>
                          </a:solidFill>
                          <a:effectLst/>
                          <a:latin typeface="Aptos Narrow" panose="020B0004020202020204" pitchFamily="34" charset="0"/>
                        </a:rPr>
                        <a:t>4,8</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F7E"/>
                    </a:solidFill>
                  </a:tcPr>
                </a:tc>
                <a:tc>
                  <a:txBody>
                    <a:bodyPr/>
                    <a:lstStyle/>
                    <a:p>
                      <a:pPr algn="r" fontAlgn="b">
                        <a:buNone/>
                      </a:pPr>
                      <a:r>
                        <a:rPr lang="fr-FR" sz="1000" b="0" i="0" u="none" strike="noStrike">
                          <a:solidFill>
                            <a:srgbClr val="00B050"/>
                          </a:solidFill>
                          <a:effectLst/>
                          <a:latin typeface="Aptos Narrow" panose="020B0004020202020204" pitchFamily="34" charset="0"/>
                        </a:rPr>
                        <a:t>3,9</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94297260"/>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CH</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1,8</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77D"/>
                    </a:solidFill>
                  </a:tcPr>
                </a:tc>
                <a:tc>
                  <a:txBody>
                    <a:bodyPr/>
                    <a:lstStyle/>
                    <a:p>
                      <a:pPr algn="r" fontAlgn="b">
                        <a:buNone/>
                      </a:pPr>
                      <a:r>
                        <a:rPr lang="fr-FR" sz="1000" b="0" i="0" u="none" strike="noStrike">
                          <a:solidFill>
                            <a:srgbClr val="000000"/>
                          </a:solidFill>
                          <a:effectLst/>
                          <a:latin typeface="Aptos Narrow" panose="020B0004020202020204" pitchFamily="34" charset="0"/>
                        </a:rPr>
                        <a:t>2,1</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87D"/>
                    </a:solidFill>
                  </a:tcPr>
                </a:tc>
                <a:tc>
                  <a:txBody>
                    <a:bodyPr/>
                    <a:lstStyle/>
                    <a:p>
                      <a:pPr algn="r" fontAlgn="b">
                        <a:buNone/>
                      </a:pPr>
                      <a:r>
                        <a:rPr lang="fr-FR" sz="1000" b="0" i="0" u="none" strike="noStrike">
                          <a:solidFill>
                            <a:srgbClr val="FF0000"/>
                          </a:solidFill>
                          <a:effectLst/>
                          <a:latin typeface="Aptos Narrow" panose="020B0004020202020204" pitchFamily="34" charset="0"/>
                        </a:rPr>
                        <a:t>-0,3</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69799070"/>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DE</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-22,0</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770"/>
                    </a:solidFill>
                  </a:tcPr>
                </a:tc>
                <a:tc>
                  <a:txBody>
                    <a:bodyPr/>
                    <a:lstStyle/>
                    <a:p>
                      <a:pPr algn="r" fontAlgn="b">
                        <a:buNone/>
                      </a:pPr>
                      <a:r>
                        <a:rPr lang="fr-FR" sz="1000" b="0" i="0" u="none" strike="noStrike">
                          <a:solidFill>
                            <a:srgbClr val="000000"/>
                          </a:solidFill>
                          <a:effectLst/>
                          <a:latin typeface="Aptos Narrow" panose="020B0004020202020204" pitchFamily="34" charset="0"/>
                        </a:rPr>
                        <a:t>-6,2</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B179"/>
                    </a:solidFill>
                  </a:tcPr>
                </a:tc>
                <a:tc>
                  <a:txBody>
                    <a:bodyPr/>
                    <a:lstStyle/>
                    <a:p>
                      <a:pPr algn="r" fontAlgn="b">
                        <a:buNone/>
                      </a:pPr>
                      <a:r>
                        <a:rPr lang="fr-FR" sz="1000" b="0" i="0" u="none" strike="noStrike">
                          <a:solidFill>
                            <a:srgbClr val="FF0000"/>
                          </a:solidFill>
                          <a:effectLst/>
                          <a:latin typeface="Aptos Narrow" panose="020B0004020202020204" pitchFamily="34" charset="0"/>
                        </a:rPr>
                        <a:t>-15,8</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82731290"/>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FR</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11,3</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082"/>
                    </a:solidFill>
                  </a:tcPr>
                </a:tc>
                <a:tc>
                  <a:txBody>
                    <a:bodyPr/>
                    <a:lstStyle/>
                    <a:p>
                      <a:pPr algn="r" fontAlgn="b">
                        <a:buNone/>
                      </a:pPr>
                      <a:r>
                        <a:rPr lang="fr-FR" sz="1000" b="0" i="0" u="none" strike="noStrike">
                          <a:solidFill>
                            <a:srgbClr val="000000"/>
                          </a:solidFill>
                          <a:effectLst/>
                          <a:latin typeface="Aptos Narrow" panose="020B0004020202020204" pitchFamily="34" charset="0"/>
                        </a:rPr>
                        <a:t>7,3</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680"/>
                    </a:solidFill>
                  </a:tcPr>
                </a:tc>
                <a:tc>
                  <a:txBody>
                    <a:bodyPr/>
                    <a:lstStyle/>
                    <a:p>
                      <a:pPr algn="r" fontAlgn="b">
                        <a:buNone/>
                      </a:pPr>
                      <a:r>
                        <a:rPr lang="fr-FR" sz="1000" b="0" i="0" u="none" strike="noStrike">
                          <a:solidFill>
                            <a:srgbClr val="00B050"/>
                          </a:solidFill>
                          <a:effectLst/>
                          <a:latin typeface="Aptos Narrow" panose="020B0004020202020204" pitchFamily="34" charset="0"/>
                        </a:rPr>
                        <a:t>4,0</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1714721"/>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GB</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4,8</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F7E"/>
                    </a:solidFill>
                  </a:tcPr>
                </a:tc>
                <a:tc>
                  <a:txBody>
                    <a:bodyPr/>
                    <a:lstStyle/>
                    <a:p>
                      <a:pPr algn="r" fontAlgn="b">
                        <a:buNone/>
                      </a:pPr>
                      <a:r>
                        <a:rPr lang="fr-FR" sz="1000" b="0" i="0" u="none" strike="noStrike">
                          <a:solidFill>
                            <a:srgbClr val="000000"/>
                          </a:solidFill>
                          <a:effectLst/>
                          <a:latin typeface="Aptos Narrow" panose="020B0004020202020204" pitchFamily="34" charset="0"/>
                        </a:rPr>
                        <a:t>8,1</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880"/>
                    </a:solidFill>
                  </a:tcPr>
                </a:tc>
                <a:tc>
                  <a:txBody>
                    <a:bodyPr/>
                    <a:lstStyle/>
                    <a:p>
                      <a:pPr algn="r" fontAlgn="b">
                        <a:buNone/>
                      </a:pPr>
                      <a:r>
                        <a:rPr lang="fr-FR" sz="1000" b="0" i="0" u="none" strike="noStrike">
                          <a:solidFill>
                            <a:srgbClr val="FF0000"/>
                          </a:solidFill>
                          <a:effectLst/>
                          <a:latin typeface="Aptos Narrow" panose="020B0004020202020204" pitchFamily="34" charset="0"/>
                        </a:rPr>
                        <a:t>-3,3</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9959002"/>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LU</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-7,7</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D78"/>
                    </a:solidFill>
                  </a:tcPr>
                </a:tc>
                <a:tc>
                  <a:txBody>
                    <a:bodyPr/>
                    <a:lstStyle/>
                    <a:p>
                      <a:pPr algn="r" fontAlgn="b">
                        <a:buNone/>
                      </a:pPr>
                      <a:r>
                        <a:rPr lang="fr-FR" sz="1000" b="0" i="0" u="none" strike="noStrike">
                          <a:solidFill>
                            <a:srgbClr val="000000"/>
                          </a:solidFill>
                          <a:effectLst/>
                          <a:latin typeface="Aptos Narrow" panose="020B0004020202020204" pitchFamily="34" charset="0"/>
                        </a:rPr>
                        <a:t>-19,2</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8E72"/>
                    </a:solidFill>
                  </a:tcPr>
                </a:tc>
                <a:tc>
                  <a:txBody>
                    <a:bodyPr/>
                    <a:lstStyle/>
                    <a:p>
                      <a:pPr algn="r" fontAlgn="b">
                        <a:buNone/>
                      </a:pPr>
                      <a:r>
                        <a:rPr lang="fr-FR" sz="1000" b="0" i="0" u="none" strike="noStrike">
                          <a:solidFill>
                            <a:srgbClr val="00B050"/>
                          </a:solidFill>
                          <a:effectLst/>
                          <a:latin typeface="Aptos Narrow" panose="020B0004020202020204" pitchFamily="34" charset="0"/>
                        </a:rPr>
                        <a:t>11,5</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40241627"/>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NL</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-33,3</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96B"/>
                    </a:solidFill>
                  </a:tcPr>
                </a:tc>
                <a:tc>
                  <a:txBody>
                    <a:bodyPr/>
                    <a:lstStyle/>
                    <a:p>
                      <a:pPr algn="r" fontAlgn="b">
                        <a:buNone/>
                      </a:pPr>
                      <a:r>
                        <a:rPr lang="fr-FR" sz="1000" b="0" i="0" u="none" strike="noStrike">
                          <a:solidFill>
                            <a:srgbClr val="000000"/>
                          </a:solidFill>
                          <a:effectLst/>
                          <a:latin typeface="Aptos Narrow" panose="020B0004020202020204" pitchFamily="34" charset="0"/>
                        </a:rPr>
                        <a:t>-26,8</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A6E"/>
                    </a:solidFill>
                  </a:tcPr>
                </a:tc>
                <a:tc>
                  <a:txBody>
                    <a:bodyPr/>
                    <a:lstStyle/>
                    <a:p>
                      <a:pPr algn="r" fontAlgn="b">
                        <a:buNone/>
                      </a:pPr>
                      <a:r>
                        <a:rPr lang="fr-FR" sz="1000" b="0" i="0" u="none" strike="noStrike">
                          <a:solidFill>
                            <a:srgbClr val="FF0000"/>
                          </a:solidFill>
                          <a:effectLst/>
                          <a:latin typeface="Aptos Narrow" panose="020B0004020202020204" pitchFamily="34" charset="0"/>
                        </a:rPr>
                        <a:t>-6,6</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40599210"/>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LU</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0,0</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27C"/>
                    </a:solidFill>
                  </a:tcPr>
                </a:tc>
                <a:tc>
                  <a:txBody>
                    <a:bodyPr/>
                    <a:lstStyle/>
                    <a:p>
                      <a:pPr algn="r" fontAlgn="b">
                        <a:buNone/>
                      </a:pPr>
                      <a:r>
                        <a:rPr lang="fr-FR" sz="1000" b="0" i="0" u="none" strike="noStrike">
                          <a:solidFill>
                            <a:srgbClr val="000000"/>
                          </a:solidFill>
                          <a:effectLst/>
                          <a:latin typeface="Aptos Narrow" panose="020B0004020202020204" pitchFamily="34" charset="0"/>
                        </a:rPr>
                        <a:t>12,2</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382"/>
                    </a:solidFill>
                  </a:tcPr>
                </a:tc>
                <a:tc>
                  <a:txBody>
                    <a:bodyPr/>
                    <a:lstStyle/>
                    <a:p>
                      <a:pPr algn="r" fontAlgn="b">
                        <a:buNone/>
                      </a:pPr>
                      <a:r>
                        <a:rPr lang="fr-FR" sz="1000" b="0" i="0" u="none" strike="noStrike">
                          <a:solidFill>
                            <a:srgbClr val="FF0000"/>
                          </a:solidFill>
                          <a:effectLst/>
                          <a:latin typeface="Aptos Narrow" panose="020B0004020202020204" pitchFamily="34" charset="0"/>
                        </a:rPr>
                        <a:t>-12,2</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74693522"/>
                  </a:ext>
                </a:extLst>
              </a:tr>
            </a:tbl>
          </a:graphicData>
        </a:graphic>
      </p:graphicFrame>
      <p:graphicFrame>
        <p:nvGraphicFramePr>
          <p:cNvPr id="10" name="Table 9">
            <a:extLst>
              <a:ext uri="{FF2B5EF4-FFF2-40B4-BE49-F238E27FC236}">
                <a16:creationId xmlns:a16="http://schemas.microsoft.com/office/drawing/2014/main" id="{49C77CDC-629D-C513-8F4A-07BFCACE83DB}"/>
              </a:ext>
            </a:extLst>
          </p:cNvPr>
          <p:cNvGraphicFramePr>
            <a:graphicFrameLocks noGrp="1"/>
          </p:cNvGraphicFramePr>
          <p:nvPr>
            <p:extLst>
              <p:ext uri="{D42A27DB-BD31-4B8C-83A1-F6EECF244321}">
                <p14:modId xmlns:p14="http://schemas.microsoft.com/office/powerpoint/2010/main" val="3071653160"/>
              </p:ext>
            </p:extLst>
          </p:nvPr>
        </p:nvGraphicFramePr>
        <p:xfrm>
          <a:off x="2913048" y="2925053"/>
          <a:ext cx="2588592" cy="3410704"/>
        </p:xfrm>
        <a:graphic>
          <a:graphicData uri="http://schemas.openxmlformats.org/drawingml/2006/table">
            <a:tbl>
              <a:tblPr/>
              <a:tblGrid>
                <a:gridCol w="1336593">
                  <a:extLst>
                    <a:ext uri="{9D8B030D-6E8A-4147-A177-3AD203B41FA5}">
                      <a16:colId xmlns:a16="http://schemas.microsoft.com/office/drawing/2014/main" val="4089085937"/>
                    </a:ext>
                  </a:extLst>
                </a:gridCol>
                <a:gridCol w="422973">
                  <a:extLst>
                    <a:ext uri="{9D8B030D-6E8A-4147-A177-3AD203B41FA5}">
                      <a16:colId xmlns:a16="http://schemas.microsoft.com/office/drawing/2014/main" val="193350212"/>
                    </a:ext>
                  </a:extLst>
                </a:gridCol>
                <a:gridCol w="422973">
                  <a:extLst>
                    <a:ext uri="{9D8B030D-6E8A-4147-A177-3AD203B41FA5}">
                      <a16:colId xmlns:a16="http://schemas.microsoft.com/office/drawing/2014/main" val="1932803642"/>
                    </a:ext>
                  </a:extLst>
                </a:gridCol>
                <a:gridCol w="406053">
                  <a:extLst>
                    <a:ext uri="{9D8B030D-6E8A-4147-A177-3AD203B41FA5}">
                      <a16:colId xmlns:a16="http://schemas.microsoft.com/office/drawing/2014/main" val="3046269635"/>
                    </a:ext>
                  </a:extLst>
                </a:gridCol>
              </a:tblGrid>
              <a:tr h="76339">
                <a:tc>
                  <a:txBody>
                    <a:bodyPr/>
                    <a:lstStyle/>
                    <a:p>
                      <a:pPr algn="l" fontAlgn="b">
                        <a:buNone/>
                      </a:pPr>
                      <a:endParaRPr lang="fr-FR" sz="1000" b="0" i="0" u="none" strike="noStrike">
                        <a:solidFill>
                          <a:srgbClr val="000000"/>
                        </a:solidFill>
                        <a:effectLst/>
                        <a:latin typeface="Aptos Narrow" panose="020B0004020202020204" pitchFamily="34" charset="0"/>
                      </a:endParaRP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FY25</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FY24</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Evol </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40618129"/>
                  </a:ext>
                </a:extLst>
              </a:tr>
              <a:tr h="76339">
                <a:tc>
                  <a:txBody>
                    <a:bodyPr/>
                    <a:lstStyle/>
                    <a:p>
                      <a:pPr algn="l" fontAlgn="b">
                        <a:buNone/>
                      </a:pPr>
                      <a:r>
                        <a:rPr lang="fr-FR" sz="1000" b="1" i="0" u="none" strike="noStrike">
                          <a:solidFill>
                            <a:srgbClr val="000000"/>
                          </a:solidFill>
                          <a:effectLst/>
                          <a:latin typeface="Aptos Narrow" panose="020B0004020202020204" pitchFamily="34" charset="0"/>
                        </a:rPr>
                        <a:t>Les Bois-Francs</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18,3</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EA84"/>
                    </a:solidFill>
                  </a:tcPr>
                </a:tc>
                <a:tc>
                  <a:txBody>
                    <a:bodyPr/>
                    <a:lstStyle/>
                    <a:p>
                      <a:pPr algn="r" fontAlgn="b">
                        <a:buNone/>
                      </a:pPr>
                      <a:r>
                        <a:rPr lang="fr-FR" sz="1000" b="1" i="0" u="none" strike="noStrike">
                          <a:solidFill>
                            <a:srgbClr val="000000"/>
                          </a:solidFill>
                          <a:effectLst/>
                          <a:latin typeface="Aptos Narrow" panose="020B0004020202020204" pitchFamily="34" charset="0"/>
                        </a:rPr>
                        <a:t>8,0</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780"/>
                    </a:solidFill>
                  </a:tcPr>
                </a:tc>
                <a:tc>
                  <a:txBody>
                    <a:bodyPr/>
                    <a:lstStyle/>
                    <a:p>
                      <a:pPr algn="r" fontAlgn="b">
                        <a:buNone/>
                      </a:pPr>
                      <a:r>
                        <a:rPr lang="fr-FR" sz="1000" b="1" i="0" u="none" strike="noStrike">
                          <a:solidFill>
                            <a:srgbClr val="00B050"/>
                          </a:solidFill>
                          <a:effectLst/>
                          <a:latin typeface="Aptos Narrow" panose="020B0004020202020204" pitchFamily="34" charset="0"/>
                        </a:rPr>
                        <a:t>10,3</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82054544"/>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BE</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2,6</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97D"/>
                    </a:solidFill>
                  </a:tcPr>
                </a:tc>
                <a:tc>
                  <a:txBody>
                    <a:bodyPr/>
                    <a:lstStyle/>
                    <a:p>
                      <a:pPr algn="r" fontAlgn="b">
                        <a:buNone/>
                      </a:pPr>
                      <a:r>
                        <a:rPr lang="fr-FR" sz="1000" b="0" i="0" u="none" strike="noStrike">
                          <a:solidFill>
                            <a:srgbClr val="000000"/>
                          </a:solidFill>
                          <a:effectLst/>
                          <a:latin typeface="Aptos Narrow" panose="020B0004020202020204" pitchFamily="34" charset="0"/>
                        </a:rPr>
                        <a:t>4,6</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E7E"/>
                    </a:solidFill>
                  </a:tcPr>
                </a:tc>
                <a:tc>
                  <a:txBody>
                    <a:bodyPr/>
                    <a:lstStyle/>
                    <a:p>
                      <a:pPr algn="r" fontAlgn="b">
                        <a:buNone/>
                      </a:pPr>
                      <a:r>
                        <a:rPr lang="fr-FR" sz="1000" b="0" i="0" u="none" strike="noStrike">
                          <a:solidFill>
                            <a:srgbClr val="FF0000"/>
                          </a:solidFill>
                          <a:effectLst/>
                          <a:latin typeface="Aptos Narrow" panose="020B0004020202020204" pitchFamily="34" charset="0"/>
                        </a:rPr>
                        <a:t>-2,0</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37103862"/>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DE</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3,4</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B7D"/>
                    </a:solidFill>
                  </a:tcPr>
                </a:tc>
                <a:tc>
                  <a:txBody>
                    <a:bodyPr/>
                    <a:lstStyle/>
                    <a:p>
                      <a:pPr algn="r" fontAlgn="b">
                        <a:buNone/>
                      </a:pPr>
                      <a:r>
                        <a:rPr lang="fr-FR" sz="1000" b="0" i="0" u="none" strike="noStrike">
                          <a:solidFill>
                            <a:srgbClr val="000000"/>
                          </a:solidFill>
                          <a:effectLst/>
                          <a:latin typeface="Aptos Narrow" panose="020B0004020202020204" pitchFamily="34" charset="0"/>
                        </a:rPr>
                        <a:t>-21,2</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971"/>
                    </a:solidFill>
                  </a:tcPr>
                </a:tc>
                <a:tc>
                  <a:txBody>
                    <a:bodyPr/>
                    <a:lstStyle/>
                    <a:p>
                      <a:pPr algn="r" fontAlgn="b">
                        <a:buNone/>
                      </a:pPr>
                      <a:r>
                        <a:rPr lang="fr-FR" sz="1000" b="0" i="0" u="none" strike="noStrike">
                          <a:solidFill>
                            <a:srgbClr val="00B050"/>
                          </a:solidFill>
                          <a:effectLst/>
                          <a:latin typeface="Aptos Narrow" panose="020B0004020202020204" pitchFamily="34" charset="0"/>
                        </a:rPr>
                        <a:t>24,6</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56645668"/>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FR</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19,7</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7E984"/>
                    </a:solidFill>
                  </a:tcPr>
                </a:tc>
                <a:tc>
                  <a:txBody>
                    <a:bodyPr/>
                    <a:lstStyle/>
                    <a:p>
                      <a:pPr algn="r" fontAlgn="b">
                        <a:buNone/>
                      </a:pPr>
                      <a:r>
                        <a:rPr lang="fr-FR" sz="1000" b="0" i="0" u="none" strike="noStrike">
                          <a:solidFill>
                            <a:srgbClr val="000000"/>
                          </a:solidFill>
                          <a:effectLst/>
                          <a:latin typeface="Aptos Narrow" panose="020B0004020202020204" pitchFamily="34" charset="0"/>
                        </a:rPr>
                        <a:t>9,1</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B80"/>
                    </a:solidFill>
                  </a:tcPr>
                </a:tc>
                <a:tc>
                  <a:txBody>
                    <a:bodyPr/>
                    <a:lstStyle/>
                    <a:p>
                      <a:pPr algn="r" fontAlgn="b">
                        <a:buNone/>
                      </a:pPr>
                      <a:r>
                        <a:rPr lang="fr-FR" sz="1000" b="0" i="0" u="none" strike="noStrike">
                          <a:solidFill>
                            <a:srgbClr val="00B050"/>
                          </a:solidFill>
                          <a:effectLst/>
                          <a:latin typeface="Aptos Narrow" panose="020B0004020202020204" pitchFamily="34" charset="0"/>
                        </a:rPr>
                        <a:t>10,6</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98523276"/>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GB</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15,0</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A83"/>
                    </a:solidFill>
                  </a:tcPr>
                </a:tc>
                <a:tc>
                  <a:txBody>
                    <a:bodyPr/>
                    <a:lstStyle/>
                    <a:p>
                      <a:pPr algn="r" fontAlgn="b">
                        <a:buNone/>
                      </a:pPr>
                      <a:r>
                        <a:rPr lang="fr-FR" sz="1000" b="0" i="0" u="none" strike="noStrike">
                          <a:solidFill>
                            <a:srgbClr val="000000"/>
                          </a:solidFill>
                          <a:effectLst/>
                          <a:latin typeface="Aptos Narrow" panose="020B0004020202020204" pitchFamily="34" charset="0"/>
                        </a:rPr>
                        <a:t>13,7</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783"/>
                    </a:solidFill>
                  </a:tcPr>
                </a:tc>
                <a:tc>
                  <a:txBody>
                    <a:bodyPr/>
                    <a:lstStyle/>
                    <a:p>
                      <a:pPr algn="r" fontAlgn="b">
                        <a:buNone/>
                      </a:pPr>
                      <a:r>
                        <a:rPr lang="fr-FR" sz="1000" b="0" i="0" u="none" strike="noStrike">
                          <a:solidFill>
                            <a:srgbClr val="00B050"/>
                          </a:solidFill>
                          <a:effectLst/>
                          <a:latin typeface="Aptos Narrow" panose="020B0004020202020204" pitchFamily="34" charset="0"/>
                        </a:rPr>
                        <a:t>1,2</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78312765"/>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NL</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-27,7</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86D"/>
                    </a:solidFill>
                  </a:tcPr>
                </a:tc>
                <a:tc>
                  <a:txBody>
                    <a:bodyPr/>
                    <a:lstStyle/>
                    <a:p>
                      <a:pPr algn="r" fontAlgn="b">
                        <a:buNone/>
                      </a:pPr>
                      <a:r>
                        <a:rPr lang="fr-FR" sz="1000" b="0" i="0" u="none" strike="noStrike">
                          <a:solidFill>
                            <a:srgbClr val="000000"/>
                          </a:solidFill>
                          <a:effectLst/>
                          <a:latin typeface="Aptos Narrow" panose="020B0004020202020204" pitchFamily="34" charset="0"/>
                        </a:rPr>
                        <a:t>-26,6</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B6E"/>
                    </a:solidFill>
                  </a:tcPr>
                </a:tc>
                <a:tc>
                  <a:txBody>
                    <a:bodyPr/>
                    <a:lstStyle/>
                    <a:p>
                      <a:pPr algn="r" fontAlgn="b">
                        <a:buNone/>
                      </a:pPr>
                      <a:r>
                        <a:rPr lang="fr-FR" sz="1000" b="0" i="0" u="none" strike="noStrike">
                          <a:solidFill>
                            <a:srgbClr val="FF0000"/>
                          </a:solidFill>
                          <a:effectLst/>
                          <a:latin typeface="Aptos Narrow" panose="020B0004020202020204" pitchFamily="34" charset="0"/>
                        </a:rPr>
                        <a:t>-1,1</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19781723"/>
                  </a:ext>
                </a:extLst>
              </a:tr>
              <a:tr h="76339">
                <a:tc>
                  <a:txBody>
                    <a:bodyPr/>
                    <a:lstStyle/>
                    <a:p>
                      <a:pPr algn="l" fontAlgn="b">
                        <a:buNone/>
                      </a:pPr>
                      <a:r>
                        <a:rPr lang="fr-FR" sz="1000" b="1" i="0" u="none" strike="noStrike">
                          <a:solidFill>
                            <a:srgbClr val="000000"/>
                          </a:solidFill>
                          <a:effectLst/>
                          <a:latin typeface="Aptos Narrow" panose="020B0004020202020204" pitchFamily="34" charset="0"/>
                        </a:rPr>
                        <a:t>Les Hauts de Bruyères</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15,2</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B84"/>
                    </a:solidFill>
                  </a:tcPr>
                </a:tc>
                <a:tc>
                  <a:txBody>
                    <a:bodyPr/>
                    <a:lstStyle/>
                    <a:p>
                      <a:pPr algn="r" fontAlgn="b">
                        <a:buNone/>
                      </a:pPr>
                      <a:r>
                        <a:rPr lang="fr-FR" sz="1000" b="1" i="0" u="none" strike="noStrike">
                          <a:solidFill>
                            <a:srgbClr val="000000"/>
                          </a:solidFill>
                          <a:effectLst/>
                          <a:latin typeface="Aptos Narrow" panose="020B0004020202020204" pitchFamily="34" charset="0"/>
                        </a:rPr>
                        <a:t>8,9</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A80"/>
                    </a:solidFill>
                  </a:tcPr>
                </a:tc>
                <a:tc>
                  <a:txBody>
                    <a:bodyPr/>
                    <a:lstStyle/>
                    <a:p>
                      <a:pPr algn="r" fontAlgn="b">
                        <a:buNone/>
                      </a:pPr>
                      <a:r>
                        <a:rPr lang="fr-FR" sz="1000" b="1" i="0" u="none" strike="noStrike">
                          <a:solidFill>
                            <a:srgbClr val="00B050"/>
                          </a:solidFill>
                          <a:effectLst/>
                          <a:latin typeface="Aptos Narrow" panose="020B0004020202020204" pitchFamily="34" charset="0"/>
                        </a:rPr>
                        <a:t>6,2</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04136911"/>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BE</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1,3</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57C"/>
                    </a:solidFill>
                  </a:tcPr>
                </a:tc>
                <a:tc>
                  <a:txBody>
                    <a:bodyPr/>
                    <a:lstStyle/>
                    <a:p>
                      <a:pPr algn="r" fontAlgn="b">
                        <a:buNone/>
                      </a:pPr>
                      <a:r>
                        <a:rPr lang="fr-FR" sz="1000" b="0" i="0" u="none" strike="noStrike">
                          <a:solidFill>
                            <a:srgbClr val="000000"/>
                          </a:solidFill>
                          <a:effectLst/>
                          <a:latin typeface="Aptos Narrow" panose="020B0004020202020204" pitchFamily="34" charset="0"/>
                        </a:rPr>
                        <a:t>-4,8</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579"/>
                    </a:solidFill>
                  </a:tcPr>
                </a:tc>
                <a:tc>
                  <a:txBody>
                    <a:bodyPr/>
                    <a:lstStyle/>
                    <a:p>
                      <a:pPr algn="r" fontAlgn="b">
                        <a:buNone/>
                      </a:pPr>
                      <a:r>
                        <a:rPr lang="fr-FR" sz="1000" b="0" i="0" u="none" strike="noStrike">
                          <a:solidFill>
                            <a:srgbClr val="00B050"/>
                          </a:solidFill>
                          <a:effectLst/>
                          <a:latin typeface="Aptos Narrow" panose="020B0004020202020204" pitchFamily="34" charset="0"/>
                        </a:rPr>
                        <a:t>6,0</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6619129"/>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CH</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6,7</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47F"/>
                    </a:solidFill>
                  </a:tcPr>
                </a:tc>
                <a:tc>
                  <a:txBody>
                    <a:bodyPr/>
                    <a:lstStyle/>
                    <a:p>
                      <a:pPr algn="r" fontAlgn="b">
                        <a:buNone/>
                      </a:pPr>
                      <a:r>
                        <a:rPr lang="fr-FR" sz="1000" b="0" i="0" u="none" strike="noStrike">
                          <a:solidFill>
                            <a:srgbClr val="000000"/>
                          </a:solidFill>
                          <a:effectLst/>
                          <a:latin typeface="Aptos Narrow" panose="020B0004020202020204" pitchFamily="34" charset="0"/>
                        </a:rPr>
                        <a:t>18,0</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EA84"/>
                    </a:solidFill>
                  </a:tcPr>
                </a:tc>
                <a:tc>
                  <a:txBody>
                    <a:bodyPr/>
                    <a:lstStyle/>
                    <a:p>
                      <a:pPr algn="r" fontAlgn="b">
                        <a:buNone/>
                      </a:pPr>
                      <a:r>
                        <a:rPr lang="fr-FR" sz="1000" b="0" i="0" u="none" strike="noStrike">
                          <a:solidFill>
                            <a:srgbClr val="FF0000"/>
                          </a:solidFill>
                          <a:effectLst/>
                          <a:latin typeface="Aptos Narrow" panose="020B0004020202020204" pitchFamily="34" charset="0"/>
                        </a:rPr>
                        <a:t>-11,3</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14809911"/>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DE</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-2,7</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B7A"/>
                    </a:solidFill>
                  </a:tcPr>
                </a:tc>
                <a:tc>
                  <a:txBody>
                    <a:bodyPr/>
                    <a:lstStyle/>
                    <a:p>
                      <a:pPr algn="r" fontAlgn="b">
                        <a:buNone/>
                      </a:pPr>
                      <a:r>
                        <a:rPr lang="fr-FR" sz="1000" b="0" i="0" u="none" strike="noStrike">
                          <a:solidFill>
                            <a:srgbClr val="000000"/>
                          </a:solidFill>
                          <a:effectLst/>
                          <a:latin typeface="Aptos Narrow" panose="020B0004020202020204" pitchFamily="34" charset="0"/>
                        </a:rPr>
                        <a:t>-2,8</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A7A"/>
                    </a:solidFill>
                  </a:tcPr>
                </a:tc>
                <a:tc>
                  <a:txBody>
                    <a:bodyPr/>
                    <a:lstStyle/>
                    <a:p>
                      <a:pPr algn="r" fontAlgn="b">
                        <a:buNone/>
                      </a:pPr>
                      <a:r>
                        <a:rPr lang="fr-FR" sz="1000" b="0" i="0" u="none" strike="noStrike">
                          <a:solidFill>
                            <a:srgbClr val="00B050"/>
                          </a:solidFill>
                          <a:effectLst/>
                          <a:latin typeface="Aptos Narrow" panose="020B0004020202020204" pitchFamily="34" charset="0"/>
                        </a:rPr>
                        <a:t>0,1</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40505253"/>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FR</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16,0</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B84"/>
                    </a:solidFill>
                  </a:tcPr>
                </a:tc>
                <a:tc>
                  <a:txBody>
                    <a:bodyPr/>
                    <a:lstStyle/>
                    <a:p>
                      <a:pPr algn="r" fontAlgn="b">
                        <a:buNone/>
                      </a:pPr>
                      <a:r>
                        <a:rPr lang="fr-FR" sz="1000" b="0" i="0" u="none" strike="noStrike">
                          <a:solidFill>
                            <a:srgbClr val="000000"/>
                          </a:solidFill>
                          <a:effectLst/>
                          <a:latin typeface="Aptos Narrow" panose="020B0004020202020204" pitchFamily="34" charset="0"/>
                        </a:rPr>
                        <a:t>9,6</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C81"/>
                    </a:solidFill>
                  </a:tcPr>
                </a:tc>
                <a:tc>
                  <a:txBody>
                    <a:bodyPr/>
                    <a:lstStyle/>
                    <a:p>
                      <a:pPr algn="r" fontAlgn="b">
                        <a:buNone/>
                      </a:pPr>
                      <a:r>
                        <a:rPr lang="fr-FR" sz="1000" b="0" i="0" u="none" strike="noStrike">
                          <a:solidFill>
                            <a:srgbClr val="00B050"/>
                          </a:solidFill>
                          <a:effectLst/>
                          <a:latin typeface="Aptos Narrow" panose="020B0004020202020204" pitchFamily="34" charset="0"/>
                        </a:rPr>
                        <a:t>6,3</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14792393"/>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GB</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30,8</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3E383"/>
                    </a:solidFill>
                  </a:tcPr>
                </a:tc>
                <a:tc>
                  <a:txBody>
                    <a:bodyPr/>
                    <a:lstStyle/>
                    <a:p>
                      <a:pPr algn="r" fontAlgn="b">
                        <a:buNone/>
                      </a:pPr>
                      <a:r>
                        <a:rPr lang="fr-FR" sz="1000" b="0" i="0" u="none" strike="noStrike">
                          <a:solidFill>
                            <a:srgbClr val="000000"/>
                          </a:solidFill>
                          <a:effectLst/>
                          <a:latin typeface="Aptos Narrow" panose="020B0004020202020204" pitchFamily="34" charset="0"/>
                        </a:rPr>
                        <a:t>1,4</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67C"/>
                    </a:solidFill>
                  </a:tcPr>
                </a:tc>
                <a:tc>
                  <a:txBody>
                    <a:bodyPr/>
                    <a:lstStyle/>
                    <a:p>
                      <a:pPr algn="r" fontAlgn="b">
                        <a:buNone/>
                      </a:pPr>
                      <a:r>
                        <a:rPr lang="fr-FR" sz="1000" b="0" i="0" u="none" strike="noStrike">
                          <a:solidFill>
                            <a:srgbClr val="00B050"/>
                          </a:solidFill>
                          <a:effectLst/>
                          <a:latin typeface="Aptos Narrow" panose="020B0004020202020204" pitchFamily="34" charset="0"/>
                        </a:rPr>
                        <a:t>29,4</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96030478"/>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NL</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-8,6</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B77"/>
                    </a:solidFill>
                  </a:tcPr>
                </a:tc>
                <a:tc>
                  <a:txBody>
                    <a:bodyPr/>
                    <a:lstStyle/>
                    <a:p>
                      <a:pPr algn="r" fontAlgn="b">
                        <a:buNone/>
                      </a:pPr>
                      <a:r>
                        <a:rPr lang="fr-FR" sz="1000" b="0" i="0" u="none" strike="noStrike">
                          <a:solidFill>
                            <a:srgbClr val="000000"/>
                          </a:solidFill>
                          <a:effectLst/>
                          <a:latin typeface="Aptos Narrow" panose="020B0004020202020204" pitchFamily="34" charset="0"/>
                        </a:rPr>
                        <a:t>-24,5</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06F"/>
                    </a:solidFill>
                  </a:tcPr>
                </a:tc>
                <a:tc>
                  <a:txBody>
                    <a:bodyPr/>
                    <a:lstStyle/>
                    <a:p>
                      <a:pPr algn="r" fontAlgn="b">
                        <a:buNone/>
                      </a:pPr>
                      <a:r>
                        <a:rPr lang="fr-FR" sz="1000" b="0" i="0" u="none" strike="noStrike">
                          <a:solidFill>
                            <a:srgbClr val="00B050"/>
                          </a:solidFill>
                          <a:effectLst/>
                          <a:latin typeface="Aptos Narrow" panose="020B0004020202020204" pitchFamily="34" charset="0"/>
                        </a:rPr>
                        <a:t>15,9</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53373970"/>
                  </a:ext>
                </a:extLst>
              </a:tr>
              <a:tr h="76339">
                <a:tc>
                  <a:txBody>
                    <a:bodyPr/>
                    <a:lstStyle/>
                    <a:p>
                      <a:pPr algn="l" fontAlgn="b">
                        <a:buNone/>
                      </a:pPr>
                      <a:r>
                        <a:rPr lang="fr-FR" sz="1000" b="1" i="0" u="none" strike="noStrike">
                          <a:solidFill>
                            <a:srgbClr val="000000"/>
                          </a:solidFill>
                          <a:effectLst/>
                          <a:latin typeface="Aptos Narrow" panose="020B0004020202020204" pitchFamily="34" charset="0"/>
                        </a:rPr>
                        <a:t>Les Landes de Gascogne</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48,5</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2DA81"/>
                    </a:solidFill>
                  </a:tcPr>
                </a:tc>
                <a:tc>
                  <a:txBody>
                    <a:bodyPr/>
                    <a:lstStyle/>
                    <a:p>
                      <a:pPr algn="r" fontAlgn="b">
                        <a:buNone/>
                      </a:pPr>
                      <a:r>
                        <a:rPr lang="fr-FR" sz="1000" b="1" i="0" u="none" strike="noStrike">
                          <a:solidFill>
                            <a:srgbClr val="000000"/>
                          </a:solidFill>
                          <a:effectLst/>
                          <a:latin typeface="Aptos Narrow" panose="020B0004020202020204" pitchFamily="34" charset="0"/>
                        </a:rPr>
                        <a:t>41,1</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0DE82"/>
                    </a:solidFill>
                  </a:tcPr>
                </a:tc>
                <a:tc>
                  <a:txBody>
                    <a:bodyPr/>
                    <a:lstStyle/>
                    <a:p>
                      <a:pPr algn="r" fontAlgn="b">
                        <a:buNone/>
                      </a:pPr>
                      <a:r>
                        <a:rPr lang="fr-FR" sz="1000" b="1" i="0" u="none" strike="noStrike">
                          <a:solidFill>
                            <a:srgbClr val="00B050"/>
                          </a:solidFill>
                          <a:effectLst/>
                          <a:latin typeface="Aptos Narrow" panose="020B0004020202020204" pitchFamily="34" charset="0"/>
                        </a:rPr>
                        <a:t>7,4</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97437426"/>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BE</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38,7</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4DF82"/>
                    </a:solidFill>
                  </a:tcPr>
                </a:tc>
                <a:tc>
                  <a:txBody>
                    <a:bodyPr/>
                    <a:lstStyle/>
                    <a:p>
                      <a:pPr algn="r" fontAlgn="b">
                        <a:buNone/>
                      </a:pPr>
                      <a:r>
                        <a:rPr lang="fr-FR" sz="1000" b="0" i="0" u="none" strike="noStrike">
                          <a:solidFill>
                            <a:srgbClr val="000000"/>
                          </a:solidFill>
                          <a:effectLst/>
                          <a:latin typeface="Aptos Narrow" panose="020B0004020202020204" pitchFamily="34" charset="0"/>
                        </a:rPr>
                        <a:t>48,1</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3DA81"/>
                    </a:solidFill>
                  </a:tcPr>
                </a:tc>
                <a:tc>
                  <a:txBody>
                    <a:bodyPr/>
                    <a:lstStyle/>
                    <a:p>
                      <a:pPr algn="r" fontAlgn="b">
                        <a:buNone/>
                      </a:pPr>
                      <a:r>
                        <a:rPr lang="fr-FR" sz="1000" b="0" i="0" u="none" strike="noStrike">
                          <a:solidFill>
                            <a:srgbClr val="FF0000"/>
                          </a:solidFill>
                          <a:effectLst/>
                          <a:latin typeface="Aptos Narrow" panose="020B0004020202020204" pitchFamily="34" charset="0"/>
                        </a:rPr>
                        <a:t>-9,4</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51629980"/>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CH</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36,1</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9E082"/>
                    </a:solidFill>
                  </a:tcPr>
                </a:tc>
                <a:tc>
                  <a:txBody>
                    <a:bodyPr/>
                    <a:lstStyle/>
                    <a:p>
                      <a:pPr algn="r" fontAlgn="b">
                        <a:buNone/>
                      </a:pPr>
                      <a:r>
                        <a:rPr lang="fr-FR" sz="1000" b="0" i="0" u="none" strike="noStrike">
                          <a:solidFill>
                            <a:srgbClr val="000000"/>
                          </a:solidFill>
                          <a:effectLst/>
                          <a:latin typeface="Aptos Narrow" panose="020B0004020202020204" pitchFamily="34" charset="0"/>
                        </a:rPr>
                        <a:t>42,5</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DDD82"/>
                    </a:solidFill>
                  </a:tcPr>
                </a:tc>
                <a:tc>
                  <a:txBody>
                    <a:bodyPr/>
                    <a:lstStyle/>
                    <a:p>
                      <a:pPr algn="r" fontAlgn="b">
                        <a:buNone/>
                      </a:pPr>
                      <a:r>
                        <a:rPr lang="fr-FR" sz="1000" b="0" i="0" u="none" strike="noStrike">
                          <a:solidFill>
                            <a:srgbClr val="FF0000"/>
                          </a:solidFill>
                          <a:effectLst/>
                          <a:latin typeface="Aptos Narrow" panose="020B0004020202020204" pitchFamily="34" charset="0"/>
                        </a:rPr>
                        <a:t>-6,4</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21393684"/>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DE</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33,3</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EE283"/>
                    </a:solidFill>
                  </a:tcPr>
                </a:tc>
                <a:tc>
                  <a:txBody>
                    <a:bodyPr/>
                    <a:lstStyle/>
                    <a:p>
                      <a:pPr algn="r" fontAlgn="b">
                        <a:buNone/>
                      </a:pPr>
                      <a:r>
                        <a:rPr lang="fr-FR" sz="1000" b="0" i="0" u="none" strike="noStrike">
                          <a:solidFill>
                            <a:srgbClr val="000000"/>
                          </a:solidFill>
                          <a:effectLst/>
                          <a:latin typeface="Aptos Narrow" panose="020B0004020202020204" pitchFamily="34" charset="0"/>
                        </a:rPr>
                        <a:t>43,3</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CDD82"/>
                    </a:solidFill>
                  </a:tcPr>
                </a:tc>
                <a:tc>
                  <a:txBody>
                    <a:bodyPr/>
                    <a:lstStyle/>
                    <a:p>
                      <a:pPr algn="r" fontAlgn="b">
                        <a:buNone/>
                      </a:pPr>
                      <a:r>
                        <a:rPr lang="fr-FR" sz="1000" b="0" i="0" u="none" strike="noStrike">
                          <a:solidFill>
                            <a:srgbClr val="FF0000"/>
                          </a:solidFill>
                          <a:effectLst/>
                          <a:latin typeface="Aptos Narrow" panose="020B0004020202020204" pitchFamily="34" charset="0"/>
                        </a:rPr>
                        <a:t>-10,0</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74994066"/>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ES</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67,6</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FD07F"/>
                    </a:solidFill>
                  </a:tcPr>
                </a:tc>
                <a:tc>
                  <a:txBody>
                    <a:bodyPr/>
                    <a:lstStyle/>
                    <a:p>
                      <a:pPr algn="r" fontAlgn="b">
                        <a:buNone/>
                      </a:pPr>
                      <a:r>
                        <a:rPr lang="fr-FR" sz="1000" b="0" i="0" u="none" strike="noStrike">
                          <a:solidFill>
                            <a:srgbClr val="000000"/>
                          </a:solidFill>
                          <a:effectLst/>
                          <a:latin typeface="Aptos Narrow" panose="020B0004020202020204" pitchFamily="34" charset="0"/>
                        </a:rPr>
                        <a:t>60,9</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BD380"/>
                    </a:solidFill>
                  </a:tcPr>
                </a:tc>
                <a:tc>
                  <a:txBody>
                    <a:bodyPr/>
                    <a:lstStyle/>
                    <a:p>
                      <a:pPr algn="r" fontAlgn="b">
                        <a:buNone/>
                      </a:pPr>
                      <a:r>
                        <a:rPr lang="fr-FR" sz="1000" b="0" i="0" u="none" strike="noStrike">
                          <a:solidFill>
                            <a:srgbClr val="00B050"/>
                          </a:solidFill>
                          <a:effectLst/>
                          <a:latin typeface="Aptos Narrow" panose="020B0004020202020204" pitchFamily="34" charset="0"/>
                        </a:rPr>
                        <a:t>6,7</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60499601"/>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FR</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48,9</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1DA81"/>
                    </a:solidFill>
                  </a:tcPr>
                </a:tc>
                <a:tc>
                  <a:txBody>
                    <a:bodyPr/>
                    <a:lstStyle/>
                    <a:p>
                      <a:pPr algn="r" fontAlgn="b">
                        <a:buNone/>
                      </a:pPr>
                      <a:r>
                        <a:rPr lang="fr-FR" sz="1000" b="0" i="0" u="none" strike="noStrike">
                          <a:solidFill>
                            <a:srgbClr val="000000"/>
                          </a:solidFill>
                          <a:effectLst/>
                          <a:latin typeface="Aptos Narrow" panose="020B0004020202020204" pitchFamily="34" charset="0"/>
                        </a:rPr>
                        <a:t>41,0</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0DE82"/>
                    </a:solidFill>
                  </a:tcPr>
                </a:tc>
                <a:tc>
                  <a:txBody>
                    <a:bodyPr/>
                    <a:lstStyle/>
                    <a:p>
                      <a:pPr algn="r" fontAlgn="b">
                        <a:buNone/>
                      </a:pPr>
                      <a:r>
                        <a:rPr lang="fr-FR" sz="1000" b="0" i="0" u="none" strike="noStrike">
                          <a:solidFill>
                            <a:srgbClr val="00B050"/>
                          </a:solidFill>
                          <a:effectLst/>
                          <a:latin typeface="Aptos Narrow" panose="020B0004020202020204" pitchFamily="34" charset="0"/>
                        </a:rPr>
                        <a:t>7,9</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01396690"/>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GB</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39,5</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3DF82"/>
                    </a:solidFill>
                  </a:tcPr>
                </a:tc>
                <a:tc>
                  <a:txBody>
                    <a:bodyPr/>
                    <a:lstStyle/>
                    <a:p>
                      <a:pPr algn="r" fontAlgn="b">
                        <a:buNone/>
                      </a:pPr>
                      <a:r>
                        <a:rPr lang="fr-FR" sz="1000" b="0" i="0" u="none" strike="noStrike">
                          <a:solidFill>
                            <a:srgbClr val="000000"/>
                          </a:solidFill>
                          <a:effectLst/>
                          <a:latin typeface="Aptos Narrow" panose="020B0004020202020204" pitchFamily="34" charset="0"/>
                        </a:rPr>
                        <a:t>53,0</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AD780"/>
                    </a:solidFill>
                  </a:tcPr>
                </a:tc>
                <a:tc>
                  <a:txBody>
                    <a:bodyPr/>
                    <a:lstStyle/>
                    <a:p>
                      <a:pPr algn="r" fontAlgn="b">
                        <a:buNone/>
                      </a:pPr>
                      <a:r>
                        <a:rPr lang="fr-FR" sz="1000" b="0" i="0" u="none" strike="noStrike">
                          <a:solidFill>
                            <a:srgbClr val="FF0000"/>
                          </a:solidFill>
                          <a:effectLst/>
                          <a:latin typeface="Aptos Narrow" panose="020B0004020202020204" pitchFamily="34" charset="0"/>
                        </a:rPr>
                        <a:t>-13,6</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95934335"/>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NL</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21,6</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4E884"/>
                    </a:solidFill>
                  </a:tcPr>
                </a:tc>
                <a:tc>
                  <a:txBody>
                    <a:bodyPr/>
                    <a:lstStyle/>
                    <a:p>
                      <a:pPr algn="r" fontAlgn="b">
                        <a:buNone/>
                      </a:pPr>
                      <a:r>
                        <a:rPr lang="fr-FR" sz="1000" b="0" i="0" u="none" strike="noStrike">
                          <a:solidFill>
                            <a:srgbClr val="000000"/>
                          </a:solidFill>
                          <a:effectLst/>
                          <a:latin typeface="Aptos Narrow" panose="020B0004020202020204" pitchFamily="34" charset="0"/>
                        </a:rPr>
                        <a:t>9,1</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A80"/>
                    </a:solidFill>
                  </a:tcPr>
                </a:tc>
                <a:tc>
                  <a:txBody>
                    <a:bodyPr/>
                    <a:lstStyle/>
                    <a:p>
                      <a:pPr algn="r" fontAlgn="b">
                        <a:buNone/>
                      </a:pPr>
                      <a:r>
                        <a:rPr lang="fr-FR" sz="1000" b="0" i="0" u="none" strike="noStrike">
                          <a:solidFill>
                            <a:srgbClr val="00B050"/>
                          </a:solidFill>
                          <a:effectLst/>
                          <a:latin typeface="Aptos Narrow" panose="020B0004020202020204" pitchFamily="34" charset="0"/>
                        </a:rPr>
                        <a:t>12,5</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74962893"/>
                  </a:ext>
                </a:extLst>
              </a:tr>
            </a:tbl>
          </a:graphicData>
        </a:graphic>
      </p:graphicFrame>
      <p:graphicFrame>
        <p:nvGraphicFramePr>
          <p:cNvPr id="11" name="Table 10">
            <a:extLst>
              <a:ext uri="{FF2B5EF4-FFF2-40B4-BE49-F238E27FC236}">
                <a16:creationId xmlns:a16="http://schemas.microsoft.com/office/drawing/2014/main" id="{37F40AB5-9704-AA8F-3757-3ACA57681BCC}"/>
              </a:ext>
            </a:extLst>
          </p:cNvPr>
          <p:cNvGraphicFramePr>
            <a:graphicFrameLocks noGrp="1"/>
          </p:cNvGraphicFramePr>
          <p:nvPr>
            <p:extLst>
              <p:ext uri="{D42A27DB-BD31-4B8C-83A1-F6EECF244321}">
                <p14:modId xmlns:p14="http://schemas.microsoft.com/office/powerpoint/2010/main" val="2370392585"/>
              </p:ext>
            </p:extLst>
          </p:nvPr>
        </p:nvGraphicFramePr>
        <p:xfrm>
          <a:off x="5900088" y="2925053"/>
          <a:ext cx="2817192" cy="2945608"/>
        </p:xfrm>
        <a:graphic>
          <a:graphicData uri="http://schemas.openxmlformats.org/drawingml/2006/table">
            <a:tbl>
              <a:tblPr/>
              <a:tblGrid>
                <a:gridCol w="1454628">
                  <a:extLst>
                    <a:ext uri="{9D8B030D-6E8A-4147-A177-3AD203B41FA5}">
                      <a16:colId xmlns:a16="http://schemas.microsoft.com/office/drawing/2014/main" val="94723024"/>
                    </a:ext>
                  </a:extLst>
                </a:gridCol>
                <a:gridCol w="460326">
                  <a:extLst>
                    <a:ext uri="{9D8B030D-6E8A-4147-A177-3AD203B41FA5}">
                      <a16:colId xmlns:a16="http://schemas.microsoft.com/office/drawing/2014/main" val="2117508397"/>
                    </a:ext>
                  </a:extLst>
                </a:gridCol>
                <a:gridCol w="460326">
                  <a:extLst>
                    <a:ext uri="{9D8B030D-6E8A-4147-A177-3AD203B41FA5}">
                      <a16:colId xmlns:a16="http://schemas.microsoft.com/office/drawing/2014/main" val="527661298"/>
                    </a:ext>
                  </a:extLst>
                </a:gridCol>
                <a:gridCol w="441912">
                  <a:extLst>
                    <a:ext uri="{9D8B030D-6E8A-4147-A177-3AD203B41FA5}">
                      <a16:colId xmlns:a16="http://schemas.microsoft.com/office/drawing/2014/main" val="108596465"/>
                    </a:ext>
                  </a:extLst>
                </a:gridCol>
              </a:tblGrid>
              <a:tr h="76339">
                <a:tc>
                  <a:txBody>
                    <a:bodyPr/>
                    <a:lstStyle/>
                    <a:p>
                      <a:pPr algn="l" fontAlgn="b">
                        <a:buNone/>
                      </a:pPr>
                      <a:endParaRPr lang="fr-FR" sz="1000" b="0" i="0" u="none" strike="noStrike">
                        <a:solidFill>
                          <a:srgbClr val="000000"/>
                        </a:solidFill>
                        <a:effectLst/>
                        <a:latin typeface="Aptos Narrow" panose="020B0004020202020204" pitchFamily="34" charset="0"/>
                      </a:endParaRP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FY25</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FY24</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Evol </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44888048"/>
                  </a:ext>
                </a:extLst>
              </a:tr>
              <a:tr h="76339">
                <a:tc>
                  <a:txBody>
                    <a:bodyPr/>
                    <a:lstStyle/>
                    <a:p>
                      <a:pPr algn="l" fontAlgn="b">
                        <a:buNone/>
                      </a:pPr>
                      <a:r>
                        <a:rPr lang="fr-FR" sz="1000" b="1" i="0" u="none" strike="noStrike">
                          <a:solidFill>
                            <a:srgbClr val="000000"/>
                          </a:solidFill>
                          <a:effectLst/>
                          <a:latin typeface="Aptos Narrow" panose="020B0004020202020204" pitchFamily="34" charset="0"/>
                        </a:rPr>
                        <a:t>Les Trois Forêts</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27,2</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9E583"/>
                    </a:solidFill>
                  </a:tcPr>
                </a:tc>
                <a:tc>
                  <a:txBody>
                    <a:bodyPr/>
                    <a:lstStyle/>
                    <a:p>
                      <a:pPr algn="r" fontAlgn="b">
                        <a:buNone/>
                      </a:pPr>
                      <a:r>
                        <a:rPr lang="fr-FR" sz="1000" b="1" i="0" u="none" strike="noStrike">
                          <a:solidFill>
                            <a:srgbClr val="000000"/>
                          </a:solidFill>
                          <a:effectLst/>
                          <a:latin typeface="Aptos Narrow" panose="020B0004020202020204" pitchFamily="34" charset="0"/>
                        </a:rPr>
                        <a:t>18,9</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E984"/>
                    </a:solidFill>
                  </a:tcPr>
                </a:tc>
                <a:tc>
                  <a:txBody>
                    <a:bodyPr/>
                    <a:lstStyle/>
                    <a:p>
                      <a:pPr algn="r" fontAlgn="b">
                        <a:buNone/>
                      </a:pPr>
                      <a:r>
                        <a:rPr lang="fr-FR" sz="1000" b="1" i="0" u="none" strike="noStrike">
                          <a:solidFill>
                            <a:srgbClr val="00B050"/>
                          </a:solidFill>
                          <a:effectLst/>
                          <a:latin typeface="Aptos Narrow" panose="020B0004020202020204" pitchFamily="34" charset="0"/>
                        </a:rPr>
                        <a:t>8,3</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71201595"/>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BE</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31,8</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1E383"/>
                    </a:solidFill>
                  </a:tcPr>
                </a:tc>
                <a:tc>
                  <a:txBody>
                    <a:bodyPr/>
                    <a:lstStyle/>
                    <a:p>
                      <a:pPr algn="r" fontAlgn="b">
                        <a:buNone/>
                      </a:pPr>
                      <a:r>
                        <a:rPr lang="fr-FR" sz="1000" b="0" i="0" u="none" strike="noStrike">
                          <a:solidFill>
                            <a:srgbClr val="000000"/>
                          </a:solidFill>
                          <a:effectLst/>
                          <a:latin typeface="Aptos Narrow" panose="020B0004020202020204" pitchFamily="34" charset="0"/>
                        </a:rPr>
                        <a:t>25,6</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CE683"/>
                    </a:solidFill>
                  </a:tcPr>
                </a:tc>
                <a:tc>
                  <a:txBody>
                    <a:bodyPr/>
                    <a:lstStyle/>
                    <a:p>
                      <a:pPr algn="r" fontAlgn="b">
                        <a:buNone/>
                      </a:pPr>
                      <a:r>
                        <a:rPr lang="fr-FR" sz="1000" b="0" i="0" u="none" strike="noStrike">
                          <a:solidFill>
                            <a:srgbClr val="00B050"/>
                          </a:solidFill>
                          <a:effectLst/>
                          <a:latin typeface="Aptos Narrow" panose="020B0004020202020204" pitchFamily="34" charset="0"/>
                        </a:rPr>
                        <a:t>6,2</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07665125"/>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CH</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22,4</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E884"/>
                    </a:solidFill>
                  </a:tcPr>
                </a:tc>
                <a:tc>
                  <a:txBody>
                    <a:bodyPr/>
                    <a:lstStyle/>
                    <a:p>
                      <a:pPr algn="r" fontAlgn="b">
                        <a:buNone/>
                      </a:pPr>
                      <a:r>
                        <a:rPr lang="fr-FR" sz="1000" b="0" i="0" u="none" strike="noStrike">
                          <a:solidFill>
                            <a:srgbClr val="000000"/>
                          </a:solidFill>
                          <a:effectLst/>
                          <a:latin typeface="Aptos Narrow" panose="020B0004020202020204" pitchFamily="34" charset="0"/>
                        </a:rPr>
                        <a:t>16,0</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B84"/>
                    </a:solidFill>
                  </a:tcPr>
                </a:tc>
                <a:tc>
                  <a:txBody>
                    <a:bodyPr/>
                    <a:lstStyle/>
                    <a:p>
                      <a:pPr algn="r" fontAlgn="b">
                        <a:buNone/>
                      </a:pPr>
                      <a:r>
                        <a:rPr lang="fr-FR" sz="1000" b="0" i="0" u="none" strike="noStrike">
                          <a:solidFill>
                            <a:srgbClr val="00B050"/>
                          </a:solidFill>
                          <a:effectLst/>
                          <a:latin typeface="Aptos Narrow" panose="020B0004020202020204" pitchFamily="34" charset="0"/>
                        </a:rPr>
                        <a:t>6,4</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15852281"/>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DE</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28,3</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7E483"/>
                    </a:solidFill>
                  </a:tcPr>
                </a:tc>
                <a:tc>
                  <a:txBody>
                    <a:bodyPr/>
                    <a:lstStyle/>
                    <a:p>
                      <a:pPr algn="r" fontAlgn="b">
                        <a:buNone/>
                      </a:pPr>
                      <a:r>
                        <a:rPr lang="fr-FR" sz="1000" b="0" i="0" u="none" strike="noStrike">
                          <a:solidFill>
                            <a:srgbClr val="000000"/>
                          </a:solidFill>
                          <a:effectLst/>
                          <a:latin typeface="Aptos Narrow" panose="020B0004020202020204" pitchFamily="34" charset="0"/>
                        </a:rPr>
                        <a:t>17,4</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EA84"/>
                    </a:solidFill>
                  </a:tcPr>
                </a:tc>
                <a:tc>
                  <a:txBody>
                    <a:bodyPr/>
                    <a:lstStyle/>
                    <a:p>
                      <a:pPr algn="r" fontAlgn="b">
                        <a:buNone/>
                      </a:pPr>
                      <a:r>
                        <a:rPr lang="fr-FR" sz="1000" b="0" i="0" u="none" strike="noStrike">
                          <a:solidFill>
                            <a:srgbClr val="00B050"/>
                          </a:solidFill>
                          <a:effectLst/>
                          <a:latin typeface="Aptos Narrow" panose="020B0004020202020204" pitchFamily="34" charset="0"/>
                        </a:rPr>
                        <a:t>10,9</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90046970"/>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FR</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28,8</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6E483"/>
                    </a:solidFill>
                  </a:tcPr>
                </a:tc>
                <a:tc>
                  <a:txBody>
                    <a:bodyPr/>
                    <a:lstStyle/>
                    <a:p>
                      <a:pPr algn="r" fontAlgn="b">
                        <a:buNone/>
                      </a:pPr>
                      <a:r>
                        <a:rPr lang="fr-FR" sz="1000" b="0" i="0" u="none" strike="noStrike">
                          <a:solidFill>
                            <a:srgbClr val="000000"/>
                          </a:solidFill>
                          <a:effectLst/>
                          <a:latin typeface="Aptos Narrow" panose="020B0004020202020204" pitchFamily="34" charset="0"/>
                        </a:rPr>
                        <a:t>20,6</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5E984"/>
                    </a:solidFill>
                  </a:tcPr>
                </a:tc>
                <a:tc>
                  <a:txBody>
                    <a:bodyPr/>
                    <a:lstStyle/>
                    <a:p>
                      <a:pPr algn="r" fontAlgn="b">
                        <a:buNone/>
                      </a:pPr>
                      <a:r>
                        <a:rPr lang="fr-FR" sz="1000" b="0" i="0" u="none" strike="noStrike">
                          <a:solidFill>
                            <a:srgbClr val="00B050"/>
                          </a:solidFill>
                          <a:effectLst/>
                          <a:latin typeface="Aptos Narrow" panose="020B0004020202020204" pitchFamily="34" charset="0"/>
                        </a:rPr>
                        <a:t>8,2</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28847445"/>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GB</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8,6</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980"/>
                    </a:solidFill>
                  </a:tcPr>
                </a:tc>
                <a:tc>
                  <a:txBody>
                    <a:bodyPr/>
                    <a:lstStyle/>
                    <a:p>
                      <a:pPr algn="r" fontAlgn="b">
                        <a:buNone/>
                      </a:pPr>
                      <a:r>
                        <a:rPr lang="fr-FR" sz="1000" b="0" i="0" u="none" strike="noStrike">
                          <a:solidFill>
                            <a:srgbClr val="000000"/>
                          </a:solidFill>
                          <a:effectLst/>
                          <a:latin typeface="Aptos Narrow" panose="020B0004020202020204" pitchFamily="34" charset="0"/>
                        </a:rPr>
                        <a:t>18,3</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EA84"/>
                    </a:solidFill>
                  </a:tcPr>
                </a:tc>
                <a:tc>
                  <a:txBody>
                    <a:bodyPr/>
                    <a:lstStyle/>
                    <a:p>
                      <a:pPr algn="r" fontAlgn="b">
                        <a:buNone/>
                      </a:pPr>
                      <a:r>
                        <a:rPr lang="fr-FR" sz="1000" b="0" i="0" u="none" strike="noStrike">
                          <a:solidFill>
                            <a:srgbClr val="FF0000"/>
                          </a:solidFill>
                          <a:effectLst/>
                          <a:latin typeface="Aptos Narrow" panose="020B0004020202020204" pitchFamily="34" charset="0"/>
                        </a:rPr>
                        <a:t>-9,7</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91731097"/>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LU</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29,3</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5E483"/>
                    </a:solidFill>
                  </a:tcPr>
                </a:tc>
                <a:tc>
                  <a:txBody>
                    <a:bodyPr/>
                    <a:lstStyle/>
                    <a:p>
                      <a:pPr algn="r" fontAlgn="b">
                        <a:buNone/>
                      </a:pPr>
                      <a:r>
                        <a:rPr lang="fr-FR" sz="1000" b="0" i="0" u="none" strike="noStrike">
                          <a:solidFill>
                            <a:srgbClr val="000000"/>
                          </a:solidFill>
                          <a:effectLst/>
                          <a:latin typeface="Aptos Narrow" panose="020B0004020202020204" pitchFamily="34" charset="0"/>
                        </a:rPr>
                        <a:t>16,8</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EB84"/>
                    </a:solidFill>
                  </a:tcPr>
                </a:tc>
                <a:tc>
                  <a:txBody>
                    <a:bodyPr/>
                    <a:lstStyle/>
                    <a:p>
                      <a:pPr algn="r" fontAlgn="b">
                        <a:buNone/>
                      </a:pPr>
                      <a:r>
                        <a:rPr lang="fr-FR" sz="1000" b="0" i="0" u="none" strike="noStrike">
                          <a:solidFill>
                            <a:srgbClr val="00B050"/>
                          </a:solidFill>
                          <a:effectLst/>
                          <a:latin typeface="Aptos Narrow" panose="020B0004020202020204" pitchFamily="34" charset="0"/>
                        </a:rPr>
                        <a:t>12,5</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92228061"/>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NL</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2,6</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97D"/>
                    </a:solidFill>
                  </a:tcPr>
                </a:tc>
                <a:tc>
                  <a:txBody>
                    <a:bodyPr/>
                    <a:lstStyle/>
                    <a:p>
                      <a:pPr algn="r" fontAlgn="b">
                        <a:buNone/>
                      </a:pPr>
                      <a:r>
                        <a:rPr lang="fr-FR" sz="1000" b="0" i="0" u="none" strike="noStrike">
                          <a:solidFill>
                            <a:srgbClr val="000000"/>
                          </a:solidFill>
                          <a:effectLst/>
                          <a:latin typeface="Aptos Narrow" panose="020B0004020202020204" pitchFamily="34" charset="0"/>
                        </a:rPr>
                        <a:t>-0,7</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07B"/>
                    </a:solidFill>
                  </a:tcPr>
                </a:tc>
                <a:tc>
                  <a:txBody>
                    <a:bodyPr/>
                    <a:lstStyle/>
                    <a:p>
                      <a:pPr algn="r" fontAlgn="b">
                        <a:buNone/>
                      </a:pPr>
                      <a:r>
                        <a:rPr lang="fr-FR" sz="1000" b="0" i="0" u="none" strike="noStrike">
                          <a:solidFill>
                            <a:srgbClr val="00B050"/>
                          </a:solidFill>
                          <a:effectLst/>
                          <a:latin typeface="Aptos Narrow" panose="020B0004020202020204" pitchFamily="34" charset="0"/>
                        </a:rPr>
                        <a:t>3,3</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57189689"/>
                  </a:ext>
                </a:extLst>
              </a:tr>
              <a:tr h="76339">
                <a:tc>
                  <a:txBody>
                    <a:bodyPr/>
                    <a:lstStyle/>
                    <a:p>
                      <a:pPr algn="l" fontAlgn="b">
                        <a:buNone/>
                      </a:pPr>
                      <a:r>
                        <a:rPr lang="fr-FR" sz="1000" b="1" i="0" u="none" strike="noStrike">
                          <a:solidFill>
                            <a:srgbClr val="000000"/>
                          </a:solidFill>
                          <a:effectLst/>
                          <a:latin typeface="Aptos Narrow" panose="020B0004020202020204" pitchFamily="34" charset="0"/>
                        </a:rPr>
                        <a:t>Villages Nature Paris</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8,8</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A80"/>
                    </a:solidFill>
                  </a:tcPr>
                </a:tc>
                <a:tc>
                  <a:txBody>
                    <a:bodyPr/>
                    <a:lstStyle/>
                    <a:p>
                      <a:pPr algn="r" fontAlgn="b">
                        <a:buNone/>
                      </a:pPr>
                      <a:r>
                        <a:rPr lang="fr-FR" sz="1000" b="1" i="0" u="none" strike="noStrike">
                          <a:solidFill>
                            <a:srgbClr val="000000"/>
                          </a:solidFill>
                          <a:effectLst/>
                          <a:latin typeface="Aptos Narrow" panose="020B0004020202020204" pitchFamily="34" charset="0"/>
                        </a:rPr>
                        <a:t>4,9</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F7E"/>
                    </a:solidFill>
                  </a:tcPr>
                </a:tc>
                <a:tc>
                  <a:txBody>
                    <a:bodyPr/>
                    <a:lstStyle/>
                    <a:p>
                      <a:pPr algn="r" fontAlgn="b">
                        <a:buNone/>
                      </a:pPr>
                      <a:r>
                        <a:rPr lang="fr-FR" sz="1000" b="1" i="0" u="none" strike="noStrike">
                          <a:solidFill>
                            <a:srgbClr val="00B050"/>
                          </a:solidFill>
                          <a:effectLst/>
                          <a:latin typeface="Aptos Narrow" panose="020B0004020202020204" pitchFamily="34" charset="0"/>
                        </a:rPr>
                        <a:t>3,8</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65607429"/>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BE</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10,4</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E81"/>
                    </a:solidFill>
                  </a:tcPr>
                </a:tc>
                <a:tc>
                  <a:txBody>
                    <a:bodyPr/>
                    <a:lstStyle/>
                    <a:p>
                      <a:pPr algn="r" fontAlgn="b">
                        <a:buNone/>
                      </a:pPr>
                      <a:r>
                        <a:rPr lang="fr-FR" sz="1000" b="0" i="0" u="none" strike="noStrike">
                          <a:solidFill>
                            <a:srgbClr val="000000"/>
                          </a:solidFill>
                          <a:effectLst/>
                          <a:latin typeface="Aptos Narrow" panose="020B0004020202020204" pitchFamily="34" charset="0"/>
                        </a:rPr>
                        <a:t>7,8</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780"/>
                    </a:solidFill>
                  </a:tcPr>
                </a:tc>
                <a:tc>
                  <a:txBody>
                    <a:bodyPr/>
                    <a:lstStyle/>
                    <a:p>
                      <a:pPr algn="r" fontAlgn="b">
                        <a:buNone/>
                      </a:pPr>
                      <a:r>
                        <a:rPr lang="fr-FR" sz="1000" b="0" i="0" u="none" strike="noStrike">
                          <a:solidFill>
                            <a:srgbClr val="00B050"/>
                          </a:solidFill>
                          <a:effectLst/>
                          <a:latin typeface="Aptos Narrow" panose="020B0004020202020204" pitchFamily="34" charset="0"/>
                        </a:rPr>
                        <a:t>2,6</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58024469"/>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CH</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1,9</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77D"/>
                    </a:solidFill>
                  </a:tcPr>
                </a:tc>
                <a:tc>
                  <a:txBody>
                    <a:bodyPr/>
                    <a:lstStyle/>
                    <a:p>
                      <a:pPr algn="r" fontAlgn="b">
                        <a:buNone/>
                      </a:pPr>
                      <a:r>
                        <a:rPr lang="fr-FR" sz="1000" b="0" i="0" u="none" strike="noStrike">
                          <a:solidFill>
                            <a:srgbClr val="000000"/>
                          </a:solidFill>
                          <a:effectLst/>
                          <a:latin typeface="Aptos Narrow" panose="020B0004020202020204" pitchFamily="34" charset="0"/>
                        </a:rPr>
                        <a:t>8,0</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880"/>
                    </a:solidFill>
                  </a:tcPr>
                </a:tc>
                <a:tc>
                  <a:txBody>
                    <a:bodyPr/>
                    <a:lstStyle/>
                    <a:p>
                      <a:pPr algn="r" fontAlgn="b">
                        <a:buNone/>
                      </a:pPr>
                      <a:r>
                        <a:rPr lang="fr-FR" sz="1000" b="0" i="0" u="none" strike="noStrike">
                          <a:solidFill>
                            <a:srgbClr val="FF0000"/>
                          </a:solidFill>
                          <a:effectLst/>
                          <a:latin typeface="Aptos Narrow" panose="020B0004020202020204" pitchFamily="34" charset="0"/>
                        </a:rPr>
                        <a:t>-6,1</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46868042"/>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DE</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11,0</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F81"/>
                    </a:solidFill>
                  </a:tcPr>
                </a:tc>
                <a:tc>
                  <a:txBody>
                    <a:bodyPr/>
                    <a:lstStyle/>
                    <a:p>
                      <a:pPr algn="r" fontAlgn="b">
                        <a:buNone/>
                      </a:pPr>
                      <a:r>
                        <a:rPr lang="fr-FR" sz="1000" b="0" i="0" u="none" strike="noStrike">
                          <a:solidFill>
                            <a:srgbClr val="000000"/>
                          </a:solidFill>
                          <a:effectLst/>
                          <a:latin typeface="Aptos Narrow" panose="020B0004020202020204" pitchFamily="34" charset="0"/>
                        </a:rPr>
                        <a:t>10,0</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D81"/>
                    </a:solidFill>
                  </a:tcPr>
                </a:tc>
                <a:tc>
                  <a:txBody>
                    <a:bodyPr/>
                    <a:lstStyle/>
                    <a:p>
                      <a:pPr algn="r" fontAlgn="b">
                        <a:buNone/>
                      </a:pPr>
                      <a:r>
                        <a:rPr lang="fr-FR" sz="1000" b="0" i="0" u="none" strike="noStrike">
                          <a:solidFill>
                            <a:srgbClr val="00B050"/>
                          </a:solidFill>
                          <a:effectLst/>
                          <a:latin typeface="Aptos Narrow" panose="020B0004020202020204" pitchFamily="34" charset="0"/>
                        </a:rPr>
                        <a:t>0,9</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04903753"/>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FR</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9,9</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D81"/>
                    </a:solidFill>
                  </a:tcPr>
                </a:tc>
                <a:tc>
                  <a:txBody>
                    <a:bodyPr/>
                    <a:lstStyle/>
                    <a:p>
                      <a:pPr algn="r" fontAlgn="b">
                        <a:buNone/>
                      </a:pPr>
                      <a:r>
                        <a:rPr lang="fr-FR" sz="1000" b="0" i="0" u="none" strike="noStrike">
                          <a:solidFill>
                            <a:srgbClr val="000000"/>
                          </a:solidFill>
                          <a:effectLst/>
                          <a:latin typeface="Aptos Narrow" panose="020B0004020202020204" pitchFamily="34" charset="0"/>
                        </a:rPr>
                        <a:t>2,6</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97D"/>
                    </a:solidFill>
                  </a:tcPr>
                </a:tc>
                <a:tc>
                  <a:txBody>
                    <a:bodyPr/>
                    <a:lstStyle/>
                    <a:p>
                      <a:pPr algn="r" fontAlgn="b">
                        <a:buNone/>
                      </a:pPr>
                      <a:r>
                        <a:rPr lang="fr-FR" sz="1000" b="0" i="0" u="none" strike="noStrike">
                          <a:solidFill>
                            <a:srgbClr val="00B050"/>
                          </a:solidFill>
                          <a:effectLst/>
                          <a:latin typeface="Aptos Narrow" panose="020B0004020202020204" pitchFamily="34" charset="0"/>
                        </a:rPr>
                        <a:t>7,3</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78906819"/>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GB</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19,0</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E984"/>
                    </a:solidFill>
                  </a:tcPr>
                </a:tc>
                <a:tc>
                  <a:txBody>
                    <a:bodyPr/>
                    <a:lstStyle/>
                    <a:p>
                      <a:pPr algn="r" fontAlgn="b">
                        <a:buNone/>
                      </a:pPr>
                      <a:r>
                        <a:rPr lang="fr-FR" sz="1000" b="0" i="0" u="none" strike="noStrike">
                          <a:solidFill>
                            <a:srgbClr val="000000"/>
                          </a:solidFill>
                          <a:effectLst/>
                          <a:latin typeface="Aptos Narrow" panose="020B0004020202020204" pitchFamily="34" charset="0"/>
                        </a:rPr>
                        <a:t>22,0</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3E884"/>
                    </a:solidFill>
                  </a:tcPr>
                </a:tc>
                <a:tc>
                  <a:txBody>
                    <a:bodyPr/>
                    <a:lstStyle/>
                    <a:p>
                      <a:pPr algn="r" fontAlgn="b">
                        <a:buNone/>
                      </a:pPr>
                      <a:r>
                        <a:rPr lang="fr-FR" sz="1000" b="0" i="0" u="none" strike="noStrike">
                          <a:solidFill>
                            <a:srgbClr val="FF0000"/>
                          </a:solidFill>
                          <a:effectLst/>
                          <a:latin typeface="Aptos Narrow" panose="020B0004020202020204" pitchFamily="34" charset="0"/>
                        </a:rPr>
                        <a:t>-3,0</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5481530"/>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IE</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-1,8</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D7B"/>
                    </a:solidFill>
                  </a:tcPr>
                </a:tc>
                <a:tc>
                  <a:txBody>
                    <a:bodyPr/>
                    <a:lstStyle/>
                    <a:p>
                      <a:pPr algn="r" fontAlgn="b">
                        <a:buNone/>
                      </a:pPr>
                      <a:r>
                        <a:rPr lang="fr-FR" sz="1000" b="0" i="0" u="none" strike="noStrike">
                          <a:solidFill>
                            <a:srgbClr val="000000"/>
                          </a:solidFill>
                          <a:effectLst/>
                          <a:latin typeface="Aptos Narrow" panose="020B0004020202020204" pitchFamily="34" charset="0"/>
                        </a:rPr>
                        <a:t>20,5</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5E984"/>
                    </a:solidFill>
                  </a:tcPr>
                </a:tc>
                <a:tc>
                  <a:txBody>
                    <a:bodyPr/>
                    <a:lstStyle/>
                    <a:p>
                      <a:pPr algn="r" fontAlgn="b">
                        <a:buNone/>
                      </a:pPr>
                      <a:r>
                        <a:rPr lang="fr-FR" sz="1000" b="0" i="0" u="none" strike="noStrike">
                          <a:solidFill>
                            <a:srgbClr val="FF0000"/>
                          </a:solidFill>
                          <a:effectLst/>
                          <a:latin typeface="Aptos Narrow" panose="020B0004020202020204" pitchFamily="34" charset="0"/>
                        </a:rPr>
                        <a:t>-22,3</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28772884"/>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IL</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27,3</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9E583"/>
                    </a:solidFill>
                  </a:tcPr>
                </a:tc>
                <a:tc>
                  <a:txBody>
                    <a:bodyPr/>
                    <a:lstStyle/>
                    <a:p>
                      <a:pPr algn="r" fontAlgn="b">
                        <a:buNone/>
                      </a:pPr>
                      <a:r>
                        <a:rPr lang="fr-FR" sz="1000" b="0" i="0" u="none" strike="noStrike">
                          <a:solidFill>
                            <a:srgbClr val="000000"/>
                          </a:solidFill>
                          <a:effectLst/>
                          <a:latin typeface="Aptos Narrow" panose="020B0004020202020204" pitchFamily="34" charset="0"/>
                        </a:rPr>
                        <a:t>65,4</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3D17F"/>
                    </a:solidFill>
                  </a:tcPr>
                </a:tc>
                <a:tc>
                  <a:txBody>
                    <a:bodyPr/>
                    <a:lstStyle/>
                    <a:p>
                      <a:pPr algn="r" fontAlgn="b">
                        <a:buNone/>
                      </a:pPr>
                      <a:r>
                        <a:rPr lang="fr-FR" sz="1000" b="0" i="0" u="none" strike="noStrike">
                          <a:solidFill>
                            <a:srgbClr val="FF0000"/>
                          </a:solidFill>
                          <a:effectLst/>
                          <a:latin typeface="Aptos Narrow" panose="020B0004020202020204" pitchFamily="34" charset="0"/>
                        </a:rPr>
                        <a:t>-38,1</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35472334"/>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LU</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0,0</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C27C"/>
                    </a:solidFill>
                  </a:tcPr>
                </a:tc>
                <a:tc>
                  <a:txBody>
                    <a:bodyPr/>
                    <a:lstStyle/>
                    <a:p>
                      <a:pPr algn="r" fontAlgn="b">
                        <a:buNone/>
                      </a:pPr>
                      <a:r>
                        <a:rPr lang="fr-FR" sz="1000" b="0" i="0" u="none" strike="noStrike">
                          <a:solidFill>
                            <a:srgbClr val="000000"/>
                          </a:solidFill>
                          <a:effectLst/>
                          <a:latin typeface="Aptos Narrow" panose="020B0004020202020204" pitchFamily="34" charset="0"/>
                        </a:rPr>
                        <a:t>12,2</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382"/>
                    </a:solidFill>
                  </a:tcPr>
                </a:tc>
                <a:tc>
                  <a:txBody>
                    <a:bodyPr/>
                    <a:lstStyle/>
                    <a:p>
                      <a:pPr algn="r" fontAlgn="b">
                        <a:buNone/>
                      </a:pPr>
                      <a:r>
                        <a:rPr lang="fr-FR" sz="1000" b="0" i="0" u="none" strike="noStrike">
                          <a:solidFill>
                            <a:srgbClr val="FF0000"/>
                          </a:solidFill>
                          <a:effectLst/>
                          <a:latin typeface="Aptos Narrow" panose="020B0004020202020204" pitchFamily="34" charset="0"/>
                        </a:rPr>
                        <a:t>-12,2</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03330625"/>
                  </a:ext>
                </a:extLst>
              </a:tr>
              <a:tr h="76339">
                <a:tc>
                  <a:txBody>
                    <a:bodyPr/>
                    <a:lstStyle/>
                    <a:p>
                      <a:pPr algn="l" fontAlgn="b">
                        <a:buNone/>
                      </a:pPr>
                      <a:r>
                        <a:rPr lang="fr-FR" sz="1000" b="0" i="0" u="none" strike="noStrike">
                          <a:solidFill>
                            <a:srgbClr val="000000"/>
                          </a:solidFill>
                          <a:effectLst/>
                          <a:latin typeface="Aptos Narrow" panose="020B0004020202020204" pitchFamily="34" charset="0"/>
                        </a:rPr>
                        <a:t> NL</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-3,8</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87A"/>
                    </a:solidFill>
                  </a:tcPr>
                </a:tc>
                <a:tc>
                  <a:txBody>
                    <a:bodyPr/>
                    <a:lstStyle/>
                    <a:p>
                      <a:pPr algn="r" fontAlgn="b">
                        <a:buNone/>
                      </a:pPr>
                      <a:r>
                        <a:rPr lang="fr-FR" sz="1000" b="0" i="0" u="none" strike="noStrike">
                          <a:solidFill>
                            <a:srgbClr val="000000"/>
                          </a:solidFill>
                          <a:effectLst/>
                          <a:latin typeface="Aptos Narrow" panose="020B0004020202020204" pitchFamily="34" charset="0"/>
                        </a:rPr>
                        <a:t>-8,4</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B77"/>
                    </a:solidFill>
                  </a:tcPr>
                </a:tc>
                <a:tc>
                  <a:txBody>
                    <a:bodyPr/>
                    <a:lstStyle/>
                    <a:p>
                      <a:pPr algn="r" fontAlgn="b">
                        <a:buNone/>
                      </a:pPr>
                      <a:r>
                        <a:rPr lang="fr-FR" sz="1000" b="0" i="0" u="none" strike="noStrike">
                          <a:solidFill>
                            <a:srgbClr val="00B050"/>
                          </a:solidFill>
                          <a:effectLst/>
                          <a:latin typeface="Aptos Narrow" panose="020B0004020202020204" pitchFamily="34" charset="0"/>
                        </a:rPr>
                        <a:t>4,6</a:t>
                      </a:r>
                    </a:p>
                  </a:txBody>
                  <a:tcPr marL="2632" marR="2632" marT="2632"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80611802"/>
                  </a:ext>
                </a:extLst>
              </a:tr>
            </a:tbl>
          </a:graphicData>
        </a:graphic>
      </p:graphicFrame>
    </p:spTree>
    <p:extLst>
      <p:ext uri="{BB962C8B-B14F-4D97-AF65-F5344CB8AC3E}">
        <p14:creationId xmlns:p14="http://schemas.microsoft.com/office/powerpoint/2010/main" val="30233559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545E5-DF9E-CDEF-18C4-79334A61EF5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ACEEA3-2319-3088-22D5-7AD85B2EF130}"/>
              </a:ext>
            </a:extLst>
          </p:cNvPr>
          <p:cNvSpPr>
            <a:spLocks noGrp="1"/>
          </p:cNvSpPr>
          <p:nvPr>
            <p:ph type="sldNum" sz="quarter" idx="12"/>
          </p:nvPr>
        </p:nvSpPr>
        <p:spPr/>
        <p:txBody>
          <a:bodyPr/>
          <a:lstStyle/>
          <a:p>
            <a:fld id="{0D2E6A04-B99A-6C4D-8942-945F97C9E705}" type="slidenum">
              <a:rPr lang="en-US" smtClean="0"/>
              <a:pPr/>
              <a:t>61</a:t>
            </a:fld>
            <a:endParaRPr lang="en-US"/>
          </a:p>
        </p:txBody>
      </p:sp>
      <p:sp>
        <p:nvSpPr>
          <p:cNvPr id="3" name="Date Placeholder 2">
            <a:extLst>
              <a:ext uri="{FF2B5EF4-FFF2-40B4-BE49-F238E27FC236}">
                <a16:creationId xmlns:a16="http://schemas.microsoft.com/office/drawing/2014/main" id="{F29B8087-C17B-2995-2E83-56A3F31F58BD}"/>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F4099C55-C98F-C2BD-CE12-CD53D9BD752F}"/>
              </a:ext>
            </a:extLst>
          </p:cNvPr>
          <p:cNvSpPr>
            <a:spLocks noGrp="1"/>
          </p:cNvSpPr>
          <p:nvPr>
            <p:ph type="title"/>
          </p:nvPr>
        </p:nvSpPr>
        <p:spPr/>
        <p:txBody>
          <a:bodyPr/>
          <a:lstStyle/>
          <a:p>
            <a:r>
              <a:rPr lang="fr-FR"/>
              <a:t>France – NPS per villa </a:t>
            </a:r>
            <a:r>
              <a:rPr lang="fr-FR" err="1"/>
              <a:t>category</a:t>
            </a:r>
            <a:r>
              <a:rPr lang="fr-FR"/>
              <a:t> (</a:t>
            </a:r>
            <a:r>
              <a:rPr lang="fr-FR" err="1"/>
              <a:t>comfort</a:t>
            </a:r>
            <a:r>
              <a:rPr lang="fr-FR"/>
              <a:t> </a:t>
            </a:r>
            <a:r>
              <a:rPr lang="fr-FR" err="1"/>
              <a:t>level</a:t>
            </a:r>
            <a:r>
              <a:rPr lang="fr-FR"/>
              <a:t>)</a:t>
            </a:r>
          </a:p>
        </p:txBody>
      </p:sp>
      <p:sp>
        <p:nvSpPr>
          <p:cNvPr id="6" name="Rechthoek 4">
            <a:extLst>
              <a:ext uri="{FF2B5EF4-FFF2-40B4-BE49-F238E27FC236}">
                <a16:creationId xmlns:a16="http://schemas.microsoft.com/office/drawing/2014/main" id="{260CDA8D-F823-8F3C-A27B-FB2A74D3AAE1}"/>
              </a:ext>
            </a:extLst>
          </p:cNvPr>
          <p:cNvSpPr/>
          <p:nvPr/>
        </p:nvSpPr>
        <p:spPr>
          <a:xfrm>
            <a:off x="-1" y="978100"/>
            <a:ext cx="6934201" cy="1696720"/>
          </a:xfrm>
          <a:prstGeom prst="rect">
            <a:avLst/>
          </a:prstGeom>
          <a:solidFill>
            <a:schemeClr val="accent6">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NPS of all villa types increased vs </a:t>
            </a:r>
            <a:r>
              <a:rPr lang="en-US" sz="1200" b="1" err="1">
                <a:solidFill>
                  <a:schemeClr val="accent5"/>
                </a:solidFill>
                <a:latin typeface="+mj-lt"/>
                <a:ea typeface="Calibri"/>
                <a:cs typeface="Calibri"/>
              </a:rPr>
              <a:t>ly</a:t>
            </a:r>
            <a:r>
              <a:rPr lang="en-US" sz="1200" b="1">
                <a:solidFill>
                  <a:schemeClr val="accent5"/>
                </a:solidFill>
                <a:latin typeface="+mj-lt"/>
                <a:ea typeface="Calibri"/>
                <a:cs typeface="Calibri"/>
              </a:rPr>
              <a:t>, excluding VN Premium apt and LA Premium lakeside.</a:t>
            </a:r>
          </a:p>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Overall, the NPS is higher on special cottages (treehouses) than regular. </a:t>
            </a:r>
          </a:p>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Within regulars (Eden) VIP and Exclusive Wellness are the highest NPS.</a:t>
            </a:r>
          </a:p>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In other categories, </a:t>
            </a:r>
            <a:r>
              <a:rPr lang="en-US" sz="1200" b="1" err="1">
                <a:solidFill>
                  <a:schemeClr val="accent5"/>
                </a:solidFill>
                <a:latin typeface="+mj-lt"/>
                <a:ea typeface="Calibri"/>
                <a:cs typeface="Calibri"/>
              </a:rPr>
              <a:t>Hotelroom</a:t>
            </a:r>
            <a:r>
              <a:rPr lang="en-US" sz="1200" b="1">
                <a:solidFill>
                  <a:schemeClr val="accent5"/>
                </a:solidFill>
                <a:latin typeface="+mj-lt"/>
                <a:ea typeface="Calibri"/>
                <a:cs typeface="Calibri"/>
              </a:rPr>
              <a:t> (BF) is the #2 of top villa types </a:t>
            </a:r>
          </a:p>
          <a:p>
            <a:pPr marL="720725" lvl="2" indent="-161925">
              <a:lnSpc>
                <a:spcPct val="120000"/>
              </a:lnSpc>
              <a:buFont typeface="Arial" panose="020B0604020202020204" pitchFamily="34" charset="0"/>
              <a:buChar char="•"/>
            </a:pPr>
            <a:r>
              <a:rPr lang="en-US" sz="1200" b="1">
                <a:solidFill>
                  <a:schemeClr val="accent5"/>
                </a:solidFill>
                <a:ea typeface="Calibri"/>
                <a:cs typeface="Calibri"/>
              </a:rPr>
              <a:t>TOP villa types are Treehouses (LG/BD), Hotel room (BF), Exclusive (TF, CH) and Themed (TF).</a:t>
            </a:r>
          </a:p>
        </p:txBody>
      </p:sp>
      <p:sp>
        <p:nvSpPr>
          <p:cNvPr id="7" name="Rectangle 6">
            <a:extLst>
              <a:ext uri="{FF2B5EF4-FFF2-40B4-BE49-F238E27FC236}">
                <a16:creationId xmlns:a16="http://schemas.microsoft.com/office/drawing/2014/main" id="{6455CFF5-681E-18CC-7C80-95E3C006769E}"/>
              </a:ext>
            </a:extLst>
          </p:cNvPr>
          <p:cNvSpPr/>
          <p:nvPr/>
        </p:nvSpPr>
        <p:spPr>
          <a:xfrm rot="16200000">
            <a:off x="-617105" y="1646060"/>
            <a:ext cx="1656000" cy="37547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6">
                    <a:lumMod val="20000"/>
                    <a:lumOff val="80000"/>
                  </a:schemeClr>
                </a:solidFill>
                <a:ea typeface="Calibri"/>
                <a:cs typeface="Calibri"/>
              </a:rPr>
              <a:t>Analysis</a:t>
            </a:r>
            <a:endParaRPr lang="en-US" sz="1100">
              <a:solidFill>
                <a:schemeClr val="accent6">
                  <a:lumMod val="20000"/>
                  <a:lumOff val="80000"/>
                </a:schemeClr>
              </a:solidFill>
            </a:endParaRPr>
          </a:p>
        </p:txBody>
      </p:sp>
      <p:graphicFrame>
        <p:nvGraphicFramePr>
          <p:cNvPr id="8" name="Table 7">
            <a:extLst>
              <a:ext uri="{FF2B5EF4-FFF2-40B4-BE49-F238E27FC236}">
                <a16:creationId xmlns:a16="http://schemas.microsoft.com/office/drawing/2014/main" id="{2FAC0C72-661D-2C43-030E-04B6DE01E12A}"/>
              </a:ext>
            </a:extLst>
          </p:cNvPr>
          <p:cNvGraphicFramePr>
            <a:graphicFrameLocks noGrp="1"/>
          </p:cNvGraphicFramePr>
          <p:nvPr>
            <p:extLst>
              <p:ext uri="{D42A27DB-BD31-4B8C-83A1-F6EECF244321}">
                <p14:modId xmlns:p14="http://schemas.microsoft.com/office/powerpoint/2010/main" val="2630552390"/>
              </p:ext>
            </p:extLst>
          </p:nvPr>
        </p:nvGraphicFramePr>
        <p:xfrm>
          <a:off x="8514311" y="1005799"/>
          <a:ext cx="3344060" cy="3016250"/>
        </p:xfrm>
        <a:graphic>
          <a:graphicData uri="http://schemas.openxmlformats.org/drawingml/2006/table">
            <a:tbl>
              <a:tblPr/>
              <a:tblGrid>
                <a:gridCol w="1455650">
                  <a:extLst>
                    <a:ext uri="{9D8B030D-6E8A-4147-A177-3AD203B41FA5}">
                      <a16:colId xmlns:a16="http://schemas.microsoft.com/office/drawing/2014/main" val="885507815"/>
                    </a:ext>
                  </a:extLst>
                </a:gridCol>
                <a:gridCol w="629470">
                  <a:extLst>
                    <a:ext uri="{9D8B030D-6E8A-4147-A177-3AD203B41FA5}">
                      <a16:colId xmlns:a16="http://schemas.microsoft.com/office/drawing/2014/main" val="864429048"/>
                    </a:ext>
                  </a:extLst>
                </a:gridCol>
                <a:gridCol w="629470">
                  <a:extLst>
                    <a:ext uri="{9D8B030D-6E8A-4147-A177-3AD203B41FA5}">
                      <a16:colId xmlns:a16="http://schemas.microsoft.com/office/drawing/2014/main" val="2540482845"/>
                    </a:ext>
                  </a:extLst>
                </a:gridCol>
                <a:gridCol w="629470">
                  <a:extLst>
                    <a:ext uri="{9D8B030D-6E8A-4147-A177-3AD203B41FA5}">
                      <a16:colId xmlns:a16="http://schemas.microsoft.com/office/drawing/2014/main" val="11564622"/>
                    </a:ext>
                  </a:extLst>
                </a:gridCol>
              </a:tblGrid>
              <a:tr h="140070">
                <a:tc>
                  <a:txBody>
                    <a:bodyPr/>
                    <a:lstStyle/>
                    <a:p>
                      <a:pPr algn="l" fontAlgn="b">
                        <a:buNone/>
                      </a:pPr>
                      <a:endParaRPr lang="fr-FR" sz="1000" b="0"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Evol </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67648958"/>
                  </a:ext>
                </a:extLst>
              </a:tr>
              <a:tr h="140070">
                <a:tc>
                  <a:txBody>
                    <a:bodyPr/>
                    <a:lstStyle/>
                    <a:p>
                      <a:pPr algn="l" fontAlgn="b">
                        <a:buNone/>
                      </a:pPr>
                      <a:r>
                        <a:rPr lang="fr-FR" sz="1000" b="0" i="0" u="none" strike="noStrike">
                          <a:solidFill>
                            <a:srgbClr val="000000"/>
                          </a:solidFill>
                          <a:effectLst/>
                          <a:latin typeface="Aptos Narrow" panose="020B0004020202020204" pitchFamily="34" charset="0"/>
                        </a:rPr>
                        <a:t>Treehouse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52,6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1000" b="0" i="0" u="none" strike="noStrike">
                          <a:solidFill>
                            <a:srgbClr val="000000"/>
                          </a:solidFill>
                          <a:effectLst/>
                          <a:latin typeface="Aptos Narrow" panose="020B0004020202020204" pitchFamily="34" charset="0"/>
                        </a:rPr>
                        <a:t>31,8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2D289"/>
                    </a:solidFill>
                  </a:tcPr>
                </a:tc>
                <a:tc>
                  <a:txBody>
                    <a:bodyPr/>
                    <a:lstStyle/>
                    <a:p>
                      <a:pPr algn="r" fontAlgn="b">
                        <a:buNone/>
                      </a:pPr>
                      <a:r>
                        <a:rPr lang="fr-FR" sz="1000" b="0" i="0" u="none" strike="noStrike">
                          <a:solidFill>
                            <a:srgbClr val="00B050"/>
                          </a:solidFill>
                          <a:effectLst/>
                          <a:latin typeface="Aptos Narrow" panose="020B0004020202020204" pitchFamily="34" charset="0"/>
                        </a:rPr>
                        <a:t>20,8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87737738"/>
                  </a:ext>
                </a:extLst>
              </a:tr>
              <a:tr h="140070">
                <a:tc>
                  <a:txBody>
                    <a:bodyPr/>
                    <a:lstStyle/>
                    <a:p>
                      <a:pPr algn="l" fontAlgn="b">
                        <a:buNone/>
                      </a:pPr>
                      <a:r>
                        <a:rPr lang="fr-FR" sz="1000" b="0" i="0" u="none" strike="noStrike">
                          <a:solidFill>
                            <a:srgbClr val="000000"/>
                          </a:solidFill>
                          <a:effectLst/>
                          <a:latin typeface="Aptos Narrow" panose="020B0004020202020204" pitchFamily="34" charset="0"/>
                        </a:rPr>
                        <a:t>Premium Hotel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42,2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3C882"/>
                    </a:solidFill>
                  </a:tcPr>
                </a:tc>
                <a:tc>
                  <a:txBody>
                    <a:bodyPr/>
                    <a:lstStyle/>
                    <a:p>
                      <a:pPr algn="r" fontAlgn="b">
                        <a:buNone/>
                      </a:pPr>
                      <a:r>
                        <a:rPr lang="fr-FR" sz="1000" b="0" i="0" u="none" strike="noStrike">
                          <a:solidFill>
                            <a:srgbClr val="000000"/>
                          </a:solidFill>
                          <a:effectLst/>
                          <a:latin typeface="Aptos Narrow" panose="020B0004020202020204" pitchFamily="34" charset="0"/>
                        </a:rPr>
                        <a:t>29,3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AD58A"/>
                    </a:solidFill>
                  </a:tcPr>
                </a:tc>
                <a:tc>
                  <a:txBody>
                    <a:bodyPr/>
                    <a:lstStyle/>
                    <a:p>
                      <a:pPr algn="r" fontAlgn="b">
                        <a:buNone/>
                      </a:pPr>
                      <a:r>
                        <a:rPr lang="fr-FR" sz="1000" b="0" i="0" u="none" strike="noStrike">
                          <a:solidFill>
                            <a:srgbClr val="00B050"/>
                          </a:solidFill>
                          <a:effectLst/>
                          <a:latin typeface="Aptos Narrow" panose="020B0004020202020204" pitchFamily="34" charset="0"/>
                        </a:rPr>
                        <a:t>12,9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50042238"/>
                  </a:ext>
                </a:extLst>
              </a:tr>
              <a:tr h="140070">
                <a:tc>
                  <a:txBody>
                    <a:bodyPr/>
                    <a:lstStyle/>
                    <a:p>
                      <a:pPr algn="l" fontAlgn="b">
                        <a:buNone/>
                      </a:pPr>
                      <a:r>
                        <a:rPr lang="fr-FR" sz="1000" b="0" i="0" u="none" strike="noStrike">
                          <a:solidFill>
                            <a:srgbClr val="000000"/>
                          </a:solidFill>
                          <a:effectLst/>
                          <a:latin typeface="Aptos Narrow" panose="020B0004020202020204" pitchFamily="34" charset="0"/>
                        </a:rPr>
                        <a:t>Exclusive Cottages</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36,3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5CE86"/>
                    </a:solidFill>
                  </a:tcPr>
                </a:tc>
                <a:tc>
                  <a:txBody>
                    <a:bodyPr/>
                    <a:lstStyle/>
                    <a:p>
                      <a:pPr algn="r" fontAlgn="b">
                        <a:buNone/>
                      </a:pPr>
                      <a:r>
                        <a:rPr lang="fr-FR" sz="1000" b="0" i="0" u="none" strike="noStrike">
                          <a:solidFill>
                            <a:srgbClr val="000000"/>
                          </a:solidFill>
                          <a:effectLst/>
                          <a:latin typeface="Aptos Narrow" panose="020B0004020202020204" pitchFamily="34" charset="0"/>
                        </a:rPr>
                        <a:t>34,8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9CF87"/>
                    </a:solidFill>
                  </a:tcPr>
                </a:tc>
                <a:tc>
                  <a:txBody>
                    <a:bodyPr/>
                    <a:lstStyle/>
                    <a:p>
                      <a:pPr algn="r" fontAlgn="b">
                        <a:buNone/>
                      </a:pPr>
                      <a:r>
                        <a:rPr lang="fr-FR" sz="1000" b="0" i="0" u="none" strike="noStrike">
                          <a:solidFill>
                            <a:srgbClr val="00B050"/>
                          </a:solidFill>
                          <a:effectLst/>
                          <a:latin typeface="Aptos Narrow" panose="020B0004020202020204" pitchFamily="34" charset="0"/>
                        </a:rPr>
                        <a:t>1,5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76703605"/>
                  </a:ext>
                </a:extLst>
              </a:tr>
              <a:tr h="140070">
                <a:tc>
                  <a:txBody>
                    <a:bodyPr/>
                    <a:lstStyle/>
                    <a:p>
                      <a:pPr algn="l" fontAlgn="b">
                        <a:buNone/>
                      </a:pPr>
                      <a:r>
                        <a:rPr lang="fr-FR" sz="1000" b="0" i="0" u="none" strike="noStrike">
                          <a:solidFill>
                            <a:srgbClr val="000000"/>
                          </a:solidFill>
                          <a:effectLst/>
                          <a:latin typeface="Aptos Narrow" panose="020B0004020202020204" pitchFamily="34" charset="0"/>
                        </a:rPr>
                        <a:t>Eden Premium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33,9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CD087"/>
                    </a:solidFill>
                  </a:tcPr>
                </a:tc>
                <a:tc>
                  <a:txBody>
                    <a:bodyPr/>
                    <a:lstStyle/>
                    <a:p>
                      <a:pPr algn="r" fontAlgn="b">
                        <a:buNone/>
                      </a:pPr>
                      <a:r>
                        <a:rPr lang="fr-FR" sz="1000" b="0" i="0" u="none" strike="noStrike">
                          <a:solidFill>
                            <a:srgbClr val="000000"/>
                          </a:solidFill>
                          <a:effectLst/>
                          <a:latin typeface="Aptos Narrow" panose="020B0004020202020204" pitchFamily="34" charset="0"/>
                        </a:rPr>
                        <a:t>20,9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3DD90"/>
                    </a:solidFill>
                  </a:tcPr>
                </a:tc>
                <a:tc>
                  <a:txBody>
                    <a:bodyPr/>
                    <a:lstStyle/>
                    <a:p>
                      <a:pPr algn="r" fontAlgn="b">
                        <a:buNone/>
                      </a:pPr>
                      <a:r>
                        <a:rPr lang="fr-FR" sz="1000" b="0" i="0" u="none" strike="noStrike">
                          <a:solidFill>
                            <a:srgbClr val="00B050"/>
                          </a:solidFill>
                          <a:effectLst/>
                          <a:latin typeface="Aptos Narrow" panose="020B0004020202020204" pitchFamily="34" charset="0"/>
                        </a:rPr>
                        <a:t>13,0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9793783"/>
                  </a:ext>
                </a:extLst>
              </a:tr>
              <a:tr h="140070">
                <a:tc>
                  <a:txBody>
                    <a:bodyPr/>
                    <a:lstStyle/>
                    <a:p>
                      <a:pPr algn="l" fontAlgn="b">
                        <a:buNone/>
                      </a:pPr>
                      <a:r>
                        <a:rPr lang="fr-FR" sz="1000" b="0" i="0" u="none" strike="noStrike">
                          <a:solidFill>
                            <a:srgbClr val="000000"/>
                          </a:solidFill>
                          <a:effectLst/>
                          <a:latin typeface="Aptos Narrow" panose="020B0004020202020204" pitchFamily="34" charset="0"/>
                        </a:rPr>
                        <a:t>Themed Cottages</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33,1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ED188"/>
                    </a:solidFill>
                  </a:tcPr>
                </a:tc>
                <a:tc>
                  <a:txBody>
                    <a:bodyPr/>
                    <a:lstStyle/>
                    <a:p>
                      <a:pPr algn="r" fontAlgn="b">
                        <a:buNone/>
                      </a:pPr>
                      <a:r>
                        <a:rPr lang="fr-FR" sz="1000" b="0" i="0" u="none" strike="noStrike">
                          <a:solidFill>
                            <a:srgbClr val="000000"/>
                          </a:solidFill>
                          <a:effectLst/>
                          <a:latin typeface="Aptos Narrow" panose="020B0004020202020204" pitchFamily="34" charset="0"/>
                        </a:rPr>
                        <a:t>32,1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1D289"/>
                    </a:solidFill>
                  </a:tcPr>
                </a:tc>
                <a:tc>
                  <a:txBody>
                    <a:bodyPr/>
                    <a:lstStyle/>
                    <a:p>
                      <a:pPr algn="r" fontAlgn="b">
                        <a:buNone/>
                      </a:pPr>
                      <a:r>
                        <a:rPr lang="fr-FR" sz="1000" b="0" i="0" u="none" strike="noStrike">
                          <a:solidFill>
                            <a:srgbClr val="00B050"/>
                          </a:solidFill>
                          <a:effectLst/>
                          <a:latin typeface="Aptos Narrow" panose="020B0004020202020204" pitchFamily="34" charset="0"/>
                        </a:rPr>
                        <a:t>1,0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22244602"/>
                  </a:ext>
                </a:extLst>
              </a:tr>
              <a:tr h="140070">
                <a:tc>
                  <a:txBody>
                    <a:bodyPr/>
                    <a:lstStyle/>
                    <a:p>
                      <a:pPr algn="l" fontAlgn="b">
                        <a:buNone/>
                      </a:pPr>
                      <a:r>
                        <a:rPr lang="fr-FR" sz="1000" b="0" i="0" u="none" strike="noStrike">
                          <a:solidFill>
                            <a:srgbClr val="000000"/>
                          </a:solidFill>
                          <a:effectLst/>
                          <a:latin typeface="Aptos Narrow" panose="020B0004020202020204" pitchFamily="34" charset="0"/>
                        </a:rPr>
                        <a:t>Eden VIP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D288"/>
                    </a:solidFill>
                  </a:tcPr>
                </a:tc>
                <a:tc>
                  <a:txBody>
                    <a:bodyPr/>
                    <a:lstStyle/>
                    <a:p>
                      <a:pPr algn="r" fontAlgn="b">
                        <a:buNone/>
                      </a:pPr>
                      <a:r>
                        <a:rPr lang="fr-FR" sz="1000" b="0" i="0" u="none" strike="noStrike">
                          <a:solidFill>
                            <a:srgbClr val="000000"/>
                          </a:solidFill>
                          <a:effectLst/>
                          <a:latin typeface="Aptos Narrow" panose="020B0004020202020204" pitchFamily="34" charset="0"/>
                        </a:rPr>
                        <a:t>21,2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2DC90"/>
                    </a:solidFill>
                  </a:tcPr>
                </a:tc>
                <a:tc>
                  <a:txBody>
                    <a:bodyPr/>
                    <a:lstStyle/>
                    <a:p>
                      <a:pPr algn="r" fontAlgn="b">
                        <a:buNone/>
                      </a:pPr>
                      <a:r>
                        <a:rPr lang="fr-FR" sz="1000" b="0" i="0" u="none" strike="noStrike">
                          <a:solidFill>
                            <a:srgbClr val="00B050"/>
                          </a:solidFill>
                          <a:effectLst/>
                          <a:latin typeface="Aptos Narrow" panose="020B0004020202020204" pitchFamily="34" charset="0"/>
                        </a:rPr>
                        <a:t>11,3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22639449"/>
                  </a:ext>
                </a:extLst>
              </a:tr>
              <a:tr h="140070">
                <a:tc>
                  <a:txBody>
                    <a:bodyPr/>
                    <a:lstStyle/>
                    <a:p>
                      <a:pPr algn="l" fontAlgn="b">
                        <a:buNone/>
                      </a:pPr>
                      <a:r>
                        <a:rPr lang="fr-FR" sz="1000" b="0" i="0" u="none" strike="noStrike">
                          <a:solidFill>
                            <a:srgbClr val="000000"/>
                          </a:solidFill>
                          <a:effectLst/>
                          <a:latin typeface="Aptos Narrow" panose="020B0004020202020204" pitchFamily="34" charset="0"/>
                        </a:rPr>
                        <a:t>Eden Comfort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31,8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2D289"/>
                    </a:solidFill>
                  </a:tcPr>
                </a:tc>
                <a:tc>
                  <a:txBody>
                    <a:bodyPr/>
                    <a:lstStyle/>
                    <a:p>
                      <a:pPr algn="r" fontAlgn="b">
                        <a:buNone/>
                      </a:pPr>
                      <a:r>
                        <a:rPr lang="fr-FR" sz="1000" b="0" i="0" u="none" strike="noStrike">
                          <a:solidFill>
                            <a:srgbClr val="000000"/>
                          </a:solidFill>
                          <a:effectLst/>
                          <a:latin typeface="Aptos Narrow" panose="020B0004020202020204" pitchFamily="34" charset="0"/>
                        </a:rPr>
                        <a:t>22,8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DDB8F"/>
                    </a:solidFill>
                  </a:tcPr>
                </a:tc>
                <a:tc>
                  <a:txBody>
                    <a:bodyPr/>
                    <a:lstStyle/>
                    <a:p>
                      <a:pPr algn="r" fontAlgn="b">
                        <a:buNone/>
                      </a:pPr>
                      <a:r>
                        <a:rPr lang="fr-FR" sz="1000" b="0" i="0" u="none" strike="noStrike">
                          <a:solidFill>
                            <a:srgbClr val="00B050"/>
                          </a:solidFill>
                          <a:effectLst/>
                          <a:latin typeface="Aptos Narrow" panose="020B0004020202020204" pitchFamily="34" charset="0"/>
                        </a:rPr>
                        <a:t>8,9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4405959"/>
                  </a:ext>
                </a:extLst>
              </a:tr>
              <a:tr h="140070">
                <a:tc>
                  <a:txBody>
                    <a:bodyPr/>
                    <a:lstStyle/>
                    <a:p>
                      <a:pPr algn="l" fontAlgn="b">
                        <a:buNone/>
                      </a:pPr>
                      <a:r>
                        <a:rPr lang="fr-FR" sz="1000" b="0" i="0" u="none" strike="noStrike">
                          <a:solidFill>
                            <a:srgbClr val="000000"/>
                          </a:solidFill>
                          <a:effectLst/>
                          <a:latin typeface="Aptos Narrow" panose="020B0004020202020204" pitchFamily="34" charset="0"/>
                        </a:rPr>
                        <a:t>VIP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25,0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7D98D"/>
                    </a:solidFill>
                  </a:tcPr>
                </a:tc>
                <a:tc>
                  <a:txBody>
                    <a:bodyPr/>
                    <a:lstStyle/>
                    <a:p>
                      <a:pPr algn="r" fontAlgn="b">
                        <a:buNone/>
                      </a:pPr>
                      <a:r>
                        <a:rPr lang="fr-FR" sz="1000" b="0" i="0" u="none" strike="noStrike">
                          <a:solidFill>
                            <a:srgbClr val="000000"/>
                          </a:solidFill>
                          <a:effectLst/>
                          <a:latin typeface="Aptos Narrow" panose="020B0004020202020204" pitchFamily="34" charset="0"/>
                        </a:rPr>
                        <a:t>18,4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BDF91"/>
                    </a:solidFill>
                  </a:tcPr>
                </a:tc>
                <a:tc>
                  <a:txBody>
                    <a:bodyPr/>
                    <a:lstStyle/>
                    <a:p>
                      <a:pPr algn="r" fontAlgn="b">
                        <a:buNone/>
                      </a:pPr>
                      <a:r>
                        <a:rPr lang="fr-FR" sz="1000" b="0" i="0" u="none" strike="noStrike">
                          <a:solidFill>
                            <a:srgbClr val="00B050"/>
                          </a:solidFill>
                          <a:effectLst/>
                          <a:latin typeface="Aptos Narrow" panose="020B0004020202020204" pitchFamily="34" charset="0"/>
                        </a:rPr>
                        <a:t>6,5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81842160"/>
                  </a:ext>
                </a:extLst>
              </a:tr>
              <a:tr h="140070">
                <a:tc>
                  <a:txBody>
                    <a:bodyPr/>
                    <a:lstStyle/>
                    <a:p>
                      <a:pPr algn="l" fontAlgn="b">
                        <a:buNone/>
                      </a:pPr>
                      <a:r>
                        <a:rPr lang="fr-FR" sz="1000" b="0" i="0" u="none" strike="noStrike">
                          <a:solidFill>
                            <a:srgbClr val="000000"/>
                          </a:solidFill>
                          <a:effectLst/>
                          <a:latin typeface="Aptos Narrow" panose="020B0004020202020204" pitchFamily="34" charset="0"/>
                        </a:rPr>
                        <a:t>Comfort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24,4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9D98E"/>
                    </a:solidFill>
                  </a:tcPr>
                </a:tc>
                <a:tc>
                  <a:txBody>
                    <a:bodyPr/>
                    <a:lstStyle/>
                    <a:p>
                      <a:pPr algn="r" fontAlgn="b">
                        <a:buNone/>
                      </a:pPr>
                      <a:r>
                        <a:rPr lang="fr-FR" sz="1000" b="0" i="0" u="none" strike="noStrike">
                          <a:solidFill>
                            <a:srgbClr val="000000"/>
                          </a:solidFill>
                          <a:effectLst/>
                          <a:latin typeface="Aptos Narrow" panose="020B0004020202020204" pitchFamily="34" charset="0"/>
                        </a:rPr>
                        <a:t>17,5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DE092"/>
                    </a:solidFill>
                  </a:tcPr>
                </a:tc>
                <a:tc>
                  <a:txBody>
                    <a:bodyPr/>
                    <a:lstStyle/>
                    <a:p>
                      <a:pPr algn="r" fontAlgn="b">
                        <a:buNone/>
                      </a:pPr>
                      <a:r>
                        <a:rPr lang="fr-FR" sz="1000" b="0" i="0" u="none" strike="noStrike">
                          <a:solidFill>
                            <a:srgbClr val="00B050"/>
                          </a:solidFill>
                          <a:effectLst/>
                          <a:latin typeface="Aptos Narrow" panose="020B0004020202020204" pitchFamily="34" charset="0"/>
                        </a:rPr>
                        <a:t>6,9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74197219"/>
                  </a:ext>
                </a:extLst>
              </a:tr>
              <a:tr h="140070">
                <a:tc>
                  <a:txBody>
                    <a:bodyPr/>
                    <a:lstStyle/>
                    <a:p>
                      <a:pPr algn="l" fontAlgn="b">
                        <a:buNone/>
                      </a:pPr>
                      <a:r>
                        <a:rPr lang="fr-FR" sz="1000" b="1" i="0" u="none" strike="noStrike">
                          <a:solidFill>
                            <a:srgbClr val="000000"/>
                          </a:solidFill>
                          <a:effectLst/>
                          <a:latin typeface="Aptos Narrow" panose="020B0004020202020204" pitchFamily="34" charset="0"/>
                        </a:rPr>
                        <a:t>Total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22,0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0DB8F"/>
                    </a:solidFill>
                  </a:tcPr>
                </a:tc>
                <a:tc>
                  <a:txBody>
                    <a:bodyPr/>
                    <a:lstStyle/>
                    <a:p>
                      <a:pPr algn="r" fontAlgn="b">
                        <a:buNone/>
                      </a:pPr>
                      <a:r>
                        <a:rPr lang="fr-FR" sz="1000" b="1" i="0" u="none" strike="noStrike">
                          <a:solidFill>
                            <a:srgbClr val="000000"/>
                          </a:solidFill>
                          <a:effectLst/>
                          <a:latin typeface="Aptos Narrow" panose="020B0004020202020204" pitchFamily="34" charset="0"/>
                        </a:rPr>
                        <a:t>15,4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4E293"/>
                    </a:solidFill>
                  </a:tcPr>
                </a:tc>
                <a:tc>
                  <a:txBody>
                    <a:bodyPr/>
                    <a:lstStyle/>
                    <a:p>
                      <a:pPr algn="r" fontAlgn="b">
                        <a:buNone/>
                      </a:pPr>
                      <a:r>
                        <a:rPr lang="fr-FR" sz="1000" b="0" i="0" u="none" strike="noStrike">
                          <a:solidFill>
                            <a:srgbClr val="00B050"/>
                          </a:solidFill>
                          <a:effectLst/>
                          <a:latin typeface="Aptos Narrow" panose="020B0004020202020204" pitchFamily="34" charset="0"/>
                        </a:rPr>
                        <a:t>6,6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66109764"/>
                  </a:ext>
                </a:extLst>
              </a:tr>
              <a:tr h="140070">
                <a:tc>
                  <a:txBody>
                    <a:bodyPr/>
                    <a:lstStyle/>
                    <a:p>
                      <a:pPr algn="l" fontAlgn="b">
                        <a:buNone/>
                      </a:pPr>
                      <a:r>
                        <a:rPr lang="fr-FR" sz="1000" b="0" i="0" u="none" strike="noStrike">
                          <a:solidFill>
                            <a:srgbClr val="000000"/>
                          </a:solidFill>
                          <a:effectLst/>
                          <a:latin typeface="Aptos Narrow" panose="020B0004020202020204" pitchFamily="34" charset="0"/>
                        </a:rPr>
                        <a:t>Premium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15,3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4E293"/>
                    </a:solidFill>
                  </a:tcPr>
                </a:tc>
                <a:tc>
                  <a:txBody>
                    <a:bodyPr/>
                    <a:lstStyle/>
                    <a:p>
                      <a:pPr algn="r" fontAlgn="b">
                        <a:buNone/>
                      </a:pPr>
                      <a:r>
                        <a:rPr lang="fr-FR" sz="1000" b="0" i="0" u="none" strike="noStrike">
                          <a:solidFill>
                            <a:srgbClr val="000000"/>
                          </a:solidFill>
                          <a:effectLst/>
                          <a:latin typeface="Aptos Narrow" panose="020B0004020202020204" pitchFamily="34" charset="0"/>
                        </a:rPr>
                        <a:t>9,0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7E897"/>
                    </a:solidFill>
                  </a:tcPr>
                </a:tc>
                <a:tc>
                  <a:txBody>
                    <a:bodyPr/>
                    <a:lstStyle/>
                    <a:p>
                      <a:pPr algn="r" fontAlgn="b">
                        <a:buNone/>
                      </a:pPr>
                      <a:r>
                        <a:rPr lang="fr-FR" sz="1000" b="0" i="0" u="none" strike="noStrike">
                          <a:solidFill>
                            <a:srgbClr val="00B050"/>
                          </a:solidFill>
                          <a:effectLst/>
                          <a:latin typeface="Aptos Narrow" panose="020B0004020202020204" pitchFamily="34" charset="0"/>
                        </a:rPr>
                        <a:t>6,4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67277426"/>
                  </a:ext>
                </a:extLst>
              </a:tr>
              <a:tr h="140070">
                <a:tc>
                  <a:txBody>
                    <a:bodyPr/>
                    <a:lstStyle/>
                    <a:p>
                      <a:pPr algn="l" fontAlgn="b">
                        <a:buNone/>
                      </a:pPr>
                      <a:r>
                        <a:rPr lang="fr-FR" sz="1000" b="0" i="0" u="none" strike="noStrike">
                          <a:solidFill>
                            <a:srgbClr val="000000"/>
                          </a:solidFill>
                          <a:effectLst/>
                          <a:latin typeface="Aptos Narrow" panose="020B0004020202020204" pitchFamily="34" charset="0"/>
                        </a:rPr>
                        <a:t>VIP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12,9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BE495"/>
                    </a:solidFill>
                  </a:tcPr>
                </a:tc>
                <a:tc>
                  <a:txBody>
                    <a:bodyPr/>
                    <a:lstStyle/>
                    <a:p>
                      <a:pPr algn="r" fontAlgn="b">
                        <a:buNone/>
                      </a:pPr>
                      <a:r>
                        <a:rPr lang="fr-FR" sz="1000" b="0" i="0" u="none" strike="noStrike">
                          <a:solidFill>
                            <a:srgbClr val="000000"/>
                          </a:solidFill>
                          <a:effectLst/>
                          <a:latin typeface="Aptos Narrow" panose="020B0004020202020204" pitchFamily="34" charset="0"/>
                        </a:rPr>
                        <a:t>7,6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BE998"/>
                    </a:solidFill>
                  </a:tcPr>
                </a:tc>
                <a:tc>
                  <a:txBody>
                    <a:bodyPr/>
                    <a:lstStyle/>
                    <a:p>
                      <a:pPr algn="r" fontAlgn="b">
                        <a:buNone/>
                      </a:pPr>
                      <a:r>
                        <a:rPr lang="fr-FR" sz="1000" b="0" i="0" u="none" strike="noStrike">
                          <a:solidFill>
                            <a:srgbClr val="00B050"/>
                          </a:solidFill>
                          <a:effectLst/>
                          <a:latin typeface="Aptos Narrow" panose="020B0004020202020204" pitchFamily="34" charset="0"/>
                        </a:rPr>
                        <a:t>5,3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88481743"/>
                  </a:ext>
                </a:extLst>
              </a:tr>
              <a:tr h="140070">
                <a:tc>
                  <a:txBody>
                    <a:bodyPr/>
                    <a:lstStyle/>
                    <a:p>
                      <a:pPr algn="l" fontAlgn="b">
                        <a:buNone/>
                      </a:pPr>
                      <a:r>
                        <a:rPr lang="fr-FR" sz="1000" b="0" i="0" u="none" strike="noStrike">
                          <a:solidFill>
                            <a:srgbClr val="000000"/>
                          </a:solidFill>
                          <a:effectLst/>
                          <a:latin typeface="Aptos Narrow" panose="020B0004020202020204" pitchFamily="34" charset="0"/>
                        </a:rPr>
                        <a:t>VIP cottage (lake)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10,8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2E696"/>
                    </a:solidFill>
                  </a:tcPr>
                </a:tc>
                <a:tc>
                  <a:txBody>
                    <a:bodyPr/>
                    <a:lstStyle/>
                    <a:p>
                      <a:pPr algn="r" fontAlgn="b">
                        <a:buNone/>
                      </a:pPr>
                      <a:r>
                        <a:rPr lang="fr-FR" sz="1000" b="0" i="0" u="none" strike="noStrike">
                          <a:solidFill>
                            <a:srgbClr val="000000"/>
                          </a:solidFill>
                          <a:effectLst/>
                          <a:latin typeface="Aptos Narrow" panose="020B0004020202020204" pitchFamily="34" charset="0"/>
                        </a:rPr>
                        <a:t>7,6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BE998"/>
                    </a:solidFill>
                  </a:tcPr>
                </a:tc>
                <a:tc>
                  <a:txBody>
                    <a:bodyPr/>
                    <a:lstStyle/>
                    <a:p>
                      <a:pPr algn="r" fontAlgn="b">
                        <a:buNone/>
                      </a:pPr>
                      <a:r>
                        <a:rPr lang="fr-FR" sz="1000" b="0" i="0" u="none" strike="noStrike">
                          <a:solidFill>
                            <a:srgbClr val="00B050"/>
                          </a:solidFill>
                          <a:effectLst/>
                          <a:latin typeface="Aptos Narrow" panose="020B0004020202020204" pitchFamily="34" charset="0"/>
                        </a:rPr>
                        <a:t>3,2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24287952"/>
                  </a:ext>
                </a:extLst>
              </a:tr>
              <a:tr h="140070">
                <a:tc>
                  <a:txBody>
                    <a:bodyPr/>
                    <a:lstStyle/>
                    <a:p>
                      <a:pPr algn="l" fontAlgn="b">
                        <a:buNone/>
                      </a:pPr>
                      <a:r>
                        <a:rPr lang="fr-FR" sz="1000" b="0" i="0" u="none" strike="noStrike">
                          <a:solidFill>
                            <a:srgbClr val="000000"/>
                          </a:solidFill>
                          <a:effectLst/>
                          <a:latin typeface="Aptos Narrow" panose="020B0004020202020204" pitchFamily="34" charset="0"/>
                        </a:rPr>
                        <a:t>VIP Appartment</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7,9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AE998"/>
                    </a:solidFill>
                  </a:tcPr>
                </a:tc>
                <a:tc>
                  <a:txBody>
                    <a:bodyPr/>
                    <a:lstStyle/>
                    <a:p>
                      <a:pPr algn="r" fontAlgn="b">
                        <a:buNone/>
                      </a:pPr>
                      <a:r>
                        <a:rPr lang="fr-FR" sz="1000" b="0" i="0" u="none" strike="noStrike">
                          <a:solidFill>
                            <a:srgbClr val="000000"/>
                          </a:solidFill>
                          <a:effectLst/>
                          <a:latin typeface="Aptos Narrow" panose="020B0004020202020204" pitchFamily="34" charset="0"/>
                        </a:rPr>
                        <a:t>1,2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F9C"/>
                    </a:solidFill>
                  </a:tcPr>
                </a:tc>
                <a:tc>
                  <a:txBody>
                    <a:bodyPr/>
                    <a:lstStyle/>
                    <a:p>
                      <a:pPr algn="r" fontAlgn="b">
                        <a:buNone/>
                      </a:pPr>
                      <a:r>
                        <a:rPr lang="fr-FR" sz="1000" b="0" i="0" u="none" strike="noStrike">
                          <a:solidFill>
                            <a:srgbClr val="00B050"/>
                          </a:solidFill>
                          <a:effectLst/>
                          <a:latin typeface="Aptos Narrow" panose="020B0004020202020204" pitchFamily="34" charset="0"/>
                        </a:rPr>
                        <a:t>6,8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8627516"/>
                  </a:ext>
                </a:extLst>
              </a:tr>
              <a:tr h="140070">
                <a:tc>
                  <a:txBody>
                    <a:bodyPr/>
                    <a:lstStyle/>
                    <a:p>
                      <a:pPr algn="l" fontAlgn="b">
                        <a:buNone/>
                      </a:pPr>
                      <a:r>
                        <a:rPr lang="fr-FR" sz="1000" b="0" i="0" u="none" strike="noStrike">
                          <a:solidFill>
                            <a:srgbClr val="000000"/>
                          </a:solidFill>
                          <a:effectLst/>
                          <a:latin typeface="Aptos Narrow" panose="020B0004020202020204" pitchFamily="34" charset="0"/>
                        </a:rPr>
                        <a:t>Premium Appartment</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7,7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BE998"/>
                    </a:solidFill>
                  </a:tcPr>
                </a:tc>
                <a:tc>
                  <a:txBody>
                    <a:bodyPr/>
                    <a:lstStyle/>
                    <a:p>
                      <a:pPr algn="r" fontAlgn="b">
                        <a:buNone/>
                      </a:pPr>
                      <a:r>
                        <a:rPr lang="fr-FR" sz="1000" b="0" i="0" u="none" strike="noStrike">
                          <a:solidFill>
                            <a:srgbClr val="000000"/>
                          </a:solidFill>
                          <a:effectLst/>
                          <a:latin typeface="Aptos Narrow" panose="020B0004020202020204" pitchFamily="34" charset="0"/>
                        </a:rPr>
                        <a:t>9,2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7E897"/>
                    </a:solidFill>
                  </a:tcPr>
                </a:tc>
                <a:tc>
                  <a:txBody>
                    <a:bodyPr/>
                    <a:lstStyle/>
                    <a:p>
                      <a:pPr algn="r" fontAlgn="b">
                        <a:buNone/>
                      </a:pPr>
                      <a:r>
                        <a:rPr lang="fr-FR" sz="1000" b="0" i="0" u="none" strike="noStrike">
                          <a:solidFill>
                            <a:srgbClr val="FF0000"/>
                          </a:solidFill>
                          <a:effectLst/>
                          <a:latin typeface="Aptos Narrow" panose="020B0004020202020204" pitchFamily="34" charset="0"/>
                        </a:rPr>
                        <a:t>-1,4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73458881"/>
                  </a:ext>
                </a:extLst>
              </a:tr>
              <a:tr h="140070">
                <a:tc>
                  <a:txBody>
                    <a:bodyPr/>
                    <a:lstStyle/>
                    <a:p>
                      <a:pPr algn="l" fontAlgn="b">
                        <a:buNone/>
                      </a:pPr>
                      <a:r>
                        <a:rPr lang="fr-FR" sz="1000" b="0" i="0" u="none" strike="noStrike">
                          <a:solidFill>
                            <a:srgbClr val="000000"/>
                          </a:solidFill>
                          <a:effectLst/>
                          <a:latin typeface="Aptos Narrow" panose="020B0004020202020204" pitchFamily="34" charset="0"/>
                        </a:rPr>
                        <a:t>Premium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7,6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BE998"/>
                    </a:solidFill>
                  </a:tcPr>
                </a:tc>
                <a:tc>
                  <a:txBody>
                    <a:bodyPr/>
                    <a:lstStyle/>
                    <a:p>
                      <a:pPr algn="r" fontAlgn="b">
                        <a:buNone/>
                      </a:pPr>
                      <a:r>
                        <a:rPr lang="fr-FR" sz="1000" b="0" i="0" u="none" strike="noStrike">
                          <a:solidFill>
                            <a:srgbClr val="000000"/>
                          </a:solidFill>
                          <a:effectLst/>
                          <a:latin typeface="Aptos Narrow" panose="020B0004020202020204" pitchFamily="34" charset="0"/>
                        </a:rPr>
                        <a:t>7,6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BE998"/>
                    </a:solidFill>
                  </a:tcPr>
                </a:tc>
                <a:tc>
                  <a:txBody>
                    <a:bodyPr/>
                    <a:lstStyle/>
                    <a:p>
                      <a:pPr algn="r" fontAlgn="b">
                        <a:buNone/>
                      </a:pPr>
                      <a:r>
                        <a:rPr lang="fr-FR" sz="1000" b="0" i="0" u="none" strike="noStrike">
                          <a:solidFill>
                            <a:srgbClr val="00B050"/>
                          </a:solidFill>
                          <a:effectLst/>
                          <a:latin typeface="Aptos Narrow" panose="020B0004020202020204" pitchFamily="34" charset="0"/>
                        </a:rPr>
                        <a:t>0,0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47232032"/>
                  </a:ext>
                </a:extLst>
              </a:tr>
              <a:tr h="140070">
                <a:tc>
                  <a:txBody>
                    <a:bodyPr/>
                    <a:lstStyle/>
                    <a:p>
                      <a:pPr algn="l" fontAlgn="b">
                        <a:buNone/>
                      </a:pPr>
                      <a:r>
                        <a:rPr lang="fr-FR" sz="1000" b="0" i="0" u="none" strike="noStrike">
                          <a:solidFill>
                            <a:srgbClr val="000000"/>
                          </a:solidFill>
                          <a:effectLst/>
                          <a:latin typeface="Aptos Narrow" panose="020B0004020202020204" pitchFamily="34" charset="0"/>
                        </a:rPr>
                        <a:t>Comfort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6,9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DEA99"/>
                    </a:solidFill>
                  </a:tcPr>
                </a:tc>
                <a:tc>
                  <a:txBody>
                    <a:bodyPr/>
                    <a:lstStyle/>
                    <a:p>
                      <a:pPr algn="r" fontAlgn="b">
                        <a:buNone/>
                      </a:pPr>
                      <a:r>
                        <a:rPr lang="fr-FR" sz="1000" b="0" i="0" u="none" strike="noStrike">
                          <a:solidFill>
                            <a:srgbClr val="000000"/>
                          </a:solidFill>
                          <a:effectLst/>
                          <a:latin typeface="Aptos Narrow" panose="020B0004020202020204" pitchFamily="34" charset="0"/>
                        </a:rPr>
                        <a:t>0,9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F9C"/>
                    </a:solidFill>
                  </a:tcPr>
                </a:tc>
                <a:tc>
                  <a:txBody>
                    <a:bodyPr/>
                    <a:lstStyle/>
                    <a:p>
                      <a:pPr algn="r" fontAlgn="b">
                        <a:buNone/>
                      </a:pPr>
                      <a:r>
                        <a:rPr lang="fr-FR" sz="1000" b="0" i="0" u="none" strike="noStrike">
                          <a:solidFill>
                            <a:srgbClr val="00B050"/>
                          </a:solidFill>
                          <a:effectLst/>
                          <a:latin typeface="Aptos Narrow" panose="020B0004020202020204" pitchFamily="34" charset="0"/>
                        </a:rPr>
                        <a:t>6,0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9152519"/>
                  </a:ext>
                </a:extLst>
              </a:tr>
              <a:tr h="140070">
                <a:tc>
                  <a:txBody>
                    <a:bodyPr/>
                    <a:lstStyle/>
                    <a:p>
                      <a:pPr algn="l" fontAlgn="b">
                        <a:buNone/>
                      </a:pPr>
                      <a:r>
                        <a:rPr lang="fr-FR" sz="1000" b="0" i="0" u="none" strike="noStrike">
                          <a:solidFill>
                            <a:srgbClr val="000000"/>
                          </a:solidFill>
                          <a:effectLst/>
                          <a:latin typeface="Aptos Narrow" panose="020B0004020202020204" pitchFamily="34" charset="0"/>
                        </a:rPr>
                        <a:t>Premium cottage (</a:t>
                      </a:r>
                      <a:r>
                        <a:rPr lang="fr-FR" sz="1000" b="0" i="0" u="none" strike="noStrike" err="1">
                          <a:solidFill>
                            <a:srgbClr val="000000"/>
                          </a:solidFill>
                          <a:effectLst/>
                          <a:latin typeface="Aptos Narrow" panose="020B0004020202020204" pitchFamily="34" charset="0"/>
                        </a:rPr>
                        <a:t>lake</a:t>
                      </a:r>
                      <a:r>
                        <a:rPr lang="fr-FR" sz="1000" b="0" i="0" u="none" strike="noStrike">
                          <a:solidFill>
                            <a:srgbClr val="000000"/>
                          </a:solidFill>
                          <a:effectLst/>
                          <a:latin typeface="Aptos Narrow" panose="020B0004020202020204" pitchFamily="34" charset="0"/>
                        </a:rPr>
                        <a:t>)</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0,9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F9C"/>
                    </a:solidFill>
                  </a:tcPr>
                </a:tc>
                <a:tc>
                  <a:txBody>
                    <a:bodyPr/>
                    <a:lstStyle/>
                    <a:p>
                      <a:pPr algn="r" fontAlgn="b">
                        <a:buNone/>
                      </a:pPr>
                      <a:r>
                        <a:rPr lang="fr-FR" sz="1000" b="0" i="0" u="none" strike="noStrike">
                          <a:solidFill>
                            <a:srgbClr val="000000"/>
                          </a:solidFill>
                          <a:effectLst/>
                          <a:latin typeface="Aptos Narrow" panose="020B0004020202020204" pitchFamily="34" charset="0"/>
                        </a:rPr>
                        <a:t>4,5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5EC9A"/>
                    </a:solidFill>
                  </a:tcPr>
                </a:tc>
                <a:tc>
                  <a:txBody>
                    <a:bodyPr/>
                    <a:lstStyle/>
                    <a:p>
                      <a:pPr algn="r" fontAlgn="b">
                        <a:buNone/>
                      </a:pPr>
                      <a:r>
                        <a:rPr lang="fr-FR" sz="1000" b="0" i="0" u="none" strike="noStrike">
                          <a:solidFill>
                            <a:srgbClr val="FF0000"/>
                          </a:solidFill>
                          <a:effectLst/>
                          <a:latin typeface="Aptos Narrow" panose="020B0004020202020204" pitchFamily="34" charset="0"/>
                        </a:rPr>
                        <a:t>-3,5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167127"/>
                  </a:ext>
                </a:extLst>
              </a:tr>
            </a:tbl>
          </a:graphicData>
        </a:graphic>
      </p:graphicFrame>
      <p:graphicFrame>
        <p:nvGraphicFramePr>
          <p:cNvPr id="9" name="Table 8">
            <a:extLst>
              <a:ext uri="{FF2B5EF4-FFF2-40B4-BE49-F238E27FC236}">
                <a16:creationId xmlns:a16="http://schemas.microsoft.com/office/drawing/2014/main" id="{F0C577DC-CD7E-F6C1-87A5-06455163158A}"/>
              </a:ext>
            </a:extLst>
          </p:cNvPr>
          <p:cNvGraphicFramePr>
            <a:graphicFrameLocks noGrp="1"/>
          </p:cNvGraphicFramePr>
          <p:nvPr>
            <p:extLst>
              <p:ext uri="{D42A27DB-BD31-4B8C-83A1-F6EECF244321}">
                <p14:modId xmlns:p14="http://schemas.microsoft.com/office/powerpoint/2010/main" val="2162200125"/>
              </p:ext>
            </p:extLst>
          </p:nvPr>
        </p:nvGraphicFramePr>
        <p:xfrm>
          <a:off x="210895" y="3080106"/>
          <a:ext cx="2400739" cy="2806002"/>
        </p:xfrm>
        <a:graphic>
          <a:graphicData uri="http://schemas.openxmlformats.org/drawingml/2006/table">
            <a:tbl>
              <a:tblPr/>
              <a:tblGrid>
                <a:gridCol w="1395778">
                  <a:extLst>
                    <a:ext uri="{9D8B030D-6E8A-4147-A177-3AD203B41FA5}">
                      <a16:colId xmlns:a16="http://schemas.microsoft.com/office/drawing/2014/main" val="2025508186"/>
                    </a:ext>
                  </a:extLst>
                </a:gridCol>
                <a:gridCol w="334987">
                  <a:extLst>
                    <a:ext uri="{9D8B030D-6E8A-4147-A177-3AD203B41FA5}">
                      <a16:colId xmlns:a16="http://schemas.microsoft.com/office/drawing/2014/main" val="3461616343"/>
                    </a:ext>
                  </a:extLst>
                </a:gridCol>
                <a:gridCol w="334987">
                  <a:extLst>
                    <a:ext uri="{9D8B030D-6E8A-4147-A177-3AD203B41FA5}">
                      <a16:colId xmlns:a16="http://schemas.microsoft.com/office/drawing/2014/main" val="2042053797"/>
                    </a:ext>
                  </a:extLst>
                </a:gridCol>
                <a:gridCol w="334987">
                  <a:extLst>
                    <a:ext uri="{9D8B030D-6E8A-4147-A177-3AD203B41FA5}">
                      <a16:colId xmlns:a16="http://schemas.microsoft.com/office/drawing/2014/main" val="2152307134"/>
                    </a:ext>
                  </a:extLst>
                </a:gridCol>
              </a:tblGrid>
              <a:tr h="101194">
                <a:tc>
                  <a:txBody>
                    <a:bodyPr/>
                    <a:lstStyle/>
                    <a:p>
                      <a:pPr algn="l" fontAlgn="b">
                        <a:buNone/>
                      </a:pPr>
                      <a:endParaRPr lang="fr-FR" sz="1000" b="0" i="0" u="none" strike="noStrike">
                        <a:solidFill>
                          <a:srgbClr val="000000"/>
                        </a:solidFill>
                        <a:effectLst/>
                        <a:latin typeface="Aptos Narrow" panose="020B0004020202020204" pitchFamily="34" charset="0"/>
                      </a:endParaRP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Evol </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83364569"/>
                  </a:ext>
                </a:extLst>
              </a:tr>
              <a:tr h="101194">
                <a:tc>
                  <a:txBody>
                    <a:bodyPr/>
                    <a:lstStyle/>
                    <a:p>
                      <a:pPr algn="l" fontAlgn="b">
                        <a:buNone/>
                      </a:pPr>
                      <a:endParaRPr lang="fr-FR" sz="1000" b="0" i="0" u="none" strike="noStrike">
                        <a:solidFill>
                          <a:srgbClr val="000000"/>
                        </a:solidFill>
                        <a:effectLst/>
                        <a:latin typeface="Aptos Narrow" panose="020B0004020202020204" pitchFamily="34" charset="0"/>
                      </a:endParaRP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22,0</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AE583"/>
                    </a:solidFill>
                  </a:tcPr>
                </a:tc>
                <a:tc>
                  <a:txBody>
                    <a:bodyPr/>
                    <a:lstStyle/>
                    <a:p>
                      <a:pPr algn="r" fontAlgn="b">
                        <a:buNone/>
                      </a:pPr>
                      <a:r>
                        <a:rPr lang="fr-FR" sz="1000" b="0" i="0" u="none" strike="noStrike">
                          <a:solidFill>
                            <a:srgbClr val="000000"/>
                          </a:solidFill>
                          <a:effectLst/>
                          <a:latin typeface="Aptos Narrow" panose="020B0004020202020204" pitchFamily="34" charset="0"/>
                        </a:rPr>
                        <a:t>15,4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182"/>
                    </a:solidFill>
                  </a:tcPr>
                </a:tc>
                <a:tc>
                  <a:txBody>
                    <a:bodyPr/>
                    <a:lstStyle/>
                    <a:p>
                      <a:pPr algn="r" fontAlgn="b">
                        <a:buNone/>
                      </a:pPr>
                      <a:r>
                        <a:rPr lang="fr-FR" sz="1000" b="0" i="0" u="none" strike="noStrike">
                          <a:solidFill>
                            <a:srgbClr val="00B050"/>
                          </a:solidFill>
                          <a:effectLst/>
                          <a:latin typeface="Aptos Narrow" panose="020B0004020202020204" pitchFamily="34" charset="0"/>
                        </a:rPr>
                        <a:t>6,6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09157959"/>
                  </a:ext>
                </a:extLst>
              </a:tr>
              <a:tr h="101194">
                <a:tc>
                  <a:txBody>
                    <a:bodyPr/>
                    <a:lstStyle/>
                    <a:p>
                      <a:pPr algn="l" fontAlgn="b">
                        <a:buNone/>
                      </a:pPr>
                      <a:r>
                        <a:rPr lang="fr-FR" sz="1000" b="1" i="0" u="none" strike="noStrike">
                          <a:solidFill>
                            <a:srgbClr val="000000"/>
                          </a:solidFill>
                          <a:effectLst/>
                          <a:latin typeface="Aptos Narrow" panose="020B0004020202020204" pitchFamily="34" charset="0"/>
                        </a:rPr>
                        <a:t>Le Bois aux Daims</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33,7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BD881"/>
                    </a:solidFill>
                  </a:tcPr>
                </a:tc>
                <a:tc>
                  <a:txBody>
                    <a:bodyPr/>
                    <a:lstStyle/>
                    <a:p>
                      <a:pPr algn="r" fontAlgn="b">
                        <a:buNone/>
                      </a:pPr>
                      <a:r>
                        <a:rPr lang="fr-FR" sz="1000" b="1" i="0" u="none" strike="noStrike">
                          <a:solidFill>
                            <a:srgbClr val="000000"/>
                          </a:solidFill>
                          <a:effectLst/>
                          <a:latin typeface="Aptos Narrow" panose="020B0004020202020204" pitchFamily="34" charset="0"/>
                        </a:rPr>
                        <a:t>23,0</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6E483"/>
                    </a:solidFill>
                  </a:tcPr>
                </a:tc>
                <a:tc>
                  <a:txBody>
                    <a:bodyPr/>
                    <a:lstStyle/>
                    <a:p>
                      <a:pPr algn="r" fontAlgn="b">
                        <a:buNone/>
                      </a:pPr>
                      <a:r>
                        <a:rPr lang="fr-FR" sz="1000" b="1" i="0" u="none" strike="noStrike">
                          <a:solidFill>
                            <a:srgbClr val="00B050"/>
                          </a:solidFill>
                          <a:effectLst/>
                          <a:latin typeface="Aptos Narrow" panose="020B0004020202020204" pitchFamily="34" charset="0"/>
                        </a:rPr>
                        <a:t>10,7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8606307"/>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Eden Comfort cottage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32,6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0D981"/>
                    </a:solidFill>
                  </a:tcPr>
                </a:tc>
                <a:tc>
                  <a:txBody>
                    <a:bodyPr/>
                    <a:lstStyle/>
                    <a:p>
                      <a:pPr algn="r" fontAlgn="b">
                        <a:buNone/>
                      </a:pPr>
                      <a:r>
                        <a:rPr lang="fr-FR" sz="1000" b="0" i="0" u="none" strike="noStrike">
                          <a:solidFill>
                            <a:srgbClr val="000000"/>
                          </a:solidFill>
                          <a:effectLst/>
                          <a:latin typeface="Aptos Narrow" panose="020B0004020202020204" pitchFamily="34" charset="0"/>
                        </a:rPr>
                        <a:t>24,9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FE283"/>
                    </a:solidFill>
                  </a:tcPr>
                </a:tc>
                <a:tc>
                  <a:txBody>
                    <a:bodyPr/>
                    <a:lstStyle/>
                    <a:p>
                      <a:pPr algn="r" fontAlgn="b">
                        <a:buNone/>
                      </a:pPr>
                      <a:r>
                        <a:rPr lang="fr-FR" sz="1000" b="0" i="0" u="none" strike="noStrike">
                          <a:solidFill>
                            <a:srgbClr val="00B050"/>
                          </a:solidFill>
                          <a:effectLst/>
                          <a:latin typeface="Aptos Narrow" panose="020B0004020202020204" pitchFamily="34" charset="0"/>
                        </a:rPr>
                        <a:t>7,7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20443162"/>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Eden Premium cottage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34,2</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9D780"/>
                    </a:solidFill>
                  </a:tcPr>
                </a:tc>
                <a:tc>
                  <a:txBody>
                    <a:bodyPr/>
                    <a:lstStyle/>
                    <a:p>
                      <a:pPr algn="r" fontAlgn="b">
                        <a:buNone/>
                      </a:pPr>
                      <a:r>
                        <a:rPr lang="fr-FR" sz="1000" b="0" i="0" u="none" strike="noStrike">
                          <a:solidFill>
                            <a:srgbClr val="000000"/>
                          </a:solidFill>
                          <a:effectLst/>
                          <a:latin typeface="Aptos Narrow" panose="020B0004020202020204" pitchFamily="34" charset="0"/>
                        </a:rPr>
                        <a:t>20,6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FE784"/>
                    </a:solidFill>
                  </a:tcPr>
                </a:tc>
                <a:tc>
                  <a:txBody>
                    <a:bodyPr/>
                    <a:lstStyle/>
                    <a:p>
                      <a:pPr algn="r" fontAlgn="b">
                        <a:buNone/>
                      </a:pPr>
                      <a:r>
                        <a:rPr lang="fr-FR" sz="1000" b="0" i="0" u="none" strike="noStrike">
                          <a:solidFill>
                            <a:srgbClr val="00B050"/>
                          </a:solidFill>
                          <a:effectLst/>
                          <a:latin typeface="Aptos Narrow" panose="020B0004020202020204" pitchFamily="34" charset="0"/>
                        </a:rPr>
                        <a:t>13,6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0849271"/>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Eden VIP cottage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33,5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CD881"/>
                    </a:solidFill>
                  </a:tcPr>
                </a:tc>
                <a:tc>
                  <a:txBody>
                    <a:bodyPr/>
                    <a:lstStyle/>
                    <a:p>
                      <a:pPr algn="r" fontAlgn="b">
                        <a:buNone/>
                      </a:pPr>
                      <a:r>
                        <a:rPr lang="fr-FR" sz="1000" b="0" i="0" u="none" strike="noStrike">
                          <a:solidFill>
                            <a:srgbClr val="000000"/>
                          </a:solidFill>
                          <a:effectLst/>
                          <a:latin typeface="Aptos Narrow" panose="020B0004020202020204" pitchFamily="34" charset="0"/>
                        </a:rPr>
                        <a:t>23,0</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6E483"/>
                    </a:solidFill>
                  </a:tcPr>
                </a:tc>
                <a:tc>
                  <a:txBody>
                    <a:bodyPr/>
                    <a:lstStyle/>
                    <a:p>
                      <a:pPr algn="r" fontAlgn="b">
                        <a:buNone/>
                      </a:pPr>
                      <a:r>
                        <a:rPr lang="fr-FR" sz="1000" b="0" i="0" u="none" strike="noStrike">
                          <a:solidFill>
                            <a:srgbClr val="00B050"/>
                          </a:solidFill>
                          <a:effectLst/>
                          <a:latin typeface="Aptos Narrow" panose="020B0004020202020204" pitchFamily="34" charset="0"/>
                        </a:rPr>
                        <a:t>10,5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64872831"/>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Treehouse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52,6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0C27C"/>
                    </a:solidFill>
                  </a:tcPr>
                </a:tc>
                <a:tc>
                  <a:txBody>
                    <a:bodyPr/>
                    <a:lstStyle/>
                    <a:p>
                      <a:pPr algn="r" fontAlgn="b">
                        <a:buNone/>
                      </a:pPr>
                      <a:r>
                        <a:rPr lang="fr-FR" sz="1000" b="0" i="0" u="none" strike="noStrike">
                          <a:solidFill>
                            <a:srgbClr val="000000"/>
                          </a:solidFill>
                          <a:effectLst/>
                          <a:latin typeface="Aptos Narrow" panose="020B0004020202020204" pitchFamily="34" charset="0"/>
                        </a:rPr>
                        <a:t>31,8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3DA81"/>
                    </a:solidFill>
                  </a:tcPr>
                </a:tc>
                <a:tc>
                  <a:txBody>
                    <a:bodyPr/>
                    <a:lstStyle/>
                    <a:p>
                      <a:pPr algn="r" fontAlgn="b">
                        <a:buNone/>
                      </a:pPr>
                      <a:r>
                        <a:rPr lang="fr-FR" sz="1000" b="0" i="0" u="none" strike="noStrike">
                          <a:solidFill>
                            <a:srgbClr val="00B050"/>
                          </a:solidFill>
                          <a:effectLst/>
                          <a:latin typeface="Aptos Narrow" panose="020B0004020202020204" pitchFamily="34" charset="0"/>
                        </a:rPr>
                        <a:t>20,8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63485436"/>
                  </a:ext>
                </a:extLst>
              </a:tr>
              <a:tr h="101194">
                <a:tc>
                  <a:txBody>
                    <a:bodyPr/>
                    <a:lstStyle/>
                    <a:p>
                      <a:pPr algn="l" fontAlgn="b">
                        <a:buNone/>
                      </a:pPr>
                      <a:r>
                        <a:rPr lang="fr-FR" sz="1000" b="1" i="0" u="none" strike="noStrike">
                          <a:solidFill>
                            <a:srgbClr val="000000"/>
                          </a:solidFill>
                          <a:effectLst/>
                          <a:latin typeface="Aptos Narrow" panose="020B0004020202020204" pitchFamily="34" charset="0"/>
                        </a:rPr>
                        <a:t>Le Lac d'Ailette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6,9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275"/>
                    </a:solidFill>
                  </a:tcPr>
                </a:tc>
                <a:tc>
                  <a:txBody>
                    <a:bodyPr/>
                    <a:lstStyle/>
                    <a:p>
                      <a:pPr algn="r" fontAlgn="b">
                        <a:buNone/>
                      </a:pPr>
                      <a:r>
                        <a:rPr lang="fr-FR" sz="1000" b="1" i="0" u="none" strike="noStrike">
                          <a:solidFill>
                            <a:srgbClr val="000000"/>
                          </a:solidFill>
                          <a:effectLst/>
                          <a:latin typeface="Aptos Narrow" panose="020B0004020202020204" pitchFamily="34" charset="0"/>
                        </a:rPr>
                        <a:t>4,2</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D72"/>
                    </a:solidFill>
                  </a:tcPr>
                </a:tc>
                <a:tc>
                  <a:txBody>
                    <a:bodyPr/>
                    <a:lstStyle/>
                    <a:p>
                      <a:pPr algn="r" fontAlgn="b">
                        <a:buNone/>
                      </a:pPr>
                      <a:r>
                        <a:rPr lang="fr-FR" sz="1000" b="1" i="0" u="none" strike="noStrike">
                          <a:solidFill>
                            <a:srgbClr val="00B050"/>
                          </a:solidFill>
                          <a:effectLst/>
                          <a:latin typeface="Aptos Narrow" panose="020B0004020202020204" pitchFamily="34" charset="0"/>
                        </a:rPr>
                        <a:t>2,7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37079001"/>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Comfort cottage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11,8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67C"/>
                    </a:solidFill>
                  </a:tcPr>
                </a:tc>
                <a:tc>
                  <a:txBody>
                    <a:bodyPr/>
                    <a:lstStyle/>
                    <a:p>
                      <a:pPr algn="r" fontAlgn="b">
                        <a:buNone/>
                      </a:pPr>
                      <a:r>
                        <a:rPr lang="fr-FR" sz="1000" b="0" i="0" u="none" strike="noStrike">
                          <a:solidFill>
                            <a:srgbClr val="000000"/>
                          </a:solidFill>
                          <a:effectLst/>
                          <a:latin typeface="Aptos Narrow" panose="020B0004020202020204" pitchFamily="34" charset="0"/>
                        </a:rPr>
                        <a:t>7,2</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376"/>
                    </a:solidFill>
                  </a:tcPr>
                </a:tc>
                <a:tc>
                  <a:txBody>
                    <a:bodyPr/>
                    <a:lstStyle/>
                    <a:p>
                      <a:pPr algn="r" fontAlgn="b">
                        <a:buNone/>
                      </a:pPr>
                      <a:r>
                        <a:rPr lang="fr-FR" sz="1000" b="0" i="0" u="none" strike="noStrike">
                          <a:solidFill>
                            <a:srgbClr val="00B050"/>
                          </a:solidFill>
                          <a:effectLst/>
                          <a:latin typeface="Aptos Narrow" panose="020B0004020202020204" pitchFamily="34" charset="0"/>
                        </a:rPr>
                        <a:t>4,6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02716898"/>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Premium cottage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4,3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8D72"/>
                    </a:solidFill>
                  </a:tcPr>
                </a:tc>
                <a:tc>
                  <a:txBody>
                    <a:bodyPr/>
                    <a:lstStyle/>
                    <a:p>
                      <a:pPr algn="r" fontAlgn="b">
                        <a:buNone/>
                      </a:pPr>
                      <a:r>
                        <a:rPr lang="fr-FR" sz="1000" b="0" i="0" u="none" strike="noStrike">
                          <a:solidFill>
                            <a:srgbClr val="000000"/>
                          </a:solidFill>
                          <a:effectLst/>
                          <a:latin typeface="Aptos Narrow" panose="020B0004020202020204" pitchFamily="34" charset="0"/>
                        </a:rPr>
                        <a:t>-0,4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A6B"/>
                    </a:solidFill>
                  </a:tcPr>
                </a:tc>
                <a:tc>
                  <a:txBody>
                    <a:bodyPr/>
                    <a:lstStyle/>
                    <a:p>
                      <a:pPr algn="r" fontAlgn="b">
                        <a:buNone/>
                      </a:pPr>
                      <a:r>
                        <a:rPr lang="fr-FR" sz="1000" b="0" i="0" u="none" strike="noStrike">
                          <a:solidFill>
                            <a:srgbClr val="00B050"/>
                          </a:solidFill>
                          <a:effectLst/>
                          <a:latin typeface="Aptos Narrow" panose="020B0004020202020204" pitchFamily="34" charset="0"/>
                        </a:rPr>
                        <a:t>4,7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95828267"/>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Premium cottage (lake)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0,9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46D"/>
                    </a:solidFill>
                  </a:tcPr>
                </a:tc>
                <a:tc>
                  <a:txBody>
                    <a:bodyPr/>
                    <a:lstStyle/>
                    <a:p>
                      <a:pPr algn="r" fontAlgn="b">
                        <a:buNone/>
                      </a:pPr>
                      <a:r>
                        <a:rPr lang="fr-FR" sz="1000" b="0" i="0" u="none" strike="noStrike">
                          <a:solidFill>
                            <a:srgbClr val="000000"/>
                          </a:solidFill>
                          <a:effectLst/>
                          <a:latin typeface="Aptos Narrow" panose="020B0004020202020204" pitchFamily="34" charset="0"/>
                        </a:rPr>
                        <a:t>4,5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8F72"/>
                    </a:solidFill>
                  </a:tcPr>
                </a:tc>
                <a:tc>
                  <a:txBody>
                    <a:bodyPr/>
                    <a:lstStyle/>
                    <a:p>
                      <a:pPr algn="r" fontAlgn="b">
                        <a:buNone/>
                      </a:pPr>
                      <a:r>
                        <a:rPr lang="fr-FR" sz="1000" b="0" i="0" u="none" strike="noStrike">
                          <a:solidFill>
                            <a:srgbClr val="FF0000"/>
                          </a:solidFill>
                          <a:effectLst/>
                          <a:latin typeface="Aptos Narrow" panose="020B0004020202020204" pitchFamily="34" charset="0"/>
                        </a:rPr>
                        <a:t>-3,5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65329865"/>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VIP cottage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6,6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F75"/>
                    </a:solidFill>
                  </a:tcPr>
                </a:tc>
                <a:tc>
                  <a:txBody>
                    <a:bodyPr/>
                    <a:lstStyle/>
                    <a:p>
                      <a:pPr algn="r" fontAlgn="b">
                        <a:buNone/>
                      </a:pPr>
                      <a:r>
                        <a:rPr lang="fr-FR" sz="1000" b="0" i="0" u="none" strike="noStrike">
                          <a:solidFill>
                            <a:srgbClr val="000000"/>
                          </a:solidFill>
                          <a:effectLst/>
                          <a:latin typeface="Aptos Narrow" panose="020B0004020202020204" pitchFamily="34" charset="0"/>
                        </a:rPr>
                        <a:t>5,7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874"/>
                    </a:solidFill>
                  </a:tcPr>
                </a:tc>
                <a:tc>
                  <a:txBody>
                    <a:bodyPr/>
                    <a:lstStyle/>
                    <a:p>
                      <a:pPr algn="r" fontAlgn="b">
                        <a:buNone/>
                      </a:pPr>
                      <a:r>
                        <a:rPr lang="fr-FR" sz="1000" b="0" i="0" u="none" strike="noStrike">
                          <a:solidFill>
                            <a:srgbClr val="00B050"/>
                          </a:solidFill>
                          <a:effectLst/>
                          <a:latin typeface="Aptos Narrow" panose="020B0004020202020204" pitchFamily="34" charset="0"/>
                        </a:rPr>
                        <a:t>0,9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349665"/>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VIP cottage (lake)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10,8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F7B"/>
                    </a:solidFill>
                  </a:tcPr>
                </a:tc>
                <a:tc>
                  <a:txBody>
                    <a:bodyPr/>
                    <a:lstStyle/>
                    <a:p>
                      <a:pPr algn="r" fontAlgn="b">
                        <a:buNone/>
                      </a:pPr>
                      <a:r>
                        <a:rPr lang="fr-FR" sz="1000" b="0" i="0" u="none" strike="noStrike">
                          <a:solidFill>
                            <a:srgbClr val="000000"/>
                          </a:solidFill>
                          <a:effectLst/>
                          <a:latin typeface="Aptos Narrow" panose="020B0004020202020204" pitchFamily="34" charset="0"/>
                        </a:rPr>
                        <a:t>7,6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676"/>
                    </a:solidFill>
                  </a:tcPr>
                </a:tc>
                <a:tc>
                  <a:txBody>
                    <a:bodyPr/>
                    <a:lstStyle/>
                    <a:p>
                      <a:pPr algn="r" fontAlgn="b">
                        <a:buNone/>
                      </a:pPr>
                      <a:r>
                        <a:rPr lang="fr-FR" sz="1000" b="0" i="0" u="none" strike="noStrike">
                          <a:solidFill>
                            <a:srgbClr val="00B050"/>
                          </a:solidFill>
                          <a:effectLst/>
                          <a:latin typeface="Aptos Narrow" panose="020B0004020202020204" pitchFamily="34" charset="0"/>
                        </a:rPr>
                        <a:t>3,2</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1344159"/>
                  </a:ext>
                </a:extLst>
              </a:tr>
              <a:tr h="101194">
                <a:tc>
                  <a:txBody>
                    <a:bodyPr/>
                    <a:lstStyle/>
                    <a:p>
                      <a:pPr algn="l" fontAlgn="b">
                        <a:buNone/>
                      </a:pPr>
                      <a:r>
                        <a:rPr lang="fr-FR" sz="1000" b="1" i="0" u="none" strike="noStrike">
                          <a:solidFill>
                            <a:srgbClr val="000000"/>
                          </a:solidFill>
                          <a:effectLst/>
                          <a:latin typeface="Aptos Narrow" panose="020B0004020202020204" pitchFamily="34" charset="0"/>
                        </a:rPr>
                        <a:t>Les Bois-Francs</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18,3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EA84"/>
                    </a:solidFill>
                  </a:tcPr>
                </a:tc>
                <a:tc>
                  <a:txBody>
                    <a:bodyPr/>
                    <a:lstStyle/>
                    <a:p>
                      <a:pPr algn="r" fontAlgn="b">
                        <a:buNone/>
                      </a:pPr>
                      <a:r>
                        <a:rPr lang="fr-FR" sz="1000" b="1" i="0" u="none" strike="noStrike">
                          <a:solidFill>
                            <a:srgbClr val="000000"/>
                          </a:solidFill>
                          <a:effectLst/>
                          <a:latin typeface="Aptos Narrow" panose="020B0004020202020204" pitchFamily="34" charset="0"/>
                        </a:rPr>
                        <a:t>8,0</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977"/>
                    </a:solidFill>
                  </a:tcPr>
                </a:tc>
                <a:tc>
                  <a:txBody>
                    <a:bodyPr/>
                    <a:lstStyle/>
                    <a:p>
                      <a:pPr algn="r" fontAlgn="b">
                        <a:buNone/>
                      </a:pPr>
                      <a:r>
                        <a:rPr lang="fr-FR" sz="1000" b="1" i="0" u="none" strike="noStrike">
                          <a:solidFill>
                            <a:srgbClr val="00B050"/>
                          </a:solidFill>
                          <a:effectLst/>
                          <a:latin typeface="Aptos Narrow" panose="020B0004020202020204" pitchFamily="34" charset="0"/>
                        </a:rPr>
                        <a:t>10,3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03372646"/>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Comfort cottage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18,4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E984"/>
                    </a:solidFill>
                  </a:tcPr>
                </a:tc>
                <a:tc>
                  <a:txBody>
                    <a:bodyPr/>
                    <a:lstStyle/>
                    <a:p>
                      <a:pPr algn="r" fontAlgn="b">
                        <a:buNone/>
                      </a:pPr>
                      <a:r>
                        <a:rPr lang="fr-FR" sz="1000" b="0" i="0" u="none" strike="noStrike">
                          <a:solidFill>
                            <a:srgbClr val="000000"/>
                          </a:solidFill>
                          <a:effectLst/>
                          <a:latin typeface="Aptos Narrow" panose="020B0004020202020204" pitchFamily="34" charset="0"/>
                        </a:rPr>
                        <a:t>5,6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874"/>
                    </a:solidFill>
                  </a:tcPr>
                </a:tc>
                <a:tc>
                  <a:txBody>
                    <a:bodyPr/>
                    <a:lstStyle/>
                    <a:p>
                      <a:pPr algn="r" fontAlgn="b">
                        <a:buNone/>
                      </a:pPr>
                      <a:r>
                        <a:rPr lang="fr-FR" sz="1000" b="0" i="0" u="none" strike="noStrike">
                          <a:solidFill>
                            <a:srgbClr val="00B050"/>
                          </a:solidFill>
                          <a:effectLst/>
                          <a:latin typeface="Aptos Narrow" panose="020B0004020202020204" pitchFamily="34" charset="0"/>
                        </a:rPr>
                        <a:t>12,8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27284227"/>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Premium Hotel</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42,2</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9CE7F"/>
                    </a:solidFill>
                  </a:tcPr>
                </a:tc>
                <a:tc>
                  <a:txBody>
                    <a:bodyPr/>
                    <a:lstStyle/>
                    <a:p>
                      <a:pPr algn="r" fontAlgn="b">
                        <a:buNone/>
                      </a:pPr>
                      <a:r>
                        <a:rPr lang="fr-FR" sz="1000" b="0" i="0" u="none" strike="noStrike">
                          <a:solidFill>
                            <a:srgbClr val="000000"/>
                          </a:solidFill>
                          <a:effectLst/>
                          <a:latin typeface="Aptos Narrow" panose="020B0004020202020204" pitchFamily="34" charset="0"/>
                        </a:rPr>
                        <a:t>29,3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DDD82"/>
                    </a:solidFill>
                  </a:tcPr>
                </a:tc>
                <a:tc>
                  <a:txBody>
                    <a:bodyPr/>
                    <a:lstStyle/>
                    <a:p>
                      <a:pPr algn="r" fontAlgn="b">
                        <a:buNone/>
                      </a:pPr>
                      <a:r>
                        <a:rPr lang="fr-FR" sz="1000" b="0" i="0" u="none" strike="noStrike">
                          <a:solidFill>
                            <a:srgbClr val="00B050"/>
                          </a:solidFill>
                          <a:effectLst/>
                          <a:latin typeface="Aptos Narrow" panose="020B0004020202020204" pitchFamily="34" charset="0"/>
                        </a:rPr>
                        <a:t>12,9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77812250"/>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Premium cottage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15,4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282"/>
                    </a:solidFill>
                  </a:tcPr>
                </a:tc>
                <a:tc>
                  <a:txBody>
                    <a:bodyPr/>
                    <a:lstStyle/>
                    <a:p>
                      <a:pPr algn="r" fontAlgn="b">
                        <a:buNone/>
                      </a:pPr>
                      <a:r>
                        <a:rPr lang="fr-FR" sz="1000" b="0" i="0" u="none" strike="noStrike">
                          <a:solidFill>
                            <a:srgbClr val="000000"/>
                          </a:solidFill>
                          <a:effectLst/>
                          <a:latin typeface="Aptos Narrow" panose="020B0004020202020204" pitchFamily="34" charset="0"/>
                        </a:rPr>
                        <a:t>8,6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E78"/>
                    </a:solidFill>
                  </a:tcPr>
                </a:tc>
                <a:tc>
                  <a:txBody>
                    <a:bodyPr/>
                    <a:lstStyle/>
                    <a:p>
                      <a:pPr algn="r" fontAlgn="b">
                        <a:buNone/>
                      </a:pPr>
                      <a:r>
                        <a:rPr lang="fr-FR" sz="1000" b="0" i="0" u="none" strike="noStrike">
                          <a:solidFill>
                            <a:srgbClr val="00B050"/>
                          </a:solidFill>
                          <a:effectLst/>
                          <a:latin typeface="Aptos Narrow" panose="020B0004020202020204" pitchFamily="34" charset="0"/>
                        </a:rPr>
                        <a:t>6,8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80456972"/>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VIP cottage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13,5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37F"/>
                    </a:solidFill>
                  </a:tcPr>
                </a:tc>
                <a:tc>
                  <a:txBody>
                    <a:bodyPr/>
                    <a:lstStyle/>
                    <a:p>
                      <a:pPr algn="r" fontAlgn="b">
                        <a:buNone/>
                      </a:pPr>
                      <a:r>
                        <a:rPr lang="fr-FR" sz="1000" b="0" i="0" u="none" strike="noStrike">
                          <a:solidFill>
                            <a:srgbClr val="000000"/>
                          </a:solidFill>
                          <a:effectLst/>
                          <a:latin typeface="Aptos Narrow" panose="020B0004020202020204" pitchFamily="34" charset="0"/>
                        </a:rPr>
                        <a:t>-0,6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696B"/>
                    </a:solidFill>
                  </a:tcPr>
                </a:tc>
                <a:tc>
                  <a:txBody>
                    <a:bodyPr/>
                    <a:lstStyle/>
                    <a:p>
                      <a:pPr algn="r" fontAlgn="b">
                        <a:buNone/>
                      </a:pPr>
                      <a:r>
                        <a:rPr lang="fr-FR" sz="1000" b="0" i="0" u="none" strike="noStrike">
                          <a:solidFill>
                            <a:srgbClr val="00B050"/>
                          </a:solidFill>
                          <a:effectLst/>
                          <a:latin typeface="Aptos Narrow" panose="020B0004020202020204" pitchFamily="34" charset="0"/>
                        </a:rPr>
                        <a:t>14,1</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7781210"/>
                  </a:ext>
                </a:extLst>
              </a:tr>
            </a:tbl>
          </a:graphicData>
        </a:graphic>
      </p:graphicFrame>
      <p:graphicFrame>
        <p:nvGraphicFramePr>
          <p:cNvPr id="10" name="Table 9">
            <a:extLst>
              <a:ext uri="{FF2B5EF4-FFF2-40B4-BE49-F238E27FC236}">
                <a16:creationId xmlns:a16="http://schemas.microsoft.com/office/drawing/2014/main" id="{50896E40-4C3F-A4B6-2DAF-05E67D72275F}"/>
              </a:ext>
            </a:extLst>
          </p:cNvPr>
          <p:cNvGraphicFramePr>
            <a:graphicFrameLocks noGrp="1"/>
          </p:cNvGraphicFramePr>
          <p:nvPr>
            <p:extLst>
              <p:ext uri="{D42A27DB-BD31-4B8C-83A1-F6EECF244321}">
                <p14:modId xmlns:p14="http://schemas.microsoft.com/office/powerpoint/2010/main" val="359664583"/>
              </p:ext>
            </p:extLst>
          </p:nvPr>
        </p:nvGraphicFramePr>
        <p:xfrm>
          <a:off x="2783574" y="3080106"/>
          <a:ext cx="2583997" cy="1714779"/>
        </p:xfrm>
        <a:graphic>
          <a:graphicData uri="http://schemas.openxmlformats.org/drawingml/2006/table">
            <a:tbl>
              <a:tblPr/>
              <a:tblGrid>
                <a:gridCol w="1502323">
                  <a:extLst>
                    <a:ext uri="{9D8B030D-6E8A-4147-A177-3AD203B41FA5}">
                      <a16:colId xmlns:a16="http://schemas.microsoft.com/office/drawing/2014/main" val="2492456549"/>
                    </a:ext>
                  </a:extLst>
                </a:gridCol>
                <a:gridCol w="360558">
                  <a:extLst>
                    <a:ext uri="{9D8B030D-6E8A-4147-A177-3AD203B41FA5}">
                      <a16:colId xmlns:a16="http://schemas.microsoft.com/office/drawing/2014/main" val="2167485397"/>
                    </a:ext>
                  </a:extLst>
                </a:gridCol>
                <a:gridCol w="360558">
                  <a:extLst>
                    <a:ext uri="{9D8B030D-6E8A-4147-A177-3AD203B41FA5}">
                      <a16:colId xmlns:a16="http://schemas.microsoft.com/office/drawing/2014/main" val="3848016897"/>
                    </a:ext>
                  </a:extLst>
                </a:gridCol>
                <a:gridCol w="360558">
                  <a:extLst>
                    <a:ext uri="{9D8B030D-6E8A-4147-A177-3AD203B41FA5}">
                      <a16:colId xmlns:a16="http://schemas.microsoft.com/office/drawing/2014/main" val="3427799043"/>
                    </a:ext>
                  </a:extLst>
                </a:gridCol>
              </a:tblGrid>
              <a:tr h="101194">
                <a:tc>
                  <a:txBody>
                    <a:bodyPr/>
                    <a:lstStyle/>
                    <a:p>
                      <a:pPr algn="l" fontAlgn="b">
                        <a:buNone/>
                      </a:pPr>
                      <a:endParaRPr lang="fr-FR" sz="1000" b="0" i="0" u="none" strike="noStrike">
                        <a:solidFill>
                          <a:srgbClr val="000000"/>
                        </a:solidFill>
                        <a:effectLst/>
                        <a:latin typeface="Aptos Narrow" panose="020B0004020202020204" pitchFamily="34" charset="0"/>
                      </a:endParaRP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Evol </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45864638"/>
                  </a:ext>
                </a:extLst>
              </a:tr>
              <a:tr h="101194">
                <a:tc>
                  <a:txBody>
                    <a:bodyPr/>
                    <a:lstStyle/>
                    <a:p>
                      <a:pPr algn="l" fontAlgn="b">
                        <a:buNone/>
                      </a:pPr>
                      <a:r>
                        <a:rPr lang="fr-FR" sz="1000" b="1" i="0" u="none" strike="noStrike">
                          <a:solidFill>
                            <a:srgbClr val="000000"/>
                          </a:solidFill>
                          <a:effectLst/>
                          <a:latin typeface="Aptos Narrow" panose="020B0004020202020204" pitchFamily="34" charset="0"/>
                        </a:rPr>
                        <a:t>Les Hauts de Bruyères</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15,2</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081"/>
                    </a:solidFill>
                  </a:tcPr>
                </a:tc>
                <a:tc>
                  <a:txBody>
                    <a:bodyPr/>
                    <a:lstStyle/>
                    <a:p>
                      <a:pPr algn="r" fontAlgn="b">
                        <a:buNone/>
                      </a:pPr>
                      <a:r>
                        <a:rPr lang="fr-FR" sz="1000" b="1" i="0" u="none" strike="noStrike">
                          <a:solidFill>
                            <a:srgbClr val="000000"/>
                          </a:solidFill>
                          <a:effectLst/>
                          <a:latin typeface="Aptos Narrow" panose="020B0004020202020204" pitchFamily="34" charset="0"/>
                        </a:rPr>
                        <a:t>9,0</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B178"/>
                    </a:solidFill>
                  </a:tcPr>
                </a:tc>
                <a:tc>
                  <a:txBody>
                    <a:bodyPr/>
                    <a:lstStyle/>
                    <a:p>
                      <a:pPr algn="r" fontAlgn="b">
                        <a:buNone/>
                      </a:pPr>
                      <a:r>
                        <a:rPr lang="fr-FR" sz="1000" b="1" i="0" u="none" strike="noStrike">
                          <a:solidFill>
                            <a:srgbClr val="00B050"/>
                          </a:solidFill>
                          <a:effectLst/>
                          <a:latin typeface="Aptos Narrow" panose="020B0004020202020204" pitchFamily="34" charset="0"/>
                        </a:rPr>
                        <a:t>6,2</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94762533"/>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Comfort cottage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18,2</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9EA84"/>
                    </a:solidFill>
                  </a:tcPr>
                </a:tc>
                <a:tc>
                  <a:txBody>
                    <a:bodyPr/>
                    <a:lstStyle/>
                    <a:p>
                      <a:pPr algn="r" fontAlgn="b">
                        <a:buNone/>
                      </a:pPr>
                      <a:r>
                        <a:rPr lang="fr-FR" sz="1000" b="0" i="0" u="none" strike="noStrike">
                          <a:solidFill>
                            <a:srgbClr val="000000"/>
                          </a:solidFill>
                          <a:effectLst/>
                          <a:latin typeface="Aptos Narrow" panose="020B0004020202020204" pitchFamily="34" charset="0"/>
                        </a:rPr>
                        <a:t>9,6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CB679"/>
                    </a:solidFill>
                  </a:tcPr>
                </a:tc>
                <a:tc>
                  <a:txBody>
                    <a:bodyPr/>
                    <a:lstStyle/>
                    <a:p>
                      <a:pPr algn="r" fontAlgn="b">
                        <a:buNone/>
                      </a:pPr>
                      <a:r>
                        <a:rPr lang="fr-FR" sz="1000" b="0" i="0" u="none" strike="noStrike">
                          <a:solidFill>
                            <a:srgbClr val="00B050"/>
                          </a:solidFill>
                          <a:effectLst/>
                          <a:latin typeface="Aptos Narrow" panose="020B0004020202020204" pitchFamily="34" charset="0"/>
                        </a:rPr>
                        <a:t>8,6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48581919"/>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Exclusive Cottages</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29,8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BDC81"/>
                    </a:solidFill>
                  </a:tcPr>
                </a:tc>
                <a:tc>
                  <a:txBody>
                    <a:bodyPr/>
                    <a:lstStyle/>
                    <a:p>
                      <a:pPr algn="r" fontAlgn="b">
                        <a:buNone/>
                      </a:pPr>
                      <a:r>
                        <a:rPr lang="fr-FR" sz="1000" b="0" i="0" u="none" strike="noStrike">
                          <a:solidFill>
                            <a:srgbClr val="000000"/>
                          </a:solidFill>
                          <a:effectLst/>
                          <a:latin typeface="Aptos Narrow" panose="020B0004020202020204" pitchFamily="34" charset="0"/>
                        </a:rPr>
                        <a:t>7,1</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376"/>
                    </a:solidFill>
                  </a:tcPr>
                </a:tc>
                <a:tc>
                  <a:txBody>
                    <a:bodyPr/>
                    <a:lstStyle/>
                    <a:p>
                      <a:pPr algn="r" fontAlgn="b">
                        <a:buNone/>
                      </a:pPr>
                      <a:r>
                        <a:rPr lang="fr-FR" sz="1000" b="0" i="0" u="none" strike="noStrike">
                          <a:solidFill>
                            <a:srgbClr val="00B050"/>
                          </a:solidFill>
                          <a:effectLst/>
                          <a:latin typeface="Aptos Narrow" panose="020B0004020202020204" pitchFamily="34" charset="0"/>
                        </a:rPr>
                        <a:t>22,6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63582074"/>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Premium cottage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11,8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67C"/>
                    </a:solidFill>
                  </a:tcPr>
                </a:tc>
                <a:tc>
                  <a:txBody>
                    <a:bodyPr/>
                    <a:lstStyle/>
                    <a:p>
                      <a:pPr algn="r" fontAlgn="b">
                        <a:buNone/>
                      </a:pPr>
                      <a:r>
                        <a:rPr lang="fr-FR" sz="1000" b="0" i="0" u="none" strike="noStrike">
                          <a:solidFill>
                            <a:srgbClr val="000000"/>
                          </a:solidFill>
                          <a:effectLst/>
                          <a:latin typeface="Aptos Narrow" panose="020B0004020202020204" pitchFamily="34" charset="0"/>
                        </a:rPr>
                        <a:t>6,7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A075"/>
                    </a:solidFill>
                  </a:tcPr>
                </a:tc>
                <a:tc>
                  <a:txBody>
                    <a:bodyPr/>
                    <a:lstStyle/>
                    <a:p>
                      <a:pPr algn="r" fontAlgn="b">
                        <a:buNone/>
                      </a:pPr>
                      <a:r>
                        <a:rPr lang="fr-FR" sz="1000" b="0" i="0" u="none" strike="noStrike">
                          <a:solidFill>
                            <a:srgbClr val="00B050"/>
                          </a:solidFill>
                          <a:effectLst/>
                          <a:latin typeface="Aptos Narrow" panose="020B0004020202020204" pitchFamily="34" charset="0"/>
                        </a:rPr>
                        <a:t>5,1</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15470411"/>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Themed Cottages</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19,4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4E884"/>
                    </a:solidFill>
                  </a:tcPr>
                </a:tc>
                <a:tc>
                  <a:txBody>
                    <a:bodyPr/>
                    <a:lstStyle/>
                    <a:p>
                      <a:pPr algn="r" fontAlgn="b">
                        <a:buNone/>
                      </a:pPr>
                      <a:r>
                        <a:rPr lang="fr-FR" sz="1000" b="0" i="0" u="none" strike="noStrike">
                          <a:solidFill>
                            <a:srgbClr val="000000"/>
                          </a:solidFill>
                          <a:effectLst/>
                          <a:latin typeface="Aptos Narrow" panose="020B0004020202020204" pitchFamily="34" charset="0"/>
                        </a:rPr>
                        <a:t>11,9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77D"/>
                    </a:solidFill>
                  </a:tcPr>
                </a:tc>
                <a:tc>
                  <a:txBody>
                    <a:bodyPr/>
                    <a:lstStyle/>
                    <a:p>
                      <a:pPr algn="r" fontAlgn="b">
                        <a:buNone/>
                      </a:pPr>
                      <a:r>
                        <a:rPr lang="fr-FR" sz="1000" b="0" i="0" u="none" strike="noStrike">
                          <a:solidFill>
                            <a:srgbClr val="00B050"/>
                          </a:solidFill>
                          <a:effectLst/>
                          <a:latin typeface="Aptos Narrow" panose="020B0004020202020204" pitchFamily="34" charset="0"/>
                        </a:rPr>
                        <a:t>7,5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78768697"/>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VIP cottage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14,9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DD81"/>
                    </a:solidFill>
                  </a:tcPr>
                </a:tc>
                <a:tc>
                  <a:txBody>
                    <a:bodyPr/>
                    <a:lstStyle/>
                    <a:p>
                      <a:pPr algn="r" fontAlgn="b">
                        <a:buNone/>
                      </a:pPr>
                      <a:r>
                        <a:rPr lang="fr-FR" sz="1000" b="0" i="0" u="none" strike="noStrike">
                          <a:solidFill>
                            <a:srgbClr val="000000"/>
                          </a:solidFill>
                          <a:effectLst/>
                          <a:latin typeface="Aptos Narrow" panose="020B0004020202020204" pitchFamily="34" charset="0"/>
                        </a:rPr>
                        <a:t>13,9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D680"/>
                    </a:solidFill>
                  </a:tcPr>
                </a:tc>
                <a:tc>
                  <a:txBody>
                    <a:bodyPr/>
                    <a:lstStyle/>
                    <a:p>
                      <a:pPr algn="r" fontAlgn="b">
                        <a:buNone/>
                      </a:pPr>
                      <a:r>
                        <a:rPr lang="fr-FR" sz="1000" b="0" i="0" u="none" strike="noStrike">
                          <a:solidFill>
                            <a:srgbClr val="00B050"/>
                          </a:solidFill>
                          <a:effectLst/>
                          <a:latin typeface="Aptos Narrow" panose="020B0004020202020204" pitchFamily="34" charset="0"/>
                        </a:rPr>
                        <a:t>0,9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42032338"/>
                  </a:ext>
                </a:extLst>
              </a:tr>
              <a:tr h="101194">
                <a:tc>
                  <a:txBody>
                    <a:bodyPr/>
                    <a:lstStyle/>
                    <a:p>
                      <a:pPr algn="l" fontAlgn="b">
                        <a:buNone/>
                      </a:pPr>
                      <a:r>
                        <a:rPr lang="fr-FR" sz="1000" b="1" i="0" u="none" strike="noStrike">
                          <a:solidFill>
                            <a:srgbClr val="000000"/>
                          </a:solidFill>
                          <a:effectLst/>
                          <a:latin typeface="Aptos Narrow" panose="020B0004020202020204" pitchFamily="34" charset="0"/>
                        </a:rPr>
                        <a:t>Les Landes de Gascogne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48,5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0C77D"/>
                    </a:solidFill>
                  </a:tcPr>
                </a:tc>
                <a:tc>
                  <a:txBody>
                    <a:bodyPr/>
                    <a:lstStyle/>
                    <a:p>
                      <a:pPr algn="r" fontAlgn="b">
                        <a:buNone/>
                      </a:pPr>
                      <a:r>
                        <a:rPr lang="fr-FR" sz="1000" b="1" i="0" u="none" strike="noStrike">
                          <a:solidFill>
                            <a:srgbClr val="000000"/>
                          </a:solidFill>
                          <a:effectLst/>
                          <a:latin typeface="Aptos Narrow" panose="020B0004020202020204" pitchFamily="34" charset="0"/>
                        </a:rPr>
                        <a:t>41,1</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ECF7F"/>
                    </a:solidFill>
                  </a:tcPr>
                </a:tc>
                <a:tc>
                  <a:txBody>
                    <a:bodyPr/>
                    <a:lstStyle/>
                    <a:p>
                      <a:pPr algn="r" fontAlgn="b">
                        <a:buNone/>
                      </a:pPr>
                      <a:r>
                        <a:rPr lang="fr-FR" sz="1000" b="1" i="0" u="none" strike="noStrike">
                          <a:solidFill>
                            <a:srgbClr val="00B050"/>
                          </a:solidFill>
                          <a:effectLst/>
                          <a:latin typeface="Aptos Narrow" panose="020B0004020202020204" pitchFamily="34" charset="0"/>
                        </a:rPr>
                        <a:t>7,4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18354570"/>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Comfort cottage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48,6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FC77D"/>
                    </a:solidFill>
                  </a:tcPr>
                </a:tc>
                <a:tc>
                  <a:txBody>
                    <a:bodyPr/>
                    <a:lstStyle/>
                    <a:p>
                      <a:pPr algn="r" fontAlgn="b">
                        <a:buNone/>
                      </a:pPr>
                      <a:r>
                        <a:rPr lang="fr-FR" sz="1000" b="0" i="0" u="none" strike="noStrike">
                          <a:solidFill>
                            <a:srgbClr val="000000"/>
                          </a:solidFill>
                          <a:effectLst/>
                          <a:latin typeface="Aptos Narrow" panose="020B0004020202020204" pitchFamily="34" charset="0"/>
                        </a:rPr>
                        <a:t>41,7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BCF7F"/>
                    </a:solidFill>
                  </a:tcPr>
                </a:tc>
                <a:tc>
                  <a:txBody>
                    <a:bodyPr/>
                    <a:lstStyle/>
                    <a:p>
                      <a:pPr algn="r" fontAlgn="b">
                        <a:buNone/>
                      </a:pPr>
                      <a:r>
                        <a:rPr lang="fr-FR" sz="1000" b="0" i="0" u="none" strike="noStrike">
                          <a:solidFill>
                            <a:srgbClr val="00B050"/>
                          </a:solidFill>
                          <a:effectLst/>
                          <a:latin typeface="Aptos Narrow" panose="020B0004020202020204" pitchFamily="34" charset="0"/>
                        </a:rPr>
                        <a:t>6,9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21105287"/>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a:t>
                      </a:r>
                      <a:r>
                        <a:rPr lang="fr-FR" sz="1000" b="0" i="0" u="none" strike="noStrike" err="1">
                          <a:solidFill>
                            <a:srgbClr val="000000"/>
                          </a:solidFill>
                          <a:effectLst/>
                          <a:latin typeface="Aptos Narrow" panose="020B0004020202020204" pitchFamily="34" charset="0"/>
                        </a:rPr>
                        <a:t>Treehouse</a:t>
                      </a:r>
                      <a:r>
                        <a:rPr lang="fr-FR" sz="1000" b="0" i="0" u="none" strike="noStrike">
                          <a:solidFill>
                            <a:srgbClr val="000000"/>
                          </a:solidFill>
                          <a:effectLst/>
                          <a:latin typeface="Aptos Narrow" panose="020B0004020202020204" pitchFamily="34" charset="0"/>
                        </a:rPr>
                        <a:t> Cottages</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55,6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tc>
                  <a:txBody>
                    <a:bodyPr/>
                    <a:lstStyle/>
                    <a:p>
                      <a:pPr algn="r" fontAlgn="b">
                        <a:buNone/>
                      </a:pPr>
                      <a:r>
                        <a:rPr lang="fr-FR" sz="1000" b="0" i="0" u="none" strike="noStrike">
                          <a:solidFill>
                            <a:srgbClr val="000000"/>
                          </a:solidFill>
                          <a:effectLst/>
                          <a:latin typeface="Aptos Narrow" panose="020B0004020202020204" pitchFamily="34" charset="0"/>
                        </a:rPr>
                        <a:t>49,2</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7DC67D"/>
                    </a:solidFill>
                  </a:tcPr>
                </a:tc>
                <a:tc>
                  <a:txBody>
                    <a:bodyPr/>
                    <a:lstStyle/>
                    <a:p>
                      <a:pPr algn="r" fontAlgn="b">
                        <a:buNone/>
                      </a:pPr>
                      <a:r>
                        <a:rPr lang="fr-FR" sz="1000" b="0" i="0" u="none" strike="noStrike">
                          <a:solidFill>
                            <a:srgbClr val="00B050"/>
                          </a:solidFill>
                          <a:effectLst/>
                          <a:latin typeface="Aptos Narrow" panose="020B0004020202020204" pitchFamily="34" charset="0"/>
                        </a:rPr>
                        <a:t>6,4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6752568"/>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VIP cottage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47,3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5C87D"/>
                    </a:solidFill>
                  </a:tcPr>
                </a:tc>
                <a:tc>
                  <a:txBody>
                    <a:bodyPr/>
                    <a:lstStyle/>
                    <a:p>
                      <a:pPr algn="r" fontAlgn="b">
                        <a:buNone/>
                      </a:pPr>
                      <a:r>
                        <a:rPr lang="fr-FR" sz="1000" b="0" i="0" u="none" strike="noStrike">
                          <a:solidFill>
                            <a:srgbClr val="000000"/>
                          </a:solidFill>
                          <a:effectLst/>
                          <a:latin typeface="Aptos Narrow" panose="020B0004020202020204" pitchFamily="34" charset="0"/>
                        </a:rPr>
                        <a:t>39,1</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5D27F"/>
                    </a:solidFill>
                  </a:tcPr>
                </a:tc>
                <a:tc>
                  <a:txBody>
                    <a:bodyPr/>
                    <a:lstStyle/>
                    <a:p>
                      <a:pPr algn="r" fontAlgn="b">
                        <a:buNone/>
                      </a:pPr>
                      <a:r>
                        <a:rPr lang="fr-FR" sz="1000" b="0" i="0" u="none" strike="noStrike">
                          <a:solidFill>
                            <a:srgbClr val="00B050"/>
                          </a:solidFill>
                          <a:effectLst/>
                          <a:latin typeface="Aptos Narrow" panose="020B0004020202020204" pitchFamily="34" charset="0"/>
                        </a:rPr>
                        <a:t>8,1</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59217611"/>
                  </a:ext>
                </a:extLst>
              </a:tr>
            </a:tbl>
          </a:graphicData>
        </a:graphic>
      </p:graphicFrame>
      <p:graphicFrame>
        <p:nvGraphicFramePr>
          <p:cNvPr id="11" name="Table 10">
            <a:extLst>
              <a:ext uri="{FF2B5EF4-FFF2-40B4-BE49-F238E27FC236}">
                <a16:creationId xmlns:a16="http://schemas.microsoft.com/office/drawing/2014/main" id="{2770B85D-6929-554E-967F-05581068C65D}"/>
              </a:ext>
            </a:extLst>
          </p:cNvPr>
          <p:cNvGraphicFramePr>
            <a:graphicFrameLocks noGrp="1"/>
          </p:cNvGraphicFramePr>
          <p:nvPr>
            <p:extLst>
              <p:ext uri="{D42A27DB-BD31-4B8C-83A1-F6EECF244321}">
                <p14:modId xmlns:p14="http://schemas.microsoft.com/office/powerpoint/2010/main" val="404905149"/>
              </p:ext>
            </p:extLst>
          </p:nvPr>
        </p:nvGraphicFramePr>
        <p:xfrm>
          <a:off x="5521288" y="3072655"/>
          <a:ext cx="2744310" cy="2494224"/>
        </p:xfrm>
        <a:graphic>
          <a:graphicData uri="http://schemas.openxmlformats.org/drawingml/2006/table">
            <a:tbl>
              <a:tblPr/>
              <a:tblGrid>
                <a:gridCol w="1595529">
                  <a:extLst>
                    <a:ext uri="{9D8B030D-6E8A-4147-A177-3AD203B41FA5}">
                      <a16:colId xmlns:a16="http://schemas.microsoft.com/office/drawing/2014/main" val="775312720"/>
                    </a:ext>
                  </a:extLst>
                </a:gridCol>
                <a:gridCol w="382927">
                  <a:extLst>
                    <a:ext uri="{9D8B030D-6E8A-4147-A177-3AD203B41FA5}">
                      <a16:colId xmlns:a16="http://schemas.microsoft.com/office/drawing/2014/main" val="1304252203"/>
                    </a:ext>
                  </a:extLst>
                </a:gridCol>
                <a:gridCol w="382927">
                  <a:extLst>
                    <a:ext uri="{9D8B030D-6E8A-4147-A177-3AD203B41FA5}">
                      <a16:colId xmlns:a16="http://schemas.microsoft.com/office/drawing/2014/main" val="3293643654"/>
                    </a:ext>
                  </a:extLst>
                </a:gridCol>
                <a:gridCol w="382927">
                  <a:extLst>
                    <a:ext uri="{9D8B030D-6E8A-4147-A177-3AD203B41FA5}">
                      <a16:colId xmlns:a16="http://schemas.microsoft.com/office/drawing/2014/main" val="2098176849"/>
                    </a:ext>
                  </a:extLst>
                </a:gridCol>
              </a:tblGrid>
              <a:tr h="101194">
                <a:tc>
                  <a:txBody>
                    <a:bodyPr/>
                    <a:lstStyle/>
                    <a:p>
                      <a:pPr algn="l" fontAlgn="b">
                        <a:buNone/>
                      </a:pPr>
                      <a:endParaRPr lang="fr-FR" sz="1000" b="0" i="0" u="none" strike="noStrike">
                        <a:solidFill>
                          <a:srgbClr val="000000"/>
                        </a:solidFill>
                        <a:effectLst/>
                        <a:latin typeface="Aptos Narrow" panose="020B0004020202020204" pitchFamily="34" charset="0"/>
                      </a:endParaRP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FY25</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FY24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
                        <a:buNone/>
                      </a:pPr>
                      <a:r>
                        <a:rPr lang="fr-FR" sz="1000" b="1" i="0" u="none" strike="noStrike">
                          <a:solidFill>
                            <a:srgbClr val="000000"/>
                          </a:solidFill>
                          <a:effectLst/>
                          <a:latin typeface="Aptos Narrow" panose="020B0004020202020204" pitchFamily="34" charset="0"/>
                        </a:rPr>
                        <a:t>Evol </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42136448"/>
                  </a:ext>
                </a:extLst>
              </a:tr>
              <a:tr h="101194">
                <a:tc>
                  <a:txBody>
                    <a:bodyPr/>
                    <a:lstStyle/>
                    <a:p>
                      <a:pPr algn="l" fontAlgn="b">
                        <a:buNone/>
                      </a:pPr>
                      <a:r>
                        <a:rPr lang="fr-FR" sz="1000" b="1" i="0" u="none" strike="noStrike">
                          <a:solidFill>
                            <a:srgbClr val="000000"/>
                          </a:solidFill>
                          <a:effectLst/>
                          <a:latin typeface="Aptos Narrow" panose="020B0004020202020204" pitchFamily="34" charset="0"/>
                        </a:rPr>
                        <a:t>Les Trois Forêts</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27,2</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5DF82"/>
                    </a:solidFill>
                  </a:tcPr>
                </a:tc>
                <a:tc>
                  <a:txBody>
                    <a:bodyPr/>
                    <a:lstStyle/>
                    <a:p>
                      <a:pPr algn="r" fontAlgn="b">
                        <a:buNone/>
                      </a:pPr>
                      <a:r>
                        <a:rPr lang="fr-FR" sz="1000" b="1" i="0" u="none" strike="noStrike">
                          <a:solidFill>
                            <a:srgbClr val="000000"/>
                          </a:solidFill>
                          <a:effectLst/>
                          <a:latin typeface="Aptos Narrow" panose="020B0004020202020204" pitchFamily="34" charset="0"/>
                        </a:rPr>
                        <a:t>18,9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6E984"/>
                    </a:solidFill>
                  </a:tcPr>
                </a:tc>
                <a:tc>
                  <a:txBody>
                    <a:bodyPr/>
                    <a:lstStyle/>
                    <a:p>
                      <a:pPr algn="r" fontAlgn="b">
                        <a:buNone/>
                      </a:pPr>
                      <a:r>
                        <a:rPr lang="fr-FR" sz="1000" b="1" i="0" u="none" strike="noStrike">
                          <a:solidFill>
                            <a:srgbClr val="00B050"/>
                          </a:solidFill>
                          <a:effectLst/>
                          <a:latin typeface="Aptos Narrow" panose="020B0004020202020204" pitchFamily="34" charset="0"/>
                        </a:rPr>
                        <a:t>8,3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30410245"/>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Comfort cottage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23,3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5E483"/>
                    </a:solidFill>
                  </a:tcPr>
                </a:tc>
                <a:tc>
                  <a:txBody>
                    <a:bodyPr/>
                    <a:lstStyle/>
                    <a:p>
                      <a:pPr algn="r" fontAlgn="b">
                        <a:buNone/>
                      </a:pPr>
                      <a:r>
                        <a:rPr lang="fr-FR" sz="1000" b="0" i="0" u="none" strike="noStrike">
                          <a:solidFill>
                            <a:srgbClr val="000000"/>
                          </a:solidFill>
                          <a:effectLst/>
                          <a:latin typeface="Aptos Narrow" panose="020B0004020202020204" pitchFamily="34" charset="0"/>
                        </a:rPr>
                        <a:t>16,6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EEA83"/>
                    </a:solidFill>
                  </a:tcPr>
                </a:tc>
                <a:tc>
                  <a:txBody>
                    <a:bodyPr/>
                    <a:lstStyle/>
                    <a:p>
                      <a:pPr algn="r" fontAlgn="b">
                        <a:buNone/>
                      </a:pPr>
                      <a:r>
                        <a:rPr lang="fr-FR" sz="1000" b="0" i="0" u="none" strike="noStrike">
                          <a:solidFill>
                            <a:srgbClr val="00B050"/>
                          </a:solidFill>
                          <a:effectLst/>
                          <a:latin typeface="Aptos Narrow" panose="020B0004020202020204" pitchFamily="34" charset="0"/>
                        </a:rPr>
                        <a:t>6,8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82804295"/>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Eden Comfort cottage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25,3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DE182"/>
                    </a:solidFill>
                  </a:tcPr>
                </a:tc>
                <a:tc>
                  <a:txBody>
                    <a:bodyPr/>
                    <a:lstStyle/>
                    <a:p>
                      <a:pPr algn="r" fontAlgn="b">
                        <a:buNone/>
                      </a:pPr>
                      <a:r>
                        <a:rPr lang="fr-FR" sz="1000" b="0" i="0" u="none" strike="noStrike">
                          <a:solidFill>
                            <a:srgbClr val="000000"/>
                          </a:solidFill>
                          <a:effectLst/>
                          <a:latin typeface="Aptos Narrow" panose="020B0004020202020204" pitchFamily="34" charset="0"/>
                        </a:rPr>
                        <a:t>8,6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E78"/>
                    </a:solidFill>
                  </a:tcPr>
                </a:tc>
                <a:tc>
                  <a:txBody>
                    <a:bodyPr/>
                    <a:lstStyle/>
                    <a:p>
                      <a:pPr algn="r" fontAlgn="b">
                        <a:buNone/>
                      </a:pPr>
                      <a:r>
                        <a:rPr lang="fr-FR" sz="1000" b="0" i="0" u="none" strike="noStrike">
                          <a:solidFill>
                            <a:srgbClr val="00B050"/>
                          </a:solidFill>
                          <a:effectLst/>
                          <a:latin typeface="Aptos Narrow" panose="020B0004020202020204" pitchFamily="34" charset="0"/>
                        </a:rPr>
                        <a:t>16,8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19059870"/>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Eden Premium cottage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30,4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C9DC81"/>
                    </a:solidFill>
                  </a:tcPr>
                </a:tc>
                <a:tc>
                  <a:txBody>
                    <a:bodyPr/>
                    <a:lstStyle/>
                    <a:p>
                      <a:pPr algn="r" fontAlgn="b">
                        <a:buNone/>
                      </a:pPr>
                      <a:r>
                        <a:rPr lang="fr-FR" sz="1000" b="0" i="0" u="none" strike="noStrike">
                          <a:solidFill>
                            <a:srgbClr val="000000"/>
                          </a:solidFill>
                          <a:effectLst/>
                          <a:latin typeface="Aptos Narrow" panose="020B0004020202020204" pitchFamily="34" charset="0"/>
                        </a:rPr>
                        <a:t>23,1</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6E483"/>
                    </a:solidFill>
                  </a:tcPr>
                </a:tc>
                <a:tc>
                  <a:txBody>
                    <a:bodyPr/>
                    <a:lstStyle/>
                    <a:p>
                      <a:pPr algn="r" fontAlgn="b">
                        <a:buNone/>
                      </a:pPr>
                      <a:r>
                        <a:rPr lang="fr-FR" sz="1000" b="0" i="0" u="none" strike="noStrike">
                          <a:solidFill>
                            <a:srgbClr val="00B050"/>
                          </a:solidFill>
                          <a:effectLst/>
                          <a:latin typeface="Aptos Narrow" panose="020B0004020202020204" pitchFamily="34" charset="0"/>
                        </a:rPr>
                        <a:t>7,3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86990703"/>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Eden VIP cottage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26,7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7E082"/>
                    </a:solidFill>
                  </a:tcPr>
                </a:tc>
                <a:tc>
                  <a:txBody>
                    <a:bodyPr/>
                    <a:lstStyle/>
                    <a:p>
                      <a:pPr algn="r" fontAlgn="b">
                        <a:buNone/>
                      </a:pPr>
                      <a:r>
                        <a:rPr lang="fr-FR" sz="1000" b="0" i="0" u="none" strike="noStrike">
                          <a:solidFill>
                            <a:srgbClr val="000000"/>
                          </a:solidFill>
                          <a:effectLst/>
                          <a:latin typeface="Aptos Narrow" panose="020B0004020202020204" pitchFamily="34" charset="0"/>
                        </a:rPr>
                        <a:t>21,9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AE583"/>
                    </a:solidFill>
                  </a:tcPr>
                </a:tc>
                <a:tc>
                  <a:txBody>
                    <a:bodyPr/>
                    <a:lstStyle/>
                    <a:p>
                      <a:pPr algn="r" fontAlgn="b">
                        <a:buNone/>
                      </a:pPr>
                      <a:r>
                        <a:rPr lang="fr-FR" sz="1000" b="0" i="0" u="none" strike="noStrike">
                          <a:solidFill>
                            <a:srgbClr val="00B050"/>
                          </a:solidFill>
                          <a:effectLst/>
                          <a:latin typeface="Aptos Narrow" panose="020B0004020202020204" pitchFamily="34" charset="0"/>
                        </a:rPr>
                        <a:t>4,8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47002039"/>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Exclusive Cottages</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36,8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FD480"/>
                    </a:solidFill>
                  </a:tcPr>
                </a:tc>
                <a:tc>
                  <a:txBody>
                    <a:bodyPr/>
                    <a:lstStyle/>
                    <a:p>
                      <a:pPr algn="r" fontAlgn="b">
                        <a:buNone/>
                      </a:pPr>
                      <a:r>
                        <a:rPr lang="fr-FR" sz="1000" b="0" i="0" u="none" strike="noStrike">
                          <a:solidFill>
                            <a:srgbClr val="000000"/>
                          </a:solidFill>
                          <a:effectLst/>
                          <a:latin typeface="Aptos Narrow" panose="020B0004020202020204" pitchFamily="34" charset="0"/>
                        </a:rPr>
                        <a:t>35,0</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6D680"/>
                    </a:solidFill>
                  </a:tcPr>
                </a:tc>
                <a:tc>
                  <a:txBody>
                    <a:bodyPr/>
                    <a:lstStyle/>
                    <a:p>
                      <a:pPr algn="r" fontAlgn="b">
                        <a:buNone/>
                      </a:pPr>
                      <a:r>
                        <a:rPr lang="fr-FR" sz="1000" b="0" i="0" u="none" strike="noStrike">
                          <a:solidFill>
                            <a:srgbClr val="00B050"/>
                          </a:solidFill>
                          <a:effectLst/>
                          <a:latin typeface="Aptos Narrow" panose="020B0004020202020204" pitchFamily="34" charset="0"/>
                        </a:rPr>
                        <a:t>1,8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08565434"/>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Premium cottage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26,0</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AE182"/>
                    </a:solidFill>
                  </a:tcPr>
                </a:tc>
                <a:tc>
                  <a:txBody>
                    <a:bodyPr/>
                    <a:lstStyle/>
                    <a:p>
                      <a:pPr algn="r" fontAlgn="b">
                        <a:buNone/>
                      </a:pPr>
                      <a:r>
                        <a:rPr lang="fr-FR" sz="1000" b="0" i="0" u="none" strike="noStrike">
                          <a:solidFill>
                            <a:srgbClr val="000000"/>
                          </a:solidFill>
                          <a:effectLst/>
                          <a:latin typeface="Aptos Narrow" panose="020B0004020202020204" pitchFamily="34" charset="0"/>
                        </a:rPr>
                        <a:t>17,2</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EB84"/>
                    </a:solidFill>
                  </a:tcPr>
                </a:tc>
                <a:tc>
                  <a:txBody>
                    <a:bodyPr/>
                    <a:lstStyle/>
                    <a:p>
                      <a:pPr algn="r" fontAlgn="b">
                        <a:buNone/>
                      </a:pPr>
                      <a:r>
                        <a:rPr lang="fr-FR" sz="1000" b="0" i="0" u="none" strike="noStrike">
                          <a:solidFill>
                            <a:srgbClr val="00B050"/>
                          </a:solidFill>
                          <a:effectLst/>
                          <a:latin typeface="Aptos Narrow" panose="020B0004020202020204" pitchFamily="34" charset="0"/>
                        </a:rPr>
                        <a:t>8,8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27129731"/>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Themed Cottages</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34,7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7D780"/>
                    </a:solidFill>
                  </a:tcPr>
                </a:tc>
                <a:tc>
                  <a:txBody>
                    <a:bodyPr/>
                    <a:lstStyle/>
                    <a:p>
                      <a:pPr algn="r" fontAlgn="b">
                        <a:buNone/>
                      </a:pPr>
                      <a:r>
                        <a:rPr lang="fr-FR" sz="1000" b="0" i="0" u="none" strike="noStrike">
                          <a:solidFill>
                            <a:srgbClr val="000000"/>
                          </a:solidFill>
                          <a:effectLst/>
                          <a:latin typeface="Aptos Narrow" panose="020B0004020202020204" pitchFamily="34" charset="0"/>
                        </a:rPr>
                        <a:t>26,8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7E082"/>
                    </a:solidFill>
                  </a:tcPr>
                </a:tc>
                <a:tc>
                  <a:txBody>
                    <a:bodyPr/>
                    <a:lstStyle/>
                    <a:p>
                      <a:pPr algn="r" fontAlgn="b">
                        <a:buNone/>
                      </a:pPr>
                      <a:r>
                        <a:rPr lang="fr-FR" sz="1000" b="0" i="0" u="none" strike="noStrike">
                          <a:solidFill>
                            <a:srgbClr val="00B050"/>
                          </a:solidFill>
                          <a:effectLst/>
                          <a:latin typeface="Aptos Narrow" panose="020B0004020202020204" pitchFamily="34" charset="0"/>
                        </a:rPr>
                        <a:t>7,9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26052300"/>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VIP cottage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27,0</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6E082"/>
                    </a:solidFill>
                  </a:tcPr>
                </a:tc>
                <a:tc>
                  <a:txBody>
                    <a:bodyPr/>
                    <a:lstStyle/>
                    <a:p>
                      <a:pPr algn="r" fontAlgn="b">
                        <a:buNone/>
                      </a:pPr>
                      <a:r>
                        <a:rPr lang="fr-FR" sz="1000" b="0" i="0" u="none" strike="noStrike">
                          <a:solidFill>
                            <a:srgbClr val="000000"/>
                          </a:solidFill>
                          <a:effectLst/>
                          <a:latin typeface="Aptos Narrow" panose="020B0004020202020204" pitchFamily="34" charset="0"/>
                        </a:rPr>
                        <a:t>16,6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B84"/>
                    </a:solidFill>
                  </a:tcPr>
                </a:tc>
                <a:tc>
                  <a:txBody>
                    <a:bodyPr/>
                    <a:lstStyle/>
                    <a:p>
                      <a:pPr algn="r" fontAlgn="b">
                        <a:buNone/>
                      </a:pPr>
                      <a:r>
                        <a:rPr lang="fr-FR" sz="1000" b="0" i="0" u="none" strike="noStrike">
                          <a:solidFill>
                            <a:srgbClr val="00B050"/>
                          </a:solidFill>
                          <a:effectLst/>
                          <a:latin typeface="Aptos Narrow" panose="020B0004020202020204" pitchFamily="34" charset="0"/>
                        </a:rPr>
                        <a:t>10,3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28836363"/>
                  </a:ext>
                </a:extLst>
              </a:tr>
              <a:tr h="101194">
                <a:tc>
                  <a:txBody>
                    <a:bodyPr/>
                    <a:lstStyle/>
                    <a:p>
                      <a:pPr algn="l" fontAlgn="b">
                        <a:buNone/>
                      </a:pPr>
                      <a:r>
                        <a:rPr lang="fr-FR" sz="1000" b="1" i="0" u="none" strike="noStrike">
                          <a:solidFill>
                            <a:srgbClr val="000000"/>
                          </a:solidFill>
                          <a:effectLst/>
                          <a:latin typeface="Aptos Narrow" panose="020B0004020202020204" pitchFamily="34" charset="0"/>
                        </a:rPr>
                        <a:t>Villages Nature Paris</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1" i="0" u="none" strike="noStrike">
                          <a:solidFill>
                            <a:srgbClr val="000000"/>
                          </a:solidFill>
                          <a:effectLst/>
                          <a:latin typeface="Aptos Narrow" panose="020B0004020202020204" pitchFamily="34" charset="0"/>
                        </a:rPr>
                        <a:t>8,8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F78"/>
                    </a:solidFill>
                  </a:tcPr>
                </a:tc>
                <a:tc>
                  <a:txBody>
                    <a:bodyPr/>
                    <a:lstStyle/>
                    <a:p>
                      <a:pPr algn="r" fontAlgn="b">
                        <a:buNone/>
                      </a:pPr>
                      <a:r>
                        <a:rPr lang="fr-FR" sz="1000" b="1" i="0" u="none" strike="noStrike">
                          <a:solidFill>
                            <a:srgbClr val="000000"/>
                          </a:solidFill>
                          <a:effectLst/>
                          <a:latin typeface="Aptos Narrow" panose="020B0004020202020204" pitchFamily="34" charset="0"/>
                        </a:rPr>
                        <a:t>4,9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A9273"/>
                    </a:solidFill>
                  </a:tcPr>
                </a:tc>
                <a:tc>
                  <a:txBody>
                    <a:bodyPr/>
                    <a:lstStyle/>
                    <a:p>
                      <a:pPr algn="r" fontAlgn="b">
                        <a:buNone/>
                      </a:pPr>
                      <a:r>
                        <a:rPr lang="fr-FR" sz="1000" b="1" i="0" u="none" strike="noStrike">
                          <a:solidFill>
                            <a:srgbClr val="00B050"/>
                          </a:solidFill>
                          <a:effectLst/>
                          <a:latin typeface="Aptos Narrow" panose="020B0004020202020204" pitchFamily="34" charset="0"/>
                        </a:rPr>
                        <a:t>3,9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47533989"/>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Comfort Cottage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6,9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175"/>
                    </a:solidFill>
                  </a:tcPr>
                </a:tc>
                <a:tc>
                  <a:txBody>
                    <a:bodyPr/>
                    <a:lstStyle/>
                    <a:p>
                      <a:pPr algn="r" fontAlgn="b">
                        <a:buNone/>
                      </a:pPr>
                      <a:r>
                        <a:rPr lang="fr-FR" sz="1000" b="0" i="0" u="none" strike="noStrike">
                          <a:solidFill>
                            <a:srgbClr val="000000"/>
                          </a:solidFill>
                          <a:effectLst/>
                          <a:latin typeface="Aptos Narrow" panose="020B0004020202020204" pitchFamily="34" charset="0"/>
                        </a:rPr>
                        <a:t>0,9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46D"/>
                    </a:solidFill>
                  </a:tcPr>
                </a:tc>
                <a:tc>
                  <a:txBody>
                    <a:bodyPr/>
                    <a:lstStyle/>
                    <a:p>
                      <a:pPr algn="r" fontAlgn="b">
                        <a:buNone/>
                      </a:pPr>
                      <a:r>
                        <a:rPr lang="fr-FR" sz="1000" b="0" i="0" u="none" strike="noStrike">
                          <a:solidFill>
                            <a:srgbClr val="00B050"/>
                          </a:solidFill>
                          <a:effectLst/>
                          <a:latin typeface="Aptos Narrow" panose="020B0004020202020204" pitchFamily="34" charset="0"/>
                        </a:rPr>
                        <a:t>6,0</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64307528"/>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Premium Appartment</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7,7</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877"/>
                    </a:solidFill>
                  </a:tcPr>
                </a:tc>
                <a:tc>
                  <a:txBody>
                    <a:bodyPr/>
                    <a:lstStyle/>
                    <a:p>
                      <a:pPr algn="r" fontAlgn="b">
                        <a:buNone/>
                      </a:pPr>
                      <a:r>
                        <a:rPr lang="fr-FR" sz="1000" b="0" i="0" u="none" strike="noStrike">
                          <a:solidFill>
                            <a:srgbClr val="000000"/>
                          </a:solidFill>
                          <a:effectLst/>
                          <a:latin typeface="Aptos Narrow" panose="020B0004020202020204" pitchFamily="34" charset="0"/>
                        </a:rPr>
                        <a:t>9,2</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B279"/>
                    </a:solidFill>
                  </a:tcPr>
                </a:tc>
                <a:tc>
                  <a:txBody>
                    <a:bodyPr/>
                    <a:lstStyle/>
                    <a:p>
                      <a:pPr algn="r" fontAlgn="b">
                        <a:buNone/>
                      </a:pPr>
                      <a:r>
                        <a:rPr lang="fr-FR" sz="1000" b="0" i="0" u="none" strike="noStrike">
                          <a:solidFill>
                            <a:srgbClr val="FF0000"/>
                          </a:solidFill>
                          <a:effectLst/>
                          <a:latin typeface="Aptos Narrow" panose="020B0004020202020204" pitchFamily="34" charset="0"/>
                        </a:rPr>
                        <a:t>-1,4</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85409879"/>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Premium Cottage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7,6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776"/>
                    </a:solidFill>
                  </a:tcPr>
                </a:tc>
                <a:tc>
                  <a:txBody>
                    <a:bodyPr/>
                    <a:lstStyle/>
                    <a:p>
                      <a:pPr algn="r" fontAlgn="b">
                        <a:buNone/>
                      </a:pPr>
                      <a:r>
                        <a:rPr lang="fr-FR" sz="1000" b="0" i="0" u="none" strike="noStrike">
                          <a:solidFill>
                            <a:srgbClr val="000000"/>
                          </a:solidFill>
                          <a:effectLst/>
                          <a:latin typeface="Aptos Narrow" panose="020B0004020202020204" pitchFamily="34" charset="0"/>
                        </a:rPr>
                        <a:t>7,6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676"/>
                    </a:solidFill>
                  </a:tcPr>
                </a:tc>
                <a:tc>
                  <a:txBody>
                    <a:bodyPr/>
                    <a:lstStyle/>
                    <a:p>
                      <a:pPr algn="r" fontAlgn="b">
                        <a:buNone/>
                      </a:pPr>
                      <a:r>
                        <a:rPr lang="fr-FR" sz="1000" b="0" i="0" u="none" strike="noStrike">
                          <a:solidFill>
                            <a:srgbClr val="00B050"/>
                          </a:solidFill>
                          <a:effectLst/>
                          <a:latin typeface="Aptos Narrow" panose="020B0004020202020204" pitchFamily="34" charset="0"/>
                        </a:rPr>
                        <a:t>0,0</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33698832"/>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VIP Appartment</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7,9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977"/>
                    </a:solidFill>
                  </a:tcPr>
                </a:tc>
                <a:tc>
                  <a:txBody>
                    <a:bodyPr/>
                    <a:lstStyle/>
                    <a:p>
                      <a:pPr algn="r" fontAlgn="b">
                        <a:buNone/>
                      </a:pPr>
                      <a:r>
                        <a:rPr lang="fr-FR" sz="1000" b="0" i="0" u="none" strike="noStrike">
                          <a:solidFill>
                            <a:srgbClr val="000000"/>
                          </a:solidFill>
                          <a:effectLst/>
                          <a:latin typeface="Aptos Narrow" panose="020B0004020202020204" pitchFamily="34" charset="0"/>
                        </a:rPr>
                        <a:t>1,2</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8766D"/>
                    </a:solidFill>
                  </a:tcPr>
                </a:tc>
                <a:tc>
                  <a:txBody>
                    <a:bodyPr/>
                    <a:lstStyle/>
                    <a:p>
                      <a:pPr algn="r" fontAlgn="b">
                        <a:buNone/>
                      </a:pPr>
                      <a:r>
                        <a:rPr lang="fr-FR" sz="1000" b="0" i="0" u="none" strike="noStrike">
                          <a:solidFill>
                            <a:srgbClr val="00B050"/>
                          </a:solidFill>
                          <a:effectLst/>
                          <a:latin typeface="Aptos Narrow" panose="020B0004020202020204" pitchFamily="34" charset="0"/>
                        </a:rPr>
                        <a:t>6,8</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90897205"/>
                  </a:ext>
                </a:extLst>
              </a:tr>
              <a:tr h="101194">
                <a:tc>
                  <a:txBody>
                    <a:bodyPr/>
                    <a:lstStyle/>
                    <a:p>
                      <a:pPr algn="l" fontAlgn="b">
                        <a:buNone/>
                      </a:pPr>
                      <a:r>
                        <a:rPr lang="fr-FR" sz="1000" b="0" i="0" u="none" strike="noStrike">
                          <a:solidFill>
                            <a:srgbClr val="000000"/>
                          </a:solidFill>
                          <a:effectLst/>
                          <a:latin typeface="Aptos Narrow" panose="020B0004020202020204" pitchFamily="34" charset="0"/>
                        </a:rPr>
                        <a:t> VIP Cottage</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000" b="0" i="0" u="none" strike="noStrike">
                          <a:solidFill>
                            <a:srgbClr val="000000"/>
                          </a:solidFill>
                          <a:effectLst/>
                          <a:latin typeface="Aptos Narrow" panose="020B0004020202020204" pitchFamily="34" charset="0"/>
                        </a:rPr>
                        <a:t>12,9</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DCE7E"/>
                    </a:solidFill>
                  </a:tcPr>
                </a:tc>
                <a:tc>
                  <a:txBody>
                    <a:bodyPr/>
                    <a:lstStyle/>
                    <a:p>
                      <a:pPr algn="r" fontAlgn="b">
                        <a:buNone/>
                      </a:pPr>
                      <a:r>
                        <a:rPr lang="fr-FR" sz="1000" b="0" i="0" u="none" strike="noStrike">
                          <a:solidFill>
                            <a:srgbClr val="000000"/>
                          </a:solidFill>
                          <a:effectLst/>
                          <a:latin typeface="Aptos Narrow" panose="020B0004020202020204" pitchFamily="34" charset="0"/>
                        </a:rPr>
                        <a:t>7,6</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BA776"/>
                    </a:solidFill>
                  </a:tcPr>
                </a:tc>
                <a:tc>
                  <a:txBody>
                    <a:bodyPr/>
                    <a:lstStyle/>
                    <a:p>
                      <a:pPr algn="r" fontAlgn="b">
                        <a:buNone/>
                      </a:pPr>
                      <a:r>
                        <a:rPr lang="fr-FR" sz="1000" b="0" i="0" u="none" strike="noStrike">
                          <a:solidFill>
                            <a:srgbClr val="00B050"/>
                          </a:solidFill>
                          <a:effectLst/>
                          <a:latin typeface="Aptos Narrow" panose="020B0004020202020204" pitchFamily="34" charset="0"/>
                        </a:rPr>
                        <a:t>5,3</a:t>
                      </a:r>
                    </a:p>
                  </a:txBody>
                  <a:tcPr marL="3489" marR="3489" marT="3489"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14995445"/>
                  </a:ext>
                </a:extLst>
              </a:tr>
            </a:tbl>
          </a:graphicData>
        </a:graphic>
      </p:graphicFrame>
    </p:spTree>
    <p:extLst>
      <p:ext uri="{BB962C8B-B14F-4D97-AF65-F5344CB8AC3E}">
        <p14:creationId xmlns:p14="http://schemas.microsoft.com/office/powerpoint/2010/main" val="18379532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FD4D8-C80C-07C9-2D21-24A9EAC4A6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1C2422-5BF6-5D22-2BBD-DDE71F3F4480}"/>
              </a:ext>
            </a:extLst>
          </p:cNvPr>
          <p:cNvSpPr>
            <a:spLocks noGrp="1"/>
          </p:cNvSpPr>
          <p:nvPr>
            <p:ph type="sldNum" sz="quarter" idx="12"/>
          </p:nvPr>
        </p:nvSpPr>
        <p:spPr/>
        <p:txBody>
          <a:bodyPr/>
          <a:lstStyle/>
          <a:p>
            <a:fld id="{0D2E6A04-B99A-6C4D-8942-945F97C9E705}" type="slidenum">
              <a:rPr lang="en-US" smtClean="0"/>
              <a:pPr/>
              <a:t>62</a:t>
            </a:fld>
            <a:endParaRPr lang="en-US"/>
          </a:p>
        </p:txBody>
      </p:sp>
      <p:sp>
        <p:nvSpPr>
          <p:cNvPr id="3" name="Date Placeholder 2">
            <a:extLst>
              <a:ext uri="{FF2B5EF4-FFF2-40B4-BE49-F238E27FC236}">
                <a16:creationId xmlns:a16="http://schemas.microsoft.com/office/drawing/2014/main" id="{289064C7-7060-48C7-B980-7591F5079592}"/>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8700CC01-109B-14FA-98AA-1A591606454F}"/>
              </a:ext>
            </a:extLst>
          </p:cNvPr>
          <p:cNvSpPr>
            <a:spLocks noGrp="1"/>
          </p:cNvSpPr>
          <p:nvPr>
            <p:ph type="title"/>
          </p:nvPr>
        </p:nvSpPr>
        <p:spPr/>
        <p:txBody>
          <a:bodyPr/>
          <a:lstStyle/>
          <a:p>
            <a:r>
              <a:rPr lang="fr-FR"/>
              <a:t>France – text </a:t>
            </a:r>
            <a:r>
              <a:rPr lang="fr-FR" err="1"/>
              <a:t>analytics</a:t>
            </a:r>
            <a:r>
              <a:rPr lang="fr-FR"/>
              <a:t>, topics </a:t>
            </a:r>
            <a:r>
              <a:rPr lang="fr-FR" err="1"/>
              <a:t>comparision</a:t>
            </a:r>
            <a:r>
              <a:rPr lang="fr-FR"/>
              <a:t> vs N-1</a:t>
            </a:r>
          </a:p>
        </p:txBody>
      </p:sp>
      <p:sp>
        <p:nvSpPr>
          <p:cNvPr id="6" name="Rechthoek 4">
            <a:extLst>
              <a:ext uri="{FF2B5EF4-FFF2-40B4-BE49-F238E27FC236}">
                <a16:creationId xmlns:a16="http://schemas.microsoft.com/office/drawing/2014/main" id="{19E8A8EE-8999-AF2E-E1A2-DC1607F9408D}"/>
              </a:ext>
            </a:extLst>
          </p:cNvPr>
          <p:cNvSpPr/>
          <p:nvPr/>
        </p:nvSpPr>
        <p:spPr>
          <a:xfrm>
            <a:off x="-1" y="978100"/>
            <a:ext cx="11858372" cy="1022150"/>
          </a:xfrm>
          <a:prstGeom prst="rect">
            <a:avLst/>
          </a:prstGeom>
          <a:solidFill>
            <a:schemeClr val="accent6">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All categories of topics from open comments improved compared to N-1, which means a decrease in the share of negative comments, and/or an increase in the share of positive comment volumes, explaining the overall improvement in the total NPS,</a:t>
            </a:r>
          </a:p>
        </p:txBody>
      </p:sp>
      <p:sp>
        <p:nvSpPr>
          <p:cNvPr id="7" name="Rectangle 6">
            <a:extLst>
              <a:ext uri="{FF2B5EF4-FFF2-40B4-BE49-F238E27FC236}">
                <a16:creationId xmlns:a16="http://schemas.microsoft.com/office/drawing/2014/main" id="{324B1447-2B59-7EE6-58C1-348AA892202A}"/>
              </a:ext>
            </a:extLst>
          </p:cNvPr>
          <p:cNvSpPr/>
          <p:nvPr/>
        </p:nvSpPr>
        <p:spPr>
          <a:xfrm rot="16200000">
            <a:off x="-287914" y="1316870"/>
            <a:ext cx="997619" cy="37547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6">
                    <a:lumMod val="20000"/>
                    <a:lumOff val="80000"/>
                  </a:schemeClr>
                </a:solidFill>
                <a:ea typeface="Calibri"/>
                <a:cs typeface="Calibri"/>
              </a:rPr>
              <a:t>Analysis</a:t>
            </a:r>
            <a:endParaRPr lang="en-US" sz="1100">
              <a:solidFill>
                <a:schemeClr val="accent6">
                  <a:lumMod val="20000"/>
                  <a:lumOff val="80000"/>
                </a:schemeClr>
              </a:solidFill>
            </a:endParaRPr>
          </a:p>
        </p:txBody>
      </p:sp>
      <p:pic>
        <p:nvPicPr>
          <p:cNvPr id="12" name="Picture 11">
            <a:extLst>
              <a:ext uri="{FF2B5EF4-FFF2-40B4-BE49-F238E27FC236}">
                <a16:creationId xmlns:a16="http://schemas.microsoft.com/office/drawing/2014/main" id="{88674899-9FF5-34E1-F453-041888FBEFB6}"/>
              </a:ext>
            </a:extLst>
          </p:cNvPr>
          <p:cNvPicPr>
            <a:picLocks noChangeAspect="1"/>
          </p:cNvPicPr>
          <p:nvPr/>
        </p:nvPicPr>
        <p:blipFill>
          <a:blip r:embed="rId2"/>
          <a:stretch>
            <a:fillRect/>
          </a:stretch>
        </p:blipFill>
        <p:spPr>
          <a:xfrm>
            <a:off x="1465770" y="2150080"/>
            <a:ext cx="8926830" cy="4170840"/>
          </a:xfrm>
          <a:prstGeom prst="rect">
            <a:avLst/>
          </a:prstGeom>
        </p:spPr>
      </p:pic>
    </p:spTree>
    <p:extLst>
      <p:ext uri="{BB962C8B-B14F-4D97-AF65-F5344CB8AC3E}">
        <p14:creationId xmlns:p14="http://schemas.microsoft.com/office/powerpoint/2010/main" val="41131173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470B1-28FA-A033-B378-ED6DDC434A3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174AEE-AE97-24F8-D3D6-804A1726382E}"/>
              </a:ext>
            </a:extLst>
          </p:cNvPr>
          <p:cNvSpPr>
            <a:spLocks noGrp="1"/>
          </p:cNvSpPr>
          <p:nvPr>
            <p:ph type="sldNum" sz="quarter" idx="12"/>
          </p:nvPr>
        </p:nvSpPr>
        <p:spPr/>
        <p:txBody>
          <a:bodyPr/>
          <a:lstStyle/>
          <a:p>
            <a:fld id="{0D2E6A04-B99A-6C4D-8942-945F97C9E705}" type="slidenum">
              <a:rPr lang="en-US" smtClean="0"/>
              <a:pPr/>
              <a:t>63</a:t>
            </a:fld>
            <a:endParaRPr lang="en-US"/>
          </a:p>
        </p:txBody>
      </p:sp>
      <p:sp>
        <p:nvSpPr>
          <p:cNvPr id="3" name="Date Placeholder 2">
            <a:extLst>
              <a:ext uri="{FF2B5EF4-FFF2-40B4-BE49-F238E27FC236}">
                <a16:creationId xmlns:a16="http://schemas.microsoft.com/office/drawing/2014/main" id="{80DE9BD6-96BE-5125-D00E-E7E824F57EE6}"/>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1CD2FCC4-3FD0-7C12-AED6-CC51946ACBF6}"/>
              </a:ext>
            </a:extLst>
          </p:cNvPr>
          <p:cNvSpPr>
            <a:spLocks noGrp="1"/>
          </p:cNvSpPr>
          <p:nvPr>
            <p:ph type="title"/>
          </p:nvPr>
        </p:nvSpPr>
        <p:spPr>
          <a:xfrm>
            <a:off x="334963" y="303238"/>
            <a:ext cx="10871517" cy="487938"/>
          </a:xfrm>
        </p:spPr>
        <p:txBody>
          <a:bodyPr/>
          <a:lstStyle/>
          <a:p>
            <a:r>
              <a:rPr lang="fr-FR"/>
              <a:t>France – text </a:t>
            </a:r>
            <a:r>
              <a:rPr lang="fr-FR" err="1"/>
              <a:t>analytics</a:t>
            </a:r>
            <a:r>
              <a:rPr lang="fr-FR"/>
              <a:t>, </a:t>
            </a:r>
            <a:r>
              <a:rPr lang="fr-FR" err="1"/>
              <a:t>bottom</a:t>
            </a:r>
            <a:r>
              <a:rPr lang="fr-FR"/>
              <a:t> topics </a:t>
            </a:r>
            <a:r>
              <a:rPr lang="fr-FR" err="1"/>
              <a:t>with</a:t>
            </a:r>
            <a:r>
              <a:rPr lang="fr-FR"/>
              <a:t> </a:t>
            </a:r>
            <a:r>
              <a:rPr lang="fr-FR" err="1"/>
              <a:t>higher</a:t>
            </a:r>
            <a:r>
              <a:rPr lang="fr-FR"/>
              <a:t> </a:t>
            </a:r>
            <a:r>
              <a:rPr lang="fr-FR" err="1"/>
              <a:t>negative</a:t>
            </a:r>
            <a:r>
              <a:rPr lang="fr-FR"/>
              <a:t> impact score on NPS</a:t>
            </a:r>
          </a:p>
        </p:txBody>
      </p:sp>
      <p:sp>
        <p:nvSpPr>
          <p:cNvPr id="6" name="Rechthoek 4">
            <a:extLst>
              <a:ext uri="{FF2B5EF4-FFF2-40B4-BE49-F238E27FC236}">
                <a16:creationId xmlns:a16="http://schemas.microsoft.com/office/drawing/2014/main" id="{260B0B7A-923B-C1ED-6CD8-2D62EE9EA5D5}"/>
              </a:ext>
            </a:extLst>
          </p:cNvPr>
          <p:cNvSpPr/>
          <p:nvPr/>
        </p:nvSpPr>
        <p:spPr>
          <a:xfrm>
            <a:off x="-1" y="978100"/>
            <a:ext cx="11858372" cy="1022150"/>
          </a:xfrm>
          <a:prstGeom prst="rect">
            <a:avLst/>
          </a:prstGeom>
          <a:solidFill>
            <a:schemeClr val="accent6">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accent5"/>
                </a:solidFill>
                <a:latin typeface="+mj-lt"/>
                <a:ea typeface="Calibri"/>
                <a:cs typeface="Calibri"/>
              </a:rPr>
              <a:t>All Cottage cleanliness and Price/Value </a:t>
            </a:r>
            <a:r>
              <a:rPr lang="en-US" sz="1200" b="1" err="1">
                <a:solidFill>
                  <a:schemeClr val="accent5"/>
                </a:solidFill>
                <a:latin typeface="+mj-lt"/>
                <a:ea typeface="Calibri"/>
                <a:cs typeface="Calibri"/>
              </a:rPr>
              <a:t>affordabilibity</a:t>
            </a:r>
            <a:r>
              <a:rPr lang="en-US" sz="1200" b="1">
                <a:solidFill>
                  <a:schemeClr val="accent5"/>
                </a:solidFill>
                <a:latin typeface="+mj-lt"/>
                <a:ea typeface="Calibri"/>
                <a:cs typeface="Calibri"/>
              </a:rPr>
              <a:t> have the highest negative impact score on NPS, before issues in central facilities and in Aqua Mundo.</a:t>
            </a:r>
          </a:p>
        </p:txBody>
      </p:sp>
      <p:sp>
        <p:nvSpPr>
          <p:cNvPr id="7" name="Rectangle 6">
            <a:extLst>
              <a:ext uri="{FF2B5EF4-FFF2-40B4-BE49-F238E27FC236}">
                <a16:creationId xmlns:a16="http://schemas.microsoft.com/office/drawing/2014/main" id="{6631AA31-940A-217C-CA1F-D931246E999B}"/>
              </a:ext>
            </a:extLst>
          </p:cNvPr>
          <p:cNvSpPr/>
          <p:nvPr/>
        </p:nvSpPr>
        <p:spPr>
          <a:xfrm rot="16200000">
            <a:off x="-287914" y="1316870"/>
            <a:ext cx="997619" cy="37547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accent6">
                    <a:lumMod val="20000"/>
                    <a:lumOff val="80000"/>
                  </a:schemeClr>
                </a:solidFill>
                <a:ea typeface="Calibri"/>
                <a:cs typeface="Calibri"/>
              </a:rPr>
              <a:t>Analysis</a:t>
            </a:r>
            <a:endParaRPr lang="en-US" sz="1100">
              <a:solidFill>
                <a:schemeClr val="accent6">
                  <a:lumMod val="20000"/>
                  <a:lumOff val="80000"/>
                </a:schemeClr>
              </a:solidFill>
            </a:endParaRPr>
          </a:p>
        </p:txBody>
      </p:sp>
      <p:pic>
        <p:nvPicPr>
          <p:cNvPr id="8" name="Picture 7">
            <a:extLst>
              <a:ext uri="{FF2B5EF4-FFF2-40B4-BE49-F238E27FC236}">
                <a16:creationId xmlns:a16="http://schemas.microsoft.com/office/drawing/2014/main" id="{5BAA9B74-9FEB-0AE4-13DF-047076056E78}"/>
              </a:ext>
            </a:extLst>
          </p:cNvPr>
          <p:cNvPicPr>
            <a:picLocks noChangeAspect="1"/>
          </p:cNvPicPr>
          <p:nvPr/>
        </p:nvPicPr>
        <p:blipFill>
          <a:blip r:embed="rId2"/>
          <a:stretch>
            <a:fillRect/>
          </a:stretch>
        </p:blipFill>
        <p:spPr>
          <a:xfrm>
            <a:off x="2190205" y="2550635"/>
            <a:ext cx="7811590" cy="3219899"/>
          </a:xfrm>
          <a:prstGeom prst="rect">
            <a:avLst/>
          </a:prstGeom>
        </p:spPr>
      </p:pic>
    </p:spTree>
    <p:extLst>
      <p:ext uri="{BB962C8B-B14F-4D97-AF65-F5344CB8AC3E}">
        <p14:creationId xmlns:p14="http://schemas.microsoft.com/office/powerpoint/2010/main" val="9023647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67FA71-BAA6-BE21-291E-A7D56177B3CE}"/>
              </a:ext>
            </a:extLst>
          </p:cNvPr>
          <p:cNvSpPr>
            <a:spLocks noGrp="1"/>
          </p:cNvSpPr>
          <p:nvPr>
            <p:ph type="body" sz="quarter" idx="14"/>
          </p:nvPr>
        </p:nvSpPr>
        <p:spPr/>
        <p:txBody>
          <a:bodyPr/>
          <a:lstStyle/>
          <a:p>
            <a:r>
              <a:rPr lang="fr-FR" err="1"/>
              <a:t>Denmark</a:t>
            </a:r>
            <a:endParaRPr lang="fr-FR"/>
          </a:p>
        </p:txBody>
      </p:sp>
      <p:sp>
        <p:nvSpPr>
          <p:cNvPr id="3" name="Text Placeholder 2">
            <a:extLst>
              <a:ext uri="{FF2B5EF4-FFF2-40B4-BE49-F238E27FC236}">
                <a16:creationId xmlns:a16="http://schemas.microsoft.com/office/drawing/2014/main" id="{D862E8CB-71A3-906B-10F9-61DDA13B510F}"/>
              </a:ext>
            </a:extLst>
          </p:cNvPr>
          <p:cNvSpPr>
            <a:spLocks noGrp="1"/>
          </p:cNvSpPr>
          <p:nvPr>
            <p:ph type="body" sz="quarter" idx="13"/>
          </p:nvPr>
        </p:nvSpPr>
        <p:spPr/>
        <p:txBody>
          <a:bodyPr/>
          <a:lstStyle/>
          <a:p>
            <a:r>
              <a:rPr lang="fr-FR"/>
              <a:t>NPS </a:t>
            </a:r>
            <a:r>
              <a:rPr lang="fr-FR" err="1"/>
              <a:t>Review</a:t>
            </a:r>
            <a:endParaRPr lang="fr-FR"/>
          </a:p>
        </p:txBody>
      </p:sp>
    </p:spTree>
    <p:extLst>
      <p:ext uri="{BB962C8B-B14F-4D97-AF65-F5344CB8AC3E}">
        <p14:creationId xmlns:p14="http://schemas.microsoft.com/office/powerpoint/2010/main" val="5036745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C278E-5EC3-74C7-E147-4CE5CB70CE1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569D1E-1B9E-5F7A-D2E5-D29E9E75CDFD}"/>
              </a:ext>
            </a:extLst>
          </p:cNvPr>
          <p:cNvSpPr>
            <a:spLocks noGrp="1"/>
          </p:cNvSpPr>
          <p:nvPr>
            <p:ph type="sldNum" sz="quarter" idx="12"/>
          </p:nvPr>
        </p:nvSpPr>
        <p:spPr/>
        <p:txBody>
          <a:bodyPr/>
          <a:lstStyle/>
          <a:p>
            <a:fld id="{0D2E6A04-B99A-6C4D-8942-945F97C9E705}" type="slidenum">
              <a:rPr lang="en-US" smtClean="0"/>
              <a:pPr/>
              <a:t>65</a:t>
            </a:fld>
            <a:endParaRPr lang="en-US"/>
          </a:p>
        </p:txBody>
      </p:sp>
      <p:sp>
        <p:nvSpPr>
          <p:cNvPr id="3" name="Date Placeholder 2">
            <a:extLst>
              <a:ext uri="{FF2B5EF4-FFF2-40B4-BE49-F238E27FC236}">
                <a16:creationId xmlns:a16="http://schemas.microsoft.com/office/drawing/2014/main" id="{CC106770-96B3-3DF7-6AA3-48D884B5E594}"/>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9821AF5A-FCD9-F80C-A3A9-A71D315A7B0D}"/>
              </a:ext>
            </a:extLst>
          </p:cNvPr>
          <p:cNvSpPr>
            <a:spLocks noGrp="1"/>
          </p:cNvSpPr>
          <p:nvPr>
            <p:ph type="title"/>
          </p:nvPr>
        </p:nvSpPr>
        <p:spPr/>
        <p:txBody>
          <a:bodyPr/>
          <a:lstStyle/>
          <a:p>
            <a:r>
              <a:rPr lang="fr-FR" err="1"/>
              <a:t>Denmark</a:t>
            </a:r>
            <a:r>
              <a:rPr lang="fr-FR"/>
              <a:t> – </a:t>
            </a:r>
            <a:r>
              <a:rPr lang="fr-FR" err="1"/>
              <a:t>highest</a:t>
            </a:r>
            <a:r>
              <a:rPr lang="fr-FR"/>
              <a:t> contribution to NPS</a:t>
            </a:r>
          </a:p>
        </p:txBody>
      </p:sp>
      <p:sp>
        <p:nvSpPr>
          <p:cNvPr id="8" name="Rechthoek 4">
            <a:extLst>
              <a:ext uri="{FF2B5EF4-FFF2-40B4-BE49-F238E27FC236}">
                <a16:creationId xmlns:a16="http://schemas.microsoft.com/office/drawing/2014/main" id="{8A9030D0-63DC-2AE9-B4BB-7665511715B9}"/>
              </a:ext>
            </a:extLst>
          </p:cNvPr>
          <p:cNvSpPr/>
          <p:nvPr/>
        </p:nvSpPr>
        <p:spPr>
          <a:xfrm>
            <a:off x="-1" y="978100"/>
            <a:ext cx="4787901" cy="1696720"/>
          </a:xfrm>
          <a:prstGeom prst="rect">
            <a:avLst/>
          </a:prstGeom>
          <a:solidFill>
            <a:schemeClr val="bg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ea typeface="Calibri"/>
                <a:cs typeface="Calibri"/>
              </a:rPr>
              <a:t>Main pillars are key on Net Promoter Score.</a:t>
            </a:r>
          </a:p>
          <a:p>
            <a:pPr marL="720725" lvl="2" indent="-161925">
              <a:lnSpc>
                <a:spcPct val="120000"/>
              </a:lnSpc>
              <a:buFont typeface="Arial" panose="020B0604020202020204" pitchFamily="34" charset="0"/>
              <a:buChar char="•"/>
            </a:pPr>
            <a:r>
              <a:rPr lang="en-US" sz="1200" b="1">
                <a:solidFill>
                  <a:schemeClr val="tx2"/>
                </a:solidFill>
                <a:ea typeface="Calibri"/>
                <a:cs typeface="Calibri"/>
              </a:rPr>
              <a:t>Secondary pillars “Village safety”, “Farm”, “quality of the meals”, “catering promptness” are also key to impact Net Promoter Score.</a:t>
            </a:r>
            <a:endParaRPr lang="en-US" sz="1200">
              <a:solidFill>
                <a:schemeClr val="tx2"/>
              </a:solidFill>
              <a:ea typeface="Calibri"/>
              <a:cs typeface="Calibri"/>
            </a:endParaRPr>
          </a:p>
        </p:txBody>
      </p:sp>
      <p:sp>
        <p:nvSpPr>
          <p:cNvPr id="9" name="Rectangle 8">
            <a:extLst>
              <a:ext uri="{FF2B5EF4-FFF2-40B4-BE49-F238E27FC236}">
                <a16:creationId xmlns:a16="http://schemas.microsoft.com/office/drawing/2014/main" id="{853584C5-F0E8-61CC-E6AE-D80B850A183E}"/>
              </a:ext>
            </a:extLst>
          </p:cNvPr>
          <p:cNvSpPr/>
          <p:nvPr/>
        </p:nvSpPr>
        <p:spPr>
          <a:xfrm rot="16200000">
            <a:off x="-617105" y="1646060"/>
            <a:ext cx="1656000"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bg2"/>
                </a:solidFill>
                <a:ea typeface="Calibri"/>
                <a:cs typeface="Calibri"/>
              </a:rPr>
              <a:t>Analysis</a:t>
            </a:r>
            <a:endParaRPr lang="en-US" sz="1100">
              <a:solidFill>
                <a:schemeClr val="bg2"/>
              </a:solidFill>
            </a:endParaRPr>
          </a:p>
        </p:txBody>
      </p:sp>
      <p:pic>
        <p:nvPicPr>
          <p:cNvPr id="6" name="Picture 5">
            <a:extLst>
              <a:ext uri="{FF2B5EF4-FFF2-40B4-BE49-F238E27FC236}">
                <a16:creationId xmlns:a16="http://schemas.microsoft.com/office/drawing/2014/main" id="{1C888359-7233-D393-3AB9-AFBBC389302D}"/>
              </a:ext>
            </a:extLst>
          </p:cNvPr>
          <p:cNvPicPr>
            <a:picLocks noChangeAspect="1"/>
          </p:cNvPicPr>
          <p:nvPr/>
        </p:nvPicPr>
        <p:blipFill>
          <a:blip r:embed="rId2"/>
          <a:stretch>
            <a:fillRect/>
          </a:stretch>
        </p:blipFill>
        <p:spPr>
          <a:xfrm>
            <a:off x="5054600" y="978100"/>
            <a:ext cx="6800643" cy="5109772"/>
          </a:xfrm>
          <a:prstGeom prst="rect">
            <a:avLst/>
          </a:prstGeom>
        </p:spPr>
      </p:pic>
    </p:spTree>
    <p:extLst>
      <p:ext uri="{BB962C8B-B14F-4D97-AF65-F5344CB8AC3E}">
        <p14:creationId xmlns:p14="http://schemas.microsoft.com/office/powerpoint/2010/main" val="31985359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A3B9C0-4A13-E5DF-2F80-5CF8D144CCAA}"/>
              </a:ext>
            </a:extLst>
          </p:cNvPr>
          <p:cNvSpPr>
            <a:spLocks noGrp="1"/>
          </p:cNvSpPr>
          <p:nvPr>
            <p:ph type="sldNum" sz="quarter" idx="12"/>
          </p:nvPr>
        </p:nvSpPr>
        <p:spPr/>
        <p:txBody>
          <a:bodyPr/>
          <a:lstStyle/>
          <a:p>
            <a:fld id="{0D2E6A04-B99A-6C4D-8942-945F97C9E705}" type="slidenum">
              <a:rPr lang="en-US" smtClean="0"/>
              <a:pPr/>
              <a:t>66</a:t>
            </a:fld>
            <a:endParaRPr lang="en-US"/>
          </a:p>
        </p:txBody>
      </p:sp>
      <p:sp>
        <p:nvSpPr>
          <p:cNvPr id="3" name="Date Placeholder 2">
            <a:extLst>
              <a:ext uri="{FF2B5EF4-FFF2-40B4-BE49-F238E27FC236}">
                <a16:creationId xmlns:a16="http://schemas.microsoft.com/office/drawing/2014/main" id="{86A88EDC-E830-371B-D03F-C45AB66334E1}"/>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C9943A07-A641-6ACB-D224-BC74F0A46D2A}"/>
              </a:ext>
            </a:extLst>
          </p:cNvPr>
          <p:cNvSpPr>
            <a:spLocks noGrp="1"/>
          </p:cNvSpPr>
          <p:nvPr>
            <p:ph type="title"/>
          </p:nvPr>
        </p:nvSpPr>
        <p:spPr/>
        <p:txBody>
          <a:bodyPr/>
          <a:lstStyle/>
          <a:p>
            <a:r>
              <a:rPr lang="fr-FR" err="1"/>
              <a:t>Denmark</a:t>
            </a:r>
            <a:r>
              <a:rPr lang="fr-FR"/>
              <a:t> – main </a:t>
            </a:r>
            <a:r>
              <a:rPr lang="fr-FR" err="1"/>
              <a:t>pillars</a:t>
            </a:r>
            <a:r>
              <a:rPr lang="fr-FR"/>
              <a:t> over </a:t>
            </a:r>
            <a:r>
              <a:rPr lang="fr-FR" err="1"/>
              <a:t>months</a:t>
            </a:r>
            <a:endParaRPr lang="fr-FR"/>
          </a:p>
        </p:txBody>
      </p:sp>
      <p:pic>
        <p:nvPicPr>
          <p:cNvPr id="14" name="Picture 13" descr="A screenshot of a computer&#10;&#10;AI-generated content may be incorrect.">
            <a:extLst>
              <a:ext uri="{FF2B5EF4-FFF2-40B4-BE49-F238E27FC236}">
                <a16:creationId xmlns:a16="http://schemas.microsoft.com/office/drawing/2014/main" id="{CC1F250C-4BB7-A995-47EA-4556AC61EFD5}"/>
              </a:ext>
            </a:extLst>
          </p:cNvPr>
          <p:cNvPicPr>
            <a:picLocks noChangeAspect="1"/>
          </p:cNvPicPr>
          <p:nvPr/>
        </p:nvPicPr>
        <p:blipFill>
          <a:blip r:embed="rId2">
            <a:extLst>
              <a:ext uri="{28A0092B-C50C-407E-A947-70E740481C1C}">
                <a14:useLocalDpi xmlns:a14="http://schemas.microsoft.com/office/drawing/2010/main" val="0"/>
              </a:ext>
            </a:extLst>
          </a:blip>
          <a:srcRect b="45525"/>
          <a:stretch>
            <a:fillRect/>
          </a:stretch>
        </p:blipFill>
        <p:spPr>
          <a:xfrm>
            <a:off x="1940276" y="2040416"/>
            <a:ext cx="7977817" cy="4639518"/>
          </a:xfrm>
          <a:prstGeom prst="rect">
            <a:avLst/>
          </a:prstGeom>
        </p:spPr>
      </p:pic>
      <p:sp>
        <p:nvSpPr>
          <p:cNvPr id="15" name="Rechthoek 4">
            <a:extLst>
              <a:ext uri="{FF2B5EF4-FFF2-40B4-BE49-F238E27FC236}">
                <a16:creationId xmlns:a16="http://schemas.microsoft.com/office/drawing/2014/main" id="{553F0C3E-BEB4-4587-53DE-265BE01D504A}"/>
              </a:ext>
            </a:extLst>
          </p:cNvPr>
          <p:cNvSpPr/>
          <p:nvPr/>
        </p:nvSpPr>
        <p:spPr>
          <a:xfrm>
            <a:off x="-1" y="978100"/>
            <a:ext cx="11858372" cy="946953"/>
          </a:xfrm>
          <a:prstGeom prst="rect">
            <a:avLst/>
          </a:prstGeom>
          <a:solidFill>
            <a:schemeClr val="bg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Very positive results at Nordborg.</a:t>
            </a:r>
          </a:p>
          <a:p>
            <a:pPr marL="720725" lvl="2" indent="-161925">
              <a:lnSpc>
                <a:spcPct val="120000"/>
              </a:lnSpc>
              <a:buFont typeface="Arial" panose="020B0604020202020204" pitchFamily="34" charset="0"/>
              <a:buChar char="•"/>
            </a:pPr>
            <a:r>
              <a:rPr lang="en-US" sz="1200" b="1">
                <a:solidFill>
                  <a:schemeClr val="tx2"/>
                </a:solidFill>
                <a:ea typeface="Calibri"/>
                <a:cs typeface="Calibri"/>
              </a:rPr>
              <a:t>Direct impact between cottage general and its main attributes cleanliness with NPS.</a:t>
            </a:r>
          </a:p>
        </p:txBody>
      </p:sp>
      <p:sp>
        <p:nvSpPr>
          <p:cNvPr id="16" name="Rectangle 15">
            <a:extLst>
              <a:ext uri="{FF2B5EF4-FFF2-40B4-BE49-F238E27FC236}">
                <a16:creationId xmlns:a16="http://schemas.microsoft.com/office/drawing/2014/main" id="{E996F5A2-E9AA-9458-2061-7BFCA91FAEFE}"/>
              </a:ext>
            </a:extLst>
          </p:cNvPr>
          <p:cNvSpPr/>
          <p:nvPr/>
        </p:nvSpPr>
        <p:spPr>
          <a:xfrm rot="16200000">
            <a:off x="-251218" y="1280175"/>
            <a:ext cx="924230"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bg2"/>
                </a:solidFill>
                <a:ea typeface="Calibri"/>
                <a:cs typeface="Calibri"/>
              </a:rPr>
              <a:t>Analysis</a:t>
            </a:r>
            <a:endParaRPr lang="en-US" sz="1100">
              <a:solidFill>
                <a:schemeClr val="bg2"/>
              </a:solidFill>
            </a:endParaRPr>
          </a:p>
        </p:txBody>
      </p:sp>
    </p:spTree>
    <p:extLst>
      <p:ext uri="{BB962C8B-B14F-4D97-AF65-F5344CB8AC3E}">
        <p14:creationId xmlns:p14="http://schemas.microsoft.com/office/powerpoint/2010/main" val="276920097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E8D65-2A66-68D0-5120-36A751EFED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5EC632-273B-767D-F52E-E6F94464955E}"/>
              </a:ext>
            </a:extLst>
          </p:cNvPr>
          <p:cNvSpPr>
            <a:spLocks noGrp="1"/>
          </p:cNvSpPr>
          <p:nvPr>
            <p:ph type="sldNum" sz="quarter" idx="12"/>
          </p:nvPr>
        </p:nvSpPr>
        <p:spPr/>
        <p:txBody>
          <a:bodyPr/>
          <a:lstStyle/>
          <a:p>
            <a:fld id="{0D2E6A04-B99A-6C4D-8942-945F97C9E705}" type="slidenum">
              <a:rPr lang="en-US" smtClean="0"/>
              <a:pPr/>
              <a:t>67</a:t>
            </a:fld>
            <a:endParaRPr lang="en-US"/>
          </a:p>
        </p:txBody>
      </p:sp>
      <p:sp>
        <p:nvSpPr>
          <p:cNvPr id="3" name="Date Placeholder 2">
            <a:extLst>
              <a:ext uri="{FF2B5EF4-FFF2-40B4-BE49-F238E27FC236}">
                <a16:creationId xmlns:a16="http://schemas.microsoft.com/office/drawing/2014/main" id="{B9966226-AD4A-336D-7151-269652C4B83F}"/>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BE182204-2957-1878-2F65-3140506FF337}"/>
              </a:ext>
            </a:extLst>
          </p:cNvPr>
          <p:cNvSpPr>
            <a:spLocks noGrp="1"/>
          </p:cNvSpPr>
          <p:nvPr>
            <p:ph type="title"/>
          </p:nvPr>
        </p:nvSpPr>
        <p:spPr/>
        <p:txBody>
          <a:bodyPr/>
          <a:lstStyle/>
          <a:p>
            <a:r>
              <a:rPr lang="fr-FR" err="1"/>
              <a:t>Denmark</a:t>
            </a:r>
            <a:r>
              <a:rPr lang="fr-FR"/>
              <a:t> – main </a:t>
            </a:r>
            <a:r>
              <a:rPr lang="fr-FR" err="1"/>
              <a:t>pillars</a:t>
            </a:r>
            <a:r>
              <a:rPr lang="fr-FR"/>
              <a:t> over </a:t>
            </a:r>
            <a:r>
              <a:rPr lang="fr-FR" err="1"/>
              <a:t>months</a:t>
            </a:r>
            <a:endParaRPr lang="fr-FR"/>
          </a:p>
        </p:txBody>
      </p:sp>
      <p:sp>
        <p:nvSpPr>
          <p:cNvPr id="8" name="Rechthoek 4">
            <a:extLst>
              <a:ext uri="{FF2B5EF4-FFF2-40B4-BE49-F238E27FC236}">
                <a16:creationId xmlns:a16="http://schemas.microsoft.com/office/drawing/2014/main" id="{C41C55F5-927F-F427-28BB-82B0EAED3F73}"/>
              </a:ext>
            </a:extLst>
          </p:cNvPr>
          <p:cNvSpPr/>
          <p:nvPr/>
        </p:nvSpPr>
        <p:spPr>
          <a:xfrm>
            <a:off x="-1" y="978100"/>
            <a:ext cx="11858372" cy="946953"/>
          </a:xfrm>
          <a:prstGeom prst="rect">
            <a:avLst/>
          </a:prstGeom>
          <a:solidFill>
            <a:schemeClr val="bg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Leisure improved after Summer holiday (both free and paid).</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Catering offer is negative.</a:t>
            </a:r>
          </a:p>
        </p:txBody>
      </p:sp>
      <p:sp>
        <p:nvSpPr>
          <p:cNvPr id="9" name="Rectangle 8">
            <a:extLst>
              <a:ext uri="{FF2B5EF4-FFF2-40B4-BE49-F238E27FC236}">
                <a16:creationId xmlns:a16="http://schemas.microsoft.com/office/drawing/2014/main" id="{3314A29A-125F-9E67-FEAC-596A85317E04}"/>
              </a:ext>
            </a:extLst>
          </p:cNvPr>
          <p:cNvSpPr/>
          <p:nvPr/>
        </p:nvSpPr>
        <p:spPr>
          <a:xfrm rot="16200000">
            <a:off x="-251218" y="1280175"/>
            <a:ext cx="924230"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bg2"/>
                </a:solidFill>
                <a:ea typeface="Calibri"/>
                <a:cs typeface="Calibri"/>
              </a:rPr>
              <a:t>Analysis</a:t>
            </a:r>
            <a:endParaRPr lang="en-US" sz="1100">
              <a:solidFill>
                <a:schemeClr val="bg2"/>
              </a:solidFill>
            </a:endParaRPr>
          </a:p>
        </p:txBody>
      </p:sp>
      <p:pic>
        <p:nvPicPr>
          <p:cNvPr id="6" name="Picture 5" descr="A screenshot of a computer&#10;&#10;AI-generated content may be incorrect.">
            <a:extLst>
              <a:ext uri="{FF2B5EF4-FFF2-40B4-BE49-F238E27FC236}">
                <a16:creationId xmlns:a16="http://schemas.microsoft.com/office/drawing/2014/main" id="{812F12DB-733F-31ED-6CD0-DDDEE6903EC3}"/>
              </a:ext>
            </a:extLst>
          </p:cNvPr>
          <p:cNvPicPr>
            <a:picLocks noChangeAspect="1"/>
          </p:cNvPicPr>
          <p:nvPr/>
        </p:nvPicPr>
        <p:blipFill>
          <a:blip r:embed="rId2">
            <a:extLst>
              <a:ext uri="{28A0092B-C50C-407E-A947-70E740481C1C}">
                <a14:useLocalDpi xmlns:a14="http://schemas.microsoft.com/office/drawing/2010/main" val="0"/>
              </a:ext>
            </a:extLst>
          </a:blip>
          <a:srcRect b="87115"/>
          <a:stretch>
            <a:fillRect/>
          </a:stretch>
        </p:blipFill>
        <p:spPr>
          <a:xfrm>
            <a:off x="1940276" y="2040416"/>
            <a:ext cx="7977817" cy="1097420"/>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72F6E546-E77C-41F8-E4FB-02F25BFF8DEF}"/>
              </a:ext>
            </a:extLst>
          </p:cNvPr>
          <p:cNvPicPr>
            <a:picLocks noChangeAspect="1"/>
          </p:cNvPicPr>
          <p:nvPr/>
        </p:nvPicPr>
        <p:blipFill>
          <a:blip r:embed="rId2">
            <a:extLst>
              <a:ext uri="{28A0092B-C50C-407E-A947-70E740481C1C}">
                <a14:useLocalDpi xmlns:a14="http://schemas.microsoft.com/office/drawing/2010/main" val="0"/>
              </a:ext>
            </a:extLst>
          </a:blip>
          <a:srcRect t="54700" b="3146"/>
          <a:stretch>
            <a:fillRect/>
          </a:stretch>
        </p:blipFill>
        <p:spPr>
          <a:xfrm>
            <a:off x="1940276" y="3137835"/>
            <a:ext cx="7977817" cy="3590223"/>
          </a:xfrm>
          <a:prstGeom prst="rect">
            <a:avLst/>
          </a:prstGeom>
        </p:spPr>
      </p:pic>
    </p:spTree>
    <p:extLst>
      <p:ext uri="{BB962C8B-B14F-4D97-AF65-F5344CB8AC3E}">
        <p14:creationId xmlns:p14="http://schemas.microsoft.com/office/powerpoint/2010/main" val="185392976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99AD2-0BCC-435C-BEB1-A190C06E40E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55FE81-597D-CAD3-348B-BA26B809863E}"/>
              </a:ext>
            </a:extLst>
          </p:cNvPr>
          <p:cNvSpPr>
            <a:spLocks noGrp="1"/>
          </p:cNvSpPr>
          <p:nvPr>
            <p:ph type="sldNum" sz="quarter" idx="12"/>
          </p:nvPr>
        </p:nvSpPr>
        <p:spPr/>
        <p:txBody>
          <a:bodyPr/>
          <a:lstStyle/>
          <a:p>
            <a:fld id="{0D2E6A04-B99A-6C4D-8942-945F97C9E705}" type="slidenum">
              <a:rPr lang="en-US" smtClean="0"/>
              <a:pPr/>
              <a:t>68</a:t>
            </a:fld>
            <a:endParaRPr lang="en-US"/>
          </a:p>
        </p:txBody>
      </p:sp>
      <p:sp>
        <p:nvSpPr>
          <p:cNvPr id="3" name="Date Placeholder 2">
            <a:extLst>
              <a:ext uri="{FF2B5EF4-FFF2-40B4-BE49-F238E27FC236}">
                <a16:creationId xmlns:a16="http://schemas.microsoft.com/office/drawing/2014/main" id="{95960916-C201-3197-6FFD-AC4AD4B3D6B2}"/>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3DC3BD4C-F362-AB3E-565E-60E3D64F63D2}"/>
              </a:ext>
            </a:extLst>
          </p:cNvPr>
          <p:cNvSpPr>
            <a:spLocks noGrp="1"/>
          </p:cNvSpPr>
          <p:nvPr>
            <p:ph type="title"/>
          </p:nvPr>
        </p:nvSpPr>
        <p:spPr/>
        <p:txBody>
          <a:bodyPr/>
          <a:lstStyle/>
          <a:p>
            <a:r>
              <a:rPr lang="fr-FR" err="1"/>
              <a:t>Denmark</a:t>
            </a:r>
            <a:r>
              <a:rPr lang="fr-FR"/>
              <a:t> – NPS per segment</a:t>
            </a:r>
          </a:p>
        </p:txBody>
      </p:sp>
      <p:graphicFrame>
        <p:nvGraphicFramePr>
          <p:cNvPr id="7" name="Table 6">
            <a:extLst>
              <a:ext uri="{FF2B5EF4-FFF2-40B4-BE49-F238E27FC236}">
                <a16:creationId xmlns:a16="http://schemas.microsoft.com/office/drawing/2014/main" id="{6D1B474C-8C75-9608-E15B-A6B0704CA5C0}"/>
              </a:ext>
            </a:extLst>
          </p:cNvPr>
          <p:cNvGraphicFramePr>
            <a:graphicFrameLocks noGrp="1"/>
          </p:cNvGraphicFramePr>
          <p:nvPr/>
        </p:nvGraphicFramePr>
        <p:xfrm>
          <a:off x="754063" y="3494451"/>
          <a:ext cx="2203450" cy="1739900"/>
        </p:xfrm>
        <a:graphic>
          <a:graphicData uri="http://schemas.openxmlformats.org/drawingml/2006/table">
            <a:tbl>
              <a:tblPr/>
              <a:tblGrid>
                <a:gridCol w="1796659">
                  <a:extLst>
                    <a:ext uri="{9D8B030D-6E8A-4147-A177-3AD203B41FA5}">
                      <a16:colId xmlns:a16="http://schemas.microsoft.com/office/drawing/2014/main" val="232276967"/>
                    </a:ext>
                  </a:extLst>
                </a:gridCol>
                <a:gridCol w="406791">
                  <a:extLst>
                    <a:ext uri="{9D8B030D-6E8A-4147-A177-3AD203B41FA5}">
                      <a16:colId xmlns:a16="http://schemas.microsoft.com/office/drawing/2014/main" val="3204521104"/>
                    </a:ext>
                  </a:extLst>
                </a:gridCol>
              </a:tblGrid>
              <a:tr h="144607">
                <a:tc>
                  <a:txBody>
                    <a:bodyPr/>
                    <a:lstStyle/>
                    <a:p>
                      <a:pPr algn="l" fontAlgn="b">
                        <a:buNone/>
                      </a:pPr>
                      <a:endParaRPr lang="fr-FR" sz="1100" b="0"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110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7114731"/>
                  </a:ext>
                </a:extLst>
              </a:tr>
              <a:tr h="144607">
                <a:tc>
                  <a:txBody>
                    <a:bodyPr/>
                    <a:lstStyle/>
                    <a:p>
                      <a:pPr algn="l" fontAlgn="b">
                        <a:buNone/>
                      </a:pPr>
                      <a:r>
                        <a:rPr lang="fr-FR" sz="1100" b="1" i="0" u="none" strike="noStrike" err="1">
                          <a:solidFill>
                            <a:srgbClr val="000000"/>
                          </a:solidFill>
                          <a:effectLst/>
                          <a:latin typeface="Aptos Narrow" panose="020B0004020202020204" pitchFamily="34" charset="0"/>
                        </a:rPr>
                        <a:t>Nordborg</a:t>
                      </a:r>
                      <a:r>
                        <a:rPr lang="fr-FR" sz="1100" b="1" i="0" u="none" strike="noStrike">
                          <a:solidFill>
                            <a:srgbClr val="000000"/>
                          </a:solidFill>
                          <a:effectLst/>
                          <a:latin typeface="Aptos Narrow" panose="020B0004020202020204" pitchFamily="34" charset="0"/>
                        </a:rPr>
                        <a:t> Resort</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1" i="0" u="none" strike="noStrike">
                          <a:solidFill>
                            <a:srgbClr val="000000"/>
                          </a:solidFill>
                          <a:effectLst/>
                          <a:latin typeface="Aptos Narrow" panose="020B0004020202020204" pitchFamily="34" charset="0"/>
                        </a:rPr>
                        <a:t>31,0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2D78C"/>
                    </a:solidFill>
                  </a:tcPr>
                </a:tc>
                <a:extLst>
                  <a:ext uri="{0D108BD9-81ED-4DB2-BD59-A6C34878D82A}">
                    <a16:rowId xmlns:a16="http://schemas.microsoft.com/office/drawing/2014/main" val="3584026072"/>
                  </a:ext>
                </a:extLst>
              </a:tr>
              <a:tr h="144607">
                <a:tc>
                  <a:txBody>
                    <a:bodyPr/>
                    <a:lstStyle/>
                    <a:p>
                      <a:pPr algn="l" fontAlgn="b">
                        <a:buNone/>
                      </a:pPr>
                      <a:r>
                        <a:rPr lang="fr-FR" sz="1100" b="0" i="0" u="none" strike="noStrike">
                          <a:solidFill>
                            <a:srgbClr val="000000"/>
                          </a:solidFill>
                          <a:effectLst/>
                          <a:latin typeface="Aptos Narrow" panose="020B0004020202020204" pitchFamily="34" charset="0"/>
                        </a:rPr>
                        <a:t> Adults 35-54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40,4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extLst>
                  <a:ext uri="{0D108BD9-81ED-4DB2-BD59-A6C34878D82A}">
                    <a16:rowId xmlns:a16="http://schemas.microsoft.com/office/drawing/2014/main" val="3893751106"/>
                  </a:ext>
                </a:extLst>
              </a:tr>
              <a:tr h="144607">
                <a:tc>
                  <a:txBody>
                    <a:bodyPr/>
                    <a:lstStyle/>
                    <a:p>
                      <a:pPr algn="l" fontAlgn="b">
                        <a:buNone/>
                      </a:pPr>
                      <a:r>
                        <a:rPr lang="fr-FR" sz="1100" b="0" i="0" u="none" strike="noStrike">
                          <a:solidFill>
                            <a:srgbClr val="000000"/>
                          </a:solidFill>
                          <a:effectLst/>
                          <a:latin typeface="Aptos Narrow" panose="020B0004020202020204" pitchFamily="34" charset="0"/>
                        </a:rPr>
                        <a:t> Family </a:t>
                      </a:r>
                      <a:r>
                        <a:rPr lang="fr-FR" sz="1100" b="0" i="0" u="none" strike="noStrike" err="1">
                          <a:solidFill>
                            <a:srgbClr val="000000"/>
                          </a:solidFill>
                          <a:effectLst/>
                          <a:latin typeface="Aptos Narrow" panose="020B0004020202020204" pitchFamily="34" charset="0"/>
                        </a:rPr>
                        <a:t>with</a:t>
                      </a:r>
                      <a:r>
                        <a:rPr lang="fr-FR" sz="1100" b="0" i="0" u="none" strike="noStrike">
                          <a:solidFill>
                            <a:srgbClr val="000000"/>
                          </a:solidFill>
                          <a:effectLst/>
                          <a:latin typeface="Aptos Narrow" panose="020B0004020202020204" pitchFamily="34" charset="0"/>
                        </a:rPr>
                        <a:t> </a:t>
                      </a:r>
                      <a:r>
                        <a:rPr lang="fr-FR" sz="1100" b="0" i="0" u="none" strike="noStrike" err="1">
                          <a:solidFill>
                            <a:srgbClr val="000000"/>
                          </a:solidFill>
                          <a:effectLst/>
                          <a:latin typeface="Aptos Narrow" panose="020B0004020202020204" pitchFamily="34" charset="0"/>
                        </a:rPr>
                        <a:t>Children</a:t>
                      </a:r>
                      <a:r>
                        <a:rPr lang="fr-FR" sz="1100" b="0" i="0" u="none" strike="noStrike">
                          <a:solidFill>
                            <a:srgbClr val="000000"/>
                          </a:solidFill>
                          <a:effectLst/>
                          <a:latin typeface="Aptos Narrow" panose="020B0004020202020204" pitchFamily="34" charset="0"/>
                        </a:rPr>
                        <a:t> 0-2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32,8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3D289"/>
                    </a:solidFill>
                  </a:tcPr>
                </a:tc>
                <a:extLst>
                  <a:ext uri="{0D108BD9-81ED-4DB2-BD59-A6C34878D82A}">
                    <a16:rowId xmlns:a16="http://schemas.microsoft.com/office/drawing/2014/main" val="988900669"/>
                  </a:ext>
                </a:extLst>
              </a:tr>
              <a:tr h="144607">
                <a:tc>
                  <a:txBody>
                    <a:bodyPr/>
                    <a:lstStyle/>
                    <a:p>
                      <a:pPr algn="l" fontAlgn="b">
                        <a:buNone/>
                      </a:pPr>
                      <a:r>
                        <a:rPr lang="fr-FR" sz="1100" b="0" i="0" u="none" strike="noStrike">
                          <a:solidFill>
                            <a:srgbClr val="000000"/>
                          </a:solidFill>
                          <a:effectLst/>
                          <a:latin typeface="Aptos Narrow" panose="020B0004020202020204" pitchFamily="34" charset="0"/>
                        </a:rPr>
                        <a:t> Family with Children 12-17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21,5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F9C"/>
                    </a:solidFill>
                  </a:tcPr>
                </a:tc>
                <a:extLst>
                  <a:ext uri="{0D108BD9-81ED-4DB2-BD59-A6C34878D82A}">
                    <a16:rowId xmlns:a16="http://schemas.microsoft.com/office/drawing/2014/main" val="3696648188"/>
                  </a:ext>
                </a:extLst>
              </a:tr>
              <a:tr h="144607">
                <a:tc>
                  <a:txBody>
                    <a:bodyPr/>
                    <a:lstStyle/>
                    <a:p>
                      <a:pPr algn="l" fontAlgn="b">
                        <a:buNone/>
                      </a:pPr>
                      <a:r>
                        <a:rPr lang="fr-FR" sz="1100" b="0" i="0" u="none" strike="noStrike">
                          <a:solidFill>
                            <a:srgbClr val="000000"/>
                          </a:solidFill>
                          <a:effectLst/>
                          <a:latin typeface="Aptos Narrow" panose="020B0004020202020204" pitchFamily="34" charset="0"/>
                        </a:rPr>
                        <a:t> Family </a:t>
                      </a:r>
                      <a:r>
                        <a:rPr lang="fr-FR" sz="1100" b="0" i="0" u="none" strike="noStrike" err="1">
                          <a:solidFill>
                            <a:srgbClr val="000000"/>
                          </a:solidFill>
                          <a:effectLst/>
                          <a:latin typeface="Aptos Narrow" panose="020B0004020202020204" pitchFamily="34" charset="0"/>
                        </a:rPr>
                        <a:t>with</a:t>
                      </a:r>
                      <a:r>
                        <a:rPr lang="fr-FR" sz="1100" b="0" i="0" u="none" strike="noStrike">
                          <a:solidFill>
                            <a:srgbClr val="000000"/>
                          </a:solidFill>
                          <a:effectLst/>
                          <a:latin typeface="Aptos Narrow" panose="020B0004020202020204" pitchFamily="34" charset="0"/>
                        </a:rPr>
                        <a:t> </a:t>
                      </a:r>
                      <a:r>
                        <a:rPr lang="fr-FR" sz="1100" b="0" i="0" u="none" strike="noStrike" err="1">
                          <a:solidFill>
                            <a:srgbClr val="000000"/>
                          </a:solidFill>
                          <a:effectLst/>
                          <a:latin typeface="Aptos Narrow" panose="020B0004020202020204" pitchFamily="34" charset="0"/>
                        </a:rPr>
                        <a:t>Children</a:t>
                      </a:r>
                      <a:r>
                        <a:rPr lang="fr-FR" sz="1100" b="0" i="0" u="none" strike="noStrike">
                          <a:solidFill>
                            <a:srgbClr val="000000"/>
                          </a:solidFill>
                          <a:effectLst/>
                          <a:latin typeface="Aptos Narrow" panose="020B0004020202020204" pitchFamily="34" charset="0"/>
                        </a:rPr>
                        <a:t> 3-4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25,4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0E696"/>
                    </a:solidFill>
                  </a:tcPr>
                </a:tc>
                <a:extLst>
                  <a:ext uri="{0D108BD9-81ED-4DB2-BD59-A6C34878D82A}">
                    <a16:rowId xmlns:a16="http://schemas.microsoft.com/office/drawing/2014/main" val="1829715444"/>
                  </a:ext>
                </a:extLst>
              </a:tr>
              <a:tr h="144607">
                <a:tc>
                  <a:txBody>
                    <a:bodyPr/>
                    <a:lstStyle/>
                    <a:p>
                      <a:pPr algn="l" fontAlgn="b">
                        <a:buNone/>
                      </a:pPr>
                      <a:r>
                        <a:rPr lang="fr-FR" sz="1100" b="0" i="0" u="none" strike="noStrike">
                          <a:solidFill>
                            <a:srgbClr val="000000"/>
                          </a:solidFill>
                          <a:effectLst/>
                          <a:latin typeface="Aptos Narrow" panose="020B0004020202020204" pitchFamily="34" charset="0"/>
                        </a:rPr>
                        <a:t> Family with Children 5-11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34,0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9CF87"/>
                    </a:solidFill>
                  </a:tcPr>
                </a:tc>
                <a:extLst>
                  <a:ext uri="{0D108BD9-81ED-4DB2-BD59-A6C34878D82A}">
                    <a16:rowId xmlns:a16="http://schemas.microsoft.com/office/drawing/2014/main" val="1873093698"/>
                  </a:ext>
                </a:extLst>
              </a:tr>
              <a:tr h="144607">
                <a:tc>
                  <a:txBody>
                    <a:bodyPr/>
                    <a:lstStyle/>
                    <a:p>
                      <a:pPr algn="l" fontAlgn="b">
                        <a:buNone/>
                      </a:pPr>
                      <a:r>
                        <a:rPr lang="fr-FR" sz="1100" b="0" i="0" u="none" strike="noStrike">
                          <a:solidFill>
                            <a:srgbClr val="000000"/>
                          </a:solidFill>
                          <a:effectLst/>
                          <a:latin typeface="Aptos Narrow" panose="020B0004020202020204" pitchFamily="34" charset="0"/>
                        </a:rPr>
                        <a:t> Seniors active 55-74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40,1</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6BF7C"/>
                    </a:solidFill>
                  </a:tcPr>
                </a:tc>
                <a:extLst>
                  <a:ext uri="{0D108BD9-81ED-4DB2-BD59-A6C34878D82A}">
                    <a16:rowId xmlns:a16="http://schemas.microsoft.com/office/drawing/2014/main" val="3687783569"/>
                  </a:ext>
                </a:extLst>
              </a:tr>
              <a:tr h="144607">
                <a:tc>
                  <a:txBody>
                    <a:bodyPr/>
                    <a:lstStyle/>
                    <a:p>
                      <a:pPr algn="l" fontAlgn="b">
                        <a:buNone/>
                      </a:pPr>
                      <a:r>
                        <a:rPr lang="fr-FR" sz="1100" b="0" i="0" u="none" strike="noStrike">
                          <a:solidFill>
                            <a:srgbClr val="000000"/>
                          </a:solidFill>
                          <a:effectLst/>
                          <a:latin typeface="Aptos Narrow" panose="020B0004020202020204" pitchFamily="34" charset="0"/>
                        </a:rPr>
                        <a:t> Seniors&gt;75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endParaRPr lang="fr-FR" sz="1100" b="0"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89300899"/>
                  </a:ext>
                </a:extLst>
              </a:tr>
              <a:tr h="144607">
                <a:tc>
                  <a:txBody>
                    <a:bodyPr/>
                    <a:lstStyle/>
                    <a:p>
                      <a:pPr algn="l" fontAlgn="b">
                        <a:buNone/>
                      </a:pPr>
                      <a:r>
                        <a:rPr lang="fr-FR" sz="1100" b="0" i="0" u="none" strike="noStrike">
                          <a:solidFill>
                            <a:srgbClr val="000000"/>
                          </a:solidFill>
                          <a:effectLst/>
                          <a:latin typeface="Aptos Narrow" panose="020B0004020202020204" pitchFamily="34" charset="0"/>
                        </a:rPr>
                        <a:t> Young Adults 18-34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32,0</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9D48A"/>
                    </a:solidFill>
                  </a:tcPr>
                </a:tc>
                <a:extLst>
                  <a:ext uri="{0D108BD9-81ED-4DB2-BD59-A6C34878D82A}">
                    <a16:rowId xmlns:a16="http://schemas.microsoft.com/office/drawing/2014/main" val="1363766067"/>
                  </a:ext>
                </a:extLst>
              </a:tr>
            </a:tbl>
          </a:graphicData>
        </a:graphic>
      </p:graphicFrame>
      <p:sp>
        <p:nvSpPr>
          <p:cNvPr id="8" name="Rechthoek 4">
            <a:extLst>
              <a:ext uri="{FF2B5EF4-FFF2-40B4-BE49-F238E27FC236}">
                <a16:creationId xmlns:a16="http://schemas.microsoft.com/office/drawing/2014/main" id="{1F3F0138-6535-BABB-F156-7B98764CD74C}"/>
              </a:ext>
            </a:extLst>
          </p:cNvPr>
          <p:cNvSpPr/>
          <p:nvPr/>
        </p:nvSpPr>
        <p:spPr>
          <a:xfrm>
            <a:off x="-1" y="978100"/>
            <a:ext cx="11858372" cy="1696720"/>
          </a:xfrm>
          <a:prstGeom prst="rect">
            <a:avLst/>
          </a:prstGeom>
          <a:solidFill>
            <a:schemeClr val="bg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Household structure: TOP NPS are Adults and Seniors active whereas LOW NPS are on 3;4 and 12;17 years old.</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Villa category: NPS increases with the level of comfort, from Comfort to Premium to VIP.</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NPS Repeaters &gt; NPS Trialist and </a:t>
            </a:r>
            <a:r>
              <a:rPr lang="en-US" sz="1200" b="1" err="1">
                <a:solidFill>
                  <a:schemeClr val="tx2"/>
                </a:solidFill>
                <a:latin typeface="+mj-lt"/>
                <a:ea typeface="Calibri"/>
                <a:cs typeface="Calibri"/>
              </a:rPr>
              <a:t>ReActivated</a:t>
            </a:r>
            <a:r>
              <a:rPr lang="en-US" sz="1200" b="1">
                <a:solidFill>
                  <a:schemeClr val="tx2"/>
                </a:solidFill>
                <a:latin typeface="+mj-lt"/>
                <a:ea typeface="Calibri"/>
                <a:cs typeface="Calibri"/>
              </a:rPr>
              <a:t> guest.</a:t>
            </a:r>
          </a:p>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Origin customer: higher NPS on BE and GB (4% of volumes), DK and DE are in the average (85%), NL and FR are below the average (10%).</a:t>
            </a:r>
            <a:endParaRPr lang="en-US" sz="1200">
              <a:solidFill>
                <a:schemeClr val="tx2"/>
              </a:solidFill>
              <a:latin typeface="+mj-lt"/>
              <a:ea typeface="Calibri"/>
              <a:cs typeface="Calibri"/>
            </a:endParaRPr>
          </a:p>
        </p:txBody>
      </p:sp>
      <p:sp>
        <p:nvSpPr>
          <p:cNvPr id="9" name="Rectangle 8">
            <a:extLst>
              <a:ext uri="{FF2B5EF4-FFF2-40B4-BE49-F238E27FC236}">
                <a16:creationId xmlns:a16="http://schemas.microsoft.com/office/drawing/2014/main" id="{47518F6E-48D1-B798-7D84-43AAD4B9B21A}"/>
              </a:ext>
            </a:extLst>
          </p:cNvPr>
          <p:cNvSpPr/>
          <p:nvPr/>
        </p:nvSpPr>
        <p:spPr>
          <a:xfrm rot="16200000">
            <a:off x="-617105" y="1646060"/>
            <a:ext cx="1656000"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bg2"/>
                </a:solidFill>
                <a:ea typeface="Calibri"/>
                <a:cs typeface="Calibri"/>
              </a:rPr>
              <a:t>Analysis</a:t>
            </a:r>
            <a:endParaRPr lang="en-US" sz="1100">
              <a:solidFill>
                <a:schemeClr val="bg2"/>
              </a:solidFill>
            </a:endParaRPr>
          </a:p>
        </p:txBody>
      </p:sp>
      <p:graphicFrame>
        <p:nvGraphicFramePr>
          <p:cNvPr id="10" name="Table 9">
            <a:extLst>
              <a:ext uri="{FF2B5EF4-FFF2-40B4-BE49-F238E27FC236}">
                <a16:creationId xmlns:a16="http://schemas.microsoft.com/office/drawing/2014/main" id="{8025E892-88A7-B477-0A0C-C0954E00ADA5}"/>
              </a:ext>
            </a:extLst>
          </p:cNvPr>
          <p:cNvGraphicFramePr>
            <a:graphicFrameLocks noGrp="1"/>
          </p:cNvGraphicFramePr>
          <p:nvPr/>
        </p:nvGraphicFramePr>
        <p:xfrm>
          <a:off x="5986462" y="3494451"/>
          <a:ext cx="2203450" cy="920750"/>
        </p:xfrm>
        <a:graphic>
          <a:graphicData uri="http://schemas.openxmlformats.org/drawingml/2006/table">
            <a:tbl>
              <a:tblPr/>
              <a:tblGrid>
                <a:gridCol w="1785073">
                  <a:extLst>
                    <a:ext uri="{9D8B030D-6E8A-4147-A177-3AD203B41FA5}">
                      <a16:colId xmlns:a16="http://schemas.microsoft.com/office/drawing/2014/main" val="3263098242"/>
                    </a:ext>
                  </a:extLst>
                </a:gridCol>
                <a:gridCol w="418377">
                  <a:extLst>
                    <a:ext uri="{9D8B030D-6E8A-4147-A177-3AD203B41FA5}">
                      <a16:colId xmlns:a16="http://schemas.microsoft.com/office/drawing/2014/main" val="3988369642"/>
                    </a:ext>
                  </a:extLst>
                </a:gridCol>
              </a:tblGrid>
              <a:tr h="184150">
                <a:tc>
                  <a:txBody>
                    <a:bodyPr/>
                    <a:lstStyle/>
                    <a:p>
                      <a:pPr algn="l" fontAlgn="b">
                        <a:buNone/>
                      </a:pPr>
                      <a:endParaRPr lang="fr-FR" sz="1100" b="0"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110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28627780"/>
                  </a:ext>
                </a:extLst>
              </a:tr>
              <a:tr h="184150">
                <a:tc>
                  <a:txBody>
                    <a:bodyPr/>
                    <a:lstStyle/>
                    <a:p>
                      <a:pPr algn="l" fontAlgn="b">
                        <a:buNone/>
                      </a:pPr>
                      <a:r>
                        <a:rPr lang="fr-FR" sz="1100" b="1" i="0" u="none" strike="noStrike" err="1">
                          <a:solidFill>
                            <a:srgbClr val="000000"/>
                          </a:solidFill>
                          <a:effectLst/>
                          <a:latin typeface="Aptos Narrow" panose="020B0004020202020204" pitchFamily="34" charset="0"/>
                        </a:rPr>
                        <a:t>Nordborg</a:t>
                      </a:r>
                      <a:r>
                        <a:rPr lang="fr-FR" sz="1100" b="1" i="0" u="none" strike="noStrike">
                          <a:solidFill>
                            <a:srgbClr val="000000"/>
                          </a:solidFill>
                          <a:effectLst/>
                          <a:latin typeface="Aptos Narrow" panose="020B0004020202020204" pitchFamily="34" charset="0"/>
                        </a:rPr>
                        <a:t> Resort</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1" i="0" u="none" strike="noStrike">
                          <a:solidFill>
                            <a:srgbClr val="000000"/>
                          </a:solidFill>
                          <a:effectLst/>
                          <a:latin typeface="Aptos Narrow" panose="020B0004020202020204" pitchFamily="34" charset="0"/>
                        </a:rPr>
                        <a:t>30,3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4CE86"/>
                    </a:solidFill>
                  </a:tcPr>
                </a:tc>
                <a:extLst>
                  <a:ext uri="{0D108BD9-81ED-4DB2-BD59-A6C34878D82A}">
                    <a16:rowId xmlns:a16="http://schemas.microsoft.com/office/drawing/2014/main" val="204765191"/>
                  </a:ext>
                </a:extLst>
              </a:tr>
              <a:tr h="184150">
                <a:tc>
                  <a:txBody>
                    <a:bodyPr/>
                    <a:lstStyle/>
                    <a:p>
                      <a:pPr algn="l" fontAlgn="b">
                        <a:buNone/>
                      </a:pPr>
                      <a:r>
                        <a:rPr lang="fr-FR" sz="1100" b="0" i="0" u="none" strike="noStrike">
                          <a:solidFill>
                            <a:srgbClr val="000000"/>
                          </a:solidFill>
                          <a:effectLst/>
                          <a:latin typeface="Aptos Narrow" panose="020B0004020202020204" pitchFamily="34" charset="0"/>
                        </a:rPr>
                        <a:t>A</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F9C"/>
                    </a:solidFill>
                  </a:tcPr>
                </a:tc>
                <a:extLst>
                  <a:ext uri="{0D108BD9-81ED-4DB2-BD59-A6C34878D82A}">
                    <a16:rowId xmlns:a16="http://schemas.microsoft.com/office/drawing/2014/main" val="2260763375"/>
                  </a:ext>
                </a:extLst>
              </a:tr>
              <a:tr h="184150">
                <a:tc>
                  <a:txBody>
                    <a:bodyPr/>
                    <a:lstStyle/>
                    <a:p>
                      <a:pPr algn="l" fontAlgn="b">
                        <a:buNone/>
                      </a:pPr>
                      <a:r>
                        <a:rPr lang="fr-FR" sz="1100" b="0" i="0" u="none" strike="noStrike">
                          <a:solidFill>
                            <a:srgbClr val="000000"/>
                          </a:solidFill>
                          <a:effectLst/>
                          <a:latin typeface="Aptos Narrow" panose="020B0004020202020204" pitchFamily="34" charset="0"/>
                        </a:rPr>
                        <a:t>R</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33,8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extLst>
                  <a:ext uri="{0D108BD9-81ED-4DB2-BD59-A6C34878D82A}">
                    <a16:rowId xmlns:a16="http://schemas.microsoft.com/office/drawing/2014/main" val="3178735871"/>
                  </a:ext>
                </a:extLst>
              </a:tr>
              <a:tr h="184150">
                <a:tc>
                  <a:txBody>
                    <a:bodyPr/>
                    <a:lstStyle/>
                    <a:p>
                      <a:pPr algn="l" fontAlgn="b">
                        <a:buNone/>
                      </a:pPr>
                      <a:r>
                        <a:rPr lang="fr-FR" sz="1100" b="0" i="0" u="none" strike="noStrike">
                          <a:solidFill>
                            <a:srgbClr val="000000"/>
                          </a:solidFill>
                          <a:effectLst/>
                          <a:latin typeface="Aptos Narrow" panose="020B0004020202020204" pitchFamily="34" charset="0"/>
                        </a:rPr>
                        <a:t>T</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27,2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FDB8F"/>
                    </a:solidFill>
                  </a:tcPr>
                </a:tc>
                <a:extLst>
                  <a:ext uri="{0D108BD9-81ED-4DB2-BD59-A6C34878D82A}">
                    <a16:rowId xmlns:a16="http://schemas.microsoft.com/office/drawing/2014/main" val="1510603636"/>
                  </a:ext>
                </a:extLst>
              </a:tr>
            </a:tbl>
          </a:graphicData>
        </a:graphic>
      </p:graphicFrame>
      <p:graphicFrame>
        <p:nvGraphicFramePr>
          <p:cNvPr id="12" name="Table 11">
            <a:extLst>
              <a:ext uri="{FF2B5EF4-FFF2-40B4-BE49-F238E27FC236}">
                <a16:creationId xmlns:a16="http://schemas.microsoft.com/office/drawing/2014/main" id="{238243F1-765E-527A-0AA8-C05DC23D605D}"/>
              </a:ext>
            </a:extLst>
          </p:cNvPr>
          <p:cNvGraphicFramePr>
            <a:graphicFrameLocks noGrp="1"/>
          </p:cNvGraphicFramePr>
          <p:nvPr/>
        </p:nvGraphicFramePr>
        <p:xfrm>
          <a:off x="3228975" y="3494451"/>
          <a:ext cx="2486025" cy="1217930"/>
        </p:xfrm>
        <a:graphic>
          <a:graphicData uri="http://schemas.openxmlformats.org/drawingml/2006/table">
            <a:tbl>
              <a:tblPr/>
              <a:tblGrid>
                <a:gridCol w="2048921">
                  <a:extLst>
                    <a:ext uri="{9D8B030D-6E8A-4147-A177-3AD203B41FA5}">
                      <a16:colId xmlns:a16="http://schemas.microsoft.com/office/drawing/2014/main" val="149092334"/>
                    </a:ext>
                  </a:extLst>
                </a:gridCol>
                <a:gridCol w="437104">
                  <a:extLst>
                    <a:ext uri="{9D8B030D-6E8A-4147-A177-3AD203B41FA5}">
                      <a16:colId xmlns:a16="http://schemas.microsoft.com/office/drawing/2014/main" val="3526674013"/>
                    </a:ext>
                  </a:extLst>
                </a:gridCol>
              </a:tblGrid>
              <a:tr h="119063">
                <a:tc>
                  <a:txBody>
                    <a:bodyPr/>
                    <a:lstStyle/>
                    <a:p>
                      <a:pPr algn="l" fontAlgn="b">
                        <a:buNone/>
                      </a:pPr>
                      <a:endParaRPr lang="fr-FR" sz="1100" b="0"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110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61475415"/>
                  </a:ext>
                </a:extLst>
              </a:tr>
              <a:tr h="119063">
                <a:tc>
                  <a:txBody>
                    <a:bodyPr/>
                    <a:lstStyle/>
                    <a:p>
                      <a:pPr algn="l" fontAlgn="b">
                        <a:buNone/>
                      </a:pPr>
                      <a:r>
                        <a:rPr lang="fr-FR" sz="1100" b="1" i="0" u="none" strike="noStrike" err="1">
                          <a:solidFill>
                            <a:srgbClr val="000000"/>
                          </a:solidFill>
                          <a:effectLst/>
                          <a:latin typeface="Aptos Narrow" panose="020B0004020202020204" pitchFamily="34" charset="0"/>
                        </a:rPr>
                        <a:t>Nordborg</a:t>
                      </a:r>
                      <a:r>
                        <a:rPr lang="fr-FR" sz="1100" b="1" i="0" u="none" strike="noStrike">
                          <a:solidFill>
                            <a:srgbClr val="000000"/>
                          </a:solidFill>
                          <a:effectLst/>
                          <a:latin typeface="Aptos Narrow" panose="020B0004020202020204" pitchFamily="34" charset="0"/>
                        </a:rPr>
                        <a:t> Resort</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1" i="0" u="none" strike="noStrike">
                          <a:solidFill>
                            <a:srgbClr val="000000"/>
                          </a:solidFill>
                          <a:effectLst/>
                          <a:latin typeface="Aptos Narrow" panose="020B0004020202020204" pitchFamily="34" charset="0"/>
                        </a:rPr>
                        <a:t>30,3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ECC85"/>
                    </a:solidFill>
                  </a:tcPr>
                </a:tc>
                <a:extLst>
                  <a:ext uri="{0D108BD9-81ED-4DB2-BD59-A6C34878D82A}">
                    <a16:rowId xmlns:a16="http://schemas.microsoft.com/office/drawing/2014/main" val="1048866854"/>
                  </a:ext>
                </a:extLst>
              </a:tr>
              <a:tr h="119063">
                <a:tc>
                  <a:txBody>
                    <a:bodyPr/>
                    <a:lstStyle/>
                    <a:p>
                      <a:pPr algn="l" fontAlgn="b">
                        <a:buNone/>
                      </a:pPr>
                      <a:r>
                        <a:rPr lang="fr-FR" sz="1100" b="0" i="0" u="none" strike="noStrike">
                          <a:solidFill>
                            <a:srgbClr val="000000"/>
                          </a:solidFill>
                          <a:effectLst/>
                          <a:latin typeface="Aptos Narrow" panose="020B0004020202020204" pitchFamily="34" charset="0"/>
                        </a:rPr>
                        <a:t> </a:t>
                      </a:r>
                      <a:r>
                        <a:rPr lang="fr-FR" sz="1100" b="0" i="0" u="none" strike="noStrike" err="1">
                          <a:solidFill>
                            <a:srgbClr val="000000"/>
                          </a:solidFill>
                          <a:effectLst/>
                          <a:latin typeface="Aptos Narrow" panose="020B0004020202020204" pitchFamily="34" charset="0"/>
                        </a:rPr>
                        <a:t>Comfort</a:t>
                      </a:r>
                      <a:r>
                        <a:rPr lang="fr-FR" sz="1100" b="0" i="0" u="none" strike="noStrike">
                          <a:solidFill>
                            <a:srgbClr val="000000"/>
                          </a:solidFill>
                          <a:effectLst/>
                          <a:latin typeface="Aptos Narrow" panose="020B0004020202020204" pitchFamily="34" charset="0"/>
                        </a:rPr>
                        <a:t>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27,6</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5D88D"/>
                    </a:solidFill>
                  </a:tcPr>
                </a:tc>
                <a:extLst>
                  <a:ext uri="{0D108BD9-81ED-4DB2-BD59-A6C34878D82A}">
                    <a16:rowId xmlns:a16="http://schemas.microsoft.com/office/drawing/2014/main" val="1868937198"/>
                  </a:ext>
                </a:extLst>
              </a:tr>
              <a:tr h="119063">
                <a:tc>
                  <a:txBody>
                    <a:bodyPr/>
                    <a:lstStyle/>
                    <a:p>
                      <a:pPr algn="l" fontAlgn="b">
                        <a:buNone/>
                      </a:pPr>
                      <a:r>
                        <a:rPr lang="fr-FR" sz="1100" b="0" i="0" u="none" strike="noStrike">
                          <a:solidFill>
                            <a:srgbClr val="000000"/>
                          </a:solidFill>
                          <a:effectLst/>
                          <a:latin typeface="Aptos Narrow" panose="020B0004020202020204" pitchFamily="34" charset="0"/>
                        </a:rPr>
                        <a:t> Premium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30,4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8DCC84"/>
                    </a:solidFill>
                  </a:tcPr>
                </a:tc>
                <a:extLst>
                  <a:ext uri="{0D108BD9-81ED-4DB2-BD59-A6C34878D82A}">
                    <a16:rowId xmlns:a16="http://schemas.microsoft.com/office/drawing/2014/main" val="2294827455"/>
                  </a:ext>
                </a:extLst>
              </a:tr>
              <a:tr h="119063">
                <a:tc>
                  <a:txBody>
                    <a:bodyPr/>
                    <a:lstStyle/>
                    <a:p>
                      <a:pPr algn="l" fontAlgn="b">
                        <a:buNone/>
                      </a:pPr>
                      <a:r>
                        <a:rPr lang="fr-FR" sz="1100" b="0" i="0" u="none" strike="noStrike">
                          <a:solidFill>
                            <a:srgbClr val="000000"/>
                          </a:solidFill>
                          <a:effectLst/>
                          <a:latin typeface="Aptos Narrow" panose="020B0004020202020204" pitchFamily="34" charset="0"/>
                        </a:rPr>
                        <a:t> Premium cottage Wheelchair</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22,2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F9C"/>
                    </a:solidFill>
                  </a:tcPr>
                </a:tc>
                <a:extLst>
                  <a:ext uri="{0D108BD9-81ED-4DB2-BD59-A6C34878D82A}">
                    <a16:rowId xmlns:a16="http://schemas.microsoft.com/office/drawing/2014/main" val="3985678551"/>
                  </a:ext>
                </a:extLst>
              </a:tr>
              <a:tr h="119063">
                <a:tc>
                  <a:txBody>
                    <a:bodyPr/>
                    <a:lstStyle/>
                    <a:p>
                      <a:pPr algn="l" fontAlgn="b">
                        <a:buNone/>
                      </a:pPr>
                      <a:r>
                        <a:rPr lang="fr-FR" sz="1100" b="0" i="0" u="none" strike="noStrike">
                          <a:solidFill>
                            <a:srgbClr val="000000"/>
                          </a:solidFill>
                          <a:effectLst/>
                          <a:latin typeface="Aptos Narrow" panose="020B0004020202020204" pitchFamily="34" charset="0"/>
                        </a:rPr>
                        <a:t> VIP (disabled)</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endParaRPr lang="fr-FR" sz="1100" b="0"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22451646"/>
                  </a:ext>
                </a:extLst>
              </a:tr>
              <a:tr h="119063">
                <a:tc>
                  <a:txBody>
                    <a:bodyPr/>
                    <a:lstStyle/>
                    <a:p>
                      <a:pPr algn="l" fontAlgn="b">
                        <a:buNone/>
                      </a:pPr>
                      <a:r>
                        <a:rPr lang="fr-FR" sz="1100" b="0" i="0" u="none" strike="noStrike">
                          <a:solidFill>
                            <a:srgbClr val="000000"/>
                          </a:solidFill>
                          <a:effectLst/>
                          <a:latin typeface="Aptos Narrow" panose="020B0004020202020204" pitchFamily="34" charset="0"/>
                        </a:rPr>
                        <a:t> VIP cottage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33,4</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extLst>
                  <a:ext uri="{0D108BD9-81ED-4DB2-BD59-A6C34878D82A}">
                    <a16:rowId xmlns:a16="http://schemas.microsoft.com/office/drawing/2014/main" val="1120417423"/>
                  </a:ext>
                </a:extLst>
              </a:tr>
            </a:tbl>
          </a:graphicData>
        </a:graphic>
      </p:graphicFrame>
      <p:graphicFrame>
        <p:nvGraphicFramePr>
          <p:cNvPr id="13" name="Table 12">
            <a:extLst>
              <a:ext uri="{FF2B5EF4-FFF2-40B4-BE49-F238E27FC236}">
                <a16:creationId xmlns:a16="http://schemas.microsoft.com/office/drawing/2014/main" id="{10D53AD2-FE9E-C43C-E546-E173AF22CE00}"/>
              </a:ext>
            </a:extLst>
          </p:cNvPr>
          <p:cNvGraphicFramePr>
            <a:graphicFrameLocks noGrp="1"/>
          </p:cNvGraphicFramePr>
          <p:nvPr/>
        </p:nvGraphicFramePr>
        <p:xfrm>
          <a:off x="8591550" y="3494451"/>
          <a:ext cx="2247900" cy="1473200"/>
        </p:xfrm>
        <a:graphic>
          <a:graphicData uri="http://schemas.openxmlformats.org/drawingml/2006/table">
            <a:tbl>
              <a:tblPr/>
              <a:tblGrid>
                <a:gridCol w="1612900">
                  <a:extLst>
                    <a:ext uri="{9D8B030D-6E8A-4147-A177-3AD203B41FA5}">
                      <a16:colId xmlns:a16="http://schemas.microsoft.com/office/drawing/2014/main" val="3048137418"/>
                    </a:ext>
                  </a:extLst>
                </a:gridCol>
                <a:gridCol w="635000">
                  <a:extLst>
                    <a:ext uri="{9D8B030D-6E8A-4147-A177-3AD203B41FA5}">
                      <a16:colId xmlns:a16="http://schemas.microsoft.com/office/drawing/2014/main" val="536161363"/>
                    </a:ext>
                  </a:extLst>
                </a:gridCol>
              </a:tblGrid>
              <a:tr h="184150">
                <a:tc>
                  <a:txBody>
                    <a:bodyPr/>
                    <a:lstStyle/>
                    <a:p>
                      <a:pPr algn="l" fontAlgn="b">
                        <a:buNone/>
                      </a:pPr>
                      <a:endParaRPr lang="fr-FR" sz="1100" b="0" i="0" u="none" strike="noStrike">
                        <a:solidFill>
                          <a:srgbClr val="000000"/>
                        </a:solidFill>
                        <a:effectLst/>
                        <a:latin typeface="Aptos Narrow" panose="020B0004020202020204" pitchFamily="34" charset="0"/>
                      </a:endParaRP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b">
                        <a:buNone/>
                      </a:pPr>
                      <a:r>
                        <a:rPr lang="fr-FR" sz="1100" b="1" i="0" u="none" strike="noStrike">
                          <a:solidFill>
                            <a:srgbClr val="000000"/>
                          </a:solidFill>
                          <a:effectLst/>
                          <a:latin typeface="Aptos Narrow" panose="020B0004020202020204" pitchFamily="34" charset="0"/>
                        </a:rPr>
                        <a:t>FY25</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65807457"/>
                  </a:ext>
                </a:extLst>
              </a:tr>
              <a:tr h="184150">
                <a:tc>
                  <a:txBody>
                    <a:bodyPr/>
                    <a:lstStyle/>
                    <a:p>
                      <a:pPr algn="l" fontAlgn="b">
                        <a:buNone/>
                      </a:pPr>
                      <a:r>
                        <a:rPr lang="fr-FR" sz="1100" b="1" i="0" u="none" strike="noStrike" err="1">
                          <a:solidFill>
                            <a:srgbClr val="000000"/>
                          </a:solidFill>
                          <a:effectLst/>
                          <a:latin typeface="Aptos Narrow" panose="020B0004020202020204" pitchFamily="34" charset="0"/>
                        </a:rPr>
                        <a:t>Nordborg</a:t>
                      </a:r>
                      <a:r>
                        <a:rPr lang="fr-FR" sz="1100" b="1" i="0" u="none" strike="noStrike">
                          <a:solidFill>
                            <a:srgbClr val="000000"/>
                          </a:solidFill>
                          <a:effectLst/>
                          <a:latin typeface="Aptos Narrow" panose="020B0004020202020204" pitchFamily="34" charset="0"/>
                        </a:rPr>
                        <a:t> Resort</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1" i="0" u="none" strike="noStrike">
                          <a:solidFill>
                            <a:srgbClr val="000000"/>
                          </a:solidFill>
                          <a:effectLst/>
                          <a:latin typeface="Aptos Narrow" panose="020B0004020202020204" pitchFamily="34" charset="0"/>
                        </a:rPr>
                        <a:t>30,3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DE595"/>
                    </a:solidFill>
                  </a:tcPr>
                </a:tc>
                <a:extLst>
                  <a:ext uri="{0D108BD9-81ED-4DB2-BD59-A6C34878D82A}">
                    <a16:rowId xmlns:a16="http://schemas.microsoft.com/office/drawing/2014/main" val="1762179744"/>
                  </a:ext>
                </a:extLst>
              </a:tr>
              <a:tr h="184150">
                <a:tc>
                  <a:txBody>
                    <a:bodyPr/>
                    <a:lstStyle/>
                    <a:p>
                      <a:pPr algn="l" fontAlgn="b">
                        <a:buNone/>
                      </a:pPr>
                      <a:r>
                        <a:rPr lang="fr-FR" sz="1100" b="0" i="0" u="none" strike="noStrike">
                          <a:solidFill>
                            <a:srgbClr val="000000"/>
                          </a:solidFill>
                          <a:effectLst/>
                          <a:latin typeface="Aptos Narrow" panose="020B0004020202020204" pitchFamily="34" charset="0"/>
                        </a:rPr>
                        <a:t> BE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37,7</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BDDB8E"/>
                    </a:solidFill>
                  </a:tcPr>
                </a:tc>
                <a:extLst>
                  <a:ext uri="{0D108BD9-81ED-4DB2-BD59-A6C34878D82A}">
                    <a16:rowId xmlns:a16="http://schemas.microsoft.com/office/drawing/2014/main" val="3599365414"/>
                  </a:ext>
                </a:extLst>
              </a:tr>
              <a:tr h="184150">
                <a:tc>
                  <a:txBody>
                    <a:bodyPr/>
                    <a:lstStyle/>
                    <a:p>
                      <a:pPr algn="l" fontAlgn="b">
                        <a:buNone/>
                      </a:pPr>
                      <a:r>
                        <a:rPr lang="fr-FR" sz="1100" b="0" i="0" u="none" strike="noStrike">
                          <a:solidFill>
                            <a:srgbClr val="000000"/>
                          </a:solidFill>
                          <a:effectLst/>
                          <a:latin typeface="Aptos Narrow" panose="020B0004020202020204" pitchFamily="34" charset="0"/>
                        </a:rPr>
                        <a:t> DE</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30,2</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DE595"/>
                    </a:solidFill>
                  </a:tcPr>
                </a:tc>
                <a:extLst>
                  <a:ext uri="{0D108BD9-81ED-4DB2-BD59-A6C34878D82A}">
                    <a16:rowId xmlns:a16="http://schemas.microsoft.com/office/drawing/2014/main" val="1453604478"/>
                  </a:ext>
                </a:extLst>
              </a:tr>
              <a:tr h="184150">
                <a:tc>
                  <a:txBody>
                    <a:bodyPr/>
                    <a:lstStyle/>
                    <a:p>
                      <a:pPr algn="l" fontAlgn="b">
                        <a:buNone/>
                      </a:pPr>
                      <a:r>
                        <a:rPr lang="fr-FR" sz="1100" b="0" i="0" u="none" strike="noStrike">
                          <a:solidFill>
                            <a:srgbClr val="000000"/>
                          </a:solidFill>
                          <a:effectLst/>
                          <a:latin typeface="Aptos Narrow" panose="020B0004020202020204" pitchFamily="34" charset="0"/>
                        </a:rPr>
                        <a:t> DK</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31,9</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6E294"/>
                    </a:solidFill>
                  </a:tcPr>
                </a:tc>
                <a:extLst>
                  <a:ext uri="{0D108BD9-81ED-4DB2-BD59-A6C34878D82A}">
                    <a16:rowId xmlns:a16="http://schemas.microsoft.com/office/drawing/2014/main" val="3076352952"/>
                  </a:ext>
                </a:extLst>
              </a:tr>
              <a:tr h="184150">
                <a:tc>
                  <a:txBody>
                    <a:bodyPr/>
                    <a:lstStyle/>
                    <a:p>
                      <a:pPr algn="l" fontAlgn="b">
                        <a:buNone/>
                      </a:pPr>
                      <a:r>
                        <a:rPr lang="fr-FR" sz="1100" b="0" i="0" u="none" strike="noStrike">
                          <a:solidFill>
                            <a:srgbClr val="000000"/>
                          </a:solidFill>
                          <a:effectLst/>
                          <a:latin typeface="Aptos Narrow" panose="020B0004020202020204" pitchFamily="34" charset="0"/>
                        </a:rPr>
                        <a:t> FR</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27,8</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E8E897"/>
                    </a:solidFill>
                  </a:tcPr>
                </a:tc>
                <a:extLst>
                  <a:ext uri="{0D108BD9-81ED-4DB2-BD59-A6C34878D82A}">
                    <a16:rowId xmlns:a16="http://schemas.microsoft.com/office/drawing/2014/main" val="2790805254"/>
                  </a:ext>
                </a:extLst>
              </a:tr>
              <a:tr h="184150">
                <a:tc>
                  <a:txBody>
                    <a:bodyPr/>
                    <a:lstStyle/>
                    <a:p>
                      <a:pPr algn="l" fontAlgn="b">
                        <a:buNone/>
                      </a:pPr>
                      <a:r>
                        <a:rPr lang="fr-FR" sz="1100" b="0" i="0" u="none" strike="noStrike">
                          <a:solidFill>
                            <a:srgbClr val="000000"/>
                          </a:solidFill>
                          <a:effectLst/>
                          <a:latin typeface="Aptos Narrow" panose="020B0004020202020204" pitchFamily="34" charset="0"/>
                        </a:rPr>
                        <a:t> GB</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58,3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63BE7B"/>
                    </a:solidFill>
                  </a:tcPr>
                </a:tc>
                <a:extLst>
                  <a:ext uri="{0D108BD9-81ED-4DB2-BD59-A6C34878D82A}">
                    <a16:rowId xmlns:a16="http://schemas.microsoft.com/office/drawing/2014/main" val="12653207"/>
                  </a:ext>
                </a:extLst>
              </a:tr>
              <a:tr h="184150">
                <a:tc>
                  <a:txBody>
                    <a:bodyPr/>
                    <a:lstStyle/>
                    <a:p>
                      <a:pPr algn="l" fontAlgn="b">
                        <a:buNone/>
                      </a:pPr>
                      <a:r>
                        <a:rPr lang="fr-FR" sz="1100" b="0" i="0" u="none" strike="noStrike">
                          <a:solidFill>
                            <a:srgbClr val="000000"/>
                          </a:solidFill>
                          <a:effectLst/>
                          <a:latin typeface="Aptos Narrow" panose="020B0004020202020204" pitchFamily="34" charset="0"/>
                        </a:rPr>
                        <a:t> NL</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fr-FR" sz="1100" b="0" i="0" u="none" strike="noStrike">
                          <a:solidFill>
                            <a:srgbClr val="000000"/>
                          </a:solidFill>
                          <a:effectLst/>
                          <a:latin typeface="Aptos Narrow" panose="020B0004020202020204" pitchFamily="34" charset="0"/>
                        </a:rPr>
                        <a:t>22,3</a:t>
                      </a:r>
                    </a:p>
                  </a:txBody>
                  <a:tcPr marL="6350" marR="6350" marT="6350" marB="0" anchor="b">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EF9C"/>
                    </a:solidFill>
                  </a:tcPr>
                </a:tc>
                <a:extLst>
                  <a:ext uri="{0D108BD9-81ED-4DB2-BD59-A6C34878D82A}">
                    <a16:rowId xmlns:a16="http://schemas.microsoft.com/office/drawing/2014/main" val="4160788635"/>
                  </a:ext>
                </a:extLst>
              </a:tr>
            </a:tbl>
          </a:graphicData>
        </a:graphic>
      </p:graphicFrame>
    </p:spTree>
    <p:extLst>
      <p:ext uri="{BB962C8B-B14F-4D97-AF65-F5344CB8AC3E}">
        <p14:creationId xmlns:p14="http://schemas.microsoft.com/office/powerpoint/2010/main" val="35765388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F6E02-B504-EF6E-369B-155F9CF4352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F6320C-FE48-5206-58A3-BF427BB8CEBB}"/>
              </a:ext>
            </a:extLst>
          </p:cNvPr>
          <p:cNvSpPr>
            <a:spLocks noGrp="1"/>
          </p:cNvSpPr>
          <p:nvPr>
            <p:ph type="sldNum" sz="quarter" idx="12"/>
          </p:nvPr>
        </p:nvSpPr>
        <p:spPr/>
        <p:txBody>
          <a:bodyPr/>
          <a:lstStyle/>
          <a:p>
            <a:fld id="{0D2E6A04-B99A-6C4D-8942-945F97C9E705}" type="slidenum">
              <a:rPr lang="en-US" smtClean="0"/>
              <a:pPr/>
              <a:t>69</a:t>
            </a:fld>
            <a:endParaRPr lang="en-US"/>
          </a:p>
        </p:txBody>
      </p:sp>
      <p:sp>
        <p:nvSpPr>
          <p:cNvPr id="3" name="Date Placeholder 2">
            <a:extLst>
              <a:ext uri="{FF2B5EF4-FFF2-40B4-BE49-F238E27FC236}">
                <a16:creationId xmlns:a16="http://schemas.microsoft.com/office/drawing/2014/main" id="{402B4B3B-C09D-0935-57D0-D764BC8D00E4}"/>
              </a:ext>
            </a:extLst>
          </p:cNvPr>
          <p:cNvSpPr>
            <a:spLocks noGrp="1"/>
          </p:cNvSpPr>
          <p:nvPr>
            <p:ph type="dt" sz="half" idx="10"/>
          </p:nvPr>
        </p:nvSpPr>
        <p:spPr/>
        <p:txBody>
          <a:bodyPr/>
          <a:lstStyle/>
          <a:p>
            <a:fld id="{05C20A28-4BAC-4477-9026-1E123DBFBC43}" type="datetime1">
              <a:rPr lang="fr-FR" smtClean="0"/>
              <a:pPr/>
              <a:t>27/11/2025</a:t>
            </a:fld>
            <a:endParaRPr lang="en-US"/>
          </a:p>
        </p:txBody>
      </p:sp>
      <p:sp>
        <p:nvSpPr>
          <p:cNvPr id="5" name="Title 4">
            <a:extLst>
              <a:ext uri="{FF2B5EF4-FFF2-40B4-BE49-F238E27FC236}">
                <a16:creationId xmlns:a16="http://schemas.microsoft.com/office/drawing/2014/main" id="{1D297743-8242-161E-F9AD-886DBE313826}"/>
              </a:ext>
            </a:extLst>
          </p:cNvPr>
          <p:cNvSpPr>
            <a:spLocks noGrp="1"/>
          </p:cNvSpPr>
          <p:nvPr>
            <p:ph type="title"/>
          </p:nvPr>
        </p:nvSpPr>
        <p:spPr>
          <a:xfrm>
            <a:off x="334963" y="303238"/>
            <a:ext cx="11303317" cy="487938"/>
          </a:xfrm>
        </p:spPr>
        <p:txBody>
          <a:bodyPr/>
          <a:lstStyle/>
          <a:p>
            <a:r>
              <a:rPr lang="fr-FR" err="1"/>
              <a:t>Denmark</a:t>
            </a:r>
            <a:r>
              <a:rPr lang="fr-FR"/>
              <a:t> – text </a:t>
            </a:r>
            <a:r>
              <a:rPr lang="fr-FR" err="1"/>
              <a:t>analytics</a:t>
            </a:r>
            <a:r>
              <a:rPr lang="fr-FR"/>
              <a:t>, </a:t>
            </a:r>
            <a:r>
              <a:rPr lang="fr-FR" err="1"/>
              <a:t>bottom</a:t>
            </a:r>
            <a:r>
              <a:rPr lang="fr-FR"/>
              <a:t> topics </a:t>
            </a:r>
            <a:r>
              <a:rPr lang="fr-FR" err="1"/>
              <a:t>with</a:t>
            </a:r>
            <a:r>
              <a:rPr lang="fr-FR"/>
              <a:t> </a:t>
            </a:r>
            <a:r>
              <a:rPr lang="fr-FR" err="1"/>
              <a:t>higher</a:t>
            </a:r>
            <a:r>
              <a:rPr lang="fr-FR"/>
              <a:t> </a:t>
            </a:r>
            <a:r>
              <a:rPr lang="fr-FR" err="1"/>
              <a:t>negative</a:t>
            </a:r>
            <a:r>
              <a:rPr lang="fr-FR"/>
              <a:t> impact score on NPS</a:t>
            </a:r>
          </a:p>
        </p:txBody>
      </p:sp>
      <p:sp>
        <p:nvSpPr>
          <p:cNvPr id="8" name="Rechthoek 4">
            <a:extLst>
              <a:ext uri="{FF2B5EF4-FFF2-40B4-BE49-F238E27FC236}">
                <a16:creationId xmlns:a16="http://schemas.microsoft.com/office/drawing/2014/main" id="{34298509-0584-9AE9-F2A5-781C83149842}"/>
              </a:ext>
            </a:extLst>
          </p:cNvPr>
          <p:cNvSpPr/>
          <p:nvPr/>
        </p:nvSpPr>
        <p:spPr>
          <a:xfrm>
            <a:off x="-1" y="978100"/>
            <a:ext cx="11858372" cy="1267260"/>
          </a:xfrm>
          <a:prstGeom prst="rect">
            <a:avLst/>
          </a:prstGeom>
          <a:solidFill>
            <a:schemeClr val="bg2">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720725" lvl="2" indent="-161925">
              <a:lnSpc>
                <a:spcPct val="120000"/>
              </a:lnSpc>
              <a:buFont typeface="Arial" panose="020B0604020202020204" pitchFamily="34" charset="0"/>
              <a:buChar char="•"/>
            </a:pPr>
            <a:r>
              <a:rPr lang="en-US" sz="1200" b="1">
                <a:solidFill>
                  <a:schemeClr val="tx2"/>
                </a:solidFill>
                <a:latin typeface="+mj-lt"/>
                <a:ea typeface="Calibri"/>
                <a:cs typeface="Calibri"/>
              </a:rPr>
              <a:t>F&amp;B cost, accommodation issues (temperature and bugs) and Aqua Mundo issues have the highest negative impact score on NPS. </a:t>
            </a:r>
            <a:endParaRPr lang="en-US" sz="1200">
              <a:solidFill>
                <a:schemeClr val="tx2"/>
              </a:solidFill>
              <a:latin typeface="+mj-lt"/>
              <a:ea typeface="Calibri"/>
              <a:cs typeface="Calibri"/>
            </a:endParaRPr>
          </a:p>
        </p:txBody>
      </p:sp>
      <p:sp>
        <p:nvSpPr>
          <p:cNvPr id="9" name="Rectangle 8">
            <a:extLst>
              <a:ext uri="{FF2B5EF4-FFF2-40B4-BE49-F238E27FC236}">
                <a16:creationId xmlns:a16="http://schemas.microsoft.com/office/drawing/2014/main" id="{F37EE1CA-6791-10E9-5E57-6A1191385CFA}"/>
              </a:ext>
            </a:extLst>
          </p:cNvPr>
          <p:cNvSpPr/>
          <p:nvPr/>
        </p:nvSpPr>
        <p:spPr>
          <a:xfrm rot="16200000">
            <a:off x="-407529" y="1436485"/>
            <a:ext cx="1236849" cy="3754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a:solidFill>
                  <a:schemeClr val="bg2"/>
                </a:solidFill>
                <a:ea typeface="Calibri"/>
                <a:cs typeface="Calibri"/>
              </a:rPr>
              <a:t>Analysis</a:t>
            </a:r>
            <a:endParaRPr lang="en-US" sz="1100">
              <a:solidFill>
                <a:schemeClr val="bg2"/>
              </a:solidFill>
            </a:endParaRPr>
          </a:p>
        </p:txBody>
      </p:sp>
      <p:pic>
        <p:nvPicPr>
          <p:cNvPr id="6" name="Picture 5">
            <a:extLst>
              <a:ext uri="{FF2B5EF4-FFF2-40B4-BE49-F238E27FC236}">
                <a16:creationId xmlns:a16="http://schemas.microsoft.com/office/drawing/2014/main" id="{5933BFAB-FC8E-5B61-FA59-A56C22A80686}"/>
              </a:ext>
            </a:extLst>
          </p:cNvPr>
          <p:cNvPicPr>
            <a:picLocks noChangeAspect="1"/>
          </p:cNvPicPr>
          <p:nvPr/>
        </p:nvPicPr>
        <p:blipFill>
          <a:blip r:embed="rId2"/>
          <a:stretch>
            <a:fillRect/>
          </a:stretch>
        </p:blipFill>
        <p:spPr>
          <a:xfrm>
            <a:off x="2190205" y="2618500"/>
            <a:ext cx="7811590" cy="3429479"/>
          </a:xfrm>
          <a:prstGeom prst="rect">
            <a:avLst/>
          </a:prstGeom>
        </p:spPr>
      </p:pic>
    </p:spTree>
    <p:extLst>
      <p:ext uri="{BB962C8B-B14F-4D97-AF65-F5344CB8AC3E}">
        <p14:creationId xmlns:p14="http://schemas.microsoft.com/office/powerpoint/2010/main" val="281070293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73236-A86A-2EA2-643F-0DF631FCF61C}"/>
              </a:ext>
            </a:extLst>
          </p:cNvPr>
          <p:cNvSpPr>
            <a:spLocks noGrp="1"/>
          </p:cNvSpPr>
          <p:nvPr>
            <p:ph type="title"/>
          </p:nvPr>
        </p:nvSpPr>
        <p:spPr/>
        <p:txBody>
          <a:bodyPr/>
          <a:lstStyle/>
          <a:p>
            <a:r>
              <a:rPr lang="fr-FR" err="1"/>
              <a:t>Thank</a:t>
            </a:r>
            <a:r>
              <a:rPr lang="fr-FR"/>
              <a:t> </a:t>
            </a:r>
            <a:r>
              <a:rPr lang="fr-FR" err="1"/>
              <a:t>you</a:t>
            </a:r>
            <a:endParaRPr lang="fr-FR"/>
          </a:p>
        </p:txBody>
      </p:sp>
      <p:sp>
        <p:nvSpPr>
          <p:cNvPr id="3" name="Date Placeholder 2">
            <a:extLst>
              <a:ext uri="{FF2B5EF4-FFF2-40B4-BE49-F238E27FC236}">
                <a16:creationId xmlns:a16="http://schemas.microsoft.com/office/drawing/2014/main" id="{636E39B8-1E84-9999-3887-F03290E88FA9}"/>
              </a:ext>
            </a:extLst>
          </p:cNvPr>
          <p:cNvSpPr>
            <a:spLocks noGrp="1"/>
          </p:cNvSpPr>
          <p:nvPr>
            <p:ph type="dt" sz="half" idx="10"/>
          </p:nvPr>
        </p:nvSpPr>
        <p:spPr/>
        <p:txBody>
          <a:bodyPr/>
          <a:lstStyle/>
          <a:p>
            <a:fld id="{CACEA970-51D5-41D8-BAF3-D0927549698A}" type="datetime1">
              <a:rPr lang="fr-FR" smtClean="0"/>
              <a:t>27/11/2025</a:t>
            </a:fld>
            <a:endParaRPr lang="en-US"/>
          </a:p>
        </p:txBody>
      </p:sp>
      <p:sp>
        <p:nvSpPr>
          <p:cNvPr id="4" name="Text Placeholder 3">
            <a:extLst>
              <a:ext uri="{FF2B5EF4-FFF2-40B4-BE49-F238E27FC236}">
                <a16:creationId xmlns:a16="http://schemas.microsoft.com/office/drawing/2014/main" id="{4CC92C07-6D40-3E60-9C55-98FC44D537AB}"/>
              </a:ext>
            </a:extLst>
          </p:cNvPr>
          <p:cNvSpPr>
            <a:spLocks noGrp="1"/>
          </p:cNvSpPr>
          <p:nvPr>
            <p:ph type="body" sz="quarter" idx="11"/>
          </p:nvPr>
        </p:nvSpPr>
        <p:spPr/>
        <p:txBody>
          <a:bodyPr/>
          <a:lstStyle/>
          <a:p>
            <a:r>
              <a:rPr lang="fr-FR"/>
              <a:t>Product Intelligence</a:t>
            </a:r>
          </a:p>
        </p:txBody>
      </p:sp>
    </p:spTree>
    <p:extLst>
      <p:ext uri="{BB962C8B-B14F-4D97-AF65-F5344CB8AC3E}">
        <p14:creationId xmlns:p14="http://schemas.microsoft.com/office/powerpoint/2010/main" val="28577614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B1771-45D0-8BBB-BDAD-99B3313F1198}"/>
              </a:ext>
            </a:extLst>
          </p:cNvPr>
          <p:cNvSpPr>
            <a:spLocks noGrp="1"/>
          </p:cNvSpPr>
          <p:nvPr>
            <p:ph type="title"/>
          </p:nvPr>
        </p:nvSpPr>
        <p:spPr/>
        <p:txBody>
          <a:bodyPr/>
          <a:lstStyle/>
          <a:p>
            <a:r>
              <a:rPr lang="en-US" sz="3000"/>
              <a:t>Understanding the nomenclature used in our NPS program with Medallia</a:t>
            </a:r>
            <a:endParaRPr lang="fr-FR" sz="3000"/>
          </a:p>
        </p:txBody>
      </p:sp>
      <p:sp>
        <p:nvSpPr>
          <p:cNvPr id="3" name="Date Placeholder 2">
            <a:extLst>
              <a:ext uri="{FF2B5EF4-FFF2-40B4-BE49-F238E27FC236}">
                <a16:creationId xmlns:a16="http://schemas.microsoft.com/office/drawing/2014/main" id="{BD6BD3C9-4170-953F-6BA7-8491D641571B}"/>
              </a:ext>
            </a:extLst>
          </p:cNvPr>
          <p:cNvSpPr>
            <a:spLocks noGrp="1"/>
          </p:cNvSpPr>
          <p:nvPr>
            <p:ph type="dt" sz="half" idx="10"/>
          </p:nvPr>
        </p:nvSpPr>
        <p:spPr/>
        <p:txBody>
          <a:bodyPr/>
          <a:lstStyle/>
          <a:p>
            <a:fld id="{CACEA970-51D5-41D8-BAF3-D0927549698A}" type="datetime1">
              <a:rPr lang="fr-FR" smtClean="0"/>
              <a:t>27/11/2025</a:t>
            </a:fld>
            <a:endParaRPr lang="en-US"/>
          </a:p>
        </p:txBody>
      </p:sp>
      <p:sp>
        <p:nvSpPr>
          <p:cNvPr id="4" name="Text Placeholder 3">
            <a:extLst>
              <a:ext uri="{FF2B5EF4-FFF2-40B4-BE49-F238E27FC236}">
                <a16:creationId xmlns:a16="http://schemas.microsoft.com/office/drawing/2014/main" id="{108D0298-5480-2F1B-3450-5F4443D9102D}"/>
              </a:ext>
            </a:extLst>
          </p:cNvPr>
          <p:cNvSpPr>
            <a:spLocks noGrp="1"/>
          </p:cNvSpPr>
          <p:nvPr>
            <p:ph type="body" sz="quarter" idx="11"/>
          </p:nvPr>
        </p:nvSpPr>
        <p:spPr/>
        <p:txBody>
          <a:bodyPr/>
          <a:lstStyle/>
          <a:p>
            <a:r>
              <a:rPr lang="fr-FR"/>
              <a:t>Product Intelligence</a:t>
            </a:r>
          </a:p>
        </p:txBody>
      </p:sp>
    </p:spTree>
    <p:extLst>
      <p:ext uri="{BB962C8B-B14F-4D97-AF65-F5344CB8AC3E}">
        <p14:creationId xmlns:p14="http://schemas.microsoft.com/office/powerpoint/2010/main" val="8744759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BA4EA757-CF5B-4BFC-B021-7B9D49E20A3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2E6A04-B99A-6C4D-8942-945F97C9E705}" type="slidenum">
              <a:rPr kumimoji="0" lang="en-US" sz="1200" b="0" i="0" u="none" strike="noStrike" kern="1200" cap="none" spc="0" normalizeH="0" baseline="0" noProof="0" smtClean="0">
                <a:ln>
                  <a:noFill/>
                </a:ln>
                <a:solidFill>
                  <a:srgbClr val="045E51"/>
                </a:solidFill>
                <a:effectLst/>
                <a:uLnTx/>
                <a:uFillTx/>
                <a:latin typeface="Tahom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US" sz="1200" b="0" i="0" u="none" strike="noStrike" kern="1200" cap="none" spc="0" normalizeH="0" baseline="0" noProof="0">
              <a:ln>
                <a:noFill/>
              </a:ln>
              <a:solidFill>
                <a:srgbClr val="045E51"/>
              </a:solidFill>
              <a:effectLst/>
              <a:uLnTx/>
              <a:uFillTx/>
              <a:latin typeface="Tahoma"/>
              <a:ea typeface="+mn-ea"/>
              <a:cs typeface="+mn-cs"/>
            </a:endParaRPr>
          </a:p>
        </p:txBody>
      </p:sp>
      <p:sp>
        <p:nvSpPr>
          <p:cNvPr id="4" name="Espace réservé du contenu 3">
            <a:extLst>
              <a:ext uri="{FF2B5EF4-FFF2-40B4-BE49-F238E27FC236}">
                <a16:creationId xmlns:a16="http://schemas.microsoft.com/office/drawing/2014/main" id="{1322845D-A116-4519-A64E-189E333B9F6F}"/>
              </a:ext>
            </a:extLst>
          </p:cNvPr>
          <p:cNvSpPr>
            <a:spLocks noGrp="1"/>
          </p:cNvSpPr>
          <p:nvPr>
            <p:ph sz="quarter" idx="13"/>
          </p:nvPr>
        </p:nvSpPr>
        <p:spPr>
          <a:xfrm>
            <a:off x="336757" y="1096478"/>
            <a:ext cx="11087835" cy="4521684"/>
          </a:xfrm>
        </p:spPr>
        <p:txBody>
          <a:bodyPr/>
          <a:lstStyle/>
          <a:p>
            <a:pPr lvl="2"/>
            <a:r>
              <a:rPr lang="fr-FR" sz="1800">
                <a:latin typeface="Bagoss Standard Medium" panose="020B0604060102020204" pitchFamily="34" charset="0"/>
                <a:cs typeface="Bagoss Standard Medium" panose="020B0604060102020204" pitchFamily="34" charset="0"/>
              </a:rPr>
              <a:t>Definition</a:t>
            </a:r>
          </a:p>
          <a:p>
            <a:pPr>
              <a:spcAft>
                <a:spcPts val="600"/>
              </a:spcAft>
            </a:pPr>
            <a:r>
              <a:rPr lang="en-US">
                <a:latin typeface="Bagoss Standard" panose="020B0504060102020204" pitchFamily="34" charset="0"/>
                <a:cs typeface="Bagoss Standard" panose="020B0504060102020204" pitchFamily="34" charset="0"/>
              </a:rPr>
              <a:t>The </a:t>
            </a:r>
            <a:r>
              <a:rPr lang="en-US" b="1">
                <a:latin typeface="Bagoss Standard" panose="020B0504060102020204" pitchFamily="34" charset="0"/>
                <a:cs typeface="Bagoss Standard" panose="020B0504060102020204" pitchFamily="34" charset="0"/>
              </a:rPr>
              <a:t>NPS</a:t>
            </a:r>
            <a:r>
              <a:rPr lang="en-US">
                <a:latin typeface="Bagoss Standard" panose="020B0504060102020204" pitchFamily="34" charset="0"/>
                <a:cs typeface="Bagoss Standard" panose="020B0504060102020204" pitchFamily="34" charset="0"/>
              </a:rPr>
              <a:t> is an index ranging from -100 to 100 that measures the willingness of customers to recommend a company’s products or services to others. It is used as a proxy for gauging the customer’s overall satisfaction with a company’s product or service and the customer’s loyalty to the brand.</a:t>
            </a:r>
          </a:p>
          <a:p>
            <a:pPr marL="0" marR="0" lvl="2" indent="0" algn="l" defTabSz="914400" rtl="0" eaLnBrk="1" fontAlgn="auto" latinLnBrk="0" hangingPunct="1">
              <a:lnSpc>
                <a:spcPct val="90000"/>
              </a:lnSpc>
              <a:spcBef>
                <a:spcPts val="1200"/>
              </a:spcBef>
              <a:spcAft>
                <a:spcPts val="600"/>
              </a:spcAft>
              <a:buClrTx/>
              <a:buSzTx/>
              <a:buFont typeface="Arial" panose="020B0604020202020204" pitchFamily="34" charset="0"/>
              <a:buNone/>
              <a:tabLst/>
              <a:defRPr/>
            </a:pPr>
            <a:r>
              <a:rPr kumimoji="0" lang="fr-FR" sz="1800" b="0" i="0" u="none" strike="noStrike" kern="1200" cap="none" spc="0" normalizeH="0" baseline="0" noProof="0">
                <a:ln>
                  <a:noFill/>
                </a:ln>
                <a:solidFill>
                  <a:srgbClr val="045E51"/>
                </a:solidFill>
                <a:effectLst/>
                <a:uLnTx/>
                <a:uFillTx/>
                <a:latin typeface="Bagoss Standard Medium" panose="020B0604060102020204" pitchFamily="34" charset="0"/>
                <a:cs typeface="Bagoss Standard Medium" panose="020B0604060102020204" pitchFamily="34" charset="0"/>
              </a:rPr>
              <a:t>Calculation</a:t>
            </a:r>
          </a:p>
          <a:p>
            <a:pPr>
              <a:spcBef>
                <a:spcPts val="600"/>
              </a:spcBef>
            </a:pPr>
            <a:r>
              <a:rPr lang="en-US">
                <a:latin typeface="Bagoss Standard" panose="020B0504060102020204" pitchFamily="34" charset="0"/>
                <a:cs typeface="Bagoss Standard" panose="020B0504060102020204" pitchFamily="34" charset="0"/>
              </a:rPr>
              <a:t>Customers are asked to rate on a </a:t>
            </a:r>
            <a:r>
              <a:rPr lang="en-US" b="1">
                <a:latin typeface="Bagoss Standard" panose="020B0504060102020204" pitchFamily="34" charset="0"/>
                <a:cs typeface="Bagoss Standard" panose="020B0504060102020204" pitchFamily="34" charset="0"/>
              </a:rPr>
              <a:t>0-10 scale</a:t>
            </a:r>
            <a:r>
              <a:rPr lang="en-US">
                <a:latin typeface="Bagoss Standard" panose="020B0504060102020204" pitchFamily="34" charset="0"/>
                <a:cs typeface="Bagoss Standard" panose="020B0504060102020204" pitchFamily="34" charset="0"/>
              </a:rPr>
              <a:t> the likelihood of recommending the company or brand to others.</a:t>
            </a:r>
          </a:p>
          <a:p>
            <a:pPr>
              <a:spcBef>
                <a:spcPts val="0"/>
              </a:spcBef>
            </a:pPr>
            <a:r>
              <a:rPr lang="en-US">
                <a:latin typeface="Bagoss Standard" panose="020B0504060102020204" pitchFamily="34" charset="0"/>
                <a:cs typeface="Bagoss Standard" panose="020B0504060102020204" pitchFamily="34" charset="0"/>
              </a:rPr>
              <a:t>For example, “On a scale of 0 to 10, how likely are you to recommend this company’s product or service to a friend?”</a:t>
            </a:r>
          </a:p>
          <a:p>
            <a:endParaRPr lang="en-US">
              <a:latin typeface="Bagoss Standard" panose="020B0504060102020204" pitchFamily="34" charset="0"/>
              <a:cs typeface="Bagoss Standard" panose="020B0504060102020204" pitchFamily="34" charset="0"/>
            </a:endParaRPr>
          </a:p>
          <a:p>
            <a:endParaRPr lang="en-US">
              <a:latin typeface="Bagoss Standard" panose="020B0504060102020204" pitchFamily="34" charset="0"/>
              <a:cs typeface="Bagoss Standard" panose="020B0504060102020204" pitchFamily="34" charset="0"/>
            </a:endParaRPr>
          </a:p>
          <a:p>
            <a:endParaRPr lang="en-US">
              <a:latin typeface="Bagoss Standard" panose="020B0504060102020204" pitchFamily="34" charset="0"/>
              <a:cs typeface="Bagoss Standard" panose="020B0504060102020204" pitchFamily="34" charset="0"/>
            </a:endParaRPr>
          </a:p>
          <a:p>
            <a:pPr>
              <a:spcBef>
                <a:spcPts val="600"/>
              </a:spcBef>
            </a:pPr>
            <a:r>
              <a:rPr lang="en-US">
                <a:latin typeface="Bagoss Standard" panose="020B0504060102020204" pitchFamily="34" charset="0"/>
                <a:cs typeface="Bagoss Standard" panose="020B0504060102020204" pitchFamily="34" charset="0"/>
              </a:rPr>
              <a:t>Based on their rating, respondents are then classified in 3 categories:</a:t>
            </a:r>
            <a:endParaRPr lang="fr-FR">
              <a:latin typeface="Bagoss Standard" panose="020B0504060102020204" pitchFamily="34" charset="0"/>
              <a:cs typeface="Bagoss Standard" panose="020B0504060102020204" pitchFamily="34" charset="0"/>
            </a:endParaRPr>
          </a:p>
          <a:p>
            <a:pPr lvl="1"/>
            <a:r>
              <a:rPr lang="en-US">
                <a:solidFill>
                  <a:srgbClr val="F6867A"/>
                </a:solidFill>
                <a:latin typeface="Bagoss Standard" panose="020B0504060102020204" pitchFamily="34" charset="0"/>
                <a:cs typeface="Bagoss Standard" panose="020B0504060102020204" pitchFamily="34" charset="0"/>
              </a:rPr>
              <a:t>“Detractors”:</a:t>
            </a:r>
            <a:r>
              <a:rPr lang="en-US">
                <a:latin typeface="Bagoss Standard" panose="020B0504060102020204" pitchFamily="34" charset="0"/>
                <a:cs typeface="Bagoss Standard" panose="020B0504060102020204" pitchFamily="34" charset="0"/>
              </a:rPr>
              <a:t> </a:t>
            </a:r>
            <a:r>
              <a:rPr lang="en-US" sz="1100">
                <a:solidFill>
                  <a:schemeClr val="bg1">
                    <a:lumMod val="25000"/>
                  </a:schemeClr>
                </a:solidFill>
                <a:latin typeface="Bagoss Standard" panose="020B0504060102020204" pitchFamily="34" charset="0"/>
                <a:cs typeface="Bagoss Standard" panose="020B0504060102020204" pitchFamily="34" charset="0"/>
              </a:rPr>
              <a:t>score lower or equal to 6</a:t>
            </a:r>
          </a:p>
          <a:p>
            <a:pPr lvl="1"/>
            <a:r>
              <a:rPr lang="en-US">
                <a:solidFill>
                  <a:srgbClr val="FBC712"/>
                </a:solidFill>
                <a:latin typeface="Bagoss Standard" panose="020B0504060102020204" pitchFamily="34" charset="0"/>
                <a:cs typeface="Bagoss Standard" panose="020B0504060102020204" pitchFamily="34" charset="0"/>
              </a:rPr>
              <a:t>“Passives”:</a:t>
            </a:r>
            <a:r>
              <a:rPr lang="en-US">
                <a:latin typeface="Bagoss Standard" panose="020B0504060102020204" pitchFamily="34" charset="0"/>
                <a:cs typeface="Bagoss Standard" panose="020B0504060102020204" pitchFamily="34" charset="0"/>
              </a:rPr>
              <a:t> </a:t>
            </a:r>
            <a:r>
              <a:rPr lang="en-US" sz="1100">
                <a:solidFill>
                  <a:schemeClr val="bg1">
                    <a:lumMod val="25000"/>
                  </a:schemeClr>
                </a:solidFill>
                <a:latin typeface="Bagoss Standard" panose="020B0504060102020204" pitchFamily="34" charset="0"/>
                <a:cs typeface="Bagoss Standard" panose="020B0504060102020204" pitchFamily="34" charset="0"/>
              </a:rPr>
              <a:t>score of 7 or 8</a:t>
            </a:r>
          </a:p>
          <a:p>
            <a:pPr lvl="1"/>
            <a:r>
              <a:rPr lang="en-US">
                <a:solidFill>
                  <a:srgbClr val="75C300"/>
                </a:solidFill>
                <a:latin typeface="Bagoss Standard" panose="020B0504060102020204" pitchFamily="34" charset="0"/>
                <a:cs typeface="Bagoss Standard" panose="020B0504060102020204" pitchFamily="34" charset="0"/>
              </a:rPr>
              <a:t>“Promoters”: </a:t>
            </a:r>
            <a:r>
              <a:rPr lang="en-US" sz="1100">
                <a:solidFill>
                  <a:schemeClr val="bg1">
                    <a:lumMod val="25000"/>
                  </a:schemeClr>
                </a:solidFill>
                <a:latin typeface="Bagoss Standard" panose="020B0504060102020204" pitchFamily="34" charset="0"/>
                <a:cs typeface="Bagoss Standard" panose="020B0504060102020204" pitchFamily="34" charset="0"/>
              </a:rPr>
              <a:t>score of 9 or 10</a:t>
            </a:r>
          </a:p>
          <a:p>
            <a:pPr marL="457200" lvl="1" indent="0">
              <a:buNone/>
            </a:pPr>
            <a:endParaRPr lang="en-US" sz="1100">
              <a:solidFill>
                <a:schemeClr val="bg1">
                  <a:lumMod val="25000"/>
                </a:schemeClr>
              </a:solidFill>
              <a:latin typeface="Bagoss Standard" panose="020B0504060102020204" pitchFamily="34" charset="0"/>
              <a:cs typeface="Bagoss Standard" panose="020B0504060102020204" pitchFamily="34" charset="0"/>
            </a:endParaRPr>
          </a:p>
          <a:p>
            <a:pPr marL="0" lvl="1" indent="0">
              <a:lnSpc>
                <a:spcPct val="120000"/>
              </a:lnSpc>
              <a:spcBef>
                <a:spcPts val="1000"/>
              </a:spcBef>
              <a:buNone/>
            </a:pPr>
            <a:r>
              <a:rPr lang="en-US">
                <a:solidFill>
                  <a:schemeClr val="bg1">
                    <a:lumMod val="25000"/>
                  </a:schemeClr>
                </a:solidFill>
                <a:latin typeface="Bagoss Standard" panose="020B0504060102020204" pitchFamily="34" charset="0"/>
                <a:cs typeface="Bagoss Standard" panose="020B0504060102020204" pitchFamily="34" charset="0"/>
              </a:rPr>
              <a:t>The </a:t>
            </a:r>
            <a:r>
              <a:rPr lang="en-US" b="1">
                <a:solidFill>
                  <a:schemeClr val="bg1">
                    <a:lumMod val="25000"/>
                  </a:schemeClr>
                </a:solidFill>
                <a:latin typeface="Bagoss Standard" panose="020B0504060102020204" pitchFamily="34" charset="0"/>
                <a:cs typeface="Bagoss Standard" panose="020B0504060102020204" pitchFamily="34" charset="0"/>
              </a:rPr>
              <a:t>NPS</a:t>
            </a:r>
            <a:r>
              <a:rPr lang="en-US">
                <a:solidFill>
                  <a:schemeClr val="bg1">
                    <a:lumMod val="25000"/>
                  </a:schemeClr>
                </a:solidFill>
                <a:latin typeface="Bagoss Standard" panose="020B0504060102020204" pitchFamily="34" charset="0"/>
                <a:cs typeface="Bagoss Standard" panose="020B0504060102020204" pitchFamily="34" charset="0"/>
              </a:rPr>
              <a:t> is finally determined by subtracting the percentage of customers who are </a:t>
            </a:r>
            <a:r>
              <a:rPr lang="en-US">
                <a:solidFill>
                  <a:srgbClr val="F6867A"/>
                </a:solidFill>
                <a:latin typeface="Bagoss Standard" panose="020B0504060102020204" pitchFamily="34" charset="0"/>
                <a:cs typeface="Bagoss Standard" panose="020B0504060102020204" pitchFamily="34" charset="0"/>
              </a:rPr>
              <a:t>detractors</a:t>
            </a:r>
            <a:r>
              <a:rPr lang="en-US">
                <a:solidFill>
                  <a:schemeClr val="bg1">
                    <a:lumMod val="25000"/>
                  </a:schemeClr>
                </a:solidFill>
                <a:latin typeface="Bagoss Standard" panose="020B0504060102020204" pitchFamily="34" charset="0"/>
                <a:cs typeface="Bagoss Standard" panose="020B0504060102020204" pitchFamily="34" charset="0"/>
              </a:rPr>
              <a:t> from the percentage who are </a:t>
            </a:r>
            <a:r>
              <a:rPr lang="en-US">
                <a:solidFill>
                  <a:srgbClr val="75C300"/>
                </a:solidFill>
                <a:latin typeface="Bagoss Standard" panose="020B0504060102020204" pitchFamily="34" charset="0"/>
                <a:cs typeface="Bagoss Standard" panose="020B0504060102020204" pitchFamily="34" charset="0"/>
              </a:rPr>
              <a:t>promoters</a:t>
            </a:r>
            <a:r>
              <a:rPr lang="en-US">
                <a:solidFill>
                  <a:schemeClr val="bg1">
                    <a:lumMod val="25000"/>
                  </a:schemeClr>
                </a:solidFill>
                <a:latin typeface="Bagoss Standard" panose="020B0504060102020204" pitchFamily="34" charset="0"/>
                <a:cs typeface="Bagoss Standard" panose="020B0504060102020204" pitchFamily="34" charset="0"/>
              </a:rPr>
              <a:t>.</a:t>
            </a:r>
          </a:p>
        </p:txBody>
      </p:sp>
      <p:sp>
        <p:nvSpPr>
          <p:cNvPr id="5" name="Titre 4">
            <a:extLst>
              <a:ext uri="{FF2B5EF4-FFF2-40B4-BE49-F238E27FC236}">
                <a16:creationId xmlns:a16="http://schemas.microsoft.com/office/drawing/2014/main" id="{323BE863-CEFA-4A96-A898-43255B192808}"/>
              </a:ext>
            </a:extLst>
          </p:cNvPr>
          <p:cNvSpPr>
            <a:spLocks noGrp="1"/>
          </p:cNvSpPr>
          <p:nvPr>
            <p:ph type="title"/>
          </p:nvPr>
        </p:nvSpPr>
        <p:spPr/>
        <p:txBody>
          <a:bodyPr/>
          <a:lstStyle/>
          <a:p>
            <a:r>
              <a:rPr lang="fr-FR">
                <a:latin typeface="Bagoss Standard Medium" panose="020B0604060102020204" pitchFamily="34" charset="0"/>
                <a:cs typeface="Bagoss Standard Medium" panose="020B0604060102020204" pitchFamily="34" charset="0"/>
              </a:rPr>
              <a:t>NPS (Net Promoter Score)</a:t>
            </a:r>
          </a:p>
        </p:txBody>
      </p:sp>
      <p:pic>
        <p:nvPicPr>
          <p:cNvPr id="7" name="Image 6">
            <a:extLst>
              <a:ext uri="{FF2B5EF4-FFF2-40B4-BE49-F238E27FC236}">
                <a16:creationId xmlns:a16="http://schemas.microsoft.com/office/drawing/2014/main" id="{338501C4-CDB5-F6CB-AC54-A2F847F98FA2}"/>
              </a:ext>
            </a:extLst>
          </p:cNvPr>
          <p:cNvPicPr>
            <a:picLocks noChangeAspect="1"/>
          </p:cNvPicPr>
          <p:nvPr/>
        </p:nvPicPr>
        <p:blipFill rotWithShape="1">
          <a:blip r:embed="rId2"/>
          <a:srcRect b="39595"/>
          <a:stretch/>
        </p:blipFill>
        <p:spPr>
          <a:xfrm>
            <a:off x="3369913" y="3212976"/>
            <a:ext cx="5607338" cy="671281"/>
          </a:xfrm>
          <a:prstGeom prst="rect">
            <a:avLst/>
          </a:prstGeom>
        </p:spPr>
      </p:pic>
      <p:grpSp>
        <p:nvGrpSpPr>
          <p:cNvPr id="11" name="Groupe 10">
            <a:extLst>
              <a:ext uri="{FF2B5EF4-FFF2-40B4-BE49-F238E27FC236}">
                <a16:creationId xmlns:a16="http://schemas.microsoft.com/office/drawing/2014/main" id="{16E3E407-01E6-982A-269B-8F6FB59C1E2E}"/>
              </a:ext>
            </a:extLst>
          </p:cNvPr>
          <p:cNvGrpSpPr/>
          <p:nvPr/>
        </p:nvGrpSpPr>
        <p:grpSpPr>
          <a:xfrm>
            <a:off x="4863062" y="5870461"/>
            <a:ext cx="2438400" cy="446654"/>
            <a:chOff x="4890538" y="5653945"/>
            <a:chExt cx="2438400" cy="446654"/>
          </a:xfrm>
        </p:grpSpPr>
        <p:sp>
          <p:nvSpPr>
            <p:cNvPr id="3" name="ZoneTexte 2">
              <a:extLst>
                <a:ext uri="{FF2B5EF4-FFF2-40B4-BE49-F238E27FC236}">
                  <a16:creationId xmlns:a16="http://schemas.microsoft.com/office/drawing/2014/main" id="{3CB19DDC-27E0-41B0-B0DC-03976D363EF4}"/>
                </a:ext>
              </a:extLst>
            </p:cNvPr>
            <p:cNvSpPr txBox="1"/>
            <p:nvPr/>
          </p:nvSpPr>
          <p:spPr>
            <a:xfrm>
              <a:off x="4890538" y="5700489"/>
              <a:ext cx="24384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a:ln>
                    <a:noFill/>
                  </a:ln>
                  <a:solidFill>
                    <a:srgbClr val="F8F8F8">
                      <a:lumMod val="25000"/>
                    </a:srgbClr>
                  </a:solidFill>
                  <a:effectLst/>
                  <a:uLnTx/>
                  <a:uFillTx/>
                  <a:latin typeface="Bagoss Standard" panose="020B0504060102020204" pitchFamily="34" charset="0"/>
                  <a:ea typeface="Tahoma" panose="020B0604030504040204" pitchFamily="34" charset="0"/>
                  <a:cs typeface="Bagoss Standard" panose="020B0504060102020204" pitchFamily="34" charset="0"/>
                </a:rPr>
                <a:t>NPS</a:t>
              </a:r>
              <a:r>
                <a:rPr kumimoji="0" lang="fr-FR" sz="2000" b="0" i="0" u="none" strike="noStrike" kern="1200" cap="none" spc="0" normalizeH="0" baseline="0" noProof="0">
                  <a:ln>
                    <a:noFill/>
                  </a:ln>
                  <a:solidFill>
                    <a:srgbClr val="F8F8F8">
                      <a:lumMod val="25000"/>
                    </a:srgbClr>
                  </a:solidFill>
                  <a:effectLst/>
                  <a:uLnTx/>
                  <a:uFillTx/>
                  <a:latin typeface="Bagoss Standard" panose="020B0504060102020204" pitchFamily="34" charset="0"/>
                  <a:ea typeface="Tahoma" panose="020B0604030504040204" pitchFamily="34" charset="0"/>
                  <a:cs typeface="Bagoss Standard" panose="020B0504060102020204" pitchFamily="34" charset="0"/>
                </a:rPr>
                <a:t> = %          -  %</a:t>
              </a:r>
            </a:p>
          </p:txBody>
        </p:sp>
        <p:pic>
          <p:nvPicPr>
            <p:cNvPr id="8" name="Graphique 7" descr="Visage souriant à remplissage solide avec un remplissage uni">
              <a:extLst>
                <a:ext uri="{FF2B5EF4-FFF2-40B4-BE49-F238E27FC236}">
                  <a16:creationId xmlns:a16="http://schemas.microsoft.com/office/drawing/2014/main" id="{B960A8A7-4BC6-F038-85D0-D411132ED9F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40836" y="5657403"/>
              <a:ext cx="443196" cy="443196"/>
            </a:xfrm>
            <a:prstGeom prst="rect">
              <a:avLst/>
            </a:prstGeom>
          </p:spPr>
        </p:pic>
        <p:pic>
          <p:nvPicPr>
            <p:cNvPr id="10" name="Graphique 9" descr="Visage triste à remplissage solide avec un remplissage uni">
              <a:extLst>
                <a:ext uri="{FF2B5EF4-FFF2-40B4-BE49-F238E27FC236}">
                  <a16:creationId xmlns:a16="http://schemas.microsoft.com/office/drawing/2014/main" id="{71756469-9FA8-7756-E085-61E8D35D741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83152" y="5653945"/>
              <a:ext cx="432048" cy="432048"/>
            </a:xfrm>
            <a:prstGeom prst="rect">
              <a:avLst/>
            </a:prstGeom>
          </p:spPr>
        </p:pic>
      </p:grpSp>
    </p:spTree>
    <p:extLst>
      <p:ext uri="{BB962C8B-B14F-4D97-AF65-F5344CB8AC3E}">
        <p14:creationId xmlns:p14="http://schemas.microsoft.com/office/powerpoint/2010/main" val="17674876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BA4EA757-CF5B-4BFC-B021-7B9D49E20A31}"/>
              </a:ext>
            </a:extLst>
          </p:cNvPr>
          <p:cNvSpPr>
            <a:spLocks noGrp="1"/>
          </p:cNvSpPr>
          <p:nvPr>
            <p:ph type="sldNum" sz="quarter" idx="12"/>
          </p:nvPr>
        </p:nvSpPr>
        <p:spPr/>
        <p:txBody>
          <a:bodyPr/>
          <a:lstStyle/>
          <a:p>
            <a:fld id="{0D2E6A04-B99A-6C4D-8942-945F97C9E705}" type="slidenum">
              <a:rPr lang="en-US" smtClean="0"/>
              <a:pPr/>
              <a:t>73</a:t>
            </a:fld>
            <a:endParaRPr lang="en-US"/>
          </a:p>
        </p:txBody>
      </p:sp>
      <p:sp>
        <p:nvSpPr>
          <p:cNvPr id="4" name="Espace réservé du contenu 3">
            <a:extLst>
              <a:ext uri="{FF2B5EF4-FFF2-40B4-BE49-F238E27FC236}">
                <a16:creationId xmlns:a16="http://schemas.microsoft.com/office/drawing/2014/main" id="{1322845D-A116-4519-A64E-189E333B9F6F}"/>
              </a:ext>
            </a:extLst>
          </p:cNvPr>
          <p:cNvSpPr>
            <a:spLocks noGrp="1"/>
          </p:cNvSpPr>
          <p:nvPr>
            <p:ph sz="quarter" idx="13"/>
          </p:nvPr>
        </p:nvSpPr>
        <p:spPr>
          <a:xfrm>
            <a:off x="336757" y="1096478"/>
            <a:ext cx="11447875" cy="3484650"/>
          </a:xfrm>
        </p:spPr>
        <p:txBody>
          <a:bodyPr/>
          <a:lstStyle/>
          <a:p>
            <a:pPr lvl="2"/>
            <a:r>
              <a:rPr lang="fr-FR" sz="1800" err="1">
                <a:latin typeface="Bagoss Standard Medium" panose="020B0604060102020204" pitchFamily="34" charset="0"/>
                <a:cs typeface="Bagoss Standard Medium" panose="020B0604060102020204" pitchFamily="34" charset="0"/>
              </a:rPr>
              <a:t>Definition</a:t>
            </a:r>
            <a:endParaRPr lang="fr-FR" sz="1800">
              <a:latin typeface="Bagoss Standard Medium" panose="020B0604060102020204" pitchFamily="34" charset="0"/>
              <a:cs typeface="Bagoss Standard Medium" panose="020B0604060102020204" pitchFamily="34" charset="0"/>
            </a:endParaRPr>
          </a:p>
          <a:p>
            <a:pPr>
              <a:spcAft>
                <a:spcPts val="600"/>
              </a:spcAft>
            </a:pPr>
            <a:r>
              <a:rPr lang="en-US">
                <a:latin typeface="Bagoss Standard" panose="020B0504060102020204" pitchFamily="34" charset="0"/>
                <a:cs typeface="Bagoss Standard" panose="020B0504060102020204" pitchFamily="34" charset="0"/>
              </a:rPr>
              <a:t>The </a:t>
            </a:r>
            <a:r>
              <a:rPr lang="en-US" b="1">
                <a:latin typeface="Bagoss Standard" panose="020B0504060102020204" pitchFamily="34" charset="0"/>
                <a:cs typeface="Bagoss Standard" panose="020B0504060102020204" pitchFamily="34" charset="0"/>
              </a:rPr>
              <a:t>NSS</a:t>
            </a:r>
            <a:r>
              <a:rPr lang="en-US">
                <a:latin typeface="Bagoss Standard" panose="020B0504060102020204" pitchFamily="34" charset="0"/>
                <a:cs typeface="Bagoss Standard" panose="020B0504060102020204" pitchFamily="34" charset="0"/>
              </a:rPr>
              <a:t> is an index ranging from -100 to 100 that measures the customer’s satisfaction after their experience with a brand, brand’s products or services. It is the equivalent of the CSAT (Customer Satisfaction Score).</a:t>
            </a:r>
          </a:p>
          <a:p>
            <a:pPr lvl="2">
              <a:spcBef>
                <a:spcPts val="1200"/>
              </a:spcBef>
              <a:spcAft>
                <a:spcPts val="600"/>
              </a:spcAft>
              <a:defRPr/>
            </a:pPr>
            <a:r>
              <a:rPr lang="fr-FR" sz="1800">
                <a:solidFill>
                  <a:srgbClr val="045E51"/>
                </a:solidFill>
                <a:latin typeface="Bagoss Standard Medium" panose="020B0604060102020204" pitchFamily="34" charset="0"/>
                <a:cs typeface="Bagoss Standard Medium" panose="020B0604060102020204" pitchFamily="34" charset="0"/>
              </a:rPr>
              <a:t>Calculation</a:t>
            </a:r>
          </a:p>
          <a:p>
            <a:pPr>
              <a:spcBef>
                <a:spcPts val="600"/>
              </a:spcBef>
            </a:pPr>
            <a:r>
              <a:rPr lang="en-US">
                <a:latin typeface="Bagoss Standard" panose="020B0504060102020204" pitchFamily="34" charset="0"/>
                <a:cs typeface="Bagoss Standard" panose="020B0504060102020204" pitchFamily="34" charset="0"/>
              </a:rPr>
              <a:t>Customers are asked to rate on a</a:t>
            </a:r>
            <a:r>
              <a:rPr lang="en-US" b="1">
                <a:latin typeface="Bagoss Standard" panose="020B0504060102020204" pitchFamily="34" charset="0"/>
                <a:cs typeface="Bagoss Standard" panose="020B0504060102020204" pitchFamily="34" charset="0"/>
              </a:rPr>
              <a:t> 1-10 scale </a:t>
            </a:r>
            <a:r>
              <a:rPr lang="en-US">
                <a:latin typeface="Bagoss Standard" panose="020B0504060102020204" pitchFamily="34" charset="0"/>
                <a:cs typeface="Bagoss Standard" panose="020B0504060102020204" pitchFamily="34" charset="0"/>
              </a:rPr>
              <a:t>(or 1-5 scale) their satisfaction with a certain service, product, or interaction with a brand.</a:t>
            </a:r>
          </a:p>
          <a:p>
            <a:pPr>
              <a:spcBef>
                <a:spcPts val="0"/>
              </a:spcBef>
            </a:pPr>
            <a:r>
              <a:rPr lang="en-US">
                <a:latin typeface="Bagoss Standard" panose="020B0504060102020204" pitchFamily="34" charset="0"/>
                <a:cs typeface="Bagoss Standard" panose="020B0504060102020204" pitchFamily="34" charset="0"/>
              </a:rPr>
              <a:t>For example, “How would you rate your overall satisfaction with [product/service]?”</a:t>
            </a:r>
          </a:p>
          <a:p>
            <a:pPr>
              <a:spcBef>
                <a:spcPts val="0"/>
              </a:spcBef>
            </a:pPr>
            <a:endParaRPr lang="en-US"/>
          </a:p>
          <a:p>
            <a:pPr>
              <a:spcBef>
                <a:spcPts val="0"/>
              </a:spcBef>
            </a:pPr>
            <a:endParaRPr lang="en-US"/>
          </a:p>
          <a:p>
            <a:pPr>
              <a:spcBef>
                <a:spcPts val="0"/>
              </a:spcBef>
            </a:pPr>
            <a:endParaRPr lang="en-US"/>
          </a:p>
          <a:p>
            <a:pPr>
              <a:spcBef>
                <a:spcPts val="0"/>
              </a:spcBef>
            </a:pPr>
            <a:endParaRPr lang="en-US"/>
          </a:p>
          <a:p>
            <a:pPr>
              <a:spcBef>
                <a:spcPts val="0"/>
              </a:spcBef>
            </a:pPr>
            <a:endParaRPr lang="en-US"/>
          </a:p>
          <a:p>
            <a:pPr>
              <a:spcBef>
                <a:spcPts val="0"/>
              </a:spcBef>
            </a:pPr>
            <a:r>
              <a:rPr lang="en-US">
                <a:latin typeface="Bagoss Standard" panose="020B0504060102020204" pitchFamily="34" charset="0"/>
                <a:cs typeface="Bagoss Standard" panose="020B0504060102020204" pitchFamily="34" charset="0"/>
              </a:rPr>
              <a:t>The </a:t>
            </a:r>
            <a:r>
              <a:rPr lang="en-US" b="1">
                <a:latin typeface="Bagoss Standard" panose="020B0504060102020204" pitchFamily="34" charset="0"/>
                <a:cs typeface="Bagoss Standard" panose="020B0504060102020204" pitchFamily="34" charset="0"/>
              </a:rPr>
              <a:t>NSS</a:t>
            </a:r>
            <a:r>
              <a:rPr lang="en-US">
                <a:latin typeface="Bagoss Standard" panose="020B0504060102020204" pitchFamily="34" charset="0"/>
                <a:cs typeface="Bagoss Standard" panose="020B0504060102020204" pitchFamily="34" charset="0"/>
              </a:rPr>
              <a:t> is determined by subtracting the percentage of ‘</a:t>
            </a:r>
            <a:r>
              <a:rPr lang="en-US">
                <a:solidFill>
                  <a:srgbClr val="77C400"/>
                </a:solidFill>
                <a:latin typeface="Bagoss Standard" panose="020B0504060102020204" pitchFamily="34" charset="0"/>
                <a:cs typeface="Bagoss Standard" panose="020B0504060102020204" pitchFamily="34" charset="0"/>
              </a:rPr>
              <a:t>satisfied</a:t>
            </a:r>
            <a:r>
              <a:rPr lang="en-US">
                <a:latin typeface="Bagoss Standard" panose="020B0504060102020204" pitchFamily="34" charset="0"/>
                <a:cs typeface="Bagoss Standard" panose="020B0504060102020204" pitchFamily="34" charset="0"/>
              </a:rPr>
              <a:t>’ respondents (9-10) from the number of ‘</a:t>
            </a:r>
            <a:r>
              <a:rPr lang="en-US">
                <a:solidFill>
                  <a:srgbClr val="F87468"/>
                </a:solidFill>
                <a:latin typeface="Bagoss Standard" panose="020B0504060102020204" pitchFamily="34" charset="0"/>
                <a:cs typeface="Bagoss Standard" panose="020B0504060102020204" pitchFamily="34" charset="0"/>
              </a:rPr>
              <a:t>unsatisfied</a:t>
            </a:r>
            <a:r>
              <a:rPr lang="en-US">
                <a:latin typeface="Bagoss Standard" panose="020B0504060102020204" pitchFamily="34" charset="0"/>
                <a:cs typeface="Bagoss Standard" panose="020B0504060102020204" pitchFamily="34" charset="0"/>
              </a:rPr>
              <a:t>’ respondents (1-6).</a:t>
            </a:r>
          </a:p>
        </p:txBody>
      </p:sp>
      <p:sp>
        <p:nvSpPr>
          <p:cNvPr id="5" name="Titre 4">
            <a:extLst>
              <a:ext uri="{FF2B5EF4-FFF2-40B4-BE49-F238E27FC236}">
                <a16:creationId xmlns:a16="http://schemas.microsoft.com/office/drawing/2014/main" id="{323BE863-CEFA-4A96-A898-43255B192808}"/>
              </a:ext>
            </a:extLst>
          </p:cNvPr>
          <p:cNvSpPr>
            <a:spLocks noGrp="1"/>
          </p:cNvSpPr>
          <p:nvPr>
            <p:ph type="title"/>
          </p:nvPr>
        </p:nvSpPr>
        <p:spPr/>
        <p:txBody>
          <a:bodyPr/>
          <a:lstStyle/>
          <a:p>
            <a:r>
              <a:rPr lang="fr-FR">
                <a:latin typeface="Bagoss Standard Medium" panose="020B0604060102020204" pitchFamily="34" charset="0"/>
                <a:cs typeface="Bagoss Standard Medium" panose="020B0604060102020204" pitchFamily="34" charset="0"/>
              </a:rPr>
              <a:t>NSS (Net Satisfaction Score)</a:t>
            </a:r>
          </a:p>
        </p:txBody>
      </p:sp>
      <p:sp>
        <p:nvSpPr>
          <p:cNvPr id="6" name="ZoneTexte 5">
            <a:extLst>
              <a:ext uri="{FF2B5EF4-FFF2-40B4-BE49-F238E27FC236}">
                <a16:creationId xmlns:a16="http://schemas.microsoft.com/office/drawing/2014/main" id="{3F42CE9E-C418-02DC-611E-EA11D8A7849C}"/>
              </a:ext>
            </a:extLst>
          </p:cNvPr>
          <p:cNvSpPr txBox="1"/>
          <p:nvPr/>
        </p:nvSpPr>
        <p:spPr>
          <a:xfrm>
            <a:off x="4115780" y="4471286"/>
            <a:ext cx="3960440" cy="400110"/>
          </a:xfrm>
          <a:prstGeom prst="rect">
            <a:avLst/>
          </a:prstGeom>
          <a:noFill/>
        </p:spPr>
        <p:txBody>
          <a:bodyPr wrap="square" rtlCol="0">
            <a:spAutoFit/>
          </a:bodyPr>
          <a:lstStyle/>
          <a:p>
            <a:pPr algn="ctr"/>
            <a:r>
              <a:rPr lang="fr-FR" sz="2000" b="1">
                <a:solidFill>
                  <a:schemeClr val="bg1">
                    <a:lumMod val="25000"/>
                  </a:schemeClr>
                </a:solidFill>
                <a:latin typeface="Bagoss Standard" panose="020B0504060102020204" pitchFamily="34" charset="0"/>
                <a:ea typeface="Tahoma" panose="020B0604030504040204" pitchFamily="34" charset="0"/>
                <a:cs typeface="Bagoss Standard" panose="020B0504060102020204" pitchFamily="34" charset="0"/>
              </a:rPr>
              <a:t>NSS</a:t>
            </a:r>
            <a:r>
              <a:rPr lang="fr-FR" sz="2000">
                <a:solidFill>
                  <a:schemeClr val="bg1">
                    <a:lumMod val="25000"/>
                  </a:schemeClr>
                </a:solidFill>
                <a:latin typeface="Bagoss Standard" panose="020B0504060102020204" pitchFamily="34" charset="0"/>
                <a:ea typeface="Tahoma" panose="020B0604030504040204" pitchFamily="34" charset="0"/>
                <a:cs typeface="Bagoss Standard" panose="020B0504060102020204" pitchFamily="34" charset="0"/>
              </a:rPr>
              <a:t> = % </a:t>
            </a:r>
            <a:r>
              <a:rPr lang="fr-FR" sz="1400">
                <a:solidFill>
                  <a:schemeClr val="bg1">
                    <a:lumMod val="25000"/>
                  </a:schemeClr>
                </a:solidFill>
                <a:latin typeface="Bagoss Standard" panose="020B0504060102020204" pitchFamily="34" charset="0"/>
                <a:ea typeface="Tahoma" panose="020B0604030504040204" pitchFamily="34" charset="0"/>
                <a:cs typeface="Bagoss Standard" panose="020B0504060102020204" pitchFamily="34" charset="0"/>
              </a:rPr>
              <a:t>of</a:t>
            </a:r>
            <a:r>
              <a:rPr lang="fr-FR" sz="2000">
                <a:solidFill>
                  <a:schemeClr val="bg1">
                    <a:lumMod val="25000"/>
                  </a:schemeClr>
                </a:solidFill>
                <a:latin typeface="Bagoss Standard" panose="020B0504060102020204" pitchFamily="34" charset="0"/>
                <a:ea typeface="Tahoma" panose="020B0604030504040204" pitchFamily="34" charset="0"/>
                <a:cs typeface="Bagoss Standard" panose="020B0504060102020204" pitchFamily="34" charset="0"/>
              </a:rPr>
              <a:t> [</a:t>
            </a:r>
            <a:r>
              <a:rPr lang="fr-FR" sz="2000">
                <a:solidFill>
                  <a:srgbClr val="77C400"/>
                </a:solidFill>
                <a:latin typeface="Bagoss Standard" panose="020B0504060102020204" pitchFamily="34" charset="0"/>
                <a:ea typeface="Tahoma" panose="020B0604030504040204" pitchFamily="34" charset="0"/>
                <a:cs typeface="Bagoss Standard" panose="020B0504060102020204" pitchFamily="34" charset="0"/>
              </a:rPr>
              <a:t>9-10</a:t>
            </a:r>
            <a:r>
              <a:rPr lang="fr-FR" sz="2000">
                <a:solidFill>
                  <a:schemeClr val="bg1">
                    <a:lumMod val="25000"/>
                  </a:schemeClr>
                </a:solidFill>
                <a:latin typeface="Bagoss Standard" panose="020B0504060102020204" pitchFamily="34" charset="0"/>
                <a:ea typeface="Tahoma" panose="020B0604030504040204" pitchFamily="34" charset="0"/>
                <a:cs typeface="Bagoss Standard" panose="020B0504060102020204" pitchFamily="34" charset="0"/>
              </a:rPr>
              <a:t>] - % </a:t>
            </a:r>
            <a:r>
              <a:rPr lang="fr-FR" sz="1400">
                <a:solidFill>
                  <a:schemeClr val="bg1">
                    <a:lumMod val="25000"/>
                  </a:schemeClr>
                </a:solidFill>
                <a:latin typeface="Bagoss Standard" panose="020B0504060102020204" pitchFamily="34" charset="0"/>
                <a:ea typeface="Tahoma" panose="020B0604030504040204" pitchFamily="34" charset="0"/>
                <a:cs typeface="Bagoss Standard" panose="020B0504060102020204" pitchFamily="34" charset="0"/>
              </a:rPr>
              <a:t>of</a:t>
            </a:r>
            <a:r>
              <a:rPr lang="fr-FR" sz="2000">
                <a:solidFill>
                  <a:schemeClr val="bg1">
                    <a:lumMod val="25000"/>
                  </a:schemeClr>
                </a:solidFill>
                <a:latin typeface="Bagoss Standard" panose="020B0504060102020204" pitchFamily="34" charset="0"/>
                <a:ea typeface="Tahoma" panose="020B0604030504040204" pitchFamily="34" charset="0"/>
                <a:cs typeface="Bagoss Standard" panose="020B0504060102020204" pitchFamily="34" charset="0"/>
              </a:rPr>
              <a:t> [</a:t>
            </a:r>
            <a:r>
              <a:rPr lang="fr-FR" sz="2000">
                <a:solidFill>
                  <a:srgbClr val="F87468"/>
                </a:solidFill>
                <a:latin typeface="Bagoss Standard" panose="020B0504060102020204" pitchFamily="34" charset="0"/>
                <a:ea typeface="Tahoma" panose="020B0604030504040204" pitchFamily="34" charset="0"/>
                <a:cs typeface="Bagoss Standard" panose="020B0504060102020204" pitchFamily="34" charset="0"/>
              </a:rPr>
              <a:t>1-6</a:t>
            </a:r>
            <a:r>
              <a:rPr lang="fr-FR" sz="2000">
                <a:solidFill>
                  <a:schemeClr val="bg1">
                    <a:lumMod val="25000"/>
                  </a:schemeClr>
                </a:solidFill>
                <a:latin typeface="Bagoss Standard" panose="020B0504060102020204" pitchFamily="34" charset="0"/>
                <a:ea typeface="Tahoma" panose="020B0604030504040204" pitchFamily="34" charset="0"/>
                <a:cs typeface="Bagoss Standard" panose="020B0504060102020204" pitchFamily="34" charset="0"/>
              </a:rPr>
              <a:t>]</a:t>
            </a:r>
          </a:p>
        </p:txBody>
      </p:sp>
      <p:grpSp>
        <p:nvGrpSpPr>
          <p:cNvPr id="12" name="Groupe 11">
            <a:extLst>
              <a:ext uri="{FF2B5EF4-FFF2-40B4-BE49-F238E27FC236}">
                <a16:creationId xmlns:a16="http://schemas.microsoft.com/office/drawing/2014/main" id="{A00F3869-D096-EAA5-DE32-2497983D67BF}"/>
              </a:ext>
            </a:extLst>
          </p:cNvPr>
          <p:cNvGrpSpPr/>
          <p:nvPr/>
        </p:nvGrpSpPr>
        <p:grpSpPr>
          <a:xfrm>
            <a:off x="3719736" y="3176967"/>
            <a:ext cx="5059849" cy="671281"/>
            <a:chOff x="3863751" y="3216661"/>
            <a:chExt cx="5059849" cy="671281"/>
          </a:xfrm>
        </p:grpSpPr>
        <p:pic>
          <p:nvPicPr>
            <p:cNvPr id="3" name="Image 2">
              <a:extLst>
                <a:ext uri="{FF2B5EF4-FFF2-40B4-BE49-F238E27FC236}">
                  <a16:creationId xmlns:a16="http://schemas.microsoft.com/office/drawing/2014/main" id="{C06A37DD-1330-E4DF-6677-4FCC8399916F}"/>
                </a:ext>
              </a:extLst>
            </p:cNvPr>
            <p:cNvPicPr>
              <a:picLocks noChangeAspect="1"/>
            </p:cNvPicPr>
            <p:nvPr/>
          </p:nvPicPr>
          <p:blipFill rotWithShape="1">
            <a:blip r:embed="rId2"/>
            <a:srcRect l="9764" b="39595"/>
            <a:stretch/>
          </p:blipFill>
          <p:spPr>
            <a:xfrm>
              <a:off x="3863751" y="3216661"/>
              <a:ext cx="5059849" cy="671281"/>
            </a:xfrm>
            <a:prstGeom prst="rect">
              <a:avLst/>
            </a:prstGeom>
          </p:spPr>
        </p:pic>
        <p:sp>
          <p:nvSpPr>
            <p:cNvPr id="9" name="ZoneTexte 8">
              <a:extLst>
                <a:ext uri="{FF2B5EF4-FFF2-40B4-BE49-F238E27FC236}">
                  <a16:creationId xmlns:a16="http://schemas.microsoft.com/office/drawing/2014/main" id="{9CF7E9C8-786E-4295-97AA-DDA5A8EEF8EF}"/>
                </a:ext>
              </a:extLst>
            </p:cNvPr>
            <p:cNvSpPr txBox="1"/>
            <p:nvPr/>
          </p:nvSpPr>
          <p:spPr>
            <a:xfrm>
              <a:off x="3863751" y="3645024"/>
              <a:ext cx="1584177" cy="216000"/>
            </a:xfrm>
            <a:prstGeom prst="rect">
              <a:avLst/>
            </a:prstGeom>
            <a:solidFill>
              <a:srgbClr val="FFFFFF"/>
            </a:solidFill>
          </p:spPr>
          <p:txBody>
            <a:bodyPr wrap="square" rtlCol="0">
              <a:spAutoFit/>
            </a:bodyPr>
            <a:lstStyle/>
            <a:p>
              <a:r>
                <a:rPr lang="fr-FR" sz="800" kern="1400" spc="50">
                  <a:solidFill>
                    <a:schemeClr val="bg1">
                      <a:lumMod val="25000"/>
                    </a:schemeClr>
                  </a:solidFill>
                  <a:latin typeface="Bahnschrift" panose="020B0502040204020203" pitchFamily="34" charset="0"/>
                  <a:cs typeface="Aharoni" panose="02010803020104030203" pitchFamily="2" charset="-79"/>
                </a:rPr>
                <a:t>        UNSATISFIED</a:t>
              </a:r>
            </a:p>
          </p:txBody>
        </p:sp>
        <p:sp>
          <p:nvSpPr>
            <p:cNvPr id="10" name="ZoneTexte 9">
              <a:extLst>
                <a:ext uri="{FF2B5EF4-FFF2-40B4-BE49-F238E27FC236}">
                  <a16:creationId xmlns:a16="http://schemas.microsoft.com/office/drawing/2014/main" id="{BAC4B44A-FEA4-34BD-48E6-54DD702737B8}"/>
                </a:ext>
              </a:extLst>
            </p:cNvPr>
            <p:cNvSpPr txBox="1"/>
            <p:nvPr/>
          </p:nvSpPr>
          <p:spPr>
            <a:xfrm>
              <a:off x="6744072" y="3645024"/>
              <a:ext cx="1872208" cy="216000"/>
            </a:xfrm>
            <a:prstGeom prst="rect">
              <a:avLst/>
            </a:prstGeom>
            <a:solidFill>
              <a:srgbClr val="FFFFFF"/>
            </a:solidFill>
          </p:spPr>
          <p:txBody>
            <a:bodyPr wrap="square" rtlCol="0">
              <a:spAutoFit/>
            </a:bodyPr>
            <a:lstStyle/>
            <a:p>
              <a:pPr algn="r"/>
              <a:r>
                <a:rPr lang="fr-FR" sz="800" kern="1400" spc="50">
                  <a:solidFill>
                    <a:schemeClr val="bg1">
                      <a:lumMod val="25000"/>
                    </a:schemeClr>
                  </a:solidFill>
                  <a:latin typeface="Bahnschrift" panose="020B0502040204020203" pitchFamily="34" charset="0"/>
                  <a:cs typeface="Aharoni" panose="02010803020104030203" pitchFamily="2" charset="-79"/>
                </a:rPr>
                <a:t>SATISFIED</a:t>
              </a:r>
            </a:p>
          </p:txBody>
        </p:sp>
        <p:pic>
          <p:nvPicPr>
            <p:cNvPr id="11" name="Image 10">
              <a:extLst>
                <a:ext uri="{FF2B5EF4-FFF2-40B4-BE49-F238E27FC236}">
                  <a16:creationId xmlns:a16="http://schemas.microsoft.com/office/drawing/2014/main" id="{DD13BAA8-1909-A220-FF70-7F83593BF202}"/>
                </a:ext>
              </a:extLst>
            </p:cNvPr>
            <p:cNvPicPr>
              <a:picLocks noChangeAspect="1"/>
            </p:cNvPicPr>
            <p:nvPr/>
          </p:nvPicPr>
          <p:blipFill rotWithShape="1">
            <a:blip r:embed="rId2"/>
            <a:srcRect l="1794" t="35530" r="94863" b="39595"/>
            <a:stretch/>
          </p:blipFill>
          <p:spPr>
            <a:xfrm>
              <a:off x="3916596" y="3611510"/>
              <a:ext cx="187449" cy="276432"/>
            </a:xfrm>
            <a:prstGeom prst="rect">
              <a:avLst/>
            </a:prstGeom>
          </p:spPr>
        </p:pic>
      </p:grpSp>
    </p:spTree>
    <p:extLst>
      <p:ext uri="{BB962C8B-B14F-4D97-AF65-F5344CB8AC3E}">
        <p14:creationId xmlns:p14="http://schemas.microsoft.com/office/powerpoint/2010/main" val="355815258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503073-4437-7776-1068-424D15ACE41F}"/>
              </a:ext>
            </a:extLst>
          </p:cNvPr>
          <p:cNvSpPr>
            <a:spLocks noGrp="1"/>
          </p:cNvSpPr>
          <p:nvPr>
            <p:ph type="sldNum" sz="quarter" idx="12"/>
          </p:nvPr>
        </p:nvSpPr>
        <p:spPr/>
        <p:txBody>
          <a:bodyPr/>
          <a:lstStyle/>
          <a:p>
            <a:fld id="{0D2E6A04-B99A-6C4D-8942-945F97C9E705}" type="slidenum">
              <a:rPr lang="en-US" smtClean="0"/>
              <a:pPr/>
              <a:t>74</a:t>
            </a:fld>
            <a:endParaRPr lang="en-US"/>
          </a:p>
        </p:txBody>
      </p:sp>
      <p:sp>
        <p:nvSpPr>
          <p:cNvPr id="3" name="Date Placeholder 2">
            <a:extLst>
              <a:ext uri="{FF2B5EF4-FFF2-40B4-BE49-F238E27FC236}">
                <a16:creationId xmlns:a16="http://schemas.microsoft.com/office/drawing/2014/main" id="{40088B46-6A73-327B-1205-B08913DBDD3F}"/>
              </a:ext>
            </a:extLst>
          </p:cNvPr>
          <p:cNvSpPr>
            <a:spLocks noGrp="1"/>
          </p:cNvSpPr>
          <p:nvPr>
            <p:ph type="dt" sz="half" idx="10"/>
          </p:nvPr>
        </p:nvSpPr>
        <p:spPr/>
        <p:txBody>
          <a:bodyPr/>
          <a:lstStyle/>
          <a:p>
            <a:fld id="{05C20A28-4BAC-4477-9026-1E123DBFBC43}" type="datetime1">
              <a:rPr lang="fr-FR" smtClean="0"/>
              <a:t>27/11/2025</a:t>
            </a:fld>
            <a:endParaRPr lang="en-US"/>
          </a:p>
        </p:txBody>
      </p:sp>
      <p:sp>
        <p:nvSpPr>
          <p:cNvPr id="4" name="Content Placeholder 3">
            <a:extLst>
              <a:ext uri="{FF2B5EF4-FFF2-40B4-BE49-F238E27FC236}">
                <a16:creationId xmlns:a16="http://schemas.microsoft.com/office/drawing/2014/main" id="{7A61DB0D-F339-AEC1-2724-EB47BC7AEE9E}"/>
              </a:ext>
            </a:extLst>
          </p:cNvPr>
          <p:cNvSpPr>
            <a:spLocks noGrp="1"/>
          </p:cNvSpPr>
          <p:nvPr>
            <p:ph sz="quarter" idx="13"/>
          </p:nvPr>
        </p:nvSpPr>
        <p:spPr/>
        <p:txBody>
          <a:bodyPr/>
          <a:lstStyle/>
          <a:p>
            <a:r>
              <a:rPr lang="en-US"/>
              <a:t>The </a:t>
            </a:r>
            <a:r>
              <a:rPr lang="en-US" i="1"/>
              <a:t>Action Planner</a:t>
            </a:r>
            <a:r>
              <a:rPr lang="en-US"/>
              <a:t> Admin Suite module helps you identify what matters most to your customers, and what drives excellent experiences. It uses statistical analysis to help prioritize which areas for performance improvement (drivers) will have the greatest impact on key metric (outcome) scores. Action Planners are recommended as strategic insight tools appropriate for corporate level prioritization, and are not intended for use at the frontline.</a:t>
            </a:r>
          </a:p>
          <a:p>
            <a:endParaRPr lang="en-US"/>
          </a:p>
          <a:p>
            <a:r>
              <a:rPr lang="en-US" b="1"/>
              <a:t>Correlation</a:t>
            </a:r>
          </a:p>
          <a:p>
            <a:r>
              <a:rPr lang="en-US"/>
              <a:t>Correlation analysis helps you understand how predictive one variable is of another variable, independent of the size of the effect. It helps you answer the question: How </a:t>
            </a:r>
            <a:r>
              <a:rPr lang="en-US" i="1"/>
              <a:t>reliable</a:t>
            </a:r>
            <a:r>
              <a:rPr lang="en-US"/>
              <a:t> is the relationship between X and Y? This is entirely in relative terms. (For example, how much of the overall variance in Y can X be used to predict?)</a:t>
            </a:r>
          </a:p>
          <a:p>
            <a:r>
              <a:rPr lang="en-US"/>
              <a:t>To help you understand a limitation with correlation, consider the following example using measurements of leg length and skull size from a population of elephants. It is reasonable to suggest that these two variables are associated in some way, since elephants with short legs tend to have small heads and elephants with long legs tend to have big heads. We could, therefore, demonstrate that an association exists by performing a correlation analysis. However, it is meaningless to apply a causal regression analysis to these variables because they are interdependent. One is not wholly dependent on the other.</a:t>
            </a:r>
          </a:p>
          <a:p>
            <a:r>
              <a:rPr lang="en-US"/>
              <a:t>With this type of analysis in general, there could be a high correlation because both variables measure the same thing, one actually causes the other, a third variable causes both of them, or some other reason.</a:t>
            </a:r>
          </a:p>
          <a:p>
            <a:endParaRPr lang="fr-FR"/>
          </a:p>
        </p:txBody>
      </p:sp>
      <p:sp>
        <p:nvSpPr>
          <p:cNvPr id="5" name="Title 4">
            <a:extLst>
              <a:ext uri="{FF2B5EF4-FFF2-40B4-BE49-F238E27FC236}">
                <a16:creationId xmlns:a16="http://schemas.microsoft.com/office/drawing/2014/main" id="{2CE1915A-69C8-D8A2-3ED3-03229F49B5FC}"/>
              </a:ext>
            </a:extLst>
          </p:cNvPr>
          <p:cNvSpPr>
            <a:spLocks noGrp="1"/>
          </p:cNvSpPr>
          <p:nvPr>
            <p:ph type="title"/>
          </p:nvPr>
        </p:nvSpPr>
        <p:spPr/>
        <p:txBody>
          <a:bodyPr/>
          <a:lstStyle/>
          <a:p>
            <a:r>
              <a:rPr lang="fr-FR"/>
              <a:t>Action planner</a:t>
            </a:r>
          </a:p>
        </p:txBody>
      </p:sp>
    </p:spTree>
    <p:extLst>
      <p:ext uri="{BB962C8B-B14F-4D97-AF65-F5344CB8AC3E}">
        <p14:creationId xmlns:p14="http://schemas.microsoft.com/office/powerpoint/2010/main" val="2842760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32B69-8696-F347-6BAA-95CDD30B16E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F7A8DA-FF9A-CE31-AE40-5DE10B67D631}"/>
              </a:ext>
            </a:extLst>
          </p:cNvPr>
          <p:cNvSpPr>
            <a:spLocks noGrp="1"/>
          </p:cNvSpPr>
          <p:nvPr>
            <p:ph type="sldNum" sz="quarter" idx="12"/>
          </p:nvPr>
        </p:nvSpPr>
        <p:spPr/>
        <p:txBody>
          <a:bodyPr/>
          <a:lstStyle/>
          <a:p>
            <a:fld id="{0D2E6A04-B99A-6C4D-8942-945F97C9E705}" type="slidenum">
              <a:rPr lang="en-US" smtClean="0"/>
              <a:pPr/>
              <a:t>75</a:t>
            </a:fld>
            <a:endParaRPr lang="en-US"/>
          </a:p>
        </p:txBody>
      </p:sp>
      <p:sp>
        <p:nvSpPr>
          <p:cNvPr id="3" name="Date Placeholder 2">
            <a:extLst>
              <a:ext uri="{FF2B5EF4-FFF2-40B4-BE49-F238E27FC236}">
                <a16:creationId xmlns:a16="http://schemas.microsoft.com/office/drawing/2014/main" id="{1FACF65A-D8A8-4907-03AF-9E8BEBA2DC68}"/>
              </a:ext>
            </a:extLst>
          </p:cNvPr>
          <p:cNvSpPr>
            <a:spLocks noGrp="1"/>
          </p:cNvSpPr>
          <p:nvPr>
            <p:ph type="dt" sz="half" idx="10"/>
          </p:nvPr>
        </p:nvSpPr>
        <p:spPr/>
        <p:txBody>
          <a:bodyPr/>
          <a:lstStyle/>
          <a:p>
            <a:fld id="{05C20A28-4BAC-4477-9026-1E123DBFBC43}" type="datetime1">
              <a:rPr lang="fr-FR" smtClean="0"/>
              <a:t>27/11/2025</a:t>
            </a:fld>
            <a:endParaRPr lang="en-US"/>
          </a:p>
        </p:txBody>
      </p:sp>
      <p:sp>
        <p:nvSpPr>
          <p:cNvPr id="4" name="Content Placeholder 3">
            <a:extLst>
              <a:ext uri="{FF2B5EF4-FFF2-40B4-BE49-F238E27FC236}">
                <a16:creationId xmlns:a16="http://schemas.microsoft.com/office/drawing/2014/main" id="{08B897C6-D63C-EDD5-1FBE-65C15C3C74C9}"/>
              </a:ext>
            </a:extLst>
          </p:cNvPr>
          <p:cNvSpPr>
            <a:spLocks noGrp="1"/>
          </p:cNvSpPr>
          <p:nvPr>
            <p:ph sz="quarter" idx="13"/>
          </p:nvPr>
        </p:nvSpPr>
        <p:spPr>
          <a:xfrm>
            <a:off x="336757" y="1096479"/>
            <a:ext cx="3743753" cy="2585628"/>
          </a:xfrm>
        </p:spPr>
        <p:txBody>
          <a:bodyPr/>
          <a:lstStyle/>
          <a:p>
            <a:r>
              <a:rPr lang="en-US" b="1"/>
              <a:t>Table visualization</a:t>
            </a:r>
          </a:p>
          <a:p>
            <a:r>
              <a:rPr lang="en-US"/>
              <a:t>The List visualization of the Action Planner module displays a list of drivers and their likely effect on the outcome, based on improving the drivers by the listed goal. It helps users prioritize improvement plans and estimate the potential impact of improvements.</a:t>
            </a:r>
          </a:p>
          <a:p>
            <a:r>
              <a:rPr lang="en-US"/>
              <a:t>The table includes the following columns:</a:t>
            </a:r>
          </a:p>
          <a:p>
            <a:r>
              <a:rPr lang="en-US" b="1"/>
              <a:t>Driver</a:t>
            </a:r>
            <a:r>
              <a:rPr lang="en-US"/>
              <a:t> — Fields that have an impact on the outcome.</a:t>
            </a:r>
          </a:p>
          <a:p>
            <a:r>
              <a:rPr lang="en-US" b="1"/>
              <a:t>Score</a:t>
            </a:r>
            <a:r>
              <a:rPr lang="en-US"/>
              <a:t> — The current score for each driver.</a:t>
            </a:r>
          </a:p>
          <a:p>
            <a:r>
              <a:rPr lang="en-US" b="1"/>
              <a:t>Importance (Beta)</a:t>
            </a:r>
            <a:r>
              <a:rPr lang="en-US"/>
              <a:t> — The impact predictor (regression) of a change in a driver score on the outcome.</a:t>
            </a:r>
          </a:p>
          <a:p>
            <a:r>
              <a:rPr lang="en-US" b="1"/>
              <a:t>Correlation</a:t>
            </a:r>
            <a:r>
              <a:rPr lang="en-US"/>
              <a:t> — The correlation of a change in the driver score to the outcome.</a:t>
            </a:r>
          </a:p>
          <a:p>
            <a:r>
              <a:rPr lang="en-US" b="1"/>
              <a:t>Sample Size</a:t>
            </a:r>
            <a:r>
              <a:rPr lang="en-US"/>
              <a:t> — The number of responses used in the calculation.</a:t>
            </a:r>
          </a:p>
          <a:p>
            <a:endParaRPr lang="en-US"/>
          </a:p>
        </p:txBody>
      </p:sp>
      <p:sp>
        <p:nvSpPr>
          <p:cNvPr id="5" name="Title 4">
            <a:extLst>
              <a:ext uri="{FF2B5EF4-FFF2-40B4-BE49-F238E27FC236}">
                <a16:creationId xmlns:a16="http://schemas.microsoft.com/office/drawing/2014/main" id="{ED694218-7E02-241A-801D-FA0F79FE48F6}"/>
              </a:ext>
            </a:extLst>
          </p:cNvPr>
          <p:cNvSpPr>
            <a:spLocks noGrp="1"/>
          </p:cNvSpPr>
          <p:nvPr>
            <p:ph type="title"/>
          </p:nvPr>
        </p:nvSpPr>
        <p:spPr/>
        <p:txBody>
          <a:bodyPr/>
          <a:lstStyle/>
          <a:p>
            <a:r>
              <a:rPr lang="fr-FR"/>
              <a:t>Action planner</a:t>
            </a:r>
          </a:p>
        </p:txBody>
      </p:sp>
      <p:pic>
        <p:nvPicPr>
          <p:cNvPr id="22532" name="Picture 4" descr="Action Planner Table visualization">
            <a:extLst>
              <a:ext uri="{FF2B5EF4-FFF2-40B4-BE49-F238E27FC236}">
                <a16:creationId xmlns:a16="http://schemas.microsoft.com/office/drawing/2014/main" id="{161261AB-F22C-5B99-BDED-45E46D284E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0510" y="1936984"/>
            <a:ext cx="7922515" cy="2984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794313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6B8D5-CB10-3A40-D075-9A01BD00D9E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456E65-8557-12E5-9EB9-C9CD0005C33A}"/>
              </a:ext>
            </a:extLst>
          </p:cNvPr>
          <p:cNvSpPr>
            <a:spLocks noGrp="1"/>
          </p:cNvSpPr>
          <p:nvPr>
            <p:ph type="sldNum" sz="quarter" idx="12"/>
          </p:nvPr>
        </p:nvSpPr>
        <p:spPr/>
        <p:txBody>
          <a:bodyPr/>
          <a:lstStyle/>
          <a:p>
            <a:fld id="{0D2E6A04-B99A-6C4D-8942-945F97C9E705}" type="slidenum">
              <a:rPr lang="en-US" smtClean="0"/>
              <a:pPr/>
              <a:t>76</a:t>
            </a:fld>
            <a:endParaRPr lang="en-US"/>
          </a:p>
        </p:txBody>
      </p:sp>
      <p:sp>
        <p:nvSpPr>
          <p:cNvPr id="3" name="Date Placeholder 2">
            <a:extLst>
              <a:ext uri="{FF2B5EF4-FFF2-40B4-BE49-F238E27FC236}">
                <a16:creationId xmlns:a16="http://schemas.microsoft.com/office/drawing/2014/main" id="{01EEABA3-A5F7-82D4-B342-797E887DC50F}"/>
              </a:ext>
            </a:extLst>
          </p:cNvPr>
          <p:cNvSpPr>
            <a:spLocks noGrp="1"/>
          </p:cNvSpPr>
          <p:nvPr>
            <p:ph type="dt" sz="half" idx="10"/>
          </p:nvPr>
        </p:nvSpPr>
        <p:spPr/>
        <p:txBody>
          <a:bodyPr/>
          <a:lstStyle/>
          <a:p>
            <a:fld id="{05C20A28-4BAC-4477-9026-1E123DBFBC43}" type="datetime1">
              <a:rPr lang="fr-FR" smtClean="0"/>
              <a:t>27/11/2025</a:t>
            </a:fld>
            <a:endParaRPr lang="en-US"/>
          </a:p>
        </p:txBody>
      </p:sp>
      <p:sp>
        <p:nvSpPr>
          <p:cNvPr id="4" name="Content Placeholder 3">
            <a:extLst>
              <a:ext uri="{FF2B5EF4-FFF2-40B4-BE49-F238E27FC236}">
                <a16:creationId xmlns:a16="http://schemas.microsoft.com/office/drawing/2014/main" id="{4787E0F0-2A01-9741-69A3-41E8B10F0CC7}"/>
              </a:ext>
            </a:extLst>
          </p:cNvPr>
          <p:cNvSpPr>
            <a:spLocks noGrp="1"/>
          </p:cNvSpPr>
          <p:nvPr>
            <p:ph sz="quarter" idx="13"/>
          </p:nvPr>
        </p:nvSpPr>
        <p:spPr>
          <a:xfrm>
            <a:off x="336757" y="1096479"/>
            <a:ext cx="6281213" cy="2585628"/>
          </a:xfrm>
        </p:spPr>
        <p:txBody>
          <a:bodyPr/>
          <a:lstStyle/>
          <a:p>
            <a:r>
              <a:rPr lang="en-US"/>
              <a:t>The </a:t>
            </a:r>
            <a:r>
              <a:rPr lang="en-US" i="1"/>
              <a:t>impact score</a:t>
            </a:r>
            <a:r>
              <a:rPr lang="en-US"/>
              <a:t> displayed in Medallia Text Analytics reports shows the influence of each individual topic on overall customer satisfaction, and is indicative of the topics people discuss when they give high or low scores. Topics with higher impact scores have more impact on customer satisfaction than topics with lower impact scores. Comparing the impact scores of your topics can help you decide which areas you need to prioritize improving.</a:t>
            </a:r>
          </a:p>
          <a:p>
            <a:r>
              <a:rPr lang="en-US" b="1"/>
              <a:t>Note:</a:t>
            </a:r>
            <a:r>
              <a:rPr lang="en-US"/>
              <a:t> Impact score is not an average or percentage score. Rather, it is a statistical figure based on a Medallia formula, expressing the difference between two scores while also considering the number of records used for each score.</a:t>
            </a:r>
          </a:p>
          <a:p>
            <a:r>
              <a:rPr lang="en-US"/>
              <a:t>Typically, an impact score is calculated for every topic with 100 or more comment matches.</a:t>
            </a:r>
          </a:p>
          <a:p>
            <a:r>
              <a:rPr lang="en-US"/>
              <a:t>The following example shows how to calculate the impact score for the topic "price" among a total of 10,000 surveys with a total NPS of 75. Since price was not mentioned in 9,000 of 10,000 surveys, the NPS of 78 (for "price" not mentioned) is subtracted from the NPS of 75 (for all surveys) for an impact score of "price" on NPS as -3. This negative score indicates that "price" is driving down overall customer satisfaction.</a:t>
            </a:r>
          </a:p>
        </p:txBody>
      </p:sp>
      <p:sp>
        <p:nvSpPr>
          <p:cNvPr id="5" name="Title 4">
            <a:extLst>
              <a:ext uri="{FF2B5EF4-FFF2-40B4-BE49-F238E27FC236}">
                <a16:creationId xmlns:a16="http://schemas.microsoft.com/office/drawing/2014/main" id="{48BF1B35-9618-3AF4-9402-6AC9209B5875}"/>
              </a:ext>
            </a:extLst>
          </p:cNvPr>
          <p:cNvSpPr>
            <a:spLocks noGrp="1"/>
          </p:cNvSpPr>
          <p:nvPr>
            <p:ph type="title"/>
          </p:nvPr>
        </p:nvSpPr>
        <p:spPr/>
        <p:txBody>
          <a:bodyPr/>
          <a:lstStyle/>
          <a:p>
            <a:r>
              <a:rPr lang="fr-FR"/>
              <a:t>Impact score (text </a:t>
            </a:r>
            <a:r>
              <a:rPr lang="fr-FR" err="1"/>
              <a:t>analytics</a:t>
            </a:r>
            <a:r>
              <a:rPr lang="fr-FR"/>
              <a:t>)</a:t>
            </a:r>
          </a:p>
        </p:txBody>
      </p:sp>
      <p:pic>
        <p:nvPicPr>
          <p:cNvPr id="24578" name="Picture 2" descr="Impact Score example">
            <a:extLst>
              <a:ext uri="{FF2B5EF4-FFF2-40B4-BE49-F238E27FC236}">
                <a16:creationId xmlns:a16="http://schemas.microsoft.com/office/drawing/2014/main" id="{B4838D88-CC94-120D-AA67-C248CC6F0A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0853" y="1096479"/>
            <a:ext cx="4682154" cy="42413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733046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8FEB7F-A864-532E-B825-0F82AEAE02C9}"/>
              </a:ext>
            </a:extLst>
          </p:cNvPr>
          <p:cNvSpPr>
            <a:spLocks noGrp="1"/>
          </p:cNvSpPr>
          <p:nvPr>
            <p:ph type="sldNum" sz="quarter" idx="12"/>
          </p:nvPr>
        </p:nvSpPr>
        <p:spPr/>
        <p:txBody>
          <a:bodyPr/>
          <a:lstStyle/>
          <a:p>
            <a:fld id="{0D2E6A04-B99A-6C4D-8942-945F97C9E705}" type="slidenum">
              <a:rPr lang="en-US" smtClean="0"/>
              <a:pPr/>
              <a:t>77</a:t>
            </a:fld>
            <a:endParaRPr lang="en-US"/>
          </a:p>
        </p:txBody>
      </p:sp>
      <p:sp>
        <p:nvSpPr>
          <p:cNvPr id="3" name="Date Placeholder 2">
            <a:extLst>
              <a:ext uri="{FF2B5EF4-FFF2-40B4-BE49-F238E27FC236}">
                <a16:creationId xmlns:a16="http://schemas.microsoft.com/office/drawing/2014/main" id="{E924DC30-C572-F9F8-0F1E-03D36EA8A246}"/>
              </a:ext>
            </a:extLst>
          </p:cNvPr>
          <p:cNvSpPr>
            <a:spLocks noGrp="1"/>
          </p:cNvSpPr>
          <p:nvPr>
            <p:ph type="dt" sz="half" idx="10"/>
          </p:nvPr>
        </p:nvSpPr>
        <p:spPr/>
        <p:txBody>
          <a:bodyPr/>
          <a:lstStyle/>
          <a:p>
            <a:fld id="{05C20A28-4BAC-4477-9026-1E123DBFBC43}" type="datetime1">
              <a:rPr lang="fr-FR" smtClean="0"/>
              <a:t>27/11/2025</a:t>
            </a:fld>
            <a:endParaRPr lang="en-US"/>
          </a:p>
        </p:txBody>
      </p:sp>
      <p:sp>
        <p:nvSpPr>
          <p:cNvPr id="4" name="Content Placeholder 3">
            <a:extLst>
              <a:ext uri="{FF2B5EF4-FFF2-40B4-BE49-F238E27FC236}">
                <a16:creationId xmlns:a16="http://schemas.microsoft.com/office/drawing/2014/main" id="{09A7AB61-E37E-71FD-D394-8FFF3B846257}"/>
              </a:ext>
            </a:extLst>
          </p:cNvPr>
          <p:cNvSpPr>
            <a:spLocks noGrp="1"/>
          </p:cNvSpPr>
          <p:nvPr>
            <p:ph sz="quarter" idx="13"/>
          </p:nvPr>
        </p:nvSpPr>
        <p:spPr>
          <a:xfrm>
            <a:off x="336757" y="1096479"/>
            <a:ext cx="6064043" cy="2585628"/>
          </a:xfrm>
        </p:spPr>
        <p:txBody>
          <a:bodyPr/>
          <a:lstStyle/>
          <a:p>
            <a:r>
              <a:rPr lang="en-US"/>
              <a:t>The importance of impact score</a:t>
            </a:r>
          </a:p>
          <a:p>
            <a:r>
              <a:rPr lang="en-US"/>
              <a:t>The impact score shows the relationship between a score (such as NPS) and survey comments. A positive impact score indicates that customers who comment about the topic are, in general, more satisfied than the average survey population—these customers are pulling up survey scores. A negative impact score indicates that these customers are less satisfied—these customers are pushing down survey scores.</a:t>
            </a:r>
          </a:p>
          <a:p>
            <a:r>
              <a:rPr lang="en-US"/>
              <a:t>In the following image, the </a:t>
            </a:r>
            <a:r>
              <a:rPr lang="en-US" i="1"/>
              <a:t>Selection - Size</a:t>
            </a:r>
            <a:r>
              <a:rPr lang="en-US"/>
              <a:t> topic has the lowest impact score, revealing that customers commenting about that topic are the least satisfied with their experience. Reading the comments related to </a:t>
            </a:r>
            <a:r>
              <a:rPr lang="en-US" i="1"/>
              <a:t>Selection - Size</a:t>
            </a:r>
            <a:r>
              <a:rPr lang="en-US"/>
              <a:t> and resolving the issues you discover could improve the impact score and, ultimately, increase your satisfaction scores.</a:t>
            </a:r>
          </a:p>
          <a:p>
            <a:r>
              <a:rPr lang="en-US"/>
              <a:t>Although the impact score quantifies how much the surveys associated with a topic are raising or lowering the key metric score, it is intended to provide directional guidance only. Survey takers give a particular score for any number of reasons. For example, they might not explain all those reasons in the comment field. Alternatively, survey takers might comment about multiple topics that impacted their experience, rather than just one topic. Consequently, there is no guarantee that focusing on improving one particular topic will increase your overall score by the exact number indicated by the impact score</a:t>
            </a:r>
            <a:endParaRPr lang="fr-FR"/>
          </a:p>
        </p:txBody>
      </p:sp>
      <p:sp>
        <p:nvSpPr>
          <p:cNvPr id="5" name="Title 4">
            <a:extLst>
              <a:ext uri="{FF2B5EF4-FFF2-40B4-BE49-F238E27FC236}">
                <a16:creationId xmlns:a16="http://schemas.microsoft.com/office/drawing/2014/main" id="{4EFF4DE0-E616-2A55-B698-BB21FC6ECF5F}"/>
              </a:ext>
            </a:extLst>
          </p:cNvPr>
          <p:cNvSpPr>
            <a:spLocks noGrp="1"/>
          </p:cNvSpPr>
          <p:nvPr>
            <p:ph type="title"/>
          </p:nvPr>
        </p:nvSpPr>
        <p:spPr/>
        <p:txBody>
          <a:bodyPr/>
          <a:lstStyle/>
          <a:p>
            <a:r>
              <a:rPr lang="fr-FR"/>
              <a:t>Impact score (text </a:t>
            </a:r>
            <a:r>
              <a:rPr lang="fr-FR" err="1"/>
              <a:t>analytics</a:t>
            </a:r>
            <a:r>
              <a:rPr lang="fr-FR"/>
              <a:t>)</a:t>
            </a:r>
          </a:p>
        </p:txBody>
      </p:sp>
      <p:pic>
        <p:nvPicPr>
          <p:cNvPr id="6" name="Picture 5">
            <a:extLst>
              <a:ext uri="{FF2B5EF4-FFF2-40B4-BE49-F238E27FC236}">
                <a16:creationId xmlns:a16="http://schemas.microsoft.com/office/drawing/2014/main" id="{67E135F0-5492-CC03-81F1-41E5998D598C}"/>
              </a:ext>
            </a:extLst>
          </p:cNvPr>
          <p:cNvPicPr>
            <a:picLocks noChangeAspect="1"/>
          </p:cNvPicPr>
          <p:nvPr/>
        </p:nvPicPr>
        <p:blipFill>
          <a:blip r:embed="rId2"/>
          <a:stretch>
            <a:fillRect/>
          </a:stretch>
        </p:blipFill>
        <p:spPr>
          <a:xfrm>
            <a:off x="6597967" y="1752600"/>
            <a:ext cx="5419725" cy="3352800"/>
          </a:xfrm>
          <a:prstGeom prst="rect">
            <a:avLst/>
          </a:prstGeom>
        </p:spPr>
      </p:pic>
    </p:spTree>
    <p:extLst>
      <p:ext uri="{BB962C8B-B14F-4D97-AF65-F5344CB8AC3E}">
        <p14:creationId xmlns:p14="http://schemas.microsoft.com/office/powerpoint/2010/main" val="559995125"/>
      </p:ext>
    </p:extLst>
  </p:cSld>
  <p:clrMapOvr>
    <a:masterClrMapping/>
  </p:clrMapOvr>
</p:sld>
</file>

<file path=ppt/theme/theme1.xml><?xml version="1.0" encoding="utf-8"?>
<a:theme xmlns:a="http://schemas.openxmlformats.org/drawingml/2006/main" name="Office Theme">
  <a:themeElements>
    <a:clrScheme name="Custom 2">
      <a:dk1>
        <a:srgbClr val="045E51"/>
      </a:dk1>
      <a:lt1>
        <a:srgbClr val="F8F8F8"/>
      </a:lt1>
      <a:dk2>
        <a:srgbClr val="700606"/>
      </a:dk2>
      <a:lt2>
        <a:srgbClr val="FF699B"/>
      </a:lt2>
      <a:accent1>
        <a:srgbClr val="045E51"/>
      </a:accent1>
      <a:accent2>
        <a:srgbClr val="B1EDA6"/>
      </a:accent2>
      <a:accent3>
        <a:srgbClr val="7A5226"/>
      </a:accent3>
      <a:accent4>
        <a:srgbClr val="FFCA55"/>
      </a:accent4>
      <a:accent5>
        <a:srgbClr val="00192F"/>
      </a:accent5>
      <a:accent6>
        <a:srgbClr val="9DB4F6"/>
      </a:accent6>
      <a:hlink>
        <a:srgbClr val="045E51"/>
      </a:hlink>
      <a:folHlink>
        <a:srgbClr val="045E51"/>
      </a:folHlink>
    </a:clrScheme>
    <a:fontScheme name="tahoma">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B2EDA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9DB79605CB7E24A8D9C3177E08680B5" ma:contentTypeVersion="17" ma:contentTypeDescription="Een nieuw document maken." ma:contentTypeScope="" ma:versionID="2ef3418076a4dee59518a46b3d16c1de">
  <xsd:schema xmlns:xsd="http://www.w3.org/2001/XMLSchema" xmlns:xs="http://www.w3.org/2001/XMLSchema" xmlns:p="http://schemas.microsoft.com/office/2006/metadata/properties" xmlns:ns2="5b18695d-d5cb-44a2-bf6c-ebd04d7a096d" xmlns:ns3="4e140f55-387c-49b3-879f-b65053764a47" targetNamespace="http://schemas.microsoft.com/office/2006/metadata/properties" ma:root="true" ma:fieldsID="3ed62555ebe1e697fed82e3cf4f7d889" ns2:_="" ns3:_="">
    <xsd:import namespace="5b18695d-d5cb-44a2-bf6c-ebd04d7a096d"/>
    <xsd:import namespace="4e140f55-387c-49b3-879f-b65053764a47"/>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LengthInSeconds" minOccurs="0"/>
                <xsd:element ref="ns3:MediaServiceLocation" minOccurs="0"/>
                <xsd:element ref="ns3:MediaServiceGenerationTime" minOccurs="0"/>
                <xsd:element ref="ns3:MediaServiceEventHashCode" minOccurs="0"/>
                <xsd:element ref="ns3:lcf76f155ced4ddcb4097134ff3c332f" minOccurs="0"/>
                <xsd:element ref="ns2:TaxCatchAll" minOccurs="0"/>
                <xsd:element ref="ns3:MediaServiceOCR"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18695d-d5cb-44a2-bf6c-ebd04d7a096d" elementFormDefault="qualified">
    <xsd:import namespace="http://schemas.microsoft.com/office/2006/documentManagement/types"/>
    <xsd:import namespace="http://schemas.microsoft.com/office/infopath/2007/PartnerControls"/>
    <xsd:element name="SharedWithUsers" ma:index="8"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Gedeeld met details" ma:internalName="SharedWithDetails" ma:readOnly="true">
      <xsd:simpleType>
        <xsd:restriction base="dms:Note">
          <xsd:maxLength value="255"/>
        </xsd:restriction>
      </xsd:simpleType>
    </xsd:element>
    <xsd:element name="TaxCatchAll" ma:index="19" nillable="true" ma:displayName="Taxonomy Catch All Column" ma:hidden="true" ma:list="{774b1031-c98b-4dee-b650-0cb19b3375d6}" ma:internalName="TaxCatchAll" ma:showField="CatchAllData" ma:web="5b18695d-d5cb-44a2-bf6c-ebd04d7a096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e140f55-387c-49b3-879f-b65053764a47"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Location" ma:index="14" nillable="true" ma:displayName="Location" ma:indexed="true" ma:internalName="MediaServiceLocatio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lcf76f155ced4ddcb4097134ff3c332f" ma:index="18" nillable="true" ma:taxonomy="true" ma:internalName="lcf76f155ced4ddcb4097134ff3c332f" ma:taxonomyFieldName="MediaServiceImageTags" ma:displayName="Afbeeldingtags" ma:readOnly="false" ma:fieldId="{5cf76f15-5ced-4ddc-b409-7134ff3c332f}" ma:taxonomyMulti="true" ma:sspId="6f8f2df6-6f26-40d6-a6ac-43fac95f3bc6"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e140f55-387c-49b3-879f-b65053764a47">
      <Terms xmlns="http://schemas.microsoft.com/office/infopath/2007/PartnerControls"/>
    </lcf76f155ced4ddcb4097134ff3c332f>
    <TaxCatchAll xmlns="5b18695d-d5cb-44a2-bf6c-ebd04d7a096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A0B3CF0-EB3E-4855-B4B9-0256FD1C9D4A}"/>
</file>

<file path=customXml/itemProps2.xml><?xml version="1.0" encoding="utf-8"?>
<ds:datastoreItem xmlns:ds="http://schemas.openxmlformats.org/officeDocument/2006/customXml" ds:itemID="{AACF6CD1-817D-42D8-97DE-22AC53941D3F}">
  <ds:schemaRefs>
    <ds:schemaRef ds:uri="4e140f55-387c-49b3-879f-b65053764a47"/>
    <ds:schemaRef ds:uri="5b18695d-d5cb-44a2-bf6c-ebd04d7a096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4B4F759-4A9F-4F29-8F32-DB8D13CCBC5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11803</Words>
  <Application>Microsoft Office PowerPoint</Application>
  <PresentationFormat>Breedbeeld</PresentationFormat>
  <Paragraphs>4831</Paragraphs>
  <Slides>77</Slides>
  <Notes>1</Notes>
  <HiddenSlides>0</HiddenSlides>
  <MMClips>0</MMClips>
  <ScaleCrop>false</ScaleCrop>
  <HeadingPairs>
    <vt:vector size="6" baseType="variant">
      <vt:variant>
        <vt:lpstr>Gebruikte lettertypen</vt:lpstr>
      </vt:variant>
      <vt:variant>
        <vt:i4>7</vt:i4>
      </vt:variant>
      <vt:variant>
        <vt:lpstr>Thema</vt:lpstr>
      </vt:variant>
      <vt:variant>
        <vt:i4>1</vt:i4>
      </vt:variant>
      <vt:variant>
        <vt:lpstr>Diatitels</vt:lpstr>
      </vt:variant>
      <vt:variant>
        <vt:i4>77</vt:i4>
      </vt:variant>
    </vt:vector>
  </HeadingPairs>
  <TitlesOfParts>
    <vt:vector size="85" baseType="lpstr">
      <vt:lpstr>Aptos Narrow</vt:lpstr>
      <vt:lpstr>Bagoss Standard</vt:lpstr>
      <vt:lpstr>Calibri</vt:lpstr>
      <vt:lpstr>Arial</vt:lpstr>
      <vt:lpstr>Bahnschrift</vt:lpstr>
      <vt:lpstr>Tahoma</vt:lpstr>
      <vt:lpstr>Bagoss Standard Medium</vt:lpstr>
      <vt:lpstr>Office Theme</vt:lpstr>
      <vt:lpstr>NPS PROGRAM FINAL RESULTS FY25 REVIEW (post stay satisfaction survey)</vt:lpstr>
      <vt:lpstr>Executive Summary</vt:lpstr>
      <vt:lpstr>Table of content</vt:lpstr>
      <vt:lpstr>Survey Health check</vt:lpstr>
      <vt:lpstr>NPS Evolution</vt:lpstr>
      <vt:lpstr>NPS Evolution and distribution</vt:lpstr>
      <vt:lpstr>Return intention</vt:lpstr>
      <vt:lpstr>PowerPoint-presentatie</vt:lpstr>
      <vt:lpstr>Belgium – highest contribution to NPS (Sunparks only)</vt:lpstr>
      <vt:lpstr>Belgium – highest contribution to NPS (Center Parcs only)</vt:lpstr>
      <vt:lpstr>Belgium – highest contribution to NPS</vt:lpstr>
      <vt:lpstr>Belgium – main pillars over months (Sunparks only)</vt:lpstr>
      <vt:lpstr>Belgium – main pillars over months (Sunparks only)</vt:lpstr>
      <vt:lpstr>Belgium – main pillars over months (Center Parcs only)</vt:lpstr>
      <vt:lpstr>Belgium – main pillars over months (Center Parcs only)</vt:lpstr>
      <vt:lpstr>Belgium – ranking parks on main pillars</vt:lpstr>
      <vt:lpstr>Belgium – ranking parks on main pillars</vt:lpstr>
      <vt:lpstr>Belgium – NPS per trialist/repeaters/reactivated</vt:lpstr>
      <vt:lpstr>Belgium – NPS per household structure</vt:lpstr>
      <vt:lpstr>Belgium – NPS per customer country</vt:lpstr>
      <vt:lpstr>Belgium – NPS per villa category (comfort level)</vt:lpstr>
      <vt:lpstr>Belgium – text analytics, topics comparision vs N-1</vt:lpstr>
      <vt:lpstr>Belgium – text analytics, bottom topics with higher negative impact score on NPS</vt:lpstr>
      <vt:lpstr>Belgium – text analytics, bottom topics with higher negative impact score on NPS</vt:lpstr>
      <vt:lpstr>PowerPoint-presentatie</vt:lpstr>
      <vt:lpstr>Netherlands – highest contribution to NPS</vt:lpstr>
      <vt:lpstr>Netherlands – highest contribution to NPS</vt:lpstr>
      <vt:lpstr>Netherlands – main pillars over months</vt:lpstr>
      <vt:lpstr>Netherlands – main pillars over months</vt:lpstr>
      <vt:lpstr>Netherlands – ranking parks on main pillars</vt:lpstr>
      <vt:lpstr>Netherlands – ranking parks on main pillars</vt:lpstr>
      <vt:lpstr>Netherlands – NPS per trialist/repeaters/reactivated</vt:lpstr>
      <vt:lpstr>Netherlands – NPS per household structure</vt:lpstr>
      <vt:lpstr>Netherlands – NPS per customer country</vt:lpstr>
      <vt:lpstr>Netherlands – NPS per villa category (comfort level)</vt:lpstr>
      <vt:lpstr>Netherlands – text analytics, topics comparision vs N-1</vt:lpstr>
      <vt:lpstr>Netherlands – text analytics, bottom topics with higher negative impact score on NPS</vt:lpstr>
      <vt:lpstr>PowerPoint-presentatie</vt:lpstr>
      <vt:lpstr>Germany – highest contribution to NPS</vt:lpstr>
      <vt:lpstr>Germany – highest contribution to NPS</vt:lpstr>
      <vt:lpstr>Germany – main pillars over months</vt:lpstr>
      <vt:lpstr>Germany – main pillars over months</vt:lpstr>
      <vt:lpstr>Germany – ranking parks on main pillars</vt:lpstr>
      <vt:lpstr>Germany – ranking parks on main pillars</vt:lpstr>
      <vt:lpstr>Germany – NPS per trialist/repeaters/reactivated</vt:lpstr>
      <vt:lpstr>Germany – NPS per household structure</vt:lpstr>
      <vt:lpstr>Germany – NPS per customer country</vt:lpstr>
      <vt:lpstr>Germany – NPS per villa category (comfort level)</vt:lpstr>
      <vt:lpstr>Germany – text analytics, topics comparision vs N-1</vt:lpstr>
      <vt:lpstr>Germany – text analytics, bottom topics with higher negative impact score on NPS</vt:lpstr>
      <vt:lpstr>PowerPoint-presentatie</vt:lpstr>
      <vt:lpstr>France – highest contribution to NPS</vt:lpstr>
      <vt:lpstr>France – highest contribution to NPS</vt:lpstr>
      <vt:lpstr>France – main pillars over months</vt:lpstr>
      <vt:lpstr>France – main pillars over months</vt:lpstr>
      <vt:lpstr>France – ranking parks on main pillars</vt:lpstr>
      <vt:lpstr>France – ranking parks on main pillars</vt:lpstr>
      <vt:lpstr>France – NPS per trialist/repeaters/reactivated</vt:lpstr>
      <vt:lpstr>France – NPS per household structure</vt:lpstr>
      <vt:lpstr>France – NPS per customer country</vt:lpstr>
      <vt:lpstr>France – NPS per villa category (comfort level)</vt:lpstr>
      <vt:lpstr>France – text analytics, topics comparision vs N-1</vt:lpstr>
      <vt:lpstr>France – text analytics, bottom topics with higher negative impact score on NPS</vt:lpstr>
      <vt:lpstr>PowerPoint-presentatie</vt:lpstr>
      <vt:lpstr>Denmark – highest contribution to NPS</vt:lpstr>
      <vt:lpstr>Denmark – main pillars over months</vt:lpstr>
      <vt:lpstr>Denmark – main pillars over months</vt:lpstr>
      <vt:lpstr>Denmark – NPS per segment</vt:lpstr>
      <vt:lpstr>Denmark – text analytics, bottom topics with higher negative impact score on NPS</vt:lpstr>
      <vt:lpstr>Thank you</vt:lpstr>
      <vt:lpstr>Understanding the nomenclature used in our NPS program with Medallia</vt:lpstr>
      <vt:lpstr>NPS (Net Promoter Score)</vt:lpstr>
      <vt:lpstr>NSS (Net Satisfaction Score)</vt:lpstr>
      <vt:lpstr>Action planner</vt:lpstr>
      <vt:lpstr>Action planner</vt:lpstr>
      <vt:lpstr>Impact score (text analytics)</vt:lpstr>
      <vt:lpstr>Impact score (text analytics)</vt:lpstr>
    </vt:vector>
  </TitlesOfParts>
  <Manager>Victor Savigny</Manager>
  <Company>Center Parcs Europe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NPS Program FY25 Full results review</dc:title>
  <dc:creator>Center Parcs Europe</dc:creator>
  <cp:lastModifiedBy>Hofman, Danique</cp:lastModifiedBy>
  <cp:revision>2</cp:revision>
  <dcterms:created xsi:type="dcterms:W3CDTF">2022-10-03T09:56:05Z</dcterms:created>
  <dcterms:modified xsi:type="dcterms:W3CDTF">2025-11-27T10:40:09Z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0x010100A9DB79605CB7E24A8D9C3177E08680B5</vt:lpwstr>
  </property>
  <property fmtid="{D5CDD505-2E9C-101B-9397-08002B2CF9AE}" pid="3" name="MediaServiceImageTags">
    <vt:lpwstr/>
  </property>
</Properties>
</file>